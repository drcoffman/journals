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17"/>
  </p:notesMasterIdLst>
  <p:handoutMasterIdLst>
    <p:handoutMasterId r:id="rId18"/>
  </p:handoutMasterIdLst>
  <p:sldIdLst>
    <p:sldId id="7362" r:id="rId9"/>
    <p:sldId id="7391" r:id="rId10"/>
    <p:sldId id="6450" r:id="rId11"/>
    <p:sldId id="7377" r:id="rId12"/>
    <p:sldId id="7381" r:id="rId13"/>
    <p:sldId id="7383" r:id="rId14"/>
    <p:sldId id="7389" r:id="rId15"/>
    <p:sldId id="7390" r:id="rId16"/>
  </p:sldIdLst>
  <p:sldSz cx="9144000" cy="5143500" type="screen16x9"/>
  <p:notesSz cx="6670675" cy="9875838"/>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1EBAE-3F2D-2F47-AF72-3F170DEB93DA}">
          <p14:sldIdLst>
            <p14:sldId id="7362"/>
            <p14:sldId id="7391"/>
            <p14:sldId id="6450"/>
            <p14:sldId id="7377"/>
            <p14:sldId id="7381"/>
            <p14:sldId id="7383"/>
            <p14:sldId id="7389"/>
            <p14:sldId id="7390"/>
          </p14:sldIdLst>
        </p14:section>
      </p14:sectionLst>
    </p:ext>
    <p:ext uri="{EFAFB233-063F-42B5-8137-9DF3F51BA10A}">
      <p15:sldGuideLst xmlns:p15="http://schemas.microsoft.com/office/powerpoint/2012/main">
        <p15:guide id="1" orient="horz" userDrawn="1">
          <p15:clr>
            <a:srgbClr val="A4A3A4"/>
          </p15:clr>
        </p15:guide>
        <p15:guide id="6" userDrawn="1">
          <p15:clr>
            <a:srgbClr val="A4A3A4"/>
          </p15:clr>
        </p15:guide>
        <p15:guide id="7" pos="5667"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101BF-D202-4FE4-A2C1-83424C542C6D}" v="4" dt="2020-09-13T14:18:50.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4"/>
    <p:restoredTop sz="95872"/>
  </p:normalViewPr>
  <p:slideViewPr>
    <p:cSldViewPr snapToGrid="0" snapToObjects="1">
      <p:cViewPr varScale="1">
        <p:scale>
          <a:sx n="151" d="100"/>
          <a:sy n="151" d="100"/>
        </p:scale>
        <p:origin x="936" y="184"/>
      </p:cViewPr>
      <p:guideLst>
        <p:guide orient="horz"/>
        <p:guide/>
        <p:guide pos="5667"/>
      </p:guideLst>
    </p:cSldViewPr>
  </p:slideViewPr>
  <p:notesTextViewPr>
    <p:cViewPr>
      <p:scale>
        <a:sx n="400" d="100"/>
        <a:sy n="400" d="100"/>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Coffman" userId="7XIeATKQU8DvlzsFV9i8pMPzG+NiGfqXJSSrWZLaJm0=" providerId="None" clId="Web-{3D8101BF-D202-4FE4-A2C1-83424C542C6D}"/>
    <pc:docChg chg="delSld modSection">
      <pc:chgData name="Jon Coffman" userId="7XIeATKQU8DvlzsFV9i8pMPzG+NiGfqXJSSrWZLaJm0=" providerId="None" clId="Web-{3D8101BF-D202-4FE4-A2C1-83424C542C6D}" dt="2020-09-13T14:18:50.513" v="3"/>
      <pc:docMkLst>
        <pc:docMk/>
      </pc:docMkLst>
      <pc:sldChg chg="del">
        <pc:chgData name="Jon Coffman" userId="7XIeATKQU8DvlzsFV9i8pMPzG+NiGfqXJSSrWZLaJm0=" providerId="None" clId="Web-{3D8101BF-D202-4FE4-A2C1-83424C542C6D}" dt="2020-09-13T14:18:09.356" v="0"/>
        <pc:sldMkLst>
          <pc:docMk/>
          <pc:sldMk cId="444928142" sldId="7347"/>
        </pc:sldMkLst>
      </pc:sldChg>
      <pc:sldChg chg="del">
        <pc:chgData name="Jon Coffman" userId="7XIeATKQU8DvlzsFV9i8pMPzG+NiGfqXJSSrWZLaJm0=" providerId="None" clId="Web-{3D8101BF-D202-4FE4-A2C1-83424C542C6D}" dt="2020-09-13T14:18:11.403" v="1"/>
        <pc:sldMkLst>
          <pc:docMk/>
          <pc:sldMk cId="3764492395" sldId="7361"/>
        </pc:sldMkLst>
      </pc:sldChg>
      <pc:sldChg chg="del">
        <pc:chgData name="Jon Coffman" userId="7XIeATKQU8DvlzsFV9i8pMPzG+NiGfqXJSSrWZLaJm0=" providerId="None" clId="Web-{3D8101BF-D202-4FE4-A2C1-83424C542C6D}" dt="2020-09-13T14:18:46.404" v="2"/>
        <pc:sldMkLst>
          <pc:docMk/>
          <pc:sldMk cId="183119306" sldId="7376"/>
        </pc:sldMkLst>
      </pc:sldChg>
      <pc:sldChg chg="del">
        <pc:chgData name="Jon Coffman" userId="7XIeATKQU8DvlzsFV9i8pMPzG+NiGfqXJSSrWZLaJm0=" providerId="None" clId="Web-{3D8101BF-D202-4FE4-A2C1-83424C542C6D}" dt="2020-09-13T14:18:50.513" v="3"/>
        <pc:sldMkLst>
          <pc:docMk/>
          <pc:sldMk cId="1031883511" sldId="73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9/23/20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9/23/20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3526103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1924027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6</a:t>
            </a:fld>
            <a:endParaRPr lang="en-US"/>
          </a:p>
        </p:txBody>
      </p:sp>
    </p:spTree>
    <p:extLst>
      <p:ext uri="{BB962C8B-B14F-4D97-AF65-F5344CB8AC3E}">
        <p14:creationId xmlns:p14="http://schemas.microsoft.com/office/powerpoint/2010/main" val="404625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7</a:t>
            </a:fld>
            <a:endParaRPr lang="en-US"/>
          </a:p>
        </p:txBody>
      </p:sp>
    </p:spTree>
    <p:extLst>
      <p:ext uri="{BB962C8B-B14F-4D97-AF65-F5344CB8AC3E}">
        <p14:creationId xmlns:p14="http://schemas.microsoft.com/office/powerpoint/2010/main" val="1511769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8</a:t>
            </a:fld>
            <a:endParaRPr lang="en-US"/>
          </a:p>
        </p:txBody>
      </p:sp>
    </p:spTree>
    <p:extLst>
      <p:ext uri="{BB962C8B-B14F-4D97-AF65-F5344CB8AC3E}">
        <p14:creationId xmlns:p14="http://schemas.microsoft.com/office/powerpoint/2010/main" val="24641143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3"/>
            <a:ext cx="8856000" cy="2113995"/>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8"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3"/>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5"/>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4"/>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1"/>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9"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2"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6" indent="0">
              <a:buNone/>
              <a:defRPr sz="2400"/>
            </a:lvl2pPr>
            <a:lvl3pPr marL="914411" indent="0">
              <a:buNone/>
              <a:defRPr sz="2400"/>
            </a:lvl3pPr>
            <a:lvl4pPr marL="1371617" indent="0">
              <a:buNone/>
              <a:defRPr sz="2400"/>
            </a:lvl4pPr>
            <a:lvl5pPr marL="1828823"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11"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60"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8"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5" indent="0" algn="ctr">
              <a:buNone/>
              <a:defRPr>
                <a:solidFill>
                  <a:schemeClr val="tx1">
                    <a:tint val="75000"/>
                  </a:schemeClr>
                </a:solidFill>
              </a:defRPr>
            </a:lvl2pPr>
            <a:lvl3pPr marL="685808" indent="0" algn="ctr">
              <a:buNone/>
              <a:defRPr>
                <a:solidFill>
                  <a:schemeClr val="tx1">
                    <a:tint val="75000"/>
                  </a:schemeClr>
                </a:solidFill>
              </a:defRPr>
            </a:lvl3pPr>
            <a:lvl4pPr marL="1028713" indent="0" algn="ctr">
              <a:buNone/>
              <a:defRPr>
                <a:solidFill>
                  <a:schemeClr val="tx1">
                    <a:tint val="75000"/>
                  </a:schemeClr>
                </a:solidFill>
              </a:defRPr>
            </a:lvl4pPr>
            <a:lvl5pPr marL="1371617" indent="0" algn="ctr">
              <a:buNone/>
              <a:defRPr>
                <a:solidFill>
                  <a:schemeClr val="tx1">
                    <a:tint val="75000"/>
                  </a:schemeClr>
                </a:solidFill>
              </a:defRPr>
            </a:lvl5pPr>
            <a:lvl6pPr marL="1714521" indent="0" algn="ctr">
              <a:buNone/>
              <a:defRPr>
                <a:solidFill>
                  <a:schemeClr val="tx1">
                    <a:tint val="75000"/>
                  </a:schemeClr>
                </a:solidFill>
              </a:defRPr>
            </a:lvl6pPr>
            <a:lvl7pPr marL="2057426" indent="0" algn="ctr">
              <a:buNone/>
              <a:defRPr>
                <a:solidFill>
                  <a:schemeClr val="tx1">
                    <a:tint val="75000"/>
                  </a:schemeClr>
                </a:solidFill>
              </a:defRPr>
            </a:lvl7pPr>
            <a:lvl8pPr marL="2400330" indent="0" algn="ctr">
              <a:buNone/>
              <a:defRPr>
                <a:solidFill>
                  <a:schemeClr val="tx1">
                    <a:tint val="75000"/>
                  </a:schemeClr>
                </a:solidFill>
              </a:defRPr>
            </a:lvl8pPr>
            <a:lvl9pPr marL="2743234"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8"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3"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8" y="1233071"/>
            <a:ext cx="8766175" cy="3172500"/>
          </a:xfrm>
          <a:prstGeom prst="rect">
            <a:avLst/>
          </a:prstGeom>
        </p:spPr>
        <p:txBody>
          <a:bodyPr/>
          <a:lstStyle>
            <a:lvl1pPr marL="269879" indent="-269879">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6" indent="-135002">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35F89F-D75B-2842-B92A-DCF8B372B00A}"/>
              </a:ext>
            </a:extLst>
          </p:cNvPr>
          <p:cNvSpPr>
            <a:spLocks noGrp="1"/>
          </p:cNvSpPr>
          <p:nvPr>
            <p:ph type="title"/>
          </p:nvPr>
        </p:nvSpPr>
        <p:spPr/>
        <p:txBody>
          <a:bodyPr/>
          <a:lstStyle/>
          <a:p>
            <a:r>
              <a:rPr lang="en-US" dirty="0"/>
              <a:t>Figures and tables for (high level) Common Framework article </a:t>
            </a:r>
          </a:p>
        </p:txBody>
      </p:sp>
      <p:sp>
        <p:nvSpPr>
          <p:cNvPr id="8" name="Text Placeholder 7">
            <a:extLst>
              <a:ext uri="{FF2B5EF4-FFF2-40B4-BE49-F238E27FC236}">
                <a16:creationId xmlns:a16="http://schemas.microsoft.com/office/drawing/2014/main" id="{BFC32797-78FA-8744-B5CF-2B3D44AA9A9E}"/>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C5ED231A-F7DE-E242-8543-9B9F13DFF40B}"/>
              </a:ext>
            </a:extLst>
          </p:cNvPr>
          <p:cNvSpPr>
            <a:spLocks noGrp="1"/>
          </p:cNvSpPr>
          <p:nvPr>
            <p:ph type="body" sz="quarter" idx="12"/>
          </p:nvPr>
        </p:nvSpPr>
        <p:spPr/>
        <p:txBody>
          <a:bodyPr/>
          <a:lstStyle/>
          <a:p>
            <a:endParaRPr lang="en-US"/>
          </a:p>
        </p:txBody>
      </p:sp>
      <p:sp>
        <p:nvSpPr>
          <p:cNvPr id="11" name="Text Placeholder 10">
            <a:extLst>
              <a:ext uri="{FF2B5EF4-FFF2-40B4-BE49-F238E27FC236}">
                <a16:creationId xmlns:a16="http://schemas.microsoft.com/office/drawing/2014/main" id="{CD25D36F-4153-514A-9F16-DB7A5F7A6482}"/>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72FE03AB-7381-8B48-83D6-1963FF0BF0E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02830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9EB132-B526-4F1F-8FFB-3167AC2008C2}"/>
              </a:ext>
            </a:extLst>
          </p:cNvPr>
          <p:cNvSpPr>
            <a:spLocks noGrp="1"/>
          </p:cNvSpPr>
          <p:nvPr>
            <p:ph type="sldNum" sz="quarter" idx="4"/>
          </p:nvPr>
        </p:nvSpPr>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71D64CBF-B5E7-4120-885F-D7A866E2AF38}"/>
              </a:ext>
            </a:extLst>
          </p:cNvPr>
          <p:cNvSpPr>
            <a:spLocks noGrp="1"/>
          </p:cNvSpPr>
          <p:nvPr>
            <p:ph type="title"/>
          </p:nvPr>
        </p:nvSpPr>
        <p:spPr/>
        <p:txBody>
          <a:bodyPr/>
          <a:lstStyle/>
          <a:p>
            <a:r>
              <a:rPr lang="en-US" sz="2000" dirty="0"/>
              <a:t>Table 1: Integrated and Continuous Bioprocessing Implementation</a:t>
            </a:r>
          </a:p>
        </p:txBody>
      </p:sp>
      <p:graphicFrame>
        <p:nvGraphicFramePr>
          <p:cNvPr id="5" name="Table 4">
            <a:extLst>
              <a:ext uri="{FF2B5EF4-FFF2-40B4-BE49-F238E27FC236}">
                <a16:creationId xmlns:a16="http://schemas.microsoft.com/office/drawing/2014/main" id="{7DE0C286-64BC-D842-8A4C-66F6D463035E}"/>
              </a:ext>
            </a:extLst>
          </p:cNvPr>
          <p:cNvGraphicFramePr>
            <a:graphicFrameLocks noGrp="1"/>
          </p:cNvGraphicFramePr>
          <p:nvPr>
            <p:extLst>
              <p:ext uri="{D42A27DB-BD31-4B8C-83A1-F6EECF244321}">
                <p14:modId xmlns:p14="http://schemas.microsoft.com/office/powerpoint/2010/main" val="3385591829"/>
              </p:ext>
            </p:extLst>
          </p:nvPr>
        </p:nvGraphicFramePr>
        <p:xfrm>
          <a:off x="1004888" y="941388"/>
          <a:ext cx="7134492" cy="3455921"/>
        </p:xfrm>
        <a:graphic>
          <a:graphicData uri="http://schemas.openxmlformats.org/drawingml/2006/table">
            <a:tbl>
              <a:tblPr firstRow="1" bandRow="1">
                <a:tableStyleId>{5C22544A-7EE6-4342-B048-85BDC9FD1C3A}</a:tableStyleId>
              </a:tblPr>
              <a:tblGrid>
                <a:gridCol w="1151269">
                  <a:extLst>
                    <a:ext uri="{9D8B030D-6E8A-4147-A177-3AD203B41FA5}">
                      <a16:colId xmlns:a16="http://schemas.microsoft.com/office/drawing/2014/main" val="3100183287"/>
                    </a:ext>
                  </a:extLst>
                </a:gridCol>
                <a:gridCol w="629940">
                  <a:extLst>
                    <a:ext uri="{9D8B030D-6E8A-4147-A177-3AD203B41FA5}">
                      <a16:colId xmlns:a16="http://schemas.microsoft.com/office/drawing/2014/main" val="2801446213"/>
                    </a:ext>
                  </a:extLst>
                </a:gridCol>
                <a:gridCol w="629940">
                  <a:extLst>
                    <a:ext uri="{9D8B030D-6E8A-4147-A177-3AD203B41FA5}">
                      <a16:colId xmlns:a16="http://schemas.microsoft.com/office/drawing/2014/main" val="1525555115"/>
                    </a:ext>
                  </a:extLst>
                </a:gridCol>
                <a:gridCol w="716828">
                  <a:extLst>
                    <a:ext uri="{9D8B030D-6E8A-4147-A177-3AD203B41FA5}">
                      <a16:colId xmlns:a16="http://schemas.microsoft.com/office/drawing/2014/main" val="1257256252"/>
                    </a:ext>
                  </a:extLst>
                </a:gridCol>
                <a:gridCol w="629940">
                  <a:extLst>
                    <a:ext uri="{9D8B030D-6E8A-4147-A177-3AD203B41FA5}">
                      <a16:colId xmlns:a16="http://schemas.microsoft.com/office/drawing/2014/main" val="2406467793"/>
                    </a:ext>
                  </a:extLst>
                </a:gridCol>
                <a:gridCol w="753032">
                  <a:extLst>
                    <a:ext uri="{9D8B030D-6E8A-4147-A177-3AD203B41FA5}">
                      <a16:colId xmlns:a16="http://schemas.microsoft.com/office/drawing/2014/main" val="1572977771"/>
                    </a:ext>
                  </a:extLst>
                </a:gridCol>
                <a:gridCol w="733723">
                  <a:extLst>
                    <a:ext uri="{9D8B030D-6E8A-4147-A177-3AD203B41FA5}">
                      <a16:colId xmlns:a16="http://schemas.microsoft.com/office/drawing/2014/main" val="997166794"/>
                    </a:ext>
                  </a:extLst>
                </a:gridCol>
                <a:gridCol w="629940">
                  <a:extLst>
                    <a:ext uri="{9D8B030D-6E8A-4147-A177-3AD203B41FA5}">
                      <a16:colId xmlns:a16="http://schemas.microsoft.com/office/drawing/2014/main" val="1167171108"/>
                    </a:ext>
                  </a:extLst>
                </a:gridCol>
                <a:gridCol w="629940">
                  <a:extLst>
                    <a:ext uri="{9D8B030D-6E8A-4147-A177-3AD203B41FA5}">
                      <a16:colId xmlns:a16="http://schemas.microsoft.com/office/drawing/2014/main" val="1600305738"/>
                    </a:ext>
                  </a:extLst>
                </a:gridCol>
                <a:gridCol w="629940">
                  <a:extLst>
                    <a:ext uri="{9D8B030D-6E8A-4147-A177-3AD203B41FA5}">
                      <a16:colId xmlns:a16="http://schemas.microsoft.com/office/drawing/2014/main" val="2164935593"/>
                    </a:ext>
                  </a:extLst>
                </a:gridCol>
              </a:tblGrid>
              <a:tr h="745395">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algn="ctr" rtl="0" fontAlgn="ctr"/>
                      <a:r>
                        <a:rPr lang="en-US" sz="1100" u="none" strike="noStrike" dirty="0">
                          <a:effectLst/>
                        </a:rPr>
                        <a:t>N-1</a:t>
                      </a:r>
                      <a:endParaRPr lang="en-US" sz="1100" b="1" i="0" u="none" strike="noStrike" dirty="0">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 Brx</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Number of Columns </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 Virus inact.</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Number of Columns </a:t>
                      </a:r>
                      <a:endParaRPr lang="en-US" sz="1100" b="1" i="0" u="none" strike="noStrike" dirty="0">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Number of Columns </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Virus Filter</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UFDF</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GMP?</a:t>
                      </a:r>
                      <a:endParaRPr lang="en-US" sz="1100" b="1" i="0" u="none" strike="noStrike">
                        <a:solidFill>
                          <a:srgbClr val="FFFFFF"/>
                        </a:solidFill>
                        <a:effectLst/>
                        <a:latin typeface="Arial" panose="020B0604020202020204" pitchFamily="34" charset="0"/>
                      </a:endParaRPr>
                    </a:p>
                  </a:txBody>
                  <a:tcPr marL="0" marR="0" marT="0" marB="0" anchor="ctr"/>
                </a:tc>
                <a:extLst>
                  <a:ext uri="{0D108BD9-81ED-4DB2-BD59-A6C34878D82A}">
                    <a16:rowId xmlns:a16="http://schemas.microsoft.com/office/drawing/2014/main" val="3664942809"/>
                  </a:ext>
                </a:extLst>
              </a:tr>
              <a:tr h="203289">
                <a:tc>
                  <a:txBody>
                    <a:bodyPr/>
                    <a:lstStyle/>
                    <a:p>
                      <a:pPr algn="l" rtl="0" fontAlgn="ctr"/>
                      <a:r>
                        <a:rPr lang="en-US" sz="1100" u="none" strike="noStrike" dirty="0">
                          <a:effectLst/>
                        </a:rPr>
                        <a:t>Amgen</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194894713"/>
                  </a:ext>
                </a:extLst>
              </a:tr>
              <a:tr h="193609">
                <a:tc>
                  <a:txBody>
                    <a:bodyPr/>
                    <a:lstStyle/>
                    <a:p>
                      <a:pPr algn="l" rtl="0" fontAlgn="ctr"/>
                      <a:r>
                        <a:rPr lang="en-US" sz="1100" u="none" strike="noStrike" dirty="0">
                          <a:effectLst/>
                        </a:rPr>
                        <a:t>AstraZeneca</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TBD</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Single</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Single</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N</a:t>
                      </a:r>
                      <a:endParaRPr lang="en-US" sz="1100" b="0" i="0" u="none" strike="noStrike" dirty="0">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3702996728"/>
                  </a:ext>
                </a:extLst>
              </a:tr>
              <a:tr h="193609">
                <a:tc>
                  <a:txBody>
                    <a:bodyPr/>
                    <a:lstStyle/>
                    <a:p>
                      <a:pPr algn="l" rtl="0" fontAlgn="ctr"/>
                      <a:r>
                        <a:rPr lang="en-US" sz="1100" u="none" strike="noStrike" dirty="0">
                          <a:effectLst/>
                        </a:rPr>
                        <a:t>Bayer</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368809109"/>
                  </a:ext>
                </a:extLst>
              </a:tr>
              <a:tr h="193609">
                <a:tc>
                  <a:txBody>
                    <a:bodyPr/>
                    <a:lstStyle/>
                    <a:p>
                      <a:pPr algn="l" rtl="0" fontAlgn="ctr"/>
                      <a:r>
                        <a:rPr lang="en-US" sz="1100" u="none" strike="noStrike" dirty="0" err="1">
                          <a:effectLst/>
                        </a:rPr>
                        <a:t>Biosana</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086152632"/>
                  </a:ext>
                </a:extLst>
              </a:tr>
              <a:tr h="193609">
                <a:tc>
                  <a:txBody>
                    <a:bodyPr/>
                    <a:lstStyle/>
                    <a:p>
                      <a:pPr algn="l" rtl="0" fontAlgn="ctr"/>
                      <a:r>
                        <a:rPr lang="en-US" sz="1100" u="none" strike="noStrike">
                          <a:effectLst/>
                        </a:rPr>
                        <a:t>BMS</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68680007"/>
                  </a:ext>
                </a:extLst>
              </a:tr>
              <a:tr h="193609">
                <a:tc>
                  <a:txBody>
                    <a:bodyPr/>
                    <a:lstStyle/>
                    <a:p>
                      <a:pPr algn="l" rtl="0" fontAlgn="ctr"/>
                      <a:r>
                        <a:rPr lang="en-US" sz="1100" u="none" strike="noStrike">
                          <a:effectLst/>
                        </a:rPr>
                        <a:t>Janssen</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865458364"/>
                  </a:ext>
                </a:extLst>
              </a:tr>
              <a:tr h="193609">
                <a:tc>
                  <a:txBody>
                    <a:bodyPr/>
                    <a:lstStyle/>
                    <a:p>
                      <a:pPr algn="l" rtl="0" fontAlgn="ctr"/>
                      <a:r>
                        <a:rPr lang="en-US" sz="1100" u="none" strike="noStrike" dirty="0">
                          <a:effectLst/>
                        </a:rPr>
                        <a:t>Just</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1288679564"/>
                  </a:ext>
                </a:extLst>
              </a:tr>
              <a:tr h="193609">
                <a:tc>
                  <a:txBody>
                    <a:bodyPr/>
                    <a:lstStyle/>
                    <a:p>
                      <a:pPr algn="l" rtl="0" fontAlgn="ctr"/>
                      <a:r>
                        <a:rPr lang="en-US" sz="1100" b="0" i="0" u="none" strike="noStrike" dirty="0">
                          <a:solidFill>
                            <a:srgbClr val="000000"/>
                          </a:solidFill>
                          <a:effectLst/>
                          <a:latin typeface="Arial" panose="020B0604020202020204" pitchFamily="34" charset="0"/>
                        </a:rPr>
                        <a:t>Lilly</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Y</a:t>
                      </a:r>
                    </a:p>
                  </a:txBody>
                  <a:tcPr marL="0" marR="0" marT="0" marB="0" anchor="ctr"/>
                </a:tc>
                <a:extLst>
                  <a:ext uri="{0D108BD9-81ED-4DB2-BD59-A6C34878D82A}">
                    <a16:rowId xmlns:a16="http://schemas.microsoft.com/office/drawing/2014/main" val="2067239316"/>
                  </a:ext>
                </a:extLst>
              </a:tr>
              <a:tr h="193609">
                <a:tc>
                  <a:txBody>
                    <a:bodyPr/>
                    <a:lstStyle/>
                    <a:p>
                      <a:pPr algn="l" rtl="0" fontAlgn="ctr"/>
                      <a:r>
                        <a:rPr lang="en-US" sz="1100" u="none" strike="noStrike">
                          <a:effectLst/>
                        </a:rPr>
                        <a:t>Merck (KgaA)</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062722113"/>
                  </a:ext>
                </a:extLst>
              </a:tr>
              <a:tr h="193609">
                <a:tc>
                  <a:txBody>
                    <a:bodyPr/>
                    <a:lstStyle/>
                    <a:p>
                      <a:pPr algn="l" rtl="0" fontAlgn="ctr"/>
                      <a:r>
                        <a:rPr lang="en-US" sz="1100" u="none" strike="noStrike" dirty="0">
                          <a:effectLst/>
                        </a:rPr>
                        <a:t>Merck (MSD)</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717141391"/>
                  </a:ext>
                </a:extLst>
              </a:tr>
              <a:tr h="193609">
                <a:tc>
                  <a:txBody>
                    <a:bodyPr/>
                    <a:lstStyle/>
                    <a:p>
                      <a:pPr algn="l" rtl="0" fontAlgn="ctr"/>
                      <a:r>
                        <a:rPr lang="en-US" sz="1100" u="none" strike="noStrike" dirty="0">
                          <a:effectLst/>
                        </a:rPr>
                        <a:t>Novartis</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3507777299"/>
                  </a:ext>
                </a:extLst>
              </a:tr>
              <a:tr h="193609">
                <a:tc>
                  <a:txBody>
                    <a:bodyPr/>
                    <a:lstStyle/>
                    <a:p>
                      <a:pPr algn="l" rtl="0" fontAlgn="ctr"/>
                      <a:r>
                        <a:rPr lang="en-US" sz="1100" u="none" strike="noStrike" dirty="0">
                          <a:effectLst/>
                        </a:rPr>
                        <a:t>Pfizer/BI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319716997"/>
                  </a:ext>
                </a:extLst>
              </a:tr>
              <a:tr h="193609">
                <a:tc>
                  <a:txBody>
                    <a:bodyPr/>
                    <a:lstStyle/>
                    <a:p>
                      <a:pPr algn="l" rtl="0" fontAlgn="ctr"/>
                      <a:r>
                        <a:rPr lang="en-US" sz="1100" u="none" strike="noStrike" dirty="0">
                          <a:effectLst/>
                        </a:rPr>
                        <a:t>Sanofi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TBD</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Both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982913392"/>
                  </a:ext>
                </a:extLst>
              </a:tr>
              <a:tr h="183929">
                <a:tc>
                  <a:txBody>
                    <a:bodyPr/>
                    <a:lstStyle/>
                    <a:p>
                      <a:pPr algn="l" rtl="0" fontAlgn="ctr"/>
                      <a:r>
                        <a:rPr lang="en-US" sz="1100" u="none" strike="noStrike" dirty="0" err="1">
                          <a:effectLst/>
                        </a:rPr>
                        <a:t>WuXi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a:t>
                      </a:r>
                      <a:endParaRPr lang="en-US" sz="1100" b="0" i="0" u="none" strike="noStrike" dirty="0">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071333167"/>
                  </a:ext>
                </a:extLst>
              </a:tr>
            </a:tbl>
          </a:graphicData>
        </a:graphic>
      </p:graphicFrame>
    </p:spTree>
    <p:extLst>
      <p:ext uri="{BB962C8B-B14F-4D97-AF65-F5344CB8AC3E}">
        <p14:creationId xmlns:p14="http://schemas.microsoft.com/office/powerpoint/2010/main" val="38828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9797D2-37BA-4219-BE72-FE7ADC0710EC}"/>
              </a:ext>
            </a:extLst>
          </p:cNvPr>
          <p:cNvSpPr>
            <a:spLocks noGrp="1"/>
          </p:cNvSpPr>
          <p:nvPr>
            <p:ph type="sldNum" sz="quarter" idx="4"/>
          </p:nvPr>
        </p:nvSpPr>
        <p:spPr/>
        <p:txBody>
          <a:bodyPr/>
          <a:lstStyle/>
          <a:p>
            <a:pPr defTabSz="457195"/>
            <a:fld id="{3C4F54F3-C349-4609-AFEE-01462D5C7942}" type="slidenum">
              <a:rPr lang="en-GB">
                <a:solidFill>
                  <a:srgbClr val="000000"/>
                </a:solidFill>
              </a:rPr>
              <a:pPr defTabSz="457195"/>
              <a:t>3</a:t>
            </a:fld>
            <a:endParaRPr lang="en-GB">
              <a:solidFill>
                <a:srgbClr val="000000"/>
              </a:solidFill>
            </a:endParaRPr>
          </a:p>
        </p:txBody>
      </p:sp>
      <p:sp>
        <p:nvSpPr>
          <p:cNvPr id="5" name="Rectangle: Rounded Corners 4">
            <a:extLst>
              <a:ext uri="{FF2B5EF4-FFF2-40B4-BE49-F238E27FC236}">
                <a16:creationId xmlns:a16="http://schemas.microsoft.com/office/drawing/2014/main" id="{73867430-3538-4EB2-845E-75804B46C909}"/>
              </a:ext>
            </a:extLst>
          </p:cNvPr>
          <p:cNvSpPr/>
          <p:nvPr/>
        </p:nvSpPr>
        <p:spPr>
          <a:xfrm>
            <a:off x="1583391" y="1260131"/>
            <a:ext cx="1443563" cy="1562100"/>
          </a:xfrm>
          <a:prstGeom prst="roundRect">
            <a:avLst/>
          </a:prstGeom>
          <a:solidFill>
            <a:schemeClr val="accent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6" name="Rectangle: Rounded Corners 5">
            <a:extLst>
              <a:ext uri="{FF2B5EF4-FFF2-40B4-BE49-F238E27FC236}">
                <a16:creationId xmlns:a16="http://schemas.microsoft.com/office/drawing/2014/main" id="{168550AA-0CF1-4B42-A2E7-C783D7B8BEA3}"/>
              </a:ext>
            </a:extLst>
          </p:cNvPr>
          <p:cNvSpPr/>
          <p:nvPr/>
        </p:nvSpPr>
        <p:spPr>
          <a:xfrm>
            <a:off x="3145141" y="1521315"/>
            <a:ext cx="366712" cy="11668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sz="1400" dirty="0">
              <a:solidFill>
                <a:srgbClr val="FFFFFF"/>
              </a:solidFill>
              <a:latin typeface="Arial"/>
            </a:endParaRPr>
          </a:p>
        </p:txBody>
      </p:sp>
      <p:cxnSp>
        <p:nvCxnSpPr>
          <p:cNvPr id="8" name="Connector: Elbow 7">
            <a:extLst>
              <a:ext uri="{FF2B5EF4-FFF2-40B4-BE49-F238E27FC236}">
                <a16:creationId xmlns:a16="http://schemas.microsoft.com/office/drawing/2014/main" id="{3498395E-2067-4ECC-B0B9-68498D72205E}"/>
              </a:ext>
            </a:extLst>
          </p:cNvPr>
          <p:cNvCxnSpPr>
            <a:stCxn id="5" idx="3"/>
            <a:endCxn id="6" idx="2"/>
          </p:cNvCxnSpPr>
          <p:nvPr/>
        </p:nvCxnSpPr>
        <p:spPr>
          <a:xfrm>
            <a:off x="3026955" y="2041181"/>
            <a:ext cx="301543" cy="646946"/>
          </a:xfrm>
          <a:prstGeom prst="bentConnector4">
            <a:avLst>
              <a:gd name="adj1" fmla="val 19597"/>
              <a:gd name="adj2" fmla="val 13533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137B4CD7-DBAB-4F78-B299-70D3BA182C61}"/>
              </a:ext>
            </a:extLst>
          </p:cNvPr>
          <p:cNvCxnSpPr>
            <a:cxnSpLocks/>
            <a:stCxn id="6" idx="0"/>
            <a:endCxn id="5" idx="0"/>
          </p:cNvCxnSpPr>
          <p:nvPr/>
        </p:nvCxnSpPr>
        <p:spPr>
          <a:xfrm rot="16200000" flipV="1">
            <a:off x="2686243" y="879061"/>
            <a:ext cx="261184" cy="1023324"/>
          </a:xfrm>
          <a:prstGeom prst="bentConnector3">
            <a:avLst>
              <a:gd name="adj1" fmla="val 187525"/>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EFB99A3E-1A94-427A-A256-BC011139BA9C}"/>
              </a:ext>
            </a:extLst>
          </p:cNvPr>
          <p:cNvGrpSpPr/>
          <p:nvPr/>
        </p:nvGrpSpPr>
        <p:grpSpPr>
          <a:xfrm>
            <a:off x="3971726" y="1692478"/>
            <a:ext cx="552450" cy="690562"/>
            <a:chOff x="3603122" y="2443163"/>
            <a:chExt cx="552450" cy="690562"/>
          </a:xfrm>
        </p:grpSpPr>
        <p:sp>
          <p:nvSpPr>
            <p:cNvPr id="15" name="Rectangle 14">
              <a:extLst>
                <a:ext uri="{FF2B5EF4-FFF2-40B4-BE49-F238E27FC236}">
                  <a16:creationId xmlns:a16="http://schemas.microsoft.com/office/drawing/2014/main" id="{71A3EE9F-3F41-4154-AE3A-629AFA616D70}"/>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8" name="Straight Connector 17">
              <a:extLst>
                <a:ext uri="{FF2B5EF4-FFF2-40B4-BE49-F238E27FC236}">
                  <a16:creationId xmlns:a16="http://schemas.microsoft.com/office/drawing/2014/main" id="{2045AB47-1875-4CB0-980D-5C85CD7CD4F8}"/>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200C012-6CD9-4FF2-84EE-B5A01C4564C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EA109D33-878C-4393-A309-F5249E308822}"/>
              </a:ext>
            </a:extLst>
          </p:cNvPr>
          <p:cNvGrpSpPr/>
          <p:nvPr/>
        </p:nvGrpSpPr>
        <p:grpSpPr>
          <a:xfrm>
            <a:off x="4614664" y="1694574"/>
            <a:ext cx="552450" cy="690562"/>
            <a:chOff x="3603122" y="2443163"/>
            <a:chExt cx="552450" cy="690562"/>
          </a:xfrm>
        </p:grpSpPr>
        <p:sp>
          <p:nvSpPr>
            <p:cNvPr id="24" name="Rectangle 23">
              <a:extLst>
                <a:ext uri="{FF2B5EF4-FFF2-40B4-BE49-F238E27FC236}">
                  <a16:creationId xmlns:a16="http://schemas.microsoft.com/office/drawing/2014/main" id="{80463B95-AD67-4FE7-B755-00B06EBCE807}"/>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25" name="Straight Connector 24">
              <a:extLst>
                <a:ext uri="{FF2B5EF4-FFF2-40B4-BE49-F238E27FC236}">
                  <a16:creationId xmlns:a16="http://schemas.microsoft.com/office/drawing/2014/main" id="{16788200-6EB1-451C-809E-68D404904A0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BDB0545-D9BB-478C-9074-772C75CB54F7}"/>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34" name="Connector: Elbow 33">
            <a:extLst>
              <a:ext uri="{FF2B5EF4-FFF2-40B4-BE49-F238E27FC236}">
                <a16:creationId xmlns:a16="http://schemas.microsoft.com/office/drawing/2014/main" id="{5AE4C338-10F5-4DA1-AEC6-44F7EED3398D}"/>
              </a:ext>
            </a:extLst>
          </p:cNvPr>
          <p:cNvCxnSpPr>
            <a:cxnSpLocks/>
            <a:stCxn id="6" idx="3"/>
            <a:endCxn id="65" idx="1"/>
          </p:cNvCxnSpPr>
          <p:nvPr/>
        </p:nvCxnSpPr>
        <p:spPr>
          <a:xfrm flipV="1">
            <a:off x="3511853" y="1218201"/>
            <a:ext cx="216986" cy="88652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9BCDBFF4-B25F-45E3-A1BE-1FD06C5D63A5}"/>
              </a:ext>
            </a:extLst>
          </p:cNvPr>
          <p:cNvGrpSpPr/>
          <p:nvPr/>
        </p:nvGrpSpPr>
        <p:grpSpPr>
          <a:xfrm>
            <a:off x="7684680" y="1625764"/>
            <a:ext cx="552450" cy="690562"/>
            <a:chOff x="3603122" y="2443163"/>
            <a:chExt cx="552450" cy="690562"/>
          </a:xfrm>
          <a:solidFill>
            <a:schemeClr val="accent2">
              <a:lumMod val="25000"/>
              <a:lumOff val="75000"/>
            </a:schemeClr>
          </a:solidFill>
        </p:grpSpPr>
        <p:sp>
          <p:nvSpPr>
            <p:cNvPr id="54" name="Rectangle 53">
              <a:extLst>
                <a:ext uri="{FF2B5EF4-FFF2-40B4-BE49-F238E27FC236}">
                  <a16:creationId xmlns:a16="http://schemas.microsoft.com/office/drawing/2014/main" id="{07799CF3-B4BF-4221-9FF0-4BDF035F8062}"/>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55" name="Straight Connector 54">
              <a:extLst>
                <a:ext uri="{FF2B5EF4-FFF2-40B4-BE49-F238E27FC236}">
                  <a16:creationId xmlns:a16="http://schemas.microsoft.com/office/drawing/2014/main" id="{B0E7B4A4-9747-4F74-AF31-4AE2504282DF}"/>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56213EF-43D1-41F3-AF5D-A54B0F5C3A50}"/>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C497AB71-60A9-4AA6-ADF9-17DA20B30386}"/>
              </a:ext>
            </a:extLst>
          </p:cNvPr>
          <p:cNvGrpSpPr/>
          <p:nvPr/>
        </p:nvGrpSpPr>
        <p:grpSpPr>
          <a:xfrm>
            <a:off x="7684680" y="1625764"/>
            <a:ext cx="552450" cy="690562"/>
            <a:chOff x="3603122" y="2443163"/>
            <a:chExt cx="552450" cy="690562"/>
          </a:xfrm>
        </p:grpSpPr>
        <p:sp>
          <p:nvSpPr>
            <p:cNvPr id="46" name="Rectangle 45">
              <a:extLst>
                <a:ext uri="{FF2B5EF4-FFF2-40B4-BE49-F238E27FC236}">
                  <a16:creationId xmlns:a16="http://schemas.microsoft.com/office/drawing/2014/main" id="{E7994D04-6B95-497F-98E5-DA74A86E580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47" name="Straight Connector 46">
              <a:extLst>
                <a:ext uri="{FF2B5EF4-FFF2-40B4-BE49-F238E27FC236}">
                  <a16:creationId xmlns:a16="http://schemas.microsoft.com/office/drawing/2014/main" id="{582D20E4-6442-4B73-B5C3-7869077E1F2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9CB4202-14EA-4D6B-9B16-D352DC4B55AB}"/>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63" name="Connector: Elbow 62">
            <a:extLst>
              <a:ext uri="{FF2B5EF4-FFF2-40B4-BE49-F238E27FC236}">
                <a16:creationId xmlns:a16="http://schemas.microsoft.com/office/drawing/2014/main" id="{28798F01-037B-4C7F-9F85-1232E9BECE5F}"/>
              </a:ext>
            </a:extLst>
          </p:cNvPr>
          <p:cNvCxnSpPr>
            <a:cxnSpLocks/>
            <a:stCxn id="24" idx="2"/>
          </p:cNvCxnSpPr>
          <p:nvPr/>
        </p:nvCxnSpPr>
        <p:spPr>
          <a:xfrm rot="5400000" flipH="1" flipV="1">
            <a:off x="5053825" y="1873328"/>
            <a:ext cx="348872" cy="674745"/>
          </a:xfrm>
          <a:prstGeom prst="bentConnector4">
            <a:avLst>
              <a:gd name="adj1" fmla="val -65525"/>
              <a:gd name="adj2" fmla="val 7558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A1E1A94-5B21-4453-9C45-2375458F069D}"/>
              </a:ext>
            </a:extLst>
          </p:cNvPr>
          <p:cNvCxnSpPr>
            <a:stCxn id="65" idx="3"/>
            <a:endCxn id="15" idx="0"/>
          </p:cNvCxnSpPr>
          <p:nvPr/>
        </p:nvCxnSpPr>
        <p:spPr>
          <a:xfrm>
            <a:off x="4095551" y="1218201"/>
            <a:ext cx="152400" cy="47427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1CCA0B7F-2C0D-4A2E-BFFA-FE7EFACB186A}"/>
              </a:ext>
            </a:extLst>
          </p:cNvPr>
          <p:cNvGrpSpPr/>
          <p:nvPr/>
        </p:nvGrpSpPr>
        <p:grpSpPr>
          <a:xfrm>
            <a:off x="3728839" y="1084862"/>
            <a:ext cx="366713" cy="266676"/>
            <a:chOff x="2760098" y="1097937"/>
            <a:chExt cx="366713" cy="266676"/>
          </a:xfrm>
        </p:grpSpPr>
        <p:sp>
          <p:nvSpPr>
            <p:cNvPr id="65" name="Rectangle: Rounded Corners 64">
              <a:extLst>
                <a:ext uri="{FF2B5EF4-FFF2-40B4-BE49-F238E27FC236}">
                  <a16:creationId xmlns:a16="http://schemas.microsoft.com/office/drawing/2014/main" id="{CBA3BC2D-D813-4398-945D-C11F5FD40B2F}"/>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0" name="Rectangle 69">
              <a:extLst>
                <a:ext uri="{FF2B5EF4-FFF2-40B4-BE49-F238E27FC236}">
                  <a16:creationId xmlns:a16="http://schemas.microsoft.com/office/drawing/2014/main" id="{EF5A7E58-73B0-4A2C-BD8C-1B36A102DB0F}"/>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1" name="Rectangle 70">
              <a:extLst>
                <a:ext uri="{FF2B5EF4-FFF2-40B4-BE49-F238E27FC236}">
                  <a16:creationId xmlns:a16="http://schemas.microsoft.com/office/drawing/2014/main" id="{735940AC-3E0D-4CFB-B88C-1252340A7258}"/>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3" name="Group 72">
            <a:extLst>
              <a:ext uri="{FF2B5EF4-FFF2-40B4-BE49-F238E27FC236}">
                <a16:creationId xmlns:a16="http://schemas.microsoft.com/office/drawing/2014/main" id="{2FD5BAA5-C3E5-47F2-B6BB-8A19E0D03DFE}"/>
              </a:ext>
            </a:extLst>
          </p:cNvPr>
          <p:cNvGrpSpPr/>
          <p:nvPr/>
        </p:nvGrpSpPr>
        <p:grpSpPr>
          <a:xfrm>
            <a:off x="6509322" y="1855159"/>
            <a:ext cx="366713" cy="266676"/>
            <a:chOff x="2760098" y="1097937"/>
            <a:chExt cx="366713" cy="266676"/>
          </a:xfrm>
        </p:grpSpPr>
        <p:sp>
          <p:nvSpPr>
            <p:cNvPr id="74" name="Rectangle: Rounded Corners 73">
              <a:extLst>
                <a:ext uri="{FF2B5EF4-FFF2-40B4-BE49-F238E27FC236}">
                  <a16:creationId xmlns:a16="http://schemas.microsoft.com/office/drawing/2014/main" id="{9FB59C2F-8D13-4E77-B9B3-ABEDDD1D1C73}"/>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5" name="Rectangle 74">
              <a:extLst>
                <a:ext uri="{FF2B5EF4-FFF2-40B4-BE49-F238E27FC236}">
                  <a16:creationId xmlns:a16="http://schemas.microsoft.com/office/drawing/2014/main" id="{A460852C-18CD-4D3F-9D19-BC3331CB5F54}"/>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6" name="Rectangle 75">
              <a:extLst>
                <a:ext uri="{FF2B5EF4-FFF2-40B4-BE49-F238E27FC236}">
                  <a16:creationId xmlns:a16="http://schemas.microsoft.com/office/drawing/2014/main" id="{7306E292-86A8-4D6F-AAF0-01E6B615752A}"/>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7" name="Group 76">
            <a:extLst>
              <a:ext uri="{FF2B5EF4-FFF2-40B4-BE49-F238E27FC236}">
                <a16:creationId xmlns:a16="http://schemas.microsoft.com/office/drawing/2014/main" id="{4051E1B8-39FB-43F6-81C9-6281C08EE84F}"/>
              </a:ext>
            </a:extLst>
          </p:cNvPr>
          <p:cNvGrpSpPr/>
          <p:nvPr/>
        </p:nvGrpSpPr>
        <p:grpSpPr>
          <a:xfrm>
            <a:off x="8431802" y="2862846"/>
            <a:ext cx="366713" cy="266676"/>
            <a:chOff x="2760098" y="1097937"/>
            <a:chExt cx="366713" cy="266676"/>
          </a:xfrm>
        </p:grpSpPr>
        <p:sp>
          <p:nvSpPr>
            <p:cNvPr id="78" name="Rectangle: Rounded Corners 77">
              <a:extLst>
                <a:ext uri="{FF2B5EF4-FFF2-40B4-BE49-F238E27FC236}">
                  <a16:creationId xmlns:a16="http://schemas.microsoft.com/office/drawing/2014/main" id="{2F21C2DF-1F9C-4E4A-B2F1-F41C97B7E732}"/>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9" name="Rectangle 78">
              <a:extLst>
                <a:ext uri="{FF2B5EF4-FFF2-40B4-BE49-F238E27FC236}">
                  <a16:creationId xmlns:a16="http://schemas.microsoft.com/office/drawing/2014/main" id="{7C92C4CD-FCAD-4462-A0AE-04253EB0474E}"/>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80" name="Rectangle 79">
              <a:extLst>
                <a:ext uri="{FF2B5EF4-FFF2-40B4-BE49-F238E27FC236}">
                  <a16:creationId xmlns:a16="http://schemas.microsoft.com/office/drawing/2014/main" id="{F4A4FC08-8615-496F-BC94-D90C71A2E2C3}"/>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93" name="Group 92">
            <a:extLst>
              <a:ext uri="{FF2B5EF4-FFF2-40B4-BE49-F238E27FC236}">
                <a16:creationId xmlns:a16="http://schemas.microsoft.com/office/drawing/2014/main" id="{61C76972-09C5-411A-B8E4-D9F6C98D092C}"/>
              </a:ext>
            </a:extLst>
          </p:cNvPr>
          <p:cNvGrpSpPr/>
          <p:nvPr/>
        </p:nvGrpSpPr>
        <p:grpSpPr>
          <a:xfrm>
            <a:off x="7684680" y="3614584"/>
            <a:ext cx="552450" cy="690562"/>
            <a:chOff x="3603122" y="2443163"/>
            <a:chExt cx="552450" cy="690562"/>
          </a:xfrm>
          <a:solidFill>
            <a:schemeClr val="accent2">
              <a:lumMod val="25000"/>
              <a:lumOff val="75000"/>
            </a:schemeClr>
          </a:solidFill>
        </p:grpSpPr>
        <p:sp>
          <p:nvSpPr>
            <p:cNvPr id="94" name="Rectangle 93">
              <a:extLst>
                <a:ext uri="{FF2B5EF4-FFF2-40B4-BE49-F238E27FC236}">
                  <a16:creationId xmlns:a16="http://schemas.microsoft.com/office/drawing/2014/main" id="{12537B53-78F4-4CE8-94E4-FD8B6E984E41}"/>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95" name="Straight Connector 94">
              <a:extLst>
                <a:ext uri="{FF2B5EF4-FFF2-40B4-BE49-F238E27FC236}">
                  <a16:creationId xmlns:a16="http://schemas.microsoft.com/office/drawing/2014/main" id="{A9536DC7-BDBD-4F91-9B43-33EF99D17C22}"/>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BEA9545-C879-4641-880C-54B6F524538D}"/>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5011CCDF-A14E-49E1-BF4F-09877B5D1195}"/>
              </a:ext>
            </a:extLst>
          </p:cNvPr>
          <p:cNvGrpSpPr/>
          <p:nvPr/>
        </p:nvGrpSpPr>
        <p:grpSpPr>
          <a:xfrm>
            <a:off x="7684680" y="3614584"/>
            <a:ext cx="552450" cy="690562"/>
            <a:chOff x="3603122" y="2443163"/>
            <a:chExt cx="552450" cy="690562"/>
          </a:xfrm>
        </p:grpSpPr>
        <p:sp>
          <p:nvSpPr>
            <p:cNvPr id="86" name="Rectangle 85">
              <a:extLst>
                <a:ext uri="{FF2B5EF4-FFF2-40B4-BE49-F238E27FC236}">
                  <a16:creationId xmlns:a16="http://schemas.microsoft.com/office/drawing/2014/main" id="{28EDAA69-F572-44EE-89D2-BE816106B259}"/>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87" name="Straight Connector 86">
              <a:extLst>
                <a:ext uri="{FF2B5EF4-FFF2-40B4-BE49-F238E27FC236}">
                  <a16:creationId xmlns:a16="http://schemas.microsoft.com/office/drawing/2014/main" id="{0E7377C6-9A0A-4D57-BE7F-88EC05EF3F5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3C606E5-EDEE-4551-9B65-F9D50ECF8BD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1" name="Group 100">
            <a:extLst>
              <a:ext uri="{FF2B5EF4-FFF2-40B4-BE49-F238E27FC236}">
                <a16:creationId xmlns:a16="http://schemas.microsoft.com/office/drawing/2014/main" id="{F6DBEE6E-5529-42EE-9A3A-82FDCD33B6A3}"/>
              </a:ext>
            </a:extLst>
          </p:cNvPr>
          <p:cNvGrpSpPr/>
          <p:nvPr/>
        </p:nvGrpSpPr>
        <p:grpSpPr>
          <a:xfrm>
            <a:off x="2387042" y="3809099"/>
            <a:ext cx="1093470" cy="350263"/>
            <a:chOff x="3922148" y="3718559"/>
            <a:chExt cx="1148962" cy="796282"/>
          </a:xfrm>
        </p:grpSpPr>
        <p:sp>
          <p:nvSpPr>
            <p:cNvPr id="98" name="Rectangle 97">
              <a:extLst>
                <a:ext uri="{FF2B5EF4-FFF2-40B4-BE49-F238E27FC236}">
                  <a16:creationId xmlns:a16="http://schemas.microsoft.com/office/drawing/2014/main" id="{8A86107C-A44C-43F2-9687-D79430E7E8BF}"/>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0" name="Straight Connector 99">
              <a:extLst>
                <a:ext uri="{FF2B5EF4-FFF2-40B4-BE49-F238E27FC236}">
                  <a16:creationId xmlns:a16="http://schemas.microsoft.com/office/drawing/2014/main" id="{FF79EE14-A309-49C1-A349-833BF38EED5E}"/>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2" name="Group 101">
            <a:extLst>
              <a:ext uri="{FF2B5EF4-FFF2-40B4-BE49-F238E27FC236}">
                <a16:creationId xmlns:a16="http://schemas.microsoft.com/office/drawing/2014/main" id="{8484E271-6A8E-4F5F-AD45-007EB6EAA7A2}"/>
              </a:ext>
            </a:extLst>
          </p:cNvPr>
          <p:cNvGrpSpPr/>
          <p:nvPr/>
        </p:nvGrpSpPr>
        <p:grpSpPr>
          <a:xfrm>
            <a:off x="3492833" y="3809100"/>
            <a:ext cx="1093470" cy="350263"/>
            <a:chOff x="3922148" y="3718559"/>
            <a:chExt cx="1148962" cy="796282"/>
          </a:xfrm>
        </p:grpSpPr>
        <p:sp>
          <p:nvSpPr>
            <p:cNvPr id="103" name="Rectangle 102">
              <a:extLst>
                <a:ext uri="{FF2B5EF4-FFF2-40B4-BE49-F238E27FC236}">
                  <a16:creationId xmlns:a16="http://schemas.microsoft.com/office/drawing/2014/main" id="{2DBD04D1-ED56-4FC4-84E5-E8EF69F79DE6}"/>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4" name="Straight Connector 103">
              <a:extLst>
                <a:ext uri="{FF2B5EF4-FFF2-40B4-BE49-F238E27FC236}">
                  <a16:creationId xmlns:a16="http://schemas.microsoft.com/office/drawing/2014/main" id="{B499C83D-3048-44C7-96B3-3640DE1275E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D136CEC1-DFEC-4310-AE68-52AEE6B99B3D}"/>
              </a:ext>
            </a:extLst>
          </p:cNvPr>
          <p:cNvGrpSpPr/>
          <p:nvPr/>
        </p:nvGrpSpPr>
        <p:grpSpPr>
          <a:xfrm>
            <a:off x="1266658" y="3809100"/>
            <a:ext cx="1093470" cy="350263"/>
            <a:chOff x="3922148" y="3718559"/>
            <a:chExt cx="1148962" cy="796282"/>
          </a:xfrm>
        </p:grpSpPr>
        <p:sp>
          <p:nvSpPr>
            <p:cNvPr id="106" name="Rectangle 105">
              <a:extLst>
                <a:ext uri="{FF2B5EF4-FFF2-40B4-BE49-F238E27FC236}">
                  <a16:creationId xmlns:a16="http://schemas.microsoft.com/office/drawing/2014/main" id="{6153724C-447A-4F63-96A3-62100BAB03B1}"/>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7" name="Straight Connector 106">
              <a:extLst>
                <a:ext uri="{FF2B5EF4-FFF2-40B4-BE49-F238E27FC236}">
                  <a16:creationId xmlns:a16="http://schemas.microsoft.com/office/drawing/2014/main" id="{9582E063-9075-4A54-AD0D-81D325583CFB}"/>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108" name="TextBox 107">
            <a:extLst>
              <a:ext uri="{FF2B5EF4-FFF2-40B4-BE49-F238E27FC236}">
                <a16:creationId xmlns:a16="http://schemas.microsoft.com/office/drawing/2014/main" id="{687DD290-F912-431C-867C-4017B58728BF}"/>
              </a:ext>
            </a:extLst>
          </p:cNvPr>
          <p:cNvSpPr txBox="1"/>
          <p:nvPr/>
        </p:nvSpPr>
        <p:spPr>
          <a:xfrm>
            <a:off x="1453175" y="4426831"/>
            <a:ext cx="2027338" cy="646331"/>
          </a:xfrm>
          <a:prstGeom prst="rect">
            <a:avLst/>
          </a:prstGeom>
          <a:noFill/>
        </p:spPr>
        <p:txBody>
          <a:bodyPr wrap="square" rtlCol="0">
            <a:spAutoFit/>
          </a:bodyPr>
          <a:lstStyle/>
          <a:p>
            <a:pPr algn="ctr" defTabSz="457195"/>
            <a:r>
              <a:rPr lang="en-US" dirty="0">
                <a:solidFill>
                  <a:srgbClr val="000000"/>
                </a:solidFill>
                <a:latin typeface="Arial"/>
              </a:rPr>
              <a:t>SPTFF or</a:t>
            </a:r>
          </a:p>
          <a:p>
            <a:pPr algn="ctr" defTabSz="457195"/>
            <a:r>
              <a:rPr lang="en-US" dirty="0">
                <a:solidFill>
                  <a:srgbClr val="000000"/>
                </a:solidFill>
                <a:latin typeface="Arial"/>
              </a:rPr>
              <a:t>UF/DF</a:t>
            </a:r>
          </a:p>
        </p:txBody>
      </p:sp>
      <p:sp>
        <p:nvSpPr>
          <p:cNvPr id="109" name="TextBox 108">
            <a:extLst>
              <a:ext uri="{FF2B5EF4-FFF2-40B4-BE49-F238E27FC236}">
                <a16:creationId xmlns:a16="http://schemas.microsoft.com/office/drawing/2014/main" id="{2301B265-D50B-4094-8C27-A4E4ED3F7EC6}"/>
              </a:ext>
            </a:extLst>
          </p:cNvPr>
          <p:cNvSpPr txBox="1"/>
          <p:nvPr/>
        </p:nvSpPr>
        <p:spPr>
          <a:xfrm>
            <a:off x="4050987" y="2637565"/>
            <a:ext cx="1030851" cy="369332"/>
          </a:xfrm>
          <a:prstGeom prst="rect">
            <a:avLst/>
          </a:prstGeom>
          <a:noFill/>
        </p:spPr>
        <p:txBody>
          <a:bodyPr wrap="square" rtlCol="0">
            <a:spAutoFit/>
          </a:bodyPr>
          <a:lstStyle/>
          <a:p>
            <a:pPr algn="ctr" defTabSz="457195"/>
            <a:r>
              <a:rPr lang="en-US" dirty="0">
                <a:solidFill>
                  <a:srgbClr val="000000"/>
                </a:solidFill>
                <a:latin typeface="Arial"/>
              </a:rPr>
              <a:t>Capture</a:t>
            </a:r>
          </a:p>
        </p:txBody>
      </p:sp>
      <p:sp>
        <p:nvSpPr>
          <p:cNvPr id="110" name="TextBox 109">
            <a:extLst>
              <a:ext uri="{FF2B5EF4-FFF2-40B4-BE49-F238E27FC236}">
                <a16:creationId xmlns:a16="http://schemas.microsoft.com/office/drawing/2014/main" id="{A604C147-369B-421D-8900-39DBCA1CE361}"/>
              </a:ext>
            </a:extLst>
          </p:cNvPr>
          <p:cNvSpPr txBox="1"/>
          <p:nvPr/>
        </p:nvSpPr>
        <p:spPr>
          <a:xfrm>
            <a:off x="6663613" y="2286794"/>
            <a:ext cx="1243274" cy="646331"/>
          </a:xfrm>
          <a:prstGeom prst="rect">
            <a:avLst/>
          </a:prstGeom>
          <a:noFill/>
        </p:spPr>
        <p:txBody>
          <a:bodyPr wrap="square" rtlCol="0">
            <a:spAutoFit/>
          </a:bodyPr>
          <a:lstStyle/>
          <a:p>
            <a:pPr algn="ctr" defTabSz="457195"/>
            <a:r>
              <a:rPr lang="en-US">
                <a:solidFill>
                  <a:srgbClr val="000000"/>
                </a:solidFill>
                <a:latin typeface="Arial"/>
              </a:rPr>
              <a:t>Polishing</a:t>
            </a:r>
          </a:p>
          <a:p>
            <a:pPr algn="ctr" defTabSz="457195"/>
            <a:endParaRPr lang="en-US">
              <a:solidFill>
                <a:srgbClr val="000000"/>
              </a:solidFill>
              <a:latin typeface="Arial"/>
            </a:endParaRPr>
          </a:p>
        </p:txBody>
      </p:sp>
      <p:sp>
        <p:nvSpPr>
          <p:cNvPr id="111" name="TextBox 110">
            <a:extLst>
              <a:ext uri="{FF2B5EF4-FFF2-40B4-BE49-F238E27FC236}">
                <a16:creationId xmlns:a16="http://schemas.microsoft.com/office/drawing/2014/main" id="{76339292-FAA6-48F3-8312-5F01227E3F8C}"/>
              </a:ext>
            </a:extLst>
          </p:cNvPr>
          <p:cNvSpPr txBox="1"/>
          <p:nvPr/>
        </p:nvSpPr>
        <p:spPr>
          <a:xfrm>
            <a:off x="6981958" y="4516836"/>
            <a:ext cx="1255173" cy="369332"/>
          </a:xfrm>
          <a:prstGeom prst="rect">
            <a:avLst/>
          </a:prstGeom>
          <a:noFill/>
        </p:spPr>
        <p:txBody>
          <a:bodyPr wrap="square" rtlCol="0">
            <a:spAutoFit/>
          </a:bodyPr>
          <a:lstStyle/>
          <a:p>
            <a:pPr algn="ctr" defTabSz="457195"/>
            <a:r>
              <a:rPr lang="en-US">
                <a:solidFill>
                  <a:srgbClr val="000000"/>
                </a:solidFill>
                <a:latin typeface="Arial"/>
              </a:rPr>
              <a:t>Polishing</a:t>
            </a:r>
          </a:p>
        </p:txBody>
      </p:sp>
      <p:sp>
        <p:nvSpPr>
          <p:cNvPr id="112" name="Rectangle: Rounded Corners 111">
            <a:extLst>
              <a:ext uri="{FF2B5EF4-FFF2-40B4-BE49-F238E27FC236}">
                <a16:creationId xmlns:a16="http://schemas.microsoft.com/office/drawing/2014/main" id="{D9215188-581C-44BB-B37B-9D5C5B242A4A}"/>
              </a:ext>
            </a:extLst>
          </p:cNvPr>
          <p:cNvSpPr/>
          <p:nvPr/>
        </p:nvSpPr>
        <p:spPr>
          <a:xfrm>
            <a:off x="225954" y="3516408"/>
            <a:ext cx="759169" cy="8931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6" name="Connector: Elbow 115">
            <a:extLst>
              <a:ext uri="{FF2B5EF4-FFF2-40B4-BE49-F238E27FC236}">
                <a16:creationId xmlns:a16="http://schemas.microsoft.com/office/drawing/2014/main" id="{3B8800BE-A315-4357-AE00-661DBCCC9E80}"/>
              </a:ext>
            </a:extLst>
          </p:cNvPr>
          <p:cNvCxnSpPr>
            <a:cxnSpLocks/>
            <a:stCxn id="86" idx="2"/>
            <a:endCxn id="137" idx="0"/>
          </p:cNvCxnSpPr>
          <p:nvPr/>
        </p:nvCxnSpPr>
        <p:spPr>
          <a:xfrm rot="5400000" flipH="1">
            <a:off x="6700460" y="3044701"/>
            <a:ext cx="401904" cy="2118986"/>
          </a:xfrm>
          <a:prstGeom prst="bentConnector5">
            <a:avLst>
              <a:gd name="adj1" fmla="val -56879"/>
              <a:gd name="adj2" fmla="val 49270"/>
              <a:gd name="adj3" fmla="val 15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Connector: Elbow 117">
            <a:extLst>
              <a:ext uri="{FF2B5EF4-FFF2-40B4-BE49-F238E27FC236}">
                <a16:creationId xmlns:a16="http://schemas.microsoft.com/office/drawing/2014/main" id="{D5338D1A-40CD-450E-89F4-7DCC740AD8E1}"/>
              </a:ext>
            </a:extLst>
          </p:cNvPr>
          <p:cNvCxnSpPr>
            <a:cxnSpLocks/>
            <a:stCxn id="103" idx="0"/>
            <a:endCxn id="98" idx="0"/>
          </p:cNvCxnSpPr>
          <p:nvPr/>
        </p:nvCxnSpPr>
        <p:spPr>
          <a:xfrm rot="16200000" flipV="1">
            <a:off x="3486674" y="3256205"/>
            <a:ext cx="1" cy="1105791"/>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Connector: Elbow 119">
            <a:extLst>
              <a:ext uri="{FF2B5EF4-FFF2-40B4-BE49-F238E27FC236}">
                <a16:creationId xmlns:a16="http://schemas.microsoft.com/office/drawing/2014/main" id="{B27572D0-3B94-4482-BC56-74A3BC298285}"/>
              </a:ext>
            </a:extLst>
          </p:cNvPr>
          <p:cNvCxnSpPr>
            <a:cxnSpLocks/>
            <a:stCxn id="98" idx="2"/>
            <a:endCxn id="106" idx="2"/>
          </p:cNvCxnSpPr>
          <p:nvPr/>
        </p:nvCxnSpPr>
        <p:spPr>
          <a:xfrm rot="5400000">
            <a:off x="2373586" y="3599169"/>
            <a:ext cx="1" cy="1120384"/>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2" name="Connector: Elbow 121">
            <a:extLst>
              <a:ext uri="{FF2B5EF4-FFF2-40B4-BE49-F238E27FC236}">
                <a16:creationId xmlns:a16="http://schemas.microsoft.com/office/drawing/2014/main" id="{80952DFF-1980-48EC-9EAE-5672ACB3FF19}"/>
              </a:ext>
            </a:extLst>
          </p:cNvPr>
          <p:cNvCxnSpPr>
            <a:cxnSpLocks/>
            <a:stCxn id="106" idx="0"/>
            <a:endCxn id="112" idx="0"/>
          </p:cNvCxnSpPr>
          <p:nvPr/>
        </p:nvCxnSpPr>
        <p:spPr>
          <a:xfrm rot="16200000" flipV="1">
            <a:off x="1063122" y="3058827"/>
            <a:ext cx="292691" cy="1207855"/>
          </a:xfrm>
          <a:prstGeom prst="bentConnector3">
            <a:avLst>
              <a:gd name="adj1" fmla="val 17810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973D54AA-A749-4520-A3E3-AEBA6125C47B}"/>
              </a:ext>
            </a:extLst>
          </p:cNvPr>
          <p:cNvSpPr txBox="1"/>
          <p:nvPr/>
        </p:nvSpPr>
        <p:spPr>
          <a:xfrm>
            <a:off x="4724402" y="4696732"/>
            <a:ext cx="1030851" cy="369332"/>
          </a:xfrm>
          <a:prstGeom prst="rect">
            <a:avLst/>
          </a:prstGeom>
          <a:noFill/>
        </p:spPr>
        <p:txBody>
          <a:bodyPr wrap="square" rtlCol="0">
            <a:spAutoFit/>
          </a:bodyPr>
          <a:lstStyle/>
          <a:p>
            <a:pPr algn="ctr" defTabSz="457195"/>
            <a:r>
              <a:rPr lang="en-US">
                <a:solidFill>
                  <a:srgbClr val="000000"/>
                </a:solidFill>
                <a:latin typeface="Arial"/>
              </a:rPr>
              <a:t>VRF</a:t>
            </a:r>
          </a:p>
        </p:txBody>
      </p:sp>
      <p:grpSp>
        <p:nvGrpSpPr>
          <p:cNvPr id="131" name="Group 130">
            <a:extLst>
              <a:ext uri="{FF2B5EF4-FFF2-40B4-BE49-F238E27FC236}">
                <a16:creationId xmlns:a16="http://schemas.microsoft.com/office/drawing/2014/main" id="{873AD296-C673-4723-AD9F-6CFAEFBA63A3}"/>
              </a:ext>
            </a:extLst>
          </p:cNvPr>
          <p:cNvGrpSpPr/>
          <p:nvPr/>
        </p:nvGrpSpPr>
        <p:grpSpPr>
          <a:xfrm>
            <a:off x="4935101" y="3514681"/>
            <a:ext cx="490926" cy="893126"/>
            <a:chOff x="3922148" y="3718559"/>
            <a:chExt cx="1148962" cy="796282"/>
          </a:xfrm>
        </p:grpSpPr>
        <p:sp>
          <p:nvSpPr>
            <p:cNvPr id="132" name="Rectangle 131">
              <a:extLst>
                <a:ext uri="{FF2B5EF4-FFF2-40B4-BE49-F238E27FC236}">
                  <a16:creationId xmlns:a16="http://schemas.microsoft.com/office/drawing/2014/main" id="{3B8AE44B-DE96-4690-87DF-87C2472A463B}"/>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33" name="Straight Connector 132">
              <a:extLst>
                <a:ext uri="{FF2B5EF4-FFF2-40B4-BE49-F238E27FC236}">
                  <a16:creationId xmlns:a16="http://schemas.microsoft.com/office/drawing/2014/main" id="{A1591214-714B-41B8-B599-171BF4A813C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36" name="Group 135">
            <a:extLst>
              <a:ext uri="{FF2B5EF4-FFF2-40B4-BE49-F238E27FC236}">
                <a16:creationId xmlns:a16="http://schemas.microsoft.com/office/drawing/2014/main" id="{8D157B4C-93A0-4E03-892D-574AA49021A5}"/>
              </a:ext>
            </a:extLst>
          </p:cNvPr>
          <p:cNvGrpSpPr/>
          <p:nvPr/>
        </p:nvGrpSpPr>
        <p:grpSpPr>
          <a:xfrm>
            <a:off x="5658563" y="3903242"/>
            <a:ext cx="366713" cy="266676"/>
            <a:chOff x="2760098" y="1097937"/>
            <a:chExt cx="366713" cy="266676"/>
          </a:xfrm>
        </p:grpSpPr>
        <p:sp>
          <p:nvSpPr>
            <p:cNvPr id="137" name="Rectangle: Rounded Corners 136">
              <a:extLst>
                <a:ext uri="{FF2B5EF4-FFF2-40B4-BE49-F238E27FC236}">
                  <a16:creationId xmlns:a16="http://schemas.microsoft.com/office/drawing/2014/main" id="{445F9076-4870-4F33-9657-E061A59029E9}"/>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8" name="Rectangle 137">
              <a:extLst>
                <a:ext uri="{FF2B5EF4-FFF2-40B4-BE49-F238E27FC236}">
                  <a16:creationId xmlns:a16="http://schemas.microsoft.com/office/drawing/2014/main" id="{4EBCFAB8-829B-40BA-85D2-6B893B909D73}"/>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9" name="Rectangle 138">
              <a:extLst>
                <a:ext uri="{FF2B5EF4-FFF2-40B4-BE49-F238E27FC236}">
                  <a16:creationId xmlns:a16="http://schemas.microsoft.com/office/drawing/2014/main" id="{5D00FAEA-D291-46A0-9A59-2C21416B817C}"/>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cxnSp>
        <p:nvCxnSpPr>
          <p:cNvPr id="142" name="Connector: Elbow 141">
            <a:extLst>
              <a:ext uri="{FF2B5EF4-FFF2-40B4-BE49-F238E27FC236}">
                <a16:creationId xmlns:a16="http://schemas.microsoft.com/office/drawing/2014/main" id="{CC0BE4FD-F84E-4DF9-A88F-0B808A97F2F1}"/>
              </a:ext>
            </a:extLst>
          </p:cNvPr>
          <p:cNvCxnSpPr>
            <a:stCxn id="139" idx="2"/>
            <a:endCxn id="132" idx="2"/>
          </p:cNvCxnSpPr>
          <p:nvPr/>
        </p:nvCxnSpPr>
        <p:spPr>
          <a:xfrm rot="5400000">
            <a:off x="5392299" y="3958186"/>
            <a:ext cx="237889" cy="661355"/>
          </a:xfrm>
          <a:prstGeom prst="bentConnector3">
            <a:avLst>
              <a:gd name="adj1" fmla="val 19609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0D569C7A-3C32-4A1F-8410-B06E7855AD94}"/>
              </a:ext>
            </a:extLst>
          </p:cNvPr>
          <p:cNvCxnSpPr>
            <a:cxnSpLocks/>
            <a:stCxn id="132" idx="0"/>
            <a:endCxn id="103" idx="3"/>
          </p:cNvCxnSpPr>
          <p:nvPr/>
        </p:nvCxnSpPr>
        <p:spPr>
          <a:xfrm rot="16200000" flipH="1" flipV="1">
            <a:off x="4648660" y="3452326"/>
            <a:ext cx="469549" cy="594261"/>
          </a:xfrm>
          <a:prstGeom prst="bentConnector4">
            <a:avLst>
              <a:gd name="adj1" fmla="val -48685"/>
              <a:gd name="adj2" fmla="val 7065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1CCA6975-E1E5-4FF1-9B1A-C652510EDF3D}"/>
              </a:ext>
            </a:extLst>
          </p:cNvPr>
          <p:cNvSpPr/>
          <p:nvPr/>
        </p:nvSpPr>
        <p:spPr>
          <a:xfrm>
            <a:off x="1646526" y="1292128"/>
            <a:ext cx="1363088" cy="646331"/>
          </a:xfrm>
          <a:prstGeom prst="rect">
            <a:avLst/>
          </a:prstGeom>
        </p:spPr>
        <p:txBody>
          <a:bodyPr wrap="square">
            <a:spAutoFit/>
          </a:bodyPr>
          <a:lstStyle/>
          <a:p>
            <a:pPr algn="ctr" defTabSz="457195"/>
            <a:r>
              <a:rPr lang="en-US" dirty="0">
                <a:solidFill>
                  <a:srgbClr val="FFFFFF"/>
                </a:solidFill>
                <a:latin typeface="Arial"/>
              </a:rPr>
              <a:t>N-stage Bioreactors</a:t>
            </a:r>
          </a:p>
        </p:txBody>
      </p:sp>
      <p:sp>
        <p:nvSpPr>
          <p:cNvPr id="126" name="Rectangle 125">
            <a:extLst>
              <a:ext uri="{FF2B5EF4-FFF2-40B4-BE49-F238E27FC236}">
                <a16:creationId xmlns:a16="http://schemas.microsoft.com/office/drawing/2014/main" id="{ABB72E90-74EE-4454-A98C-AB22B9D8F394}"/>
              </a:ext>
            </a:extLst>
          </p:cNvPr>
          <p:cNvSpPr/>
          <p:nvPr/>
        </p:nvSpPr>
        <p:spPr>
          <a:xfrm>
            <a:off x="244129" y="3458225"/>
            <a:ext cx="728892" cy="923330"/>
          </a:xfrm>
          <a:prstGeom prst="rect">
            <a:avLst/>
          </a:prstGeom>
        </p:spPr>
        <p:txBody>
          <a:bodyPr wrap="square">
            <a:spAutoFit/>
          </a:bodyPr>
          <a:lstStyle/>
          <a:p>
            <a:pPr defTabSz="457195"/>
            <a:r>
              <a:rPr lang="en-US" dirty="0">
                <a:solidFill>
                  <a:srgbClr val="FFFFFF"/>
                </a:solidFill>
                <a:latin typeface="Arial"/>
              </a:rPr>
              <a:t>120-500kg</a:t>
            </a:r>
          </a:p>
        </p:txBody>
      </p:sp>
      <p:cxnSp>
        <p:nvCxnSpPr>
          <p:cNvPr id="14" name="Connector: Elbow 13">
            <a:extLst>
              <a:ext uri="{FF2B5EF4-FFF2-40B4-BE49-F238E27FC236}">
                <a16:creationId xmlns:a16="http://schemas.microsoft.com/office/drawing/2014/main" id="{F491BA7D-5004-4D11-9D1E-50BAF08CF8DA}"/>
              </a:ext>
            </a:extLst>
          </p:cNvPr>
          <p:cNvCxnSpPr>
            <a:cxnSpLocks/>
            <a:endCxn id="74" idx="0"/>
          </p:cNvCxnSpPr>
          <p:nvPr/>
        </p:nvCxnSpPr>
        <p:spPr>
          <a:xfrm flipV="1">
            <a:off x="6256196" y="1855159"/>
            <a:ext cx="436482" cy="181104"/>
          </a:xfrm>
          <a:prstGeom prst="bentConnector4">
            <a:avLst>
              <a:gd name="adj1" fmla="val 33449"/>
              <a:gd name="adj2" fmla="val 31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7A523B8-94FE-42A1-9F95-C11D95554B7E}"/>
              </a:ext>
            </a:extLst>
          </p:cNvPr>
          <p:cNvCxnSpPr>
            <a:stCxn id="74" idx="3"/>
            <a:endCxn id="46" idx="0"/>
          </p:cNvCxnSpPr>
          <p:nvPr/>
        </p:nvCxnSpPr>
        <p:spPr>
          <a:xfrm flipV="1">
            <a:off x="6876035" y="1625764"/>
            <a:ext cx="1084870" cy="362733"/>
          </a:xfrm>
          <a:prstGeom prst="bentConnector4">
            <a:avLst>
              <a:gd name="adj1" fmla="val 42976"/>
              <a:gd name="adj2" fmla="val 16302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0F83D2BD-307C-4F4E-B6E7-1A9BEEC744BC}"/>
              </a:ext>
            </a:extLst>
          </p:cNvPr>
          <p:cNvSpPr txBox="1"/>
          <p:nvPr/>
        </p:nvSpPr>
        <p:spPr>
          <a:xfrm>
            <a:off x="5210116" y="2164808"/>
            <a:ext cx="1576490" cy="646331"/>
          </a:xfrm>
          <a:prstGeom prst="rect">
            <a:avLst/>
          </a:prstGeom>
          <a:noFill/>
        </p:spPr>
        <p:txBody>
          <a:bodyPr wrap="square" rtlCol="0">
            <a:spAutoFit/>
          </a:bodyPr>
          <a:lstStyle/>
          <a:p>
            <a:pPr algn="ctr" defTabSz="457195"/>
            <a:r>
              <a:rPr lang="en-US">
                <a:solidFill>
                  <a:srgbClr val="000000"/>
                </a:solidFill>
                <a:latin typeface="Arial"/>
              </a:rPr>
              <a:t>Virus Inactivation</a:t>
            </a:r>
          </a:p>
        </p:txBody>
      </p:sp>
      <p:cxnSp>
        <p:nvCxnSpPr>
          <p:cNvPr id="16" name="Straight Arrow Connector 15">
            <a:extLst>
              <a:ext uri="{FF2B5EF4-FFF2-40B4-BE49-F238E27FC236}">
                <a16:creationId xmlns:a16="http://schemas.microsoft.com/office/drawing/2014/main" id="{DC03BA69-01CE-4778-9B6D-422E1453BD6A}"/>
              </a:ext>
            </a:extLst>
          </p:cNvPr>
          <p:cNvCxnSpPr>
            <a:cxnSpLocks/>
          </p:cNvCxnSpPr>
          <p:nvPr/>
        </p:nvCxnSpPr>
        <p:spPr>
          <a:xfrm>
            <a:off x="8611607" y="3043950"/>
            <a:ext cx="7102" cy="57063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5F77AEC-C950-479C-9A5F-577972477EF5}"/>
              </a:ext>
            </a:extLst>
          </p:cNvPr>
          <p:cNvCxnSpPr>
            <a:cxnSpLocks/>
          </p:cNvCxnSpPr>
          <p:nvPr/>
        </p:nvCxnSpPr>
        <p:spPr>
          <a:xfrm>
            <a:off x="8611606" y="2316326"/>
            <a:ext cx="7104" cy="54652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6E42AD39-3835-4C14-8257-1D137DE93A93}"/>
              </a:ext>
            </a:extLst>
          </p:cNvPr>
          <p:cNvSpPr txBox="1"/>
          <p:nvPr/>
        </p:nvSpPr>
        <p:spPr>
          <a:xfrm>
            <a:off x="936213" y="830718"/>
            <a:ext cx="665567" cy="300082"/>
          </a:xfrm>
          <a:prstGeom prst="rect">
            <a:avLst/>
          </a:prstGeom>
          <a:noFill/>
        </p:spPr>
        <p:txBody>
          <a:bodyPr wrap="none" rtlCol="0">
            <a:spAutoFit/>
          </a:bodyPr>
          <a:lstStyle/>
          <a:p>
            <a:pPr defTabSz="457195"/>
            <a:r>
              <a:rPr lang="en-US" sz="1350">
                <a:solidFill>
                  <a:srgbClr val="000000"/>
                </a:solidFill>
                <a:latin typeface="Arial"/>
              </a:rPr>
              <a:t>Feeds</a:t>
            </a:r>
          </a:p>
        </p:txBody>
      </p:sp>
      <p:cxnSp>
        <p:nvCxnSpPr>
          <p:cNvPr id="141" name="Connector: Elbow 140">
            <a:extLst>
              <a:ext uri="{FF2B5EF4-FFF2-40B4-BE49-F238E27FC236}">
                <a16:creationId xmlns:a16="http://schemas.microsoft.com/office/drawing/2014/main" id="{ADB6AB38-73C9-4228-A782-DC32A5395C1A}"/>
              </a:ext>
            </a:extLst>
          </p:cNvPr>
          <p:cNvCxnSpPr>
            <a:cxnSpLocks/>
          </p:cNvCxnSpPr>
          <p:nvPr/>
        </p:nvCxnSpPr>
        <p:spPr>
          <a:xfrm>
            <a:off x="1798154" y="1027753"/>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 name="Title 6">
            <a:extLst>
              <a:ext uri="{FF2B5EF4-FFF2-40B4-BE49-F238E27FC236}">
                <a16:creationId xmlns:a16="http://schemas.microsoft.com/office/drawing/2014/main" id="{B3465F7A-BEA2-40FF-8ECE-78B8CD551E05}"/>
              </a:ext>
            </a:extLst>
          </p:cNvPr>
          <p:cNvSpPr>
            <a:spLocks noGrp="1"/>
          </p:cNvSpPr>
          <p:nvPr>
            <p:ph type="title"/>
          </p:nvPr>
        </p:nvSpPr>
        <p:spPr>
          <a:xfrm>
            <a:off x="148856" y="144000"/>
            <a:ext cx="9286546" cy="504000"/>
          </a:xfrm>
        </p:spPr>
        <p:txBody>
          <a:bodyPr/>
          <a:lstStyle/>
          <a:p>
            <a:r>
              <a:rPr lang="en-US" dirty="0"/>
              <a:t>Figure 1: Common Framework for Integrated and Continuous Processing</a:t>
            </a:r>
          </a:p>
        </p:txBody>
      </p:sp>
      <p:sp>
        <p:nvSpPr>
          <p:cNvPr id="11" name="Rectangle: Rounded Corners 10">
            <a:extLst>
              <a:ext uri="{FF2B5EF4-FFF2-40B4-BE49-F238E27FC236}">
                <a16:creationId xmlns:a16="http://schemas.microsoft.com/office/drawing/2014/main" id="{A5B193FD-3087-432B-9F23-8CB7A4269C69}"/>
              </a:ext>
            </a:extLst>
          </p:cNvPr>
          <p:cNvSpPr/>
          <p:nvPr/>
        </p:nvSpPr>
        <p:spPr>
          <a:xfrm>
            <a:off x="90041" y="2215423"/>
            <a:ext cx="745191" cy="5874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N-1</a:t>
            </a:r>
          </a:p>
        </p:txBody>
      </p:sp>
      <p:sp>
        <p:nvSpPr>
          <p:cNvPr id="97" name="Rectangle: Rounded Corners 96">
            <a:extLst>
              <a:ext uri="{FF2B5EF4-FFF2-40B4-BE49-F238E27FC236}">
                <a16:creationId xmlns:a16="http://schemas.microsoft.com/office/drawing/2014/main" id="{95F067C0-D0F6-4014-A6D2-B8E6A475DBAA}"/>
              </a:ext>
            </a:extLst>
          </p:cNvPr>
          <p:cNvSpPr/>
          <p:nvPr/>
        </p:nvSpPr>
        <p:spPr>
          <a:xfrm>
            <a:off x="851575" y="2513677"/>
            <a:ext cx="78618" cy="2926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6C13F743-3A02-4A0E-BFD7-128E8575E7D5}"/>
              </a:ext>
            </a:extLst>
          </p:cNvPr>
          <p:cNvGrpSpPr/>
          <p:nvPr/>
        </p:nvGrpSpPr>
        <p:grpSpPr>
          <a:xfrm>
            <a:off x="8338933" y="3614584"/>
            <a:ext cx="552450" cy="690562"/>
            <a:chOff x="3603122" y="2443163"/>
            <a:chExt cx="552450" cy="690562"/>
          </a:xfrm>
        </p:grpSpPr>
        <p:sp>
          <p:nvSpPr>
            <p:cNvPr id="113" name="Rectangle 112">
              <a:extLst>
                <a:ext uri="{FF2B5EF4-FFF2-40B4-BE49-F238E27FC236}">
                  <a16:creationId xmlns:a16="http://schemas.microsoft.com/office/drawing/2014/main" id="{FC536352-6819-494D-B25B-2A22FE4C263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4" name="Straight Connector 113">
              <a:extLst>
                <a:ext uri="{FF2B5EF4-FFF2-40B4-BE49-F238E27FC236}">
                  <a16:creationId xmlns:a16="http://schemas.microsoft.com/office/drawing/2014/main" id="{5142B0D5-4A8C-4E4C-9A6B-A72C9248676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8A41BD5C-79A8-4E33-AB52-EB358FF063EC}"/>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36B558DD-C7D5-406F-B10C-1FADA43F099D}"/>
              </a:ext>
            </a:extLst>
          </p:cNvPr>
          <p:cNvGrpSpPr/>
          <p:nvPr/>
        </p:nvGrpSpPr>
        <p:grpSpPr>
          <a:xfrm>
            <a:off x="8338933" y="1625764"/>
            <a:ext cx="552450" cy="690562"/>
            <a:chOff x="3603122" y="2443163"/>
            <a:chExt cx="552450" cy="690562"/>
          </a:xfrm>
        </p:grpSpPr>
        <p:sp>
          <p:nvSpPr>
            <p:cNvPr id="119" name="Rectangle 118">
              <a:extLst>
                <a:ext uri="{FF2B5EF4-FFF2-40B4-BE49-F238E27FC236}">
                  <a16:creationId xmlns:a16="http://schemas.microsoft.com/office/drawing/2014/main" id="{F9101B6D-E0AE-48A7-8063-0B6ECB760696}"/>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21" name="Straight Connector 120">
              <a:extLst>
                <a:ext uri="{FF2B5EF4-FFF2-40B4-BE49-F238E27FC236}">
                  <a16:creationId xmlns:a16="http://schemas.microsoft.com/office/drawing/2014/main" id="{E4779BD7-188F-44B2-942F-C7AFA60DEE1C}"/>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517EF09-F3DB-459B-B5A3-74EEA1B4E4ED}"/>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230A6CFB-F09A-49C3-A4FB-D194078475B6}"/>
              </a:ext>
            </a:extLst>
          </p:cNvPr>
          <p:cNvSpPr txBox="1"/>
          <p:nvPr/>
        </p:nvSpPr>
        <p:spPr>
          <a:xfrm>
            <a:off x="632605" y="2837093"/>
            <a:ext cx="437940" cy="253916"/>
          </a:xfrm>
          <a:prstGeom prst="rect">
            <a:avLst/>
          </a:prstGeom>
          <a:noFill/>
        </p:spPr>
        <p:txBody>
          <a:bodyPr wrap="none" rtlCol="0">
            <a:spAutoFit/>
          </a:bodyPr>
          <a:lstStyle/>
          <a:p>
            <a:r>
              <a:rPr lang="en-US" sz="1050" dirty="0"/>
              <a:t>ATF</a:t>
            </a:r>
          </a:p>
        </p:txBody>
      </p:sp>
      <p:cxnSp>
        <p:nvCxnSpPr>
          <p:cNvPr id="31" name="Straight Arrow Connector 30">
            <a:extLst>
              <a:ext uri="{FF2B5EF4-FFF2-40B4-BE49-F238E27FC236}">
                <a16:creationId xmlns:a16="http://schemas.microsoft.com/office/drawing/2014/main" id="{C82503C1-F0E1-474A-B919-E5F29FEABF13}"/>
              </a:ext>
            </a:extLst>
          </p:cNvPr>
          <p:cNvCxnSpPr>
            <a:cxnSpLocks/>
          </p:cNvCxnSpPr>
          <p:nvPr/>
        </p:nvCxnSpPr>
        <p:spPr>
          <a:xfrm>
            <a:off x="5426027" y="1165425"/>
            <a:ext cx="0" cy="82307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7AF8652-1087-48CC-8102-3D3619481BFF}"/>
              </a:ext>
            </a:extLst>
          </p:cNvPr>
          <p:cNvCxnSpPr>
            <a:cxnSpLocks/>
          </p:cNvCxnSpPr>
          <p:nvPr/>
        </p:nvCxnSpPr>
        <p:spPr>
          <a:xfrm flipH="1">
            <a:off x="6509322" y="1084861"/>
            <a:ext cx="2" cy="36849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2203A68-10D3-4C8C-A7D6-33F5ECA158E1}"/>
              </a:ext>
            </a:extLst>
          </p:cNvPr>
          <p:cNvSpPr txBox="1"/>
          <p:nvPr/>
        </p:nvSpPr>
        <p:spPr>
          <a:xfrm>
            <a:off x="5055911" y="796093"/>
            <a:ext cx="1633781" cy="369332"/>
          </a:xfrm>
          <a:prstGeom prst="rect">
            <a:avLst/>
          </a:prstGeom>
          <a:noFill/>
        </p:spPr>
        <p:txBody>
          <a:bodyPr wrap="none" rtlCol="0">
            <a:spAutoFit/>
          </a:bodyPr>
          <a:lstStyle/>
          <a:p>
            <a:r>
              <a:rPr lang="en-US"/>
              <a:t>In-line titration</a:t>
            </a:r>
          </a:p>
        </p:txBody>
      </p:sp>
      <p:sp>
        <p:nvSpPr>
          <p:cNvPr id="38" name="Rectangle 37">
            <a:extLst>
              <a:ext uri="{FF2B5EF4-FFF2-40B4-BE49-F238E27FC236}">
                <a16:creationId xmlns:a16="http://schemas.microsoft.com/office/drawing/2014/main" id="{74F3C48A-39F8-4AFD-8207-298D5F9F70A9}"/>
              </a:ext>
            </a:extLst>
          </p:cNvPr>
          <p:cNvSpPr/>
          <p:nvPr/>
        </p:nvSpPr>
        <p:spPr>
          <a:xfrm>
            <a:off x="5567978" y="1674345"/>
            <a:ext cx="661304" cy="51168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Tank or PFR</a:t>
            </a:r>
          </a:p>
        </p:txBody>
      </p:sp>
      <p:sp>
        <p:nvSpPr>
          <p:cNvPr id="128" name="TextBox 127">
            <a:extLst>
              <a:ext uri="{FF2B5EF4-FFF2-40B4-BE49-F238E27FC236}">
                <a16:creationId xmlns:a16="http://schemas.microsoft.com/office/drawing/2014/main" id="{561A8106-8C05-48C9-A5F3-3060520AFB95}"/>
              </a:ext>
            </a:extLst>
          </p:cNvPr>
          <p:cNvSpPr txBox="1"/>
          <p:nvPr/>
        </p:nvSpPr>
        <p:spPr>
          <a:xfrm>
            <a:off x="6479524" y="2883868"/>
            <a:ext cx="1633781" cy="369332"/>
          </a:xfrm>
          <a:prstGeom prst="rect">
            <a:avLst/>
          </a:prstGeom>
          <a:noFill/>
        </p:spPr>
        <p:txBody>
          <a:bodyPr wrap="none" rtlCol="0">
            <a:spAutoFit/>
          </a:bodyPr>
          <a:lstStyle/>
          <a:p>
            <a:r>
              <a:rPr lang="en-US"/>
              <a:t>In-line titration</a:t>
            </a:r>
          </a:p>
        </p:txBody>
      </p:sp>
      <p:cxnSp>
        <p:nvCxnSpPr>
          <p:cNvPr id="40" name="Straight Arrow Connector 39">
            <a:extLst>
              <a:ext uri="{FF2B5EF4-FFF2-40B4-BE49-F238E27FC236}">
                <a16:creationId xmlns:a16="http://schemas.microsoft.com/office/drawing/2014/main" id="{74FDBC3C-68FD-4350-B089-9EBA16AE117F}"/>
              </a:ext>
            </a:extLst>
          </p:cNvPr>
          <p:cNvCxnSpPr>
            <a:cxnSpLocks/>
            <a:stCxn id="128" idx="3"/>
            <a:endCxn id="79" idx="1"/>
          </p:cNvCxnSpPr>
          <p:nvPr/>
        </p:nvCxnSpPr>
        <p:spPr>
          <a:xfrm>
            <a:off x="8113305" y="3068534"/>
            <a:ext cx="318499" cy="685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3" name="TextBox 142">
            <a:extLst>
              <a:ext uri="{FF2B5EF4-FFF2-40B4-BE49-F238E27FC236}">
                <a16:creationId xmlns:a16="http://schemas.microsoft.com/office/drawing/2014/main" id="{7C7726E8-F3EF-4883-9864-7237889CFD9D}"/>
              </a:ext>
            </a:extLst>
          </p:cNvPr>
          <p:cNvSpPr txBox="1"/>
          <p:nvPr/>
        </p:nvSpPr>
        <p:spPr>
          <a:xfrm>
            <a:off x="6267262" y="3272945"/>
            <a:ext cx="1633781" cy="369332"/>
          </a:xfrm>
          <a:prstGeom prst="rect">
            <a:avLst/>
          </a:prstGeom>
          <a:noFill/>
        </p:spPr>
        <p:txBody>
          <a:bodyPr wrap="none" rtlCol="0">
            <a:spAutoFit/>
          </a:bodyPr>
          <a:lstStyle/>
          <a:p>
            <a:r>
              <a:rPr lang="en-US"/>
              <a:t>In-line titration</a:t>
            </a:r>
          </a:p>
        </p:txBody>
      </p:sp>
      <p:cxnSp>
        <p:nvCxnSpPr>
          <p:cNvPr id="51" name="Straight Arrow Connector 50">
            <a:extLst>
              <a:ext uri="{FF2B5EF4-FFF2-40B4-BE49-F238E27FC236}">
                <a16:creationId xmlns:a16="http://schemas.microsoft.com/office/drawing/2014/main" id="{74CEDEB1-E35D-4949-B5D3-1842A24419C1}"/>
              </a:ext>
            </a:extLst>
          </p:cNvPr>
          <p:cNvCxnSpPr>
            <a:stCxn id="143" idx="2"/>
          </p:cNvCxnSpPr>
          <p:nvPr/>
        </p:nvCxnSpPr>
        <p:spPr>
          <a:xfrm flipH="1">
            <a:off x="7084152" y="3642277"/>
            <a:ext cx="1" cy="87455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EFDC6F78-B2BF-48DE-9233-9E2A4A629A76}"/>
              </a:ext>
            </a:extLst>
          </p:cNvPr>
          <p:cNvCxnSpPr>
            <a:cxnSpLocks/>
          </p:cNvCxnSpPr>
          <p:nvPr/>
        </p:nvCxnSpPr>
        <p:spPr>
          <a:xfrm>
            <a:off x="1798154" y="111368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CED80CF7-CDFF-4415-8AB9-EB4D8617E220}"/>
              </a:ext>
            </a:extLst>
          </p:cNvPr>
          <p:cNvCxnSpPr>
            <a:cxnSpLocks/>
          </p:cNvCxnSpPr>
          <p:nvPr/>
        </p:nvCxnSpPr>
        <p:spPr>
          <a:xfrm>
            <a:off x="1798154" y="94181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52D978-B228-4D4A-99DF-D49B1EB73E67}"/>
              </a:ext>
            </a:extLst>
          </p:cNvPr>
          <p:cNvSpPr txBox="1"/>
          <p:nvPr/>
        </p:nvSpPr>
        <p:spPr>
          <a:xfrm rot="16200000">
            <a:off x="2737332" y="1976393"/>
            <a:ext cx="1189749" cy="276999"/>
          </a:xfrm>
          <a:prstGeom prst="rect">
            <a:avLst/>
          </a:prstGeom>
          <a:noFill/>
        </p:spPr>
        <p:txBody>
          <a:bodyPr wrap="none" rtlCol="0">
            <a:spAutoFit/>
          </a:bodyPr>
          <a:lstStyle/>
          <a:p>
            <a:r>
              <a:rPr lang="en-US" sz="1200" dirty="0">
                <a:solidFill>
                  <a:schemeClr val="bg1"/>
                </a:solidFill>
              </a:rPr>
              <a:t> Cell Retention</a:t>
            </a:r>
          </a:p>
        </p:txBody>
      </p:sp>
      <p:sp>
        <p:nvSpPr>
          <p:cNvPr id="125" name="TextBox 124">
            <a:extLst>
              <a:ext uri="{FF2B5EF4-FFF2-40B4-BE49-F238E27FC236}">
                <a16:creationId xmlns:a16="http://schemas.microsoft.com/office/drawing/2014/main" id="{72E5D790-E7CA-6B45-B799-9AA6DA36F54A}"/>
              </a:ext>
            </a:extLst>
          </p:cNvPr>
          <p:cNvSpPr txBox="1"/>
          <p:nvPr/>
        </p:nvSpPr>
        <p:spPr>
          <a:xfrm>
            <a:off x="3372903" y="723370"/>
            <a:ext cx="1084870" cy="307777"/>
          </a:xfrm>
          <a:prstGeom prst="rect">
            <a:avLst/>
          </a:prstGeom>
          <a:noFill/>
        </p:spPr>
        <p:txBody>
          <a:bodyPr wrap="square" rtlCol="0">
            <a:spAutoFit/>
          </a:bodyPr>
          <a:lstStyle/>
          <a:p>
            <a:pPr algn="ctr"/>
            <a:r>
              <a:rPr lang="en-US" sz="1400" dirty="0"/>
              <a:t>Surge tank</a:t>
            </a:r>
          </a:p>
        </p:txBody>
      </p:sp>
      <p:sp>
        <p:nvSpPr>
          <p:cNvPr id="148" name="TextBox 147">
            <a:extLst>
              <a:ext uri="{FF2B5EF4-FFF2-40B4-BE49-F238E27FC236}">
                <a16:creationId xmlns:a16="http://schemas.microsoft.com/office/drawing/2014/main" id="{E7BD0437-F8C5-C149-9BC3-382CC88D8B02}"/>
              </a:ext>
            </a:extLst>
          </p:cNvPr>
          <p:cNvSpPr txBox="1"/>
          <p:nvPr/>
        </p:nvSpPr>
        <p:spPr>
          <a:xfrm>
            <a:off x="5805379" y="4151259"/>
            <a:ext cx="1084870" cy="738664"/>
          </a:xfrm>
          <a:prstGeom prst="rect">
            <a:avLst/>
          </a:prstGeom>
          <a:noFill/>
        </p:spPr>
        <p:txBody>
          <a:bodyPr wrap="square" rtlCol="0">
            <a:spAutoFit/>
          </a:bodyPr>
          <a:lstStyle/>
          <a:p>
            <a:pPr algn="ctr"/>
            <a:r>
              <a:rPr lang="en-US" sz="1400" dirty="0"/>
              <a:t>Surge tank</a:t>
            </a:r>
          </a:p>
          <a:p>
            <a:pPr algn="ctr"/>
            <a:r>
              <a:rPr lang="en-US" sz="1400" dirty="0"/>
              <a:t>Optional lot pool</a:t>
            </a:r>
          </a:p>
        </p:txBody>
      </p:sp>
      <p:sp>
        <p:nvSpPr>
          <p:cNvPr id="2" name="TextBox 1">
            <a:extLst>
              <a:ext uri="{FF2B5EF4-FFF2-40B4-BE49-F238E27FC236}">
                <a16:creationId xmlns:a16="http://schemas.microsoft.com/office/drawing/2014/main" id="{6CA143CB-446E-D649-8187-8C019A3952A4}"/>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11168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extLst>
              <p:ext uri="{D42A27DB-BD31-4B8C-83A1-F6EECF244321}">
                <p14:modId xmlns:p14="http://schemas.microsoft.com/office/powerpoint/2010/main" val="2391925860"/>
              </p:ext>
            </p:extLst>
          </p:nvPr>
        </p:nvGraphicFramePr>
        <p:xfrm>
          <a:off x="628650" y="665163"/>
          <a:ext cx="7886700" cy="1699260"/>
        </p:xfrm>
        <a:graphic>
          <a:graphicData uri="http://schemas.openxmlformats.org/drawingml/2006/table">
            <a:tbl>
              <a:tblPr firstRow="1" firstCol="1" bandRow="1">
                <a:tableStyleId>{073A0DAA-6AF3-43AB-8588-CEC1D06C72B9}</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190500">
                <a:tc>
                  <a:txBody>
                    <a:bodyPr/>
                    <a:lstStyle/>
                    <a:p>
                      <a:pPr marL="0" marR="0">
                        <a:spcBef>
                          <a:spcPts val="0"/>
                        </a:spcBef>
                        <a:spcAft>
                          <a:spcPts val="0"/>
                        </a:spcAft>
                      </a:pPr>
                      <a:r>
                        <a:rPr lang="en-US" sz="1200" dirty="0">
                          <a:effectLst/>
                        </a:rPr>
                        <a:t>N-stage bioreactor Size (L)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rPr>
                        <a:t>Number of bioreactors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1-4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50-120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20-40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36576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0.5-2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Lot (Batch) Duration (days)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rPr>
                        <a:t>Number of concentrated media feeds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 (3)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rPr>
                        <a:t> Media Concentration Factor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1x to 5x (20x, 12x, and 5x)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8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468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813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Table 2: Bioreactor Assumptions</a:t>
            </a:r>
          </a:p>
        </p:txBody>
      </p:sp>
      <p:sp>
        <p:nvSpPr>
          <p:cNvPr id="3" name="TextBox 2">
            <a:extLst>
              <a:ext uri="{FF2B5EF4-FFF2-40B4-BE49-F238E27FC236}">
                <a16:creationId xmlns:a16="http://schemas.microsoft.com/office/drawing/2014/main" id="{EE44F339-CD6A-0145-B31B-4A5E63A86550}"/>
              </a:ext>
            </a:extLst>
          </p:cNvPr>
          <p:cNvSpPr txBox="1"/>
          <p:nvPr/>
        </p:nvSpPr>
        <p:spPr>
          <a:xfrm>
            <a:off x="1336431" y="2364424"/>
            <a:ext cx="4030270" cy="261610"/>
          </a:xfrm>
          <a:prstGeom prst="rect">
            <a:avLst/>
          </a:prstGeom>
          <a:noFill/>
        </p:spPr>
        <p:txBody>
          <a:bodyPr wrap="none" rtlCol="0">
            <a:spAutoFit/>
          </a:bodyPr>
          <a:lstStyle/>
          <a:p>
            <a:r>
              <a:rPr lang="en-US" sz="1100" dirty="0"/>
              <a:t>Range of parameters (parenthetical values used in examples)</a:t>
            </a:r>
          </a:p>
        </p:txBody>
      </p:sp>
    </p:spTree>
    <p:extLst>
      <p:ext uri="{BB962C8B-B14F-4D97-AF65-F5344CB8AC3E}">
        <p14:creationId xmlns:p14="http://schemas.microsoft.com/office/powerpoint/2010/main" val="1579411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5E307-C246-7A45-9B55-CD440773F5A7}"/>
              </a:ext>
            </a:extLst>
          </p:cNvPr>
          <p:cNvSpPr>
            <a:spLocks noGrp="1"/>
          </p:cNvSpPr>
          <p:nvPr>
            <p:ph type="sldNum" sz="quarter" idx="4"/>
          </p:nvPr>
        </p:nvSpPr>
        <p:spPr/>
        <p:txBody>
          <a:bodyPr/>
          <a:lstStyle/>
          <a:p>
            <a:fld id="{3C4F54F3-C349-4609-AFEE-01462D5C7942}" type="slidenum">
              <a:rPr lang="en-GB" smtClean="0"/>
              <a:pPr/>
              <a:t>5</a:t>
            </a:fld>
            <a:endParaRPr lang="en-GB"/>
          </a:p>
        </p:txBody>
      </p:sp>
      <p:sp>
        <p:nvSpPr>
          <p:cNvPr id="3" name="Title 2">
            <a:extLst>
              <a:ext uri="{FF2B5EF4-FFF2-40B4-BE49-F238E27FC236}">
                <a16:creationId xmlns:a16="http://schemas.microsoft.com/office/drawing/2014/main" id="{37371F97-6C66-5143-A700-08C6FB0A797D}"/>
              </a:ext>
            </a:extLst>
          </p:cNvPr>
          <p:cNvSpPr>
            <a:spLocks noGrp="1"/>
          </p:cNvSpPr>
          <p:nvPr>
            <p:ph type="title"/>
          </p:nvPr>
        </p:nvSpPr>
        <p:spPr>
          <a:xfrm>
            <a:off x="189175" y="134746"/>
            <a:ext cx="8765651" cy="504000"/>
          </a:xfrm>
        </p:spPr>
        <p:txBody>
          <a:bodyPr/>
          <a:lstStyle/>
          <a:p>
            <a:r>
              <a:rPr lang="en-US" dirty="0"/>
              <a:t>Table 2: Productivity, capacity, yield, and solution use</a:t>
            </a:r>
          </a:p>
        </p:txBody>
      </p:sp>
      <p:sp>
        <p:nvSpPr>
          <p:cNvPr id="5" name="Rectangle 4">
            <a:extLst>
              <a:ext uri="{FF2B5EF4-FFF2-40B4-BE49-F238E27FC236}">
                <a16:creationId xmlns:a16="http://schemas.microsoft.com/office/drawing/2014/main" id="{1E480020-727C-0C4C-83C3-FC211ECA5C04}"/>
              </a:ext>
            </a:extLst>
          </p:cNvPr>
          <p:cNvSpPr/>
          <p:nvPr/>
        </p:nvSpPr>
        <p:spPr>
          <a:xfrm>
            <a:off x="1068362" y="4034305"/>
            <a:ext cx="7752303" cy="1046440"/>
          </a:xfrm>
          <a:prstGeom prst="rect">
            <a:avLst/>
          </a:prstGeom>
        </p:spPr>
        <p:txBody>
          <a:bodyPr wrap="square">
            <a:spAutoFit/>
          </a:bodyPr>
          <a:lstStyle/>
          <a:p>
            <a:r>
              <a:rPr lang="en-US" sz="1200" dirty="0"/>
              <a:t>*The number of buffers does not include the VI/VRF buffers, as those will not go into large buffer tanks. The sanitization solution is assumed to be common among all steps.</a:t>
            </a:r>
            <a:endParaRPr lang="en-US" sz="1400" dirty="0"/>
          </a:p>
          <a:p>
            <a:r>
              <a:rPr lang="en-US" sz="1200" dirty="0"/>
              <a:t>400kg buffer/kg BDS equally divided among 14 buffers means each kg of BDS requires 29L of each buffer.</a:t>
            </a:r>
          </a:p>
          <a:p>
            <a:r>
              <a:rPr lang="en-US" sz="1200" dirty="0"/>
              <a:t>Bioreactor yield includes 90% yield of cell retention step</a:t>
            </a:r>
          </a:p>
          <a:p>
            <a:r>
              <a:rPr lang="en-US" sz="1200" dirty="0"/>
              <a:t>PMI: Product Mass Index</a:t>
            </a:r>
            <a:r>
              <a:rPr lang="en-US" sz="1400" dirty="0"/>
              <a:t>; ILC: In-line conditioning; DF: diafiltration </a:t>
            </a:r>
            <a:endParaRPr lang="en-US" sz="1200" dirty="0"/>
          </a:p>
        </p:txBody>
      </p:sp>
      <p:graphicFrame>
        <p:nvGraphicFramePr>
          <p:cNvPr id="6" name="Table 5">
            <a:extLst>
              <a:ext uri="{FF2B5EF4-FFF2-40B4-BE49-F238E27FC236}">
                <a16:creationId xmlns:a16="http://schemas.microsoft.com/office/drawing/2014/main" id="{D3154DDF-A475-054E-9F1B-E7EBE25ABAAF}"/>
              </a:ext>
            </a:extLst>
          </p:cNvPr>
          <p:cNvGraphicFramePr>
            <a:graphicFrameLocks noGrp="1"/>
          </p:cNvGraphicFramePr>
          <p:nvPr>
            <p:extLst>
              <p:ext uri="{D42A27DB-BD31-4B8C-83A1-F6EECF244321}">
                <p14:modId xmlns:p14="http://schemas.microsoft.com/office/powerpoint/2010/main" val="1534888698"/>
              </p:ext>
            </p:extLst>
          </p:nvPr>
        </p:nvGraphicFramePr>
        <p:xfrm>
          <a:off x="907521" y="704212"/>
          <a:ext cx="7159650" cy="2990306"/>
        </p:xfrm>
        <a:graphic>
          <a:graphicData uri="http://schemas.openxmlformats.org/drawingml/2006/table">
            <a:tbl>
              <a:tblPr>
                <a:tableStyleId>{5C22544A-7EE6-4342-B048-85BDC9FD1C3A}</a:tableStyleId>
              </a:tblPr>
              <a:tblGrid>
                <a:gridCol w="715965">
                  <a:extLst>
                    <a:ext uri="{9D8B030D-6E8A-4147-A177-3AD203B41FA5}">
                      <a16:colId xmlns:a16="http://schemas.microsoft.com/office/drawing/2014/main" val="752432430"/>
                    </a:ext>
                  </a:extLst>
                </a:gridCol>
                <a:gridCol w="715965">
                  <a:extLst>
                    <a:ext uri="{9D8B030D-6E8A-4147-A177-3AD203B41FA5}">
                      <a16:colId xmlns:a16="http://schemas.microsoft.com/office/drawing/2014/main" val="523667604"/>
                    </a:ext>
                  </a:extLst>
                </a:gridCol>
                <a:gridCol w="715965">
                  <a:extLst>
                    <a:ext uri="{9D8B030D-6E8A-4147-A177-3AD203B41FA5}">
                      <a16:colId xmlns:a16="http://schemas.microsoft.com/office/drawing/2014/main" val="2320258932"/>
                    </a:ext>
                  </a:extLst>
                </a:gridCol>
                <a:gridCol w="715965">
                  <a:extLst>
                    <a:ext uri="{9D8B030D-6E8A-4147-A177-3AD203B41FA5}">
                      <a16:colId xmlns:a16="http://schemas.microsoft.com/office/drawing/2014/main" val="1643239411"/>
                    </a:ext>
                  </a:extLst>
                </a:gridCol>
                <a:gridCol w="715965">
                  <a:extLst>
                    <a:ext uri="{9D8B030D-6E8A-4147-A177-3AD203B41FA5}">
                      <a16:colId xmlns:a16="http://schemas.microsoft.com/office/drawing/2014/main" val="1396109517"/>
                    </a:ext>
                  </a:extLst>
                </a:gridCol>
                <a:gridCol w="715965">
                  <a:extLst>
                    <a:ext uri="{9D8B030D-6E8A-4147-A177-3AD203B41FA5}">
                      <a16:colId xmlns:a16="http://schemas.microsoft.com/office/drawing/2014/main" val="1084145992"/>
                    </a:ext>
                  </a:extLst>
                </a:gridCol>
                <a:gridCol w="715965">
                  <a:extLst>
                    <a:ext uri="{9D8B030D-6E8A-4147-A177-3AD203B41FA5}">
                      <a16:colId xmlns:a16="http://schemas.microsoft.com/office/drawing/2014/main" val="20201990"/>
                    </a:ext>
                  </a:extLst>
                </a:gridCol>
                <a:gridCol w="715965">
                  <a:extLst>
                    <a:ext uri="{9D8B030D-6E8A-4147-A177-3AD203B41FA5}">
                      <a16:colId xmlns:a16="http://schemas.microsoft.com/office/drawing/2014/main" val="788891713"/>
                    </a:ext>
                  </a:extLst>
                </a:gridCol>
                <a:gridCol w="715965">
                  <a:extLst>
                    <a:ext uri="{9D8B030D-6E8A-4147-A177-3AD203B41FA5}">
                      <a16:colId xmlns:a16="http://schemas.microsoft.com/office/drawing/2014/main" val="4001050450"/>
                    </a:ext>
                  </a:extLst>
                </a:gridCol>
                <a:gridCol w="715965">
                  <a:extLst>
                    <a:ext uri="{9D8B030D-6E8A-4147-A177-3AD203B41FA5}">
                      <a16:colId xmlns:a16="http://schemas.microsoft.com/office/drawing/2014/main" val="386596548"/>
                    </a:ext>
                  </a:extLst>
                </a:gridCol>
              </a:tblGrid>
              <a:tr h="996126">
                <a:tc>
                  <a:txBody>
                    <a:bodyPr/>
                    <a:lstStyle/>
                    <a:p>
                      <a:pPr algn="ctr" fontAlgn="b"/>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Productivity/ Capacity/ </a:t>
                      </a:r>
                      <a:r>
                        <a:rPr lang="en-US" sz="900" u="none" strike="noStrike">
                          <a:effectLst/>
                        </a:rPr>
                        <a:t>Diafiltration Product Concentration</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Volume Used (L/L) (Perfusion, Wash, diafiltration volume)</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a:effectLst/>
                        </a:rPr>
                        <a:t>Yield</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 Number of Solutions per Step </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(L/kg)</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 Concentrate Factor</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for Concentrates</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ILC Concentration Factor</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for ILC</a:t>
                      </a:r>
                      <a:endParaRPr lang="en-US" sz="9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5418036"/>
                  </a:ext>
                </a:extLst>
              </a:tr>
              <a:tr h="273935">
                <a:tc>
                  <a:txBody>
                    <a:bodyPr/>
                    <a:lstStyle/>
                    <a:p>
                      <a:pPr algn="l" fontAlgn="b"/>
                      <a:r>
                        <a:rPr lang="en-US" sz="900" u="none" strike="noStrike">
                          <a:effectLst/>
                        </a:rPr>
                        <a:t>Bioreactor</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4.8</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100%</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dirty="0">
                          <a:effectLst/>
                        </a:rPr>
                        <a:t>                            3 </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529</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3</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176</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3969699"/>
                  </a:ext>
                </a:extLst>
              </a:tr>
              <a:tr h="155645">
                <a:tc>
                  <a:txBody>
                    <a:bodyPr/>
                    <a:lstStyle/>
                    <a:p>
                      <a:pPr algn="l" fontAlgn="b"/>
                      <a:r>
                        <a:rPr lang="en-US" sz="900" u="none" strike="noStrike">
                          <a:effectLst/>
                        </a:rPr>
                        <a:t>TFF</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1000L/m2</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66977962"/>
                  </a:ext>
                </a:extLst>
              </a:tr>
              <a:tr h="273935">
                <a:tc>
                  <a:txBody>
                    <a:bodyPr/>
                    <a:lstStyle/>
                    <a:p>
                      <a:pPr algn="r" fontAlgn="b"/>
                      <a:r>
                        <a:rPr lang="en-US" sz="900" u="none" strike="noStrike">
                          <a:effectLst/>
                        </a:rPr>
                        <a:t>ProA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60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7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534</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107</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26.7</a:t>
                      </a:r>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11614756"/>
                  </a:ext>
                </a:extLst>
              </a:tr>
              <a:tr h="155645">
                <a:tc>
                  <a:txBody>
                    <a:bodyPr/>
                    <a:lstStyle/>
                    <a:p>
                      <a:pPr algn="r" fontAlgn="b"/>
                      <a:r>
                        <a:rPr lang="en-US" sz="900" u="none" strike="noStrike">
                          <a:effectLst/>
                        </a:rPr>
                        <a:t>VI</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0.1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15.0</a:t>
                      </a:r>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31806382"/>
                  </a:ext>
                </a:extLst>
              </a:tr>
              <a:tr h="273935">
                <a:tc>
                  <a:txBody>
                    <a:bodyPr/>
                    <a:lstStyle/>
                    <a:p>
                      <a:pPr algn="r" fontAlgn="b"/>
                      <a:r>
                        <a:rPr lang="en-US" sz="900" u="none" strike="noStrike">
                          <a:effectLst/>
                        </a:rPr>
                        <a:t>AEX</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16</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4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220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44</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11.0</a:t>
                      </a:r>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59682878"/>
                  </a:ext>
                </a:extLst>
              </a:tr>
              <a:tr h="273935">
                <a:tc>
                  <a:txBody>
                    <a:bodyPr/>
                    <a:lstStyle/>
                    <a:p>
                      <a:pPr algn="r" fontAlgn="b"/>
                      <a:r>
                        <a:rPr lang="en-US" sz="900" u="none" strike="noStrike">
                          <a:effectLst/>
                        </a:rPr>
                        <a:t>CEX</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16</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85%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5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521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104</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26.1</a:t>
                      </a:r>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2424904"/>
                  </a:ext>
                </a:extLst>
              </a:tr>
              <a:tr h="155645">
                <a:tc>
                  <a:txBody>
                    <a:bodyPr/>
                    <a:lstStyle/>
                    <a:p>
                      <a:pPr algn="r" fontAlgn="b"/>
                      <a:r>
                        <a:rPr lang="en-US" sz="900" u="none" strike="noStrike">
                          <a:effectLst/>
                        </a:rPr>
                        <a:t>VRF</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700g/m2</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3</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3.0</a:t>
                      </a:r>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55734400"/>
                  </a:ext>
                </a:extLst>
              </a:tr>
              <a:tr h="273935">
                <a:tc>
                  <a:txBody>
                    <a:bodyPr/>
                    <a:lstStyle/>
                    <a:p>
                      <a:pPr algn="r" fontAlgn="b"/>
                      <a:r>
                        <a:rPr lang="en-US" sz="900" u="none" strike="noStrike" dirty="0">
                          <a:effectLst/>
                        </a:rPr>
                        <a:t>UFDF</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50</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95%</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                            2 </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126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126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20</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6.3</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381194"/>
                  </a:ext>
                </a:extLst>
              </a:tr>
              <a:tr h="155645">
                <a:tc>
                  <a:txBody>
                    <a:bodyPr/>
                    <a:lstStyle/>
                    <a:p>
                      <a:pPr algn="r" fontAlgn="b"/>
                      <a:r>
                        <a:rPr lang="en-US" sz="900" b="0" i="0" u="none" strike="noStrike" dirty="0">
                          <a:solidFill>
                            <a:srgbClr val="000000"/>
                          </a:solidFill>
                          <a:effectLst/>
                          <a:latin typeface="Calibri" panose="020F0502020204030204" pitchFamily="34" charset="0"/>
                        </a:rPr>
                        <a:t>Overall</a:t>
                      </a: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a:effectLst/>
                        </a:rPr>
                        <a:t>59%</a:t>
                      </a:r>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a:effectLst/>
                        </a:rPr>
                        <a:t>14</a:t>
                      </a:r>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b="0" i="0" u="none" strike="noStrike" dirty="0">
                          <a:solidFill>
                            <a:srgbClr val="000000"/>
                          </a:solidFill>
                          <a:effectLst/>
                          <a:latin typeface="Calibri" panose="020F0502020204030204" pitchFamily="34" charset="0"/>
                        </a:rPr>
                        <a:t>1960</a:t>
                      </a: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dirty="0">
                          <a:effectLst/>
                        </a:rPr>
                        <a:t>576</a:t>
                      </a:r>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dirty="0">
                          <a:effectLst/>
                        </a:rPr>
                        <a:t>88</a:t>
                      </a:r>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90833013"/>
                  </a:ext>
                </a:extLst>
              </a:tr>
            </a:tbl>
          </a:graphicData>
        </a:graphic>
      </p:graphicFrame>
    </p:spTree>
    <p:extLst>
      <p:ext uri="{BB962C8B-B14F-4D97-AF65-F5344CB8AC3E}">
        <p14:creationId xmlns:p14="http://schemas.microsoft.com/office/powerpoint/2010/main" val="27106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B2023A-8621-AC4C-9105-684851A99F64}"/>
              </a:ext>
            </a:extLst>
          </p:cNvPr>
          <p:cNvSpPr>
            <a:spLocks noGrp="1"/>
          </p:cNvSpPr>
          <p:nvPr>
            <p:ph type="sldNum" sz="quarter" idx="4"/>
          </p:nvPr>
        </p:nvSpPr>
        <p:spPr/>
        <p:txBody>
          <a:bodyPr/>
          <a:lstStyle/>
          <a:p>
            <a:fld id="{3C4F54F3-C349-4609-AFEE-01462D5C7942}" type="slidenum">
              <a:rPr lang="en-GB" smtClean="0"/>
              <a:pPr/>
              <a:t>6</a:t>
            </a:fld>
            <a:endParaRPr lang="en-GB"/>
          </a:p>
        </p:txBody>
      </p:sp>
      <p:sp>
        <p:nvSpPr>
          <p:cNvPr id="3" name="Title 2">
            <a:extLst>
              <a:ext uri="{FF2B5EF4-FFF2-40B4-BE49-F238E27FC236}">
                <a16:creationId xmlns:a16="http://schemas.microsoft.com/office/drawing/2014/main" id="{9FA81B7F-6BEA-BB44-80D9-F136405F449C}"/>
              </a:ext>
            </a:extLst>
          </p:cNvPr>
          <p:cNvSpPr>
            <a:spLocks noGrp="1"/>
          </p:cNvSpPr>
          <p:nvPr>
            <p:ph type="title"/>
          </p:nvPr>
        </p:nvSpPr>
        <p:spPr/>
        <p:txBody>
          <a:bodyPr/>
          <a:lstStyle/>
          <a:p>
            <a:r>
              <a:rPr lang="en-US" dirty="0"/>
              <a:t>Figure 2</a:t>
            </a:r>
          </a:p>
        </p:txBody>
      </p:sp>
      <p:pic>
        <p:nvPicPr>
          <p:cNvPr id="6" name="Picture 5">
            <a:extLst>
              <a:ext uri="{FF2B5EF4-FFF2-40B4-BE49-F238E27FC236}">
                <a16:creationId xmlns:a16="http://schemas.microsoft.com/office/drawing/2014/main" id="{F1AA54D5-34C8-3B4B-AC80-240ACA0C22A0}"/>
              </a:ext>
            </a:extLst>
          </p:cNvPr>
          <p:cNvPicPr>
            <a:picLocks noChangeAspect="1"/>
          </p:cNvPicPr>
          <p:nvPr/>
        </p:nvPicPr>
        <p:blipFill>
          <a:blip r:embed="rId3"/>
          <a:stretch>
            <a:fillRect/>
          </a:stretch>
        </p:blipFill>
        <p:spPr>
          <a:xfrm>
            <a:off x="2584738" y="-65559"/>
            <a:ext cx="3974523" cy="5143500"/>
          </a:xfrm>
          <a:prstGeom prst="rect">
            <a:avLst/>
          </a:prstGeom>
        </p:spPr>
      </p:pic>
      <p:sp>
        <p:nvSpPr>
          <p:cNvPr id="5" name="TextBox 4">
            <a:extLst>
              <a:ext uri="{FF2B5EF4-FFF2-40B4-BE49-F238E27FC236}">
                <a16:creationId xmlns:a16="http://schemas.microsoft.com/office/drawing/2014/main" id="{95491DF9-FFF7-4D4C-A8C6-D6DA705E10D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46393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r>
              <a:rPr lang="en-US" dirty="0"/>
              <a:t>Figure 5A: Batch-wise UFDF</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324405" y="1513681"/>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88245" y="2470478"/>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33005" y="2592928"/>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145289" y="1934877"/>
            <a:ext cx="2151041" cy="369332"/>
          </a:xfrm>
          <a:prstGeom prst="rect">
            <a:avLst/>
          </a:prstGeom>
          <a:noFill/>
        </p:spPr>
        <p:txBody>
          <a:bodyPr wrap="square" rtlCol="0">
            <a:spAutoFit/>
          </a:bodyPr>
          <a:lstStyle/>
          <a:p>
            <a:r>
              <a:rPr lang="en-US" dirty="0"/>
              <a:t>Product Stream </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p:cNvCxnSpPr>
          <p:nvPr/>
        </p:nvCxnSpPr>
        <p:spPr>
          <a:xfrm>
            <a:off x="3895998" y="3343852"/>
            <a:ext cx="429132" cy="62281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5400000" flipH="1" flipV="1">
            <a:off x="6700405" y="2793778"/>
            <a:ext cx="188690" cy="2894"/>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18647" y="2592928"/>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83607A80-9DFB-924F-A8A7-0E3AC387E3A7}"/>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386577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8</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Single-Pass Tangential Flow Filtration and In-Line Diafiltration</a:t>
            </a:r>
          </a:p>
        </p:txBody>
      </p:sp>
      <p:grpSp>
        <p:nvGrpSpPr>
          <p:cNvPr id="4" name="Group 3">
            <a:extLst>
              <a:ext uri="{FF2B5EF4-FFF2-40B4-BE49-F238E27FC236}">
                <a16:creationId xmlns:a16="http://schemas.microsoft.com/office/drawing/2014/main" id="{B61D835A-7DCF-D046-8762-64FCCEE8F7AD}"/>
              </a:ext>
            </a:extLst>
          </p:cNvPr>
          <p:cNvGrpSpPr/>
          <p:nvPr/>
        </p:nvGrpSpPr>
        <p:grpSpPr>
          <a:xfrm>
            <a:off x="1540332" y="3480002"/>
            <a:ext cx="215904" cy="244900"/>
            <a:chOff x="5475212" y="3011672"/>
            <a:chExt cx="1012728" cy="1137683"/>
          </a:xfrm>
        </p:grpSpPr>
        <p:sp>
          <p:nvSpPr>
            <p:cNvPr id="5" name="Rectangle 4">
              <a:extLst>
                <a:ext uri="{FF2B5EF4-FFF2-40B4-BE49-F238E27FC236}">
                  <a16:creationId xmlns:a16="http://schemas.microsoft.com/office/drawing/2014/main" id="{ECDBB7A7-8A40-8C4A-81BE-A5FE5B9C281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841C7E46-9FF1-4D48-8752-4C29579494EB}"/>
              </a:ext>
            </a:extLst>
          </p:cNvPr>
          <p:cNvGrpSpPr/>
          <p:nvPr/>
        </p:nvGrpSpPr>
        <p:grpSpPr>
          <a:xfrm>
            <a:off x="3599027" y="3480002"/>
            <a:ext cx="215904" cy="244900"/>
            <a:chOff x="5475212" y="3011672"/>
            <a:chExt cx="1012728" cy="1137683"/>
          </a:xfrm>
        </p:grpSpPr>
        <p:sp>
          <p:nvSpPr>
            <p:cNvPr id="8" name="Rectangle 7">
              <a:extLst>
                <a:ext uri="{FF2B5EF4-FFF2-40B4-BE49-F238E27FC236}">
                  <a16:creationId xmlns:a16="http://schemas.microsoft.com/office/drawing/2014/main" id="{4132063A-868B-F34E-90EE-8519EA54BF6A}"/>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95DBBB0-2B4D-8545-9AF5-A9491BF66A7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4B39E71C-3D34-5E44-BDFE-37EC098EAD52}"/>
              </a:ext>
            </a:extLst>
          </p:cNvPr>
          <p:cNvGrpSpPr/>
          <p:nvPr/>
        </p:nvGrpSpPr>
        <p:grpSpPr>
          <a:xfrm>
            <a:off x="5695776" y="3509830"/>
            <a:ext cx="215904" cy="244900"/>
            <a:chOff x="5475212" y="3011672"/>
            <a:chExt cx="1012728" cy="1137683"/>
          </a:xfrm>
        </p:grpSpPr>
        <p:sp>
          <p:nvSpPr>
            <p:cNvPr id="11" name="Rectangle 10">
              <a:extLst>
                <a:ext uri="{FF2B5EF4-FFF2-40B4-BE49-F238E27FC236}">
                  <a16:creationId xmlns:a16="http://schemas.microsoft.com/office/drawing/2014/main" id="{459D0B84-3778-B24C-82CF-5274B43D6E4B}"/>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E007E9-E238-FE4C-9220-36AD1FC4BA0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FD2CC284-4C41-6D45-B0E5-1E9B31F7ED65}"/>
              </a:ext>
            </a:extLst>
          </p:cNvPr>
          <p:cNvGrpSpPr/>
          <p:nvPr/>
        </p:nvGrpSpPr>
        <p:grpSpPr>
          <a:xfrm>
            <a:off x="4301517" y="3480002"/>
            <a:ext cx="215904" cy="244900"/>
            <a:chOff x="5475212" y="3011672"/>
            <a:chExt cx="1012728" cy="1137683"/>
          </a:xfrm>
        </p:grpSpPr>
        <p:sp>
          <p:nvSpPr>
            <p:cNvPr id="14" name="Rectangle 13">
              <a:extLst>
                <a:ext uri="{FF2B5EF4-FFF2-40B4-BE49-F238E27FC236}">
                  <a16:creationId xmlns:a16="http://schemas.microsoft.com/office/drawing/2014/main" id="{53394859-2582-0844-986F-8E93B9553D29}"/>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57CF2BF-E925-414C-9F58-AB9B2FC1D7B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6798403" y="1938036"/>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56DEE26B-240B-0047-BE55-20CD06C90595}"/>
              </a:ext>
            </a:extLst>
          </p:cNvPr>
          <p:cNvGrpSpPr/>
          <p:nvPr/>
        </p:nvGrpSpPr>
        <p:grpSpPr>
          <a:xfrm>
            <a:off x="2821525" y="3480002"/>
            <a:ext cx="215904" cy="244900"/>
            <a:chOff x="5475212" y="3011672"/>
            <a:chExt cx="1012728" cy="1137683"/>
          </a:xfrm>
        </p:grpSpPr>
        <p:sp>
          <p:nvSpPr>
            <p:cNvPr id="32" name="Rectangle 31">
              <a:extLst>
                <a:ext uri="{FF2B5EF4-FFF2-40B4-BE49-F238E27FC236}">
                  <a16:creationId xmlns:a16="http://schemas.microsoft.com/office/drawing/2014/main" id="{E3346678-BBB2-5F4B-AFE9-2D80E7809D48}"/>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Arrow Connector 37">
            <a:extLst>
              <a:ext uri="{FF2B5EF4-FFF2-40B4-BE49-F238E27FC236}">
                <a16:creationId xmlns:a16="http://schemas.microsoft.com/office/drawing/2014/main" id="{2D78FFE2-22BA-7446-BF18-CCBAB9241F58}"/>
              </a:ext>
            </a:extLst>
          </p:cNvPr>
          <p:cNvCxnSpPr>
            <a:cxnSpLocks/>
          </p:cNvCxnSpPr>
          <p:nvPr/>
        </p:nvCxnSpPr>
        <p:spPr>
          <a:xfrm>
            <a:off x="3814931" y="3598753"/>
            <a:ext cx="486586"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6A65596-8184-E540-ACB4-D6083534CD95}"/>
              </a:ext>
            </a:extLst>
          </p:cNvPr>
          <p:cNvCxnSpPr>
            <a:cxnSpLocks/>
            <a:endCxn id="11" idx="1"/>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7597C9E-2E04-FD41-B376-0E88F48A386D}"/>
              </a:ext>
            </a:extLst>
          </p:cNvPr>
          <p:cNvCxnSpPr>
            <a:cxnSpLocks/>
          </p:cNvCxnSpPr>
          <p:nvPr/>
        </p:nvCxnSpPr>
        <p:spPr>
          <a:xfrm>
            <a:off x="3024818" y="3598753"/>
            <a:ext cx="574209"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9B6C3F2-EDE4-0042-B26D-341A158A924E}"/>
              </a:ext>
            </a:extLst>
          </p:cNvPr>
          <p:cNvCxnSpPr>
            <a:cxnSpLocks/>
          </p:cNvCxnSpPr>
          <p:nvPr/>
        </p:nvCxnSpPr>
        <p:spPr>
          <a:xfrm>
            <a:off x="1756236" y="3602452"/>
            <a:ext cx="1052678"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4085CFC-9F8A-4242-A869-F47C3D359F9B}"/>
              </a:ext>
            </a:extLst>
          </p:cNvPr>
          <p:cNvCxnSpPr>
            <a:cxnSpLocks/>
            <a:stCxn id="29" idx="6"/>
            <a:endCxn id="5" idx="1"/>
          </p:cNvCxnSpPr>
          <p:nvPr/>
        </p:nvCxnSpPr>
        <p:spPr>
          <a:xfrm flipV="1">
            <a:off x="1344355" y="3602452"/>
            <a:ext cx="195977" cy="53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2"/>
          </p:cNvCxnSpPr>
          <p:nvPr/>
        </p:nvCxnSpPr>
        <p:spPr>
          <a:xfrm rot="10800000">
            <a:off x="3290427" y="3598754"/>
            <a:ext cx="1050962" cy="41028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204921" y="3415165"/>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368846" y="3605767"/>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stCxn id="14" idx="2"/>
            <a:endCxn id="23" idx="0"/>
          </p:cNvCxnSpPr>
          <p:nvPr/>
        </p:nvCxnSpPr>
        <p:spPr>
          <a:xfrm>
            <a:off x="4409469" y="3724902"/>
            <a:ext cx="1032" cy="19375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7E2B3BF-6B00-AC42-8802-3B4A99BA02EA}"/>
              </a:ext>
            </a:extLst>
          </p:cNvPr>
          <p:cNvCxnSpPr>
            <a:cxnSpLocks/>
          </p:cNvCxnSpPr>
          <p:nvPr/>
        </p:nvCxnSpPr>
        <p:spPr>
          <a:xfrm>
            <a:off x="4153710" y="3072391"/>
            <a:ext cx="0" cy="52352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A18EC30A-6895-524D-8BBA-B34AE6237AA2}"/>
              </a:ext>
            </a:extLst>
          </p:cNvPr>
          <p:cNvCxnSpPr>
            <a:stCxn id="8" idx="0"/>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stCxn id="26" idx="2"/>
            <a:endCxn id="59" idx="0"/>
          </p:cNvCxnSpPr>
          <p:nvPr/>
        </p:nvCxnSpPr>
        <p:spPr>
          <a:xfrm rot="10800000" flipV="1">
            <a:off x="2454352" y="2982015"/>
            <a:ext cx="1182484" cy="623752"/>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a:stCxn id="11" idx="2"/>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63A35C81-A400-1743-A160-783C6CEB79EF}"/>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8016102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4.xml><?xml version="1.0" encoding="utf-8"?>
<?mso-contentType ?>
<SharedContentType xmlns="Microsoft.SharePoint.Taxonomy.ContentTypeSync" SourceId="1ee89e71-04cd-405e-9ca3-99e020c1694d" ContentTypeId="0x0101" PreviousValue="false"/>
</file>

<file path=customXml/itemProps1.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2.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C4B194-6AED-4EB9-AAF8-3EA879A21719}">
  <ds:schemaRefs>
    <ds:schemaRef ds:uri="http://schemas.openxmlformats.org/package/2006/metadata/core-properties"/>
    <ds:schemaRef ds:uri="d300a0bd-4cfc-466d-8c27-3f3e3db5e0e2"/>
    <ds:schemaRef ds:uri="894b19df-7688-4a9a-9e07-15ee5fcc5493"/>
    <ds:schemaRef ds:uri="http://purl.org/dc/elements/1.1/"/>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44a56295-c29e-4898-8136-a54736c65b82"/>
  </ds:schemaRefs>
</ds:datastoreItem>
</file>

<file path=customXml/itemProps4.xml><?xml version="1.0" encoding="utf-8"?>
<ds:datastoreItem xmlns:ds="http://schemas.openxmlformats.org/officeDocument/2006/customXml" ds:itemID="{0806EBE9-B777-486F-91C5-BDD76DC6B09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26378</TotalTime>
  <Words>660</Words>
  <Application>Microsoft Macintosh PowerPoint</Application>
  <PresentationFormat>On-screen Show (16:9)</PresentationFormat>
  <Paragraphs>316</Paragraphs>
  <Slides>8</Slides>
  <Notes>5</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8</vt:i4>
      </vt:variant>
    </vt:vector>
  </HeadingPairs>
  <TitlesOfParts>
    <vt:vector size="14" baseType="lpstr">
      <vt:lpstr>Arial</vt:lpstr>
      <vt:lpstr>Calibri</vt:lpstr>
      <vt:lpstr>AZ Cover Slide Options</vt:lpstr>
      <vt:lpstr>AZ Divider Slide Options</vt:lpstr>
      <vt:lpstr>AZ Divider Slide Options - Colours</vt:lpstr>
      <vt:lpstr>AZ General Master Slide Options</vt:lpstr>
      <vt:lpstr>Figures and tables for (high level) Common Framework article </vt:lpstr>
      <vt:lpstr>Table 1: Integrated and Continuous Bioprocessing Implementation</vt:lpstr>
      <vt:lpstr>Figure 1: Common Framework for Integrated and Continuous Processing</vt:lpstr>
      <vt:lpstr>Table 2: Bioreactor Assumptions</vt:lpstr>
      <vt:lpstr>Table 2: Productivity, capacity, yield, and solution use</vt:lpstr>
      <vt:lpstr>Figure 2</vt:lpstr>
      <vt:lpstr>Figure 5A: Batch-wise UFDF</vt:lpstr>
      <vt:lpstr>Figure 5B: Single-Pass Tangential Flow Filtration and In-Line Diafiltration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225</cp:revision>
  <cp:lastPrinted>2018-03-07T14:46:57Z</cp:lastPrinted>
  <dcterms:created xsi:type="dcterms:W3CDTF">2020-02-25T13:25:27Z</dcterms:created>
  <dcterms:modified xsi:type="dcterms:W3CDTF">2020-09-23T19:50:25Z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