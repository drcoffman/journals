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36"/>
  </p:notesMasterIdLst>
  <p:handoutMasterIdLst>
    <p:handoutMasterId r:id="rId37"/>
  </p:handoutMasterIdLst>
  <p:sldIdLst>
    <p:sldId id="7362" r:id="rId9"/>
    <p:sldId id="7329" r:id="rId10"/>
    <p:sldId id="6450" r:id="rId11"/>
    <p:sldId id="7365" r:id="rId12"/>
    <p:sldId id="7366" r:id="rId13"/>
    <p:sldId id="7370" r:id="rId14"/>
    <p:sldId id="7367" r:id="rId15"/>
    <p:sldId id="7368" r:id="rId16"/>
    <p:sldId id="7373" r:id="rId17"/>
    <p:sldId id="7351" r:id="rId18"/>
    <p:sldId id="7377" r:id="rId19"/>
    <p:sldId id="7376" r:id="rId20"/>
    <p:sldId id="7378" r:id="rId21"/>
    <p:sldId id="7375" r:id="rId22"/>
    <p:sldId id="7369" r:id="rId23"/>
    <p:sldId id="7374" r:id="rId24"/>
    <p:sldId id="7364" r:id="rId25"/>
    <p:sldId id="7341" r:id="rId26"/>
    <p:sldId id="7363" r:id="rId27"/>
    <p:sldId id="6457" r:id="rId28"/>
    <p:sldId id="6455" r:id="rId29"/>
    <p:sldId id="7344" r:id="rId30"/>
    <p:sldId id="7347" r:id="rId31"/>
    <p:sldId id="7345" r:id="rId32"/>
    <p:sldId id="7361" r:id="rId33"/>
    <p:sldId id="7371" r:id="rId34"/>
    <p:sldId id="7372" r:id="rId35"/>
  </p:sldIdLst>
  <p:sldSz cx="9144000" cy="5143500" type="screen16x9"/>
  <p:notesSz cx="6670675" cy="9875838"/>
  <p:custDataLst>
    <p:tags r:id="rId3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6">
          <p15:clr>
            <a:srgbClr val="A4A3A4"/>
          </p15:clr>
        </p15:guide>
        <p15:guide id="7" pos="5666">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1BBC4F-BBC8-874F-9D17-10FE27730006}" v="11" dt="2020-09-04T15:34:42.6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61"/>
    <p:restoredTop sz="82241"/>
  </p:normalViewPr>
  <p:slideViewPr>
    <p:cSldViewPr snapToGrid="0" snapToObjects="1">
      <p:cViewPr varScale="1">
        <p:scale>
          <a:sx n="123" d="100"/>
          <a:sy n="123" d="100"/>
        </p:scale>
        <p:origin x="1080" y="176"/>
      </p:cViewPr>
      <p:guideLst>
        <p:guide orient="horz"/>
        <p:guide/>
        <p:guide pos="5666"/>
      </p:guideLst>
    </p:cSldViewPr>
  </p:slideViewPr>
  <p:notesTextViewPr>
    <p:cViewPr>
      <p:scale>
        <a:sx n="1" d="1"/>
        <a:sy n="1" d="1"/>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microsoft.com/office/2016/11/relationships/changesInfo" Target="changesInfos/changesInfo1.xml"/><Relationship Id="rId8" Type="http://schemas.openxmlformats.org/officeDocument/2006/relationships/slideMaster" Target="slideMasters/slideMaster4.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ffman, Jon" userId="8aef971a-c79f-40b6-92ad-bf1239c9e5e8" providerId="ADAL" clId="{031BBC4F-BBC8-874F-9D17-10FE27730006}"/>
    <pc:docChg chg="custSel addSld modSld">
      <pc:chgData name="Coffman, Jon" userId="8aef971a-c79f-40b6-92ad-bf1239c9e5e8" providerId="ADAL" clId="{031BBC4F-BBC8-874F-9D17-10FE27730006}" dt="2020-09-04T15:34:42.656" v="4"/>
      <pc:docMkLst>
        <pc:docMk/>
      </pc:docMkLst>
      <pc:sldChg chg="delSp modSp mod">
        <pc:chgData name="Coffman, Jon" userId="8aef971a-c79f-40b6-92ad-bf1239c9e5e8" providerId="ADAL" clId="{031BBC4F-BBC8-874F-9D17-10FE27730006}" dt="2020-09-04T15:22:22.275" v="3" actId="14100"/>
        <pc:sldMkLst>
          <pc:docMk/>
          <pc:sldMk cId="3974193453" sldId="7376"/>
        </pc:sldMkLst>
        <pc:spChg chg="mod">
          <ac:chgData name="Coffman, Jon" userId="8aef971a-c79f-40b6-92ad-bf1239c9e5e8" providerId="ADAL" clId="{031BBC4F-BBC8-874F-9D17-10FE27730006}" dt="2020-09-04T15:22:18.840" v="2" actId="1076"/>
          <ac:spMkLst>
            <pc:docMk/>
            <pc:sldMk cId="3974193453" sldId="7376"/>
            <ac:spMk id="13" creationId="{BB8D6F3A-074B-9841-91C1-A417238D3FF0}"/>
          </ac:spMkLst>
        </pc:spChg>
        <pc:spChg chg="del">
          <ac:chgData name="Coffman, Jon" userId="8aef971a-c79f-40b6-92ad-bf1239c9e5e8" providerId="ADAL" clId="{031BBC4F-BBC8-874F-9D17-10FE27730006}" dt="2020-09-04T15:22:15.633" v="1" actId="478"/>
          <ac:spMkLst>
            <pc:docMk/>
            <pc:sldMk cId="3974193453" sldId="7376"/>
            <ac:spMk id="129" creationId="{8F98367F-CB23-9F40-A514-DB05B4009000}"/>
          </ac:spMkLst>
        </pc:spChg>
        <pc:cxnChg chg="mod">
          <ac:chgData name="Coffman, Jon" userId="8aef971a-c79f-40b6-92ad-bf1239c9e5e8" providerId="ADAL" clId="{031BBC4F-BBC8-874F-9D17-10FE27730006}" dt="2020-09-04T15:22:09.574" v="0" actId="14100"/>
          <ac:cxnSpMkLst>
            <pc:docMk/>
            <pc:sldMk cId="3974193453" sldId="7376"/>
            <ac:cxnSpMk id="46" creationId="{BAFADF59-98B6-904B-B737-A321720E730D}"/>
          </ac:cxnSpMkLst>
        </pc:cxnChg>
        <pc:cxnChg chg="mod">
          <ac:chgData name="Coffman, Jon" userId="8aef971a-c79f-40b6-92ad-bf1239c9e5e8" providerId="ADAL" clId="{031BBC4F-BBC8-874F-9D17-10FE27730006}" dt="2020-09-04T15:22:22.275" v="3" actId="14100"/>
          <ac:cxnSpMkLst>
            <pc:docMk/>
            <pc:sldMk cId="3974193453" sldId="7376"/>
            <ac:cxnSpMk id="48" creationId="{D53ABF74-D2F7-AE46-A878-63CB8478A67F}"/>
          </ac:cxnSpMkLst>
        </pc:cxnChg>
      </pc:sldChg>
      <pc:sldChg chg="add">
        <pc:chgData name="Coffman, Jon" userId="8aef971a-c79f-40b6-92ad-bf1239c9e5e8" providerId="ADAL" clId="{031BBC4F-BBC8-874F-9D17-10FE27730006}" dt="2020-09-04T15:34:42.656" v="4"/>
        <pc:sldMkLst>
          <pc:docMk/>
          <pc:sldMk cId="1624420003" sldId="737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FE6A52-E7F0-4249-939F-09ACE950772A}" type="doc">
      <dgm:prSet loTypeId="urn:microsoft.com/office/officeart/2005/8/layout/process2" loCatId="process" qsTypeId="urn:microsoft.com/office/officeart/2005/8/quickstyle/simple1" qsCatId="simple" csTypeId="urn:microsoft.com/office/officeart/2005/8/colors/accent1_2" csCatId="accent1" phldr="1"/>
      <dgm:spPr/>
    </dgm:pt>
    <dgm:pt modelId="{F3E1DA8A-D969-4EE6-8296-D7B22F6DFDA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500-2kL Perfusion </a:t>
          </a:r>
        </a:p>
      </dgm:t>
    </dgm:pt>
    <dgm:pt modelId="{C72BB4C7-0640-4367-B03D-BD994142E166}" type="parTrans" cxnId="{EF6E9B36-0C84-4491-B06F-59616500DAD2}">
      <dgm:prSet/>
      <dgm:spPr/>
      <dgm:t>
        <a:bodyPr/>
        <a:lstStyle/>
        <a:p>
          <a:endParaRPr lang="en-US"/>
        </a:p>
      </dgm:t>
    </dgm:pt>
    <dgm:pt modelId="{178BF03E-FB59-4A60-BF37-70BFD838EA82}" type="sibTrans" cxnId="{EF6E9B36-0C84-4491-B06F-59616500DAD2}">
      <dgm:prSet/>
      <dgm:spPr>
        <a:ln w="12700" cap="flat" cmpd="sng" algn="ctr">
          <a:solidFill>
            <a:schemeClr val="tx1">
              <a:alpha val="0"/>
            </a:schemeClr>
          </a:solidFill>
          <a:prstDash val="solid"/>
          <a:round/>
          <a:headEnd type="none" w="med" len="med"/>
          <a:tailEnd type="none" w="med" len="med"/>
        </a:ln>
        <a:effectLst/>
        <a:sp3d/>
      </dgm:spPr>
      <dgm:t>
        <a:bodyPr/>
        <a:lstStyle/>
        <a:p>
          <a:endParaRPr lang="en-US"/>
        </a:p>
      </dgm:t>
    </dgm:pt>
    <dgm:pt modelId="{9421A886-8756-41B8-A767-2A5D2A4271EB}">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Capture</a:t>
          </a:r>
        </a:p>
      </dgm:t>
    </dgm:pt>
    <dgm:pt modelId="{7492A8C1-2F5D-402B-AF7C-B93AC2F6D59A}" type="parTrans" cxnId="{C487DF50-E67A-4B9E-BA22-74F4939C59DB}">
      <dgm:prSet/>
      <dgm:spPr/>
      <dgm:t>
        <a:bodyPr/>
        <a:lstStyle/>
        <a:p>
          <a:endParaRPr lang="en-US"/>
        </a:p>
      </dgm:t>
    </dgm:pt>
    <dgm:pt modelId="{53DA832D-0347-4FC0-AEE9-7039D9F2CC76}" type="sibTrans" cxnId="{C487DF50-E67A-4B9E-BA22-74F4939C59DB}">
      <dgm:prSet/>
      <dgm:spPr/>
      <dgm:t>
        <a:bodyPr/>
        <a:lstStyle/>
        <a:p>
          <a:endParaRPr lang="en-US"/>
        </a:p>
      </dgm:t>
    </dgm:pt>
    <dgm:pt modelId="{9AD0A76D-FEAD-4870-A864-536AAD7D9DCF}">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Batch or </a:t>
          </a:r>
          <a:r>
            <a:rPr lang="en-US" dirty="0" err="1"/>
            <a:t>Cont</a:t>
          </a:r>
          <a:r>
            <a:rPr lang="en-US" dirty="0"/>
            <a:t> VI</a:t>
          </a:r>
        </a:p>
      </dgm:t>
    </dgm:pt>
    <dgm:pt modelId="{3D125C52-FDAA-4DFF-AE38-B8C8F4E6E21E}" type="parTrans" cxnId="{DC145251-73C4-4A8D-A0C9-7FED5BF67B08}">
      <dgm:prSet/>
      <dgm:spPr/>
      <dgm:t>
        <a:bodyPr/>
        <a:lstStyle/>
        <a:p>
          <a:endParaRPr lang="en-US"/>
        </a:p>
      </dgm:t>
    </dgm:pt>
    <dgm:pt modelId="{E4333604-55B4-4BAE-AE17-12D038007E04}" type="sibTrans" cxnId="{DC145251-73C4-4A8D-A0C9-7FED5BF67B08}">
      <dgm:prSet/>
      <dgm:spPr/>
      <dgm:t>
        <a:bodyPr/>
        <a:lstStyle/>
        <a:p>
          <a:endParaRPr lang="en-US"/>
        </a:p>
      </dgm:t>
    </dgm:pt>
    <dgm:pt modelId="{E8A4F527-E965-4C2B-A731-9CC0A74401B0}">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Polishing 1</a:t>
          </a:r>
        </a:p>
      </dgm:t>
    </dgm:pt>
    <dgm:pt modelId="{14557890-E477-4304-8333-C46A3E7FD0D0}" type="parTrans" cxnId="{23383C69-5F0D-4FBC-8758-68664E150169}">
      <dgm:prSet/>
      <dgm:spPr/>
      <dgm:t>
        <a:bodyPr/>
        <a:lstStyle/>
        <a:p>
          <a:endParaRPr lang="en-US"/>
        </a:p>
      </dgm:t>
    </dgm:pt>
    <dgm:pt modelId="{C071B31D-28D8-4FB6-84D0-AFC49F0CB450}" type="sibTrans" cxnId="{23383C69-5F0D-4FBC-8758-68664E150169}">
      <dgm:prSet/>
      <dgm:spPr/>
      <dgm:t>
        <a:bodyPr/>
        <a:lstStyle/>
        <a:p>
          <a:endParaRPr lang="en-US"/>
        </a:p>
      </dgm:t>
    </dgm:pt>
    <dgm:pt modelId="{BE47C6CA-22B8-455C-9A5B-A522D05E513D}">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Polishing 2</a:t>
          </a:r>
        </a:p>
      </dgm:t>
    </dgm:pt>
    <dgm:pt modelId="{627FBA09-0ACA-4EBE-87E2-380E0DCA0DF0}" type="parTrans" cxnId="{0C803E38-6410-4DFB-AA5A-59D28CB92951}">
      <dgm:prSet/>
      <dgm:spPr/>
      <dgm:t>
        <a:bodyPr/>
        <a:lstStyle/>
        <a:p>
          <a:endParaRPr lang="en-US"/>
        </a:p>
      </dgm:t>
    </dgm:pt>
    <dgm:pt modelId="{679CC6F7-B9C7-4782-8217-E7D13CA74D25}" type="sibTrans" cxnId="{0C803E38-6410-4DFB-AA5A-59D28CB92951}">
      <dgm:prSet/>
      <dgm:spPr/>
      <dgm:t>
        <a:bodyPr/>
        <a:lstStyle/>
        <a:p>
          <a:endParaRPr lang="en-US"/>
        </a:p>
      </dgm:t>
    </dgm:pt>
    <dgm:pt modelId="{5CD70F8E-6F84-4674-A2D0-FEA95C577ADA}">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Virus Filter</a:t>
          </a:r>
        </a:p>
      </dgm:t>
    </dgm:pt>
    <dgm:pt modelId="{E9201B0F-E594-4807-A4B3-987FAE1082EE}" type="parTrans" cxnId="{CAC68E9A-B577-4467-BBA1-2E6ECD1AA638}">
      <dgm:prSet/>
      <dgm:spPr/>
      <dgm:t>
        <a:bodyPr/>
        <a:lstStyle/>
        <a:p>
          <a:endParaRPr lang="en-US"/>
        </a:p>
      </dgm:t>
    </dgm:pt>
    <dgm:pt modelId="{EFEE064A-7AF2-4D81-B4C4-CE79A8BCDFD1}" type="sibTrans" cxnId="{CAC68E9A-B577-4467-BBA1-2E6ECD1AA638}">
      <dgm:prSet/>
      <dgm:spPr/>
      <dgm:t>
        <a:bodyPr/>
        <a:lstStyle/>
        <a:p>
          <a:endParaRPr lang="en-US"/>
        </a:p>
      </dgm:t>
    </dgm:pt>
    <dgm:pt modelId="{0789565C-5D85-4402-8319-4E36EA9B6F1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UFDF</a:t>
          </a:r>
        </a:p>
      </dgm:t>
    </dgm:pt>
    <dgm:pt modelId="{D8E16DDF-0381-4DCE-9B18-8431CF06EAB7}" type="parTrans" cxnId="{5908EDCB-F5AA-49DB-8805-D0FF1A07B723}">
      <dgm:prSet/>
      <dgm:spPr/>
      <dgm:t>
        <a:bodyPr/>
        <a:lstStyle/>
        <a:p>
          <a:endParaRPr lang="en-US"/>
        </a:p>
      </dgm:t>
    </dgm:pt>
    <dgm:pt modelId="{BCE6872F-3837-453D-B16E-F51563DD3EA4}" type="sibTrans" cxnId="{5908EDCB-F5AA-49DB-8805-D0FF1A07B723}">
      <dgm:prSet/>
      <dgm:spPr/>
      <dgm:t>
        <a:bodyPr/>
        <a:lstStyle/>
        <a:p>
          <a:endParaRPr lang="en-US"/>
        </a:p>
      </dgm:t>
    </dgm:pt>
    <dgm:pt modelId="{F22580C3-65DF-1043-A1C7-9F921AD91785}">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ATF or TFF</a:t>
          </a:r>
        </a:p>
      </dgm:t>
    </dgm:pt>
    <dgm:pt modelId="{1889A708-18CE-B448-88C7-E9CEAAF6BAAA}" type="parTrans" cxnId="{62D9F964-D237-EC47-8BF1-7D044F5EA327}">
      <dgm:prSet/>
      <dgm:spPr/>
      <dgm:t>
        <a:bodyPr/>
        <a:lstStyle/>
        <a:p>
          <a:endParaRPr lang="en-US"/>
        </a:p>
      </dgm:t>
    </dgm:pt>
    <dgm:pt modelId="{2A65D35D-6BC3-2F40-B3CD-976523F1E2A2}" type="sibTrans" cxnId="{62D9F964-D237-EC47-8BF1-7D044F5EA327}">
      <dgm:prSet/>
      <dgm:spPr/>
      <dgm:t>
        <a:bodyPr/>
        <a:lstStyle/>
        <a:p>
          <a:endParaRPr lang="en-US"/>
        </a:p>
      </dgm:t>
    </dgm:pt>
    <dgm:pt modelId="{0AABF02D-DB92-2244-B712-D98AEFC06B49}">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Depth Filter</a:t>
          </a:r>
        </a:p>
      </dgm:t>
    </dgm:pt>
    <dgm:pt modelId="{0BBCD7EC-58A0-784A-BB6E-6F9DF53156A5}" type="parTrans" cxnId="{ADA05B88-30D8-D047-ADEA-DFD64427EAA0}">
      <dgm:prSet/>
      <dgm:spPr/>
      <dgm:t>
        <a:bodyPr/>
        <a:lstStyle/>
        <a:p>
          <a:endParaRPr lang="en-US"/>
        </a:p>
      </dgm:t>
    </dgm:pt>
    <dgm:pt modelId="{EB1DBD78-BD65-3044-931D-DA47062792D2}" type="sibTrans" cxnId="{ADA05B88-30D8-D047-ADEA-DFD64427EAA0}">
      <dgm:prSet/>
      <dgm:spPr/>
      <dgm:t>
        <a:bodyPr/>
        <a:lstStyle/>
        <a:p>
          <a:endParaRPr lang="en-US"/>
        </a:p>
      </dgm:t>
    </dgm:pt>
    <dgm:pt modelId="{F0CFC05A-BEB1-4B65-9294-42766E57124C}" type="pres">
      <dgm:prSet presAssocID="{0FFE6A52-E7F0-4249-939F-09ACE950772A}" presName="linearFlow" presStyleCnt="0">
        <dgm:presLayoutVars>
          <dgm:resizeHandles val="exact"/>
        </dgm:presLayoutVars>
      </dgm:prSet>
      <dgm:spPr/>
    </dgm:pt>
    <dgm:pt modelId="{11F4F502-53DB-449F-878E-BE1868514305}" type="pres">
      <dgm:prSet presAssocID="{F3E1DA8A-D969-4EE6-8296-D7B22F6DFDAC}" presName="node" presStyleLbl="node1" presStyleIdx="0" presStyleCnt="9">
        <dgm:presLayoutVars>
          <dgm:bulletEnabled val="1"/>
        </dgm:presLayoutVars>
      </dgm:prSet>
      <dgm:spPr/>
    </dgm:pt>
    <dgm:pt modelId="{FDC915AF-6026-4983-AAA1-6BCD6467DEF4}" type="pres">
      <dgm:prSet presAssocID="{178BF03E-FB59-4A60-BF37-70BFD838EA82}" presName="sibTrans" presStyleLbl="sibTrans2D1" presStyleIdx="0" presStyleCnt="8"/>
      <dgm:spPr/>
    </dgm:pt>
    <dgm:pt modelId="{D006C45C-A39C-472B-88C1-6554A4089C86}" type="pres">
      <dgm:prSet presAssocID="{178BF03E-FB59-4A60-BF37-70BFD838EA82}" presName="connectorText" presStyleLbl="sibTrans2D1" presStyleIdx="0" presStyleCnt="8"/>
      <dgm:spPr/>
    </dgm:pt>
    <dgm:pt modelId="{296A77E5-C0DA-BB49-ADCB-B9CDEBEB61EF}" type="pres">
      <dgm:prSet presAssocID="{F22580C3-65DF-1043-A1C7-9F921AD91785}" presName="node" presStyleLbl="node1" presStyleIdx="1" presStyleCnt="9">
        <dgm:presLayoutVars>
          <dgm:bulletEnabled val="1"/>
        </dgm:presLayoutVars>
      </dgm:prSet>
      <dgm:spPr/>
    </dgm:pt>
    <dgm:pt modelId="{469E1AF2-F5F0-3046-8F6A-B4C753B6DEED}" type="pres">
      <dgm:prSet presAssocID="{2A65D35D-6BC3-2F40-B3CD-976523F1E2A2}" presName="sibTrans" presStyleLbl="sibTrans2D1" presStyleIdx="1" presStyleCnt="8"/>
      <dgm:spPr/>
    </dgm:pt>
    <dgm:pt modelId="{6239121A-D361-CF43-B506-28F8EC3F1460}" type="pres">
      <dgm:prSet presAssocID="{2A65D35D-6BC3-2F40-B3CD-976523F1E2A2}" presName="connectorText" presStyleLbl="sibTrans2D1" presStyleIdx="1" presStyleCnt="8"/>
      <dgm:spPr/>
    </dgm:pt>
    <dgm:pt modelId="{5129CC8F-DA47-426E-BD10-697214B6EA28}" type="pres">
      <dgm:prSet presAssocID="{9421A886-8756-41B8-A767-2A5D2A4271EB}" presName="node" presStyleLbl="node1" presStyleIdx="2" presStyleCnt="9">
        <dgm:presLayoutVars>
          <dgm:bulletEnabled val="1"/>
        </dgm:presLayoutVars>
      </dgm:prSet>
      <dgm:spPr/>
    </dgm:pt>
    <dgm:pt modelId="{F8EA24F2-77AB-4D3B-B52D-5C62C65989F9}" type="pres">
      <dgm:prSet presAssocID="{53DA832D-0347-4FC0-AEE9-7039D9F2CC76}" presName="sibTrans" presStyleLbl="sibTrans2D1" presStyleIdx="2" presStyleCnt="8"/>
      <dgm:spPr/>
    </dgm:pt>
    <dgm:pt modelId="{E699A173-DC91-4C5F-8B12-91F94001FBF3}" type="pres">
      <dgm:prSet presAssocID="{53DA832D-0347-4FC0-AEE9-7039D9F2CC76}" presName="connectorText" presStyleLbl="sibTrans2D1" presStyleIdx="2" presStyleCnt="8"/>
      <dgm:spPr/>
    </dgm:pt>
    <dgm:pt modelId="{EB6B4FB0-594B-46E7-88A8-E99A3D7D28BA}" type="pres">
      <dgm:prSet presAssocID="{9AD0A76D-FEAD-4870-A864-536AAD7D9DCF}" presName="node" presStyleLbl="node1" presStyleIdx="3" presStyleCnt="9">
        <dgm:presLayoutVars>
          <dgm:bulletEnabled val="1"/>
        </dgm:presLayoutVars>
      </dgm:prSet>
      <dgm:spPr/>
    </dgm:pt>
    <dgm:pt modelId="{F33F5D7E-B525-4341-BEAB-69DFE7C337B2}" type="pres">
      <dgm:prSet presAssocID="{E4333604-55B4-4BAE-AE17-12D038007E04}" presName="sibTrans" presStyleLbl="sibTrans2D1" presStyleIdx="3" presStyleCnt="8"/>
      <dgm:spPr/>
    </dgm:pt>
    <dgm:pt modelId="{0E52DAAC-9123-4120-A226-357E36775F56}" type="pres">
      <dgm:prSet presAssocID="{E4333604-55B4-4BAE-AE17-12D038007E04}" presName="connectorText" presStyleLbl="sibTrans2D1" presStyleIdx="3" presStyleCnt="8"/>
      <dgm:spPr/>
    </dgm:pt>
    <dgm:pt modelId="{5F80A041-11EF-CC48-982E-739028B8042B}" type="pres">
      <dgm:prSet presAssocID="{0AABF02D-DB92-2244-B712-D98AEFC06B49}" presName="node" presStyleLbl="node1" presStyleIdx="4" presStyleCnt="9">
        <dgm:presLayoutVars>
          <dgm:bulletEnabled val="1"/>
        </dgm:presLayoutVars>
      </dgm:prSet>
      <dgm:spPr/>
    </dgm:pt>
    <dgm:pt modelId="{0CC316FD-17A4-814B-978F-640E54DE3759}" type="pres">
      <dgm:prSet presAssocID="{EB1DBD78-BD65-3044-931D-DA47062792D2}" presName="sibTrans" presStyleLbl="sibTrans2D1" presStyleIdx="4" presStyleCnt="8"/>
      <dgm:spPr/>
    </dgm:pt>
    <dgm:pt modelId="{5A8A56D6-0C59-D943-91D5-ED7C731739C4}" type="pres">
      <dgm:prSet presAssocID="{EB1DBD78-BD65-3044-931D-DA47062792D2}" presName="connectorText" presStyleLbl="sibTrans2D1" presStyleIdx="4" presStyleCnt="8"/>
      <dgm:spPr/>
    </dgm:pt>
    <dgm:pt modelId="{F97BB873-62A5-4C6B-AF89-1ECA6E7CBDAF}" type="pres">
      <dgm:prSet presAssocID="{E8A4F527-E965-4C2B-A731-9CC0A74401B0}" presName="node" presStyleLbl="node1" presStyleIdx="5" presStyleCnt="9">
        <dgm:presLayoutVars>
          <dgm:bulletEnabled val="1"/>
        </dgm:presLayoutVars>
      </dgm:prSet>
      <dgm:spPr/>
    </dgm:pt>
    <dgm:pt modelId="{98E95033-BF7B-4FC9-8FE8-AA425CF14630}" type="pres">
      <dgm:prSet presAssocID="{C071B31D-28D8-4FB6-84D0-AFC49F0CB450}" presName="sibTrans" presStyleLbl="sibTrans2D1" presStyleIdx="5" presStyleCnt="8"/>
      <dgm:spPr/>
    </dgm:pt>
    <dgm:pt modelId="{2E6CC01A-2253-4BDB-9CCD-1FA6E0DD0000}" type="pres">
      <dgm:prSet presAssocID="{C071B31D-28D8-4FB6-84D0-AFC49F0CB450}" presName="connectorText" presStyleLbl="sibTrans2D1" presStyleIdx="5" presStyleCnt="8"/>
      <dgm:spPr/>
    </dgm:pt>
    <dgm:pt modelId="{448D3433-EDE0-47D4-8296-64B29C485040}" type="pres">
      <dgm:prSet presAssocID="{BE47C6CA-22B8-455C-9A5B-A522D05E513D}" presName="node" presStyleLbl="node1" presStyleIdx="6" presStyleCnt="9">
        <dgm:presLayoutVars>
          <dgm:bulletEnabled val="1"/>
        </dgm:presLayoutVars>
      </dgm:prSet>
      <dgm:spPr/>
    </dgm:pt>
    <dgm:pt modelId="{46229D48-125F-47CA-8E73-7DCE202303D8}" type="pres">
      <dgm:prSet presAssocID="{679CC6F7-B9C7-4782-8217-E7D13CA74D25}" presName="sibTrans" presStyleLbl="sibTrans2D1" presStyleIdx="6" presStyleCnt="8"/>
      <dgm:spPr/>
    </dgm:pt>
    <dgm:pt modelId="{F3B27A07-0CB2-4B81-AF75-C7D1053FB26A}" type="pres">
      <dgm:prSet presAssocID="{679CC6F7-B9C7-4782-8217-E7D13CA74D25}" presName="connectorText" presStyleLbl="sibTrans2D1" presStyleIdx="6" presStyleCnt="8"/>
      <dgm:spPr/>
    </dgm:pt>
    <dgm:pt modelId="{E63B843D-F550-4B1E-B3A4-86556ECB9F80}" type="pres">
      <dgm:prSet presAssocID="{5CD70F8E-6F84-4674-A2D0-FEA95C577ADA}" presName="node" presStyleLbl="node1" presStyleIdx="7" presStyleCnt="9">
        <dgm:presLayoutVars>
          <dgm:bulletEnabled val="1"/>
        </dgm:presLayoutVars>
      </dgm:prSet>
      <dgm:spPr/>
    </dgm:pt>
    <dgm:pt modelId="{E4DC339F-DB2D-49F7-B4DA-7F8F8B7FF8D3}" type="pres">
      <dgm:prSet presAssocID="{EFEE064A-7AF2-4D81-B4C4-CE79A8BCDFD1}" presName="sibTrans" presStyleLbl="sibTrans2D1" presStyleIdx="7" presStyleCnt="8"/>
      <dgm:spPr/>
    </dgm:pt>
    <dgm:pt modelId="{047F9BD3-B303-4633-AA20-724A5A343181}" type="pres">
      <dgm:prSet presAssocID="{EFEE064A-7AF2-4D81-B4C4-CE79A8BCDFD1}" presName="connectorText" presStyleLbl="sibTrans2D1" presStyleIdx="7" presStyleCnt="8"/>
      <dgm:spPr/>
    </dgm:pt>
    <dgm:pt modelId="{69BAAA73-3EC5-4D67-AAD2-D74F46F717A5}" type="pres">
      <dgm:prSet presAssocID="{0789565C-5D85-4402-8319-4E36EA9B6F1C}" presName="node" presStyleLbl="node1" presStyleIdx="8" presStyleCnt="9">
        <dgm:presLayoutVars>
          <dgm:bulletEnabled val="1"/>
        </dgm:presLayoutVars>
      </dgm:prSet>
      <dgm:spPr/>
    </dgm:pt>
  </dgm:ptLst>
  <dgm:cxnLst>
    <dgm:cxn modelId="{C88C1B07-4FF7-4D01-8152-B50ED730E184}" type="presOf" srcId="{0789565C-5D85-4402-8319-4E36EA9B6F1C}" destId="{69BAAA73-3EC5-4D67-AAD2-D74F46F717A5}" srcOrd="0" destOrd="0" presId="urn:microsoft.com/office/officeart/2005/8/layout/process2"/>
    <dgm:cxn modelId="{0B373715-833E-4B3E-A799-973E4AF421FB}" type="presOf" srcId="{C071B31D-28D8-4FB6-84D0-AFC49F0CB450}" destId="{98E95033-BF7B-4FC9-8FE8-AA425CF14630}" srcOrd="0" destOrd="0" presId="urn:microsoft.com/office/officeart/2005/8/layout/process2"/>
    <dgm:cxn modelId="{A733B716-E4DF-4703-A181-2A8FA3011420}" type="presOf" srcId="{679CC6F7-B9C7-4782-8217-E7D13CA74D25}" destId="{F3B27A07-0CB2-4B81-AF75-C7D1053FB26A}" srcOrd="1" destOrd="0" presId="urn:microsoft.com/office/officeart/2005/8/layout/process2"/>
    <dgm:cxn modelId="{162BAB18-E6AA-4614-8B80-41236A7E39DA}" type="presOf" srcId="{178BF03E-FB59-4A60-BF37-70BFD838EA82}" destId="{FDC915AF-6026-4983-AAA1-6BCD6467DEF4}" srcOrd="0" destOrd="0" presId="urn:microsoft.com/office/officeart/2005/8/layout/process2"/>
    <dgm:cxn modelId="{B01FE11D-2D72-AE45-8EA8-4120074B9009}" type="presOf" srcId="{EB1DBD78-BD65-3044-931D-DA47062792D2}" destId="{0CC316FD-17A4-814B-978F-640E54DE3759}" srcOrd="0" destOrd="0" presId="urn:microsoft.com/office/officeart/2005/8/layout/process2"/>
    <dgm:cxn modelId="{DE96C520-C94D-454C-B70B-C52F58DCF5DC}" type="presOf" srcId="{53DA832D-0347-4FC0-AEE9-7039D9F2CC76}" destId="{F8EA24F2-77AB-4D3B-B52D-5C62C65989F9}" srcOrd="0" destOrd="0" presId="urn:microsoft.com/office/officeart/2005/8/layout/process2"/>
    <dgm:cxn modelId="{06E86D25-47CD-814F-813A-DAF5597731C9}" type="presOf" srcId="{2A65D35D-6BC3-2F40-B3CD-976523F1E2A2}" destId="{6239121A-D361-CF43-B506-28F8EC3F1460}" srcOrd="1" destOrd="0" presId="urn:microsoft.com/office/officeart/2005/8/layout/process2"/>
    <dgm:cxn modelId="{628FD229-A367-443E-8F48-5BC4A681763C}" type="presOf" srcId="{679CC6F7-B9C7-4782-8217-E7D13CA74D25}" destId="{46229D48-125F-47CA-8E73-7DCE202303D8}" srcOrd="0" destOrd="0" presId="urn:microsoft.com/office/officeart/2005/8/layout/process2"/>
    <dgm:cxn modelId="{EF6E9B36-0C84-4491-B06F-59616500DAD2}" srcId="{0FFE6A52-E7F0-4249-939F-09ACE950772A}" destId="{F3E1DA8A-D969-4EE6-8296-D7B22F6DFDAC}" srcOrd="0" destOrd="0" parTransId="{C72BB4C7-0640-4367-B03D-BD994142E166}" sibTransId="{178BF03E-FB59-4A60-BF37-70BFD838EA82}"/>
    <dgm:cxn modelId="{0C803E38-6410-4DFB-AA5A-59D28CB92951}" srcId="{0FFE6A52-E7F0-4249-939F-09ACE950772A}" destId="{BE47C6CA-22B8-455C-9A5B-A522D05E513D}" srcOrd="6" destOrd="0" parTransId="{627FBA09-0ACA-4EBE-87E2-380E0DCA0DF0}" sibTransId="{679CC6F7-B9C7-4782-8217-E7D13CA74D25}"/>
    <dgm:cxn modelId="{E4AF2C39-8FC8-465D-8A08-8A8D030D0768}" type="presOf" srcId="{9421A886-8756-41B8-A767-2A5D2A4271EB}" destId="{5129CC8F-DA47-426E-BD10-697214B6EA28}" srcOrd="0" destOrd="0" presId="urn:microsoft.com/office/officeart/2005/8/layout/process2"/>
    <dgm:cxn modelId="{9A1EB948-F53E-4551-B473-F5546409A5C4}" type="presOf" srcId="{C071B31D-28D8-4FB6-84D0-AFC49F0CB450}" destId="{2E6CC01A-2253-4BDB-9CCD-1FA6E0DD0000}" srcOrd="1" destOrd="0" presId="urn:microsoft.com/office/officeart/2005/8/layout/process2"/>
    <dgm:cxn modelId="{C487DF50-E67A-4B9E-BA22-74F4939C59DB}" srcId="{0FFE6A52-E7F0-4249-939F-09ACE950772A}" destId="{9421A886-8756-41B8-A767-2A5D2A4271EB}" srcOrd="2" destOrd="0" parTransId="{7492A8C1-2F5D-402B-AF7C-B93AC2F6D59A}" sibTransId="{53DA832D-0347-4FC0-AEE9-7039D9F2CC76}"/>
    <dgm:cxn modelId="{DC145251-73C4-4A8D-A0C9-7FED5BF67B08}" srcId="{0FFE6A52-E7F0-4249-939F-09ACE950772A}" destId="{9AD0A76D-FEAD-4870-A864-536AAD7D9DCF}" srcOrd="3" destOrd="0" parTransId="{3D125C52-FDAA-4DFF-AE38-B8C8F4E6E21E}" sibTransId="{E4333604-55B4-4BAE-AE17-12D038007E04}"/>
    <dgm:cxn modelId="{D8840A5B-F643-DD47-B66E-EFF1883440B9}" type="presOf" srcId="{F22580C3-65DF-1043-A1C7-9F921AD91785}" destId="{296A77E5-C0DA-BB49-ADCB-B9CDEBEB61EF}" srcOrd="0" destOrd="0" presId="urn:microsoft.com/office/officeart/2005/8/layout/process2"/>
    <dgm:cxn modelId="{F365F35D-3CCB-4D8F-B645-AA5C577F0747}" type="presOf" srcId="{EFEE064A-7AF2-4D81-B4C4-CE79A8BCDFD1}" destId="{047F9BD3-B303-4633-AA20-724A5A343181}" srcOrd="1" destOrd="0" presId="urn:microsoft.com/office/officeart/2005/8/layout/process2"/>
    <dgm:cxn modelId="{62D9F964-D237-EC47-8BF1-7D044F5EA327}" srcId="{0FFE6A52-E7F0-4249-939F-09ACE950772A}" destId="{F22580C3-65DF-1043-A1C7-9F921AD91785}" srcOrd="1" destOrd="0" parTransId="{1889A708-18CE-B448-88C7-E9CEAAF6BAAA}" sibTransId="{2A65D35D-6BC3-2F40-B3CD-976523F1E2A2}"/>
    <dgm:cxn modelId="{25330B65-B113-4A3F-96BF-4DAA433DC5B7}" type="presOf" srcId="{EFEE064A-7AF2-4D81-B4C4-CE79A8BCDFD1}" destId="{E4DC339F-DB2D-49F7-B4DA-7F8F8B7FF8D3}" srcOrd="0" destOrd="0" presId="urn:microsoft.com/office/officeart/2005/8/layout/process2"/>
    <dgm:cxn modelId="{23383C69-5F0D-4FBC-8758-68664E150169}" srcId="{0FFE6A52-E7F0-4249-939F-09ACE950772A}" destId="{E8A4F527-E965-4C2B-A731-9CC0A74401B0}" srcOrd="5" destOrd="0" parTransId="{14557890-E477-4304-8333-C46A3E7FD0D0}" sibTransId="{C071B31D-28D8-4FB6-84D0-AFC49F0CB450}"/>
    <dgm:cxn modelId="{8D8A5C76-BEEA-4294-A7F1-C26A6C57C860}" type="presOf" srcId="{F3E1DA8A-D969-4EE6-8296-D7B22F6DFDAC}" destId="{11F4F502-53DB-449F-878E-BE1868514305}" srcOrd="0" destOrd="0" presId="urn:microsoft.com/office/officeart/2005/8/layout/process2"/>
    <dgm:cxn modelId="{ADA05B88-30D8-D047-ADEA-DFD64427EAA0}" srcId="{0FFE6A52-E7F0-4249-939F-09ACE950772A}" destId="{0AABF02D-DB92-2244-B712-D98AEFC06B49}" srcOrd="4" destOrd="0" parTransId="{0BBCD7EC-58A0-784A-BB6E-6F9DF53156A5}" sibTransId="{EB1DBD78-BD65-3044-931D-DA47062792D2}"/>
    <dgm:cxn modelId="{5A163690-117E-43CE-902A-78B6DA30F6C7}" type="presOf" srcId="{0FFE6A52-E7F0-4249-939F-09ACE950772A}" destId="{F0CFC05A-BEB1-4B65-9294-42766E57124C}" srcOrd="0" destOrd="0" presId="urn:microsoft.com/office/officeart/2005/8/layout/process2"/>
    <dgm:cxn modelId="{CAC68E9A-B577-4467-BBA1-2E6ECD1AA638}" srcId="{0FFE6A52-E7F0-4249-939F-09ACE950772A}" destId="{5CD70F8E-6F84-4674-A2D0-FEA95C577ADA}" srcOrd="7" destOrd="0" parTransId="{E9201B0F-E594-4807-A4B3-987FAE1082EE}" sibTransId="{EFEE064A-7AF2-4D81-B4C4-CE79A8BCDFD1}"/>
    <dgm:cxn modelId="{970346A5-8AA8-4467-BD7D-E336C6557CC6}" type="presOf" srcId="{BE47C6CA-22B8-455C-9A5B-A522D05E513D}" destId="{448D3433-EDE0-47D4-8296-64B29C485040}" srcOrd="0" destOrd="0" presId="urn:microsoft.com/office/officeart/2005/8/layout/process2"/>
    <dgm:cxn modelId="{AF3649A5-E16E-174B-B466-D5063586960B}" type="presOf" srcId="{2A65D35D-6BC3-2F40-B3CD-976523F1E2A2}" destId="{469E1AF2-F5F0-3046-8F6A-B4C753B6DEED}" srcOrd="0" destOrd="0" presId="urn:microsoft.com/office/officeart/2005/8/layout/process2"/>
    <dgm:cxn modelId="{211619AE-ABB7-C640-9D75-21AFFBD7FC28}" type="presOf" srcId="{EB1DBD78-BD65-3044-931D-DA47062792D2}" destId="{5A8A56D6-0C59-D943-91D5-ED7C731739C4}" srcOrd="1" destOrd="0" presId="urn:microsoft.com/office/officeart/2005/8/layout/process2"/>
    <dgm:cxn modelId="{685FA2B4-2534-4D75-8768-F1D536330DCA}" type="presOf" srcId="{9AD0A76D-FEAD-4870-A864-536AAD7D9DCF}" destId="{EB6B4FB0-594B-46E7-88A8-E99A3D7D28BA}" srcOrd="0" destOrd="0" presId="urn:microsoft.com/office/officeart/2005/8/layout/process2"/>
    <dgm:cxn modelId="{C76172B6-9991-4E86-854B-46345B6EEDD0}" type="presOf" srcId="{E4333604-55B4-4BAE-AE17-12D038007E04}" destId="{F33F5D7E-B525-4341-BEAB-69DFE7C337B2}" srcOrd="0" destOrd="0" presId="urn:microsoft.com/office/officeart/2005/8/layout/process2"/>
    <dgm:cxn modelId="{AB9CAEB8-3383-43F0-8C42-A299F5581283}" type="presOf" srcId="{E8A4F527-E965-4C2B-A731-9CC0A74401B0}" destId="{F97BB873-62A5-4C6B-AF89-1ECA6E7CBDAF}" srcOrd="0" destOrd="0" presId="urn:microsoft.com/office/officeart/2005/8/layout/process2"/>
    <dgm:cxn modelId="{5908EDCB-F5AA-49DB-8805-D0FF1A07B723}" srcId="{0FFE6A52-E7F0-4249-939F-09ACE950772A}" destId="{0789565C-5D85-4402-8319-4E36EA9B6F1C}" srcOrd="8" destOrd="0" parTransId="{D8E16DDF-0381-4DCE-9B18-8431CF06EAB7}" sibTransId="{BCE6872F-3837-453D-B16E-F51563DD3EA4}"/>
    <dgm:cxn modelId="{C05B22D7-C83A-4010-88AD-5485A2861F9E}" type="presOf" srcId="{53DA832D-0347-4FC0-AEE9-7039D9F2CC76}" destId="{E699A173-DC91-4C5F-8B12-91F94001FBF3}" srcOrd="1" destOrd="0" presId="urn:microsoft.com/office/officeart/2005/8/layout/process2"/>
    <dgm:cxn modelId="{75F3E3DB-3A1E-4F2A-81E3-DC6890B912A0}" type="presOf" srcId="{178BF03E-FB59-4A60-BF37-70BFD838EA82}" destId="{D006C45C-A39C-472B-88C1-6554A4089C86}" srcOrd="1" destOrd="0" presId="urn:microsoft.com/office/officeart/2005/8/layout/process2"/>
    <dgm:cxn modelId="{6B86ACE4-3624-452E-A950-D71B3A340B6E}" type="presOf" srcId="{E4333604-55B4-4BAE-AE17-12D038007E04}" destId="{0E52DAAC-9123-4120-A226-357E36775F56}" srcOrd="1" destOrd="0" presId="urn:microsoft.com/office/officeart/2005/8/layout/process2"/>
    <dgm:cxn modelId="{BBE5ACF9-0E00-4E8F-A99F-7FD70A7584F4}" type="presOf" srcId="{5CD70F8E-6F84-4674-A2D0-FEA95C577ADA}" destId="{E63B843D-F550-4B1E-B3A4-86556ECB9F80}" srcOrd="0" destOrd="0" presId="urn:microsoft.com/office/officeart/2005/8/layout/process2"/>
    <dgm:cxn modelId="{165E40FB-1153-7F4D-B9D7-C6100D53FB18}" type="presOf" srcId="{0AABF02D-DB92-2244-B712-D98AEFC06B49}" destId="{5F80A041-11EF-CC48-982E-739028B8042B}" srcOrd="0" destOrd="0" presId="urn:microsoft.com/office/officeart/2005/8/layout/process2"/>
    <dgm:cxn modelId="{0F4E5B72-369C-48A9-ADFA-D1F6002DF71F}" type="presParOf" srcId="{F0CFC05A-BEB1-4B65-9294-42766E57124C}" destId="{11F4F502-53DB-449F-878E-BE1868514305}" srcOrd="0" destOrd="0" presId="urn:microsoft.com/office/officeart/2005/8/layout/process2"/>
    <dgm:cxn modelId="{25F5E505-625D-4F0B-A20E-0BA6A78A7953}" type="presParOf" srcId="{F0CFC05A-BEB1-4B65-9294-42766E57124C}" destId="{FDC915AF-6026-4983-AAA1-6BCD6467DEF4}" srcOrd="1" destOrd="0" presId="urn:microsoft.com/office/officeart/2005/8/layout/process2"/>
    <dgm:cxn modelId="{BF24DD7E-C51E-4DF3-9C7D-2E6E75AF39C6}" type="presParOf" srcId="{FDC915AF-6026-4983-AAA1-6BCD6467DEF4}" destId="{D006C45C-A39C-472B-88C1-6554A4089C86}" srcOrd="0" destOrd="0" presId="urn:microsoft.com/office/officeart/2005/8/layout/process2"/>
    <dgm:cxn modelId="{29A1B6D0-00C1-8B48-99DD-A50D277691B0}" type="presParOf" srcId="{F0CFC05A-BEB1-4B65-9294-42766E57124C}" destId="{296A77E5-C0DA-BB49-ADCB-B9CDEBEB61EF}" srcOrd="2" destOrd="0" presId="urn:microsoft.com/office/officeart/2005/8/layout/process2"/>
    <dgm:cxn modelId="{DE204B7E-1B41-7549-BDBE-130045F618F5}" type="presParOf" srcId="{F0CFC05A-BEB1-4B65-9294-42766E57124C}" destId="{469E1AF2-F5F0-3046-8F6A-B4C753B6DEED}" srcOrd="3" destOrd="0" presId="urn:microsoft.com/office/officeart/2005/8/layout/process2"/>
    <dgm:cxn modelId="{C82F240D-117E-C34D-9F97-D50E8B17D01D}" type="presParOf" srcId="{469E1AF2-F5F0-3046-8F6A-B4C753B6DEED}" destId="{6239121A-D361-CF43-B506-28F8EC3F1460}" srcOrd="0" destOrd="0" presId="urn:microsoft.com/office/officeart/2005/8/layout/process2"/>
    <dgm:cxn modelId="{2A197155-B801-4556-BBBD-0F4D78C46190}" type="presParOf" srcId="{F0CFC05A-BEB1-4B65-9294-42766E57124C}" destId="{5129CC8F-DA47-426E-BD10-697214B6EA28}" srcOrd="4" destOrd="0" presId="urn:microsoft.com/office/officeart/2005/8/layout/process2"/>
    <dgm:cxn modelId="{8FF0D314-0E84-4FFA-8A20-44ACAF874FDA}" type="presParOf" srcId="{F0CFC05A-BEB1-4B65-9294-42766E57124C}" destId="{F8EA24F2-77AB-4D3B-B52D-5C62C65989F9}" srcOrd="5" destOrd="0" presId="urn:microsoft.com/office/officeart/2005/8/layout/process2"/>
    <dgm:cxn modelId="{865A61A8-F39E-4E70-A990-F05B9EEFE4C8}" type="presParOf" srcId="{F8EA24F2-77AB-4D3B-B52D-5C62C65989F9}" destId="{E699A173-DC91-4C5F-8B12-91F94001FBF3}" srcOrd="0" destOrd="0" presId="urn:microsoft.com/office/officeart/2005/8/layout/process2"/>
    <dgm:cxn modelId="{D80C0683-8E66-48A8-BB00-2EA1986401B7}" type="presParOf" srcId="{F0CFC05A-BEB1-4B65-9294-42766E57124C}" destId="{EB6B4FB0-594B-46E7-88A8-E99A3D7D28BA}" srcOrd="6" destOrd="0" presId="urn:microsoft.com/office/officeart/2005/8/layout/process2"/>
    <dgm:cxn modelId="{F42DB6C2-44B9-4BE8-BB6C-B89FD3B42454}" type="presParOf" srcId="{F0CFC05A-BEB1-4B65-9294-42766E57124C}" destId="{F33F5D7E-B525-4341-BEAB-69DFE7C337B2}" srcOrd="7" destOrd="0" presId="urn:microsoft.com/office/officeart/2005/8/layout/process2"/>
    <dgm:cxn modelId="{216C5A6A-2D2D-4411-A2B1-92D847909FEB}" type="presParOf" srcId="{F33F5D7E-B525-4341-BEAB-69DFE7C337B2}" destId="{0E52DAAC-9123-4120-A226-357E36775F56}" srcOrd="0" destOrd="0" presId="urn:microsoft.com/office/officeart/2005/8/layout/process2"/>
    <dgm:cxn modelId="{3EC06CBD-1D08-1A4D-8D50-FBBE91EA329B}" type="presParOf" srcId="{F0CFC05A-BEB1-4B65-9294-42766E57124C}" destId="{5F80A041-11EF-CC48-982E-739028B8042B}" srcOrd="8" destOrd="0" presId="urn:microsoft.com/office/officeart/2005/8/layout/process2"/>
    <dgm:cxn modelId="{8BEA4A55-BC7B-774A-A435-8C7E6E6E39B1}" type="presParOf" srcId="{F0CFC05A-BEB1-4B65-9294-42766E57124C}" destId="{0CC316FD-17A4-814B-978F-640E54DE3759}" srcOrd="9" destOrd="0" presId="urn:microsoft.com/office/officeart/2005/8/layout/process2"/>
    <dgm:cxn modelId="{BEF3B883-0F80-AE41-ABC1-AB8838A89D4C}" type="presParOf" srcId="{0CC316FD-17A4-814B-978F-640E54DE3759}" destId="{5A8A56D6-0C59-D943-91D5-ED7C731739C4}" srcOrd="0" destOrd="0" presId="urn:microsoft.com/office/officeart/2005/8/layout/process2"/>
    <dgm:cxn modelId="{8103DC85-522C-4754-8365-73FB8B395A95}" type="presParOf" srcId="{F0CFC05A-BEB1-4B65-9294-42766E57124C}" destId="{F97BB873-62A5-4C6B-AF89-1ECA6E7CBDAF}" srcOrd="10" destOrd="0" presId="urn:microsoft.com/office/officeart/2005/8/layout/process2"/>
    <dgm:cxn modelId="{B5B50499-FC48-446C-A1CC-B8DA3D7EC6C3}" type="presParOf" srcId="{F0CFC05A-BEB1-4B65-9294-42766E57124C}" destId="{98E95033-BF7B-4FC9-8FE8-AA425CF14630}" srcOrd="11" destOrd="0" presId="urn:microsoft.com/office/officeart/2005/8/layout/process2"/>
    <dgm:cxn modelId="{FF460F01-EC8E-4DD4-B71E-396FC36C0268}" type="presParOf" srcId="{98E95033-BF7B-4FC9-8FE8-AA425CF14630}" destId="{2E6CC01A-2253-4BDB-9CCD-1FA6E0DD0000}" srcOrd="0" destOrd="0" presId="urn:microsoft.com/office/officeart/2005/8/layout/process2"/>
    <dgm:cxn modelId="{58294009-2709-4859-9C23-8942E5089A7D}" type="presParOf" srcId="{F0CFC05A-BEB1-4B65-9294-42766E57124C}" destId="{448D3433-EDE0-47D4-8296-64B29C485040}" srcOrd="12" destOrd="0" presId="urn:microsoft.com/office/officeart/2005/8/layout/process2"/>
    <dgm:cxn modelId="{846F4FDE-A2FE-4A64-AB14-E5AA61992F88}" type="presParOf" srcId="{F0CFC05A-BEB1-4B65-9294-42766E57124C}" destId="{46229D48-125F-47CA-8E73-7DCE202303D8}" srcOrd="13" destOrd="0" presId="urn:microsoft.com/office/officeart/2005/8/layout/process2"/>
    <dgm:cxn modelId="{3B944479-C204-46C4-8074-B500C4A9211F}" type="presParOf" srcId="{46229D48-125F-47CA-8E73-7DCE202303D8}" destId="{F3B27A07-0CB2-4B81-AF75-C7D1053FB26A}" srcOrd="0" destOrd="0" presId="urn:microsoft.com/office/officeart/2005/8/layout/process2"/>
    <dgm:cxn modelId="{4D5ADA16-968A-4EA6-ADB8-724F98CD8424}" type="presParOf" srcId="{F0CFC05A-BEB1-4B65-9294-42766E57124C}" destId="{E63B843D-F550-4B1E-B3A4-86556ECB9F80}" srcOrd="14" destOrd="0" presId="urn:microsoft.com/office/officeart/2005/8/layout/process2"/>
    <dgm:cxn modelId="{98C72831-9AED-4C9F-AEE0-2BBDABDAEDCA}" type="presParOf" srcId="{F0CFC05A-BEB1-4B65-9294-42766E57124C}" destId="{E4DC339F-DB2D-49F7-B4DA-7F8F8B7FF8D3}" srcOrd="15" destOrd="0" presId="urn:microsoft.com/office/officeart/2005/8/layout/process2"/>
    <dgm:cxn modelId="{17719358-99CE-4811-8B73-535E1D0AFFE5}" type="presParOf" srcId="{E4DC339F-DB2D-49F7-B4DA-7F8F8B7FF8D3}" destId="{047F9BD3-B303-4633-AA20-724A5A343181}" srcOrd="0" destOrd="0" presId="urn:microsoft.com/office/officeart/2005/8/layout/process2"/>
    <dgm:cxn modelId="{46C89503-7E0F-4384-8765-031DD03589AC}" type="presParOf" srcId="{F0CFC05A-BEB1-4B65-9294-42766E57124C}" destId="{69BAAA73-3EC5-4D67-AAD2-D74F46F717A5}" srcOrd="1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4F502-53DB-449F-878E-BE1868514305}">
      <dsp:nvSpPr>
        <dsp:cNvPr id="0" name=""/>
        <dsp:cNvSpPr/>
      </dsp:nvSpPr>
      <dsp:spPr>
        <a:xfrm>
          <a:off x="117712" y="496"/>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500-2kL Perfusion </a:t>
          </a:r>
        </a:p>
      </dsp:txBody>
      <dsp:txXfrm>
        <a:off x="126866" y="9650"/>
        <a:ext cx="1231848" cy="294231"/>
      </dsp:txXfrm>
    </dsp:sp>
    <dsp:sp modelId="{FDC915AF-6026-4983-AAA1-6BCD6467DEF4}">
      <dsp:nvSpPr>
        <dsp:cNvPr id="0" name=""/>
        <dsp:cNvSpPr/>
      </dsp:nvSpPr>
      <dsp:spPr>
        <a:xfrm rot="5400000">
          <a:off x="684189" y="320848"/>
          <a:ext cx="117202" cy="140642"/>
        </a:xfrm>
        <a:prstGeom prst="rightArrow">
          <a:avLst>
            <a:gd name="adj1" fmla="val 60000"/>
            <a:gd name="adj2" fmla="val 50000"/>
          </a:avLst>
        </a:prstGeom>
        <a:solidFill>
          <a:schemeClr val="accent1">
            <a:tint val="60000"/>
            <a:hueOff val="0"/>
            <a:satOff val="0"/>
            <a:lumOff val="0"/>
            <a:alphaOff val="0"/>
          </a:schemeClr>
        </a:solidFill>
        <a:ln w="12700" cap="flat" cmpd="sng" algn="ctr">
          <a:solidFill>
            <a:schemeClr val="tx1">
              <a:alpha val="0"/>
            </a:schemeClr>
          </a:solidFill>
          <a:prstDash val="solid"/>
          <a:round/>
          <a:headEnd type="none" w="med" len="med"/>
          <a:tailEnd type="none" w="med" len="med"/>
        </a:ln>
        <a:effectLs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332568"/>
        <a:ext cx="84386" cy="82041"/>
      </dsp:txXfrm>
    </dsp:sp>
    <dsp:sp modelId="{296A77E5-C0DA-BB49-ADCB-B9CDEBEB61EF}">
      <dsp:nvSpPr>
        <dsp:cNvPr id="0" name=""/>
        <dsp:cNvSpPr/>
      </dsp:nvSpPr>
      <dsp:spPr>
        <a:xfrm>
          <a:off x="117712" y="469304"/>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ATF or TFF</a:t>
          </a:r>
        </a:p>
      </dsp:txBody>
      <dsp:txXfrm>
        <a:off x="126866" y="478458"/>
        <a:ext cx="1231848" cy="294231"/>
      </dsp:txXfrm>
    </dsp:sp>
    <dsp:sp modelId="{469E1AF2-F5F0-3046-8F6A-B4C753B6DEED}">
      <dsp:nvSpPr>
        <dsp:cNvPr id="0" name=""/>
        <dsp:cNvSpPr/>
      </dsp:nvSpPr>
      <dsp:spPr>
        <a:xfrm rot="5400000">
          <a:off x="684189" y="789657"/>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801377"/>
        <a:ext cx="84386" cy="82041"/>
      </dsp:txXfrm>
    </dsp:sp>
    <dsp:sp modelId="{5129CC8F-DA47-426E-BD10-697214B6EA28}">
      <dsp:nvSpPr>
        <dsp:cNvPr id="0" name=""/>
        <dsp:cNvSpPr/>
      </dsp:nvSpPr>
      <dsp:spPr>
        <a:xfrm>
          <a:off x="117712" y="938113"/>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Capture</a:t>
          </a:r>
        </a:p>
      </dsp:txBody>
      <dsp:txXfrm>
        <a:off x="126866" y="947267"/>
        <a:ext cx="1231848" cy="294231"/>
      </dsp:txXfrm>
    </dsp:sp>
    <dsp:sp modelId="{F8EA24F2-77AB-4D3B-B52D-5C62C65989F9}">
      <dsp:nvSpPr>
        <dsp:cNvPr id="0" name=""/>
        <dsp:cNvSpPr/>
      </dsp:nvSpPr>
      <dsp:spPr>
        <a:xfrm rot="5400000">
          <a:off x="684189" y="1258465"/>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1270185"/>
        <a:ext cx="84386" cy="82041"/>
      </dsp:txXfrm>
    </dsp:sp>
    <dsp:sp modelId="{EB6B4FB0-594B-46E7-88A8-E99A3D7D28BA}">
      <dsp:nvSpPr>
        <dsp:cNvPr id="0" name=""/>
        <dsp:cNvSpPr/>
      </dsp:nvSpPr>
      <dsp:spPr>
        <a:xfrm>
          <a:off x="117712" y="1406921"/>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Batch or </a:t>
          </a:r>
          <a:r>
            <a:rPr lang="en-US" sz="1100" kern="1200" dirty="0" err="1"/>
            <a:t>Cont</a:t>
          </a:r>
          <a:r>
            <a:rPr lang="en-US" sz="1100" kern="1200" dirty="0"/>
            <a:t> VI</a:t>
          </a:r>
        </a:p>
      </dsp:txBody>
      <dsp:txXfrm>
        <a:off x="126866" y="1416075"/>
        <a:ext cx="1231848" cy="294231"/>
      </dsp:txXfrm>
    </dsp:sp>
    <dsp:sp modelId="{F33F5D7E-B525-4341-BEAB-69DFE7C337B2}">
      <dsp:nvSpPr>
        <dsp:cNvPr id="0" name=""/>
        <dsp:cNvSpPr/>
      </dsp:nvSpPr>
      <dsp:spPr>
        <a:xfrm rot="5400000">
          <a:off x="684189" y="1727274"/>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1738994"/>
        <a:ext cx="84386" cy="82041"/>
      </dsp:txXfrm>
    </dsp:sp>
    <dsp:sp modelId="{5F80A041-11EF-CC48-982E-739028B8042B}">
      <dsp:nvSpPr>
        <dsp:cNvPr id="0" name=""/>
        <dsp:cNvSpPr/>
      </dsp:nvSpPr>
      <dsp:spPr>
        <a:xfrm>
          <a:off x="117712" y="1875730"/>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Depth Filter</a:t>
          </a:r>
        </a:p>
      </dsp:txBody>
      <dsp:txXfrm>
        <a:off x="126866" y="1884884"/>
        <a:ext cx="1231848" cy="294231"/>
      </dsp:txXfrm>
    </dsp:sp>
    <dsp:sp modelId="{0CC316FD-17A4-814B-978F-640E54DE3759}">
      <dsp:nvSpPr>
        <dsp:cNvPr id="0" name=""/>
        <dsp:cNvSpPr/>
      </dsp:nvSpPr>
      <dsp:spPr>
        <a:xfrm rot="5400000">
          <a:off x="684189" y="2196083"/>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2207803"/>
        <a:ext cx="84386" cy="82041"/>
      </dsp:txXfrm>
    </dsp:sp>
    <dsp:sp modelId="{F97BB873-62A5-4C6B-AF89-1ECA6E7CBDAF}">
      <dsp:nvSpPr>
        <dsp:cNvPr id="0" name=""/>
        <dsp:cNvSpPr/>
      </dsp:nvSpPr>
      <dsp:spPr>
        <a:xfrm>
          <a:off x="117712" y="2344539"/>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Polishing 1</a:t>
          </a:r>
        </a:p>
      </dsp:txBody>
      <dsp:txXfrm>
        <a:off x="126866" y="2353693"/>
        <a:ext cx="1231848" cy="294231"/>
      </dsp:txXfrm>
    </dsp:sp>
    <dsp:sp modelId="{98E95033-BF7B-4FC9-8FE8-AA425CF14630}">
      <dsp:nvSpPr>
        <dsp:cNvPr id="0" name=""/>
        <dsp:cNvSpPr/>
      </dsp:nvSpPr>
      <dsp:spPr>
        <a:xfrm rot="5400000">
          <a:off x="684189" y="2664891"/>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2676611"/>
        <a:ext cx="84386" cy="82041"/>
      </dsp:txXfrm>
    </dsp:sp>
    <dsp:sp modelId="{448D3433-EDE0-47D4-8296-64B29C485040}">
      <dsp:nvSpPr>
        <dsp:cNvPr id="0" name=""/>
        <dsp:cNvSpPr/>
      </dsp:nvSpPr>
      <dsp:spPr>
        <a:xfrm>
          <a:off x="117712" y="2813347"/>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Polishing 2</a:t>
          </a:r>
        </a:p>
      </dsp:txBody>
      <dsp:txXfrm>
        <a:off x="126866" y="2822501"/>
        <a:ext cx="1231848" cy="294231"/>
      </dsp:txXfrm>
    </dsp:sp>
    <dsp:sp modelId="{46229D48-125F-47CA-8E73-7DCE202303D8}">
      <dsp:nvSpPr>
        <dsp:cNvPr id="0" name=""/>
        <dsp:cNvSpPr/>
      </dsp:nvSpPr>
      <dsp:spPr>
        <a:xfrm rot="5400000">
          <a:off x="684189" y="3133700"/>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3145420"/>
        <a:ext cx="84386" cy="82041"/>
      </dsp:txXfrm>
    </dsp:sp>
    <dsp:sp modelId="{E63B843D-F550-4B1E-B3A4-86556ECB9F80}">
      <dsp:nvSpPr>
        <dsp:cNvPr id="0" name=""/>
        <dsp:cNvSpPr/>
      </dsp:nvSpPr>
      <dsp:spPr>
        <a:xfrm>
          <a:off x="117712" y="3282156"/>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Virus Filter</a:t>
          </a:r>
        </a:p>
      </dsp:txBody>
      <dsp:txXfrm>
        <a:off x="126866" y="3291310"/>
        <a:ext cx="1231848" cy="294231"/>
      </dsp:txXfrm>
    </dsp:sp>
    <dsp:sp modelId="{E4DC339F-DB2D-49F7-B4DA-7F8F8B7FF8D3}">
      <dsp:nvSpPr>
        <dsp:cNvPr id="0" name=""/>
        <dsp:cNvSpPr/>
      </dsp:nvSpPr>
      <dsp:spPr>
        <a:xfrm rot="5400000">
          <a:off x="684189" y="3602508"/>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3614228"/>
        <a:ext cx="84386" cy="82041"/>
      </dsp:txXfrm>
    </dsp:sp>
    <dsp:sp modelId="{69BAAA73-3EC5-4D67-AAD2-D74F46F717A5}">
      <dsp:nvSpPr>
        <dsp:cNvPr id="0" name=""/>
        <dsp:cNvSpPr/>
      </dsp:nvSpPr>
      <dsp:spPr>
        <a:xfrm>
          <a:off x="117712" y="3750964"/>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UFDF</a:t>
          </a:r>
        </a:p>
      </dsp:txBody>
      <dsp:txXfrm>
        <a:off x="126866" y="3760118"/>
        <a:ext cx="1231848" cy="29423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9/4/20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9/4/20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 an intermediate pool</a:t>
            </a:r>
          </a:p>
          <a:p>
            <a:r>
              <a:rPr lang="en-US"/>
              <a:t>Need MCC if you don’t want </a:t>
            </a:r>
            <a:r>
              <a:rPr lang="en-US" err="1"/>
              <a:t>ot</a:t>
            </a:r>
            <a:r>
              <a:rPr lang="en-US"/>
              <a:t> have a surge tank</a:t>
            </a:r>
          </a:p>
          <a:p>
            <a:r>
              <a:rPr lang="en-US"/>
              <a:t>Surge tanks enable single column chromatography</a:t>
            </a:r>
          </a:p>
          <a:p>
            <a:endParaRPr lang="en-US"/>
          </a:p>
          <a:p>
            <a:r>
              <a:rPr lang="en-US"/>
              <a:t>Simplest with respect to equipment design and automation</a:t>
            </a:r>
          </a:p>
        </p:txBody>
      </p:sp>
      <p:sp>
        <p:nvSpPr>
          <p:cNvPr id="4" name="Slide Number Placeholder 3"/>
          <p:cNvSpPr>
            <a:spLocks noGrp="1"/>
          </p:cNvSpPr>
          <p:nvPr>
            <p:ph type="sldNum" sz="quarter" idx="5"/>
          </p:nvPr>
        </p:nvSpPr>
        <p:spPr/>
        <p:txBody>
          <a:bodyPr/>
          <a:lstStyle/>
          <a:p>
            <a:fld id="{FAD751AE-7ABC-314D-AFAD-47B860ED6FFE}" type="slidenum">
              <a:rPr lang="en-US" smtClean="0"/>
              <a:pPr/>
              <a:t>3</a:t>
            </a:fld>
            <a:endParaRPr lang="en-US"/>
          </a:p>
        </p:txBody>
      </p:sp>
    </p:spTree>
    <p:extLst>
      <p:ext uri="{BB962C8B-B14F-4D97-AF65-F5344CB8AC3E}">
        <p14:creationId xmlns:p14="http://schemas.microsoft.com/office/powerpoint/2010/main" val="3526103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3x solution: 500kg dose</a:t>
            </a:r>
          </a:p>
          <a:p>
            <a:r>
              <a:rPr lang="en-US" dirty="0"/>
              <a:t>1x solution: </a:t>
            </a:r>
          </a:p>
          <a:p>
            <a:r>
              <a:rPr lang="en-US" dirty="0"/>
              <a:t>1x &amp; 2vvd: </a:t>
            </a:r>
          </a:p>
        </p:txBody>
      </p:sp>
      <p:sp>
        <p:nvSpPr>
          <p:cNvPr id="4" name="Slide Number Placeholder 3"/>
          <p:cNvSpPr>
            <a:spLocks noGrp="1"/>
          </p:cNvSpPr>
          <p:nvPr>
            <p:ph type="sldNum" sz="quarter" idx="5"/>
          </p:nvPr>
        </p:nvSpPr>
        <p:spPr/>
        <p:txBody>
          <a:bodyPr/>
          <a:lstStyle/>
          <a:p>
            <a:fld id="{FAD751AE-7ABC-314D-AFAD-47B860ED6FFE}" type="slidenum">
              <a:rPr lang="en-US" smtClean="0"/>
              <a:pPr/>
              <a:t>4</a:t>
            </a:fld>
            <a:endParaRPr lang="en-US"/>
          </a:p>
        </p:txBody>
      </p:sp>
    </p:spTree>
    <p:extLst>
      <p:ext uri="{BB962C8B-B14F-4D97-AF65-F5344CB8AC3E}">
        <p14:creationId xmlns:p14="http://schemas.microsoft.com/office/powerpoint/2010/main" val="3921993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5</a:t>
            </a:fld>
            <a:endParaRPr lang="en-US"/>
          </a:p>
        </p:txBody>
      </p:sp>
    </p:spTree>
    <p:extLst>
      <p:ext uri="{BB962C8B-B14F-4D97-AF65-F5344CB8AC3E}">
        <p14:creationId xmlns:p14="http://schemas.microsoft.com/office/powerpoint/2010/main" val="295175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10</a:t>
            </a:fld>
            <a:endParaRPr lang="en-US"/>
          </a:p>
        </p:txBody>
      </p:sp>
    </p:spTree>
    <p:extLst>
      <p:ext uri="{BB962C8B-B14F-4D97-AF65-F5344CB8AC3E}">
        <p14:creationId xmlns:p14="http://schemas.microsoft.com/office/powerpoint/2010/main" val="4038779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11</a:t>
            </a:fld>
            <a:endParaRPr lang="en-US"/>
          </a:p>
        </p:txBody>
      </p:sp>
    </p:spTree>
    <p:extLst>
      <p:ext uri="{BB962C8B-B14F-4D97-AF65-F5344CB8AC3E}">
        <p14:creationId xmlns:p14="http://schemas.microsoft.com/office/powerpoint/2010/main" val="1028134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12</a:t>
            </a:fld>
            <a:endParaRPr lang="en-US"/>
          </a:p>
        </p:txBody>
      </p:sp>
    </p:spTree>
    <p:extLst>
      <p:ext uri="{BB962C8B-B14F-4D97-AF65-F5344CB8AC3E}">
        <p14:creationId xmlns:p14="http://schemas.microsoft.com/office/powerpoint/2010/main" val="3770164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13</a:t>
            </a:fld>
            <a:endParaRPr lang="en-US"/>
          </a:p>
        </p:txBody>
      </p:sp>
    </p:spTree>
    <p:extLst>
      <p:ext uri="{BB962C8B-B14F-4D97-AF65-F5344CB8AC3E}">
        <p14:creationId xmlns:p14="http://schemas.microsoft.com/office/powerpoint/2010/main" val="2571005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14</a:t>
            </a:fld>
            <a:endParaRPr lang="en-US"/>
          </a:p>
        </p:txBody>
      </p:sp>
    </p:spTree>
    <p:extLst>
      <p:ext uri="{BB962C8B-B14F-4D97-AF65-F5344CB8AC3E}">
        <p14:creationId xmlns:p14="http://schemas.microsoft.com/office/powerpoint/2010/main" val="576862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17</a:t>
            </a:fld>
            <a:endParaRPr lang="en-US"/>
          </a:p>
        </p:txBody>
      </p:sp>
    </p:spTree>
    <p:extLst>
      <p:ext uri="{BB962C8B-B14F-4D97-AF65-F5344CB8AC3E}">
        <p14:creationId xmlns:p14="http://schemas.microsoft.com/office/powerpoint/2010/main" val="3996128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Calculate the</a:t>
            </a:r>
            <a:r>
              <a:rPr lang="en-US" baseline="0"/>
              <a:t> number of instruments</a:t>
            </a:r>
            <a:endParaRPr lang="en-US"/>
          </a:p>
        </p:txBody>
      </p:sp>
      <p:sp>
        <p:nvSpPr>
          <p:cNvPr id="4" name="Slide Number Placeholder 3"/>
          <p:cNvSpPr>
            <a:spLocks noGrp="1"/>
          </p:cNvSpPr>
          <p:nvPr>
            <p:ph type="sldNum" sz="quarter" idx="10"/>
          </p:nvPr>
        </p:nvSpPr>
        <p:spPr/>
        <p:txBody>
          <a:bodyPr/>
          <a:lstStyle/>
          <a:p>
            <a:fld id="{240BD463-D209-4FAB-A722-B2AFE81AC984}" type="slidenum">
              <a:rPr lang="de-DE" smtClean="0"/>
              <a:t>18</a:t>
            </a:fld>
            <a:endParaRPr lang="de-DE"/>
          </a:p>
        </p:txBody>
      </p:sp>
    </p:spTree>
    <p:extLst>
      <p:ext uri="{BB962C8B-B14F-4D97-AF65-F5344CB8AC3E}">
        <p14:creationId xmlns:p14="http://schemas.microsoft.com/office/powerpoint/2010/main" val="3880931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20</a:t>
            </a:fld>
            <a:endParaRPr lang="en-US"/>
          </a:p>
        </p:txBody>
      </p:sp>
    </p:spTree>
    <p:extLst>
      <p:ext uri="{BB962C8B-B14F-4D97-AF65-F5344CB8AC3E}">
        <p14:creationId xmlns:p14="http://schemas.microsoft.com/office/powerpoint/2010/main" val="3458842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21</a:t>
            </a:fld>
            <a:endParaRPr lang="en-US"/>
          </a:p>
        </p:txBody>
      </p:sp>
    </p:spTree>
    <p:extLst>
      <p:ext uri="{BB962C8B-B14F-4D97-AF65-F5344CB8AC3E}">
        <p14:creationId xmlns:p14="http://schemas.microsoft.com/office/powerpoint/2010/main" val="49677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22</a:t>
            </a:fld>
            <a:endParaRPr lang="en-US"/>
          </a:p>
        </p:txBody>
      </p:sp>
    </p:spTree>
    <p:extLst>
      <p:ext uri="{BB962C8B-B14F-4D97-AF65-F5344CB8AC3E}">
        <p14:creationId xmlns:p14="http://schemas.microsoft.com/office/powerpoint/2010/main" val="1882739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23</a:t>
            </a:fld>
            <a:endParaRPr lang="en-US"/>
          </a:p>
        </p:txBody>
      </p:sp>
    </p:spTree>
    <p:extLst>
      <p:ext uri="{BB962C8B-B14F-4D97-AF65-F5344CB8AC3E}">
        <p14:creationId xmlns:p14="http://schemas.microsoft.com/office/powerpoint/2010/main" val="3036325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26</a:t>
            </a:fld>
            <a:endParaRPr lang="en-US"/>
          </a:p>
        </p:txBody>
      </p:sp>
    </p:spTree>
    <p:extLst>
      <p:ext uri="{BB962C8B-B14F-4D97-AF65-F5344CB8AC3E}">
        <p14:creationId xmlns:p14="http://schemas.microsoft.com/office/powerpoint/2010/main" val="30814649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6551"/>
            <a:ext cx="8834071" cy="2120400"/>
          </a:xfrm>
          <a:prstGeom prst="rect">
            <a:avLst/>
          </a:prstGeom>
        </p:spPr>
      </p:pic>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0"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2"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3"/>
            <a:ext cx="8853081"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2" cy="212821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6000" cy="2113995"/>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5"/>
            <a:ext cx="8853082" cy="2123399"/>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5"/>
            <a:ext cx="8853082" cy="2123399"/>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8"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21548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0"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2"/>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2"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2"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4"/>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3"/>
            <a:ext cx="8853082"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2"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0"/>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2"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49"/>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662"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8"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8" y="2876549"/>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8" y="2876549"/>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1"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00"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58"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7"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0"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2"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7" y="1233071"/>
            <a:ext cx="8766174" cy="3172500"/>
          </a:xfrm>
          <a:prstGeom prst="rect">
            <a:avLst/>
          </a:prstGeom>
        </p:spPr>
        <p:txBody>
          <a:bodyPr/>
          <a:lstStyle>
            <a:lvl1pPr marL="269875" indent="-269875">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0" indent="-135000">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image" Target="../media/image1.jpe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jpe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1.jpe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 id="2147483849" r:id="rId2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1.xml"/><Relationship Id="rId7" Type="http://schemas.openxmlformats.org/officeDocument/2006/relationships/diagramColors" Target="../diagrams/colors1.xml"/><Relationship Id="rId2" Type="http://schemas.openxmlformats.org/officeDocument/2006/relationships/slideLayout" Target="../slideLayouts/slideLayout23.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3.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35F89F-D75B-2842-B92A-DCF8B372B00A}"/>
              </a:ext>
            </a:extLst>
          </p:cNvPr>
          <p:cNvSpPr>
            <a:spLocks noGrp="1"/>
          </p:cNvSpPr>
          <p:nvPr>
            <p:ph type="title"/>
          </p:nvPr>
        </p:nvSpPr>
        <p:spPr/>
        <p:txBody>
          <a:bodyPr/>
          <a:lstStyle/>
          <a:p>
            <a:r>
              <a:rPr lang="en-US" dirty="0"/>
              <a:t>Figures and tables for (high level) Common Framework article </a:t>
            </a:r>
          </a:p>
        </p:txBody>
      </p:sp>
      <p:sp>
        <p:nvSpPr>
          <p:cNvPr id="8" name="Text Placeholder 7">
            <a:extLst>
              <a:ext uri="{FF2B5EF4-FFF2-40B4-BE49-F238E27FC236}">
                <a16:creationId xmlns:a16="http://schemas.microsoft.com/office/drawing/2014/main" id="{BFC32797-78FA-8744-B5CF-2B3D44AA9A9E}"/>
              </a:ext>
            </a:extLst>
          </p:cNvPr>
          <p:cNvSpPr>
            <a:spLocks noGrp="1"/>
          </p:cNvSpPr>
          <p:nvPr>
            <p:ph type="body" sz="quarter" idx="11"/>
          </p:nvPr>
        </p:nvSpPr>
        <p:spPr/>
        <p:txBody>
          <a:bodyPr/>
          <a:lstStyle/>
          <a:p>
            <a:endParaRPr lang="en-US"/>
          </a:p>
        </p:txBody>
      </p:sp>
      <p:sp>
        <p:nvSpPr>
          <p:cNvPr id="9" name="Text Placeholder 8">
            <a:extLst>
              <a:ext uri="{FF2B5EF4-FFF2-40B4-BE49-F238E27FC236}">
                <a16:creationId xmlns:a16="http://schemas.microsoft.com/office/drawing/2014/main" id="{C5ED231A-F7DE-E242-8543-9B9F13DFF40B}"/>
              </a:ext>
            </a:extLst>
          </p:cNvPr>
          <p:cNvSpPr>
            <a:spLocks noGrp="1"/>
          </p:cNvSpPr>
          <p:nvPr>
            <p:ph type="body" sz="quarter" idx="12"/>
          </p:nvPr>
        </p:nvSpPr>
        <p:spPr/>
        <p:txBody>
          <a:bodyPr/>
          <a:lstStyle/>
          <a:p>
            <a:endParaRPr lang="en-US"/>
          </a:p>
        </p:txBody>
      </p:sp>
      <p:sp>
        <p:nvSpPr>
          <p:cNvPr id="11" name="Text Placeholder 10">
            <a:extLst>
              <a:ext uri="{FF2B5EF4-FFF2-40B4-BE49-F238E27FC236}">
                <a16:creationId xmlns:a16="http://schemas.microsoft.com/office/drawing/2014/main" id="{CD25D36F-4153-514A-9F16-DB7A5F7A6482}"/>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72FE03AB-7381-8B48-83D6-1963FF0BF0E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402830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9EB132-B526-4F1F-8FFB-3167AC2008C2}"/>
              </a:ext>
            </a:extLst>
          </p:cNvPr>
          <p:cNvSpPr>
            <a:spLocks noGrp="1"/>
          </p:cNvSpPr>
          <p:nvPr>
            <p:ph type="sldNum" sz="quarter" idx="4"/>
          </p:nvPr>
        </p:nvSpPr>
        <p:spPr/>
        <p:txBody>
          <a:bodyPr/>
          <a:lstStyle/>
          <a:p>
            <a:fld id="{3C4F54F3-C349-4609-AFEE-01462D5C7942}" type="slidenum">
              <a:rPr lang="en-GB" smtClean="0"/>
              <a:pPr/>
              <a:t>2</a:t>
            </a:fld>
            <a:endParaRPr lang="en-GB"/>
          </a:p>
        </p:txBody>
      </p:sp>
      <p:sp>
        <p:nvSpPr>
          <p:cNvPr id="3" name="Title 2">
            <a:extLst>
              <a:ext uri="{FF2B5EF4-FFF2-40B4-BE49-F238E27FC236}">
                <a16:creationId xmlns:a16="http://schemas.microsoft.com/office/drawing/2014/main" id="{71D64CBF-B5E7-4120-885F-D7A866E2AF38}"/>
              </a:ext>
            </a:extLst>
          </p:cNvPr>
          <p:cNvSpPr>
            <a:spLocks noGrp="1"/>
          </p:cNvSpPr>
          <p:nvPr>
            <p:ph type="title"/>
          </p:nvPr>
        </p:nvSpPr>
        <p:spPr/>
        <p:txBody>
          <a:bodyPr/>
          <a:lstStyle/>
          <a:p>
            <a:r>
              <a:rPr lang="en-US"/>
              <a:t>Next Gen Manufacturing in the Industry</a:t>
            </a:r>
          </a:p>
        </p:txBody>
      </p:sp>
      <p:graphicFrame>
        <p:nvGraphicFramePr>
          <p:cNvPr id="4" name="Table 3">
            <a:extLst>
              <a:ext uri="{FF2B5EF4-FFF2-40B4-BE49-F238E27FC236}">
                <a16:creationId xmlns:a16="http://schemas.microsoft.com/office/drawing/2014/main" id="{83FC77EC-E7DA-4EA5-8756-074F3F44A593}"/>
              </a:ext>
            </a:extLst>
          </p:cNvPr>
          <p:cNvGraphicFramePr>
            <a:graphicFrameLocks noGrp="1"/>
          </p:cNvGraphicFramePr>
          <p:nvPr>
            <p:extLst>
              <p:ext uri="{D42A27DB-BD31-4B8C-83A1-F6EECF244321}">
                <p14:modId xmlns:p14="http://schemas.microsoft.com/office/powerpoint/2010/main" val="1842055359"/>
              </p:ext>
            </p:extLst>
          </p:nvPr>
        </p:nvGraphicFramePr>
        <p:xfrm>
          <a:off x="99438" y="669292"/>
          <a:ext cx="8903271" cy="4694185"/>
        </p:xfrm>
        <a:graphic>
          <a:graphicData uri="http://schemas.openxmlformats.org/drawingml/2006/table">
            <a:tbl>
              <a:tblPr firstRow="1" bandRow="1">
                <a:tableStyleId>{5C22544A-7EE6-4342-B048-85BDC9FD1C3A}</a:tableStyleId>
              </a:tblPr>
              <a:tblGrid>
                <a:gridCol w="1480149">
                  <a:extLst>
                    <a:ext uri="{9D8B030D-6E8A-4147-A177-3AD203B41FA5}">
                      <a16:colId xmlns:a16="http://schemas.microsoft.com/office/drawing/2014/main" val="1331994281"/>
                    </a:ext>
                  </a:extLst>
                </a:gridCol>
                <a:gridCol w="616728">
                  <a:extLst>
                    <a:ext uri="{9D8B030D-6E8A-4147-A177-3AD203B41FA5}">
                      <a16:colId xmlns:a16="http://schemas.microsoft.com/office/drawing/2014/main" val="4098781757"/>
                    </a:ext>
                  </a:extLst>
                </a:gridCol>
                <a:gridCol w="740074">
                  <a:extLst>
                    <a:ext uri="{9D8B030D-6E8A-4147-A177-3AD203B41FA5}">
                      <a16:colId xmlns:a16="http://schemas.microsoft.com/office/drawing/2014/main" val="3177721031"/>
                    </a:ext>
                  </a:extLst>
                </a:gridCol>
                <a:gridCol w="740074">
                  <a:extLst>
                    <a:ext uri="{9D8B030D-6E8A-4147-A177-3AD203B41FA5}">
                      <a16:colId xmlns:a16="http://schemas.microsoft.com/office/drawing/2014/main" val="2119094409"/>
                    </a:ext>
                  </a:extLst>
                </a:gridCol>
                <a:gridCol w="714461">
                  <a:extLst>
                    <a:ext uri="{9D8B030D-6E8A-4147-A177-3AD203B41FA5}">
                      <a16:colId xmlns:a16="http://schemas.microsoft.com/office/drawing/2014/main" val="848065991"/>
                    </a:ext>
                  </a:extLst>
                </a:gridCol>
                <a:gridCol w="1139095">
                  <a:extLst>
                    <a:ext uri="{9D8B030D-6E8A-4147-A177-3AD203B41FA5}">
                      <a16:colId xmlns:a16="http://schemas.microsoft.com/office/drawing/2014/main" val="1738516071"/>
                    </a:ext>
                  </a:extLst>
                </a:gridCol>
                <a:gridCol w="1107552">
                  <a:extLst>
                    <a:ext uri="{9D8B030D-6E8A-4147-A177-3AD203B41FA5}">
                      <a16:colId xmlns:a16="http://schemas.microsoft.com/office/drawing/2014/main" val="1649592483"/>
                    </a:ext>
                  </a:extLst>
                </a:gridCol>
                <a:gridCol w="761644">
                  <a:extLst>
                    <a:ext uri="{9D8B030D-6E8A-4147-A177-3AD203B41FA5}">
                      <a16:colId xmlns:a16="http://schemas.microsoft.com/office/drawing/2014/main" val="744124026"/>
                    </a:ext>
                  </a:extLst>
                </a:gridCol>
                <a:gridCol w="863420">
                  <a:extLst>
                    <a:ext uri="{9D8B030D-6E8A-4147-A177-3AD203B41FA5}">
                      <a16:colId xmlns:a16="http://schemas.microsoft.com/office/drawing/2014/main" val="1290535272"/>
                    </a:ext>
                  </a:extLst>
                </a:gridCol>
                <a:gridCol w="740074">
                  <a:extLst>
                    <a:ext uri="{9D8B030D-6E8A-4147-A177-3AD203B41FA5}">
                      <a16:colId xmlns:a16="http://schemas.microsoft.com/office/drawing/2014/main" val="863792691"/>
                    </a:ext>
                  </a:extLst>
                </a:gridCol>
              </a:tblGrid>
              <a:tr h="641537">
                <a:tc>
                  <a:txBody>
                    <a:bodyPr/>
                    <a:lstStyle/>
                    <a:p>
                      <a:pPr algn="ctr" fontAlgn="t"/>
                      <a:endParaRPr lang="en-US" sz="1400" b="0" i="0" u="none" strike="noStrike" dirty="0">
                        <a:solidFill>
                          <a:srgbClr val="000000"/>
                        </a:solidFill>
                        <a:effectLst/>
                        <a:latin typeface="Arial" panose="020B0604020202020204" pitchFamily="34" charset="0"/>
                      </a:endParaRPr>
                    </a:p>
                  </a:txBody>
                  <a:tcPr marL="1725" marR="1725" marT="1725" marB="0"/>
                </a:tc>
                <a:tc>
                  <a:txBody>
                    <a:bodyPr/>
                    <a:lstStyle/>
                    <a:p>
                      <a:pPr algn="ctr" rtl="0" fontAlgn="ctr"/>
                      <a:r>
                        <a:rPr lang="en-US" sz="1400" u="none" strike="noStrike" dirty="0">
                          <a:effectLst/>
                        </a:rPr>
                        <a:t>N-1</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 </a:t>
                      </a:r>
                      <a:r>
                        <a:rPr lang="en-US" sz="1400" u="none" strike="noStrike" dirty="0" err="1">
                          <a:effectLst/>
                        </a:rPr>
                        <a:t>Brx</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Number of Columns </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 Virus </a:t>
                      </a:r>
                      <a:r>
                        <a:rPr lang="en-US" sz="1400" u="none" strike="noStrike" dirty="0" err="1">
                          <a:effectLst/>
                        </a:rPr>
                        <a:t>inact</a:t>
                      </a:r>
                      <a:r>
                        <a:rPr lang="en-US" sz="1400" u="none" strike="noStrike" dirty="0">
                          <a:effectLst/>
                        </a:rPr>
                        <a:t>.</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Number of Columns </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Number of Columns </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Virus Filter</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UFDF</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GMP?</a:t>
                      </a:r>
                      <a:endParaRPr lang="en-US" sz="1400" b="1" i="0" u="none" strike="noStrike" dirty="0">
                        <a:solidFill>
                          <a:srgbClr val="FFFFFF"/>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3052009566"/>
                  </a:ext>
                </a:extLst>
              </a:tr>
              <a:tr h="383902">
                <a:tc>
                  <a:txBody>
                    <a:bodyPr/>
                    <a:lstStyle/>
                    <a:p>
                      <a:pPr algn="l" rtl="0" fontAlgn="ctr"/>
                      <a:r>
                        <a:rPr lang="en-US" sz="1400" u="none" strike="noStrike" dirty="0">
                          <a:effectLst/>
                        </a:rPr>
                        <a:t>Amgen</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1730733001"/>
                  </a:ext>
                </a:extLst>
              </a:tr>
              <a:tr h="383902">
                <a:tc>
                  <a:txBody>
                    <a:bodyPr/>
                    <a:lstStyle/>
                    <a:p>
                      <a:pPr algn="l" rtl="0" fontAlgn="ctr"/>
                      <a:r>
                        <a:rPr lang="en-US" sz="1400" u="none" strike="noStrike" dirty="0">
                          <a:effectLst/>
                        </a:rPr>
                        <a:t>Sanofi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Both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b="0" i="0" u="none" strike="noStrike" dirty="0">
                          <a:solidFill>
                            <a:srgbClr val="000000"/>
                          </a:solidFill>
                          <a:effectLst/>
                          <a:latin typeface="Arial" panose="020B0604020202020204" pitchFamily="34" charset="0"/>
                        </a:rPr>
                        <a:t>Multi</a:t>
                      </a: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398646737"/>
                  </a:ext>
                </a:extLst>
              </a:tr>
              <a:tr h="383902">
                <a:tc>
                  <a:txBody>
                    <a:bodyPr/>
                    <a:lstStyle/>
                    <a:p>
                      <a:pPr algn="l" rtl="0" fontAlgn="ctr"/>
                      <a:r>
                        <a:rPr lang="en-US" sz="1400" u="none" strike="noStrike" dirty="0">
                          <a:effectLst/>
                        </a:rPr>
                        <a:t>Novartis</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2901905116"/>
                  </a:ext>
                </a:extLst>
              </a:tr>
              <a:tr h="383902">
                <a:tc>
                  <a:txBody>
                    <a:bodyPr/>
                    <a:lstStyle/>
                    <a:p>
                      <a:pPr algn="l" rtl="0" fontAlgn="ctr"/>
                      <a:r>
                        <a:rPr lang="en-US" sz="1400" u="none" strike="noStrike" dirty="0">
                          <a:effectLst/>
                        </a:rPr>
                        <a:t>BMS</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2527293138"/>
                  </a:ext>
                </a:extLst>
              </a:tr>
              <a:tr h="383902">
                <a:tc>
                  <a:txBody>
                    <a:bodyPr/>
                    <a:lstStyle/>
                    <a:p>
                      <a:pPr algn="l" rtl="0" fontAlgn="ctr"/>
                      <a:r>
                        <a:rPr lang="en-US" sz="1400" u="none" strike="noStrike" dirty="0">
                          <a:effectLst/>
                        </a:rPr>
                        <a:t>Merck (MSD)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b="0" i="0" u="none" strike="noStrike" dirty="0">
                          <a:solidFill>
                            <a:srgbClr val="000000"/>
                          </a:solidFill>
                          <a:effectLst/>
                          <a:latin typeface="Arial"/>
                        </a:rPr>
                        <a:t>Batch</a:t>
                      </a: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1522206493"/>
                  </a:ext>
                </a:extLst>
              </a:tr>
              <a:tr h="383902">
                <a:tc>
                  <a:txBody>
                    <a:bodyPr/>
                    <a:lstStyle/>
                    <a:p>
                      <a:pPr algn="l" rtl="0" fontAlgn="ctr"/>
                      <a:r>
                        <a:rPr lang="en-US" sz="1400" u="none" strike="noStrike" dirty="0">
                          <a:effectLst/>
                        </a:rPr>
                        <a:t>Merck (</a:t>
                      </a:r>
                      <a:r>
                        <a:rPr lang="en-US" sz="1400" u="none" strike="noStrike" dirty="0" err="1">
                          <a:effectLst/>
                        </a:rPr>
                        <a:t>KgaA</a:t>
                      </a: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2962161507"/>
                  </a:ext>
                </a:extLst>
              </a:tr>
              <a:tr h="383902">
                <a:tc>
                  <a:txBody>
                    <a:bodyPr/>
                    <a:lstStyle/>
                    <a:p>
                      <a:pPr algn="l" rtl="0" fontAlgn="ctr"/>
                      <a:r>
                        <a:rPr lang="en-US" sz="1400" u="none" strike="noStrike" dirty="0">
                          <a:effectLst/>
                        </a:rPr>
                        <a:t>Pfizer/BI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172123322"/>
                  </a:ext>
                </a:extLst>
              </a:tr>
              <a:tr h="383902">
                <a:tc>
                  <a:txBody>
                    <a:bodyPr/>
                    <a:lstStyle/>
                    <a:p>
                      <a:pPr algn="l" rtl="0" fontAlgn="ctr"/>
                      <a:r>
                        <a:rPr lang="en-US" sz="1400" u="none" strike="noStrike" dirty="0">
                          <a:effectLst/>
                        </a:rPr>
                        <a:t>Bayer</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488488862"/>
                  </a:ext>
                </a:extLst>
              </a:tr>
              <a:tr h="383902">
                <a:tc>
                  <a:txBody>
                    <a:bodyPr/>
                    <a:lstStyle/>
                    <a:p>
                      <a:pPr lvl="0" algn="l">
                        <a:buNone/>
                      </a:pPr>
                      <a:r>
                        <a:rPr lang="en-US" sz="1400" u="none" strike="noStrike" dirty="0">
                          <a:effectLst/>
                        </a:rPr>
                        <a:t>Janssen</a:t>
                      </a:r>
                    </a:p>
                  </a:txBody>
                  <a:tcPr marL="1725" marR="1725" marT="1725" marB="0" anchor="ctr"/>
                </a:tc>
                <a:tc>
                  <a:txBody>
                    <a:bodyPr/>
                    <a:lstStyle/>
                    <a:p>
                      <a:pPr lvl="0" algn="ctr">
                        <a:buNone/>
                      </a:pPr>
                      <a:r>
                        <a:rPr lang="en-US" sz="1400" u="none" strike="noStrike" dirty="0">
                          <a:effectLst/>
                        </a:rPr>
                        <a:t>Perf</a:t>
                      </a:r>
                    </a:p>
                  </a:txBody>
                  <a:tcPr marL="1725" marR="1725" marT="1725" marB="0" anchor="ctr"/>
                </a:tc>
                <a:tc>
                  <a:txBody>
                    <a:bodyPr/>
                    <a:lstStyle/>
                    <a:p>
                      <a:pPr lvl="0" algn="ctr">
                        <a:buNone/>
                      </a:pPr>
                      <a:r>
                        <a:rPr lang="en-US" sz="1400" u="none" strike="noStrike" dirty="0">
                          <a:effectLst/>
                        </a:rPr>
                        <a:t>Batch</a:t>
                      </a:r>
                    </a:p>
                  </a:txBody>
                  <a:tcPr marL="1725" marR="1725" marT="1725" marB="0" anchor="ctr"/>
                </a:tc>
                <a:tc>
                  <a:txBody>
                    <a:bodyPr/>
                    <a:lstStyle/>
                    <a:p>
                      <a:pPr lvl="0" algn="ctr" rtl="0">
                        <a:buNone/>
                      </a:pPr>
                      <a:r>
                        <a:rPr lang="en-US" sz="1400" b="0" i="0" u="none" strike="noStrike" dirty="0" err="1">
                          <a:solidFill>
                            <a:srgbClr val="000000"/>
                          </a:solidFill>
                          <a:effectLst/>
                          <a:latin typeface="Arial"/>
                        </a:rPr>
                        <a:t>SIngle</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Batch</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kumimoji="0" lang="en-US" sz="1400" b="0" i="0" u="none" strike="noStrike" kern="1200" cap="none" spc="0" normalizeH="0" baseline="0" noProof="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kumimoji="0" lang="en-US" sz="1400" b="0" i="0" u="none" strike="noStrike" kern="1200" cap="none" spc="0" normalizeH="0" baseline="0" noProof="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Batch</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Batch</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Y</a:t>
                      </a:r>
                      <a:endParaRPr lang="en-US" sz="1400" b="0" i="0" u="none" strike="noStrike" dirty="0">
                        <a:solidFill>
                          <a:srgbClr val="000000"/>
                        </a:solidFill>
                        <a:effectLst/>
                        <a:latin typeface="Arial"/>
                      </a:endParaRPr>
                    </a:p>
                  </a:txBody>
                  <a:tcPr marL="1725" marR="1725" marT="1725" marB="0" anchor="ctr"/>
                </a:tc>
                <a:extLst>
                  <a:ext uri="{0D108BD9-81ED-4DB2-BD59-A6C34878D82A}">
                    <a16:rowId xmlns:a16="http://schemas.microsoft.com/office/drawing/2014/main" val="2324612252"/>
                  </a:ext>
                </a:extLst>
              </a:tr>
              <a:tr h="383902">
                <a:tc>
                  <a:txBody>
                    <a:bodyPr/>
                    <a:lstStyle/>
                    <a:p>
                      <a:pPr algn="l" rtl="0" fontAlgn="ctr"/>
                      <a:r>
                        <a:rPr lang="en-US" sz="1400" u="none" strike="noStrike" dirty="0">
                          <a:effectLst/>
                        </a:rPr>
                        <a:t>AstraZeneca</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3576956999"/>
                  </a:ext>
                </a:extLst>
              </a:tr>
            </a:tbl>
          </a:graphicData>
        </a:graphic>
      </p:graphicFrame>
    </p:spTree>
    <p:extLst>
      <p:ext uri="{BB962C8B-B14F-4D97-AF65-F5344CB8AC3E}">
        <p14:creationId xmlns:p14="http://schemas.microsoft.com/office/powerpoint/2010/main" val="1227858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9797D2-37BA-4219-BE72-FE7ADC0710EC}"/>
              </a:ext>
            </a:extLst>
          </p:cNvPr>
          <p:cNvSpPr>
            <a:spLocks noGrp="1"/>
          </p:cNvSpPr>
          <p:nvPr>
            <p:ph type="sldNum" sz="quarter" idx="4"/>
          </p:nvPr>
        </p:nvSpPr>
        <p:spPr/>
        <p:txBody>
          <a:bodyPr/>
          <a:lstStyle/>
          <a:p>
            <a:pPr defTabSz="457189"/>
            <a:fld id="{3C4F54F3-C349-4609-AFEE-01462D5C7942}" type="slidenum">
              <a:rPr lang="en-GB">
                <a:solidFill>
                  <a:srgbClr val="000000"/>
                </a:solidFill>
              </a:rPr>
              <a:pPr defTabSz="457189"/>
              <a:t>3</a:t>
            </a:fld>
            <a:endParaRPr lang="en-GB">
              <a:solidFill>
                <a:srgbClr val="000000"/>
              </a:solidFill>
            </a:endParaRPr>
          </a:p>
        </p:txBody>
      </p:sp>
      <p:sp>
        <p:nvSpPr>
          <p:cNvPr id="5" name="Rectangle: Rounded Corners 4">
            <a:extLst>
              <a:ext uri="{FF2B5EF4-FFF2-40B4-BE49-F238E27FC236}">
                <a16:creationId xmlns:a16="http://schemas.microsoft.com/office/drawing/2014/main" id="{73867430-3538-4EB2-845E-75804B46C909}"/>
              </a:ext>
            </a:extLst>
          </p:cNvPr>
          <p:cNvSpPr/>
          <p:nvPr/>
        </p:nvSpPr>
        <p:spPr>
          <a:xfrm>
            <a:off x="1583391" y="1260131"/>
            <a:ext cx="1443563" cy="1562100"/>
          </a:xfrm>
          <a:prstGeom prst="roundRect">
            <a:avLst/>
          </a:prstGeom>
          <a:solidFill>
            <a:schemeClr val="accent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6" name="Rectangle: Rounded Corners 5">
            <a:extLst>
              <a:ext uri="{FF2B5EF4-FFF2-40B4-BE49-F238E27FC236}">
                <a16:creationId xmlns:a16="http://schemas.microsoft.com/office/drawing/2014/main" id="{168550AA-0CF1-4B42-A2E7-C783D7B8BEA3}"/>
              </a:ext>
            </a:extLst>
          </p:cNvPr>
          <p:cNvSpPr/>
          <p:nvPr/>
        </p:nvSpPr>
        <p:spPr>
          <a:xfrm>
            <a:off x="3145141" y="1521315"/>
            <a:ext cx="366712" cy="11668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400" dirty="0">
              <a:solidFill>
                <a:srgbClr val="FFFFFF"/>
              </a:solidFill>
              <a:latin typeface="Arial"/>
            </a:endParaRPr>
          </a:p>
        </p:txBody>
      </p:sp>
      <p:cxnSp>
        <p:nvCxnSpPr>
          <p:cNvPr id="8" name="Connector: Elbow 7">
            <a:extLst>
              <a:ext uri="{FF2B5EF4-FFF2-40B4-BE49-F238E27FC236}">
                <a16:creationId xmlns:a16="http://schemas.microsoft.com/office/drawing/2014/main" id="{3498395E-2067-4ECC-B0B9-68498D72205E}"/>
              </a:ext>
            </a:extLst>
          </p:cNvPr>
          <p:cNvCxnSpPr>
            <a:stCxn id="5" idx="3"/>
            <a:endCxn id="6" idx="2"/>
          </p:cNvCxnSpPr>
          <p:nvPr/>
        </p:nvCxnSpPr>
        <p:spPr>
          <a:xfrm>
            <a:off x="3026954" y="2041181"/>
            <a:ext cx="301543" cy="646946"/>
          </a:xfrm>
          <a:prstGeom prst="bentConnector4">
            <a:avLst>
              <a:gd name="adj1" fmla="val 19597"/>
              <a:gd name="adj2" fmla="val 13533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137B4CD7-DBAB-4F78-B299-70D3BA182C61}"/>
              </a:ext>
            </a:extLst>
          </p:cNvPr>
          <p:cNvCxnSpPr>
            <a:cxnSpLocks/>
            <a:stCxn id="6" idx="0"/>
            <a:endCxn id="5" idx="0"/>
          </p:cNvCxnSpPr>
          <p:nvPr/>
        </p:nvCxnSpPr>
        <p:spPr>
          <a:xfrm rot="16200000" flipV="1">
            <a:off x="2686243" y="879061"/>
            <a:ext cx="261184" cy="1023324"/>
          </a:xfrm>
          <a:prstGeom prst="bentConnector3">
            <a:avLst>
              <a:gd name="adj1" fmla="val 187525"/>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EFB99A3E-1A94-427A-A256-BC011139BA9C}"/>
              </a:ext>
            </a:extLst>
          </p:cNvPr>
          <p:cNvGrpSpPr/>
          <p:nvPr/>
        </p:nvGrpSpPr>
        <p:grpSpPr>
          <a:xfrm>
            <a:off x="3971726" y="1692478"/>
            <a:ext cx="552450" cy="690562"/>
            <a:chOff x="3603122" y="2443163"/>
            <a:chExt cx="552450" cy="690562"/>
          </a:xfrm>
        </p:grpSpPr>
        <p:sp>
          <p:nvSpPr>
            <p:cNvPr id="15" name="Rectangle 14">
              <a:extLst>
                <a:ext uri="{FF2B5EF4-FFF2-40B4-BE49-F238E27FC236}">
                  <a16:creationId xmlns:a16="http://schemas.microsoft.com/office/drawing/2014/main" id="{71A3EE9F-3F41-4154-AE3A-629AFA616D70}"/>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18" name="Straight Connector 17">
              <a:extLst>
                <a:ext uri="{FF2B5EF4-FFF2-40B4-BE49-F238E27FC236}">
                  <a16:creationId xmlns:a16="http://schemas.microsoft.com/office/drawing/2014/main" id="{2045AB47-1875-4CB0-980D-5C85CD7CD4F8}"/>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200C012-6CD9-4FF2-84EE-B5A01C4564C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EA109D33-878C-4393-A309-F5249E308822}"/>
              </a:ext>
            </a:extLst>
          </p:cNvPr>
          <p:cNvGrpSpPr/>
          <p:nvPr/>
        </p:nvGrpSpPr>
        <p:grpSpPr>
          <a:xfrm>
            <a:off x="4614664" y="1694574"/>
            <a:ext cx="552450" cy="690562"/>
            <a:chOff x="3603122" y="2443163"/>
            <a:chExt cx="552450" cy="690562"/>
          </a:xfrm>
        </p:grpSpPr>
        <p:sp>
          <p:nvSpPr>
            <p:cNvPr id="24" name="Rectangle 23">
              <a:extLst>
                <a:ext uri="{FF2B5EF4-FFF2-40B4-BE49-F238E27FC236}">
                  <a16:creationId xmlns:a16="http://schemas.microsoft.com/office/drawing/2014/main" id="{80463B95-AD67-4FE7-B755-00B06EBCE807}"/>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25" name="Straight Connector 24">
              <a:extLst>
                <a:ext uri="{FF2B5EF4-FFF2-40B4-BE49-F238E27FC236}">
                  <a16:creationId xmlns:a16="http://schemas.microsoft.com/office/drawing/2014/main" id="{16788200-6EB1-451C-809E-68D404904A0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BDB0545-D9BB-478C-9074-772C75CB54F7}"/>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34" name="Connector: Elbow 33">
            <a:extLst>
              <a:ext uri="{FF2B5EF4-FFF2-40B4-BE49-F238E27FC236}">
                <a16:creationId xmlns:a16="http://schemas.microsoft.com/office/drawing/2014/main" id="{5AE4C338-10F5-4DA1-AEC6-44F7EED3398D}"/>
              </a:ext>
            </a:extLst>
          </p:cNvPr>
          <p:cNvCxnSpPr>
            <a:cxnSpLocks/>
            <a:stCxn id="6" idx="3"/>
            <a:endCxn id="65" idx="1"/>
          </p:cNvCxnSpPr>
          <p:nvPr/>
        </p:nvCxnSpPr>
        <p:spPr>
          <a:xfrm flipV="1">
            <a:off x="3511853" y="1218200"/>
            <a:ext cx="216986" cy="88652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9BCDBFF4-B25F-45E3-A1BE-1FD06C5D63A5}"/>
              </a:ext>
            </a:extLst>
          </p:cNvPr>
          <p:cNvGrpSpPr/>
          <p:nvPr/>
        </p:nvGrpSpPr>
        <p:grpSpPr>
          <a:xfrm>
            <a:off x="7684680" y="1625764"/>
            <a:ext cx="552450" cy="690562"/>
            <a:chOff x="3603122" y="2443163"/>
            <a:chExt cx="552450" cy="690562"/>
          </a:xfrm>
          <a:solidFill>
            <a:schemeClr val="accent2">
              <a:lumMod val="25000"/>
              <a:lumOff val="75000"/>
            </a:schemeClr>
          </a:solidFill>
        </p:grpSpPr>
        <p:sp>
          <p:nvSpPr>
            <p:cNvPr id="54" name="Rectangle 53">
              <a:extLst>
                <a:ext uri="{FF2B5EF4-FFF2-40B4-BE49-F238E27FC236}">
                  <a16:creationId xmlns:a16="http://schemas.microsoft.com/office/drawing/2014/main" id="{07799CF3-B4BF-4221-9FF0-4BDF035F8062}"/>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r>
                <a:rPr lang="en-US">
                  <a:solidFill>
                    <a:srgbClr val="000000"/>
                  </a:solidFill>
                  <a:latin typeface="Arial"/>
                </a:rPr>
                <a:t>??</a:t>
              </a:r>
            </a:p>
          </p:txBody>
        </p:sp>
        <p:cxnSp>
          <p:nvCxnSpPr>
            <p:cNvPr id="55" name="Straight Connector 54">
              <a:extLst>
                <a:ext uri="{FF2B5EF4-FFF2-40B4-BE49-F238E27FC236}">
                  <a16:creationId xmlns:a16="http://schemas.microsoft.com/office/drawing/2014/main" id="{B0E7B4A4-9747-4F74-AF31-4AE2504282DF}"/>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56213EF-43D1-41F3-AF5D-A54B0F5C3A50}"/>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C497AB71-60A9-4AA6-ADF9-17DA20B30386}"/>
              </a:ext>
            </a:extLst>
          </p:cNvPr>
          <p:cNvGrpSpPr/>
          <p:nvPr/>
        </p:nvGrpSpPr>
        <p:grpSpPr>
          <a:xfrm>
            <a:off x="7684680" y="1625764"/>
            <a:ext cx="552450" cy="690562"/>
            <a:chOff x="3603122" y="2443163"/>
            <a:chExt cx="552450" cy="690562"/>
          </a:xfrm>
        </p:grpSpPr>
        <p:sp>
          <p:nvSpPr>
            <p:cNvPr id="46" name="Rectangle 45">
              <a:extLst>
                <a:ext uri="{FF2B5EF4-FFF2-40B4-BE49-F238E27FC236}">
                  <a16:creationId xmlns:a16="http://schemas.microsoft.com/office/drawing/2014/main" id="{E7994D04-6B95-497F-98E5-DA74A86E580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47" name="Straight Connector 46">
              <a:extLst>
                <a:ext uri="{FF2B5EF4-FFF2-40B4-BE49-F238E27FC236}">
                  <a16:creationId xmlns:a16="http://schemas.microsoft.com/office/drawing/2014/main" id="{582D20E4-6442-4B73-B5C3-7869077E1F2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9CB4202-14EA-4D6B-9B16-D352DC4B55AB}"/>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63" name="Connector: Elbow 62">
            <a:extLst>
              <a:ext uri="{FF2B5EF4-FFF2-40B4-BE49-F238E27FC236}">
                <a16:creationId xmlns:a16="http://schemas.microsoft.com/office/drawing/2014/main" id="{28798F01-037B-4C7F-9F85-1232E9BECE5F}"/>
              </a:ext>
            </a:extLst>
          </p:cNvPr>
          <p:cNvCxnSpPr>
            <a:cxnSpLocks/>
            <a:stCxn id="24" idx="2"/>
          </p:cNvCxnSpPr>
          <p:nvPr/>
        </p:nvCxnSpPr>
        <p:spPr>
          <a:xfrm rot="5400000" flipH="1" flipV="1">
            <a:off x="5053825" y="1873327"/>
            <a:ext cx="348872" cy="674745"/>
          </a:xfrm>
          <a:prstGeom prst="bentConnector4">
            <a:avLst>
              <a:gd name="adj1" fmla="val -65525"/>
              <a:gd name="adj2" fmla="val 7558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FA1E1A94-5B21-4453-9C45-2375458F069D}"/>
              </a:ext>
            </a:extLst>
          </p:cNvPr>
          <p:cNvCxnSpPr>
            <a:stCxn id="65" idx="3"/>
            <a:endCxn id="15" idx="0"/>
          </p:cNvCxnSpPr>
          <p:nvPr/>
        </p:nvCxnSpPr>
        <p:spPr>
          <a:xfrm>
            <a:off x="4095551" y="1218200"/>
            <a:ext cx="152400" cy="47427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1CCA0B7F-2C0D-4A2E-BFFA-FE7EFACB186A}"/>
              </a:ext>
            </a:extLst>
          </p:cNvPr>
          <p:cNvGrpSpPr/>
          <p:nvPr/>
        </p:nvGrpSpPr>
        <p:grpSpPr>
          <a:xfrm>
            <a:off x="3728839" y="1084861"/>
            <a:ext cx="366713" cy="266676"/>
            <a:chOff x="2760098" y="1097937"/>
            <a:chExt cx="366713" cy="266676"/>
          </a:xfrm>
        </p:grpSpPr>
        <p:sp>
          <p:nvSpPr>
            <p:cNvPr id="65" name="Rectangle: Rounded Corners 64">
              <a:extLst>
                <a:ext uri="{FF2B5EF4-FFF2-40B4-BE49-F238E27FC236}">
                  <a16:creationId xmlns:a16="http://schemas.microsoft.com/office/drawing/2014/main" id="{CBA3BC2D-D813-4398-945D-C11F5FD40B2F}"/>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70" name="Rectangle 69">
              <a:extLst>
                <a:ext uri="{FF2B5EF4-FFF2-40B4-BE49-F238E27FC236}">
                  <a16:creationId xmlns:a16="http://schemas.microsoft.com/office/drawing/2014/main" id="{EF5A7E58-73B0-4A2C-BD8C-1B36A102DB0F}"/>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71" name="Rectangle 70">
              <a:extLst>
                <a:ext uri="{FF2B5EF4-FFF2-40B4-BE49-F238E27FC236}">
                  <a16:creationId xmlns:a16="http://schemas.microsoft.com/office/drawing/2014/main" id="{735940AC-3E0D-4CFB-B88C-1252340A7258}"/>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grpSp>
      <p:grpSp>
        <p:nvGrpSpPr>
          <p:cNvPr id="73" name="Group 72">
            <a:extLst>
              <a:ext uri="{FF2B5EF4-FFF2-40B4-BE49-F238E27FC236}">
                <a16:creationId xmlns:a16="http://schemas.microsoft.com/office/drawing/2014/main" id="{2FD5BAA5-C3E5-47F2-B6BB-8A19E0D03DFE}"/>
              </a:ext>
            </a:extLst>
          </p:cNvPr>
          <p:cNvGrpSpPr/>
          <p:nvPr/>
        </p:nvGrpSpPr>
        <p:grpSpPr>
          <a:xfrm>
            <a:off x="6509322" y="1855159"/>
            <a:ext cx="366713" cy="266676"/>
            <a:chOff x="2760098" y="1097937"/>
            <a:chExt cx="366713" cy="266676"/>
          </a:xfrm>
        </p:grpSpPr>
        <p:sp>
          <p:nvSpPr>
            <p:cNvPr id="74" name="Rectangle: Rounded Corners 73">
              <a:extLst>
                <a:ext uri="{FF2B5EF4-FFF2-40B4-BE49-F238E27FC236}">
                  <a16:creationId xmlns:a16="http://schemas.microsoft.com/office/drawing/2014/main" id="{9FB59C2F-8D13-4E77-B9B3-ABEDDD1D1C73}"/>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75" name="Rectangle 74">
              <a:extLst>
                <a:ext uri="{FF2B5EF4-FFF2-40B4-BE49-F238E27FC236}">
                  <a16:creationId xmlns:a16="http://schemas.microsoft.com/office/drawing/2014/main" id="{A460852C-18CD-4D3F-9D19-BC3331CB5F54}"/>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76" name="Rectangle 75">
              <a:extLst>
                <a:ext uri="{FF2B5EF4-FFF2-40B4-BE49-F238E27FC236}">
                  <a16:creationId xmlns:a16="http://schemas.microsoft.com/office/drawing/2014/main" id="{7306E292-86A8-4D6F-AAF0-01E6B615752A}"/>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grpSp>
      <p:grpSp>
        <p:nvGrpSpPr>
          <p:cNvPr id="77" name="Group 76">
            <a:extLst>
              <a:ext uri="{FF2B5EF4-FFF2-40B4-BE49-F238E27FC236}">
                <a16:creationId xmlns:a16="http://schemas.microsoft.com/office/drawing/2014/main" id="{4051E1B8-39FB-43F6-81C9-6281C08EE84F}"/>
              </a:ext>
            </a:extLst>
          </p:cNvPr>
          <p:cNvGrpSpPr/>
          <p:nvPr/>
        </p:nvGrpSpPr>
        <p:grpSpPr>
          <a:xfrm>
            <a:off x="8431802" y="2862846"/>
            <a:ext cx="366713" cy="266676"/>
            <a:chOff x="2760098" y="1097937"/>
            <a:chExt cx="366713" cy="266676"/>
          </a:xfrm>
        </p:grpSpPr>
        <p:sp>
          <p:nvSpPr>
            <p:cNvPr id="78" name="Rectangle: Rounded Corners 77">
              <a:extLst>
                <a:ext uri="{FF2B5EF4-FFF2-40B4-BE49-F238E27FC236}">
                  <a16:creationId xmlns:a16="http://schemas.microsoft.com/office/drawing/2014/main" id="{2F21C2DF-1F9C-4E4A-B2F1-F41C97B7E732}"/>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79" name="Rectangle 78">
              <a:extLst>
                <a:ext uri="{FF2B5EF4-FFF2-40B4-BE49-F238E27FC236}">
                  <a16:creationId xmlns:a16="http://schemas.microsoft.com/office/drawing/2014/main" id="{7C92C4CD-FCAD-4462-A0AE-04253EB0474E}"/>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80" name="Rectangle 79">
              <a:extLst>
                <a:ext uri="{FF2B5EF4-FFF2-40B4-BE49-F238E27FC236}">
                  <a16:creationId xmlns:a16="http://schemas.microsoft.com/office/drawing/2014/main" id="{F4A4FC08-8615-496F-BC94-D90C71A2E2C3}"/>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grpSp>
      <p:grpSp>
        <p:nvGrpSpPr>
          <p:cNvPr id="93" name="Group 92">
            <a:extLst>
              <a:ext uri="{FF2B5EF4-FFF2-40B4-BE49-F238E27FC236}">
                <a16:creationId xmlns:a16="http://schemas.microsoft.com/office/drawing/2014/main" id="{61C76972-09C5-411A-B8E4-D9F6C98D092C}"/>
              </a:ext>
            </a:extLst>
          </p:cNvPr>
          <p:cNvGrpSpPr/>
          <p:nvPr/>
        </p:nvGrpSpPr>
        <p:grpSpPr>
          <a:xfrm>
            <a:off x="7684680" y="3614584"/>
            <a:ext cx="552450" cy="690562"/>
            <a:chOff x="3603122" y="2443163"/>
            <a:chExt cx="552450" cy="690562"/>
          </a:xfrm>
          <a:solidFill>
            <a:schemeClr val="accent2">
              <a:lumMod val="25000"/>
              <a:lumOff val="75000"/>
            </a:schemeClr>
          </a:solidFill>
        </p:grpSpPr>
        <p:sp>
          <p:nvSpPr>
            <p:cNvPr id="94" name="Rectangle 93">
              <a:extLst>
                <a:ext uri="{FF2B5EF4-FFF2-40B4-BE49-F238E27FC236}">
                  <a16:creationId xmlns:a16="http://schemas.microsoft.com/office/drawing/2014/main" id="{12537B53-78F4-4CE8-94E4-FD8B6E984E41}"/>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r>
                <a:rPr lang="en-US">
                  <a:solidFill>
                    <a:srgbClr val="000000"/>
                  </a:solidFill>
                  <a:latin typeface="Arial"/>
                </a:rPr>
                <a:t>??</a:t>
              </a:r>
            </a:p>
          </p:txBody>
        </p:sp>
        <p:cxnSp>
          <p:nvCxnSpPr>
            <p:cNvPr id="95" name="Straight Connector 94">
              <a:extLst>
                <a:ext uri="{FF2B5EF4-FFF2-40B4-BE49-F238E27FC236}">
                  <a16:creationId xmlns:a16="http://schemas.microsoft.com/office/drawing/2014/main" id="{A9536DC7-BDBD-4F91-9B43-33EF99D17C22}"/>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ABEA9545-C879-4641-880C-54B6F524538D}"/>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85" name="Group 84">
            <a:extLst>
              <a:ext uri="{FF2B5EF4-FFF2-40B4-BE49-F238E27FC236}">
                <a16:creationId xmlns:a16="http://schemas.microsoft.com/office/drawing/2014/main" id="{5011CCDF-A14E-49E1-BF4F-09877B5D1195}"/>
              </a:ext>
            </a:extLst>
          </p:cNvPr>
          <p:cNvGrpSpPr/>
          <p:nvPr/>
        </p:nvGrpSpPr>
        <p:grpSpPr>
          <a:xfrm>
            <a:off x="7684680" y="3614584"/>
            <a:ext cx="552450" cy="690562"/>
            <a:chOff x="3603122" y="2443163"/>
            <a:chExt cx="552450" cy="690562"/>
          </a:xfrm>
        </p:grpSpPr>
        <p:sp>
          <p:nvSpPr>
            <p:cNvPr id="86" name="Rectangle 85">
              <a:extLst>
                <a:ext uri="{FF2B5EF4-FFF2-40B4-BE49-F238E27FC236}">
                  <a16:creationId xmlns:a16="http://schemas.microsoft.com/office/drawing/2014/main" id="{28EDAA69-F572-44EE-89D2-BE816106B259}"/>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87" name="Straight Connector 86">
              <a:extLst>
                <a:ext uri="{FF2B5EF4-FFF2-40B4-BE49-F238E27FC236}">
                  <a16:creationId xmlns:a16="http://schemas.microsoft.com/office/drawing/2014/main" id="{0E7377C6-9A0A-4D57-BE7F-88EC05EF3F5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3C606E5-EDEE-4551-9B65-F9D50ECF8BD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1" name="Group 100">
            <a:extLst>
              <a:ext uri="{FF2B5EF4-FFF2-40B4-BE49-F238E27FC236}">
                <a16:creationId xmlns:a16="http://schemas.microsoft.com/office/drawing/2014/main" id="{F6DBEE6E-5529-42EE-9A3A-82FDCD33B6A3}"/>
              </a:ext>
            </a:extLst>
          </p:cNvPr>
          <p:cNvGrpSpPr/>
          <p:nvPr/>
        </p:nvGrpSpPr>
        <p:grpSpPr>
          <a:xfrm>
            <a:off x="2387042" y="3809099"/>
            <a:ext cx="1093470" cy="350263"/>
            <a:chOff x="3922148" y="3718559"/>
            <a:chExt cx="1148962" cy="796282"/>
          </a:xfrm>
        </p:grpSpPr>
        <p:sp>
          <p:nvSpPr>
            <p:cNvPr id="98" name="Rectangle 97">
              <a:extLst>
                <a:ext uri="{FF2B5EF4-FFF2-40B4-BE49-F238E27FC236}">
                  <a16:creationId xmlns:a16="http://schemas.microsoft.com/office/drawing/2014/main" id="{8A86107C-A44C-43F2-9687-D79430E7E8BF}"/>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89"/>
              <a:endParaRPr lang="en-US">
                <a:solidFill>
                  <a:srgbClr val="000000"/>
                </a:solidFill>
                <a:latin typeface="Arial"/>
              </a:endParaRPr>
            </a:p>
          </p:txBody>
        </p:sp>
        <p:cxnSp>
          <p:nvCxnSpPr>
            <p:cNvPr id="100" name="Straight Connector 99">
              <a:extLst>
                <a:ext uri="{FF2B5EF4-FFF2-40B4-BE49-F238E27FC236}">
                  <a16:creationId xmlns:a16="http://schemas.microsoft.com/office/drawing/2014/main" id="{FF79EE14-A309-49C1-A349-833BF38EED5E}"/>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2" name="Group 101">
            <a:extLst>
              <a:ext uri="{FF2B5EF4-FFF2-40B4-BE49-F238E27FC236}">
                <a16:creationId xmlns:a16="http://schemas.microsoft.com/office/drawing/2014/main" id="{8484E271-6A8E-4F5F-AD45-007EB6EAA7A2}"/>
              </a:ext>
            </a:extLst>
          </p:cNvPr>
          <p:cNvGrpSpPr/>
          <p:nvPr/>
        </p:nvGrpSpPr>
        <p:grpSpPr>
          <a:xfrm>
            <a:off x="3492833" y="3809100"/>
            <a:ext cx="1093470" cy="350263"/>
            <a:chOff x="3922148" y="3718559"/>
            <a:chExt cx="1148962" cy="796282"/>
          </a:xfrm>
        </p:grpSpPr>
        <p:sp>
          <p:nvSpPr>
            <p:cNvPr id="103" name="Rectangle 102">
              <a:extLst>
                <a:ext uri="{FF2B5EF4-FFF2-40B4-BE49-F238E27FC236}">
                  <a16:creationId xmlns:a16="http://schemas.microsoft.com/office/drawing/2014/main" id="{2DBD04D1-ED56-4FC4-84E5-E8EF69F79DE6}"/>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89"/>
              <a:endParaRPr lang="en-US">
                <a:solidFill>
                  <a:srgbClr val="000000"/>
                </a:solidFill>
                <a:latin typeface="Arial"/>
              </a:endParaRPr>
            </a:p>
          </p:txBody>
        </p:sp>
        <p:cxnSp>
          <p:nvCxnSpPr>
            <p:cNvPr id="104" name="Straight Connector 103">
              <a:extLst>
                <a:ext uri="{FF2B5EF4-FFF2-40B4-BE49-F238E27FC236}">
                  <a16:creationId xmlns:a16="http://schemas.microsoft.com/office/drawing/2014/main" id="{B499C83D-3048-44C7-96B3-3640DE1275E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5" name="Group 104">
            <a:extLst>
              <a:ext uri="{FF2B5EF4-FFF2-40B4-BE49-F238E27FC236}">
                <a16:creationId xmlns:a16="http://schemas.microsoft.com/office/drawing/2014/main" id="{D136CEC1-DFEC-4310-AE68-52AEE6B99B3D}"/>
              </a:ext>
            </a:extLst>
          </p:cNvPr>
          <p:cNvGrpSpPr/>
          <p:nvPr/>
        </p:nvGrpSpPr>
        <p:grpSpPr>
          <a:xfrm>
            <a:off x="1266658" y="3809100"/>
            <a:ext cx="1093470" cy="350263"/>
            <a:chOff x="3922148" y="3718559"/>
            <a:chExt cx="1148962" cy="796282"/>
          </a:xfrm>
        </p:grpSpPr>
        <p:sp>
          <p:nvSpPr>
            <p:cNvPr id="106" name="Rectangle 105">
              <a:extLst>
                <a:ext uri="{FF2B5EF4-FFF2-40B4-BE49-F238E27FC236}">
                  <a16:creationId xmlns:a16="http://schemas.microsoft.com/office/drawing/2014/main" id="{6153724C-447A-4F63-96A3-62100BAB03B1}"/>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89"/>
              <a:endParaRPr lang="en-US">
                <a:solidFill>
                  <a:srgbClr val="000000"/>
                </a:solidFill>
                <a:latin typeface="Arial"/>
              </a:endParaRPr>
            </a:p>
          </p:txBody>
        </p:sp>
        <p:cxnSp>
          <p:nvCxnSpPr>
            <p:cNvPr id="107" name="Straight Connector 106">
              <a:extLst>
                <a:ext uri="{FF2B5EF4-FFF2-40B4-BE49-F238E27FC236}">
                  <a16:creationId xmlns:a16="http://schemas.microsoft.com/office/drawing/2014/main" id="{9582E063-9075-4A54-AD0D-81D325583CFB}"/>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108" name="TextBox 107">
            <a:extLst>
              <a:ext uri="{FF2B5EF4-FFF2-40B4-BE49-F238E27FC236}">
                <a16:creationId xmlns:a16="http://schemas.microsoft.com/office/drawing/2014/main" id="{687DD290-F912-431C-867C-4017B58728BF}"/>
              </a:ext>
            </a:extLst>
          </p:cNvPr>
          <p:cNvSpPr txBox="1"/>
          <p:nvPr/>
        </p:nvSpPr>
        <p:spPr>
          <a:xfrm>
            <a:off x="1453175" y="4426831"/>
            <a:ext cx="2027338" cy="646331"/>
          </a:xfrm>
          <a:prstGeom prst="rect">
            <a:avLst/>
          </a:prstGeom>
          <a:noFill/>
        </p:spPr>
        <p:txBody>
          <a:bodyPr wrap="square" rtlCol="0">
            <a:spAutoFit/>
          </a:bodyPr>
          <a:lstStyle/>
          <a:p>
            <a:pPr algn="ctr" defTabSz="457189"/>
            <a:r>
              <a:rPr lang="en-US" dirty="0">
                <a:solidFill>
                  <a:srgbClr val="000000"/>
                </a:solidFill>
                <a:latin typeface="Arial"/>
              </a:rPr>
              <a:t>SPTFF or</a:t>
            </a:r>
          </a:p>
          <a:p>
            <a:pPr algn="ctr" defTabSz="457189"/>
            <a:r>
              <a:rPr lang="en-US" dirty="0">
                <a:solidFill>
                  <a:srgbClr val="000000"/>
                </a:solidFill>
                <a:latin typeface="Arial"/>
              </a:rPr>
              <a:t>UF/DF</a:t>
            </a:r>
          </a:p>
        </p:txBody>
      </p:sp>
      <p:sp>
        <p:nvSpPr>
          <p:cNvPr id="109" name="TextBox 108">
            <a:extLst>
              <a:ext uri="{FF2B5EF4-FFF2-40B4-BE49-F238E27FC236}">
                <a16:creationId xmlns:a16="http://schemas.microsoft.com/office/drawing/2014/main" id="{2301B265-D50B-4094-8C27-A4E4ED3F7EC6}"/>
              </a:ext>
            </a:extLst>
          </p:cNvPr>
          <p:cNvSpPr txBox="1"/>
          <p:nvPr/>
        </p:nvSpPr>
        <p:spPr>
          <a:xfrm>
            <a:off x="4050986" y="2637565"/>
            <a:ext cx="1030851" cy="369332"/>
          </a:xfrm>
          <a:prstGeom prst="rect">
            <a:avLst/>
          </a:prstGeom>
          <a:noFill/>
        </p:spPr>
        <p:txBody>
          <a:bodyPr wrap="square" rtlCol="0">
            <a:spAutoFit/>
          </a:bodyPr>
          <a:lstStyle/>
          <a:p>
            <a:pPr algn="ctr" defTabSz="457189"/>
            <a:r>
              <a:rPr lang="en-US">
                <a:solidFill>
                  <a:srgbClr val="000000"/>
                </a:solidFill>
                <a:latin typeface="Arial"/>
              </a:rPr>
              <a:t>Capture</a:t>
            </a:r>
          </a:p>
        </p:txBody>
      </p:sp>
      <p:sp>
        <p:nvSpPr>
          <p:cNvPr id="110" name="TextBox 109">
            <a:extLst>
              <a:ext uri="{FF2B5EF4-FFF2-40B4-BE49-F238E27FC236}">
                <a16:creationId xmlns:a16="http://schemas.microsoft.com/office/drawing/2014/main" id="{A604C147-369B-421D-8900-39DBCA1CE361}"/>
              </a:ext>
            </a:extLst>
          </p:cNvPr>
          <p:cNvSpPr txBox="1"/>
          <p:nvPr/>
        </p:nvSpPr>
        <p:spPr>
          <a:xfrm>
            <a:off x="6663613" y="2286794"/>
            <a:ext cx="1243274" cy="646331"/>
          </a:xfrm>
          <a:prstGeom prst="rect">
            <a:avLst/>
          </a:prstGeom>
          <a:noFill/>
        </p:spPr>
        <p:txBody>
          <a:bodyPr wrap="square" rtlCol="0">
            <a:spAutoFit/>
          </a:bodyPr>
          <a:lstStyle/>
          <a:p>
            <a:pPr algn="ctr" defTabSz="457189"/>
            <a:r>
              <a:rPr lang="en-US">
                <a:solidFill>
                  <a:srgbClr val="000000"/>
                </a:solidFill>
                <a:latin typeface="Arial"/>
              </a:rPr>
              <a:t>Polishing</a:t>
            </a:r>
          </a:p>
          <a:p>
            <a:pPr algn="ctr" defTabSz="457189"/>
            <a:endParaRPr lang="en-US">
              <a:solidFill>
                <a:srgbClr val="000000"/>
              </a:solidFill>
              <a:latin typeface="Arial"/>
            </a:endParaRPr>
          </a:p>
        </p:txBody>
      </p:sp>
      <p:sp>
        <p:nvSpPr>
          <p:cNvPr id="111" name="TextBox 110">
            <a:extLst>
              <a:ext uri="{FF2B5EF4-FFF2-40B4-BE49-F238E27FC236}">
                <a16:creationId xmlns:a16="http://schemas.microsoft.com/office/drawing/2014/main" id="{76339292-FAA6-48F3-8312-5F01227E3F8C}"/>
              </a:ext>
            </a:extLst>
          </p:cNvPr>
          <p:cNvSpPr txBox="1"/>
          <p:nvPr/>
        </p:nvSpPr>
        <p:spPr>
          <a:xfrm>
            <a:off x="6981958" y="4516836"/>
            <a:ext cx="1255173" cy="369332"/>
          </a:xfrm>
          <a:prstGeom prst="rect">
            <a:avLst/>
          </a:prstGeom>
          <a:noFill/>
        </p:spPr>
        <p:txBody>
          <a:bodyPr wrap="square" rtlCol="0">
            <a:spAutoFit/>
          </a:bodyPr>
          <a:lstStyle/>
          <a:p>
            <a:pPr algn="ctr" defTabSz="457189"/>
            <a:r>
              <a:rPr lang="en-US">
                <a:solidFill>
                  <a:srgbClr val="000000"/>
                </a:solidFill>
                <a:latin typeface="Arial"/>
              </a:rPr>
              <a:t>Polishing</a:t>
            </a:r>
          </a:p>
        </p:txBody>
      </p:sp>
      <p:sp>
        <p:nvSpPr>
          <p:cNvPr id="112" name="Rectangle: Rounded Corners 111">
            <a:extLst>
              <a:ext uri="{FF2B5EF4-FFF2-40B4-BE49-F238E27FC236}">
                <a16:creationId xmlns:a16="http://schemas.microsoft.com/office/drawing/2014/main" id="{D9215188-581C-44BB-B37B-9D5C5B242A4A}"/>
              </a:ext>
            </a:extLst>
          </p:cNvPr>
          <p:cNvSpPr/>
          <p:nvPr/>
        </p:nvSpPr>
        <p:spPr>
          <a:xfrm>
            <a:off x="225954" y="3516408"/>
            <a:ext cx="759169" cy="8931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116" name="Connector: Elbow 115">
            <a:extLst>
              <a:ext uri="{FF2B5EF4-FFF2-40B4-BE49-F238E27FC236}">
                <a16:creationId xmlns:a16="http://schemas.microsoft.com/office/drawing/2014/main" id="{3B8800BE-A315-4357-AE00-661DBCCC9E80}"/>
              </a:ext>
            </a:extLst>
          </p:cNvPr>
          <p:cNvCxnSpPr>
            <a:cxnSpLocks/>
            <a:stCxn id="86" idx="2"/>
            <a:endCxn id="137" idx="0"/>
          </p:cNvCxnSpPr>
          <p:nvPr/>
        </p:nvCxnSpPr>
        <p:spPr>
          <a:xfrm rot="5400000" flipH="1">
            <a:off x="6700460" y="3044701"/>
            <a:ext cx="401904" cy="2118986"/>
          </a:xfrm>
          <a:prstGeom prst="bentConnector5">
            <a:avLst>
              <a:gd name="adj1" fmla="val -56879"/>
              <a:gd name="adj2" fmla="val 49270"/>
              <a:gd name="adj3" fmla="val 15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8" name="Connector: Elbow 117">
            <a:extLst>
              <a:ext uri="{FF2B5EF4-FFF2-40B4-BE49-F238E27FC236}">
                <a16:creationId xmlns:a16="http://schemas.microsoft.com/office/drawing/2014/main" id="{D5338D1A-40CD-450E-89F4-7DCC740AD8E1}"/>
              </a:ext>
            </a:extLst>
          </p:cNvPr>
          <p:cNvCxnSpPr>
            <a:cxnSpLocks/>
            <a:stCxn id="103" idx="0"/>
            <a:endCxn id="98" idx="0"/>
          </p:cNvCxnSpPr>
          <p:nvPr/>
        </p:nvCxnSpPr>
        <p:spPr>
          <a:xfrm rot="16200000" flipV="1">
            <a:off x="3486674" y="3256204"/>
            <a:ext cx="1" cy="1105791"/>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Connector: Elbow 119">
            <a:extLst>
              <a:ext uri="{FF2B5EF4-FFF2-40B4-BE49-F238E27FC236}">
                <a16:creationId xmlns:a16="http://schemas.microsoft.com/office/drawing/2014/main" id="{B27572D0-3B94-4482-BC56-74A3BC298285}"/>
              </a:ext>
            </a:extLst>
          </p:cNvPr>
          <p:cNvCxnSpPr>
            <a:cxnSpLocks/>
            <a:stCxn id="98" idx="2"/>
            <a:endCxn id="106" idx="2"/>
          </p:cNvCxnSpPr>
          <p:nvPr/>
        </p:nvCxnSpPr>
        <p:spPr>
          <a:xfrm rot="5400000">
            <a:off x="2373586" y="3599169"/>
            <a:ext cx="1" cy="1120384"/>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2" name="Connector: Elbow 121">
            <a:extLst>
              <a:ext uri="{FF2B5EF4-FFF2-40B4-BE49-F238E27FC236}">
                <a16:creationId xmlns:a16="http://schemas.microsoft.com/office/drawing/2014/main" id="{80952DFF-1980-48EC-9EAE-5672ACB3FF19}"/>
              </a:ext>
            </a:extLst>
          </p:cNvPr>
          <p:cNvCxnSpPr>
            <a:cxnSpLocks/>
            <a:stCxn id="106" idx="0"/>
            <a:endCxn id="112" idx="0"/>
          </p:cNvCxnSpPr>
          <p:nvPr/>
        </p:nvCxnSpPr>
        <p:spPr>
          <a:xfrm rot="16200000" flipV="1">
            <a:off x="1063122" y="3058827"/>
            <a:ext cx="292691" cy="1207855"/>
          </a:xfrm>
          <a:prstGeom prst="bentConnector3">
            <a:avLst>
              <a:gd name="adj1" fmla="val 17810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973D54AA-A749-4520-A3E3-AEBA6125C47B}"/>
              </a:ext>
            </a:extLst>
          </p:cNvPr>
          <p:cNvSpPr txBox="1"/>
          <p:nvPr/>
        </p:nvSpPr>
        <p:spPr>
          <a:xfrm>
            <a:off x="4724401" y="4696731"/>
            <a:ext cx="1030851" cy="369332"/>
          </a:xfrm>
          <a:prstGeom prst="rect">
            <a:avLst/>
          </a:prstGeom>
          <a:noFill/>
        </p:spPr>
        <p:txBody>
          <a:bodyPr wrap="square" rtlCol="0">
            <a:spAutoFit/>
          </a:bodyPr>
          <a:lstStyle/>
          <a:p>
            <a:pPr algn="ctr" defTabSz="457189"/>
            <a:r>
              <a:rPr lang="en-US">
                <a:solidFill>
                  <a:srgbClr val="000000"/>
                </a:solidFill>
                <a:latin typeface="Arial"/>
              </a:rPr>
              <a:t>VRF</a:t>
            </a:r>
          </a:p>
        </p:txBody>
      </p:sp>
      <p:grpSp>
        <p:nvGrpSpPr>
          <p:cNvPr id="131" name="Group 130">
            <a:extLst>
              <a:ext uri="{FF2B5EF4-FFF2-40B4-BE49-F238E27FC236}">
                <a16:creationId xmlns:a16="http://schemas.microsoft.com/office/drawing/2014/main" id="{873AD296-C673-4723-AD9F-6CFAEFBA63A3}"/>
              </a:ext>
            </a:extLst>
          </p:cNvPr>
          <p:cNvGrpSpPr/>
          <p:nvPr/>
        </p:nvGrpSpPr>
        <p:grpSpPr>
          <a:xfrm>
            <a:off x="4935101" y="3514681"/>
            <a:ext cx="490926" cy="893126"/>
            <a:chOff x="3922148" y="3718559"/>
            <a:chExt cx="1148962" cy="796282"/>
          </a:xfrm>
        </p:grpSpPr>
        <p:sp>
          <p:nvSpPr>
            <p:cNvPr id="132" name="Rectangle 131">
              <a:extLst>
                <a:ext uri="{FF2B5EF4-FFF2-40B4-BE49-F238E27FC236}">
                  <a16:creationId xmlns:a16="http://schemas.microsoft.com/office/drawing/2014/main" id="{3B8AE44B-DE96-4690-87DF-87C2472A463B}"/>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89"/>
              <a:endParaRPr lang="en-US">
                <a:solidFill>
                  <a:srgbClr val="000000"/>
                </a:solidFill>
                <a:latin typeface="Arial"/>
              </a:endParaRPr>
            </a:p>
          </p:txBody>
        </p:sp>
        <p:cxnSp>
          <p:nvCxnSpPr>
            <p:cNvPr id="133" name="Straight Connector 132">
              <a:extLst>
                <a:ext uri="{FF2B5EF4-FFF2-40B4-BE49-F238E27FC236}">
                  <a16:creationId xmlns:a16="http://schemas.microsoft.com/office/drawing/2014/main" id="{A1591214-714B-41B8-B599-171BF4A813C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36" name="Group 135">
            <a:extLst>
              <a:ext uri="{FF2B5EF4-FFF2-40B4-BE49-F238E27FC236}">
                <a16:creationId xmlns:a16="http://schemas.microsoft.com/office/drawing/2014/main" id="{8D157B4C-93A0-4E03-892D-574AA49021A5}"/>
              </a:ext>
            </a:extLst>
          </p:cNvPr>
          <p:cNvGrpSpPr/>
          <p:nvPr/>
        </p:nvGrpSpPr>
        <p:grpSpPr>
          <a:xfrm>
            <a:off x="5658562" y="3903242"/>
            <a:ext cx="366713" cy="266676"/>
            <a:chOff x="2760098" y="1097937"/>
            <a:chExt cx="366713" cy="266676"/>
          </a:xfrm>
        </p:grpSpPr>
        <p:sp>
          <p:nvSpPr>
            <p:cNvPr id="137" name="Rectangle: Rounded Corners 136">
              <a:extLst>
                <a:ext uri="{FF2B5EF4-FFF2-40B4-BE49-F238E27FC236}">
                  <a16:creationId xmlns:a16="http://schemas.microsoft.com/office/drawing/2014/main" id="{445F9076-4870-4F33-9657-E061A59029E9}"/>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138" name="Rectangle 137">
              <a:extLst>
                <a:ext uri="{FF2B5EF4-FFF2-40B4-BE49-F238E27FC236}">
                  <a16:creationId xmlns:a16="http://schemas.microsoft.com/office/drawing/2014/main" id="{4EBCFAB8-829B-40BA-85D2-6B893B909D73}"/>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sp>
          <p:nvSpPr>
            <p:cNvPr id="139" name="Rectangle 138">
              <a:extLst>
                <a:ext uri="{FF2B5EF4-FFF2-40B4-BE49-F238E27FC236}">
                  <a16:creationId xmlns:a16="http://schemas.microsoft.com/office/drawing/2014/main" id="{5D00FAEA-D291-46A0-9A59-2C21416B817C}"/>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grpSp>
      <p:cxnSp>
        <p:nvCxnSpPr>
          <p:cNvPr id="142" name="Connector: Elbow 141">
            <a:extLst>
              <a:ext uri="{FF2B5EF4-FFF2-40B4-BE49-F238E27FC236}">
                <a16:creationId xmlns:a16="http://schemas.microsoft.com/office/drawing/2014/main" id="{CC0BE4FD-F84E-4DF9-A88F-0B808A97F2F1}"/>
              </a:ext>
            </a:extLst>
          </p:cNvPr>
          <p:cNvCxnSpPr>
            <a:stCxn id="139" idx="2"/>
            <a:endCxn id="132" idx="2"/>
          </p:cNvCxnSpPr>
          <p:nvPr/>
        </p:nvCxnSpPr>
        <p:spPr>
          <a:xfrm rot="5400000">
            <a:off x="5392299" y="3958186"/>
            <a:ext cx="237889" cy="661355"/>
          </a:xfrm>
          <a:prstGeom prst="bentConnector3">
            <a:avLst>
              <a:gd name="adj1" fmla="val 19609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4" name="Connector: Elbow 143">
            <a:extLst>
              <a:ext uri="{FF2B5EF4-FFF2-40B4-BE49-F238E27FC236}">
                <a16:creationId xmlns:a16="http://schemas.microsoft.com/office/drawing/2014/main" id="{0D569C7A-3C32-4A1F-8410-B06E7855AD94}"/>
              </a:ext>
            </a:extLst>
          </p:cNvPr>
          <p:cNvCxnSpPr>
            <a:cxnSpLocks/>
            <a:stCxn id="132" idx="0"/>
            <a:endCxn id="103" idx="3"/>
          </p:cNvCxnSpPr>
          <p:nvPr/>
        </p:nvCxnSpPr>
        <p:spPr>
          <a:xfrm rot="16200000" flipH="1" flipV="1">
            <a:off x="4648660" y="3452326"/>
            <a:ext cx="469549" cy="594261"/>
          </a:xfrm>
          <a:prstGeom prst="bentConnector4">
            <a:avLst>
              <a:gd name="adj1" fmla="val -48685"/>
              <a:gd name="adj2" fmla="val 7065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1CCA6975-E1E5-4FF1-9B1A-C652510EDF3D}"/>
              </a:ext>
            </a:extLst>
          </p:cNvPr>
          <p:cNvSpPr/>
          <p:nvPr/>
        </p:nvSpPr>
        <p:spPr>
          <a:xfrm>
            <a:off x="1646526" y="1292128"/>
            <a:ext cx="1363088" cy="646331"/>
          </a:xfrm>
          <a:prstGeom prst="rect">
            <a:avLst/>
          </a:prstGeom>
        </p:spPr>
        <p:txBody>
          <a:bodyPr wrap="square">
            <a:spAutoFit/>
          </a:bodyPr>
          <a:lstStyle/>
          <a:p>
            <a:pPr algn="ctr" defTabSz="457189"/>
            <a:r>
              <a:rPr lang="en-US" dirty="0">
                <a:solidFill>
                  <a:srgbClr val="FFFFFF"/>
                </a:solidFill>
                <a:latin typeface="Arial"/>
              </a:rPr>
              <a:t>4x2kL Bioreactors</a:t>
            </a:r>
          </a:p>
        </p:txBody>
      </p:sp>
      <p:sp>
        <p:nvSpPr>
          <p:cNvPr id="126" name="Rectangle 125">
            <a:extLst>
              <a:ext uri="{FF2B5EF4-FFF2-40B4-BE49-F238E27FC236}">
                <a16:creationId xmlns:a16="http://schemas.microsoft.com/office/drawing/2014/main" id="{ABB72E90-74EE-4454-A98C-AB22B9D8F394}"/>
              </a:ext>
            </a:extLst>
          </p:cNvPr>
          <p:cNvSpPr/>
          <p:nvPr/>
        </p:nvSpPr>
        <p:spPr>
          <a:xfrm>
            <a:off x="244129" y="3458225"/>
            <a:ext cx="728892" cy="923330"/>
          </a:xfrm>
          <a:prstGeom prst="rect">
            <a:avLst/>
          </a:prstGeom>
        </p:spPr>
        <p:txBody>
          <a:bodyPr wrap="square">
            <a:spAutoFit/>
          </a:bodyPr>
          <a:lstStyle/>
          <a:p>
            <a:pPr defTabSz="457189"/>
            <a:r>
              <a:rPr lang="en-US" dirty="0">
                <a:solidFill>
                  <a:srgbClr val="FFFFFF"/>
                </a:solidFill>
                <a:latin typeface="Arial"/>
              </a:rPr>
              <a:t>120-500kg</a:t>
            </a:r>
          </a:p>
        </p:txBody>
      </p:sp>
      <p:cxnSp>
        <p:nvCxnSpPr>
          <p:cNvPr id="14" name="Connector: Elbow 13">
            <a:extLst>
              <a:ext uri="{FF2B5EF4-FFF2-40B4-BE49-F238E27FC236}">
                <a16:creationId xmlns:a16="http://schemas.microsoft.com/office/drawing/2014/main" id="{F491BA7D-5004-4D11-9D1E-50BAF08CF8DA}"/>
              </a:ext>
            </a:extLst>
          </p:cNvPr>
          <p:cNvCxnSpPr>
            <a:cxnSpLocks/>
            <a:endCxn id="74" idx="0"/>
          </p:cNvCxnSpPr>
          <p:nvPr/>
        </p:nvCxnSpPr>
        <p:spPr>
          <a:xfrm flipV="1">
            <a:off x="6256196" y="1855159"/>
            <a:ext cx="436482" cy="181104"/>
          </a:xfrm>
          <a:prstGeom prst="bentConnector4">
            <a:avLst>
              <a:gd name="adj1" fmla="val 33449"/>
              <a:gd name="adj2" fmla="val 31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F7A523B8-94FE-42A1-9F95-C11D95554B7E}"/>
              </a:ext>
            </a:extLst>
          </p:cNvPr>
          <p:cNvCxnSpPr>
            <a:stCxn id="74" idx="3"/>
            <a:endCxn id="46" idx="0"/>
          </p:cNvCxnSpPr>
          <p:nvPr/>
        </p:nvCxnSpPr>
        <p:spPr>
          <a:xfrm flipV="1">
            <a:off x="6876035" y="1625764"/>
            <a:ext cx="1084870" cy="362733"/>
          </a:xfrm>
          <a:prstGeom prst="bentConnector4">
            <a:avLst>
              <a:gd name="adj1" fmla="val 42976"/>
              <a:gd name="adj2" fmla="val 16302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0F83D2BD-307C-4F4E-B6E7-1A9BEEC744BC}"/>
              </a:ext>
            </a:extLst>
          </p:cNvPr>
          <p:cNvSpPr txBox="1"/>
          <p:nvPr/>
        </p:nvSpPr>
        <p:spPr>
          <a:xfrm>
            <a:off x="5210116" y="2164808"/>
            <a:ext cx="1576490" cy="646331"/>
          </a:xfrm>
          <a:prstGeom prst="rect">
            <a:avLst/>
          </a:prstGeom>
          <a:noFill/>
        </p:spPr>
        <p:txBody>
          <a:bodyPr wrap="square" rtlCol="0">
            <a:spAutoFit/>
          </a:bodyPr>
          <a:lstStyle/>
          <a:p>
            <a:pPr algn="ctr" defTabSz="457189"/>
            <a:r>
              <a:rPr lang="en-US">
                <a:solidFill>
                  <a:srgbClr val="000000"/>
                </a:solidFill>
                <a:latin typeface="Arial"/>
              </a:rPr>
              <a:t>Virus Inactivation</a:t>
            </a:r>
          </a:p>
        </p:txBody>
      </p:sp>
      <p:cxnSp>
        <p:nvCxnSpPr>
          <p:cNvPr id="16" name="Straight Arrow Connector 15">
            <a:extLst>
              <a:ext uri="{FF2B5EF4-FFF2-40B4-BE49-F238E27FC236}">
                <a16:creationId xmlns:a16="http://schemas.microsoft.com/office/drawing/2014/main" id="{DC03BA69-01CE-4778-9B6D-422E1453BD6A}"/>
              </a:ext>
            </a:extLst>
          </p:cNvPr>
          <p:cNvCxnSpPr>
            <a:cxnSpLocks/>
          </p:cNvCxnSpPr>
          <p:nvPr/>
        </p:nvCxnSpPr>
        <p:spPr>
          <a:xfrm>
            <a:off x="8611607" y="3043950"/>
            <a:ext cx="7102" cy="57063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5F77AEC-C950-479C-9A5F-577972477EF5}"/>
              </a:ext>
            </a:extLst>
          </p:cNvPr>
          <p:cNvCxnSpPr>
            <a:cxnSpLocks/>
          </p:cNvCxnSpPr>
          <p:nvPr/>
        </p:nvCxnSpPr>
        <p:spPr>
          <a:xfrm>
            <a:off x="8611606" y="2316326"/>
            <a:ext cx="7104" cy="54652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6E42AD39-3835-4C14-8257-1D137DE93A93}"/>
              </a:ext>
            </a:extLst>
          </p:cNvPr>
          <p:cNvSpPr txBox="1"/>
          <p:nvPr/>
        </p:nvSpPr>
        <p:spPr>
          <a:xfrm>
            <a:off x="936213" y="830718"/>
            <a:ext cx="665567" cy="300082"/>
          </a:xfrm>
          <a:prstGeom prst="rect">
            <a:avLst/>
          </a:prstGeom>
          <a:noFill/>
        </p:spPr>
        <p:txBody>
          <a:bodyPr wrap="none" rtlCol="0">
            <a:spAutoFit/>
          </a:bodyPr>
          <a:lstStyle/>
          <a:p>
            <a:pPr defTabSz="457189"/>
            <a:r>
              <a:rPr lang="en-US" sz="1350">
                <a:solidFill>
                  <a:srgbClr val="000000"/>
                </a:solidFill>
                <a:latin typeface="Arial"/>
              </a:rPr>
              <a:t>Feeds</a:t>
            </a:r>
          </a:p>
        </p:txBody>
      </p:sp>
      <p:cxnSp>
        <p:nvCxnSpPr>
          <p:cNvPr id="141" name="Connector: Elbow 140">
            <a:extLst>
              <a:ext uri="{FF2B5EF4-FFF2-40B4-BE49-F238E27FC236}">
                <a16:creationId xmlns:a16="http://schemas.microsoft.com/office/drawing/2014/main" id="{ADB6AB38-73C9-4228-A782-DC32A5395C1A}"/>
              </a:ext>
            </a:extLst>
          </p:cNvPr>
          <p:cNvCxnSpPr>
            <a:cxnSpLocks/>
          </p:cNvCxnSpPr>
          <p:nvPr/>
        </p:nvCxnSpPr>
        <p:spPr>
          <a:xfrm>
            <a:off x="1798154" y="1027753"/>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 name="Title 6">
            <a:extLst>
              <a:ext uri="{FF2B5EF4-FFF2-40B4-BE49-F238E27FC236}">
                <a16:creationId xmlns:a16="http://schemas.microsoft.com/office/drawing/2014/main" id="{B3465F7A-BEA2-40FF-8ECE-78B8CD551E05}"/>
              </a:ext>
            </a:extLst>
          </p:cNvPr>
          <p:cNvSpPr>
            <a:spLocks noGrp="1"/>
          </p:cNvSpPr>
          <p:nvPr>
            <p:ph type="title"/>
          </p:nvPr>
        </p:nvSpPr>
        <p:spPr>
          <a:xfrm>
            <a:off x="148856" y="144000"/>
            <a:ext cx="8853857" cy="504000"/>
          </a:xfrm>
        </p:spPr>
        <p:txBody>
          <a:bodyPr/>
          <a:lstStyle/>
          <a:p>
            <a:r>
              <a:rPr lang="en-US" dirty="0"/>
              <a:t>Common Framework for Equipment and Facility Design</a:t>
            </a:r>
          </a:p>
        </p:txBody>
      </p:sp>
      <p:sp>
        <p:nvSpPr>
          <p:cNvPr id="11" name="Rectangle: Rounded Corners 10">
            <a:extLst>
              <a:ext uri="{FF2B5EF4-FFF2-40B4-BE49-F238E27FC236}">
                <a16:creationId xmlns:a16="http://schemas.microsoft.com/office/drawing/2014/main" id="{A5B193FD-3087-432B-9F23-8CB7A4269C69}"/>
              </a:ext>
            </a:extLst>
          </p:cNvPr>
          <p:cNvSpPr/>
          <p:nvPr/>
        </p:nvSpPr>
        <p:spPr>
          <a:xfrm>
            <a:off x="90041" y="2215423"/>
            <a:ext cx="745191" cy="5874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500L</a:t>
            </a:r>
          </a:p>
        </p:txBody>
      </p:sp>
      <p:sp>
        <p:nvSpPr>
          <p:cNvPr id="92" name="Rectangle: Rounded Corners 91">
            <a:extLst>
              <a:ext uri="{FF2B5EF4-FFF2-40B4-BE49-F238E27FC236}">
                <a16:creationId xmlns:a16="http://schemas.microsoft.com/office/drawing/2014/main" id="{A2D331C3-7384-426E-AEC8-4CC1A1C23DE4}"/>
              </a:ext>
            </a:extLst>
          </p:cNvPr>
          <p:cNvSpPr/>
          <p:nvPr/>
        </p:nvSpPr>
        <p:spPr>
          <a:xfrm>
            <a:off x="251272" y="1611480"/>
            <a:ext cx="383892" cy="37701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t>100L</a:t>
            </a:r>
          </a:p>
        </p:txBody>
      </p:sp>
      <p:sp>
        <p:nvSpPr>
          <p:cNvPr id="13" name="Rectangle: Rounded Corners 12">
            <a:extLst>
              <a:ext uri="{FF2B5EF4-FFF2-40B4-BE49-F238E27FC236}">
                <a16:creationId xmlns:a16="http://schemas.microsoft.com/office/drawing/2014/main" id="{FDEA6C45-A5DA-448B-ABB8-3571C47FEF60}"/>
              </a:ext>
            </a:extLst>
          </p:cNvPr>
          <p:cNvSpPr/>
          <p:nvPr/>
        </p:nvSpPr>
        <p:spPr>
          <a:xfrm>
            <a:off x="659388" y="1828910"/>
            <a:ext cx="69614" cy="1341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Rectangle: Rounded Corners 96">
            <a:extLst>
              <a:ext uri="{FF2B5EF4-FFF2-40B4-BE49-F238E27FC236}">
                <a16:creationId xmlns:a16="http://schemas.microsoft.com/office/drawing/2014/main" id="{95F067C0-D0F6-4014-A6D2-B8E6A475DBAA}"/>
              </a:ext>
            </a:extLst>
          </p:cNvPr>
          <p:cNvSpPr/>
          <p:nvPr/>
        </p:nvSpPr>
        <p:spPr>
          <a:xfrm>
            <a:off x="851575" y="2513677"/>
            <a:ext cx="78618" cy="2926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6C13F743-3A02-4A0E-BFD7-128E8575E7D5}"/>
              </a:ext>
            </a:extLst>
          </p:cNvPr>
          <p:cNvGrpSpPr/>
          <p:nvPr/>
        </p:nvGrpSpPr>
        <p:grpSpPr>
          <a:xfrm>
            <a:off x="8338933" y="3614584"/>
            <a:ext cx="552450" cy="690562"/>
            <a:chOff x="3603122" y="2443163"/>
            <a:chExt cx="552450" cy="690562"/>
          </a:xfrm>
        </p:grpSpPr>
        <p:sp>
          <p:nvSpPr>
            <p:cNvPr id="113" name="Rectangle 112">
              <a:extLst>
                <a:ext uri="{FF2B5EF4-FFF2-40B4-BE49-F238E27FC236}">
                  <a16:creationId xmlns:a16="http://schemas.microsoft.com/office/drawing/2014/main" id="{FC536352-6819-494D-B25B-2A22FE4C263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114" name="Straight Connector 113">
              <a:extLst>
                <a:ext uri="{FF2B5EF4-FFF2-40B4-BE49-F238E27FC236}">
                  <a16:creationId xmlns:a16="http://schemas.microsoft.com/office/drawing/2014/main" id="{5142B0D5-4A8C-4E4C-9A6B-A72C9248676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8A41BD5C-79A8-4E33-AB52-EB358FF063EC}"/>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36B558DD-C7D5-406F-B10C-1FADA43F099D}"/>
              </a:ext>
            </a:extLst>
          </p:cNvPr>
          <p:cNvGrpSpPr/>
          <p:nvPr/>
        </p:nvGrpSpPr>
        <p:grpSpPr>
          <a:xfrm>
            <a:off x="8338933" y="1625764"/>
            <a:ext cx="552450" cy="690562"/>
            <a:chOff x="3603122" y="2443163"/>
            <a:chExt cx="552450" cy="690562"/>
          </a:xfrm>
        </p:grpSpPr>
        <p:sp>
          <p:nvSpPr>
            <p:cNvPr id="119" name="Rectangle 118">
              <a:extLst>
                <a:ext uri="{FF2B5EF4-FFF2-40B4-BE49-F238E27FC236}">
                  <a16:creationId xmlns:a16="http://schemas.microsoft.com/office/drawing/2014/main" id="{F9101B6D-E0AE-48A7-8063-0B6ECB760696}"/>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srgbClr val="FFFFFF"/>
                </a:solidFill>
                <a:latin typeface="Arial"/>
              </a:endParaRPr>
            </a:p>
          </p:txBody>
        </p:sp>
        <p:cxnSp>
          <p:nvCxnSpPr>
            <p:cNvPr id="121" name="Straight Connector 120">
              <a:extLst>
                <a:ext uri="{FF2B5EF4-FFF2-40B4-BE49-F238E27FC236}">
                  <a16:creationId xmlns:a16="http://schemas.microsoft.com/office/drawing/2014/main" id="{E4779BD7-188F-44B2-942F-C7AFA60DEE1C}"/>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1517EF09-F3DB-459B-B5A3-74EEA1B4E4ED}"/>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230A6CFB-F09A-49C3-A4FB-D194078475B6}"/>
              </a:ext>
            </a:extLst>
          </p:cNvPr>
          <p:cNvSpPr txBox="1"/>
          <p:nvPr/>
        </p:nvSpPr>
        <p:spPr>
          <a:xfrm>
            <a:off x="632605" y="2837093"/>
            <a:ext cx="437940" cy="253916"/>
          </a:xfrm>
          <a:prstGeom prst="rect">
            <a:avLst/>
          </a:prstGeom>
          <a:noFill/>
        </p:spPr>
        <p:txBody>
          <a:bodyPr wrap="none" rtlCol="0">
            <a:spAutoFit/>
          </a:bodyPr>
          <a:lstStyle/>
          <a:p>
            <a:r>
              <a:rPr lang="en-US" sz="1050" dirty="0"/>
              <a:t>ATF</a:t>
            </a:r>
          </a:p>
        </p:txBody>
      </p:sp>
      <p:sp>
        <p:nvSpPr>
          <p:cNvPr id="124" name="TextBox 123">
            <a:extLst>
              <a:ext uri="{FF2B5EF4-FFF2-40B4-BE49-F238E27FC236}">
                <a16:creationId xmlns:a16="http://schemas.microsoft.com/office/drawing/2014/main" id="{0B8071A8-AA98-4A7C-B8A3-39E452E41287}"/>
              </a:ext>
            </a:extLst>
          </p:cNvPr>
          <p:cNvSpPr txBox="1"/>
          <p:nvPr/>
        </p:nvSpPr>
        <p:spPr>
          <a:xfrm>
            <a:off x="460247" y="1936024"/>
            <a:ext cx="437940" cy="253916"/>
          </a:xfrm>
          <a:prstGeom prst="rect">
            <a:avLst/>
          </a:prstGeom>
          <a:noFill/>
        </p:spPr>
        <p:txBody>
          <a:bodyPr wrap="none" rtlCol="0">
            <a:spAutoFit/>
          </a:bodyPr>
          <a:lstStyle/>
          <a:p>
            <a:r>
              <a:rPr lang="en-US" sz="1050" dirty="0"/>
              <a:t>ATF</a:t>
            </a:r>
          </a:p>
        </p:txBody>
      </p:sp>
      <p:cxnSp>
        <p:nvCxnSpPr>
          <p:cNvPr id="31" name="Straight Arrow Connector 30">
            <a:extLst>
              <a:ext uri="{FF2B5EF4-FFF2-40B4-BE49-F238E27FC236}">
                <a16:creationId xmlns:a16="http://schemas.microsoft.com/office/drawing/2014/main" id="{C82503C1-F0E1-474A-B919-E5F29FEABF13}"/>
              </a:ext>
            </a:extLst>
          </p:cNvPr>
          <p:cNvCxnSpPr>
            <a:cxnSpLocks/>
          </p:cNvCxnSpPr>
          <p:nvPr/>
        </p:nvCxnSpPr>
        <p:spPr>
          <a:xfrm>
            <a:off x="5426027" y="1165425"/>
            <a:ext cx="0" cy="82307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7AF8652-1087-48CC-8102-3D3619481BFF}"/>
              </a:ext>
            </a:extLst>
          </p:cNvPr>
          <p:cNvCxnSpPr>
            <a:cxnSpLocks/>
          </p:cNvCxnSpPr>
          <p:nvPr/>
        </p:nvCxnSpPr>
        <p:spPr>
          <a:xfrm flipH="1">
            <a:off x="6509322" y="1084861"/>
            <a:ext cx="2" cy="36849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2203A68-10D3-4C8C-A7D6-33F5ECA158E1}"/>
              </a:ext>
            </a:extLst>
          </p:cNvPr>
          <p:cNvSpPr txBox="1"/>
          <p:nvPr/>
        </p:nvSpPr>
        <p:spPr>
          <a:xfrm>
            <a:off x="5055911" y="796093"/>
            <a:ext cx="1633781" cy="369332"/>
          </a:xfrm>
          <a:prstGeom prst="rect">
            <a:avLst/>
          </a:prstGeom>
          <a:noFill/>
        </p:spPr>
        <p:txBody>
          <a:bodyPr wrap="none" rtlCol="0">
            <a:spAutoFit/>
          </a:bodyPr>
          <a:lstStyle/>
          <a:p>
            <a:r>
              <a:rPr lang="en-US"/>
              <a:t>In-line titration</a:t>
            </a:r>
          </a:p>
        </p:txBody>
      </p:sp>
      <p:sp>
        <p:nvSpPr>
          <p:cNvPr id="38" name="Rectangle 37">
            <a:extLst>
              <a:ext uri="{FF2B5EF4-FFF2-40B4-BE49-F238E27FC236}">
                <a16:creationId xmlns:a16="http://schemas.microsoft.com/office/drawing/2014/main" id="{74F3C48A-39F8-4AFD-8207-298D5F9F70A9}"/>
              </a:ext>
            </a:extLst>
          </p:cNvPr>
          <p:cNvSpPr/>
          <p:nvPr/>
        </p:nvSpPr>
        <p:spPr>
          <a:xfrm>
            <a:off x="5567978" y="1674344"/>
            <a:ext cx="661304" cy="51168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Tank or PFR</a:t>
            </a:r>
          </a:p>
        </p:txBody>
      </p:sp>
      <p:sp>
        <p:nvSpPr>
          <p:cNvPr id="128" name="TextBox 127">
            <a:extLst>
              <a:ext uri="{FF2B5EF4-FFF2-40B4-BE49-F238E27FC236}">
                <a16:creationId xmlns:a16="http://schemas.microsoft.com/office/drawing/2014/main" id="{561A8106-8C05-48C9-A5F3-3060520AFB95}"/>
              </a:ext>
            </a:extLst>
          </p:cNvPr>
          <p:cNvSpPr txBox="1"/>
          <p:nvPr/>
        </p:nvSpPr>
        <p:spPr>
          <a:xfrm>
            <a:off x="6479524" y="2883867"/>
            <a:ext cx="1633781" cy="369332"/>
          </a:xfrm>
          <a:prstGeom prst="rect">
            <a:avLst/>
          </a:prstGeom>
          <a:noFill/>
        </p:spPr>
        <p:txBody>
          <a:bodyPr wrap="none" rtlCol="0">
            <a:spAutoFit/>
          </a:bodyPr>
          <a:lstStyle/>
          <a:p>
            <a:r>
              <a:rPr lang="en-US"/>
              <a:t>In-line titration</a:t>
            </a:r>
          </a:p>
        </p:txBody>
      </p:sp>
      <p:cxnSp>
        <p:nvCxnSpPr>
          <p:cNvPr id="40" name="Straight Arrow Connector 39">
            <a:extLst>
              <a:ext uri="{FF2B5EF4-FFF2-40B4-BE49-F238E27FC236}">
                <a16:creationId xmlns:a16="http://schemas.microsoft.com/office/drawing/2014/main" id="{74FDBC3C-68FD-4350-B089-9EBA16AE117F}"/>
              </a:ext>
            </a:extLst>
          </p:cNvPr>
          <p:cNvCxnSpPr>
            <a:cxnSpLocks/>
            <a:stCxn id="128" idx="3"/>
            <a:endCxn id="79" idx="1"/>
          </p:cNvCxnSpPr>
          <p:nvPr/>
        </p:nvCxnSpPr>
        <p:spPr>
          <a:xfrm>
            <a:off x="8113305" y="3068533"/>
            <a:ext cx="318499" cy="685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3" name="TextBox 142">
            <a:extLst>
              <a:ext uri="{FF2B5EF4-FFF2-40B4-BE49-F238E27FC236}">
                <a16:creationId xmlns:a16="http://schemas.microsoft.com/office/drawing/2014/main" id="{7C7726E8-F3EF-4883-9864-7237889CFD9D}"/>
              </a:ext>
            </a:extLst>
          </p:cNvPr>
          <p:cNvSpPr txBox="1"/>
          <p:nvPr/>
        </p:nvSpPr>
        <p:spPr>
          <a:xfrm>
            <a:off x="6267261" y="3272944"/>
            <a:ext cx="1633781" cy="369332"/>
          </a:xfrm>
          <a:prstGeom prst="rect">
            <a:avLst/>
          </a:prstGeom>
          <a:noFill/>
        </p:spPr>
        <p:txBody>
          <a:bodyPr wrap="none" rtlCol="0">
            <a:spAutoFit/>
          </a:bodyPr>
          <a:lstStyle/>
          <a:p>
            <a:r>
              <a:rPr lang="en-US"/>
              <a:t>In-line titration</a:t>
            </a:r>
          </a:p>
        </p:txBody>
      </p:sp>
      <p:cxnSp>
        <p:nvCxnSpPr>
          <p:cNvPr id="51" name="Straight Arrow Connector 50">
            <a:extLst>
              <a:ext uri="{FF2B5EF4-FFF2-40B4-BE49-F238E27FC236}">
                <a16:creationId xmlns:a16="http://schemas.microsoft.com/office/drawing/2014/main" id="{74CEDEB1-E35D-4949-B5D3-1842A24419C1}"/>
              </a:ext>
            </a:extLst>
          </p:cNvPr>
          <p:cNvCxnSpPr>
            <a:stCxn id="143" idx="2"/>
          </p:cNvCxnSpPr>
          <p:nvPr/>
        </p:nvCxnSpPr>
        <p:spPr>
          <a:xfrm flipH="1">
            <a:off x="7084151" y="3642276"/>
            <a:ext cx="1" cy="87455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EFDC6F78-B2BF-48DE-9233-9E2A4A629A76}"/>
              </a:ext>
            </a:extLst>
          </p:cNvPr>
          <p:cNvCxnSpPr>
            <a:cxnSpLocks/>
          </p:cNvCxnSpPr>
          <p:nvPr/>
        </p:nvCxnSpPr>
        <p:spPr>
          <a:xfrm>
            <a:off x="1798154" y="111368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CED80CF7-CDFF-4415-8AB9-EB4D8617E220}"/>
              </a:ext>
            </a:extLst>
          </p:cNvPr>
          <p:cNvCxnSpPr>
            <a:cxnSpLocks/>
          </p:cNvCxnSpPr>
          <p:nvPr/>
        </p:nvCxnSpPr>
        <p:spPr>
          <a:xfrm>
            <a:off x="1798154" y="94181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C692D23-18B5-4707-BF6E-9E57F3F21035}"/>
              </a:ext>
            </a:extLst>
          </p:cNvPr>
          <p:cNvSpPr txBox="1"/>
          <p:nvPr/>
        </p:nvSpPr>
        <p:spPr>
          <a:xfrm>
            <a:off x="7638621" y="530719"/>
            <a:ext cx="1084870" cy="523220"/>
          </a:xfrm>
          <a:prstGeom prst="rect">
            <a:avLst/>
          </a:prstGeom>
          <a:noFill/>
        </p:spPr>
        <p:txBody>
          <a:bodyPr wrap="square" rtlCol="0">
            <a:spAutoFit/>
          </a:bodyPr>
          <a:lstStyle/>
          <a:p>
            <a:pPr algn="ctr"/>
            <a:r>
              <a:rPr lang="en-US" sz="1400" dirty="0"/>
              <a:t>Optional Lot Pool</a:t>
            </a:r>
          </a:p>
        </p:txBody>
      </p:sp>
      <p:cxnSp>
        <p:nvCxnSpPr>
          <p:cNvPr id="28" name="Straight Arrow Connector 27">
            <a:extLst>
              <a:ext uri="{FF2B5EF4-FFF2-40B4-BE49-F238E27FC236}">
                <a16:creationId xmlns:a16="http://schemas.microsoft.com/office/drawing/2014/main" id="{49744B40-24EC-4FF2-8EFD-040663F598C4}"/>
              </a:ext>
            </a:extLst>
          </p:cNvPr>
          <p:cNvCxnSpPr>
            <a:cxnSpLocks/>
          </p:cNvCxnSpPr>
          <p:nvPr/>
        </p:nvCxnSpPr>
        <p:spPr>
          <a:xfrm flipH="1">
            <a:off x="6849121" y="941818"/>
            <a:ext cx="835560" cy="91334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52D978-B228-4D4A-99DF-D49B1EB73E67}"/>
              </a:ext>
            </a:extLst>
          </p:cNvPr>
          <p:cNvSpPr txBox="1"/>
          <p:nvPr/>
        </p:nvSpPr>
        <p:spPr>
          <a:xfrm rot="16200000">
            <a:off x="2737332" y="1976393"/>
            <a:ext cx="1189749" cy="276999"/>
          </a:xfrm>
          <a:prstGeom prst="rect">
            <a:avLst/>
          </a:prstGeom>
          <a:noFill/>
        </p:spPr>
        <p:txBody>
          <a:bodyPr wrap="none" rtlCol="0">
            <a:spAutoFit/>
          </a:bodyPr>
          <a:lstStyle/>
          <a:p>
            <a:r>
              <a:rPr lang="en-US" sz="1200" dirty="0">
                <a:solidFill>
                  <a:schemeClr val="bg1"/>
                </a:solidFill>
              </a:rPr>
              <a:t> Cell Retention</a:t>
            </a:r>
          </a:p>
        </p:txBody>
      </p:sp>
      <p:sp>
        <p:nvSpPr>
          <p:cNvPr id="125" name="TextBox 124">
            <a:extLst>
              <a:ext uri="{FF2B5EF4-FFF2-40B4-BE49-F238E27FC236}">
                <a16:creationId xmlns:a16="http://schemas.microsoft.com/office/drawing/2014/main" id="{72E5D790-E7CA-6B45-B799-9AA6DA36F54A}"/>
              </a:ext>
            </a:extLst>
          </p:cNvPr>
          <p:cNvSpPr txBox="1"/>
          <p:nvPr/>
        </p:nvSpPr>
        <p:spPr>
          <a:xfrm>
            <a:off x="3372903" y="723370"/>
            <a:ext cx="1084870" cy="307777"/>
          </a:xfrm>
          <a:prstGeom prst="rect">
            <a:avLst/>
          </a:prstGeom>
          <a:noFill/>
        </p:spPr>
        <p:txBody>
          <a:bodyPr wrap="square" rtlCol="0">
            <a:spAutoFit/>
          </a:bodyPr>
          <a:lstStyle/>
          <a:p>
            <a:pPr algn="ctr"/>
            <a:r>
              <a:rPr lang="en-US" sz="1400" dirty="0"/>
              <a:t>Surge tank</a:t>
            </a:r>
          </a:p>
        </p:txBody>
      </p:sp>
      <p:sp>
        <p:nvSpPr>
          <p:cNvPr id="148" name="TextBox 147">
            <a:extLst>
              <a:ext uri="{FF2B5EF4-FFF2-40B4-BE49-F238E27FC236}">
                <a16:creationId xmlns:a16="http://schemas.microsoft.com/office/drawing/2014/main" id="{E7BD0437-F8C5-C149-9BC3-382CC88D8B02}"/>
              </a:ext>
            </a:extLst>
          </p:cNvPr>
          <p:cNvSpPr txBox="1"/>
          <p:nvPr/>
        </p:nvSpPr>
        <p:spPr>
          <a:xfrm>
            <a:off x="5805379" y="4151258"/>
            <a:ext cx="1084870" cy="738664"/>
          </a:xfrm>
          <a:prstGeom prst="rect">
            <a:avLst/>
          </a:prstGeom>
          <a:noFill/>
        </p:spPr>
        <p:txBody>
          <a:bodyPr wrap="square" rtlCol="0">
            <a:spAutoFit/>
          </a:bodyPr>
          <a:lstStyle/>
          <a:p>
            <a:pPr algn="ctr"/>
            <a:r>
              <a:rPr lang="en-US" sz="1400" dirty="0"/>
              <a:t>Surge tank</a:t>
            </a:r>
          </a:p>
          <a:p>
            <a:pPr algn="ctr"/>
            <a:r>
              <a:rPr lang="en-US" sz="1400" dirty="0"/>
              <a:t>Optional lot pool</a:t>
            </a:r>
          </a:p>
        </p:txBody>
      </p:sp>
    </p:spTree>
    <p:extLst>
      <p:ext uri="{BB962C8B-B14F-4D97-AF65-F5344CB8AC3E}">
        <p14:creationId xmlns:p14="http://schemas.microsoft.com/office/powerpoint/2010/main" val="311168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617DC3-C0F6-0F41-9A26-149D5593A0FD}"/>
              </a:ext>
            </a:extLst>
          </p:cNvPr>
          <p:cNvSpPr>
            <a:spLocks noGrp="1"/>
          </p:cNvSpPr>
          <p:nvPr>
            <p:ph type="sldNum" sz="quarter" idx="4"/>
          </p:nvPr>
        </p:nvSpPr>
        <p:spPr/>
        <p:txBody>
          <a:bodyPr/>
          <a:lstStyle/>
          <a:p>
            <a:fld id="{3C4F54F3-C349-4609-AFEE-01462D5C7942}" type="slidenum">
              <a:rPr lang="en-GB" smtClean="0"/>
              <a:pPr/>
              <a:t>4</a:t>
            </a:fld>
            <a:endParaRPr lang="en-GB"/>
          </a:p>
        </p:txBody>
      </p:sp>
      <p:sp>
        <p:nvSpPr>
          <p:cNvPr id="3" name="Title 2">
            <a:extLst>
              <a:ext uri="{FF2B5EF4-FFF2-40B4-BE49-F238E27FC236}">
                <a16:creationId xmlns:a16="http://schemas.microsoft.com/office/drawing/2014/main" id="{6EB12B9F-8A28-DB45-B1C3-EDAA61179358}"/>
              </a:ext>
            </a:extLst>
          </p:cNvPr>
          <p:cNvSpPr>
            <a:spLocks noGrp="1"/>
          </p:cNvSpPr>
          <p:nvPr>
            <p:ph type="title"/>
          </p:nvPr>
        </p:nvSpPr>
        <p:spPr>
          <a:xfrm>
            <a:off x="189174" y="227115"/>
            <a:ext cx="8765651" cy="504000"/>
          </a:xfrm>
        </p:spPr>
        <p:txBody>
          <a:bodyPr/>
          <a:lstStyle/>
          <a:p>
            <a:r>
              <a:rPr lang="en-US" dirty="0"/>
              <a:t>Common Framework ICB capable of up to 500kg lot size or 8tons per year</a:t>
            </a:r>
          </a:p>
        </p:txBody>
      </p:sp>
      <p:grpSp>
        <p:nvGrpSpPr>
          <p:cNvPr id="76" name="Group 75">
            <a:extLst>
              <a:ext uri="{FF2B5EF4-FFF2-40B4-BE49-F238E27FC236}">
                <a16:creationId xmlns:a16="http://schemas.microsoft.com/office/drawing/2014/main" id="{2C4DFD53-4A7F-2446-9545-DB7A68A23E8D}"/>
              </a:ext>
            </a:extLst>
          </p:cNvPr>
          <p:cNvGrpSpPr/>
          <p:nvPr/>
        </p:nvGrpSpPr>
        <p:grpSpPr>
          <a:xfrm>
            <a:off x="6341039" y="1116131"/>
            <a:ext cx="1062176" cy="915143"/>
            <a:chOff x="5686697" y="1116132"/>
            <a:chExt cx="705394" cy="715192"/>
          </a:xfrm>
        </p:grpSpPr>
        <p:grpSp>
          <p:nvGrpSpPr>
            <p:cNvPr id="72" name="Group 71">
              <a:extLst>
                <a:ext uri="{FF2B5EF4-FFF2-40B4-BE49-F238E27FC236}">
                  <a16:creationId xmlns:a16="http://schemas.microsoft.com/office/drawing/2014/main" id="{F68D0DC4-D480-B546-A60D-A1C0A22AB4F2}"/>
                </a:ext>
              </a:extLst>
            </p:cNvPr>
            <p:cNvGrpSpPr/>
            <p:nvPr/>
          </p:nvGrpSpPr>
          <p:grpSpPr>
            <a:xfrm>
              <a:off x="5686697" y="1116132"/>
              <a:ext cx="278674" cy="715192"/>
              <a:chOff x="5686697" y="1097280"/>
              <a:chExt cx="278674" cy="715192"/>
            </a:xfrm>
          </p:grpSpPr>
          <p:sp>
            <p:nvSpPr>
              <p:cNvPr id="68" name="Oval 67">
                <a:extLst>
                  <a:ext uri="{FF2B5EF4-FFF2-40B4-BE49-F238E27FC236}">
                    <a16:creationId xmlns:a16="http://schemas.microsoft.com/office/drawing/2014/main" id="{302E06F1-CC0D-1240-934E-D079757F4796}"/>
                  </a:ext>
                </a:extLst>
              </p:cNvPr>
              <p:cNvSpPr/>
              <p:nvPr/>
            </p:nvSpPr>
            <p:spPr>
              <a:xfrm>
                <a:off x="5686697" y="1097280"/>
                <a:ext cx="278674" cy="304801"/>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71" name="Oval 70">
                <a:extLst>
                  <a:ext uri="{FF2B5EF4-FFF2-40B4-BE49-F238E27FC236}">
                    <a16:creationId xmlns:a16="http://schemas.microsoft.com/office/drawing/2014/main" id="{E13623FD-6744-A848-BBEA-31A67D2C3D2E}"/>
                  </a:ext>
                </a:extLst>
              </p:cNvPr>
              <p:cNvSpPr/>
              <p:nvPr/>
            </p:nvSpPr>
            <p:spPr>
              <a:xfrm>
                <a:off x="5686697" y="1507671"/>
                <a:ext cx="278674" cy="304801"/>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grpSp>
        <p:grpSp>
          <p:nvGrpSpPr>
            <p:cNvPr id="73" name="Group 72">
              <a:extLst>
                <a:ext uri="{FF2B5EF4-FFF2-40B4-BE49-F238E27FC236}">
                  <a16:creationId xmlns:a16="http://schemas.microsoft.com/office/drawing/2014/main" id="{D6C664C1-5876-E347-87F5-9CA18824EA19}"/>
                </a:ext>
              </a:extLst>
            </p:cNvPr>
            <p:cNvGrpSpPr/>
            <p:nvPr/>
          </p:nvGrpSpPr>
          <p:grpSpPr>
            <a:xfrm>
              <a:off x="6113417" y="1116132"/>
              <a:ext cx="278674" cy="715192"/>
              <a:chOff x="5686697" y="1097280"/>
              <a:chExt cx="278674" cy="715192"/>
            </a:xfrm>
          </p:grpSpPr>
          <p:sp>
            <p:nvSpPr>
              <p:cNvPr id="74" name="Oval 73">
                <a:extLst>
                  <a:ext uri="{FF2B5EF4-FFF2-40B4-BE49-F238E27FC236}">
                    <a16:creationId xmlns:a16="http://schemas.microsoft.com/office/drawing/2014/main" id="{E563EEF4-193D-3342-B12A-61335198F147}"/>
                  </a:ext>
                </a:extLst>
              </p:cNvPr>
              <p:cNvSpPr/>
              <p:nvPr/>
            </p:nvSpPr>
            <p:spPr>
              <a:xfrm>
                <a:off x="5686697" y="1097280"/>
                <a:ext cx="278674" cy="304801"/>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75" name="Oval 74">
                <a:extLst>
                  <a:ext uri="{FF2B5EF4-FFF2-40B4-BE49-F238E27FC236}">
                    <a16:creationId xmlns:a16="http://schemas.microsoft.com/office/drawing/2014/main" id="{D4FA5431-D18E-FB42-8B55-9E59412DD899}"/>
                  </a:ext>
                </a:extLst>
              </p:cNvPr>
              <p:cNvSpPr/>
              <p:nvPr/>
            </p:nvSpPr>
            <p:spPr>
              <a:xfrm>
                <a:off x="5686697" y="1507671"/>
                <a:ext cx="278674" cy="304801"/>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grpSp>
      </p:grpSp>
      <p:sp>
        <p:nvSpPr>
          <p:cNvPr id="77" name="Rounded Rectangle 76">
            <a:extLst>
              <a:ext uri="{FF2B5EF4-FFF2-40B4-BE49-F238E27FC236}">
                <a16:creationId xmlns:a16="http://schemas.microsoft.com/office/drawing/2014/main" id="{CDC5DC38-2EF2-C640-8470-BF1724DFAF4D}"/>
              </a:ext>
            </a:extLst>
          </p:cNvPr>
          <p:cNvSpPr/>
          <p:nvPr/>
        </p:nvSpPr>
        <p:spPr>
          <a:xfrm>
            <a:off x="6654414" y="2423160"/>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err="1"/>
              <a:t>ProA</a:t>
            </a:r>
            <a:endParaRPr lang="en-US" sz="1100" dirty="0"/>
          </a:p>
        </p:txBody>
      </p:sp>
      <p:sp>
        <p:nvSpPr>
          <p:cNvPr id="78" name="Rounded Rectangle 77">
            <a:extLst>
              <a:ext uri="{FF2B5EF4-FFF2-40B4-BE49-F238E27FC236}">
                <a16:creationId xmlns:a16="http://schemas.microsoft.com/office/drawing/2014/main" id="{05071700-A59E-E240-8F32-9DDEE0952CA3}"/>
              </a:ext>
            </a:extLst>
          </p:cNvPr>
          <p:cNvSpPr/>
          <p:nvPr/>
        </p:nvSpPr>
        <p:spPr>
          <a:xfrm>
            <a:off x="6654414" y="2872263"/>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a:t>
            </a:r>
          </a:p>
        </p:txBody>
      </p:sp>
      <p:sp>
        <p:nvSpPr>
          <p:cNvPr id="79" name="Rounded Rectangle 78">
            <a:extLst>
              <a:ext uri="{FF2B5EF4-FFF2-40B4-BE49-F238E27FC236}">
                <a16:creationId xmlns:a16="http://schemas.microsoft.com/office/drawing/2014/main" id="{A87A7E91-5653-C64B-B4C2-62A2E071CD42}"/>
              </a:ext>
            </a:extLst>
          </p:cNvPr>
          <p:cNvSpPr/>
          <p:nvPr/>
        </p:nvSpPr>
        <p:spPr>
          <a:xfrm>
            <a:off x="6654414" y="3321366"/>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AEX</a:t>
            </a:r>
          </a:p>
        </p:txBody>
      </p:sp>
      <p:sp>
        <p:nvSpPr>
          <p:cNvPr id="80" name="Rounded Rectangle 79">
            <a:extLst>
              <a:ext uri="{FF2B5EF4-FFF2-40B4-BE49-F238E27FC236}">
                <a16:creationId xmlns:a16="http://schemas.microsoft.com/office/drawing/2014/main" id="{B284A446-A599-944F-9601-FD390A3F6C92}"/>
              </a:ext>
            </a:extLst>
          </p:cNvPr>
          <p:cNvSpPr/>
          <p:nvPr/>
        </p:nvSpPr>
        <p:spPr>
          <a:xfrm>
            <a:off x="6654414" y="3770469"/>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CEX</a:t>
            </a:r>
          </a:p>
        </p:txBody>
      </p:sp>
      <p:sp>
        <p:nvSpPr>
          <p:cNvPr id="81" name="Rounded Rectangle 80">
            <a:extLst>
              <a:ext uri="{FF2B5EF4-FFF2-40B4-BE49-F238E27FC236}">
                <a16:creationId xmlns:a16="http://schemas.microsoft.com/office/drawing/2014/main" id="{448F04B2-B9C8-D24C-8ABF-4DB81BFD3BC7}"/>
              </a:ext>
            </a:extLst>
          </p:cNvPr>
          <p:cNvSpPr/>
          <p:nvPr/>
        </p:nvSpPr>
        <p:spPr>
          <a:xfrm>
            <a:off x="6654414" y="4219572"/>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VRF</a:t>
            </a:r>
          </a:p>
        </p:txBody>
      </p:sp>
      <p:sp>
        <p:nvSpPr>
          <p:cNvPr id="82" name="Rounded Rectangle 81">
            <a:extLst>
              <a:ext uri="{FF2B5EF4-FFF2-40B4-BE49-F238E27FC236}">
                <a16:creationId xmlns:a16="http://schemas.microsoft.com/office/drawing/2014/main" id="{69CB3DBA-B4BD-8C40-9301-8A49BDF066AC}"/>
              </a:ext>
            </a:extLst>
          </p:cNvPr>
          <p:cNvSpPr/>
          <p:nvPr/>
        </p:nvSpPr>
        <p:spPr>
          <a:xfrm>
            <a:off x="6654414" y="4668673"/>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t>UFDF</a:t>
            </a:r>
          </a:p>
        </p:txBody>
      </p:sp>
      <p:sp>
        <p:nvSpPr>
          <p:cNvPr id="83" name="TextBox 82">
            <a:extLst>
              <a:ext uri="{FF2B5EF4-FFF2-40B4-BE49-F238E27FC236}">
                <a16:creationId xmlns:a16="http://schemas.microsoft.com/office/drawing/2014/main" id="{6B100610-7A48-ED4A-AE56-E286BFB8207B}"/>
              </a:ext>
            </a:extLst>
          </p:cNvPr>
          <p:cNvSpPr txBox="1"/>
          <p:nvPr/>
        </p:nvSpPr>
        <p:spPr>
          <a:xfrm>
            <a:off x="7709299" y="1115472"/>
            <a:ext cx="1345205" cy="923330"/>
          </a:xfrm>
          <a:prstGeom prst="rect">
            <a:avLst/>
          </a:prstGeom>
          <a:noFill/>
        </p:spPr>
        <p:txBody>
          <a:bodyPr wrap="square" rtlCol="0">
            <a:spAutoFit/>
          </a:bodyPr>
          <a:lstStyle/>
          <a:p>
            <a:r>
              <a:rPr lang="en-US" dirty="0"/>
              <a:t>4x500L &amp; </a:t>
            </a:r>
          </a:p>
          <a:p>
            <a:r>
              <a:rPr lang="en-US" dirty="0"/>
              <a:t>4x2kL bioreactors</a:t>
            </a:r>
          </a:p>
        </p:txBody>
      </p:sp>
      <p:sp>
        <p:nvSpPr>
          <p:cNvPr id="84" name="TextBox 83">
            <a:extLst>
              <a:ext uri="{FF2B5EF4-FFF2-40B4-BE49-F238E27FC236}">
                <a16:creationId xmlns:a16="http://schemas.microsoft.com/office/drawing/2014/main" id="{8A26686A-0926-CF44-A64B-93FF2DE3D612}"/>
              </a:ext>
            </a:extLst>
          </p:cNvPr>
          <p:cNvSpPr txBox="1"/>
          <p:nvPr/>
        </p:nvSpPr>
        <p:spPr>
          <a:xfrm>
            <a:off x="7613505" y="3447303"/>
            <a:ext cx="1536794" cy="646331"/>
          </a:xfrm>
          <a:prstGeom prst="rect">
            <a:avLst/>
          </a:prstGeom>
          <a:noFill/>
        </p:spPr>
        <p:txBody>
          <a:bodyPr wrap="square" rtlCol="0">
            <a:spAutoFit/>
          </a:bodyPr>
          <a:lstStyle/>
          <a:p>
            <a:r>
              <a:rPr lang="en-US" dirty="0"/>
              <a:t>Integrated Downstream</a:t>
            </a:r>
          </a:p>
        </p:txBody>
      </p:sp>
      <p:sp>
        <p:nvSpPr>
          <p:cNvPr id="85" name="TextBox 84">
            <a:extLst>
              <a:ext uri="{FF2B5EF4-FFF2-40B4-BE49-F238E27FC236}">
                <a16:creationId xmlns:a16="http://schemas.microsoft.com/office/drawing/2014/main" id="{C8726275-8746-1045-ACF7-04DBB1954493}"/>
              </a:ext>
            </a:extLst>
          </p:cNvPr>
          <p:cNvSpPr txBox="1"/>
          <p:nvPr/>
        </p:nvSpPr>
        <p:spPr>
          <a:xfrm>
            <a:off x="525163" y="3384515"/>
            <a:ext cx="1536794" cy="646331"/>
          </a:xfrm>
          <a:prstGeom prst="rect">
            <a:avLst/>
          </a:prstGeom>
          <a:noFill/>
        </p:spPr>
        <p:txBody>
          <a:bodyPr wrap="square" rtlCol="0">
            <a:spAutoFit/>
          </a:bodyPr>
          <a:lstStyle/>
          <a:p>
            <a:pPr algn="ctr"/>
            <a:r>
              <a:rPr lang="en-US" dirty="0"/>
              <a:t>16x5kL media hold</a:t>
            </a:r>
          </a:p>
        </p:txBody>
      </p:sp>
      <p:sp>
        <p:nvSpPr>
          <p:cNvPr id="86" name="TextBox 85">
            <a:extLst>
              <a:ext uri="{FF2B5EF4-FFF2-40B4-BE49-F238E27FC236}">
                <a16:creationId xmlns:a16="http://schemas.microsoft.com/office/drawing/2014/main" id="{A976CDF5-BC22-BF48-961C-881DB9512FE0}"/>
              </a:ext>
            </a:extLst>
          </p:cNvPr>
          <p:cNvSpPr txBox="1"/>
          <p:nvPr/>
        </p:nvSpPr>
        <p:spPr>
          <a:xfrm>
            <a:off x="3505018" y="3364348"/>
            <a:ext cx="1536794" cy="646331"/>
          </a:xfrm>
          <a:prstGeom prst="rect">
            <a:avLst/>
          </a:prstGeom>
          <a:noFill/>
        </p:spPr>
        <p:txBody>
          <a:bodyPr wrap="square" rtlCol="0">
            <a:spAutoFit/>
          </a:bodyPr>
          <a:lstStyle/>
          <a:p>
            <a:pPr algn="ctr"/>
            <a:r>
              <a:rPr lang="en-US" dirty="0"/>
              <a:t>24x5kL buffer hold</a:t>
            </a:r>
          </a:p>
        </p:txBody>
      </p:sp>
      <p:sp>
        <p:nvSpPr>
          <p:cNvPr id="87" name="TextBox 86">
            <a:extLst>
              <a:ext uri="{FF2B5EF4-FFF2-40B4-BE49-F238E27FC236}">
                <a16:creationId xmlns:a16="http://schemas.microsoft.com/office/drawing/2014/main" id="{08BD24AE-F107-1B48-8ECE-BA5EDB054EF9}"/>
              </a:ext>
            </a:extLst>
          </p:cNvPr>
          <p:cNvSpPr txBox="1"/>
          <p:nvPr/>
        </p:nvSpPr>
        <p:spPr>
          <a:xfrm>
            <a:off x="461757" y="4227901"/>
            <a:ext cx="5364344" cy="923330"/>
          </a:xfrm>
          <a:prstGeom prst="rect">
            <a:avLst/>
          </a:prstGeom>
          <a:noFill/>
        </p:spPr>
        <p:txBody>
          <a:bodyPr wrap="square" rtlCol="0">
            <a:spAutoFit/>
          </a:bodyPr>
          <a:lstStyle/>
          <a:p>
            <a:r>
              <a:rPr lang="en-US" dirty="0"/>
              <a:t>Single Use Plant Schematic for 500kg or greater batches for 22pcd cell lines in dynamic perfusion or 30pcd cell lines in steady state perfusion</a:t>
            </a:r>
          </a:p>
        </p:txBody>
      </p:sp>
      <p:grpSp>
        <p:nvGrpSpPr>
          <p:cNvPr id="8" name="Group 7">
            <a:extLst>
              <a:ext uri="{FF2B5EF4-FFF2-40B4-BE49-F238E27FC236}">
                <a16:creationId xmlns:a16="http://schemas.microsoft.com/office/drawing/2014/main" id="{39A8711B-6072-5B45-9A6A-A7484C77FACF}"/>
              </a:ext>
            </a:extLst>
          </p:cNvPr>
          <p:cNvGrpSpPr/>
          <p:nvPr/>
        </p:nvGrpSpPr>
        <p:grpSpPr>
          <a:xfrm>
            <a:off x="72318" y="1223620"/>
            <a:ext cx="2270515" cy="1923506"/>
            <a:chOff x="211465" y="677164"/>
            <a:chExt cx="2270515" cy="1923506"/>
          </a:xfrm>
        </p:grpSpPr>
        <p:grpSp>
          <p:nvGrpSpPr>
            <p:cNvPr id="4" name="Group 3">
              <a:extLst>
                <a:ext uri="{FF2B5EF4-FFF2-40B4-BE49-F238E27FC236}">
                  <a16:creationId xmlns:a16="http://schemas.microsoft.com/office/drawing/2014/main" id="{F0BE5E34-2450-8448-BBE9-CB07971B5724}"/>
                </a:ext>
              </a:extLst>
            </p:cNvPr>
            <p:cNvGrpSpPr/>
            <p:nvPr/>
          </p:nvGrpSpPr>
          <p:grpSpPr>
            <a:xfrm>
              <a:off x="211465" y="677164"/>
              <a:ext cx="452845" cy="1923506"/>
              <a:chOff x="211465" y="677164"/>
              <a:chExt cx="452845" cy="1923506"/>
            </a:xfrm>
          </p:grpSpPr>
          <p:sp>
            <p:nvSpPr>
              <p:cNvPr id="63" name="Rounded Rectangle 62">
                <a:extLst>
                  <a:ext uri="{FF2B5EF4-FFF2-40B4-BE49-F238E27FC236}">
                    <a16:creationId xmlns:a16="http://schemas.microsoft.com/office/drawing/2014/main" id="{4707FBE3-77C2-6A43-8DFD-97126419F5B7}"/>
                  </a:ext>
                </a:extLst>
              </p:cNvPr>
              <p:cNvSpPr/>
              <p:nvPr/>
            </p:nvSpPr>
            <p:spPr>
              <a:xfrm>
                <a:off x="211465"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64" name="Rounded Rectangle 63">
                <a:extLst>
                  <a:ext uri="{FF2B5EF4-FFF2-40B4-BE49-F238E27FC236}">
                    <a16:creationId xmlns:a16="http://schemas.microsoft.com/office/drawing/2014/main" id="{8A7DB76F-A1FC-2543-90CE-68047032308C}"/>
                  </a:ext>
                </a:extLst>
              </p:cNvPr>
              <p:cNvSpPr/>
              <p:nvPr/>
            </p:nvSpPr>
            <p:spPr>
              <a:xfrm>
                <a:off x="211465"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65" name="Rounded Rectangle 64">
                <a:extLst>
                  <a:ext uri="{FF2B5EF4-FFF2-40B4-BE49-F238E27FC236}">
                    <a16:creationId xmlns:a16="http://schemas.microsoft.com/office/drawing/2014/main" id="{002B6F26-5962-7D44-9C28-BB0972D0D6E9}"/>
                  </a:ext>
                </a:extLst>
              </p:cNvPr>
              <p:cNvSpPr/>
              <p:nvPr/>
            </p:nvSpPr>
            <p:spPr>
              <a:xfrm>
                <a:off x="211465"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66" name="Rounded Rectangle 65">
                <a:extLst>
                  <a:ext uri="{FF2B5EF4-FFF2-40B4-BE49-F238E27FC236}">
                    <a16:creationId xmlns:a16="http://schemas.microsoft.com/office/drawing/2014/main" id="{25FB1FC5-C6CB-7142-9712-84838A568ED7}"/>
                  </a:ext>
                </a:extLst>
              </p:cNvPr>
              <p:cNvSpPr/>
              <p:nvPr/>
            </p:nvSpPr>
            <p:spPr>
              <a:xfrm>
                <a:off x="211465"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grpSp>
        <p:grpSp>
          <p:nvGrpSpPr>
            <p:cNvPr id="5" name="Group 4">
              <a:extLst>
                <a:ext uri="{FF2B5EF4-FFF2-40B4-BE49-F238E27FC236}">
                  <a16:creationId xmlns:a16="http://schemas.microsoft.com/office/drawing/2014/main" id="{509A9545-2DA1-F344-8132-5401456B6253}"/>
                </a:ext>
              </a:extLst>
            </p:cNvPr>
            <p:cNvGrpSpPr/>
            <p:nvPr/>
          </p:nvGrpSpPr>
          <p:grpSpPr>
            <a:xfrm>
              <a:off x="817355" y="677164"/>
              <a:ext cx="452845" cy="1923506"/>
              <a:chOff x="825419" y="677164"/>
              <a:chExt cx="452845" cy="1923506"/>
            </a:xfrm>
          </p:grpSpPr>
          <p:sp>
            <p:nvSpPr>
              <p:cNvPr id="58" name="Rounded Rectangle 57">
                <a:extLst>
                  <a:ext uri="{FF2B5EF4-FFF2-40B4-BE49-F238E27FC236}">
                    <a16:creationId xmlns:a16="http://schemas.microsoft.com/office/drawing/2014/main" id="{405D9D69-A6DC-9349-B5F1-5C4A1FFFDD11}"/>
                  </a:ext>
                </a:extLst>
              </p:cNvPr>
              <p:cNvSpPr/>
              <p:nvPr/>
            </p:nvSpPr>
            <p:spPr>
              <a:xfrm>
                <a:off x="825419"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59" name="Rounded Rectangle 58">
                <a:extLst>
                  <a:ext uri="{FF2B5EF4-FFF2-40B4-BE49-F238E27FC236}">
                    <a16:creationId xmlns:a16="http://schemas.microsoft.com/office/drawing/2014/main" id="{6FF16383-0774-1448-9C23-D99041AD72B4}"/>
                  </a:ext>
                </a:extLst>
              </p:cNvPr>
              <p:cNvSpPr/>
              <p:nvPr/>
            </p:nvSpPr>
            <p:spPr>
              <a:xfrm>
                <a:off x="825419"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60" name="Rounded Rectangle 59">
                <a:extLst>
                  <a:ext uri="{FF2B5EF4-FFF2-40B4-BE49-F238E27FC236}">
                    <a16:creationId xmlns:a16="http://schemas.microsoft.com/office/drawing/2014/main" id="{4D6CDF39-9B5E-214B-96A5-08C1E75E9DD5}"/>
                  </a:ext>
                </a:extLst>
              </p:cNvPr>
              <p:cNvSpPr/>
              <p:nvPr/>
            </p:nvSpPr>
            <p:spPr>
              <a:xfrm>
                <a:off x="825419"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61" name="Rounded Rectangle 60">
                <a:extLst>
                  <a:ext uri="{FF2B5EF4-FFF2-40B4-BE49-F238E27FC236}">
                    <a16:creationId xmlns:a16="http://schemas.microsoft.com/office/drawing/2014/main" id="{2BC9FBAC-7FA9-054D-9A27-309C8F76E275}"/>
                  </a:ext>
                </a:extLst>
              </p:cNvPr>
              <p:cNvSpPr/>
              <p:nvPr/>
            </p:nvSpPr>
            <p:spPr>
              <a:xfrm>
                <a:off x="825419"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grpSp>
        <p:grpSp>
          <p:nvGrpSpPr>
            <p:cNvPr id="6" name="Group 5">
              <a:extLst>
                <a:ext uri="{FF2B5EF4-FFF2-40B4-BE49-F238E27FC236}">
                  <a16:creationId xmlns:a16="http://schemas.microsoft.com/office/drawing/2014/main" id="{880D7D51-2DDC-3049-9D33-EE09D852C733}"/>
                </a:ext>
              </a:extLst>
            </p:cNvPr>
            <p:cNvGrpSpPr/>
            <p:nvPr/>
          </p:nvGrpSpPr>
          <p:grpSpPr>
            <a:xfrm>
              <a:off x="1423245" y="677164"/>
              <a:ext cx="452845" cy="1923506"/>
              <a:chOff x="1439374" y="677164"/>
              <a:chExt cx="452845" cy="1923506"/>
            </a:xfrm>
          </p:grpSpPr>
          <p:sp>
            <p:nvSpPr>
              <p:cNvPr id="53" name="Rounded Rectangle 52">
                <a:extLst>
                  <a:ext uri="{FF2B5EF4-FFF2-40B4-BE49-F238E27FC236}">
                    <a16:creationId xmlns:a16="http://schemas.microsoft.com/office/drawing/2014/main" id="{878729DB-63E2-594F-A5A6-E82E0CA2E526}"/>
                  </a:ext>
                </a:extLst>
              </p:cNvPr>
              <p:cNvSpPr/>
              <p:nvPr/>
            </p:nvSpPr>
            <p:spPr>
              <a:xfrm>
                <a:off x="1439374"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sp>
            <p:nvSpPr>
              <p:cNvPr id="54" name="Rounded Rectangle 53">
                <a:extLst>
                  <a:ext uri="{FF2B5EF4-FFF2-40B4-BE49-F238E27FC236}">
                    <a16:creationId xmlns:a16="http://schemas.microsoft.com/office/drawing/2014/main" id="{F3164C06-3679-F242-931E-F0E30A998E17}"/>
                  </a:ext>
                </a:extLst>
              </p:cNvPr>
              <p:cNvSpPr/>
              <p:nvPr/>
            </p:nvSpPr>
            <p:spPr>
              <a:xfrm>
                <a:off x="1439374"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sp>
            <p:nvSpPr>
              <p:cNvPr id="55" name="Rounded Rectangle 54">
                <a:extLst>
                  <a:ext uri="{FF2B5EF4-FFF2-40B4-BE49-F238E27FC236}">
                    <a16:creationId xmlns:a16="http://schemas.microsoft.com/office/drawing/2014/main" id="{508E68FC-478D-1147-80CF-CD8CE2D2370F}"/>
                  </a:ext>
                </a:extLst>
              </p:cNvPr>
              <p:cNvSpPr/>
              <p:nvPr/>
            </p:nvSpPr>
            <p:spPr>
              <a:xfrm>
                <a:off x="1439374"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sp>
            <p:nvSpPr>
              <p:cNvPr id="56" name="Rounded Rectangle 55">
                <a:extLst>
                  <a:ext uri="{FF2B5EF4-FFF2-40B4-BE49-F238E27FC236}">
                    <a16:creationId xmlns:a16="http://schemas.microsoft.com/office/drawing/2014/main" id="{37D975FF-47A8-F249-8871-9866794E1CD3}"/>
                  </a:ext>
                </a:extLst>
              </p:cNvPr>
              <p:cNvSpPr/>
              <p:nvPr/>
            </p:nvSpPr>
            <p:spPr>
              <a:xfrm>
                <a:off x="1439374"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grpSp>
        <p:grpSp>
          <p:nvGrpSpPr>
            <p:cNvPr id="7" name="Group 6">
              <a:extLst>
                <a:ext uri="{FF2B5EF4-FFF2-40B4-BE49-F238E27FC236}">
                  <a16:creationId xmlns:a16="http://schemas.microsoft.com/office/drawing/2014/main" id="{C4404B7E-859F-B34F-9176-B4108A96C39F}"/>
                </a:ext>
              </a:extLst>
            </p:cNvPr>
            <p:cNvGrpSpPr/>
            <p:nvPr/>
          </p:nvGrpSpPr>
          <p:grpSpPr>
            <a:xfrm>
              <a:off x="2029135" y="677164"/>
              <a:ext cx="452845" cy="1923506"/>
              <a:chOff x="2029135" y="677164"/>
              <a:chExt cx="452845" cy="1923506"/>
            </a:xfrm>
          </p:grpSpPr>
          <p:sp>
            <p:nvSpPr>
              <p:cNvPr id="69" name="Rounded Rectangle 68">
                <a:extLst>
                  <a:ext uri="{FF2B5EF4-FFF2-40B4-BE49-F238E27FC236}">
                    <a16:creationId xmlns:a16="http://schemas.microsoft.com/office/drawing/2014/main" id="{C18FA2A4-AFD1-CE47-9AF8-9DD6EEBE826E}"/>
                  </a:ext>
                </a:extLst>
              </p:cNvPr>
              <p:cNvSpPr/>
              <p:nvPr/>
            </p:nvSpPr>
            <p:spPr>
              <a:xfrm>
                <a:off x="2029135"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70" name="Rounded Rectangle 69">
                <a:extLst>
                  <a:ext uri="{FF2B5EF4-FFF2-40B4-BE49-F238E27FC236}">
                    <a16:creationId xmlns:a16="http://schemas.microsoft.com/office/drawing/2014/main" id="{AC7B1403-3CAC-6643-8FC8-086875E56F18}"/>
                  </a:ext>
                </a:extLst>
              </p:cNvPr>
              <p:cNvSpPr/>
              <p:nvPr/>
            </p:nvSpPr>
            <p:spPr>
              <a:xfrm>
                <a:off x="2029135"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88" name="Rounded Rectangle 87">
                <a:extLst>
                  <a:ext uri="{FF2B5EF4-FFF2-40B4-BE49-F238E27FC236}">
                    <a16:creationId xmlns:a16="http://schemas.microsoft.com/office/drawing/2014/main" id="{6CE9589B-7034-7D44-875F-2064D704C746}"/>
                  </a:ext>
                </a:extLst>
              </p:cNvPr>
              <p:cNvSpPr/>
              <p:nvPr/>
            </p:nvSpPr>
            <p:spPr>
              <a:xfrm>
                <a:off x="2029135"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89" name="Rounded Rectangle 88">
                <a:extLst>
                  <a:ext uri="{FF2B5EF4-FFF2-40B4-BE49-F238E27FC236}">
                    <a16:creationId xmlns:a16="http://schemas.microsoft.com/office/drawing/2014/main" id="{89555303-54B0-414C-8B31-F91752CA826F}"/>
                  </a:ext>
                </a:extLst>
              </p:cNvPr>
              <p:cNvSpPr/>
              <p:nvPr/>
            </p:nvSpPr>
            <p:spPr>
              <a:xfrm>
                <a:off x="2029135"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grpSp>
      </p:grpSp>
      <p:grpSp>
        <p:nvGrpSpPr>
          <p:cNvPr id="107" name="Group 106">
            <a:extLst>
              <a:ext uri="{FF2B5EF4-FFF2-40B4-BE49-F238E27FC236}">
                <a16:creationId xmlns:a16="http://schemas.microsoft.com/office/drawing/2014/main" id="{183FAAC5-F44A-2D41-B13B-517B562D89F9}"/>
              </a:ext>
            </a:extLst>
          </p:cNvPr>
          <p:cNvGrpSpPr/>
          <p:nvPr/>
        </p:nvGrpSpPr>
        <p:grpSpPr>
          <a:xfrm>
            <a:off x="2608790" y="1223620"/>
            <a:ext cx="2270515" cy="1923506"/>
            <a:chOff x="211465" y="677164"/>
            <a:chExt cx="2270515" cy="1923506"/>
          </a:xfrm>
        </p:grpSpPr>
        <p:grpSp>
          <p:nvGrpSpPr>
            <p:cNvPr id="108" name="Group 107">
              <a:extLst>
                <a:ext uri="{FF2B5EF4-FFF2-40B4-BE49-F238E27FC236}">
                  <a16:creationId xmlns:a16="http://schemas.microsoft.com/office/drawing/2014/main" id="{638236EE-A111-CA49-86F0-DB4507E041C8}"/>
                </a:ext>
              </a:extLst>
            </p:cNvPr>
            <p:cNvGrpSpPr/>
            <p:nvPr/>
          </p:nvGrpSpPr>
          <p:grpSpPr>
            <a:xfrm>
              <a:off x="211465" y="677164"/>
              <a:ext cx="452845" cy="1923506"/>
              <a:chOff x="211465" y="677164"/>
              <a:chExt cx="452845" cy="1923506"/>
            </a:xfrm>
          </p:grpSpPr>
          <p:sp>
            <p:nvSpPr>
              <p:cNvPr id="124" name="Rounded Rectangle 123">
                <a:extLst>
                  <a:ext uri="{FF2B5EF4-FFF2-40B4-BE49-F238E27FC236}">
                    <a16:creationId xmlns:a16="http://schemas.microsoft.com/office/drawing/2014/main" id="{B13102DD-ABCA-5F48-994D-6D414D8D2D1B}"/>
                  </a:ext>
                </a:extLst>
              </p:cNvPr>
              <p:cNvSpPr/>
              <p:nvPr/>
            </p:nvSpPr>
            <p:spPr>
              <a:xfrm>
                <a:off x="211465"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25" name="Rounded Rectangle 124">
                <a:extLst>
                  <a:ext uri="{FF2B5EF4-FFF2-40B4-BE49-F238E27FC236}">
                    <a16:creationId xmlns:a16="http://schemas.microsoft.com/office/drawing/2014/main" id="{3869F77B-4042-834B-B9B3-239020F96336}"/>
                  </a:ext>
                </a:extLst>
              </p:cNvPr>
              <p:cNvSpPr/>
              <p:nvPr/>
            </p:nvSpPr>
            <p:spPr>
              <a:xfrm>
                <a:off x="211465"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26" name="Rounded Rectangle 125">
                <a:extLst>
                  <a:ext uri="{FF2B5EF4-FFF2-40B4-BE49-F238E27FC236}">
                    <a16:creationId xmlns:a16="http://schemas.microsoft.com/office/drawing/2014/main" id="{3EE71CF3-E1E5-8A4A-A380-BE31FD5E2A91}"/>
                  </a:ext>
                </a:extLst>
              </p:cNvPr>
              <p:cNvSpPr/>
              <p:nvPr/>
            </p:nvSpPr>
            <p:spPr>
              <a:xfrm>
                <a:off x="211465"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27" name="Rounded Rectangle 126">
                <a:extLst>
                  <a:ext uri="{FF2B5EF4-FFF2-40B4-BE49-F238E27FC236}">
                    <a16:creationId xmlns:a16="http://schemas.microsoft.com/office/drawing/2014/main" id="{023A9B1C-214B-7C44-94D7-24DCE0DD0EA2}"/>
                  </a:ext>
                </a:extLst>
              </p:cNvPr>
              <p:cNvSpPr/>
              <p:nvPr/>
            </p:nvSpPr>
            <p:spPr>
              <a:xfrm>
                <a:off x="211465"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grpSp>
        <p:grpSp>
          <p:nvGrpSpPr>
            <p:cNvPr id="109" name="Group 108">
              <a:extLst>
                <a:ext uri="{FF2B5EF4-FFF2-40B4-BE49-F238E27FC236}">
                  <a16:creationId xmlns:a16="http://schemas.microsoft.com/office/drawing/2014/main" id="{A5A41110-E152-5C47-B04F-B928F4D421CF}"/>
                </a:ext>
              </a:extLst>
            </p:cNvPr>
            <p:cNvGrpSpPr/>
            <p:nvPr/>
          </p:nvGrpSpPr>
          <p:grpSpPr>
            <a:xfrm>
              <a:off x="817355" y="677164"/>
              <a:ext cx="452845" cy="1923506"/>
              <a:chOff x="825419" y="677164"/>
              <a:chExt cx="452845" cy="1923506"/>
            </a:xfrm>
          </p:grpSpPr>
          <p:sp>
            <p:nvSpPr>
              <p:cNvPr id="120" name="Rounded Rectangle 119">
                <a:extLst>
                  <a:ext uri="{FF2B5EF4-FFF2-40B4-BE49-F238E27FC236}">
                    <a16:creationId xmlns:a16="http://schemas.microsoft.com/office/drawing/2014/main" id="{7979CFC3-CCDD-DE49-B5FD-6BC0C95EBBF1}"/>
                  </a:ext>
                </a:extLst>
              </p:cNvPr>
              <p:cNvSpPr/>
              <p:nvPr/>
            </p:nvSpPr>
            <p:spPr>
              <a:xfrm>
                <a:off x="825419"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21" name="Rounded Rectangle 120">
                <a:extLst>
                  <a:ext uri="{FF2B5EF4-FFF2-40B4-BE49-F238E27FC236}">
                    <a16:creationId xmlns:a16="http://schemas.microsoft.com/office/drawing/2014/main" id="{D6F45CC1-376D-984A-9364-EB7E623A97EC}"/>
                  </a:ext>
                </a:extLst>
              </p:cNvPr>
              <p:cNvSpPr/>
              <p:nvPr/>
            </p:nvSpPr>
            <p:spPr>
              <a:xfrm>
                <a:off x="825419"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22" name="Rounded Rectangle 121">
                <a:extLst>
                  <a:ext uri="{FF2B5EF4-FFF2-40B4-BE49-F238E27FC236}">
                    <a16:creationId xmlns:a16="http://schemas.microsoft.com/office/drawing/2014/main" id="{5306AC1C-F227-054E-9FDA-B177C728E7CE}"/>
                  </a:ext>
                </a:extLst>
              </p:cNvPr>
              <p:cNvSpPr/>
              <p:nvPr/>
            </p:nvSpPr>
            <p:spPr>
              <a:xfrm>
                <a:off x="825419"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23" name="Rounded Rectangle 122">
                <a:extLst>
                  <a:ext uri="{FF2B5EF4-FFF2-40B4-BE49-F238E27FC236}">
                    <a16:creationId xmlns:a16="http://schemas.microsoft.com/office/drawing/2014/main" id="{F185692F-DF2D-6849-908F-8430759911CF}"/>
                  </a:ext>
                </a:extLst>
              </p:cNvPr>
              <p:cNvSpPr/>
              <p:nvPr/>
            </p:nvSpPr>
            <p:spPr>
              <a:xfrm>
                <a:off x="825419"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grpSp>
        <p:grpSp>
          <p:nvGrpSpPr>
            <p:cNvPr id="110" name="Group 109">
              <a:extLst>
                <a:ext uri="{FF2B5EF4-FFF2-40B4-BE49-F238E27FC236}">
                  <a16:creationId xmlns:a16="http://schemas.microsoft.com/office/drawing/2014/main" id="{0559D910-1934-F74D-9AAC-28F3D026F8EF}"/>
                </a:ext>
              </a:extLst>
            </p:cNvPr>
            <p:cNvGrpSpPr/>
            <p:nvPr/>
          </p:nvGrpSpPr>
          <p:grpSpPr>
            <a:xfrm>
              <a:off x="1423245" y="677164"/>
              <a:ext cx="452845" cy="1923506"/>
              <a:chOff x="1439374" y="677164"/>
              <a:chExt cx="452845" cy="1923506"/>
            </a:xfrm>
          </p:grpSpPr>
          <p:sp>
            <p:nvSpPr>
              <p:cNvPr id="116" name="Rounded Rectangle 115">
                <a:extLst>
                  <a:ext uri="{FF2B5EF4-FFF2-40B4-BE49-F238E27FC236}">
                    <a16:creationId xmlns:a16="http://schemas.microsoft.com/office/drawing/2014/main" id="{EE035129-A925-2E49-894F-3FAE42F2BB2F}"/>
                  </a:ext>
                </a:extLst>
              </p:cNvPr>
              <p:cNvSpPr/>
              <p:nvPr/>
            </p:nvSpPr>
            <p:spPr>
              <a:xfrm>
                <a:off x="1439374"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17" name="Rounded Rectangle 116">
                <a:extLst>
                  <a:ext uri="{FF2B5EF4-FFF2-40B4-BE49-F238E27FC236}">
                    <a16:creationId xmlns:a16="http://schemas.microsoft.com/office/drawing/2014/main" id="{0900DA3D-FEA2-A941-B89F-7A40E844FA4B}"/>
                  </a:ext>
                </a:extLst>
              </p:cNvPr>
              <p:cNvSpPr/>
              <p:nvPr/>
            </p:nvSpPr>
            <p:spPr>
              <a:xfrm>
                <a:off x="1439374"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18" name="Rounded Rectangle 117">
                <a:extLst>
                  <a:ext uri="{FF2B5EF4-FFF2-40B4-BE49-F238E27FC236}">
                    <a16:creationId xmlns:a16="http://schemas.microsoft.com/office/drawing/2014/main" id="{9E412C13-9CD6-A448-A00E-8C0AA3D0231C}"/>
                  </a:ext>
                </a:extLst>
              </p:cNvPr>
              <p:cNvSpPr/>
              <p:nvPr/>
            </p:nvSpPr>
            <p:spPr>
              <a:xfrm>
                <a:off x="1439374"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19" name="Rounded Rectangle 118">
                <a:extLst>
                  <a:ext uri="{FF2B5EF4-FFF2-40B4-BE49-F238E27FC236}">
                    <a16:creationId xmlns:a16="http://schemas.microsoft.com/office/drawing/2014/main" id="{D08DD30D-88E7-4B4F-8DD0-0DE32DB8FB34}"/>
                  </a:ext>
                </a:extLst>
              </p:cNvPr>
              <p:cNvSpPr/>
              <p:nvPr/>
            </p:nvSpPr>
            <p:spPr>
              <a:xfrm>
                <a:off x="1439374"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grpSp>
        <p:grpSp>
          <p:nvGrpSpPr>
            <p:cNvPr id="111" name="Group 110">
              <a:extLst>
                <a:ext uri="{FF2B5EF4-FFF2-40B4-BE49-F238E27FC236}">
                  <a16:creationId xmlns:a16="http://schemas.microsoft.com/office/drawing/2014/main" id="{20C762E9-5D1B-A24F-A880-FB942A8E8D48}"/>
                </a:ext>
              </a:extLst>
            </p:cNvPr>
            <p:cNvGrpSpPr/>
            <p:nvPr/>
          </p:nvGrpSpPr>
          <p:grpSpPr>
            <a:xfrm>
              <a:off x="2029135" y="677164"/>
              <a:ext cx="452845" cy="1923506"/>
              <a:chOff x="2029135" y="677164"/>
              <a:chExt cx="452845" cy="1923506"/>
            </a:xfrm>
          </p:grpSpPr>
          <p:sp>
            <p:nvSpPr>
              <p:cNvPr id="112" name="Rounded Rectangle 111">
                <a:extLst>
                  <a:ext uri="{FF2B5EF4-FFF2-40B4-BE49-F238E27FC236}">
                    <a16:creationId xmlns:a16="http://schemas.microsoft.com/office/drawing/2014/main" id="{8D0330D2-647F-0947-8E56-0D8E29981BED}"/>
                  </a:ext>
                </a:extLst>
              </p:cNvPr>
              <p:cNvSpPr/>
              <p:nvPr/>
            </p:nvSpPr>
            <p:spPr>
              <a:xfrm>
                <a:off x="2029135"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13" name="Rounded Rectangle 112">
                <a:extLst>
                  <a:ext uri="{FF2B5EF4-FFF2-40B4-BE49-F238E27FC236}">
                    <a16:creationId xmlns:a16="http://schemas.microsoft.com/office/drawing/2014/main" id="{F76FFFB0-B997-0C4C-83AF-718235679A75}"/>
                  </a:ext>
                </a:extLst>
              </p:cNvPr>
              <p:cNvSpPr/>
              <p:nvPr/>
            </p:nvSpPr>
            <p:spPr>
              <a:xfrm>
                <a:off x="2029135"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14" name="Rounded Rectangle 113">
                <a:extLst>
                  <a:ext uri="{FF2B5EF4-FFF2-40B4-BE49-F238E27FC236}">
                    <a16:creationId xmlns:a16="http://schemas.microsoft.com/office/drawing/2014/main" id="{30F26243-EC53-AF4A-AE4A-7AE09E13DD97}"/>
                  </a:ext>
                </a:extLst>
              </p:cNvPr>
              <p:cNvSpPr/>
              <p:nvPr/>
            </p:nvSpPr>
            <p:spPr>
              <a:xfrm>
                <a:off x="2029135"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15" name="Rounded Rectangle 114">
                <a:extLst>
                  <a:ext uri="{FF2B5EF4-FFF2-40B4-BE49-F238E27FC236}">
                    <a16:creationId xmlns:a16="http://schemas.microsoft.com/office/drawing/2014/main" id="{34C2C416-37E2-F244-B621-B7FB1525F7C6}"/>
                  </a:ext>
                </a:extLst>
              </p:cNvPr>
              <p:cNvSpPr/>
              <p:nvPr/>
            </p:nvSpPr>
            <p:spPr>
              <a:xfrm>
                <a:off x="2029135"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grpSp>
      </p:grpSp>
      <p:grpSp>
        <p:nvGrpSpPr>
          <p:cNvPr id="9" name="Group 8">
            <a:extLst>
              <a:ext uri="{FF2B5EF4-FFF2-40B4-BE49-F238E27FC236}">
                <a16:creationId xmlns:a16="http://schemas.microsoft.com/office/drawing/2014/main" id="{4A7143B6-76A3-004D-B0D2-BE3841B3AE6D}"/>
              </a:ext>
            </a:extLst>
          </p:cNvPr>
          <p:cNvGrpSpPr/>
          <p:nvPr/>
        </p:nvGrpSpPr>
        <p:grpSpPr>
          <a:xfrm>
            <a:off x="5071089" y="1225912"/>
            <a:ext cx="1058735" cy="1923506"/>
            <a:chOff x="5071089" y="1225912"/>
            <a:chExt cx="1058735" cy="1923506"/>
          </a:xfrm>
        </p:grpSpPr>
        <p:grpSp>
          <p:nvGrpSpPr>
            <p:cNvPr id="129" name="Group 128">
              <a:extLst>
                <a:ext uri="{FF2B5EF4-FFF2-40B4-BE49-F238E27FC236}">
                  <a16:creationId xmlns:a16="http://schemas.microsoft.com/office/drawing/2014/main" id="{BC3E7E15-6DAD-7847-94C5-317C95ED902A}"/>
                </a:ext>
              </a:extLst>
            </p:cNvPr>
            <p:cNvGrpSpPr/>
            <p:nvPr/>
          </p:nvGrpSpPr>
          <p:grpSpPr>
            <a:xfrm>
              <a:off x="5071089" y="1225912"/>
              <a:ext cx="452845" cy="1923506"/>
              <a:chOff x="211465" y="677164"/>
              <a:chExt cx="452845" cy="1923506"/>
            </a:xfrm>
          </p:grpSpPr>
          <p:sp>
            <p:nvSpPr>
              <p:cNvPr id="145" name="Rounded Rectangle 144">
                <a:extLst>
                  <a:ext uri="{FF2B5EF4-FFF2-40B4-BE49-F238E27FC236}">
                    <a16:creationId xmlns:a16="http://schemas.microsoft.com/office/drawing/2014/main" id="{A3A287F0-FE6C-BC47-9333-1C713E406D55}"/>
                  </a:ext>
                </a:extLst>
              </p:cNvPr>
              <p:cNvSpPr/>
              <p:nvPr/>
            </p:nvSpPr>
            <p:spPr>
              <a:xfrm>
                <a:off x="211465"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6" name="Rounded Rectangle 145">
                <a:extLst>
                  <a:ext uri="{FF2B5EF4-FFF2-40B4-BE49-F238E27FC236}">
                    <a16:creationId xmlns:a16="http://schemas.microsoft.com/office/drawing/2014/main" id="{E60CEDA0-00C8-A04C-BDD8-D5DC8995F3B4}"/>
                  </a:ext>
                </a:extLst>
              </p:cNvPr>
              <p:cNvSpPr/>
              <p:nvPr/>
            </p:nvSpPr>
            <p:spPr>
              <a:xfrm>
                <a:off x="211465"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7" name="Rounded Rectangle 146">
                <a:extLst>
                  <a:ext uri="{FF2B5EF4-FFF2-40B4-BE49-F238E27FC236}">
                    <a16:creationId xmlns:a16="http://schemas.microsoft.com/office/drawing/2014/main" id="{8BFBA82E-4B6A-3E45-A55B-93E2ACF842FA}"/>
                  </a:ext>
                </a:extLst>
              </p:cNvPr>
              <p:cNvSpPr/>
              <p:nvPr/>
            </p:nvSpPr>
            <p:spPr>
              <a:xfrm>
                <a:off x="211465"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8" name="Rounded Rectangle 147">
                <a:extLst>
                  <a:ext uri="{FF2B5EF4-FFF2-40B4-BE49-F238E27FC236}">
                    <a16:creationId xmlns:a16="http://schemas.microsoft.com/office/drawing/2014/main" id="{CA996FC9-FB37-9949-9C96-7AC2B823BE8F}"/>
                  </a:ext>
                </a:extLst>
              </p:cNvPr>
              <p:cNvSpPr/>
              <p:nvPr/>
            </p:nvSpPr>
            <p:spPr>
              <a:xfrm>
                <a:off x="211465"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grpSp>
        <p:grpSp>
          <p:nvGrpSpPr>
            <p:cNvPr id="130" name="Group 129">
              <a:extLst>
                <a:ext uri="{FF2B5EF4-FFF2-40B4-BE49-F238E27FC236}">
                  <a16:creationId xmlns:a16="http://schemas.microsoft.com/office/drawing/2014/main" id="{98C54B52-8DD8-894E-9C42-FF5C22F34584}"/>
                </a:ext>
              </a:extLst>
            </p:cNvPr>
            <p:cNvGrpSpPr/>
            <p:nvPr/>
          </p:nvGrpSpPr>
          <p:grpSpPr>
            <a:xfrm>
              <a:off x="5676979" y="1225912"/>
              <a:ext cx="452845" cy="1923506"/>
              <a:chOff x="825419" y="677164"/>
              <a:chExt cx="452845" cy="1923506"/>
            </a:xfrm>
          </p:grpSpPr>
          <p:sp>
            <p:nvSpPr>
              <p:cNvPr id="141" name="Rounded Rectangle 140">
                <a:extLst>
                  <a:ext uri="{FF2B5EF4-FFF2-40B4-BE49-F238E27FC236}">
                    <a16:creationId xmlns:a16="http://schemas.microsoft.com/office/drawing/2014/main" id="{F3A337BB-C5D9-AD49-B307-7A79F0F2AF4D}"/>
                  </a:ext>
                </a:extLst>
              </p:cNvPr>
              <p:cNvSpPr/>
              <p:nvPr/>
            </p:nvSpPr>
            <p:spPr>
              <a:xfrm>
                <a:off x="825419" y="67716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2" name="Rounded Rectangle 141">
                <a:extLst>
                  <a:ext uri="{FF2B5EF4-FFF2-40B4-BE49-F238E27FC236}">
                    <a16:creationId xmlns:a16="http://schemas.microsoft.com/office/drawing/2014/main" id="{1FA56956-947E-6A44-BDF8-04D8A6B6DFAF}"/>
                  </a:ext>
                </a:extLst>
              </p:cNvPr>
              <p:cNvSpPr/>
              <p:nvPr/>
            </p:nvSpPr>
            <p:spPr>
              <a:xfrm>
                <a:off x="825419" y="118770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3" name="Rounded Rectangle 142">
                <a:extLst>
                  <a:ext uri="{FF2B5EF4-FFF2-40B4-BE49-F238E27FC236}">
                    <a16:creationId xmlns:a16="http://schemas.microsoft.com/office/drawing/2014/main" id="{A57FE6D9-E4CC-2848-987E-37DB9593F858}"/>
                  </a:ext>
                </a:extLst>
              </p:cNvPr>
              <p:cNvSpPr/>
              <p:nvPr/>
            </p:nvSpPr>
            <p:spPr>
              <a:xfrm>
                <a:off x="825419" y="169824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4" name="Rounded Rectangle 143">
                <a:extLst>
                  <a:ext uri="{FF2B5EF4-FFF2-40B4-BE49-F238E27FC236}">
                    <a16:creationId xmlns:a16="http://schemas.microsoft.com/office/drawing/2014/main" id="{D2476BDE-3A25-214D-860F-F20F2E9215FD}"/>
                  </a:ext>
                </a:extLst>
              </p:cNvPr>
              <p:cNvSpPr/>
              <p:nvPr/>
            </p:nvSpPr>
            <p:spPr>
              <a:xfrm>
                <a:off x="825419" y="2208784"/>
                <a:ext cx="452845" cy="3918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grpSp>
      </p:grpSp>
      <p:sp>
        <p:nvSpPr>
          <p:cNvPr id="10" name="Oval 9">
            <a:extLst>
              <a:ext uri="{FF2B5EF4-FFF2-40B4-BE49-F238E27FC236}">
                <a16:creationId xmlns:a16="http://schemas.microsoft.com/office/drawing/2014/main" id="{A279915C-DD10-2449-B0DD-D330D82B2672}"/>
              </a:ext>
            </a:extLst>
          </p:cNvPr>
          <p:cNvSpPr/>
          <p:nvPr/>
        </p:nvSpPr>
        <p:spPr>
          <a:xfrm>
            <a:off x="6747132" y="963386"/>
            <a:ext cx="182880" cy="1828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CFBF104-F251-4E40-B803-E67FD857C8EB}"/>
              </a:ext>
            </a:extLst>
          </p:cNvPr>
          <p:cNvSpPr/>
          <p:nvPr/>
        </p:nvSpPr>
        <p:spPr>
          <a:xfrm>
            <a:off x="7425158" y="963386"/>
            <a:ext cx="182880" cy="1828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A6FBCB79-FC30-3542-B19B-F6D168072104}"/>
              </a:ext>
            </a:extLst>
          </p:cNvPr>
          <p:cNvSpPr/>
          <p:nvPr/>
        </p:nvSpPr>
        <p:spPr>
          <a:xfrm>
            <a:off x="7425158" y="1615105"/>
            <a:ext cx="182880" cy="1828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15D5BC01-8889-B443-B7C5-10C5FD772B47}"/>
              </a:ext>
            </a:extLst>
          </p:cNvPr>
          <p:cNvSpPr/>
          <p:nvPr/>
        </p:nvSpPr>
        <p:spPr>
          <a:xfrm>
            <a:off x="6747132" y="1615105"/>
            <a:ext cx="182880" cy="1828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6243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7E4CCBC-70A8-C145-9BEF-F606FC2487E3}"/>
              </a:ext>
            </a:extLst>
          </p:cNvPr>
          <p:cNvGraphicFramePr>
            <a:graphicFrameLocks noGrp="1"/>
          </p:cNvGraphicFramePr>
          <p:nvPr>
            <p:extLst>
              <p:ext uri="{D42A27DB-BD31-4B8C-83A1-F6EECF244321}">
                <p14:modId xmlns:p14="http://schemas.microsoft.com/office/powerpoint/2010/main" val="2931308281"/>
              </p:ext>
            </p:extLst>
          </p:nvPr>
        </p:nvGraphicFramePr>
        <p:xfrm>
          <a:off x="226997" y="736250"/>
          <a:ext cx="7886700" cy="202946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330200">
                <a:tc>
                  <a:txBody>
                    <a:bodyPr/>
                    <a:lstStyle/>
                    <a:p>
                      <a:pPr marL="0" marR="0">
                        <a:spcBef>
                          <a:spcPts val="0"/>
                        </a:spcBef>
                        <a:spcAft>
                          <a:spcPts val="0"/>
                        </a:spcAft>
                      </a:pPr>
                      <a:r>
                        <a:rPr lang="en-US" sz="1200" dirty="0">
                          <a:effectLst/>
                        </a:rPr>
                        <a:t>Bioreactor 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7658199"/>
                  </a:ext>
                </a:extLst>
              </a:tr>
              <a:tr h="190500">
                <a:tc>
                  <a:txBody>
                    <a:bodyPr/>
                    <a:lstStyle/>
                    <a:p>
                      <a:pPr marL="0" marR="0">
                        <a:spcBef>
                          <a:spcPts val="0"/>
                        </a:spcBef>
                        <a:spcAft>
                          <a:spcPts val="0"/>
                        </a:spcAft>
                      </a:pPr>
                      <a:r>
                        <a:rPr lang="en-US" sz="1200" dirty="0">
                          <a:effectLst/>
                        </a:rPr>
                        <a:t>Bioreactor Size (L)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500-2000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bioreactors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1-4 </a:t>
                      </a: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rPr>
                        <a:t>Avg cell density (million cells/mL)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50-120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a:effectLst/>
                        </a:rPr>
                        <a:t>Qp (pg/cell/day)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20-40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190500">
                <a:tc>
                  <a:txBody>
                    <a:bodyPr/>
                    <a:lstStyle/>
                    <a:p>
                      <a:pPr marL="0" marR="0">
                        <a:spcBef>
                          <a:spcPts val="0"/>
                        </a:spcBef>
                        <a:spcAft>
                          <a:spcPts val="0"/>
                        </a:spcAft>
                      </a:pPr>
                      <a:r>
                        <a:rPr lang="en-US" sz="1200" dirty="0">
                          <a:effectLst/>
                        </a:rPr>
                        <a:t>Permeate Perfusion Rate (bioreactor volumes/day, </a:t>
                      </a:r>
                      <a:r>
                        <a:rPr lang="en-US" sz="1200" dirty="0" err="1">
                          <a:effectLst/>
                        </a:rPr>
                        <a:t>vvd</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0.5-2 (1.5)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rPr>
                        <a:t>Lot (Batch) Duration (days)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concentrated media feeds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1-5 (3)</a:t>
                      </a: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dirty="0">
                          <a:effectLst/>
                        </a:rPr>
                        <a:t> Media Concentration Factor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1x to 5x (20x, 12x, and 5x)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079449"/>
                  </a:ext>
                </a:extLst>
              </a:tr>
            </a:tbl>
          </a:graphicData>
        </a:graphic>
      </p:graphicFrame>
      <p:sp>
        <p:nvSpPr>
          <p:cNvPr id="13" name="Rectangle 2">
            <a:extLst>
              <a:ext uri="{FF2B5EF4-FFF2-40B4-BE49-F238E27FC236}">
                <a16:creationId xmlns:a16="http://schemas.microsoft.com/office/drawing/2014/main" id="{9B548F51-332E-D745-ADA6-14BC3FE9C128}"/>
              </a:ext>
            </a:extLst>
          </p:cNvPr>
          <p:cNvSpPr>
            <a:spLocks noChangeArrowheads="1"/>
          </p:cNvSpPr>
          <p:nvPr/>
        </p:nvSpPr>
        <p:spPr bwMode="auto">
          <a:xfrm>
            <a:off x="226997" y="4365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3">
            <a:extLst>
              <a:ext uri="{FF2B5EF4-FFF2-40B4-BE49-F238E27FC236}">
                <a16:creationId xmlns:a16="http://schemas.microsoft.com/office/drawing/2014/main" id="{0AF90473-B588-8E44-BA06-35E408F92F28}"/>
              </a:ext>
            </a:extLst>
          </p:cNvPr>
          <p:cNvSpPr>
            <a:spLocks noChangeArrowheads="1"/>
          </p:cNvSpPr>
          <p:nvPr/>
        </p:nvSpPr>
        <p:spPr bwMode="auto">
          <a:xfrm>
            <a:off x="329547" y="410289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4">
            <a:extLst>
              <a:ext uri="{FF2B5EF4-FFF2-40B4-BE49-F238E27FC236}">
                <a16:creationId xmlns:a16="http://schemas.microsoft.com/office/drawing/2014/main" id="{AEC78DCD-E3E6-1E49-8FD4-7E4624B9FCCE}"/>
              </a:ext>
            </a:extLst>
          </p:cNvPr>
          <p:cNvSpPr>
            <a:spLocks noChangeArrowheads="1"/>
          </p:cNvSpPr>
          <p:nvPr/>
        </p:nvSpPr>
        <p:spPr bwMode="auto">
          <a:xfrm>
            <a:off x="189076" y="453743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EEF213E7-6593-364D-BF30-6D1FDEF35DDC}"/>
              </a:ext>
            </a:extLst>
          </p:cNvPr>
          <p:cNvGraphicFramePr>
            <a:graphicFrameLocks noGrp="1"/>
          </p:cNvGraphicFramePr>
          <p:nvPr>
            <p:extLst>
              <p:ext uri="{D42A27DB-BD31-4B8C-83A1-F6EECF244321}">
                <p14:modId xmlns:p14="http://schemas.microsoft.com/office/powerpoint/2010/main" val="973245846"/>
              </p:ext>
            </p:extLst>
          </p:nvPr>
        </p:nvGraphicFramePr>
        <p:xfrm>
          <a:off x="226997" y="2807318"/>
          <a:ext cx="7886700" cy="109220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330200">
                <a:tc>
                  <a:txBody>
                    <a:bodyPr/>
                    <a:lstStyle/>
                    <a:p>
                      <a:pPr marL="0" marR="0">
                        <a:spcBef>
                          <a:spcPts val="0"/>
                        </a:spcBef>
                        <a:spcAft>
                          <a:spcPts val="0"/>
                        </a:spcAft>
                      </a:pPr>
                      <a:r>
                        <a:rPr lang="en-US" sz="1200" dirty="0">
                          <a:effectLst/>
                        </a:rPr>
                        <a:t>Cell Retention Systems for 2000L bioreactors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7658199"/>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ATF 10 for ATF setup</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 per 2000L bioreactor</a:t>
                      </a: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modules in series for TFF setup</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 per 2000 bioreactor</a:t>
                      </a:r>
                    </a:p>
                  </a:txBody>
                  <a:tcPr marL="68580" marR="68580" marT="0" marB="0"/>
                </a:tc>
                <a:extLst>
                  <a:ext uri="{0D108BD9-81ED-4DB2-BD59-A6C34878D82A}">
                    <a16:rowId xmlns:a16="http://schemas.microsoft.com/office/drawing/2014/main" val="1230439096"/>
                  </a:ext>
                </a:extLst>
              </a:tr>
              <a:tr h="190500">
                <a:tc>
                  <a:txBody>
                    <a:bodyPr/>
                    <a:lstStyle/>
                    <a:p>
                      <a:pPr marL="0" marR="0">
                        <a:spcBef>
                          <a:spcPts val="0"/>
                        </a:spcBef>
                        <a:spcAft>
                          <a:spcPts val="0"/>
                        </a:spcAft>
                      </a:pPr>
                      <a:r>
                        <a:rPr lang="en-US" sz="1200" dirty="0">
                          <a:effectLst/>
                        </a:rPr>
                        <a:t>Filter changes per lot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 per bioreactor</a:t>
                      </a: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dirty="0">
                          <a:effectLst/>
                        </a:rPr>
                        <a:t>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bl>
          </a:graphicData>
        </a:graphic>
      </p:graphicFrame>
      <p:sp>
        <p:nvSpPr>
          <p:cNvPr id="2" name="Title 1">
            <a:extLst>
              <a:ext uri="{FF2B5EF4-FFF2-40B4-BE49-F238E27FC236}">
                <a16:creationId xmlns:a16="http://schemas.microsoft.com/office/drawing/2014/main" id="{0783AD86-9712-B845-983E-25DD050DD3A0}"/>
              </a:ext>
            </a:extLst>
          </p:cNvPr>
          <p:cNvSpPr>
            <a:spLocks noGrp="1"/>
          </p:cNvSpPr>
          <p:nvPr>
            <p:ph type="title"/>
          </p:nvPr>
        </p:nvSpPr>
        <p:spPr/>
        <p:txBody>
          <a:bodyPr/>
          <a:lstStyle/>
          <a:p>
            <a:r>
              <a:rPr lang="en-US" dirty="0"/>
              <a:t>Bioreactor Assumptions</a:t>
            </a:r>
          </a:p>
        </p:txBody>
      </p:sp>
    </p:spTree>
    <p:extLst>
      <p:ext uri="{BB962C8B-B14F-4D97-AF65-F5344CB8AC3E}">
        <p14:creationId xmlns:p14="http://schemas.microsoft.com/office/powerpoint/2010/main" val="865344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A7629A-DBBC-FD42-BC66-F87FD1D46859}"/>
              </a:ext>
            </a:extLst>
          </p:cNvPr>
          <p:cNvSpPr>
            <a:spLocks noGrp="1"/>
          </p:cNvSpPr>
          <p:nvPr>
            <p:ph type="sldNum" sz="quarter" idx="4"/>
          </p:nvPr>
        </p:nvSpPr>
        <p:spPr/>
        <p:txBody>
          <a:bodyPr/>
          <a:lstStyle/>
          <a:p>
            <a:fld id="{3C4F54F3-C349-4609-AFEE-01462D5C7942}" type="slidenum">
              <a:rPr lang="en-GB" smtClean="0"/>
              <a:pPr/>
              <a:t>6</a:t>
            </a:fld>
            <a:endParaRPr lang="en-GB"/>
          </a:p>
        </p:txBody>
      </p:sp>
      <p:sp>
        <p:nvSpPr>
          <p:cNvPr id="3" name="Title 2">
            <a:extLst>
              <a:ext uri="{FF2B5EF4-FFF2-40B4-BE49-F238E27FC236}">
                <a16:creationId xmlns:a16="http://schemas.microsoft.com/office/drawing/2014/main" id="{5A5D694C-DEB2-374E-A74B-E6E4F973F53D}"/>
              </a:ext>
            </a:extLst>
          </p:cNvPr>
          <p:cNvSpPr>
            <a:spLocks noGrp="1"/>
          </p:cNvSpPr>
          <p:nvPr>
            <p:ph type="title"/>
          </p:nvPr>
        </p:nvSpPr>
        <p:spPr/>
        <p:txBody>
          <a:bodyPr/>
          <a:lstStyle/>
          <a:p>
            <a:r>
              <a:rPr lang="en-US" dirty="0"/>
              <a:t>Downstream Assumptions</a:t>
            </a:r>
          </a:p>
        </p:txBody>
      </p:sp>
      <p:graphicFrame>
        <p:nvGraphicFramePr>
          <p:cNvPr id="4" name="Table 3">
            <a:extLst>
              <a:ext uri="{FF2B5EF4-FFF2-40B4-BE49-F238E27FC236}">
                <a16:creationId xmlns:a16="http://schemas.microsoft.com/office/drawing/2014/main" id="{AC34A2BE-FDBE-ED42-BC45-EE8BFB65E88B}"/>
              </a:ext>
            </a:extLst>
          </p:cNvPr>
          <p:cNvGraphicFramePr>
            <a:graphicFrameLocks noGrp="1"/>
          </p:cNvGraphicFramePr>
          <p:nvPr>
            <p:extLst>
              <p:ext uri="{D42A27DB-BD31-4B8C-83A1-F6EECF244321}">
                <p14:modId xmlns:p14="http://schemas.microsoft.com/office/powerpoint/2010/main" val="755449642"/>
              </p:ext>
            </p:extLst>
          </p:nvPr>
        </p:nvGraphicFramePr>
        <p:xfrm>
          <a:off x="178339" y="527808"/>
          <a:ext cx="7886700" cy="1846580"/>
        </p:xfrm>
        <a:graphic>
          <a:graphicData uri="http://schemas.openxmlformats.org/drawingml/2006/table">
            <a:tbl>
              <a:tblPr firstRow="1" firstCol="1" bandRow="1">
                <a:tableStyleId>{5C22544A-7EE6-4342-B048-85BDC9FD1C3A}</a:tableStyleId>
              </a:tblPr>
              <a:tblGrid>
                <a:gridCol w="1971675">
                  <a:extLst>
                    <a:ext uri="{9D8B030D-6E8A-4147-A177-3AD203B41FA5}">
                      <a16:colId xmlns:a16="http://schemas.microsoft.com/office/drawing/2014/main" val="2944500484"/>
                    </a:ext>
                  </a:extLst>
                </a:gridCol>
                <a:gridCol w="1971675">
                  <a:extLst>
                    <a:ext uri="{9D8B030D-6E8A-4147-A177-3AD203B41FA5}">
                      <a16:colId xmlns:a16="http://schemas.microsoft.com/office/drawing/2014/main" val="3981563227"/>
                    </a:ext>
                  </a:extLst>
                </a:gridCol>
                <a:gridCol w="1971675">
                  <a:extLst>
                    <a:ext uri="{9D8B030D-6E8A-4147-A177-3AD203B41FA5}">
                      <a16:colId xmlns:a16="http://schemas.microsoft.com/office/drawing/2014/main" val="404958995"/>
                    </a:ext>
                  </a:extLst>
                </a:gridCol>
                <a:gridCol w="1971675">
                  <a:extLst>
                    <a:ext uri="{9D8B030D-6E8A-4147-A177-3AD203B41FA5}">
                      <a16:colId xmlns:a16="http://schemas.microsoft.com/office/drawing/2014/main" val="2918544811"/>
                    </a:ext>
                  </a:extLst>
                </a:gridCol>
              </a:tblGrid>
              <a:tr h="368300">
                <a:tc>
                  <a:txBody>
                    <a:bodyPr/>
                    <a:lstStyle/>
                    <a:p>
                      <a:pPr marL="0" marR="0">
                        <a:spcBef>
                          <a:spcPts val="0"/>
                        </a:spcBef>
                        <a:spcAft>
                          <a:spcPts val="0"/>
                        </a:spcAft>
                      </a:pPr>
                      <a:r>
                        <a:rPr lang="en-US" sz="1200">
                          <a:effectLst/>
                        </a:rPr>
                        <a:t>Chromatography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Protein 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Flow Through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Bind/Elute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2968557"/>
                  </a:ext>
                </a:extLst>
              </a:tr>
              <a:tr h="190500">
                <a:tc>
                  <a:txBody>
                    <a:bodyPr/>
                    <a:lstStyle/>
                    <a:p>
                      <a:pPr marL="0" marR="0">
                        <a:spcBef>
                          <a:spcPts val="0"/>
                        </a:spcBef>
                        <a:spcAft>
                          <a:spcPts val="0"/>
                        </a:spcAft>
                      </a:pPr>
                      <a:r>
                        <a:rPr lang="en-US" sz="1200">
                          <a:effectLst/>
                        </a:rPr>
                        <a:t>Capacity (g/L)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(60 SCC, 73MCC)</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50-150 (100 SCC, 120 MCC)</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(40 SCC, 44 MCC)</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9525458"/>
                  </a:ext>
                </a:extLst>
              </a:tr>
              <a:tr h="190500">
                <a:tc>
                  <a:txBody>
                    <a:bodyPr/>
                    <a:lstStyle/>
                    <a:p>
                      <a:pPr marL="0" marR="0">
                        <a:spcBef>
                          <a:spcPts val="0"/>
                        </a:spcBef>
                        <a:spcAft>
                          <a:spcPts val="0"/>
                        </a:spcAft>
                      </a:pPr>
                      <a:r>
                        <a:rPr lang="en-US" sz="1200" dirty="0">
                          <a:effectLst/>
                        </a:rPr>
                        <a:t>Buffer Volume (1x) used (Column Volume, CV)</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16-22 (22)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10-16 (16)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10-20 (16)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6386097"/>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Volume of solutions (column volumes)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21</a:t>
                      </a:r>
                    </a:p>
                  </a:txBody>
                  <a:tcPr marL="68580" marR="68580" marT="0" marB="0"/>
                </a:tc>
                <a:tc>
                  <a:txBody>
                    <a:bodyPr/>
                    <a:lstStyle/>
                    <a:p>
                      <a:pPr marL="0" marR="0" algn="r">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tc>
                <a:tc>
                  <a:txBody>
                    <a:bodyPr/>
                    <a:lstStyle/>
                    <a:p>
                      <a:pPr marL="0" marR="0" algn="r">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16</a:t>
                      </a:r>
                    </a:p>
                  </a:txBody>
                  <a:tcPr marL="68580" marR="68580" marT="0" marB="0"/>
                </a:tc>
                <a:extLst>
                  <a:ext uri="{0D108BD9-81ED-4DB2-BD59-A6C34878D82A}">
                    <a16:rowId xmlns:a16="http://schemas.microsoft.com/office/drawing/2014/main" val="1477830732"/>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solutions used</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tc>
                <a:tc>
                  <a:txBody>
                    <a:bodyPr/>
                    <a:lstStyle/>
                    <a:p>
                      <a:pPr marL="0" marR="0" algn="r">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tc>
                  <a:txBody>
                    <a:bodyPr/>
                    <a:lstStyle/>
                    <a:p>
                      <a:pPr marL="0" marR="0" algn="r">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extLst>
                  <a:ext uri="{0D108BD9-81ED-4DB2-BD59-A6C34878D82A}">
                    <a16:rowId xmlns:a16="http://schemas.microsoft.com/office/drawing/2014/main" val="1013281832"/>
                  </a:ext>
                </a:extLst>
              </a:tr>
              <a:tr h="190500">
                <a:tc>
                  <a:txBody>
                    <a:bodyPr/>
                    <a:lstStyle/>
                    <a:p>
                      <a:pPr marL="0" marR="0">
                        <a:spcBef>
                          <a:spcPts val="0"/>
                        </a:spcBef>
                        <a:spcAft>
                          <a:spcPts val="0"/>
                        </a:spcAft>
                      </a:pPr>
                      <a:r>
                        <a:rPr lang="en-US" sz="1200" dirty="0">
                          <a:effectLst/>
                        </a:rPr>
                        <a:t>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90%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a:effectLst/>
                        </a:rPr>
                        <a:t>95%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85%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1016"/>
                  </a:ext>
                </a:extLst>
              </a:tr>
            </a:tbl>
          </a:graphicData>
        </a:graphic>
      </p:graphicFrame>
      <p:graphicFrame>
        <p:nvGraphicFramePr>
          <p:cNvPr id="5" name="Table 4">
            <a:extLst>
              <a:ext uri="{FF2B5EF4-FFF2-40B4-BE49-F238E27FC236}">
                <a16:creationId xmlns:a16="http://schemas.microsoft.com/office/drawing/2014/main" id="{42903409-2EFF-8740-82A5-5D1D236E018B}"/>
              </a:ext>
            </a:extLst>
          </p:cNvPr>
          <p:cNvGraphicFramePr>
            <a:graphicFrameLocks noGrp="1"/>
          </p:cNvGraphicFramePr>
          <p:nvPr>
            <p:extLst>
              <p:ext uri="{D42A27DB-BD31-4B8C-83A1-F6EECF244321}">
                <p14:modId xmlns:p14="http://schemas.microsoft.com/office/powerpoint/2010/main" val="2332226160"/>
              </p:ext>
            </p:extLst>
          </p:nvPr>
        </p:nvGraphicFramePr>
        <p:xfrm>
          <a:off x="178339" y="2363504"/>
          <a:ext cx="7886700" cy="2472421"/>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3192870925"/>
                    </a:ext>
                  </a:extLst>
                </a:gridCol>
                <a:gridCol w="3943350">
                  <a:extLst>
                    <a:ext uri="{9D8B030D-6E8A-4147-A177-3AD203B41FA5}">
                      <a16:colId xmlns:a16="http://schemas.microsoft.com/office/drawing/2014/main" val="1921168094"/>
                    </a:ext>
                  </a:extLst>
                </a:gridCol>
              </a:tblGrid>
              <a:tr h="300721">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Step</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Yield</a:t>
                      </a:r>
                    </a:p>
                  </a:txBody>
                  <a:tcPr marL="68580" marR="68580" marT="0" marB="0"/>
                </a:tc>
                <a:extLst>
                  <a:ext uri="{0D108BD9-81ED-4DB2-BD59-A6C34878D82A}">
                    <a16:rowId xmlns:a16="http://schemas.microsoft.com/office/drawing/2014/main" val="1412564456"/>
                  </a:ext>
                </a:extLst>
              </a:tr>
              <a:tr h="3302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Cell Retention</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90%</a:t>
                      </a:r>
                    </a:p>
                  </a:txBody>
                  <a:tcPr marL="68580" marR="68580" marT="0" marB="0"/>
                </a:tc>
                <a:extLst>
                  <a:ext uri="{0D108BD9-81ED-4DB2-BD59-A6C34878D82A}">
                    <a16:rowId xmlns:a16="http://schemas.microsoft.com/office/drawing/2014/main" val="2967508193"/>
                  </a:ext>
                </a:extLst>
              </a:tr>
              <a:tr h="3302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Capture Chromatography</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90%</a:t>
                      </a:r>
                    </a:p>
                  </a:txBody>
                  <a:tcPr marL="68580" marR="68580" marT="0" marB="0"/>
                </a:tc>
                <a:extLst>
                  <a:ext uri="{0D108BD9-81ED-4DB2-BD59-A6C34878D82A}">
                    <a16:rowId xmlns:a16="http://schemas.microsoft.com/office/drawing/2014/main" val="3354305547"/>
                  </a:ext>
                </a:extLst>
              </a:tr>
              <a:tr h="3302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Virus Inactivation</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98%</a:t>
                      </a:r>
                    </a:p>
                  </a:txBody>
                  <a:tcPr marL="68580" marR="68580" marT="0" marB="0"/>
                </a:tc>
                <a:extLst>
                  <a:ext uri="{0D108BD9-81ED-4DB2-BD59-A6C34878D82A}">
                    <a16:rowId xmlns:a16="http://schemas.microsoft.com/office/drawing/2014/main" val="2234075605"/>
                  </a:ext>
                </a:extLst>
              </a:tr>
              <a:tr h="3302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Flow Through Chromatography</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95%</a:t>
                      </a:r>
                    </a:p>
                  </a:txBody>
                  <a:tcPr marL="68580" marR="68580" marT="0" marB="0"/>
                </a:tc>
                <a:extLst>
                  <a:ext uri="{0D108BD9-81ED-4DB2-BD59-A6C34878D82A}">
                    <a16:rowId xmlns:a16="http://schemas.microsoft.com/office/drawing/2014/main" val="4193496045"/>
                  </a:ext>
                </a:extLst>
              </a:tr>
              <a:tr h="3302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Bind and elution polishing step</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85%</a:t>
                      </a:r>
                    </a:p>
                  </a:txBody>
                  <a:tcPr marL="68580" marR="68580" marT="0" marB="0"/>
                </a:tc>
                <a:extLst>
                  <a:ext uri="{0D108BD9-81ED-4DB2-BD59-A6C34878D82A}">
                    <a16:rowId xmlns:a16="http://schemas.microsoft.com/office/drawing/2014/main" val="4211838678"/>
                  </a:ext>
                </a:extLst>
              </a:tr>
              <a:tr h="330200">
                <a:tc>
                  <a:txBody>
                    <a:bodyPr/>
                    <a:lstStyle/>
                    <a:p>
                      <a:pPr marL="0" marR="0">
                        <a:spcBef>
                          <a:spcPts val="0"/>
                        </a:spcBef>
                        <a:spcAft>
                          <a:spcPts val="0"/>
                        </a:spcAft>
                      </a:pPr>
                      <a:r>
                        <a:rPr lang="en-US" sz="1200" dirty="0">
                          <a:effectLst/>
                        </a:rPr>
                        <a:t>Virus Filtration 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9964336"/>
                  </a:ext>
                </a:extLst>
              </a:tr>
              <a:tr h="190500">
                <a:tc>
                  <a:txBody>
                    <a:bodyPr/>
                    <a:lstStyle/>
                    <a:p>
                      <a:pPr marL="0" marR="0">
                        <a:spcBef>
                          <a:spcPts val="0"/>
                        </a:spcBef>
                        <a:spcAft>
                          <a:spcPts val="0"/>
                        </a:spcAft>
                      </a:pPr>
                      <a:r>
                        <a:rPr lang="en-US" sz="1200" dirty="0">
                          <a:effectLst/>
                        </a:rPr>
                        <a:t>UFDF 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0353496"/>
                  </a:ext>
                </a:extLst>
              </a:tr>
            </a:tbl>
          </a:graphicData>
        </a:graphic>
      </p:graphicFrame>
      <p:sp>
        <p:nvSpPr>
          <p:cNvPr id="7" name="TextBox 6">
            <a:extLst>
              <a:ext uri="{FF2B5EF4-FFF2-40B4-BE49-F238E27FC236}">
                <a16:creationId xmlns:a16="http://schemas.microsoft.com/office/drawing/2014/main" id="{2C1D3B86-774D-4B49-AAB3-AD9F775B991B}"/>
              </a:ext>
            </a:extLst>
          </p:cNvPr>
          <p:cNvSpPr txBox="1"/>
          <p:nvPr/>
        </p:nvSpPr>
        <p:spPr>
          <a:xfrm>
            <a:off x="1703459" y="4842567"/>
            <a:ext cx="6191075" cy="307777"/>
          </a:xfrm>
          <a:prstGeom prst="rect">
            <a:avLst/>
          </a:prstGeom>
          <a:noFill/>
        </p:spPr>
        <p:txBody>
          <a:bodyPr wrap="square" rtlCol="0">
            <a:spAutoFit/>
          </a:bodyPr>
          <a:lstStyle/>
          <a:p>
            <a:r>
              <a:rPr lang="en-US" sz="1400" dirty="0"/>
              <a:t>Numbers in parentheses are used in text as example</a:t>
            </a:r>
          </a:p>
        </p:txBody>
      </p:sp>
    </p:spTree>
    <p:extLst>
      <p:ext uri="{BB962C8B-B14F-4D97-AF65-F5344CB8AC3E}">
        <p14:creationId xmlns:p14="http://schemas.microsoft.com/office/powerpoint/2010/main" val="3601023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543035-14D8-FF4D-B6DB-C23A3CEB853C}"/>
              </a:ext>
            </a:extLst>
          </p:cNvPr>
          <p:cNvSpPr>
            <a:spLocks noGrp="1"/>
          </p:cNvSpPr>
          <p:nvPr>
            <p:ph type="sldNum" sz="quarter" idx="4"/>
          </p:nvPr>
        </p:nvSpPr>
        <p:spPr/>
        <p:txBody>
          <a:bodyPr/>
          <a:lstStyle/>
          <a:p>
            <a:fld id="{3C4F54F3-C349-4609-AFEE-01462D5C7942}" type="slidenum">
              <a:rPr lang="en-GB" smtClean="0"/>
              <a:pPr/>
              <a:t>7</a:t>
            </a:fld>
            <a:endParaRPr lang="en-GB"/>
          </a:p>
        </p:txBody>
      </p:sp>
      <p:sp>
        <p:nvSpPr>
          <p:cNvPr id="3" name="Title 2">
            <a:extLst>
              <a:ext uri="{FF2B5EF4-FFF2-40B4-BE49-F238E27FC236}">
                <a16:creationId xmlns:a16="http://schemas.microsoft.com/office/drawing/2014/main" id="{4962646A-1E7D-3F47-B847-AC1E59BC1233}"/>
              </a:ext>
            </a:extLst>
          </p:cNvPr>
          <p:cNvSpPr>
            <a:spLocks noGrp="1"/>
          </p:cNvSpPr>
          <p:nvPr>
            <p:ph type="title"/>
          </p:nvPr>
        </p:nvSpPr>
        <p:spPr/>
        <p:txBody>
          <a:bodyPr/>
          <a:lstStyle/>
          <a:p>
            <a:endParaRPr lang="en-US"/>
          </a:p>
        </p:txBody>
      </p:sp>
      <p:graphicFrame>
        <p:nvGraphicFramePr>
          <p:cNvPr id="4" name="Table 3">
            <a:extLst>
              <a:ext uri="{FF2B5EF4-FFF2-40B4-BE49-F238E27FC236}">
                <a16:creationId xmlns:a16="http://schemas.microsoft.com/office/drawing/2014/main" id="{03752FF2-6511-5045-87EC-BBD9A1D985CF}"/>
              </a:ext>
            </a:extLst>
          </p:cNvPr>
          <p:cNvGraphicFramePr>
            <a:graphicFrameLocks noGrp="1"/>
          </p:cNvGraphicFramePr>
          <p:nvPr>
            <p:extLst>
              <p:ext uri="{D42A27DB-BD31-4B8C-83A1-F6EECF244321}">
                <p14:modId xmlns:p14="http://schemas.microsoft.com/office/powerpoint/2010/main" val="1581049955"/>
              </p:ext>
            </p:extLst>
          </p:nvPr>
        </p:nvGraphicFramePr>
        <p:xfrm>
          <a:off x="860031" y="1249676"/>
          <a:ext cx="6665561" cy="3361992"/>
        </p:xfrm>
        <a:graphic>
          <a:graphicData uri="http://schemas.openxmlformats.org/drawingml/2006/table">
            <a:tbl>
              <a:tblPr firstRow="1" firstCol="1" bandRow="1">
                <a:tableStyleId>{93296810-A885-4BE3-A3E7-6D5BEEA58F35}</a:tableStyleId>
              </a:tblPr>
              <a:tblGrid>
                <a:gridCol w="2117116">
                  <a:extLst>
                    <a:ext uri="{9D8B030D-6E8A-4147-A177-3AD203B41FA5}">
                      <a16:colId xmlns:a16="http://schemas.microsoft.com/office/drawing/2014/main" val="2782183573"/>
                    </a:ext>
                  </a:extLst>
                </a:gridCol>
                <a:gridCol w="881523">
                  <a:extLst>
                    <a:ext uri="{9D8B030D-6E8A-4147-A177-3AD203B41FA5}">
                      <a16:colId xmlns:a16="http://schemas.microsoft.com/office/drawing/2014/main" val="3545945478"/>
                    </a:ext>
                  </a:extLst>
                </a:gridCol>
                <a:gridCol w="874215">
                  <a:extLst>
                    <a:ext uri="{9D8B030D-6E8A-4147-A177-3AD203B41FA5}">
                      <a16:colId xmlns:a16="http://schemas.microsoft.com/office/drawing/2014/main" val="3229689741"/>
                    </a:ext>
                  </a:extLst>
                </a:gridCol>
                <a:gridCol w="761285">
                  <a:extLst>
                    <a:ext uri="{9D8B030D-6E8A-4147-A177-3AD203B41FA5}">
                      <a16:colId xmlns:a16="http://schemas.microsoft.com/office/drawing/2014/main" val="3417775459"/>
                    </a:ext>
                  </a:extLst>
                </a:gridCol>
                <a:gridCol w="969210">
                  <a:extLst>
                    <a:ext uri="{9D8B030D-6E8A-4147-A177-3AD203B41FA5}">
                      <a16:colId xmlns:a16="http://schemas.microsoft.com/office/drawing/2014/main" val="3055886198"/>
                    </a:ext>
                  </a:extLst>
                </a:gridCol>
                <a:gridCol w="1062212">
                  <a:extLst>
                    <a:ext uri="{9D8B030D-6E8A-4147-A177-3AD203B41FA5}">
                      <a16:colId xmlns:a16="http://schemas.microsoft.com/office/drawing/2014/main" val="2363293353"/>
                    </a:ext>
                  </a:extLst>
                </a:gridCol>
              </a:tblGrid>
              <a:tr h="1016000">
                <a:tc>
                  <a:txBody>
                    <a:bodyPr/>
                    <a:lstStyle/>
                    <a:p>
                      <a:endParaRPr lang="en-US" sz="1200" dirty="0">
                        <a:effectLst/>
                        <a:latin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a:effectLst/>
                        </a:rPr>
                        <a:t>Number of Buffers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Wash volume (column volume or </a:t>
                      </a:r>
                      <a:r>
                        <a:rPr lang="en-US" sz="1200" dirty="0" err="1">
                          <a:effectLst/>
                        </a:rPr>
                        <a:t>Diavolume</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dirty="0">
                          <a:effectLst/>
                        </a:rPr>
                        <a:t>Product Mass Index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a:effectLst/>
                        </a:rPr>
                        <a:t>Buffer Conc Factor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dirty="0">
                          <a:effectLst/>
                        </a:rPr>
                        <a:t>Buffer Concentrate Mass Index (kg buffer/kg BDS)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8671660"/>
                  </a:ext>
                </a:extLst>
              </a:tr>
              <a:tr h="190500">
                <a:tc>
                  <a:txBody>
                    <a:bodyPr/>
                    <a:lstStyle/>
                    <a:p>
                      <a:pPr algn="l" fontAlgn="b"/>
                      <a:r>
                        <a:rPr lang="en-US" sz="1200" u="none" strike="noStrike" dirty="0" err="1">
                          <a:effectLst/>
                        </a:rPr>
                        <a:t>ProA</a:t>
                      </a:r>
                      <a:endParaRPr lang="en-US" sz="1200" b="0" i="0" u="none" strike="noStrike" dirty="0">
                        <a:solidFill>
                          <a:schemeClr val="bg1"/>
                        </a:solidFill>
                        <a:effectLst/>
                        <a:latin typeface="Calibri" panose="020F0502020204030204" pitchFamily="34" charset="0"/>
                      </a:endParaRPr>
                    </a:p>
                  </a:txBody>
                  <a:tcPr marL="9525" marR="9525" marT="9525" marB="0" anchor="b"/>
                </a:tc>
                <a:tc>
                  <a:txBody>
                    <a:bodyPr/>
                    <a:lstStyle/>
                    <a:p>
                      <a:pPr marL="0" marR="0" algn="r">
                        <a:spcBef>
                          <a:spcPts val="0"/>
                        </a:spcBef>
                        <a:spcAft>
                          <a:spcPts val="0"/>
                        </a:spcAft>
                      </a:pPr>
                      <a:r>
                        <a:rPr lang="en-US" sz="1200" dirty="0">
                          <a:effectLst/>
                        </a:rPr>
                        <a:t>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21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a:effectLst/>
                        </a:rPr>
                        <a:t>534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5</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107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02166404"/>
                  </a:ext>
                </a:extLst>
              </a:tr>
              <a:tr h="190500">
                <a:tc>
                  <a:txBody>
                    <a:bodyPr/>
                    <a:lstStyle/>
                    <a:p>
                      <a:pPr algn="l" fontAlgn="b"/>
                      <a:r>
                        <a:rPr lang="en-US" sz="1200" u="none" strike="noStrike" dirty="0">
                          <a:effectLst/>
                        </a:rPr>
                        <a:t>VI</a:t>
                      </a:r>
                      <a:endParaRPr lang="en-US" sz="1200" b="0" i="0" u="none" strike="noStrike" dirty="0">
                        <a:solidFill>
                          <a:schemeClr val="bg1"/>
                        </a:solidFill>
                        <a:effectLst/>
                        <a:latin typeface="Calibri" panose="020F0502020204030204" pitchFamily="34" charset="0"/>
                      </a:endParaRPr>
                    </a:p>
                  </a:txBody>
                  <a:tcPr marL="9525" marR="9525" marT="9525" marB="0" anchor="b"/>
                </a:tc>
                <a:tc>
                  <a:txBody>
                    <a:bodyPr/>
                    <a:lstStyle/>
                    <a:p>
                      <a:pPr marL="0" marR="0" algn="r">
                        <a:spcBef>
                          <a:spcPts val="0"/>
                        </a:spcBef>
                        <a:spcAft>
                          <a:spcPts val="0"/>
                        </a:spcAft>
                      </a:pPr>
                      <a:r>
                        <a:rPr lang="en-US" sz="1200" dirty="0">
                          <a:effectLst/>
                        </a:rPr>
                        <a:t>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0.1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a:effectLst/>
                        </a:rPr>
                        <a:t>15</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38557579"/>
                  </a:ext>
                </a:extLst>
              </a:tr>
              <a:tr h="190500">
                <a:tc>
                  <a:txBody>
                    <a:bodyPr/>
                    <a:lstStyle/>
                    <a:p>
                      <a:pPr algn="l" fontAlgn="b"/>
                      <a:r>
                        <a:rPr lang="en-US" sz="1200" u="none" strike="noStrike" dirty="0">
                          <a:effectLst/>
                        </a:rPr>
                        <a:t>AEX</a:t>
                      </a:r>
                      <a:endParaRPr lang="en-US" sz="1200" b="0" i="0" u="none" strike="noStrike" dirty="0">
                        <a:solidFill>
                          <a:schemeClr val="bg1"/>
                        </a:solidFill>
                        <a:effectLst/>
                        <a:latin typeface="Calibri" panose="020F0502020204030204" pitchFamily="34" charset="0"/>
                      </a:endParaRPr>
                    </a:p>
                  </a:txBody>
                  <a:tcPr marL="9525" marR="9525" marT="9525" marB="0" anchor="b"/>
                </a:tc>
                <a:tc>
                  <a:txBody>
                    <a:bodyPr/>
                    <a:lstStyle/>
                    <a:p>
                      <a:pPr marL="0" marR="0" algn="r">
                        <a:spcBef>
                          <a:spcPts val="0"/>
                        </a:spcBef>
                        <a:spcAft>
                          <a:spcPts val="0"/>
                        </a:spcAft>
                      </a:pPr>
                      <a:r>
                        <a:rPr lang="en-US" sz="1100" dirty="0">
                          <a:effectLst/>
                        </a:rPr>
                        <a:t>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a:effectLst/>
                        </a:rPr>
                        <a:t>220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5</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44</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26215969"/>
                  </a:ext>
                </a:extLst>
              </a:tr>
              <a:tr h="190500">
                <a:tc>
                  <a:txBody>
                    <a:bodyPr/>
                    <a:lstStyle/>
                    <a:p>
                      <a:pPr algn="l" fontAlgn="b"/>
                      <a:r>
                        <a:rPr lang="en-US" sz="1200" u="none" strike="noStrike" dirty="0">
                          <a:effectLst/>
                        </a:rPr>
                        <a:t>CEX</a:t>
                      </a:r>
                      <a:endParaRPr lang="en-US" sz="1200" b="0" i="0" u="none" strike="noStrike" dirty="0">
                        <a:solidFill>
                          <a:schemeClr val="bg1"/>
                        </a:solidFill>
                        <a:effectLst/>
                        <a:latin typeface="Calibri" panose="020F0502020204030204" pitchFamily="34" charset="0"/>
                      </a:endParaRPr>
                    </a:p>
                  </a:txBody>
                  <a:tcPr marL="9525" marR="9525" marT="9525" marB="0" anchor="b"/>
                </a:tc>
                <a:tc>
                  <a:txBody>
                    <a:bodyPr/>
                    <a:lstStyle/>
                    <a:p>
                      <a:pPr marL="0" marR="0" algn="r">
                        <a:spcBef>
                          <a:spcPts val="0"/>
                        </a:spcBef>
                        <a:spcAft>
                          <a:spcPts val="0"/>
                        </a:spcAft>
                      </a:pPr>
                      <a:r>
                        <a:rPr lang="en-US" sz="1100" dirty="0">
                          <a:effectLst/>
                        </a:rPr>
                        <a:t>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17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a:effectLst/>
                        </a:rPr>
                        <a:t>521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5</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104</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80094659"/>
                  </a:ext>
                </a:extLst>
              </a:tr>
              <a:tr h="272082">
                <a:tc>
                  <a:txBody>
                    <a:bodyPr/>
                    <a:lstStyle/>
                    <a:p>
                      <a:pPr algn="l" fontAlgn="b"/>
                      <a:r>
                        <a:rPr lang="en-US" sz="1200" u="none" strike="noStrike" dirty="0">
                          <a:effectLst/>
                        </a:rPr>
                        <a:t>VRF</a:t>
                      </a:r>
                      <a:endParaRPr lang="en-US" sz="1200" b="0" i="0" u="none" strike="noStrike" dirty="0">
                        <a:solidFill>
                          <a:schemeClr val="bg1"/>
                        </a:solidFill>
                        <a:effectLst/>
                        <a:latin typeface="Calibri" panose="020F0502020204030204" pitchFamily="34" charset="0"/>
                      </a:endParaRPr>
                    </a:p>
                  </a:txBody>
                  <a:tcPr marL="9525" marR="9525" marT="9525" marB="0" anchor="b"/>
                </a:tc>
                <a:tc>
                  <a:txBody>
                    <a:bodyPr/>
                    <a:lstStyle/>
                    <a:p>
                      <a:pPr marL="0" marR="0" algn="r">
                        <a:spcBef>
                          <a:spcPts val="0"/>
                        </a:spcBef>
                        <a:spcAft>
                          <a:spcPts val="0"/>
                        </a:spcAft>
                      </a:pPr>
                      <a:r>
                        <a:rPr lang="en-US" sz="1100" dirty="0">
                          <a:effectLst/>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100" dirty="0">
                          <a:effectLst/>
                        </a:rPr>
                        <a:t>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fontAlgn="b"/>
                      <a:r>
                        <a:rPr lang="en-US" sz="1200" u="none" strike="noStrike" dirty="0">
                          <a:effectLst/>
                        </a:rPr>
                        <a:t>15</a:t>
                      </a:r>
                      <a:endParaRPr lang="en-US"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b"/>
                      <a:r>
                        <a:rPr lang="en-US" sz="1200" u="none" strike="noStrike" dirty="0">
                          <a:effectLst/>
                        </a:rPr>
                        <a:t>5</a:t>
                      </a:r>
                      <a:endParaRPr lang="en-US"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b"/>
                      <a:r>
                        <a:rPr lang="en-US" sz="1200" u="none" strike="noStrike" dirty="0">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31375332"/>
                  </a:ext>
                </a:extLst>
              </a:tr>
              <a:tr h="190500">
                <a:tc>
                  <a:txBody>
                    <a:bodyPr/>
                    <a:lstStyle/>
                    <a:p>
                      <a:pPr algn="l" fontAlgn="b"/>
                      <a:r>
                        <a:rPr lang="en-US" sz="1200" u="none" strike="noStrike" dirty="0">
                          <a:effectLst/>
                        </a:rPr>
                        <a:t>UFDF</a:t>
                      </a:r>
                      <a:endParaRPr lang="en-US" sz="1200" b="0" i="0" u="none" strike="noStrike" dirty="0">
                        <a:solidFill>
                          <a:schemeClr val="bg1"/>
                        </a:solidFill>
                        <a:effectLst/>
                        <a:latin typeface="Calibri" panose="020F0502020204030204" pitchFamily="34" charset="0"/>
                      </a:endParaRPr>
                    </a:p>
                  </a:txBody>
                  <a:tcPr marL="9525" marR="9525" marT="9525" marB="0" anchor="b"/>
                </a:tc>
                <a:tc>
                  <a:txBody>
                    <a:bodyPr/>
                    <a:lstStyle/>
                    <a:p>
                      <a:pPr marL="0" marR="0" algn="r">
                        <a:spcBef>
                          <a:spcPts val="0"/>
                        </a:spcBef>
                        <a:spcAft>
                          <a:spcPts val="0"/>
                        </a:spcAft>
                      </a:pPr>
                      <a:r>
                        <a:rPr lang="en-US" sz="1200" dirty="0">
                          <a:effectLst/>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a:effectLst/>
                        </a:rPr>
                        <a:t>126</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126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12613668"/>
                  </a:ext>
                </a:extLst>
              </a:tr>
              <a:tr h="190500">
                <a:tc>
                  <a:txBody>
                    <a:bodyPr/>
                    <a:lstStyle/>
                    <a:p>
                      <a:pPr marL="0" marR="0">
                        <a:spcBef>
                          <a:spcPts val="0"/>
                        </a:spcBef>
                        <a:spcAft>
                          <a:spcPts val="0"/>
                        </a:spcAft>
                      </a:pPr>
                      <a:r>
                        <a:rPr lang="en-US" sz="1100" dirty="0">
                          <a:effectLst/>
                        </a:rPr>
                        <a:t>Total*</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14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59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dirty="0">
                          <a:effectLst/>
                        </a:rPr>
                        <a:t>1421</a:t>
                      </a:r>
                      <a:endParaRPr lang="en-US" sz="1200" b="0" i="0" u="none" strike="noStrike" dirty="0">
                        <a:solidFill>
                          <a:srgbClr val="000000"/>
                        </a:solidFill>
                        <a:effectLst/>
                        <a:latin typeface="Calibri" panose="020F0502020204030204" pitchFamily="34" charset="0"/>
                      </a:endParaRPr>
                    </a:p>
                  </a:txBody>
                  <a:tcPr marL="9525" marR="9525" marT="9525" marB="0" anchor="b"/>
                </a:tc>
                <a:tc>
                  <a:txBody>
                    <a:bodyPr/>
                    <a:lstStyle/>
                    <a:p>
                      <a:endParaRPr lang="en-US" sz="1200" dirty="0">
                        <a:effectLst/>
                        <a:latin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200" u="none" strike="noStrike" dirty="0">
                          <a:effectLst/>
                        </a:rPr>
                        <a:t>399</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7164923"/>
                  </a:ext>
                </a:extLst>
              </a:tr>
              <a:tr h="190500">
                <a:tc gridSpan="6">
                  <a:txBody>
                    <a:bodyPr/>
                    <a:lstStyle/>
                    <a:p>
                      <a:pPr marL="0" marR="0">
                        <a:spcBef>
                          <a:spcPts val="0"/>
                        </a:spcBef>
                        <a:spcAft>
                          <a:spcPts val="0"/>
                        </a:spcAft>
                      </a:pPr>
                      <a:r>
                        <a:rPr lang="en-US" sz="1100" dirty="0">
                          <a:effectLst/>
                        </a:rPr>
                        <a:t>*The number of buffers does not include the VI/VRF buffers, as those will not go into large buffer tanks. The sanitization of UFDF is also not counted in this estimate.</a:t>
                      </a:r>
                      <a:endParaRPr lang="en-US" sz="1200" dirty="0">
                        <a:effectLst/>
                      </a:endParaRPr>
                    </a:p>
                    <a:p>
                      <a:pPr marL="0" marR="0">
                        <a:spcBef>
                          <a:spcPts val="0"/>
                        </a:spcBef>
                        <a:spcAft>
                          <a:spcPts val="0"/>
                        </a:spcAft>
                      </a:pPr>
                      <a:r>
                        <a:rPr lang="en-US" sz="1100" dirty="0">
                          <a:effectLst/>
                        </a:rPr>
                        <a:t>400kg buffer/kg BDS equally divided among 14 buffers means each kg of BDS requires 29L of each buffer.</a:t>
                      </a:r>
                      <a:endParaRPr lang="en-US" sz="1200" dirty="0">
                        <a:effectLst/>
                      </a:endParaRPr>
                    </a:p>
                    <a:p>
                      <a:pPr marL="0" marR="0">
                        <a:spcBef>
                          <a:spcPts val="0"/>
                        </a:spcBef>
                        <a:spcAft>
                          <a:spcPts val="0"/>
                        </a:spcAft>
                      </a:pPr>
                      <a:r>
                        <a:rPr lang="en-US" sz="1100" dirty="0">
                          <a:effectLst/>
                        </a:rPr>
                        <a:t>A 140kg batch will require 14x5000L tanks for buffer storage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7840399"/>
                  </a:ext>
                </a:extLst>
              </a:tr>
            </a:tbl>
          </a:graphicData>
        </a:graphic>
      </p:graphicFrame>
      <p:sp>
        <p:nvSpPr>
          <p:cNvPr id="5" name="Rectangle 1">
            <a:extLst>
              <a:ext uri="{FF2B5EF4-FFF2-40B4-BE49-F238E27FC236}">
                <a16:creationId xmlns:a16="http://schemas.microsoft.com/office/drawing/2014/main" id="{83984C42-3F68-D140-BFD5-798629700876}"/>
              </a:ext>
            </a:extLst>
          </p:cNvPr>
          <p:cNvSpPr>
            <a:spLocks noChangeArrowheads="1"/>
          </p:cNvSpPr>
          <p:nvPr/>
        </p:nvSpPr>
        <p:spPr bwMode="auto">
          <a:xfrm>
            <a:off x="1385888" y="1574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92923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317447-C931-2C4F-A7CF-6647095666F4}"/>
              </a:ext>
            </a:extLst>
          </p:cNvPr>
          <p:cNvSpPr>
            <a:spLocks noGrp="1"/>
          </p:cNvSpPr>
          <p:nvPr>
            <p:ph type="sldNum" sz="quarter" idx="4"/>
          </p:nvPr>
        </p:nvSpPr>
        <p:spPr/>
        <p:txBody>
          <a:bodyPr/>
          <a:lstStyle/>
          <a:p>
            <a:fld id="{3C4F54F3-C349-4609-AFEE-01462D5C7942}" type="slidenum">
              <a:rPr lang="en-GB" smtClean="0"/>
              <a:pPr/>
              <a:t>8</a:t>
            </a:fld>
            <a:endParaRPr lang="en-GB"/>
          </a:p>
        </p:txBody>
      </p:sp>
      <p:sp>
        <p:nvSpPr>
          <p:cNvPr id="3" name="Title 2">
            <a:extLst>
              <a:ext uri="{FF2B5EF4-FFF2-40B4-BE49-F238E27FC236}">
                <a16:creationId xmlns:a16="http://schemas.microsoft.com/office/drawing/2014/main" id="{73D8EAA4-739F-B048-9EB7-7EE4456C04A0}"/>
              </a:ext>
            </a:extLst>
          </p:cNvPr>
          <p:cNvSpPr>
            <a:spLocks noGrp="1"/>
          </p:cNvSpPr>
          <p:nvPr>
            <p:ph type="title"/>
          </p:nvPr>
        </p:nvSpPr>
        <p:spPr/>
        <p:txBody>
          <a:bodyPr/>
          <a:lstStyle/>
          <a:p>
            <a:endParaRPr lang="en-US"/>
          </a:p>
        </p:txBody>
      </p:sp>
      <p:graphicFrame>
        <p:nvGraphicFramePr>
          <p:cNvPr id="8" name="Table 7">
            <a:extLst>
              <a:ext uri="{FF2B5EF4-FFF2-40B4-BE49-F238E27FC236}">
                <a16:creationId xmlns:a16="http://schemas.microsoft.com/office/drawing/2014/main" id="{CEEDB951-AB8E-4D43-8DB6-DEA7CC1DA783}"/>
              </a:ext>
            </a:extLst>
          </p:cNvPr>
          <p:cNvGraphicFramePr>
            <a:graphicFrameLocks noGrp="1"/>
          </p:cNvGraphicFramePr>
          <p:nvPr>
            <p:extLst>
              <p:ext uri="{D42A27DB-BD31-4B8C-83A1-F6EECF244321}">
                <p14:modId xmlns:p14="http://schemas.microsoft.com/office/powerpoint/2010/main" val="3226832292"/>
              </p:ext>
            </p:extLst>
          </p:nvPr>
        </p:nvGraphicFramePr>
        <p:xfrm>
          <a:off x="1275773" y="648000"/>
          <a:ext cx="5305780" cy="3865880"/>
        </p:xfrm>
        <a:graphic>
          <a:graphicData uri="http://schemas.openxmlformats.org/drawingml/2006/table">
            <a:tbl>
              <a:tblPr firstRow="1" firstCol="1" bandRow="1">
                <a:tableStyleId>{5C22544A-7EE6-4342-B048-85BDC9FD1C3A}</a:tableStyleId>
              </a:tblPr>
              <a:tblGrid>
                <a:gridCol w="874586">
                  <a:extLst>
                    <a:ext uri="{9D8B030D-6E8A-4147-A177-3AD203B41FA5}">
                      <a16:colId xmlns:a16="http://schemas.microsoft.com/office/drawing/2014/main" val="1933959610"/>
                    </a:ext>
                  </a:extLst>
                </a:gridCol>
                <a:gridCol w="874586">
                  <a:extLst>
                    <a:ext uri="{9D8B030D-6E8A-4147-A177-3AD203B41FA5}">
                      <a16:colId xmlns:a16="http://schemas.microsoft.com/office/drawing/2014/main" val="1231135268"/>
                    </a:ext>
                  </a:extLst>
                </a:gridCol>
                <a:gridCol w="861429">
                  <a:extLst>
                    <a:ext uri="{9D8B030D-6E8A-4147-A177-3AD203B41FA5}">
                      <a16:colId xmlns:a16="http://schemas.microsoft.com/office/drawing/2014/main" val="2586813200"/>
                    </a:ext>
                  </a:extLst>
                </a:gridCol>
                <a:gridCol w="898393">
                  <a:extLst>
                    <a:ext uri="{9D8B030D-6E8A-4147-A177-3AD203B41FA5}">
                      <a16:colId xmlns:a16="http://schemas.microsoft.com/office/drawing/2014/main" val="3673838862"/>
                    </a:ext>
                  </a:extLst>
                </a:gridCol>
                <a:gridCol w="898393">
                  <a:extLst>
                    <a:ext uri="{9D8B030D-6E8A-4147-A177-3AD203B41FA5}">
                      <a16:colId xmlns:a16="http://schemas.microsoft.com/office/drawing/2014/main" val="750965287"/>
                    </a:ext>
                  </a:extLst>
                </a:gridCol>
                <a:gridCol w="898393">
                  <a:extLst>
                    <a:ext uri="{9D8B030D-6E8A-4147-A177-3AD203B41FA5}">
                      <a16:colId xmlns:a16="http://schemas.microsoft.com/office/drawing/2014/main" val="1011181282"/>
                    </a:ext>
                  </a:extLst>
                </a:gridCol>
              </a:tblGrid>
              <a:tr h="406400">
                <a:tc>
                  <a:txBody>
                    <a:bodyPr/>
                    <a:lstStyle/>
                    <a:p>
                      <a:pPr marL="0" marR="0">
                        <a:spcBef>
                          <a:spcPts val="0"/>
                        </a:spcBef>
                        <a:spcAft>
                          <a:spcPts val="0"/>
                        </a:spcAft>
                      </a:pPr>
                      <a:r>
                        <a:rPr lang="en-US" sz="11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a:effectLst/>
                        </a:rPr>
                        <a:t>Cell Specific Productivity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a:effectLst/>
                        </a:rPr>
                        <a:t>Bioreactor Productivity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dirty="0">
                          <a:effectLst/>
                        </a:rPr>
                        <a:t>Product Mass Index for media concentrate (kg media/kg product)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defTabSz="457200" rtl="0" eaLnBrk="1" fontAlgn="b" latinLnBrk="0" hangingPunct="1">
                        <a:spcBef>
                          <a:spcPts val="0"/>
                        </a:spcBef>
                        <a:spcAft>
                          <a:spcPts val="0"/>
                        </a:spcAft>
                      </a:pPr>
                      <a:r>
                        <a:rPr lang="en-US" sz="1100" b="1" kern="1200" dirty="0">
                          <a:solidFill>
                            <a:schemeClr val="lt1"/>
                          </a:solidFill>
                          <a:effectLst/>
                          <a:latin typeface="+mn-lt"/>
                          <a:ea typeface="+mn-ea"/>
                          <a:cs typeface="+mn-cs"/>
                        </a:rPr>
                        <a:t>Number of 2kL bioreactors required</a:t>
                      </a:r>
                    </a:p>
                  </a:txBody>
                  <a:tcPr marL="0" marR="0" marT="0" marB="0" anchor="b"/>
                </a:tc>
                <a:tc>
                  <a:txBody>
                    <a:bodyPr/>
                    <a:lstStyle/>
                    <a:p>
                      <a:pPr marL="0" marR="0" algn="l" defTabSz="457200" rtl="0" eaLnBrk="1" latinLnBrk="0" hangingPunct="1">
                        <a:spcBef>
                          <a:spcPts val="0"/>
                        </a:spcBef>
                        <a:spcAft>
                          <a:spcPts val="0"/>
                        </a:spcAft>
                      </a:pPr>
                      <a:r>
                        <a:rPr lang="en-US" sz="1100" b="1" kern="1200" dirty="0">
                          <a:solidFill>
                            <a:schemeClr val="lt1"/>
                          </a:solidFill>
                          <a:effectLst/>
                          <a:latin typeface="+mn-lt"/>
                          <a:ea typeface="+mn-ea"/>
                          <a:cs typeface="+mn-cs"/>
                        </a:rPr>
                        <a:t>Number of 5kL tanks needed for 140kg batch</a:t>
                      </a:r>
                    </a:p>
                  </a:txBody>
                  <a:tcPr marL="68580" marR="68580" marT="0" marB="0" anchor="b"/>
                </a:tc>
                <a:extLst>
                  <a:ext uri="{0D108BD9-81ED-4DB2-BD59-A6C34878D82A}">
                    <a16:rowId xmlns:a16="http://schemas.microsoft.com/office/drawing/2014/main" val="205530932"/>
                  </a:ext>
                </a:extLst>
              </a:tr>
              <a:tr h="406400">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fontAlgn="b"/>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73186220"/>
                  </a:ext>
                </a:extLst>
              </a:tr>
              <a:tr h="190500">
                <a:tc rowSpan="6">
                  <a:txBody>
                    <a:bodyPr/>
                    <a:lstStyle/>
                    <a:p>
                      <a:pPr marL="71755" marR="71755" algn="ctr">
                        <a:spcBef>
                          <a:spcPts val="0"/>
                        </a:spcBef>
                        <a:spcAft>
                          <a:spcPts val="0"/>
                        </a:spcAft>
                      </a:pPr>
                      <a:r>
                        <a:rPr lang="en-US" sz="1100">
                          <a:effectLst/>
                        </a:rPr>
                        <a:t>Dynamic Perfusion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vert="vert270" anchor="ctr"/>
                </a:tc>
                <a:tc>
                  <a:txBody>
                    <a:bodyPr/>
                    <a:lstStyle/>
                    <a:p>
                      <a:pPr marL="0" marR="0">
                        <a:spcBef>
                          <a:spcPts val="0"/>
                        </a:spcBef>
                        <a:spcAft>
                          <a:spcPts val="0"/>
                        </a:spcAft>
                      </a:pPr>
                      <a:r>
                        <a:rPr lang="en-US" sz="1100">
                          <a:effectLst/>
                        </a:rPr>
                        <a:t>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100">
                          <a:effectLst/>
                        </a:rPr>
                        <a:t>g/L/day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0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fontAlgn="b"/>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endParaRPr lang="en-US" sz="12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44954355"/>
                  </a:ext>
                </a:extLst>
              </a:tr>
              <a:tr h="190500">
                <a:tc vMerge="1">
                  <a:txBody>
                    <a:bodyPr/>
                    <a:lstStyle/>
                    <a:p>
                      <a:endParaRPr lang="en-US"/>
                    </a:p>
                  </a:txBody>
                  <a:tcPr/>
                </a:tc>
                <a:tc>
                  <a:txBody>
                    <a:bodyPr/>
                    <a:lstStyle/>
                    <a:p>
                      <a:pPr marL="0" marR="0" algn="r">
                        <a:spcBef>
                          <a:spcPts val="0"/>
                        </a:spcBef>
                        <a:spcAft>
                          <a:spcPts val="0"/>
                        </a:spcAft>
                      </a:pPr>
                      <a:r>
                        <a:rPr lang="en-US" sz="1100" dirty="0">
                          <a:effectLst/>
                        </a:rPr>
                        <a:t>10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1.2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641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4</a:t>
                      </a:r>
                    </a:p>
                  </a:txBody>
                  <a:tcPr marL="0" marR="0" marT="0" marB="0" anchor="b"/>
                </a:tc>
                <a:tc>
                  <a:txBody>
                    <a:bodyPr/>
                    <a:lstStyle/>
                    <a:p>
                      <a:pPr marL="0" marR="0">
                        <a:spcBef>
                          <a:spcPts val="0"/>
                        </a:spcBef>
                        <a:spcAft>
                          <a:spcPts val="0"/>
                        </a:spcAft>
                      </a:pPr>
                      <a:r>
                        <a:rPr lang="en-US" sz="1100" dirty="0">
                          <a:effectLst/>
                        </a:rPr>
                        <a:t>17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92028087"/>
                  </a:ext>
                </a:extLst>
              </a:tr>
              <a:tr h="190500">
                <a:tc vMerge="1">
                  <a:txBody>
                    <a:bodyPr/>
                    <a:lstStyle/>
                    <a:p>
                      <a:endParaRPr lang="en-US"/>
                    </a:p>
                  </a:txBody>
                  <a:tcPr/>
                </a:tc>
                <a:tc>
                  <a:txBody>
                    <a:bodyPr/>
                    <a:lstStyle/>
                    <a:p>
                      <a:pPr marL="0" marR="0" algn="r">
                        <a:spcBef>
                          <a:spcPts val="0"/>
                        </a:spcBef>
                        <a:spcAft>
                          <a:spcPts val="0"/>
                        </a:spcAft>
                      </a:pPr>
                      <a:r>
                        <a:rPr lang="en-US" sz="1100">
                          <a:effectLst/>
                        </a:rPr>
                        <a:t>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2.4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321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dirty="0">
                          <a:solidFill>
                            <a:srgbClr val="000000"/>
                          </a:solidFill>
                          <a:effectLst/>
                          <a:latin typeface="Calibri" panose="020F0502020204030204" pitchFamily="34" charset="0"/>
                        </a:rPr>
                        <a:t>2</a:t>
                      </a:r>
                    </a:p>
                  </a:txBody>
                  <a:tcPr marL="0" marR="0" marT="0" marB="0" anchor="b"/>
                </a:tc>
                <a:tc>
                  <a:txBody>
                    <a:bodyPr/>
                    <a:lstStyle/>
                    <a:p>
                      <a:pPr marL="0" marR="0">
                        <a:spcBef>
                          <a:spcPts val="0"/>
                        </a:spcBef>
                        <a:spcAft>
                          <a:spcPts val="0"/>
                        </a:spcAft>
                      </a:pPr>
                      <a:r>
                        <a:rPr lang="en-US" sz="1100">
                          <a:effectLst/>
                        </a:rPr>
                        <a:t>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33728721"/>
                  </a:ext>
                </a:extLst>
              </a:tr>
              <a:tr h="190500">
                <a:tc vMerge="1">
                  <a:txBody>
                    <a:bodyPr/>
                    <a:lstStyle/>
                    <a:p>
                      <a:endParaRPr lang="en-US"/>
                    </a:p>
                  </a:txBody>
                  <a:tcPr/>
                </a:tc>
                <a:tc>
                  <a:txBody>
                    <a:bodyPr/>
                    <a:lstStyle/>
                    <a:p>
                      <a:pPr marL="0" marR="0" algn="r">
                        <a:spcBef>
                          <a:spcPts val="0"/>
                        </a:spcBef>
                        <a:spcAft>
                          <a:spcPts val="0"/>
                        </a:spcAft>
                      </a:pPr>
                      <a:r>
                        <a:rPr lang="en-US" sz="1100">
                          <a:effectLst/>
                        </a:rPr>
                        <a:t>30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3.6</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dirty="0">
                          <a:effectLst/>
                        </a:rPr>
                        <a:t>214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dirty="0">
                          <a:solidFill>
                            <a:srgbClr val="000000"/>
                          </a:solidFill>
                          <a:effectLst/>
                          <a:latin typeface="Calibri" panose="020F0502020204030204" pitchFamily="34" charset="0"/>
                        </a:rPr>
                        <a:t>2</a:t>
                      </a:r>
                    </a:p>
                  </a:txBody>
                  <a:tcPr marL="0" marR="0" marT="0" marB="0" anchor="b"/>
                </a:tc>
                <a:tc>
                  <a:txBody>
                    <a:bodyPr/>
                    <a:lstStyle/>
                    <a:p>
                      <a:pPr marL="0" marR="0">
                        <a:spcBef>
                          <a:spcPts val="0"/>
                        </a:spcBef>
                        <a:spcAft>
                          <a:spcPts val="0"/>
                        </a:spcAft>
                      </a:pPr>
                      <a:r>
                        <a:rPr lang="en-US" sz="1100" dirty="0">
                          <a:effectLst/>
                        </a:rPr>
                        <a:t>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60939261"/>
                  </a:ext>
                </a:extLst>
              </a:tr>
              <a:tr h="190500">
                <a:tc vMerge="1">
                  <a:txBody>
                    <a:bodyPr/>
                    <a:lstStyle/>
                    <a:p>
                      <a:endParaRPr lang="en-US"/>
                    </a:p>
                  </a:txBody>
                  <a:tcPr/>
                </a:tc>
                <a:tc>
                  <a:txBody>
                    <a:bodyPr/>
                    <a:lstStyle/>
                    <a:p>
                      <a:pPr marL="0" marR="0" algn="r">
                        <a:spcBef>
                          <a:spcPts val="0"/>
                        </a:spcBef>
                        <a:spcAft>
                          <a:spcPts val="0"/>
                        </a:spcAft>
                      </a:pPr>
                      <a:r>
                        <a:rPr lang="en-US" sz="1100">
                          <a:effectLst/>
                        </a:rPr>
                        <a:t>40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4.8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160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2</a:t>
                      </a:r>
                    </a:p>
                  </a:txBody>
                  <a:tcPr marL="0" marR="0" marT="0" marB="0" anchor="b"/>
                </a:tc>
                <a:tc>
                  <a:txBody>
                    <a:bodyPr/>
                    <a:lstStyle/>
                    <a:p>
                      <a:pPr marL="0" marR="0">
                        <a:spcBef>
                          <a:spcPts val="0"/>
                        </a:spcBef>
                        <a:spcAft>
                          <a:spcPts val="0"/>
                        </a:spcAft>
                      </a:pPr>
                      <a:r>
                        <a:rPr lang="en-US" sz="1100" dirty="0">
                          <a:effectLst/>
                        </a:rPr>
                        <a:t>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71900573"/>
                  </a:ext>
                </a:extLst>
              </a:tr>
              <a:tr h="190500">
                <a:tc vMerge="1">
                  <a:txBody>
                    <a:bodyPr/>
                    <a:lstStyle/>
                    <a:p>
                      <a:endParaRPr lang="en-US"/>
                    </a:p>
                  </a:txBody>
                  <a:tcPr/>
                </a:tc>
                <a:tc>
                  <a:txBody>
                    <a:bodyPr/>
                    <a:lstStyle/>
                    <a:p>
                      <a:pPr marL="0" marR="0" algn="r">
                        <a:spcBef>
                          <a:spcPts val="0"/>
                        </a:spcBef>
                        <a:spcAft>
                          <a:spcPts val="0"/>
                        </a:spcAft>
                      </a:pPr>
                      <a:r>
                        <a:rPr lang="en-US" sz="1100">
                          <a:effectLst/>
                        </a:rPr>
                        <a:t>50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6</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128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1</a:t>
                      </a:r>
                    </a:p>
                  </a:txBody>
                  <a:tcPr marL="0" marR="0" marT="0" marB="0" anchor="b"/>
                </a:tc>
                <a:tc>
                  <a:txBody>
                    <a:bodyPr/>
                    <a:lstStyle/>
                    <a:p>
                      <a:pPr marL="0" marR="0">
                        <a:spcBef>
                          <a:spcPts val="0"/>
                        </a:spcBef>
                        <a:spcAft>
                          <a:spcPts val="0"/>
                        </a:spcAft>
                      </a:pPr>
                      <a:r>
                        <a:rPr lang="en-US" sz="1100" dirty="0">
                          <a:effectLst/>
                        </a:rPr>
                        <a:t>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909019973"/>
                  </a:ext>
                </a:extLst>
              </a:tr>
              <a:tr h="190500">
                <a:tc>
                  <a:txBody>
                    <a:bodyPr/>
                    <a:lstStyle/>
                    <a:p>
                      <a:pPr marL="0" marR="0" algn="ctr">
                        <a:spcBef>
                          <a:spcPts val="0"/>
                        </a:spcBef>
                        <a:spcAft>
                          <a:spcPts val="0"/>
                        </a:spcAft>
                      </a:pPr>
                      <a:r>
                        <a:rPr lang="en-US" sz="11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sz="1200">
                        <a:effectLst/>
                        <a:latin typeface="Calibri" panose="020F0502020204030204" pitchFamily="34" charset="0"/>
                        <a:cs typeface="Times New Roman" panose="02020603050405020304" pitchFamily="18" charset="0"/>
                      </a:endParaRPr>
                    </a:p>
                  </a:txBody>
                  <a:tcPr marL="68580" marR="68580" marT="0" marB="0"/>
                </a:tc>
                <a:tc>
                  <a:txBody>
                    <a:bodyPr/>
                    <a:lstStyle/>
                    <a:p>
                      <a:endParaRPr lang="en-US" sz="1200">
                        <a:effectLst/>
                        <a:latin typeface="Calibri" panose="020F0502020204030204" pitchFamily="34" charset="0"/>
                        <a:cs typeface="Times New Roman" panose="02020603050405020304" pitchFamily="18" charset="0"/>
                      </a:endParaRPr>
                    </a:p>
                  </a:txBody>
                  <a:tcPr marL="68580" marR="68580" marT="0" marB="0"/>
                </a:tc>
                <a:tc>
                  <a:txBody>
                    <a:bodyPr/>
                    <a:lstStyle/>
                    <a:p>
                      <a:endParaRPr lang="en-US" sz="1200">
                        <a:effectLst/>
                        <a:latin typeface="Calibri" panose="020F0502020204030204" pitchFamily="34" charset="0"/>
                        <a:cs typeface="Times New Roman" panose="02020603050405020304" pitchFamily="18" charset="0"/>
                      </a:endParaRPr>
                    </a:p>
                  </a:txBody>
                  <a:tcPr marL="68580" marR="68580" marT="0" marB="0"/>
                </a:tc>
                <a:tc>
                  <a:txBody>
                    <a:bodyPr/>
                    <a:lstStyle/>
                    <a:p>
                      <a:pPr algn="l" fontAlgn="b"/>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marL="0" marR="0">
                        <a:spcBef>
                          <a:spcPts val="0"/>
                        </a:spcBef>
                        <a:spcAft>
                          <a:spcPts val="0"/>
                        </a:spcAft>
                      </a:pPr>
                      <a:r>
                        <a:rPr lang="en-US" sz="10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33806878"/>
                  </a:ext>
                </a:extLst>
              </a:tr>
              <a:tr h="190500">
                <a:tc rowSpan="5">
                  <a:txBody>
                    <a:bodyPr/>
                    <a:lstStyle/>
                    <a:p>
                      <a:pPr marL="71755" marR="71755" algn="ctr">
                        <a:spcBef>
                          <a:spcPts val="0"/>
                        </a:spcBef>
                        <a:spcAft>
                          <a:spcPts val="0"/>
                        </a:spcAft>
                      </a:pPr>
                      <a:r>
                        <a:rPr lang="en-US" sz="1100">
                          <a:effectLst/>
                        </a:rPr>
                        <a:t>Steady State Perfusion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vert="vert270" anchor="ctr"/>
                </a:tc>
                <a:tc>
                  <a:txBody>
                    <a:bodyPr/>
                    <a:lstStyle/>
                    <a:p>
                      <a:pPr marL="0" marR="0" algn="r">
                        <a:spcBef>
                          <a:spcPts val="0"/>
                        </a:spcBef>
                        <a:spcAft>
                          <a:spcPts val="0"/>
                        </a:spcAft>
                      </a:pPr>
                      <a:r>
                        <a:rPr lang="en-US" sz="1100">
                          <a:effectLst/>
                        </a:rPr>
                        <a:t>10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0.5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1538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11</a:t>
                      </a:r>
                    </a:p>
                  </a:txBody>
                  <a:tcPr marL="0" marR="0" marT="0" marB="0" anchor="b"/>
                </a:tc>
                <a:tc>
                  <a:txBody>
                    <a:bodyPr/>
                    <a:lstStyle/>
                    <a:p>
                      <a:pPr marL="0" marR="0">
                        <a:spcBef>
                          <a:spcPts val="0"/>
                        </a:spcBef>
                        <a:spcAft>
                          <a:spcPts val="0"/>
                        </a:spcAft>
                      </a:pPr>
                      <a:r>
                        <a:rPr lang="en-US" sz="1100" dirty="0">
                          <a:effectLst/>
                        </a:rPr>
                        <a:t>44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26836377"/>
                  </a:ext>
                </a:extLst>
              </a:tr>
              <a:tr h="190500">
                <a:tc vMerge="1">
                  <a:txBody>
                    <a:bodyPr/>
                    <a:lstStyle/>
                    <a:p>
                      <a:endParaRPr lang="en-US"/>
                    </a:p>
                  </a:txBody>
                  <a:tcPr/>
                </a:tc>
                <a:tc>
                  <a:txBody>
                    <a:bodyPr/>
                    <a:lstStyle/>
                    <a:p>
                      <a:pPr marL="0" marR="0" algn="r">
                        <a:spcBef>
                          <a:spcPts val="0"/>
                        </a:spcBef>
                        <a:spcAft>
                          <a:spcPts val="0"/>
                        </a:spcAft>
                      </a:pPr>
                      <a:r>
                        <a:rPr lang="en-US" sz="1100">
                          <a:effectLst/>
                        </a:rPr>
                        <a:t>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769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6</a:t>
                      </a:r>
                    </a:p>
                  </a:txBody>
                  <a:tcPr marL="0" marR="0" marT="0" marB="0" anchor="b"/>
                </a:tc>
                <a:tc>
                  <a:txBody>
                    <a:bodyPr/>
                    <a:lstStyle/>
                    <a:p>
                      <a:pPr marL="0" marR="0">
                        <a:spcBef>
                          <a:spcPts val="0"/>
                        </a:spcBef>
                        <a:spcAft>
                          <a:spcPts val="0"/>
                        </a:spcAft>
                      </a:pPr>
                      <a:r>
                        <a:rPr lang="en-US" sz="1100" dirty="0">
                          <a:effectLst/>
                        </a:rPr>
                        <a:t>22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78610272"/>
                  </a:ext>
                </a:extLst>
              </a:tr>
              <a:tr h="190500">
                <a:tc vMerge="1">
                  <a:txBody>
                    <a:bodyPr/>
                    <a:lstStyle/>
                    <a:p>
                      <a:endParaRPr lang="en-US"/>
                    </a:p>
                  </a:txBody>
                  <a:tcPr/>
                </a:tc>
                <a:tc>
                  <a:txBody>
                    <a:bodyPr/>
                    <a:lstStyle/>
                    <a:p>
                      <a:pPr marL="0" marR="0" algn="r">
                        <a:spcBef>
                          <a:spcPts val="0"/>
                        </a:spcBef>
                        <a:spcAft>
                          <a:spcPts val="0"/>
                        </a:spcAft>
                      </a:pPr>
                      <a:r>
                        <a:rPr lang="en-US" sz="1100">
                          <a:effectLst/>
                        </a:rPr>
                        <a:t>30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1.5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513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4</a:t>
                      </a:r>
                    </a:p>
                  </a:txBody>
                  <a:tcPr marL="0" marR="0" marT="0" marB="0" anchor="b"/>
                </a:tc>
                <a:tc>
                  <a:txBody>
                    <a:bodyPr/>
                    <a:lstStyle/>
                    <a:p>
                      <a:pPr marL="0" marR="0">
                        <a:spcBef>
                          <a:spcPts val="0"/>
                        </a:spcBef>
                        <a:spcAft>
                          <a:spcPts val="0"/>
                        </a:spcAft>
                      </a:pPr>
                      <a:r>
                        <a:rPr lang="en-US" sz="1100">
                          <a:effectLst/>
                        </a:rPr>
                        <a:t>15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930207945"/>
                  </a:ext>
                </a:extLst>
              </a:tr>
              <a:tr h="190500">
                <a:tc vMerge="1">
                  <a:txBody>
                    <a:bodyPr/>
                    <a:lstStyle/>
                    <a:p>
                      <a:endParaRPr lang="en-US"/>
                    </a:p>
                  </a:txBody>
                  <a:tcPr/>
                </a:tc>
                <a:tc>
                  <a:txBody>
                    <a:bodyPr/>
                    <a:lstStyle/>
                    <a:p>
                      <a:pPr marL="0" marR="0" algn="r">
                        <a:spcBef>
                          <a:spcPts val="0"/>
                        </a:spcBef>
                        <a:spcAft>
                          <a:spcPts val="0"/>
                        </a:spcAft>
                      </a:pPr>
                      <a:r>
                        <a:rPr lang="en-US" sz="1100">
                          <a:effectLst/>
                        </a:rPr>
                        <a:t>40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385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a:solidFill>
                            <a:srgbClr val="000000"/>
                          </a:solidFill>
                          <a:effectLst/>
                          <a:latin typeface="Calibri" panose="020F0502020204030204" pitchFamily="34" charset="0"/>
                        </a:rPr>
                        <a:t>3</a:t>
                      </a:r>
                    </a:p>
                  </a:txBody>
                  <a:tcPr marL="0" marR="0" marT="0" marB="0" anchor="b"/>
                </a:tc>
                <a:tc>
                  <a:txBody>
                    <a:bodyPr/>
                    <a:lstStyle/>
                    <a:p>
                      <a:pPr marL="0" marR="0">
                        <a:spcBef>
                          <a:spcPts val="0"/>
                        </a:spcBef>
                        <a:spcAft>
                          <a:spcPts val="0"/>
                        </a:spcAft>
                      </a:pPr>
                      <a:r>
                        <a:rPr lang="en-US" sz="1100">
                          <a:effectLst/>
                        </a:rPr>
                        <a:t>11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42989533"/>
                  </a:ext>
                </a:extLst>
              </a:tr>
              <a:tr h="190500">
                <a:tc vMerge="1">
                  <a:txBody>
                    <a:bodyPr/>
                    <a:lstStyle/>
                    <a:p>
                      <a:endParaRPr lang="en-US"/>
                    </a:p>
                  </a:txBody>
                  <a:tcPr/>
                </a:tc>
                <a:tc>
                  <a:txBody>
                    <a:bodyPr/>
                    <a:lstStyle/>
                    <a:p>
                      <a:pPr marL="0" marR="0" algn="r">
                        <a:spcBef>
                          <a:spcPts val="0"/>
                        </a:spcBef>
                        <a:spcAft>
                          <a:spcPts val="0"/>
                        </a:spcAft>
                      </a:pPr>
                      <a:r>
                        <a:rPr lang="en-US" sz="1100">
                          <a:effectLst/>
                        </a:rPr>
                        <a:t>50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2.5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100">
                          <a:effectLst/>
                        </a:rPr>
                        <a:t>308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fontAlgn="b"/>
                      <a:r>
                        <a:rPr lang="en-US" sz="1100" b="0" i="0" u="none" strike="noStrike" dirty="0">
                          <a:solidFill>
                            <a:srgbClr val="000000"/>
                          </a:solidFill>
                          <a:effectLst/>
                          <a:latin typeface="Calibri" panose="020F0502020204030204" pitchFamily="34" charset="0"/>
                        </a:rPr>
                        <a:t>3</a:t>
                      </a:r>
                    </a:p>
                  </a:txBody>
                  <a:tcPr marL="0" marR="0" marT="0" marB="0" anchor="b"/>
                </a:tc>
                <a:tc>
                  <a:txBody>
                    <a:bodyPr/>
                    <a:lstStyle/>
                    <a:p>
                      <a:pPr marL="0" marR="0">
                        <a:spcBef>
                          <a:spcPts val="0"/>
                        </a:spcBef>
                        <a:spcAft>
                          <a:spcPts val="0"/>
                        </a:spcAft>
                      </a:pPr>
                      <a:r>
                        <a:rPr lang="en-US" sz="1100" dirty="0">
                          <a:effectLst/>
                        </a:rPr>
                        <a:t>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14610868"/>
                  </a:ext>
                </a:extLst>
              </a:tr>
            </a:tbl>
          </a:graphicData>
        </a:graphic>
      </p:graphicFrame>
      <p:sp>
        <p:nvSpPr>
          <p:cNvPr id="9" name="Rectangle 8">
            <a:extLst>
              <a:ext uri="{FF2B5EF4-FFF2-40B4-BE49-F238E27FC236}">
                <a16:creationId xmlns:a16="http://schemas.microsoft.com/office/drawing/2014/main" id="{DD696E3F-2ABC-F242-B8CF-5D3C8B88C10A}"/>
              </a:ext>
            </a:extLst>
          </p:cNvPr>
          <p:cNvSpPr/>
          <p:nvPr/>
        </p:nvSpPr>
        <p:spPr>
          <a:xfrm>
            <a:off x="996871" y="4495500"/>
            <a:ext cx="8250866" cy="646331"/>
          </a:xfrm>
          <a:prstGeom prst="rect">
            <a:avLst/>
          </a:prstGeom>
        </p:spPr>
        <p:txBody>
          <a:bodyPr wrap="squar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Dynamic perfusion at 120M cells/mL average cell density</a:t>
            </a:r>
          </a:p>
          <a:p>
            <a:r>
              <a:rPr lang="en-US" dirty="0">
                <a:latin typeface="Calibri" panose="020F0502020204030204" pitchFamily="34" charset="0"/>
                <a:ea typeface="Calibri" panose="020F0502020204030204" pitchFamily="34" charset="0"/>
                <a:cs typeface="Times New Roman" panose="02020603050405020304" pitchFamily="18" charset="0"/>
              </a:rPr>
              <a:t>Steady State Perfusion at 50M cells/mL average cell density</a:t>
            </a:r>
          </a:p>
        </p:txBody>
      </p:sp>
    </p:spTree>
    <p:extLst>
      <p:ext uri="{BB962C8B-B14F-4D97-AF65-F5344CB8AC3E}">
        <p14:creationId xmlns:p14="http://schemas.microsoft.com/office/powerpoint/2010/main" val="337434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EB06F4-26C4-E94F-A07F-1AD0EB0F888A}"/>
              </a:ext>
            </a:extLst>
          </p:cNvPr>
          <p:cNvSpPr>
            <a:spLocks noGrp="1"/>
          </p:cNvSpPr>
          <p:nvPr>
            <p:ph type="sldNum" sz="quarter" idx="4"/>
          </p:nvPr>
        </p:nvSpPr>
        <p:spPr/>
        <p:txBody>
          <a:bodyPr/>
          <a:lstStyle/>
          <a:p>
            <a:fld id="{3C4F54F3-C349-4609-AFEE-01462D5C7942}" type="slidenum">
              <a:rPr lang="en-GB" smtClean="0"/>
              <a:pPr/>
              <a:t>9</a:t>
            </a:fld>
            <a:endParaRPr lang="en-GB"/>
          </a:p>
        </p:txBody>
      </p:sp>
      <p:sp>
        <p:nvSpPr>
          <p:cNvPr id="3" name="Title 2">
            <a:extLst>
              <a:ext uri="{FF2B5EF4-FFF2-40B4-BE49-F238E27FC236}">
                <a16:creationId xmlns:a16="http://schemas.microsoft.com/office/drawing/2014/main" id="{8C23D980-6614-D945-84EE-B25AAEFEB9FA}"/>
              </a:ext>
            </a:extLst>
          </p:cNvPr>
          <p:cNvSpPr>
            <a:spLocks noGrp="1"/>
          </p:cNvSpPr>
          <p:nvPr>
            <p:ph type="title"/>
          </p:nvPr>
        </p:nvSpPr>
        <p:spPr/>
        <p:txBody>
          <a:bodyPr/>
          <a:lstStyle/>
          <a:p>
            <a:r>
              <a:rPr lang="en-US" dirty="0"/>
              <a:t>Water Usage per day</a:t>
            </a:r>
          </a:p>
        </p:txBody>
      </p:sp>
      <p:graphicFrame>
        <p:nvGraphicFramePr>
          <p:cNvPr id="4" name="Table 3">
            <a:extLst>
              <a:ext uri="{FF2B5EF4-FFF2-40B4-BE49-F238E27FC236}">
                <a16:creationId xmlns:a16="http://schemas.microsoft.com/office/drawing/2014/main" id="{B60E70CA-ACE0-704C-BD99-ACA4CD8BA8AC}"/>
              </a:ext>
            </a:extLst>
          </p:cNvPr>
          <p:cNvGraphicFramePr>
            <a:graphicFrameLocks noGrp="1"/>
          </p:cNvGraphicFramePr>
          <p:nvPr>
            <p:extLst>
              <p:ext uri="{D42A27DB-BD31-4B8C-83A1-F6EECF244321}">
                <p14:modId xmlns:p14="http://schemas.microsoft.com/office/powerpoint/2010/main" val="1355638226"/>
              </p:ext>
            </p:extLst>
          </p:nvPr>
        </p:nvGraphicFramePr>
        <p:xfrm>
          <a:off x="2654300" y="1711325"/>
          <a:ext cx="3835399" cy="1866900"/>
        </p:xfrm>
        <a:graphic>
          <a:graphicData uri="http://schemas.openxmlformats.org/drawingml/2006/table">
            <a:tbl>
              <a:tblPr firstRow="1" firstCol="1">
                <a:tableStyleId>{93296810-A885-4BE3-A3E7-6D5BEEA58F35}</a:tableStyleId>
              </a:tblPr>
              <a:tblGrid>
                <a:gridCol w="1208674">
                  <a:extLst>
                    <a:ext uri="{9D8B030D-6E8A-4147-A177-3AD203B41FA5}">
                      <a16:colId xmlns:a16="http://schemas.microsoft.com/office/drawing/2014/main" val="3636307830"/>
                    </a:ext>
                  </a:extLst>
                </a:gridCol>
                <a:gridCol w="875575">
                  <a:extLst>
                    <a:ext uri="{9D8B030D-6E8A-4147-A177-3AD203B41FA5}">
                      <a16:colId xmlns:a16="http://schemas.microsoft.com/office/drawing/2014/main" val="4005770440"/>
                    </a:ext>
                  </a:extLst>
                </a:gridCol>
                <a:gridCol w="875575">
                  <a:extLst>
                    <a:ext uri="{9D8B030D-6E8A-4147-A177-3AD203B41FA5}">
                      <a16:colId xmlns:a16="http://schemas.microsoft.com/office/drawing/2014/main" val="206121725"/>
                    </a:ext>
                  </a:extLst>
                </a:gridCol>
                <a:gridCol w="875575">
                  <a:extLst>
                    <a:ext uri="{9D8B030D-6E8A-4147-A177-3AD203B41FA5}">
                      <a16:colId xmlns:a16="http://schemas.microsoft.com/office/drawing/2014/main" val="353225369"/>
                    </a:ext>
                  </a:extLst>
                </a:gridCol>
              </a:tblGrid>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100" u="none" strike="noStrike" dirty="0">
                          <a:effectLst/>
                        </a:rPr>
                        <a:t>Volume (L)</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100" u="none" strike="noStrike" dirty="0">
                          <a:effectLst/>
                        </a:rPr>
                        <a:t>Days for Prep</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100" u="none" strike="noStrike" dirty="0">
                          <a:effectLst/>
                        </a:rPr>
                        <a:t>Water/day (L)</a:t>
                      </a:r>
                      <a:endParaRPr lang="en-US"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86635514"/>
                  </a:ext>
                </a:extLst>
              </a:tr>
              <a:tr h="190500">
                <a:tc>
                  <a:txBody>
                    <a:bodyPr/>
                    <a:lstStyle/>
                    <a:p>
                      <a:pPr algn="l" fontAlgn="b"/>
                      <a:r>
                        <a:rPr lang="en-US" sz="1100" u="none" strike="noStrike">
                          <a:effectLst/>
                        </a:rPr>
                        <a:t>Media prep</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80,000 </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20 </a:t>
                      </a: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4,000 </a:t>
                      </a:r>
                    </a:p>
                  </a:txBody>
                  <a:tcPr marL="0" marR="0" marT="0" marB="0" anchor="b"/>
                </a:tc>
                <a:extLst>
                  <a:ext uri="{0D108BD9-81ED-4DB2-BD59-A6C34878D82A}">
                    <a16:rowId xmlns:a16="http://schemas.microsoft.com/office/drawing/2014/main" val="3039107746"/>
                  </a:ext>
                </a:extLst>
              </a:tr>
              <a:tr h="190500">
                <a:tc>
                  <a:txBody>
                    <a:bodyPr/>
                    <a:lstStyle/>
                    <a:p>
                      <a:pPr algn="l" fontAlgn="b"/>
                      <a:r>
                        <a:rPr lang="en-US" sz="1100" u="none" strike="noStrike">
                          <a:effectLst/>
                        </a:rPr>
                        <a:t>Solution prep</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200,000 </a:t>
                      </a: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20 </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10,000 </a:t>
                      </a:r>
                      <a:endParaRPr lang="en-US"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65991737"/>
                  </a:ext>
                </a:extLst>
              </a:tr>
              <a:tr h="190500">
                <a:tc>
                  <a:txBody>
                    <a:bodyPr/>
                    <a:lstStyle/>
                    <a:p>
                      <a:pPr algn="l" fontAlgn="b"/>
                      <a:r>
                        <a:rPr lang="en-US" sz="1100" u="none" strike="noStrike">
                          <a:effectLst/>
                        </a:rPr>
                        <a:t>Dilution for media</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160,000 </a:t>
                      </a: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20 </a:t>
                      </a: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8,000 </a:t>
                      </a:r>
                      <a:endParaRPr lang="en-US"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10222251"/>
                  </a:ext>
                </a:extLst>
              </a:tr>
              <a:tr h="190500">
                <a:tc>
                  <a:txBody>
                    <a:bodyPr/>
                    <a:lstStyle/>
                    <a:p>
                      <a:pPr algn="l" fontAlgn="b"/>
                      <a:r>
                        <a:rPr lang="en-US" sz="1100" u="none" strike="noStrike">
                          <a:effectLst/>
                        </a:rPr>
                        <a:t>Dilution for solution</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500,000 </a:t>
                      </a: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20 </a:t>
                      </a:r>
                    </a:p>
                  </a:txBody>
                  <a:tcPr marL="0" marR="0" marT="0" marB="0" anchor="b"/>
                </a:tc>
                <a:tc>
                  <a:txBody>
                    <a:bodyPr/>
                    <a:lstStyle/>
                    <a:p>
                      <a:pPr algn="l" fontAlgn="b"/>
                      <a:r>
                        <a:rPr lang="en-US" sz="1100" b="0" i="0" u="none" strike="noStrike">
                          <a:solidFill>
                            <a:srgbClr val="000000"/>
                          </a:solidFill>
                          <a:effectLst/>
                          <a:latin typeface="Calibri" panose="020F0502020204030204" pitchFamily="34" charset="0"/>
                        </a:rPr>
                        <a:t>              25,000 </a:t>
                      </a:r>
                      <a:endParaRPr lang="en-US"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34167781"/>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0" marR="0" marT="0" marB="0" anchor="b">
                    <a:noFill/>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0" marR="0" marT="0" marB="0" anchor="b">
                    <a:noFill/>
                  </a:tcPr>
                </a:tc>
                <a:tc>
                  <a:txBody>
                    <a:bodyPr/>
                    <a:lstStyle/>
                    <a:p>
                      <a:pPr algn="l" fontAlgn="b"/>
                      <a:r>
                        <a:rPr lang="en-US" sz="1100" b="0" i="0" u="none" strike="noStrike">
                          <a:solidFill>
                            <a:srgbClr val="000000"/>
                          </a:solidFill>
                          <a:effectLst/>
                          <a:latin typeface="Calibri" panose="020F0502020204030204" pitchFamily="34" charset="0"/>
                        </a:rPr>
                        <a:t> Total </a:t>
                      </a:r>
                    </a:p>
                  </a:txBody>
                  <a:tcPr marL="0" marR="0" marT="0" marB="0" anchor="b"/>
                </a:tc>
                <a:tc>
                  <a:txBody>
                    <a:bodyPr/>
                    <a:lstStyle/>
                    <a:p>
                      <a:pPr algn="l" fontAlgn="b"/>
                      <a:r>
                        <a:rPr lang="en-US" sz="1100" b="0" i="0" u="none" strike="noStrike" dirty="0">
                          <a:solidFill>
                            <a:srgbClr val="000000"/>
                          </a:solidFill>
                          <a:effectLst/>
                          <a:latin typeface="Calibri" panose="020F0502020204030204" pitchFamily="34" charset="0"/>
                        </a:rPr>
                        <a:t>              47,000 </a:t>
                      </a:r>
                    </a:p>
                  </a:txBody>
                  <a:tcPr marL="0" marR="0" marT="0" marB="0" anchor="b"/>
                </a:tc>
                <a:extLst>
                  <a:ext uri="{0D108BD9-81ED-4DB2-BD59-A6C34878D82A}">
                    <a16:rowId xmlns:a16="http://schemas.microsoft.com/office/drawing/2014/main" val="1630720853"/>
                  </a:ext>
                </a:extLst>
              </a:tr>
            </a:tbl>
          </a:graphicData>
        </a:graphic>
      </p:graphicFrame>
    </p:spTree>
    <p:extLst>
      <p:ext uri="{BB962C8B-B14F-4D97-AF65-F5344CB8AC3E}">
        <p14:creationId xmlns:p14="http://schemas.microsoft.com/office/powerpoint/2010/main" val="35240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10</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975104" y="2627570"/>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975104" y="173837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975104" y="849176"/>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9" name="TextBox 8">
            <a:extLst>
              <a:ext uri="{FF2B5EF4-FFF2-40B4-BE49-F238E27FC236}">
                <a16:creationId xmlns:a16="http://schemas.microsoft.com/office/drawing/2014/main" id="{9F906EC8-F7DE-0C40-8AF8-E30B14717BB5}"/>
              </a:ext>
            </a:extLst>
          </p:cNvPr>
          <p:cNvSpPr txBox="1"/>
          <p:nvPr/>
        </p:nvSpPr>
        <p:spPr>
          <a:xfrm>
            <a:off x="87318" y="2330054"/>
            <a:ext cx="1929387" cy="923330"/>
          </a:xfrm>
          <a:prstGeom prst="rect">
            <a:avLst/>
          </a:prstGeom>
          <a:noFill/>
        </p:spPr>
        <p:txBody>
          <a:bodyPr wrap="square" rtlCol="0">
            <a:spAutoFit/>
          </a:bodyPr>
          <a:lstStyle/>
          <a:p>
            <a:pPr algn="ctr"/>
            <a:r>
              <a:rPr lang="en-US" dirty="0"/>
              <a:t>TFF filter modules</a:t>
            </a:r>
          </a:p>
          <a:p>
            <a:pPr algn="ctr"/>
            <a:r>
              <a:rPr lang="en-US" dirty="0"/>
              <a:t>50cm long</a:t>
            </a:r>
          </a:p>
        </p:txBody>
      </p:sp>
      <p:sp>
        <p:nvSpPr>
          <p:cNvPr id="13" name="TextBox 12">
            <a:extLst>
              <a:ext uri="{FF2B5EF4-FFF2-40B4-BE49-F238E27FC236}">
                <a16:creationId xmlns:a16="http://schemas.microsoft.com/office/drawing/2014/main" id="{BB8D6F3A-074B-9841-91C1-A417238D3FF0}"/>
              </a:ext>
            </a:extLst>
          </p:cNvPr>
          <p:cNvSpPr txBox="1"/>
          <p:nvPr/>
        </p:nvSpPr>
        <p:spPr>
          <a:xfrm>
            <a:off x="-525980" y="4156847"/>
            <a:ext cx="2366482" cy="923330"/>
          </a:xfrm>
          <a:prstGeom prst="rect">
            <a:avLst/>
          </a:prstGeom>
          <a:noFill/>
        </p:spPr>
        <p:txBody>
          <a:bodyPr wrap="square" rtlCol="0">
            <a:spAutoFit/>
          </a:bodyPr>
          <a:lstStyle/>
          <a:p>
            <a:pPr algn="ctr"/>
            <a:r>
              <a:rPr lang="en-US" dirty="0"/>
              <a:t>From bioreactor</a:t>
            </a:r>
          </a:p>
          <a:p>
            <a:pPr algn="ctr"/>
            <a:r>
              <a:rPr lang="en-US" dirty="0"/>
              <a:t>85 L/min</a:t>
            </a:r>
          </a:p>
          <a:p>
            <a:pPr algn="ctr"/>
            <a:r>
              <a:rPr lang="en-US" dirty="0"/>
              <a:t>1.5” tubing</a:t>
            </a:r>
          </a:p>
        </p:txBody>
      </p:sp>
      <p:sp>
        <p:nvSpPr>
          <p:cNvPr id="14" name="Rounded Rectangle 13">
            <a:extLst>
              <a:ext uri="{FF2B5EF4-FFF2-40B4-BE49-F238E27FC236}">
                <a16:creationId xmlns:a16="http://schemas.microsoft.com/office/drawing/2014/main" id="{7D21E7F5-FABF-0942-A891-5E690EFC63CA}"/>
              </a:ext>
            </a:extLst>
          </p:cNvPr>
          <p:cNvSpPr/>
          <p:nvPr/>
        </p:nvSpPr>
        <p:spPr>
          <a:xfrm>
            <a:off x="2975104" y="3516767"/>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cxnSpLocks/>
          </p:cNvCxnSpPr>
          <p:nvPr/>
        </p:nvCxnSpPr>
        <p:spPr>
          <a:xfrm flipV="1">
            <a:off x="3128470" y="3267650"/>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cxnSpLocks/>
          </p:cNvCxnSpPr>
          <p:nvPr/>
        </p:nvCxnSpPr>
        <p:spPr>
          <a:xfrm flipV="1">
            <a:off x="3128470" y="2378453"/>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cxnSpLocks/>
          </p:cNvCxnSpPr>
          <p:nvPr/>
        </p:nvCxnSpPr>
        <p:spPr>
          <a:xfrm flipV="1">
            <a:off x="3128470" y="1489256"/>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3343292" y="3711932"/>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3343292" y="27770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3343292" y="18626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3343292" y="981840"/>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ED579E8-8CA2-DA4F-8F35-08E108D6EBE4}"/>
              </a:ext>
            </a:extLst>
          </p:cNvPr>
          <p:cNvGrpSpPr/>
          <p:nvPr/>
        </p:nvGrpSpPr>
        <p:grpSpPr>
          <a:xfrm>
            <a:off x="3701328" y="3616687"/>
            <a:ext cx="387190" cy="207818"/>
            <a:chOff x="3030263" y="2822231"/>
            <a:chExt cx="387190" cy="207818"/>
          </a:xfrm>
        </p:grpSpPr>
        <p:sp>
          <p:nvSpPr>
            <p:cNvPr id="26" name="Oval 25">
              <a:extLst>
                <a:ext uri="{FF2B5EF4-FFF2-40B4-BE49-F238E27FC236}">
                  <a16:creationId xmlns:a16="http://schemas.microsoft.com/office/drawing/2014/main" id="{E93CE575-27FD-C54A-9FF0-9926288F7BBB}"/>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4B8B5784-FD1A-B742-83D8-DF9EE8AD30E5}"/>
              </a:ext>
            </a:extLst>
          </p:cNvPr>
          <p:cNvGrpSpPr/>
          <p:nvPr/>
        </p:nvGrpSpPr>
        <p:grpSpPr>
          <a:xfrm>
            <a:off x="3701328" y="2688011"/>
            <a:ext cx="387190" cy="207818"/>
            <a:chOff x="3030263" y="2822231"/>
            <a:chExt cx="387190" cy="207818"/>
          </a:xfrm>
        </p:grpSpPr>
        <p:sp>
          <p:nvSpPr>
            <p:cNvPr id="30" name="Oval 29">
              <a:extLst>
                <a:ext uri="{FF2B5EF4-FFF2-40B4-BE49-F238E27FC236}">
                  <a16:creationId xmlns:a16="http://schemas.microsoft.com/office/drawing/2014/main" id="{C16F3139-4A57-8B47-86D9-6D41CB319D2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32836704-474D-E642-9DA7-0DAE9A10D23C}"/>
              </a:ext>
            </a:extLst>
          </p:cNvPr>
          <p:cNvGrpSpPr/>
          <p:nvPr/>
        </p:nvGrpSpPr>
        <p:grpSpPr>
          <a:xfrm>
            <a:off x="3701328" y="1776090"/>
            <a:ext cx="387190" cy="207818"/>
            <a:chOff x="3030263" y="2822231"/>
            <a:chExt cx="387190" cy="207818"/>
          </a:xfrm>
        </p:grpSpPr>
        <p:sp>
          <p:nvSpPr>
            <p:cNvPr id="33" name="Oval 32">
              <a:extLst>
                <a:ext uri="{FF2B5EF4-FFF2-40B4-BE49-F238E27FC236}">
                  <a16:creationId xmlns:a16="http://schemas.microsoft.com/office/drawing/2014/main" id="{7A4043F9-8201-3D41-A712-D379768AA3F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7E9E8D2F-9A5E-B44C-8E6D-F9E634D4FDA7}"/>
              </a:ext>
            </a:extLst>
          </p:cNvPr>
          <p:cNvGrpSpPr/>
          <p:nvPr/>
        </p:nvGrpSpPr>
        <p:grpSpPr>
          <a:xfrm>
            <a:off x="3701328" y="887481"/>
            <a:ext cx="387190" cy="207818"/>
            <a:chOff x="3030263" y="2822231"/>
            <a:chExt cx="387190" cy="207818"/>
          </a:xfrm>
        </p:grpSpPr>
        <p:sp>
          <p:nvSpPr>
            <p:cNvPr id="36" name="Oval 35">
              <a:extLst>
                <a:ext uri="{FF2B5EF4-FFF2-40B4-BE49-F238E27FC236}">
                  <a16:creationId xmlns:a16="http://schemas.microsoft.com/office/drawing/2014/main" id="{5F82C33E-541C-A840-ACD3-501C29E26DD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8" name="Oval 37">
            <a:extLst>
              <a:ext uri="{FF2B5EF4-FFF2-40B4-BE49-F238E27FC236}">
                <a16:creationId xmlns:a16="http://schemas.microsoft.com/office/drawing/2014/main" id="{4BCF5846-6353-E840-A2C3-D6232ACCC3C3}"/>
              </a:ext>
            </a:extLst>
          </p:cNvPr>
          <p:cNvSpPr/>
          <p:nvPr/>
        </p:nvSpPr>
        <p:spPr>
          <a:xfrm>
            <a:off x="4980544" y="2312634"/>
            <a:ext cx="130379" cy="13163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3986601" y="979813"/>
            <a:ext cx="993943" cy="139864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3986601" y="1868422"/>
            <a:ext cx="993943" cy="51003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stCxn id="30" idx="6"/>
          </p:cNvCxnSpPr>
          <p:nvPr/>
        </p:nvCxnSpPr>
        <p:spPr>
          <a:xfrm flipV="1">
            <a:off x="3986601" y="2402199"/>
            <a:ext cx="993943" cy="37814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cxnSpLocks/>
            <a:stCxn id="26" idx="6"/>
          </p:cNvCxnSpPr>
          <p:nvPr/>
        </p:nvCxnSpPr>
        <p:spPr>
          <a:xfrm flipH="1" flipV="1">
            <a:off x="3259667" y="3386667"/>
            <a:ext cx="726934" cy="322352"/>
          </a:xfrm>
          <a:prstGeom prst="bentConnector3">
            <a:avLst>
              <a:gd name="adj1" fmla="val -31447"/>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cxnSpLocks/>
            <a:endCxn id="14" idx="2"/>
          </p:cNvCxnSpPr>
          <p:nvPr/>
        </p:nvCxnSpPr>
        <p:spPr>
          <a:xfrm flipV="1">
            <a:off x="1294423" y="4156847"/>
            <a:ext cx="1858323" cy="368296"/>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cxnSpLocks/>
            <a:stCxn id="8" idx="0"/>
          </p:cNvCxnSpPr>
          <p:nvPr/>
        </p:nvCxnSpPr>
        <p:spPr>
          <a:xfrm rot="16200000" flipV="1">
            <a:off x="2047981" y="-255589"/>
            <a:ext cx="153210" cy="2056320"/>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F9806D16-6B78-2A4D-892D-FD6DDBFBECC6}"/>
              </a:ext>
            </a:extLst>
          </p:cNvPr>
          <p:cNvSpPr txBox="1"/>
          <p:nvPr/>
        </p:nvSpPr>
        <p:spPr>
          <a:xfrm>
            <a:off x="-64129" y="643993"/>
            <a:ext cx="1677798" cy="369332"/>
          </a:xfrm>
          <a:prstGeom prst="rect">
            <a:avLst/>
          </a:prstGeom>
          <a:noFill/>
        </p:spPr>
        <p:txBody>
          <a:bodyPr wrap="square" rtlCol="0">
            <a:spAutoFit/>
          </a:bodyPr>
          <a:lstStyle/>
          <a:p>
            <a:pPr algn="ctr"/>
            <a:r>
              <a:rPr lang="en-US" dirty="0"/>
              <a:t>To bioreactor</a:t>
            </a:r>
          </a:p>
        </p:txBody>
      </p:sp>
      <p:sp>
        <p:nvSpPr>
          <p:cNvPr id="52" name="TextBox 51">
            <a:extLst>
              <a:ext uri="{FF2B5EF4-FFF2-40B4-BE49-F238E27FC236}">
                <a16:creationId xmlns:a16="http://schemas.microsoft.com/office/drawing/2014/main" id="{1BB413DF-AAA5-8549-B5DC-5D3085CFE224}"/>
              </a:ext>
            </a:extLst>
          </p:cNvPr>
          <p:cNvSpPr txBox="1"/>
          <p:nvPr/>
        </p:nvSpPr>
        <p:spPr>
          <a:xfrm>
            <a:off x="3683473" y="110473"/>
            <a:ext cx="2366482" cy="646331"/>
          </a:xfrm>
          <a:prstGeom prst="rect">
            <a:avLst/>
          </a:prstGeom>
          <a:noFill/>
        </p:spPr>
        <p:txBody>
          <a:bodyPr wrap="square" rtlCol="0">
            <a:spAutoFit/>
          </a:bodyPr>
          <a:lstStyle/>
          <a:p>
            <a:pPr algn="ctr"/>
            <a:r>
              <a:rPr lang="en-US" dirty="0"/>
              <a:t>Total permeate flow</a:t>
            </a:r>
          </a:p>
          <a:p>
            <a:pPr algn="ctr"/>
            <a:r>
              <a:rPr lang="en-US" dirty="0"/>
              <a:t>1-2vvd</a:t>
            </a:r>
          </a:p>
        </p:txBody>
      </p:sp>
      <p:cxnSp>
        <p:nvCxnSpPr>
          <p:cNvPr id="60" name="Straight Arrow Connector 59">
            <a:extLst>
              <a:ext uri="{FF2B5EF4-FFF2-40B4-BE49-F238E27FC236}">
                <a16:creationId xmlns:a16="http://schemas.microsoft.com/office/drawing/2014/main" id="{EF29AC4F-FAF3-994C-88A1-6A4B7CC3FAB8}"/>
              </a:ext>
            </a:extLst>
          </p:cNvPr>
          <p:cNvCxnSpPr>
            <a:cxnSpLocks/>
            <a:stCxn id="9" idx="3"/>
            <a:endCxn id="8" idx="1"/>
          </p:cNvCxnSpPr>
          <p:nvPr/>
        </p:nvCxnSpPr>
        <p:spPr>
          <a:xfrm flipV="1">
            <a:off x="2016705" y="1169216"/>
            <a:ext cx="958399" cy="162250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cxnSpLocks/>
            <a:stCxn id="9" idx="3"/>
            <a:endCxn id="7" idx="1"/>
          </p:cNvCxnSpPr>
          <p:nvPr/>
        </p:nvCxnSpPr>
        <p:spPr>
          <a:xfrm flipV="1">
            <a:off x="2016705" y="2058413"/>
            <a:ext cx="958399" cy="733306"/>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stCxn id="9" idx="3"/>
          </p:cNvCxnSpPr>
          <p:nvPr/>
        </p:nvCxnSpPr>
        <p:spPr>
          <a:xfrm>
            <a:off x="2016705" y="2791719"/>
            <a:ext cx="799894" cy="222292"/>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cxnSpLocks/>
            <a:stCxn id="9" idx="3"/>
            <a:endCxn id="14" idx="1"/>
          </p:cNvCxnSpPr>
          <p:nvPr/>
        </p:nvCxnSpPr>
        <p:spPr>
          <a:xfrm>
            <a:off x="2016705" y="2791719"/>
            <a:ext cx="958399" cy="1045088"/>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F95C2E41-609F-8C49-8BE4-21492EE768E8}"/>
              </a:ext>
            </a:extLst>
          </p:cNvPr>
          <p:cNvGrpSpPr/>
          <p:nvPr/>
        </p:nvGrpSpPr>
        <p:grpSpPr>
          <a:xfrm>
            <a:off x="1944774" y="4308341"/>
            <a:ext cx="899951" cy="566238"/>
            <a:chOff x="3030263" y="2822231"/>
            <a:chExt cx="387190" cy="207818"/>
          </a:xfrm>
        </p:grpSpPr>
        <p:sp>
          <p:nvSpPr>
            <p:cNvPr id="68" name="Oval 67">
              <a:extLst>
                <a:ext uri="{FF2B5EF4-FFF2-40B4-BE49-F238E27FC236}">
                  <a16:creationId xmlns:a16="http://schemas.microsoft.com/office/drawing/2014/main" id="{C1E8379D-D666-7245-B0DD-66E23A146B3D}"/>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9" name="TextBox 128">
            <a:extLst>
              <a:ext uri="{FF2B5EF4-FFF2-40B4-BE49-F238E27FC236}">
                <a16:creationId xmlns:a16="http://schemas.microsoft.com/office/drawing/2014/main" id="{8F98367F-CB23-9F40-A514-DB05B4009000}"/>
              </a:ext>
            </a:extLst>
          </p:cNvPr>
          <p:cNvSpPr txBox="1"/>
          <p:nvPr/>
        </p:nvSpPr>
        <p:spPr>
          <a:xfrm>
            <a:off x="3789908" y="4488326"/>
            <a:ext cx="2366482" cy="646331"/>
          </a:xfrm>
          <a:prstGeom prst="rect">
            <a:avLst/>
          </a:prstGeom>
          <a:noFill/>
        </p:spPr>
        <p:txBody>
          <a:bodyPr wrap="square" rtlCol="0">
            <a:spAutoFit/>
          </a:bodyPr>
          <a:lstStyle/>
          <a:p>
            <a:pPr algn="ctr"/>
            <a:r>
              <a:rPr lang="en-US" dirty="0"/>
              <a:t>Swap out individual filters?</a:t>
            </a:r>
          </a:p>
        </p:txBody>
      </p:sp>
      <p:sp>
        <p:nvSpPr>
          <p:cNvPr id="133" name="TextBox 132">
            <a:extLst>
              <a:ext uri="{FF2B5EF4-FFF2-40B4-BE49-F238E27FC236}">
                <a16:creationId xmlns:a16="http://schemas.microsoft.com/office/drawing/2014/main" id="{6AC7203B-3DB5-5C40-9B7C-31A8F229152C}"/>
              </a:ext>
            </a:extLst>
          </p:cNvPr>
          <p:cNvSpPr txBox="1"/>
          <p:nvPr/>
        </p:nvSpPr>
        <p:spPr>
          <a:xfrm>
            <a:off x="6671733" y="4707467"/>
            <a:ext cx="1744134" cy="646331"/>
          </a:xfrm>
          <a:prstGeom prst="rect">
            <a:avLst/>
          </a:prstGeom>
          <a:noFill/>
        </p:spPr>
        <p:txBody>
          <a:bodyPr wrap="square" rtlCol="0">
            <a:spAutoFit/>
          </a:bodyPr>
          <a:lstStyle/>
          <a:p>
            <a:r>
              <a:rPr lang="en-US" dirty="0"/>
              <a:t>Confidential</a:t>
            </a:r>
          </a:p>
          <a:p>
            <a:endParaRPr lang="en-US" dirty="0"/>
          </a:p>
        </p:txBody>
      </p:sp>
      <p:sp>
        <p:nvSpPr>
          <p:cNvPr id="137" name="Rounded Rectangle 136">
            <a:extLst>
              <a:ext uri="{FF2B5EF4-FFF2-40B4-BE49-F238E27FC236}">
                <a16:creationId xmlns:a16="http://schemas.microsoft.com/office/drawing/2014/main" id="{99AA0B42-3D0F-0244-A542-E170A828AD24}"/>
              </a:ext>
            </a:extLst>
          </p:cNvPr>
          <p:cNvSpPr/>
          <p:nvPr/>
        </p:nvSpPr>
        <p:spPr>
          <a:xfrm>
            <a:off x="4866714" y="2091298"/>
            <a:ext cx="584200" cy="66753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8" name="Group 137">
            <a:extLst>
              <a:ext uri="{FF2B5EF4-FFF2-40B4-BE49-F238E27FC236}">
                <a16:creationId xmlns:a16="http://schemas.microsoft.com/office/drawing/2014/main" id="{800C80CE-9373-B544-99AF-D716E75AA341}"/>
              </a:ext>
            </a:extLst>
          </p:cNvPr>
          <p:cNvGrpSpPr/>
          <p:nvPr/>
        </p:nvGrpSpPr>
        <p:grpSpPr>
          <a:xfrm>
            <a:off x="5473467" y="2376535"/>
            <a:ext cx="387190" cy="207818"/>
            <a:chOff x="3030263" y="2822231"/>
            <a:chExt cx="387190" cy="207818"/>
          </a:xfrm>
        </p:grpSpPr>
        <p:sp>
          <p:nvSpPr>
            <p:cNvPr id="139" name="Oval 138">
              <a:extLst>
                <a:ext uri="{FF2B5EF4-FFF2-40B4-BE49-F238E27FC236}">
                  <a16:creationId xmlns:a16="http://schemas.microsoft.com/office/drawing/2014/main" id="{0E9B2F21-B64E-3B4C-AD72-B3C54B72ED2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Isosceles Triangle 8">
              <a:extLst>
                <a:ext uri="{FF2B5EF4-FFF2-40B4-BE49-F238E27FC236}">
                  <a16:creationId xmlns:a16="http://schemas.microsoft.com/office/drawing/2014/main" id="{26071CC2-05EA-8844-9B29-3EDB27D66AA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1" name="TextBox 140">
            <a:extLst>
              <a:ext uri="{FF2B5EF4-FFF2-40B4-BE49-F238E27FC236}">
                <a16:creationId xmlns:a16="http://schemas.microsoft.com/office/drawing/2014/main" id="{6FA751C8-5387-D54E-BBEB-895C27B8E5FC}"/>
              </a:ext>
            </a:extLst>
          </p:cNvPr>
          <p:cNvSpPr txBox="1"/>
          <p:nvPr/>
        </p:nvSpPr>
        <p:spPr>
          <a:xfrm>
            <a:off x="6318094" y="2423075"/>
            <a:ext cx="2366482" cy="369332"/>
          </a:xfrm>
          <a:prstGeom prst="rect">
            <a:avLst/>
          </a:prstGeom>
          <a:noFill/>
        </p:spPr>
        <p:txBody>
          <a:bodyPr wrap="square" rtlCol="0">
            <a:spAutoFit/>
          </a:bodyPr>
          <a:lstStyle/>
          <a:p>
            <a:pPr algn="ctr"/>
            <a:r>
              <a:rPr lang="en-US" dirty="0"/>
              <a:t>1vvd</a:t>
            </a:r>
          </a:p>
        </p:txBody>
      </p:sp>
      <p:sp>
        <p:nvSpPr>
          <p:cNvPr id="142" name="TextBox 141">
            <a:extLst>
              <a:ext uri="{FF2B5EF4-FFF2-40B4-BE49-F238E27FC236}">
                <a16:creationId xmlns:a16="http://schemas.microsoft.com/office/drawing/2014/main" id="{7F1EC7BA-AC2C-CC49-B5AB-139833369280}"/>
              </a:ext>
            </a:extLst>
          </p:cNvPr>
          <p:cNvSpPr txBox="1"/>
          <p:nvPr/>
        </p:nvSpPr>
        <p:spPr>
          <a:xfrm>
            <a:off x="3590767" y="3481185"/>
            <a:ext cx="2366482" cy="369332"/>
          </a:xfrm>
          <a:prstGeom prst="rect">
            <a:avLst/>
          </a:prstGeom>
          <a:noFill/>
        </p:spPr>
        <p:txBody>
          <a:bodyPr wrap="square" rtlCol="0">
            <a:spAutoFit/>
          </a:bodyPr>
          <a:lstStyle/>
          <a:p>
            <a:pPr algn="ctr"/>
            <a:r>
              <a:rPr lang="en-US" dirty="0"/>
              <a:t>0.5vvd</a:t>
            </a:r>
          </a:p>
        </p:txBody>
      </p:sp>
      <p:sp>
        <p:nvSpPr>
          <p:cNvPr id="143" name="TextBox 142">
            <a:extLst>
              <a:ext uri="{FF2B5EF4-FFF2-40B4-BE49-F238E27FC236}">
                <a16:creationId xmlns:a16="http://schemas.microsoft.com/office/drawing/2014/main" id="{D4B90B9A-3531-5A4C-A4DF-06C04A08DF12}"/>
              </a:ext>
            </a:extLst>
          </p:cNvPr>
          <p:cNvSpPr txBox="1"/>
          <p:nvPr/>
        </p:nvSpPr>
        <p:spPr>
          <a:xfrm>
            <a:off x="2650791" y="1084366"/>
            <a:ext cx="2366482" cy="369332"/>
          </a:xfrm>
          <a:prstGeom prst="rect">
            <a:avLst/>
          </a:prstGeom>
          <a:noFill/>
        </p:spPr>
        <p:txBody>
          <a:bodyPr wrap="square" rtlCol="0">
            <a:spAutoFit/>
          </a:bodyPr>
          <a:lstStyle/>
          <a:p>
            <a:pPr algn="ctr"/>
            <a:r>
              <a:rPr lang="en-US" dirty="0"/>
              <a:t>0.5vvd</a:t>
            </a:r>
          </a:p>
        </p:txBody>
      </p:sp>
      <p:sp>
        <p:nvSpPr>
          <p:cNvPr id="144" name="TextBox 143">
            <a:extLst>
              <a:ext uri="{FF2B5EF4-FFF2-40B4-BE49-F238E27FC236}">
                <a16:creationId xmlns:a16="http://schemas.microsoft.com/office/drawing/2014/main" id="{BA81B6AD-1874-674D-B59F-1A0550D19DB4}"/>
              </a:ext>
            </a:extLst>
          </p:cNvPr>
          <p:cNvSpPr txBox="1"/>
          <p:nvPr/>
        </p:nvSpPr>
        <p:spPr>
          <a:xfrm>
            <a:off x="2563104" y="2032429"/>
            <a:ext cx="2366482" cy="369332"/>
          </a:xfrm>
          <a:prstGeom prst="rect">
            <a:avLst/>
          </a:prstGeom>
          <a:noFill/>
        </p:spPr>
        <p:txBody>
          <a:bodyPr wrap="square" rtlCol="0">
            <a:spAutoFit/>
          </a:bodyPr>
          <a:lstStyle/>
          <a:p>
            <a:pPr algn="ctr"/>
            <a:r>
              <a:rPr lang="en-US" dirty="0"/>
              <a:t>0.5vvd</a:t>
            </a:r>
          </a:p>
        </p:txBody>
      </p:sp>
      <p:sp>
        <p:nvSpPr>
          <p:cNvPr id="145" name="TextBox 144">
            <a:extLst>
              <a:ext uri="{FF2B5EF4-FFF2-40B4-BE49-F238E27FC236}">
                <a16:creationId xmlns:a16="http://schemas.microsoft.com/office/drawing/2014/main" id="{8DA646F7-FB53-0543-9D91-DC0E8808FF1E}"/>
              </a:ext>
            </a:extLst>
          </p:cNvPr>
          <p:cNvSpPr txBox="1"/>
          <p:nvPr/>
        </p:nvSpPr>
        <p:spPr>
          <a:xfrm>
            <a:off x="2500232" y="2870899"/>
            <a:ext cx="2366482" cy="369332"/>
          </a:xfrm>
          <a:prstGeom prst="rect">
            <a:avLst/>
          </a:prstGeom>
          <a:noFill/>
        </p:spPr>
        <p:txBody>
          <a:bodyPr wrap="square" rtlCol="0">
            <a:spAutoFit/>
          </a:bodyPr>
          <a:lstStyle/>
          <a:p>
            <a:pPr algn="ctr"/>
            <a:r>
              <a:rPr lang="en-US" dirty="0"/>
              <a:t>0.5vvd</a:t>
            </a:r>
          </a:p>
        </p:txBody>
      </p:sp>
    </p:spTree>
    <p:extLst>
      <p:ext uri="{BB962C8B-B14F-4D97-AF65-F5344CB8AC3E}">
        <p14:creationId xmlns:p14="http://schemas.microsoft.com/office/powerpoint/2010/main" val="198541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11</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975104" y="2627570"/>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975104" y="173837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975104" y="849176"/>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9" name="TextBox 8">
            <a:extLst>
              <a:ext uri="{FF2B5EF4-FFF2-40B4-BE49-F238E27FC236}">
                <a16:creationId xmlns:a16="http://schemas.microsoft.com/office/drawing/2014/main" id="{9F906EC8-F7DE-0C40-8AF8-E30B14717BB5}"/>
              </a:ext>
            </a:extLst>
          </p:cNvPr>
          <p:cNvSpPr txBox="1"/>
          <p:nvPr/>
        </p:nvSpPr>
        <p:spPr>
          <a:xfrm>
            <a:off x="87318" y="2330054"/>
            <a:ext cx="1929387" cy="923330"/>
          </a:xfrm>
          <a:prstGeom prst="rect">
            <a:avLst/>
          </a:prstGeom>
          <a:noFill/>
        </p:spPr>
        <p:txBody>
          <a:bodyPr wrap="square" rtlCol="0">
            <a:spAutoFit/>
          </a:bodyPr>
          <a:lstStyle/>
          <a:p>
            <a:pPr algn="ctr"/>
            <a:r>
              <a:rPr lang="en-US" dirty="0"/>
              <a:t>TFF filter modules</a:t>
            </a:r>
          </a:p>
          <a:p>
            <a:pPr algn="ctr"/>
            <a:r>
              <a:rPr lang="en-US" dirty="0"/>
              <a:t>50cm long</a:t>
            </a:r>
          </a:p>
        </p:txBody>
      </p:sp>
      <p:sp>
        <p:nvSpPr>
          <p:cNvPr id="13" name="TextBox 12">
            <a:extLst>
              <a:ext uri="{FF2B5EF4-FFF2-40B4-BE49-F238E27FC236}">
                <a16:creationId xmlns:a16="http://schemas.microsoft.com/office/drawing/2014/main" id="{BB8D6F3A-074B-9841-91C1-A417238D3FF0}"/>
              </a:ext>
            </a:extLst>
          </p:cNvPr>
          <p:cNvSpPr txBox="1"/>
          <p:nvPr/>
        </p:nvSpPr>
        <p:spPr>
          <a:xfrm>
            <a:off x="-525980" y="4156847"/>
            <a:ext cx="2366482" cy="923330"/>
          </a:xfrm>
          <a:prstGeom prst="rect">
            <a:avLst/>
          </a:prstGeom>
          <a:noFill/>
        </p:spPr>
        <p:txBody>
          <a:bodyPr wrap="square" rtlCol="0">
            <a:spAutoFit/>
          </a:bodyPr>
          <a:lstStyle/>
          <a:p>
            <a:pPr algn="ctr"/>
            <a:r>
              <a:rPr lang="en-US" dirty="0"/>
              <a:t>From bioreactor</a:t>
            </a:r>
          </a:p>
          <a:p>
            <a:pPr algn="ctr"/>
            <a:r>
              <a:rPr lang="en-US" dirty="0"/>
              <a:t>85 L/min</a:t>
            </a:r>
          </a:p>
          <a:p>
            <a:pPr algn="ctr"/>
            <a:r>
              <a:rPr lang="en-US" dirty="0"/>
              <a:t>1.5” tubing</a:t>
            </a:r>
          </a:p>
        </p:txBody>
      </p:sp>
      <p:sp>
        <p:nvSpPr>
          <p:cNvPr id="14" name="Rounded Rectangle 13">
            <a:extLst>
              <a:ext uri="{FF2B5EF4-FFF2-40B4-BE49-F238E27FC236}">
                <a16:creationId xmlns:a16="http://schemas.microsoft.com/office/drawing/2014/main" id="{7D21E7F5-FABF-0942-A891-5E690EFC63CA}"/>
              </a:ext>
            </a:extLst>
          </p:cNvPr>
          <p:cNvSpPr/>
          <p:nvPr/>
        </p:nvSpPr>
        <p:spPr>
          <a:xfrm>
            <a:off x="2975104" y="3516767"/>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cxnSpLocks/>
          </p:cNvCxnSpPr>
          <p:nvPr/>
        </p:nvCxnSpPr>
        <p:spPr>
          <a:xfrm flipV="1">
            <a:off x="3128470" y="3267650"/>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cxnSpLocks/>
          </p:cNvCxnSpPr>
          <p:nvPr/>
        </p:nvCxnSpPr>
        <p:spPr>
          <a:xfrm flipV="1">
            <a:off x="3128470" y="2378453"/>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cxnSpLocks/>
          </p:cNvCxnSpPr>
          <p:nvPr/>
        </p:nvCxnSpPr>
        <p:spPr>
          <a:xfrm flipV="1">
            <a:off x="3128470" y="1489256"/>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3343292" y="3711932"/>
            <a:ext cx="494951" cy="0"/>
          </a:xfrm>
          <a:prstGeom prst="straightConnector1">
            <a:avLst/>
          </a:prstGeom>
          <a:ln>
            <a:solidFill>
              <a:schemeClr val="accent1"/>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3343292" y="27770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3343292" y="18626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3343292" y="981840"/>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ED579E8-8CA2-DA4F-8F35-08E108D6EBE4}"/>
              </a:ext>
            </a:extLst>
          </p:cNvPr>
          <p:cNvGrpSpPr/>
          <p:nvPr/>
        </p:nvGrpSpPr>
        <p:grpSpPr>
          <a:xfrm>
            <a:off x="3701328" y="3616687"/>
            <a:ext cx="387190" cy="207818"/>
            <a:chOff x="3030263" y="2822231"/>
            <a:chExt cx="387190" cy="207818"/>
          </a:xfrm>
        </p:grpSpPr>
        <p:sp>
          <p:nvSpPr>
            <p:cNvPr id="26" name="Oval 25">
              <a:extLst>
                <a:ext uri="{FF2B5EF4-FFF2-40B4-BE49-F238E27FC236}">
                  <a16:creationId xmlns:a16="http://schemas.microsoft.com/office/drawing/2014/main" id="{E93CE575-27FD-C54A-9FF0-9926288F7BBB}"/>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4B8B5784-FD1A-B742-83D8-DF9EE8AD30E5}"/>
              </a:ext>
            </a:extLst>
          </p:cNvPr>
          <p:cNvGrpSpPr/>
          <p:nvPr/>
        </p:nvGrpSpPr>
        <p:grpSpPr>
          <a:xfrm>
            <a:off x="3701328" y="2688011"/>
            <a:ext cx="387190" cy="207818"/>
            <a:chOff x="3030263" y="2822231"/>
            <a:chExt cx="387190" cy="207818"/>
          </a:xfrm>
        </p:grpSpPr>
        <p:sp>
          <p:nvSpPr>
            <p:cNvPr id="30" name="Oval 29">
              <a:extLst>
                <a:ext uri="{FF2B5EF4-FFF2-40B4-BE49-F238E27FC236}">
                  <a16:creationId xmlns:a16="http://schemas.microsoft.com/office/drawing/2014/main" id="{C16F3139-4A57-8B47-86D9-6D41CB319D2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32836704-474D-E642-9DA7-0DAE9A10D23C}"/>
              </a:ext>
            </a:extLst>
          </p:cNvPr>
          <p:cNvGrpSpPr/>
          <p:nvPr/>
        </p:nvGrpSpPr>
        <p:grpSpPr>
          <a:xfrm>
            <a:off x="3701328" y="1776090"/>
            <a:ext cx="387190" cy="207818"/>
            <a:chOff x="3030263" y="2822231"/>
            <a:chExt cx="387190" cy="207818"/>
          </a:xfrm>
        </p:grpSpPr>
        <p:sp>
          <p:nvSpPr>
            <p:cNvPr id="33" name="Oval 32">
              <a:extLst>
                <a:ext uri="{FF2B5EF4-FFF2-40B4-BE49-F238E27FC236}">
                  <a16:creationId xmlns:a16="http://schemas.microsoft.com/office/drawing/2014/main" id="{7A4043F9-8201-3D41-A712-D379768AA3F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7E9E8D2F-9A5E-B44C-8E6D-F9E634D4FDA7}"/>
              </a:ext>
            </a:extLst>
          </p:cNvPr>
          <p:cNvGrpSpPr/>
          <p:nvPr/>
        </p:nvGrpSpPr>
        <p:grpSpPr>
          <a:xfrm>
            <a:off x="3701328" y="887481"/>
            <a:ext cx="387190" cy="207818"/>
            <a:chOff x="3030263" y="2822231"/>
            <a:chExt cx="387190" cy="207818"/>
          </a:xfrm>
        </p:grpSpPr>
        <p:sp>
          <p:nvSpPr>
            <p:cNvPr id="36" name="Oval 35">
              <a:extLst>
                <a:ext uri="{FF2B5EF4-FFF2-40B4-BE49-F238E27FC236}">
                  <a16:creationId xmlns:a16="http://schemas.microsoft.com/office/drawing/2014/main" id="{5F82C33E-541C-A840-ACD3-501C29E26DD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8" name="Oval 37">
            <a:extLst>
              <a:ext uri="{FF2B5EF4-FFF2-40B4-BE49-F238E27FC236}">
                <a16:creationId xmlns:a16="http://schemas.microsoft.com/office/drawing/2014/main" id="{4BCF5846-6353-E840-A2C3-D6232ACCC3C3}"/>
              </a:ext>
            </a:extLst>
          </p:cNvPr>
          <p:cNvSpPr/>
          <p:nvPr/>
        </p:nvSpPr>
        <p:spPr>
          <a:xfrm>
            <a:off x="4980544" y="2312634"/>
            <a:ext cx="130379" cy="13163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3986601" y="979813"/>
            <a:ext cx="993943" cy="139864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3986601" y="1868422"/>
            <a:ext cx="993943" cy="51003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stCxn id="30" idx="6"/>
          </p:cNvCxnSpPr>
          <p:nvPr/>
        </p:nvCxnSpPr>
        <p:spPr>
          <a:xfrm flipV="1">
            <a:off x="3986601" y="2402199"/>
            <a:ext cx="993943" cy="37814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cxnSpLocks/>
            <a:stCxn id="26" idx="6"/>
            <a:endCxn id="137" idx="2"/>
          </p:cNvCxnSpPr>
          <p:nvPr/>
        </p:nvCxnSpPr>
        <p:spPr>
          <a:xfrm flipV="1">
            <a:off x="3986601" y="2758834"/>
            <a:ext cx="1172213" cy="950185"/>
          </a:xfrm>
          <a:prstGeom prst="bentConnector2">
            <a:avLst/>
          </a:prstGeom>
          <a:ln>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cxnSpLocks/>
            <a:endCxn id="14" idx="2"/>
          </p:cNvCxnSpPr>
          <p:nvPr/>
        </p:nvCxnSpPr>
        <p:spPr>
          <a:xfrm flipV="1">
            <a:off x="1294423" y="4156847"/>
            <a:ext cx="1858323" cy="368296"/>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cxnSpLocks/>
            <a:stCxn id="8" idx="0"/>
          </p:cNvCxnSpPr>
          <p:nvPr/>
        </p:nvCxnSpPr>
        <p:spPr>
          <a:xfrm rot="16200000" flipV="1">
            <a:off x="2047981" y="-255589"/>
            <a:ext cx="153210" cy="2056320"/>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F9806D16-6B78-2A4D-892D-FD6DDBFBECC6}"/>
              </a:ext>
            </a:extLst>
          </p:cNvPr>
          <p:cNvSpPr txBox="1"/>
          <p:nvPr/>
        </p:nvSpPr>
        <p:spPr>
          <a:xfrm>
            <a:off x="-64129" y="643993"/>
            <a:ext cx="1677798" cy="369332"/>
          </a:xfrm>
          <a:prstGeom prst="rect">
            <a:avLst/>
          </a:prstGeom>
          <a:noFill/>
        </p:spPr>
        <p:txBody>
          <a:bodyPr wrap="square" rtlCol="0">
            <a:spAutoFit/>
          </a:bodyPr>
          <a:lstStyle/>
          <a:p>
            <a:pPr algn="ctr"/>
            <a:r>
              <a:rPr lang="en-US" dirty="0"/>
              <a:t>To bioreactor</a:t>
            </a:r>
          </a:p>
        </p:txBody>
      </p:sp>
      <p:sp>
        <p:nvSpPr>
          <p:cNvPr id="52" name="TextBox 51">
            <a:extLst>
              <a:ext uri="{FF2B5EF4-FFF2-40B4-BE49-F238E27FC236}">
                <a16:creationId xmlns:a16="http://schemas.microsoft.com/office/drawing/2014/main" id="{1BB413DF-AAA5-8549-B5DC-5D3085CFE224}"/>
              </a:ext>
            </a:extLst>
          </p:cNvPr>
          <p:cNvSpPr txBox="1"/>
          <p:nvPr/>
        </p:nvSpPr>
        <p:spPr>
          <a:xfrm>
            <a:off x="3683473" y="110473"/>
            <a:ext cx="2366482" cy="646331"/>
          </a:xfrm>
          <a:prstGeom prst="rect">
            <a:avLst/>
          </a:prstGeom>
          <a:noFill/>
        </p:spPr>
        <p:txBody>
          <a:bodyPr wrap="square" rtlCol="0">
            <a:spAutoFit/>
          </a:bodyPr>
          <a:lstStyle/>
          <a:p>
            <a:pPr algn="ctr"/>
            <a:r>
              <a:rPr lang="en-US" dirty="0"/>
              <a:t>Total permeate flow</a:t>
            </a:r>
          </a:p>
          <a:p>
            <a:pPr algn="ctr"/>
            <a:r>
              <a:rPr lang="en-US" dirty="0"/>
              <a:t>1-2vvd</a:t>
            </a:r>
          </a:p>
        </p:txBody>
      </p:sp>
      <p:cxnSp>
        <p:nvCxnSpPr>
          <p:cNvPr id="60" name="Straight Arrow Connector 59">
            <a:extLst>
              <a:ext uri="{FF2B5EF4-FFF2-40B4-BE49-F238E27FC236}">
                <a16:creationId xmlns:a16="http://schemas.microsoft.com/office/drawing/2014/main" id="{EF29AC4F-FAF3-994C-88A1-6A4B7CC3FAB8}"/>
              </a:ext>
            </a:extLst>
          </p:cNvPr>
          <p:cNvCxnSpPr>
            <a:cxnSpLocks/>
            <a:stCxn id="9" idx="3"/>
            <a:endCxn id="8" idx="1"/>
          </p:cNvCxnSpPr>
          <p:nvPr/>
        </p:nvCxnSpPr>
        <p:spPr>
          <a:xfrm flipV="1">
            <a:off x="2016705" y="1169216"/>
            <a:ext cx="958399" cy="162250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cxnSpLocks/>
            <a:stCxn id="9" idx="3"/>
            <a:endCxn id="7" idx="1"/>
          </p:cNvCxnSpPr>
          <p:nvPr/>
        </p:nvCxnSpPr>
        <p:spPr>
          <a:xfrm flipV="1">
            <a:off x="2016705" y="2058413"/>
            <a:ext cx="958399" cy="733306"/>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stCxn id="9" idx="3"/>
          </p:cNvCxnSpPr>
          <p:nvPr/>
        </p:nvCxnSpPr>
        <p:spPr>
          <a:xfrm>
            <a:off x="2016705" y="2791719"/>
            <a:ext cx="799894" cy="222292"/>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cxnSpLocks/>
            <a:stCxn id="9" idx="3"/>
            <a:endCxn id="14" idx="1"/>
          </p:cNvCxnSpPr>
          <p:nvPr/>
        </p:nvCxnSpPr>
        <p:spPr>
          <a:xfrm>
            <a:off x="2016705" y="2791719"/>
            <a:ext cx="958399" cy="1045088"/>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F95C2E41-609F-8C49-8BE4-21492EE768E8}"/>
              </a:ext>
            </a:extLst>
          </p:cNvPr>
          <p:cNvGrpSpPr/>
          <p:nvPr/>
        </p:nvGrpSpPr>
        <p:grpSpPr>
          <a:xfrm>
            <a:off x="1944774" y="4308341"/>
            <a:ext cx="899951" cy="566238"/>
            <a:chOff x="3030263" y="2822231"/>
            <a:chExt cx="387190" cy="207818"/>
          </a:xfrm>
        </p:grpSpPr>
        <p:sp>
          <p:nvSpPr>
            <p:cNvPr id="68" name="Oval 67">
              <a:extLst>
                <a:ext uri="{FF2B5EF4-FFF2-40B4-BE49-F238E27FC236}">
                  <a16:creationId xmlns:a16="http://schemas.microsoft.com/office/drawing/2014/main" id="{C1E8379D-D666-7245-B0DD-66E23A146B3D}"/>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29" name="TextBox 128">
            <a:extLst>
              <a:ext uri="{FF2B5EF4-FFF2-40B4-BE49-F238E27FC236}">
                <a16:creationId xmlns:a16="http://schemas.microsoft.com/office/drawing/2014/main" id="{8F98367F-CB23-9F40-A514-DB05B4009000}"/>
              </a:ext>
            </a:extLst>
          </p:cNvPr>
          <p:cNvSpPr txBox="1"/>
          <p:nvPr/>
        </p:nvSpPr>
        <p:spPr>
          <a:xfrm>
            <a:off x="3789908" y="4488326"/>
            <a:ext cx="2366482" cy="646331"/>
          </a:xfrm>
          <a:prstGeom prst="rect">
            <a:avLst/>
          </a:prstGeom>
          <a:noFill/>
        </p:spPr>
        <p:txBody>
          <a:bodyPr wrap="square" rtlCol="0">
            <a:spAutoFit/>
          </a:bodyPr>
          <a:lstStyle/>
          <a:p>
            <a:pPr algn="ctr"/>
            <a:r>
              <a:rPr lang="en-US" dirty="0"/>
              <a:t>Swap out individual filters?</a:t>
            </a:r>
          </a:p>
        </p:txBody>
      </p:sp>
      <p:sp>
        <p:nvSpPr>
          <p:cNvPr id="133" name="TextBox 132">
            <a:extLst>
              <a:ext uri="{FF2B5EF4-FFF2-40B4-BE49-F238E27FC236}">
                <a16:creationId xmlns:a16="http://schemas.microsoft.com/office/drawing/2014/main" id="{6AC7203B-3DB5-5C40-9B7C-31A8F229152C}"/>
              </a:ext>
            </a:extLst>
          </p:cNvPr>
          <p:cNvSpPr txBox="1"/>
          <p:nvPr/>
        </p:nvSpPr>
        <p:spPr>
          <a:xfrm>
            <a:off x="6671733" y="4707467"/>
            <a:ext cx="1744134" cy="646331"/>
          </a:xfrm>
          <a:prstGeom prst="rect">
            <a:avLst/>
          </a:prstGeom>
          <a:noFill/>
        </p:spPr>
        <p:txBody>
          <a:bodyPr wrap="square" rtlCol="0">
            <a:spAutoFit/>
          </a:bodyPr>
          <a:lstStyle/>
          <a:p>
            <a:r>
              <a:rPr lang="en-US" dirty="0"/>
              <a:t>Confidential</a:t>
            </a:r>
          </a:p>
          <a:p>
            <a:endParaRPr lang="en-US" dirty="0"/>
          </a:p>
        </p:txBody>
      </p:sp>
      <p:sp>
        <p:nvSpPr>
          <p:cNvPr id="137" name="Rounded Rectangle 136">
            <a:extLst>
              <a:ext uri="{FF2B5EF4-FFF2-40B4-BE49-F238E27FC236}">
                <a16:creationId xmlns:a16="http://schemas.microsoft.com/office/drawing/2014/main" id="{99AA0B42-3D0F-0244-A542-E170A828AD24}"/>
              </a:ext>
            </a:extLst>
          </p:cNvPr>
          <p:cNvSpPr/>
          <p:nvPr/>
        </p:nvSpPr>
        <p:spPr>
          <a:xfrm>
            <a:off x="4866714" y="2091298"/>
            <a:ext cx="584200" cy="66753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8" name="Group 137">
            <a:extLst>
              <a:ext uri="{FF2B5EF4-FFF2-40B4-BE49-F238E27FC236}">
                <a16:creationId xmlns:a16="http://schemas.microsoft.com/office/drawing/2014/main" id="{800C80CE-9373-B544-99AF-D716E75AA341}"/>
              </a:ext>
            </a:extLst>
          </p:cNvPr>
          <p:cNvGrpSpPr/>
          <p:nvPr/>
        </p:nvGrpSpPr>
        <p:grpSpPr>
          <a:xfrm>
            <a:off x="5473467" y="2376535"/>
            <a:ext cx="387190" cy="207818"/>
            <a:chOff x="3030263" y="2822231"/>
            <a:chExt cx="387190" cy="207818"/>
          </a:xfrm>
        </p:grpSpPr>
        <p:sp>
          <p:nvSpPr>
            <p:cNvPr id="139" name="Oval 138">
              <a:extLst>
                <a:ext uri="{FF2B5EF4-FFF2-40B4-BE49-F238E27FC236}">
                  <a16:creationId xmlns:a16="http://schemas.microsoft.com/office/drawing/2014/main" id="{0E9B2F21-B64E-3B4C-AD72-B3C54B72ED2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Isosceles Triangle 8">
              <a:extLst>
                <a:ext uri="{FF2B5EF4-FFF2-40B4-BE49-F238E27FC236}">
                  <a16:creationId xmlns:a16="http://schemas.microsoft.com/office/drawing/2014/main" id="{26071CC2-05EA-8844-9B29-3EDB27D66AA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1" name="TextBox 140">
            <a:extLst>
              <a:ext uri="{FF2B5EF4-FFF2-40B4-BE49-F238E27FC236}">
                <a16:creationId xmlns:a16="http://schemas.microsoft.com/office/drawing/2014/main" id="{6FA751C8-5387-D54E-BBEB-895C27B8E5FC}"/>
              </a:ext>
            </a:extLst>
          </p:cNvPr>
          <p:cNvSpPr txBox="1"/>
          <p:nvPr/>
        </p:nvSpPr>
        <p:spPr>
          <a:xfrm>
            <a:off x="5265817" y="2262688"/>
            <a:ext cx="2366482" cy="369332"/>
          </a:xfrm>
          <a:prstGeom prst="rect">
            <a:avLst/>
          </a:prstGeom>
          <a:noFill/>
        </p:spPr>
        <p:txBody>
          <a:bodyPr wrap="square" rtlCol="0">
            <a:spAutoFit/>
          </a:bodyPr>
          <a:lstStyle/>
          <a:p>
            <a:pPr algn="ctr"/>
            <a:r>
              <a:rPr lang="en-US" dirty="0"/>
              <a:t>1vvd</a:t>
            </a:r>
          </a:p>
        </p:txBody>
      </p:sp>
      <p:sp>
        <p:nvSpPr>
          <p:cNvPr id="142" name="TextBox 141">
            <a:extLst>
              <a:ext uri="{FF2B5EF4-FFF2-40B4-BE49-F238E27FC236}">
                <a16:creationId xmlns:a16="http://schemas.microsoft.com/office/drawing/2014/main" id="{7F1EC7BA-AC2C-CC49-B5AB-139833369280}"/>
              </a:ext>
            </a:extLst>
          </p:cNvPr>
          <p:cNvSpPr txBox="1"/>
          <p:nvPr/>
        </p:nvSpPr>
        <p:spPr>
          <a:xfrm>
            <a:off x="2711682" y="3957952"/>
            <a:ext cx="2366482" cy="369332"/>
          </a:xfrm>
          <a:prstGeom prst="rect">
            <a:avLst/>
          </a:prstGeom>
          <a:noFill/>
        </p:spPr>
        <p:txBody>
          <a:bodyPr wrap="square" rtlCol="0">
            <a:spAutoFit/>
          </a:bodyPr>
          <a:lstStyle/>
          <a:p>
            <a:pPr algn="ctr"/>
            <a:r>
              <a:rPr lang="en-US" dirty="0"/>
              <a:t>0.5vvd</a:t>
            </a:r>
          </a:p>
        </p:txBody>
      </p:sp>
      <p:sp>
        <p:nvSpPr>
          <p:cNvPr id="143" name="TextBox 142">
            <a:extLst>
              <a:ext uri="{FF2B5EF4-FFF2-40B4-BE49-F238E27FC236}">
                <a16:creationId xmlns:a16="http://schemas.microsoft.com/office/drawing/2014/main" id="{D4B90B9A-3531-5A4C-A4DF-06C04A08DF12}"/>
              </a:ext>
            </a:extLst>
          </p:cNvPr>
          <p:cNvSpPr txBox="1"/>
          <p:nvPr/>
        </p:nvSpPr>
        <p:spPr>
          <a:xfrm>
            <a:off x="2650791" y="1084366"/>
            <a:ext cx="2366482" cy="369332"/>
          </a:xfrm>
          <a:prstGeom prst="rect">
            <a:avLst/>
          </a:prstGeom>
          <a:noFill/>
        </p:spPr>
        <p:txBody>
          <a:bodyPr wrap="square" rtlCol="0">
            <a:spAutoFit/>
          </a:bodyPr>
          <a:lstStyle/>
          <a:p>
            <a:pPr algn="ctr"/>
            <a:r>
              <a:rPr lang="en-US" dirty="0"/>
              <a:t>0.5vvd</a:t>
            </a:r>
          </a:p>
        </p:txBody>
      </p:sp>
      <p:sp>
        <p:nvSpPr>
          <p:cNvPr id="144" name="TextBox 143">
            <a:extLst>
              <a:ext uri="{FF2B5EF4-FFF2-40B4-BE49-F238E27FC236}">
                <a16:creationId xmlns:a16="http://schemas.microsoft.com/office/drawing/2014/main" id="{BA81B6AD-1874-674D-B59F-1A0550D19DB4}"/>
              </a:ext>
            </a:extLst>
          </p:cNvPr>
          <p:cNvSpPr txBox="1"/>
          <p:nvPr/>
        </p:nvSpPr>
        <p:spPr>
          <a:xfrm>
            <a:off x="2563104" y="2032429"/>
            <a:ext cx="2366482" cy="369332"/>
          </a:xfrm>
          <a:prstGeom prst="rect">
            <a:avLst/>
          </a:prstGeom>
          <a:noFill/>
        </p:spPr>
        <p:txBody>
          <a:bodyPr wrap="square" rtlCol="0">
            <a:spAutoFit/>
          </a:bodyPr>
          <a:lstStyle/>
          <a:p>
            <a:pPr algn="ctr"/>
            <a:r>
              <a:rPr lang="en-US" dirty="0"/>
              <a:t>0.5vvd</a:t>
            </a:r>
          </a:p>
        </p:txBody>
      </p:sp>
      <p:sp>
        <p:nvSpPr>
          <p:cNvPr id="145" name="TextBox 144">
            <a:extLst>
              <a:ext uri="{FF2B5EF4-FFF2-40B4-BE49-F238E27FC236}">
                <a16:creationId xmlns:a16="http://schemas.microsoft.com/office/drawing/2014/main" id="{8DA646F7-FB53-0543-9D91-DC0E8808FF1E}"/>
              </a:ext>
            </a:extLst>
          </p:cNvPr>
          <p:cNvSpPr txBox="1"/>
          <p:nvPr/>
        </p:nvSpPr>
        <p:spPr>
          <a:xfrm>
            <a:off x="2500232" y="2870899"/>
            <a:ext cx="2366482" cy="369332"/>
          </a:xfrm>
          <a:prstGeom prst="rect">
            <a:avLst/>
          </a:prstGeom>
          <a:noFill/>
        </p:spPr>
        <p:txBody>
          <a:bodyPr wrap="square" rtlCol="0">
            <a:spAutoFit/>
          </a:bodyPr>
          <a:lstStyle/>
          <a:p>
            <a:pPr algn="ctr"/>
            <a:r>
              <a:rPr lang="en-US" dirty="0"/>
              <a:t>0.5vvd</a:t>
            </a:r>
          </a:p>
        </p:txBody>
      </p:sp>
    </p:spTree>
    <p:extLst>
      <p:ext uri="{BB962C8B-B14F-4D97-AF65-F5344CB8AC3E}">
        <p14:creationId xmlns:p14="http://schemas.microsoft.com/office/powerpoint/2010/main" val="414829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12</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975104" y="2627570"/>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975104" y="173837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975104" y="849176"/>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9" name="TextBox 8">
            <a:extLst>
              <a:ext uri="{FF2B5EF4-FFF2-40B4-BE49-F238E27FC236}">
                <a16:creationId xmlns:a16="http://schemas.microsoft.com/office/drawing/2014/main" id="{9F906EC8-F7DE-0C40-8AF8-E30B14717BB5}"/>
              </a:ext>
            </a:extLst>
          </p:cNvPr>
          <p:cNvSpPr txBox="1"/>
          <p:nvPr/>
        </p:nvSpPr>
        <p:spPr>
          <a:xfrm>
            <a:off x="87318" y="2330054"/>
            <a:ext cx="1929387" cy="923330"/>
          </a:xfrm>
          <a:prstGeom prst="rect">
            <a:avLst/>
          </a:prstGeom>
          <a:noFill/>
        </p:spPr>
        <p:txBody>
          <a:bodyPr wrap="square" rtlCol="0">
            <a:spAutoFit/>
          </a:bodyPr>
          <a:lstStyle/>
          <a:p>
            <a:pPr algn="ctr"/>
            <a:r>
              <a:rPr lang="en-US" dirty="0"/>
              <a:t>TFF filter modules</a:t>
            </a:r>
          </a:p>
          <a:p>
            <a:pPr algn="ctr"/>
            <a:r>
              <a:rPr lang="en-US" dirty="0"/>
              <a:t>50cm long</a:t>
            </a:r>
          </a:p>
        </p:txBody>
      </p:sp>
      <p:sp>
        <p:nvSpPr>
          <p:cNvPr id="13" name="TextBox 12">
            <a:extLst>
              <a:ext uri="{FF2B5EF4-FFF2-40B4-BE49-F238E27FC236}">
                <a16:creationId xmlns:a16="http://schemas.microsoft.com/office/drawing/2014/main" id="{BB8D6F3A-074B-9841-91C1-A417238D3FF0}"/>
              </a:ext>
            </a:extLst>
          </p:cNvPr>
          <p:cNvSpPr txBox="1"/>
          <p:nvPr/>
        </p:nvSpPr>
        <p:spPr>
          <a:xfrm>
            <a:off x="-121641" y="4118176"/>
            <a:ext cx="2366482" cy="923330"/>
          </a:xfrm>
          <a:prstGeom prst="rect">
            <a:avLst/>
          </a:prstGeom>
          <a:noFill/>
        </p:spPr>
        <p:txBody>
          <a:bodyPr wrap="square" rtlCol="0">
            <a:spAutoFit/>
          </a:bodyPr>
          <a:lstStyle/>
          <a:p>
            <a:pPr algn="ctr"/>
            <a:r>
              <a:rPr lang="en-US" dirty="0"/>
              <a:t>From bioreactor</a:t>
            </a:r>
          </a:p>
          <a:p>
            <a:pPr algn="ctr"/>
            <a:r>
              <a:rPr lang="en-US" dirty="0"/>
              <a:t>85 L/min</a:t>
            </a:r>
          </a:p>
          <a:p>
            <a:pPr algn="ctr"/>
            <a:r>
              <a:rPr lang="en-US" dirty="0"/>
              <a:t>1.5” tubing</a:t>
            </a:r>
          </a:p>
        </p:txBody>
      </p:sp>
      <p:sp>
        <p:nvSpPr>
          <p:cNvPr id="14" name="Rounded Rectangle 13">
            <a:extLst>
              <a:ext uri="{FF2B5EF4-FFF2-40B4-BE49-F238E27FC236}">
                <a16:creationId xmlns:a16="http://schemas.microsoft.com/office/drawing/2014/main" id="{7D21E7F5-FABF-0942-A891-5E690EFC63CA}"/>
              </a:ext>
            </a:extLst>
          </p:cNvPr>
          <p:cNvSpPr/>
          <p:nvPr/>
        </p:nvSpPr>
        <p:spPr>
          <a:xfrm>
            <a:off x="2975104" y="3516767"/>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cxnSpLocks/>
          </p:cNvCxnSpPr>
          <p:nvPr/>
        </p:nvCxnSpPr>
        <p:spPr>
          <a:xfrm flipV="1">
            <a:off x="3128470" y="3267650"/>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cxnSpLocks/>
          </p:cNvCxnSpPr>
          <p:nvPr/>
        </p:nvCxnSpPr>
        <p:spPr>
          <a:xfrm flipV="1">
            <a:off x="3128470" y="2378453"/>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cxnSpLocks/>
          </p:cNvCxnSpPr>
          <p:nvPr/>
        </p:nvCxnSpPr>
        <p:spPr>
          <a:xfrm flipV="1">
            <a:off x="3128470" y="1489256"/>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3343292" y="3711932"/>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3343292" y="27770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3343292" y="18626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3343292" y="981840"/>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ED579E8-8CA2-DA4F-8F35-08E108D6EBE4}"/>
              </a:ext>
            </a:extLst>
          </p:cNvPr>
          <p:cNvGrpSpPr/>
          <p:nvPr/>
        </p:nvGrpSpPr>
        <p:grpSpPr>
          <a:xfrm>
            <a:off x="3701328" y="3616687"/>
            <a:ext cx="387190" cy="207818"/>
            <a:chOff x="3030263" y="2822231"/>
            <a:chExt cx="387190" cy="207818"/>
          </a:xfrm>
        </p:grpSpPr>
        <p:sp>
          <p:nvSpPr>
            <p:cNvPr id="26" name="Oval 25">
              <a:extLst>
                <a:ext uri="{FF2B5EF4-FFF2-40B4-BE49-F238E27FC236}">
                  <a16:creationId xmlns:a16="http://schemas.microsoft.com/office/drawing/2014/main" id="{E93CE575-27FD-C54A-9FF0-9926288F7BBB}"/>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4B8B5784-FD1A-B742-83D8-DF9EE8AD30E5}"/>
              </a:ext>
            </a:extLst>
          </p:cNvPr>
          <p:cNvGrpSpPr/>
          <p:nvPr/>
        </p:nvGrpSpPr>
        <p:grpSpPr>
          <a:xfrm>
            <a:off x="3701328" y="2688011"/>
            <a:ext cx="387190" cy="207818"/>
            <a:chOff x="3030263" y="2822231"/>
            <a:chExt cx="387190" cy="207818"/>
          </a:xfrm>
        </p:grpSpPr>
        <p:sp>
          <p:nvSpPr>
            <p:cNvPr id="30" name="Oval 29">
              <a:extLst>
                <a:ext uri="{FF2B5EF4-FFF2-40B4-BE49-F238E27FC236}">
                  <a16:creationId xmlns:a16="http://schemas.microsoft.com/office/drawing/2014/main" id="{C16F3139-4A57-8B47-86D9-6D41CB319D2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32836704-474D-E642-9DA7-0DAE9A10D23C}"/>
              </a:ext>
            </a:extLst>
          </p:cNvPr>
          <p:cNvGrpSpPr/>
          <p:nvPr/>
        </p:nvGrpSpPr>
        <p:grpSpPr>
          <a:xfrm>
            <a:off x="3701328" y="1776090"/>
            <a:ext cx="387190" cy="207818"/>
            <a:chOff x="3030263" y="2822231"/>
            <a:chExt cx="387190" cy="207818"/>
          </a:xfrm>
        </p:grpSpPr>
        <p:sp>
          <p:nvSpPr>
            <p:cNvPr id="33" name="Oval 32">
              <a:extLst>
                <a:ext uri="{FF2B5EF4-FFF2-40B4-BE49-F238E27FC236}">
                  <a16:creationId xmlns:a16="http://schemas.microsoft.com/office/drawing/2014/main" id="{7A4043F9-8201-3D41-A712-D379768AA3F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7E9E8D2F-9A5E-B44C-8E6D-F9E634D4FDA7}"/>
              </a:ext>
            </a:extLst>
          </p:cNvPr>
          <p:cNvGrpSpPr/>
          <p:nvPr/>
        </p:nvGrpSpPr>
        <p:grpSpPr>
          <a:xfrm>
            <a:off x="3701328" y="887481"/>
            <a:ext cx="387190" cy="207818"/>
            <a:chOff x="3030263" y="2822231"/>
            <a:chExt cx="387190" cy="207818"/>
          </a:xfrm>
        </p:grpSpPr>
        <p:sp>
          <p:nvSpPr>
            <p:cNvPr id="36" name="Oval 35">
              <a:extLst>
                <a:ext uri="{FF2B5EF4-FFF2-40B4-BE49-F238E27FC236}">
                  <a16:creationId xmlns:a16="http://schemas.microsoft.com/office/drawing/2014/main" id="{5F82C33E-541C-A840-ACD3-501C29E26DD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8" name="Oval 37">
            <a:extLst>
              <a:ext uri="{FF2B5EF4-FFF2-40B4-BE49-F238E27FC236}">
                <a16:creationId xmlns:a16="http://schemas.microsoft.com/office/drawing/2014/main" id="{4BCF5846-6353-E840-A2C3-D6232ACCC3C3}"/>
              </a:ext>
            </a:extLst>
          </p:cNvPr>
          <p:cNvSpPr/>
          <p:nvPr/>
        </p:nvSpPr>
        <p:spPr>
          <a:xfrm>
            <a:off x="4980544" y="2312634"/>
            <a:ext cx="130379" cy="13163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3986601" y="979813"/>
            <a:ext cx="993943" cy="139864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3986601" y="1868422"/>
            <a:ext cx="993943" cy="51003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stCxn id="30" idx="6"/>
          </p:cNvCxnSpPr>
          <p:nvPr/>
        </p:nvCxnSpPr>
        <p:spPr>
          <a:xfrm flipV="1">
            <a:off x="3986601" y="2402199"/>
            <a:ext cx="993943" cy="37814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cxnSpLocks/>
            <a:stCxn id="26" idx="6"/>
            <a:endCxn id="137" idx="1"/>
          </p:cNvCxnSpPr>
          <p:nvPr/>
        </p:nvCxnSpPr>
        <p:spPr>
          <a:xfrm flipV="1">
            <a:off x="3986601" y="2425066"/>
            <a:ext cx="880113" cy="128395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cxnSpLocks/>
            <a:stCxn id="68" idx="6"/>
            <a:endCxn id="14" idx="2"/>
          </p:cNvCxnSpPr>
          <p:nvPr/>
        </p:nvCxnSpPr>
        <p:spPr>
          <a:xfrm flipV="1">
            <a:off x="2607838" y="4156847"/>
            <a:ext cx="544908" cy="403070"/>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cxnSpLocks/>
            <a:stCxn id="8" idx="0"/>
          </p:cNvCxnSpPr>
          <p:nvPr/>
        </p:nvCxnSpPr>
        <p:spPr>
          <a:xfrm rot="16200000" flipV="1">
            <a:off x="2047981" y="-255589"/>
            <a:ext cx="153210" cy="2056320"/>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F9806D16-6B78-2A4D-892D-FD6DDBFBECC6}"/>
              </a:ext>
            </a:extLst>
          </p:cNvPr>
          <p:cNvSpPr txBox="1"/>
          <p:nvPr/>
        </p:nvSpPr>
        <p:spPr>
          <a:xfrm>
            <a:off x="-64129" y="643993"/>
            <a:ext cx="1677798" cy="369332"/>
          </a:xfrm>
          <a:prstGeom prst="rect">
            <a:avLst/>
          </a:prstGeom>
          <a:noFill/>
        </p:spPr>
        <p:txBody>
          <a:bodyPr wrap="square" rtlCol="0">
            <a:spAutoFit/>
          </a:bodyPr>
          <a:lstStyle/>
          <a:p>
            <a:pPr algn="ctr"/>
            <a:r>
              <a:rPr lang="en-US" dirty="0"/>
              <a:t>To bioreactor</a:t>
            </a:r>
          </a:p>
        </p:txBody>
      </p:sp>
      <p:sp>
        <p:nvSpPr>
          <p:cNvPr id="52" name="TextBox 51">
            <a:extLst>
              <a:ext uri="{FF2B5EF4-FFF2-40B4-BE49-F238E27FC236}">
                <a16:creationId xmlns:a16="http://schemas.microsoft.com/office/drawing/2014/main" id="{1BB413DF-AAA5-8549-B5DC-5D3085CFE224}"/>
              </a:ext>
            </a:extLst>
          </p:cNvPr>
          <p:cNvSpPr txBox="1"/>
          <p:nvPr/>
        </p:nvSpPr>
        <p:spPr>
          <a:xfrm>
            <a:off x="3683473" y="110473"/>
            <a:ext cx="2366482" cy="646331"/>
          </a:xfrm>
          <a:prstGeom prst="rect">
            <a:avLst/>
          </a:prstGeom>
          <a:noFill/>
        </p:spPr>
        <p:txBody>
          <a:bodyPr wrap="square" rtlCol="0">
            <a:spAutoFit/>
          </a:bodyPr>
          <a:lstStyle/>
          <a:p>
            <a:pPr algn="ctr"/>
            <a:r>
              <a:rPr lang="en-US" dirty="0"/>
              <a:t>Total permeate flow</a:t>
            </a:r>
          </a:p>
          <a:p>
            <a:pPr algn="ctr"/>
            <a:r>
              <a:rPr lang="en-US" dirty="0"/>
              <a:t>1-2vvd</a:t>
            </a:r>
          </a:p>
        </p:txBody>
      </p:sp>
      <p:cxnSp>
        <p:nvCxnSpPr>
          <p:cNvPr id="60" name="Straight Arrow Connector 59">
            <a:extLst>
              <a:ext uri="{FF2B5EF4-FFF2-40B4-BE49-F238E27FC236}">
                <a16:creationId xmlns:a16="http://schemas.microsoft.com/office/drawing/2014/main" id="{EF29AC4F-FAF3-994C-88A1-6A4B7CC3FAB8}"/>
              </a:ext>
            </a:extLst>
          </p:cNvPr>
          <p:cNvCxnSpPr>
            <a:cxnSpLocks/>
            <a:stCxn id="9" idx="3"/>
            <a:endCxn id="8" idx="1"/>
          </p:cNvCxnSpPr>
          <p:nvPr/>
        </p:nvCxnSpPr>
        <p:spPr>
          <a:xfrm flipV="1">
            <a:off x="2016705" y="1169216"/>
            <a:ext cx="958399" cy="162250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cxnSpLocks/>
            <a:stCxn id="9" idx="3"/>
            <a:endCxn id="7" idx="1"/>
          </p:cNvCxnSpPr>
          <p:nvPr/>
        </p:nvCxnSpPr>
        <p:spPr>
          <a:xfrm flipV="1">
            <a:off x="2016705" y="2058413"/>
            <a:ext cx="958399" cy="733306"/>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stCxn id="9" idx="3"/>
          </p:cNvCxnSpPr>
          <p:nvPr/>
        </p:nvCxnSpPr>
        <p:spPr>
          <a:xfrm>
            <a:off x="2016705" y="2791719"/>
            <a:ext cx="799894" cy="222292"/>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cxnSpLocks/>
            <a:stCxn id="9" idx="3"/>
            <a:endCxn id="14" idx="1"/>
          </p:cNvCxnSpPr>
          <p:nvPr/>
        </p:nvCxnSpPr>
        <p:spPr>
          <a:xfrm>
            <a:off x="2016705" y="2791719"/>
            <a:ext cx="958399" cy="1045088"/>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F95C2E41-609F-8C49-8BE4-21492EE768E8}"/>
              </a:ext>
            </a:extLst>
          </p:cNvPr>
          <p:cNvGrpSpPr/>
          <p:nvPr/>
        </p:nvGrpSpPr>
        <p:grpSpPr>
          <a:xfrm>
            <a:off x="1944774" y="4308341"/>
            <a:ext cx="899951" cy="566238"/>
            <a:chOff x="3030263" y="2822231"/>
            <a:chExt cx="387190" cy="207818"/>
          </a:xfrm>
        </p:grpSpPr>
        <p:sp>
          <p:nvSpPr>
            <p:cNvPr id="68" name="Oval 67">
              <a:extLst>
                <a:ext uri="{FF2B5EF4-FFF2-40B4-BE49-F238E27FC236}">
                  <a16:creationId xmlns:a16="http://schemas.microsoft.com/office/drawing/2014/main" id="{C1E8379D-D666-7245-B0DD-66E23A146B3D}"/>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3" name="TextBox 132">
            <a:extLst>
              <a:ext uri="{FF2B5EF4-FFF2-40B4-BE49-F238E27FC236}">
                <a16:creationId xmlns:a16="http://schemas.microsoft.com/office/drawing/2014/main" id="{6AC7203B-3DB5-5C40-9B7C-31A8F229152C}"/>
              </a:ext>
            </a:extLst>
          </p:cNvPr>
          <p:cNvSpPr txBox="1"/>
          <p:nvPr/>
        </p:nvSpPr>
        <p:spPr>
          <a:xfrm>
            <a:off x="6671733" y="4707467"/>
            <a:ext cx="1744134" cy="646331"/>
          </a:xfrm>
          <a:prstGeom prst="rect">
            <a:avLst/>
          </a:prstGeom>
          <a:noFill/>
        </p:spPr>
        <p:txBody>
          <a:bodyPr wrap="square" rtlCol="0">
            <a:spAutoFit/>
          </a:bodyPr>
          <a:lstStyle/>
          <a:p>
            <a:r>
              <a:rPr lang="en-US" dirty="0"/>
              <a:t>Confidential</a:t>
            </a:r>
          </a:p>
          <a:p>
            <a:endParaRPr lang="en-US" dirty="0"/>
          </a:p>
        </p:txBody>
      </p:sp>
      <p:sp>
        <p:nvSpPr>
          <p:cNvPr id="137" name="Rounded Rectangle 136">
            <a:extLst>
              <a:ext uri="{FF2B5EF4-FFF2-40B4-BE49-F238E27FC236}">
                <a16:creationId xmlns:a16="http://schemas.microsoft.com/office/drawing/2014/main" id="{99AA0B42-3D0F-0244-A542-E170A828AD24}"/>
              </a:ext>
            </a:extLst>
          </p:cNvPr>
          <p:cNvSpPr/>
          <p:nvPr/>
        </p:nvSpPr>
        <p:spPr>
          <a:xfrm>
            <a:off x="4866714" y="2091298"/>
            <a:ext cx="584200" cy="66753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8" name="Group 137">
            <a:extLst>
              <a:ext uri="{FF2B5EF4-FFF2-40B4-BE49-F238E27FC236}">
                <a16:creationId xmlns:a16="http://schemas.microsoft.com/office/drawing/2014/main" id="{800C80CE-9373-B544-99AF-D716E75AA341}"/>
              </a:ext>
            </a:extLst>
          </p:cNvPr>
          <p:cNvGrpSpPr/>
          <p:nvPr/>
        </p:nvGrpSpPr>
        <p:grpSpPr>
          <a:xfrm>
            <a:off x="5473467" y="2376535"/>
            <a:ext cx="387190" cy="207818"/>
            <a:chOff x="3030263" y="2822231"/>
            <a:chExt cx="387190" cy="207818"/>
          </a:xfrm>
        </p:grpSpPr>
        <p:sp>
          <p:nvSpPr>
            <p:cNvPr id="139" name="Oval 138">
              <a:extLst>
                <a:ext uri="{FF2B5EF4-FFF2-40B4-BE49-F238E27FC236}">
                  <a16:creationId xmlns:a16="http://schemas.microsoft.com/office/drawing/2014/main" id="{0E9B2F21-B64E-3B4C-AD72-B3C54B72ED2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Isosceles Triangle 8">
              <a:extLst>
                <a:ext uri="{FF2B5EF4-FFF2-40B4-BE49-F238E27FC236}">
                  <a16:creationId xmlns:a16="http://schemas.microsoft.com/office/drawing/2014/main" id="{26071CC2-05EA-8844-9B29-3EDB27D66AA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74193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13</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a:xfrm>
            <a:off x="350476" y="79837"/>
            <a:ext cx="8765651" cy="504000"/>
          </a:xfrm>
        </p:spPr>
        <p:txBody>
          <a:bodyPr/>
          <a:lstStyle/>
          <a:p>
            <a:r>
              <a:rPr lang="en-US" dirty="0"/>
              <a:t>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970773" y="2596397"/>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970773" y="173837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970773" y="972069"/>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14" name="Rounded Rectangle 13">
            <a:extLst>
              <a:ext uri="{FF2B5EF4-FFF2-40B4-BE49-F238E27FC236}">
                <a16:creationId xmlns:a16="http://schemas.microsoft.com/office/drawing/2014/main" id="{7D21E7F5-FABF-0942-A891-5E690EFC63CA}"/>
              </a:ext>
            </a:extLst>
          </p:cNvPr>
          <p:cNvSpPr/>
          <p:nvPr/>
        </p:nvSpPr>
        <p:spPr>
          <a:xfrm>
            <a:off x="2970773" y="329882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cxnSpLocks/>
          </p:cNvCxnSpPr>
          <p:nvPr/>
        </p:nvCxnSpPr>
        <p:spPr>
          <a:xfrm flipV="1">
            <a:off x="3148414" y="3298823"/>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cxnSpLocks/>
          </p:cNvCxnSpPr>
          <p:nvPr/>
        </p:nvCxnSpPr>
        <p:spPr>
          <a:xfrm flipV="1">
            <a:off x="3148414" y="2378453"/>
            <a:ext cx="0" cy="249117"/>
          </a:xfrm>
          <a:prstGeom prst="straightConnector1">
            <a:avLst/>
          </a:prstGeom>
          <a:ln w="76200">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6AC7203B-3DB5-5C40-9B7C-31A8F229152C}"/>
              </a:ext>
            </a:extLst>
          </p:cNvPr>
          <p:cNvSpPr txBox="1"/>
          <p:nvPr/>
        </p:nvSpPr>
        <p:spPr>
          <a:xfrm>
            <a:off x="6671733" y="4707467"/>
            <a:ext cx="1744134" cy="646331"/>
          </a:xfrm>
          <a:prstGeom prst="rect">
            <a:avLst/>
          </a:prstGeom>
          <a:noFill/>
        </p:spPr>
        <p:txBody>
          <a:bodyPr wrap="square" rtlCol="0">
            <a:spAutoFit/>
          </a:bodyPr>
          <a:lstStyle/>
          <a:p>
            <a:r>
              <a:rPr lang="en-US" dirty="0"/>
              <a:t>Confidential</a:t>
            </a:r>
          </a:p>
          <a:p>
            <a:endParaRPr lang="en-US" dirty="0"/>
          </a:p>
        </p:txBody>
      </p:sp>
      <p:sp>
        <p:nvSpPr>
          <p:cNvPr id="5" name="TextBox 4">
            <a:extLst>
              <a:ext uri="{FF2B5EF4-FFF2-40B4-BE49-F238E27FC236}">
                <a16:creationId xmlns:a16="http://schemas.microsoft.com/office/drawing/2014/main" id="{0635F945-E917-3A4B-88A8-11400341C5BE}"/>
              </a:ext>
            </a:extLst>
          </p:cNvPr>
          <p:cNvSpPr txBox="1"/>
          <p:nvPr/>
        </p:nvSpPr>
        <p:spPr>
          <a:xfrm>
            <a:off x="4956462" y="583837"/>
            <a:ext cx="4159663" cy="2862322"/>
          </a:xfrm>
          <a:prstGeom prst="rect">
            <a:avLst/>
          </a:prstGeom>
          <a:noFill/>
        </p:spPr>
        <p:txBody>
          <a:bodyPr wrap="square" rtlCol="0">
            <a:spAutoFit/>
          </a:bodyPr>
          <a:lstStyle/>
          <a:p>
            <a:r>
              <a:rPr lang="en-US" dirty="0"/>
              <a:t>How long a filter can be gamma irradiated? Can we put 1.5” (or wider) flexible tubing between filter modules to allow them to fold over and fit into the irradiation device? Also, allow for shipping?</a:t>
            </a:r>
          </a:p>
          <a:p>
            <a:endParaRPr lang="en-US" dirty="0"/>
          </a:p>
          <a:p>
            <a:r>
              <a:rPr lang="en-US" dirty="0"/>
              <a:t>How can we get a small scale version of this design to test? </a:t>
            </a:r>
          </a:p>
          <a:p>
            <a:r>
              <a:rPr lang="en-US" dirty="0"/>
              <a:t> </a:t>
            </a:r>
          </a:p>
        </p:txBody>
      </p:sp>
      <p:sp>
        <p:nvSpPr>
          <p:cNvPr id="10" name="Rounded Rectangle 9">
            <a:extLst>
              <a:ext uri="{FF2B5EF4-FFF2-40B4-BE49-F238E27FC236}">
                <a16:creationId xmlns:a16="http://schemas.microsoft.com/office/drawing/2014/main" id="{EDDC62E5-55F9-C347-B5CB-A9B67542851D}"/>
              </a:ext>
            </a:extLst>
          </p:cNvPr>
          <p:cNvSpPr/>
          <p:nvPr/>
        </p:nvSpPr>
        <p:spPr>
          <a:xfrm>
            <a:off x="2970773" y="3938903"/>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51997223-A839-A945-A21B-2E2D1BB9F12C}"/>
              </a:ext>
            </a:extLst>
          </p:cNvPr>
          <p:cNvSpPr/>
          <p:nvPr/>
        </p:nvSpPr>
        <p:spPr>
          <a:xfrm>
            <a:off x="2970773" y="3268052"/>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9D6BB19F-B67F-0B47-80E4-990907D10103}"/>
              </a:ext>
            </a:extLst>
          </p:cNvPr>
          <p:cNvSpPr/>
          <p:nvPr/>
        </p:nvSpPr>
        <p:spPr>
          <a:xfrm>
            <a:off x="2970773" y="3191850"/>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a16="http://schemas.microsoft.com/office/drawing/2014/main" id="{859F4104-EDDB-7146-8799-9F1334E32702}"/>
              </a:ext>
            </a:extLst>
          </p:cNvPr>
          <p:cNvSpPr/>
          <p:nvPr/>
        </p:nvSpPr>
        <p:spPr>
          <a:xfrm>
            <a:off x="2970773" y="2574233"/>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a16="http://schemas.microsoft.com/office/drawing/2014/main" id="{80825377-3B36-D94E-9E1A-B11D83711A08}"/>
              </a:ext>
            </a:extLst>
          </p:cNvPr>
          <p:cNvSpPr/>
          <p:nvPr/>
        </p:nvSpPr>
        <p:spPr>
          <a:xfrm>
            <a:off x="2970773" y="1623744"/>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id="{97B78246-D13E-3943-8944-CFF99D791D98}"/>
              </a:ext>
            </a:extLst>
          </p:cNvPr>
          <p:cNvSpPr/>
          <p:nvPr/>
        </p:nvSpPr>
        <p:spPr>
          <a:xfrm>
            <a:off x="2970773" y="1681058"/>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ounded Rectangle 60">
            <a:extLst>
              <a:ext uri="{FF2B5EF4-FFF2-40B4-BE49-F238E27FC236}">
                <a16:creationId xmlns:a16="http://schemas.microsoft.com/office/drawing/2014/main" id="{196F9EAC-E73B-E54C-A947-610498A3CD80}"/>
              </a:ext>
            </a:extLst>
          </p:cNvPr>
          <p:cNvSpPr/>
          <p:nvPr/>
        </p:nvSpPr>
        <p:spPr>
          <a:xfrm>
            <a:off x="2970773" y="2377361"/>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A831E2C-2B66-F241-8938-D89AFDB1EBC3}"/>
              </a:ext>
            </a:extLst>
          </p:cNvPr>
          <p:cNvSpPr txBox="1"/>
          <p:nvPr/>
        </p:nvSpPr>
        <p:spPr>
          <a:xfrm>
            <a:off x="4031673" y="3777096"/>
            <a:ext cx="779318" cy="369332"/>
          </a:xfrm>
          <a:prstGeom prst="rect">
            <a:avLst/>
          </a:prstGeom>
          <a:noFill/>
        </p:spPr>
        <p:txBody>
          <a:bodyPr wrap="square" rtlCol="0">
            <a:spAutoFit/>
          </a:bodyPr>
          <a:lstStyle/>
          <a:p>
            <a:r>
              <a:rPr lang="en-US" dirty="0"/>
              <a:t>6” TC</a:t>
            </a:r>
          </a:p>
        </p:txBody>
      </p:sp>
      <p:cxnSp>
        <p:nvCxnSpPr>
          <p:cNvPr id="15" name="Straight Arrow Connector 14">
            <a:extLst>
              <a:ext uri="{FF2B5EF4-FFF2-40B4-BE49-F238E27FC236}">
                <a16:creationId xmlns:a16="http://schemas.microsoft.com/office/drawing/2014/main" id="{6D0A326D-BECE-2E42-8D58-9B58AFBB40EF}"/>
              </a:ext>
            </a:extLst>
          </p:cNvPr>
          <p:cNvCxnSpPr>
            <a:cxnSpLocks/>
            <a:stCxn id="11" idx="1"/>
            <a:endCxn id="10" idx="3"/>
          </p:cNvCxnSpPr>
          <p:nvPr/>
        </p:nvCxnSpPr>
        <p:spPr>
          <a:xfrm flipH="1">
            <a:off x="3326056" y="3961762"/>
            <a:ext cx="705617" cy="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078BC06D-64BB-094B-A504-DD43BDDB09EA}"/>
              </a:ext>
            </a:extLst>
          </p:cNvPr>
          <p:cNvSpPr txBox="1"/>
          <p:nvPr/>
        </p:nvSpPr>
        <p:spPr>
          <a:xfrm>
            <a:off x="935185" y="2245830"/>
            <a:ext cx="1128276" cy="646331"/>
          </a:xfrm>
          <a:prstGeom prst="rect">
            <a:avLst/>
          </a:prstGeom>
          <a:noFill/>
        </p:spPr>
        <p:txBody>
          <a:bodyPr wrap="square" rtlCol="0">
            <a:spAutoFit/>
          </a:bodyPr>
          <a:lstStyle/>
          <a:p>
            <a:r>
              <a:rPr lang="en-US" dirty="0"/>
              <a:t>Flexible tubing</a:t>
            </a:r>
          </a:p>
        </p:txBody>
      </p:sp>
      <p:cxnSp>
        <p:nvCxnSpPr>
          <p:cNvPr id="70" name="Straight Arrow Connector 69">
            <a:extLst>
              <a:ext uri="{FF2B5EF4-FFF2-40B4-BE49-F238E27FC236}">
                <a16:creationId xmlns:a16="http://schemas.microsoft.com/office/drawing/2014/main" id="{12C6E2C7-EFE5-F642-87DD-561E1FA81BEF}"/>
              </a:ext>
            </a:extLst>
          </p:cNvPr>
          <p:cNvCxnSpPr>
            <a:cxnSpLocks/>
            <a:stCxn id="65" idx="3"/>
          </p:cNvCxnSpPr>
          <p:nvPr/>
        </p:nvCxnSpPr>
        <p:spPr>
          <a:xfrm flipV="1">
            <a:off x="2063461" y="2523277"/>
            <a:ext cx="907312" cy="4571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4420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TFF Design</a:t>
            </a:r>
          </a:p>
        </p:txBody>
      </p:sp>
      <p:sp>
        <p:nvSpPr>
          <p:cNvPr id="13" name="TextBox 12">
            <a:extLst>
              <a:ext uri="{FF2B5EF4-FFF2-40B4-BE49-F238E27FC236}">
                <a16:creationId xmlns:a16="http://schemas.microsoft.com/office/drawing/2014/main" id="{BB8D6F3A-074B-9841-91C1-A417238D3FF0}"/>
              </a:ext>
            </a:extLst>
          </p:cNvPr>
          <p:cNvSpPr txBox="1"/>
          <p:nvPr/>
        </p:nvSpPr>
        <p:spPr>
          <a:xfrm>
            <a:off x="2341452" y="3882932"/>
            <a:ext cx="2366482" cy="646331"/>
          </a:xfrm>
          <a:prstGeom prst="rect">
            <a:avLst/>
          </a:prstGeom>
          <a:noFill/>
        </p:spPr>
        <p:txBody>
          <a:bodyPr wrap="square" rtlCol="0">
            <a:spAutoFit/>
          </a:bodyPr>
          <a:lstStyle/>
          <a:p>
            <a:pPr algn="ctr"/>
            <a:r>
              <a:rPr lang="en-US" dirty="0"/>
              <a:t>From bioreactor</a:t>
            </a:r>
          </a:p>
          <a:p>
            <a:pPr algn="ctr"/>
            <a:r>
              <a:rPr lang="en-US" dirty="0"/>
              <a:t>85 L/min</a:t>
            </a:r>
          </a:p>
        </p:txBody>
      </p:sp>
      <p:sp>
        <p:nvSpPr>
          <p:cNvPr id="52" name="TextBox 51">
            <a:extLst>
              <a:ext uri="{FF2B5EF4-FFF2-40B4-BE49-F238E27FC236}">
                <a16:creationId xmlns:a16="http://schemas.microsoft.com/office/drawing/2014/main" id="{1BB413DF-AAA5-8549-B5DC-5D3085CFE224}"/>
              </a:ext>
            </a:extLst>
          </p:cNvPr>
          <p:cNvSpPr txBox="1"/>
          <p:nvPr/>
        </p:nvSpPr>
        <p:spPr>
          <a:xfrm>
            <a:off x="3683473" y="110473"/>
            <a:ext cx="2366482" cy="646331"/>
          </a:xfrm>
          <a:prstGeom prst="rect">
            <a:avLst/>
          </a:prstGeom>
          <a:noFill/>
        </p:spPr>
        <p:txBody>
          <a:bodyPr wrap="square" rtlCol="0">
            <a:spAutoFit/>
          </a:bodyPr>
          <a:lstStyle/>
          <a:p>
            <a:pPr algn="ctr"/>
            <a:r>
              <a:rPr lang="en-US" dirty="0"/>
              <a:t>Total permeate flow</a:t>
            </a:r>
          </a:p>
          <a:p>
            <a:pPr algn="ctr"/>
            <a:r>
              <a:rPr lang="en-US" dirty="0"/>
              <a:t>1-2vvd</a:t>
            </a:r>
          </a:p>
        </p:txBody>
      </p:sp>
      <p:grpSp>
        <p:nvGrpSpPr>
          <p:cNvPr id="45" name="Group 44">
            <a:extLst>
              <a:ext uri="{FF2B5EF4-FFF2-40B4-BE49-F238E27FC236}">
                <a16:creationId xmlns:a16="http://schemas.microsoft.com/office/drawing/2014/main" id="{2A6E05BD-4F7A-EB43-9CBA-F2DA701C7E77}"/>
              </a:ext>
            </a:extLst>
          </p:cNvPr>
          <p:cNvGrpSpPr/>
          <p:nvPr/>
        </p:nvGrpSpPr>
        <p:grpSpPr>
          <a:xfrm>
            <a:off x="5330154" y="4459416"/>
            <a:ext cx="899951" cy="566238"/>
            <a:chOff x="3030263" y="2822231"/>
            <a:chExt cx="387190" cy="207818"/>
          </a:xfrm>
        </p:grpSpPr>
        <p:sp>
          <p:nvSpPr>
            <p:cNvPr id="47" name="Oval 46">
              <a:extLst>
                <a:ext uri="{FF2B5EF4-FFF2-40B4-BE49-F238E27FC236}">
                  <a16:creationId xmlns:a16="http://schemas.microsoft.com/office/drawing/2014/main" id="{2F12A3F5-761C-874B-BDCD-A4FF3788626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Isosceles Triangle 8">
              <a:extLst>
                <a:ext uri="{FF2B5EF4-FFF2-40B4-BE49-F238E27FC236}">
                  <a16:creationId xmlns:a16="http://schemas.microsoft.com/office/drawing/2014/main" id="{D0209FE0-E904-5343-88DA-19360DBB51F9}"/>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4" name="Rounded Rectangle 53">
            <a:extLst>
              <a:ext uri="{FF2B5EF4-FFF2-40B4-BE49-F238E27FC236}">
                <a16:creationId xmlns:a16="http://schemas.microsoft.com/office/drawing/2014/main" id="{E745592C-9642-504D-B98E-49F672208AF4}"/>
              </a:ext>
            </a:extLst>
          </p:cNvPr>
          <p:cNvSpPr/>
          <p:nvPr/>
        </p:nvSpPr>
        <p:spPr>
          <a:xfrm>
            <a:off x="5567041" y="3970412"/>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3" name="Group 62">
            <a:extLst>
              <a:ext uri="{FF2B5EF4-FFF2-40B4-BE49-F238E27FC236}">
                <a16:creationId xmlns:a16="http://schemas.microsoft.com/office/drawing/2014/main" id="{9295557F-CFE1-014C-BFF9-3CD98661AFB1}"/>
              </a:ext>
            </a:extLst>
          </p:cNvPr>
          <p:cNvGrpSpPr/>
          <p:nvPr/>
        </p:nvGrpSpPr>
        <p:grpSpPr>
          <a:xfrm>
            <a:off x="6205540" y="4459416"/>
            <a:ext cx="899951" cy="566238"/>
            <a:chOff x="3030263" y="2822231"/>
            <a:chExt cx="387190" cy="207818"/>
          </a:xfrm>
        </p:grpSpPr>
        <p:sp>
          <p:nvSpPr>
            <p:cNvPr id="65" name="Oval 64">
              <a:extLst>
                <a:ext uri="{FF2B5EF4-FFF2-40B4-BE49-F238E27FC236}">
                  <a16:creationId xmlns:a16="http://schemas.microsoft.com/office/drawing/2014/main" id="{4F12F959-C7CD-8140-A5C2-F24C8CB8CA0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Isosceles Triangle 8">
              <a:extLst>
                <a:ext uri="{FF2B5EF4-FFF2-40B4-BE49-F238E27FC236}">
                  <a16:creationId xmlns:a16="http://schemas.microsoft.com/office/drawing/2014/main" id="{8B30664A-A46E-0D40-943A-36CA3FD7D91E}"/>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1" name="Rounded Rectangle 70">
            <a:extLst>
              <a:ext uri="{FF2B5EF4-FFF2-40B4-BE49-F238E27FC236}">
                <a16:creationId xmlns:a16="http://schemas.microsoft.com/office/drawing/2014/main" id="{6D0AA5DD-7DC2-0147-80E3-3947015A4A5D}"/>
              </a:ext>
            </a:extLst>
          </p:cNvPr>
          <p:cNvSpPr/>
          <p:nvPr/>
        </p:nvSpPr>
        <p:spPr>
          <a:xfrm>
            <a:off x="6442427" y="3970412"/>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CE795BF6-BE71-304F-8064-0E3E301719A9}"/>
              </a:ext>
            </a:extLst>
          </p:cNvPr>
          <p:cNvGrpSpPr/>
          <p:nvPr/>
        </p:nvGrpSpPr>
        <p:grpSpPr>
          <a:xfrm>
            <a:off x="6932316" y="4459416"/>
            <a:ext cx="899951" cy="566238"/>
            <a:chOff x="3030263" y="2822231"/>
            <a:chExt cx="387190" cy="207818"/>
          </a:xfrm>
        </p:grpSpPr>
        <p:sp>
          <p:nvSpPr>
            <p:cNvPr id="73" name="Oval 72">
              <a:extLst>
                <a:ext uri="{FF2B5EF4-FFF2-40B4-BE49-F238E27FC236}">
                  <a16:creationId xmlns:a16="http://schemas.microsoft.com/office/drawing/2014/main" id="{C8DBBD67-9B7B-B747-AA90-FBD3756D0B05}"/>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Isosceles Triangle 8">
              <a:extLst>
                <a:ext uri="{FF2B5EF4-FFF2-40B4-BE49-F238E27FC236}">
                  <a16:creationId xmlns:a16="http://schemas.microsoft.com/office/drawing/2014/main" id="{68193CBA-6083-B349-AF21-79BEDB9C1AFF}"/>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5" name="Rounded Rectangle 74">
            <a:extLst>
              <a:ext uri="{FF2B5EF4-FFF2-40B4-BE49-F238E27FC236}">
                <a16:creationId xmlns:a16="http://schemas.microsoft.com/office/drawing/2014/main" id="{580159D1-CDBE-8A41-AE0B-5DD3A2141BFB}"/>
              </a:ext>
            </a:extLst>
          </p:cNvPr>
          <p:cNvSpPr/>
          <p:nvPr/>
        </p:nvSpPr>
        <p:spPr>
          <a:xfrm>
            <a:off x="7169203" y="3970412"/>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57DDC981-2E8F-B746-9FBC-01B82C032EE4}"/>
              </a:ext>
            </a:extLst>
          </p:cNvPr>
          <p:cNvGrpSpPr/>
          <p:nvPr/>
        </p:nvGrpSpPr>
        <p:grpSpPr>
          <a:xfrm>
            <a:off x="7743990" y="4477305"/>
            <a:ext cx="899951" cy="566238"/>
            <a:chOff x="3030263" y="2822231"/>
            <a:chExt cx="387190" cy="207818"/>
          </a:xfrm>
        </p:grpSpPr>
        <p:sp>
          <p:nvSpPr>
            <p:cNvPr id="77" name="Oval 76">
              <a:extLst>
                <a:ext uri="{FF2B5EF4-FFF2-40B4-BE49-F238E27FC236}">
                  <a16:creationId xmlns:a16="http://schemas.microsoft.com/office/drawing/2014/main" id="{7EFA00CE-0C12-D04D-B23F-8E8F13993DC2}"/>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8">
              <a:extLst>
                <a:ext uri="{FF2B5EF4-FFF2-40B4-BE49-F238E27FC236}">
                  <a16:creationId xmlns:a16="http://schemas.microsoft.com/office/drawing/2014/main" id="{4482F519-BEA9-8E4F-AA21-CEEB7D8FFC37}"/>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9" name="Rounded Rectangle 78">
            <a:extLst>
              <a:ext uri="{FF2B5EF4-FFF2-40B4-BE49-F238E27FC236}">
                <a16:creationId xmlns:a16="http://schemas.microsoft.com/office/drawing/2014/main" id="{63222417-8DA1-904D-B252-245B9FA66B53}"/>
              </a:ext>
            </a:extLst>
          </p:cNvPr>
          <p:cNvSpPr/>
          <p:nvPr/>
        </p:nvSpPr>
        <p:spPr>
          <a:xfrm>
            <a:off x="7980877" y="3988301"/>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A621DB24-F60E-3E4D-900C-15170FC20BD8}"/>
              </a:ext>
            </a:extLst>
          </p:cNvPr>
          <p:cNvGrpSpPr/>
          <p:nvPr/>
        </p:nvGrpSpPr>
        <p:grpSpPr>
          <a:xfrm>
            <a:off x="7738209" y="3328937"/>
            <a:ext cx="387190" cy="207818"/>
            <a:chOff x="3030263" y="2822231"/>
            <a:chExt cx="387190" cy="207818"/>
          </a:xfrm>
        </p:grpSpPr>
        <p:sp>
          <p:nvSpPr>
            <p:cNvPr id="81" name="Oval 80">
              <a:extLst>
                <a:ext uri="{FF2B5EF4-FFF2-40B4-BE49-F238E27FC236}">
                  <a16:creationId xmlns:a16="http://schemas.microsoft.com/office/drawing/2014/main" id="{74F0FF04-F937-BF4D-AE6C-55B6A698DD84}"/>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Isosceles Triangle 8">
              <a:extLst>
                <a:ext uri="{FF2B5EF4-FFF2-40B4-BE49-F238E27FC236}">
                  <a16:creationId xmlns:a16="http://schemas.microsoft.com/office/drawing/2014/main" id="{B81FD008-3439-FD4B-A4C1-60E2E298CDF0}"/>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9DD3CB80-8D68-DC4F-A266-DEEEAAF5CE31}"/>
              </a:ext>
            </a:extLst>
          </p:cNvPr>
          <p:cNvGrpSpPr/>
          <p:nvPr/>
        </p:nvGrpSpPr>
        <p:grpSpPr>
          <a:xfrm>
            <a:off x="7738209" y="2400261"/>
            <a:ext cx="387190" cy="207818"/>
            <a:chOff x="3030263" y="2822231"/>
            <a:chExt cx="387190" cy="207818"/>
          </a:xfrm>
        </p:grpSpPr>
        <p:sp>
          <p:nvSpPr>
            <p:cNvPr id="84" name="Oval 83">
              <a:extLst>
                <a:ext uri="{FF2B5EF4-FFF2-40B4-BE49-F238E27FC236}">
                  <a16:creationId xmlns:a16="http://schemas.microsoft.com/office/drawing/2014/main" id="{DB10E02D-9370-0042-9785-8E6F82CD0F0F}"/>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Isosceles Triangle 8">
              <a:extLst>
                <a:ext uri="{FF2B5EF4-FFF2-40B4-BE49-F238E27FC236}">
                  <a16:creationId xmlns:a16="http://schemas.microsoft.com/office/drawing/2014/main" id="{10AC8073-2ACC-8945-ABFA-AAF8CA73A2BA}"/>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6" name="Group 85">
            <a:extLst>
              <a:ext uri="{FF2B5EF4-FFF2-40B4-BE49-F238E27FC236}">
                <a16:creationId xmlns:a16="http://schemas.microsoft.com/office/drawing/2014/main" id="{F709BFE7-B73F-334D-982B-A80EA7E77A55}"/>
              </a:ext>
            </a:extLst>
          </p:cNvPr>
          <p:cNvGrpSpPr/>
          <p:nvPr/>
        </p:nvGrpSpPr>
        <p:grpSpPr>
          <a:xfrm>
            <a:off x="7738209" y="1488340"/>
            <a:ext cx="387190" cy="207818"/>
            <a:chOff x="3030263" y="2822231"/>
            <a:chExt cx="387190" cy="207818"/>
          </a:xfrm>
        </p:grpSpPr>
        <p:sp>
          <p:nvSpPr>
            <p:cNvPr id="87" name="Oval 86">
              <a:extLst>
                <a:ext uri="{FF2B5EF4-FFF2-40B4-BE49-F238E27FC236}">
                  <a16:creationId xmlns:a16="http://schemas.microsoft.com/office/drawing/2014/main" id="{8F7BBD1B-A261-F243-AA44-82A95D69C89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Isosceles Triangle 8">
              <a:extLst>
                <a:ext uri="{FF2B5EF4-FFF2-40B4-BE49-F238E27FC236}">
                  <a16:creationId xmlns:a16="http://schemas.microsoft.com/office/drawing/2014/main" id="{3C13F5FA-21BB-804C-8F43-6208ED25D488}"/>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882AD318-A596-1B4D-B4C5-467666317C72}"/>
              </a:ext>
            </a:extLst>
          </p:cNvPr>
          <p:cNvGrpSpPr/>
          <p:nvPr/>
        </p:nvGrpSpPr>
        <p:grpSpPr>
          <a:xfrm>
            <a:off x="7738209" y="599731"/>
            <a:ext cx="387190" cy="207818"/>
            <a:chOff x="3030263" y="2822231"/>
            <a:chExt cx="387190" cy="207818"/>
          </a:xfrm>
        </p:grpSpPr>
        <p:sp>
          <p:nvSpPr>
            <p:cNvPr id="90" name="Oval 89">
              <a:extLst>
                <a:ext uri="{FF2B5EF4-FFF2-40B4-BE49-F238E27FC236}">
                  <a16:creationId xmlns:a16="http://schemas.microsoft.com/office/drawing/2014/main" id="{98838440-D5DA-4F47-B1AC-2F6BDEC4CBE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Isosceles Triangle 8">
              <a:extLst>
                <a:ext uri="{FF2B5EF4-FFF2-40B4-BE49-F238E27FC236}">
                  <a16:creationId xmlns:a16="http://schemas.microsoft.com/office/drawing/2014/main" id="{826718D4-3979-A044-975C-1CA7140D9808}"/>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2" name="Oval 91">
            <a:extLst>
              <a:ext uri="{FF2B5EF4-FFF2-40B4-BE49-F238E27FC236}">
                <a16:creationId xmlns:a16="http://schemas.microsoft.com/office/drawing/2014/main" id="{D60B45E8-3AAE-5648-B0C5-A344D9B2F9F8}"/>
              </a:ext>
            </a:extLst>
          </p:cNvPr>
          <p:cNvSpPr/>
          <p:nvPr/>
        </p:nvSpPr>
        <p:spPr>
          <a:xfrm>
            <a:off x="9017425" y="2024884"/>
            <a:ext cx="130379" cy="13163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3" name="Elbow Connector 92">
            <a:extLst>
              <a:ext uri="{FF2B5EF4-FFF2-40B4-BE49-F238E27FC236}">
                <a16:creationId xmlns:a16="http://schemas.microsoft.com/office/drawing/2014/main" id="{B669B8ED-4AF3-EC4B-A429-E790F6574F24}"/>
              </a:ext>
            </a:extLst>
          </p:cNvPr>
          <p:cNvCxnSpPr>
            <a:stCxn id="90" idx="6"/>
            <a:endCxn id="92" idx="2"/>
          </p:cNvCxnSpPr>
          <p:nvPr/>
        </p:nvCxnSpPr>
        <p:spPr>
          <a:xfrm>
            <a:off x="8023482" y="692063"/>
            <a:ext cx="993943" cy="139864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4" name="Elbow Connector 93">
            <a:extLst>
              <a:ext uri="{FF2B5EF4-FFF2-40B4-BE49-F238E27FC236}">
                <a16:creationId xmlns:a16="http://schemas.microsoft.com/office/drawing/2014/main" id="{45147B5D-F325-E348-9B2D-917CE706D8AE}"/>
              </a:ext>
            </a:extLst>
          </p:cNvPr>
          <p:cNvCxnSpPr>
            <a:stCxn id="87" idx="6"/>
            <a:endCxn id="92" idx="2"/>
          </p:cNvCxnSpPr>
          <p:nvPr/>
        </p:nvCxnSpPr>
        <p:spPr>
          <a:xfrm>
            <a:off x="8023482" y="1580672"/>
            <a:ext cx="993943" cy="51003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5" name="Elbow Connector 94">
            <a:extLst>
              <a:ext uri="{FF2B5EF4-FFF2-40B4-BE49-F238E27FC236}">
                <a16:creationId xmlns:a16="http://schemas.microsoft.com/office/drawing/2014/main" id="{614C9D59-6FCA-BA45-868E-7AD3F2C5FA07}"/>
              </a:ext>
            </a:extLst>
          </p:cNvPr>
          <p:cNvCxnSpPr>
            <a:stCxn id="84" idx="6"/>
          </p:cNvCxnSpPr>
          <p:nvPr/>
        </p:nvCxnSpPr>
        <p:spPr>
          <a:xfrm flipV="1">
            <a:off x="8023482" y="2114449"/>
            <a:ext cx="993943" cy="37814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96" name="Elbow Connector 95">
            <a:extLst>
              <a:ext uri="{FF2B5EF4-FFF2-40B4-BE49-F238E27FC236}">
                <a16:creationId xmlns:a16="http://schemas.microsoft.com/office/drawing/2014/main" id="{4482719F-1633-5345-A7F2-F188D0B7C076}"/>
              </a:ext>
            </a:extLst>
          </p:cNvPr>
          <p:cNvCxnSpPr>
            <a:stCxn id="81" idx="6"/>
            <a:endCxn id="92" idx="2"/>
          </p:cNvCxnSpPr>
          <p:nvPr/>
        </p:nvCxnSpPr>
        <p:spPr>
          <a:xfrm flipV="1">
            <a:off x="8023482" y="2090703"/>
            <a:ext cx="993943" cy="1330566"/>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6" name="Elbow Connector 55">
            <a:extLst>
              <a:ext uri="{FF2B5EF4-FFF2-40B4-BE49-F238E27FC236}">
                <a16:creationId xmlns:a16="http://schemas.microsoft.com/office/drawing/2014/main" id="{C31179A8-5FC8-C34B-9926-306157EB61B3}"/>
              </a:ext>
            </a:extLst>
          </p:cNvPr>
          <p:cNvCxnSpPr>
            <a:cxnSpLocks/>
            <a:stCxn id="54" idx="3"/>
            <a:endCxn id="90" idx="2"/>
          </p:cNvCxnSpPr>
          <p:nvPr/>
        </p:nvCxnSpPr>
        <p:spPr>
          <a:xfrm flipV="1">
            <a:off x="6024241" y="692063"/>
            <a:ext cx="1815885" cy="3598389"/>
          </a:xfrm>
          <a:prstGeom prst="bentConnector3">
            <a:avLst>
              <a:gd name="adj1" fmla="val 6774"/>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9" name="Elbow Connector 58">
            <a:extLst>
              <a:ext uri="{FF2B5EF4-FFF2-40B4-BE49-F238E27FC236}">
                <a16:creationId xmlns:a16="http://schemas.microsoft.com/office/drawing/2014/main" id="{120AB510-42CA-9B40-A43F-023A465D56C0}"/>
              </a:ext>
            </a:extLst>
          </p:cNvPr>
          <p:cNvCxnSpPr>
            <a:cxnSpLocks/>
            <a:stCxn id="71" idx="3"/>
            <a:endCxn id="87" idx="2"/>
          </p:cNvCxnSpPr>
          <p:nvPr/>
        </p:nvCxnSpPr>
        <p:spPr>
          <a:xfrm flipV="1">
            <a:off x="6899627" y="1580672"/>
            <a:ext cx="940499" cy="2709780"/>
          </a:xfrm>
          <a:prstGeom prst="bentConnector3">
            <a:avLst>
              <a:gd name="adj1" fmla="val 1042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5" name="Elbow Connector 104">
            <a:extLst>
              <a:ext uri="{FF2B5EF4-FFF2-40B4-BE49-F238E27FC236}">
                <a16:creationId xmlns:a16="http://schemas.microsoft.com/office/drawing/2014/main" id="{1FC25F52-46FA-2F44-8D0D-11025E1F1BCB}"/>
              </a:ext>
            </a:extLst>
          </p:cNvPr>
          <p:cNvCxnSpPr>
            <a:stCxn id="75" idx="3"/>
            <a:endCxn id="84" idx="2"/>
          </p:cNvCxnSpPr>
          <p:nvPr/>
        </p:nvCxnSpPr>
        <p:spPr>
          <a:xfrm flipV="1">
            <a:off x="7626403" y="2492593"/>
            <a:ext cx="213723" cy="1797859"/>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7" name="Elbow Connector 106">
            <a:extLst>
              <a:ext uri="{FF2B5EF4-FFF2-40B4-BE49-F238E27FC236}">
                <a16:creationId xmlns:a16="http://schemas.microsoft.com/office/drawing/2014/main" id="{E167A8A4-A197-2D48-8846-6C56F92E680A}"/>
              </a:ext>
            </a:extLst>
          </p:cNvPr>
          <p:cNvCxnSpPr>
            <a:stCxn id="79" idx="3"/>
            <a:endCxn id="82" idx="3"/>
          </p:cNvCxnSpPr>
          <p:nvPr/>
        </p:nvCxnSpPr>
        <p:spPr>
          <a:xfrm flipH="1" flipV="1">
            <a:off x="7931804" y="3536755"/>
            <a:ext cx="506273" cy="771586"/>
          </a:xfrm>
          <a:prstGeom prst="bentConnector4">
            <a:avLst>
              <a:gd name="adj1" fmla="val -45154"/>
              <a:gd name="adj2" fmla="val 70739"/>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08" name="TextBox 107">
            <a:extLst>
              <a:ext uri="{FF2B5EF4-FFF2-40B4-BE49-F238E27FC236}">
                <a16:creationId xmlns:a16="http://schemas.microsoft.com/office/drawing/2014/main" id="{C5DEB6F4-6FCD-6E42-9F03-919F8E347D2F}"/>
              </a:ext>
            </a:extLst>
          </p:cNvPr>
          <p:cNvSpPr txBox="1"/>
          <p:nvPr/>
        </p:nvSpPr>
        <p:spPr>
          <a:xfrm>
            <a:off x="8831758" y="3734309"/>
            <a:ext cx="2366482" cy="646331"/>
          </a:xfrm>
          <a:prstGeom prst="rect">
            <a:avLst/>
          </a:prstGeom>
          <a:noFill/>
        </p:spPr>
        <p:txBody>
          <a:bodyPr wrap="square" rtlCol="0">
            <a:spAutoFit/>
          </a:bodyPr>
          <a:lstStyle/>
          <a:p>
            <a:pPr algn="ctr"/>
            <a:r>
              <a:rPr lang="en-US" dirty="0"/>
              <a:t>From bioreactor</a:t>
            </a:r>
          </a:p>
          <a:p>
            <a:pPr algn="ctr"/>
            <a:r>
              <a:rPr lang="en-US" dirty="0"/>
              <a:t>85-170L/min</a:t>
            </a:r>
          </a:p>
        </p:txBody>
      </p:sp>
      <p:sp>
        <p:nvSpPr>
          <p:cNvPr id="111" name="Rectangle 110">
            <a:extLst>
              <a:ext uri="{FF2B5EF4-FFF2-40B4-BE49-F238E27FC236}">
                <a16:creationId xmlns:a16="http://schemas.microsoft.com/office/drawing/2014/main" id="{3AD58C19-1A94-FE43-BB1E-AEED15C4162F}"/>
              </a:ext>
            </a:extLst>
          </p:cNvPr>
          <p:cNvSpPr/>
          <p:nvPr/>
        </p:nvSpPr>
        <p:spPr>
          <a:xfrm>
            <a:off x="5503025" y="4688378"/>
            <a:ext cx="546930" cy="11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74DAC6F6-906F-E44F-B541-5AA179AF3796}"/>
              </a:ext>
            </a:extLst>
          </p:cNvPr>
          <p:cNvSpPr/>
          <p:nvPr/>
        </p:nvSpPr>
        <p:spPr>
          <a:xfrm>
            <a:off x="6397562" y="4696692"/>
            <a:ext cx="546930" cy="11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B6019F90-D6B8-BA4C-B349-ED7BD091BFF9}"/>
              </a:ext>
            </a:extLst>
          </p:cNvPr>
          <p:cNvSpPr/>
          <p:nvPr/>
        </p:nvSpPr>
        <p:spPr>
          <a:xfrm>
            <a:off x="7105491" y="4685135"/>
            <a:ext cx="546930" cy="11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18E73097-1634-994E-906D-C7E8D62550CF}"/>
              </a:ext>
            </a:extLst>
          </p:cNvPr>
          <p:cNvSpPr/>
          <p:nvPr/>
        </p:nvSpPr>
        <p:spPr>
          <a:xfrm>
            <a:off x="7912157" y="4693681"/>
            <a:ext cx="546930" cy="11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6" name="Elbow Connector 115">
            <a:extLst>
              <a:ext uri="{FF2B5EF4-FFF2-40B4-BE49-F238E27FC236}">
                <a16:creationId xmlns:a16="http://schemas.microsoft.com/office/drawing/2014/main" id="{73CD4665-5E2D-3644-BB3B-1D282FED3EB6}"/>
              </a:ext>
            </a:extLst>
          </p:cNvPr>
          <p:cNvCxnSpPr>
            <a:cxnSpLocks/>
            <a:endCxn id="54" idx="0"/>
          </p:cNvCxnSpPr>
          <p:nvPr/>
        </p:nvCxnSpPr>
        <p:spPr>
          <a:xfrm flipV="1">
            <a:off x="4511915" y="3970412"/>
            <a:ext cx="1283726" cy="198060"/>
          </a:xfrm>
          <a:prstGeom prst="bentConnector4">
            <a:avLst>
              <a:gd name="adj1" fmla="val 41096"/>
              <a:gd name="adj2" fmla="val 21542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8" name="Elbow Connector 117">
            <a:extLst>
              <a:ext uri="{FF2B5EF4-FFF2-40B4-BE49-F238E27FC236}">
                <a16:creationId xmlns:a16="http://schemas.microsoft.com/office/drawing/2014/main" id="{B6C58E1F-40C5-AD42-8705-B2A189ADA6A3}"/>
              </a:ext>
            </a:extLst>
          </p:cNvPr>
          <p:cNvCxnSpPr>
            <a:cxnSpLocks/>
            <a:stCxn id="97" idx="3"/>
            <a:endCxn id="71" idx="0"/>
          </p:cNvCxnSpPr>
          <p:nvPr/>
        </p:nvCxnSpPr>
        <p:spPr>
          <a:xfrm>
            <a:off x="4656094" y="3574149"/>
            <a:ext cx="2014933" cy="3962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2" name="Elbow Connector 121">
            <a:extLst>
              <a:ext uri="{FF2B5EF4-FFF2-40B4-BE49-F238E27FC236}">
                <a16:creationId xmlns:a16="http://schemas.microsoft.com/office/drawing/2014/main" id="{6630CEEE-0A9D-1342-8FFF-77DB963017EE}"/>
              </a:ext>
            </a:extLst>
          </p:cNvPr>
          <p:cNvCxnSpPr>
            <a:cxnSpLocks/>
            <a:stCxn id="98" idx="3"/>
            <a:endCxn id="75" idx="0"/>
          </p:cNvCxnSpPr>
          <p:nvPr/>
        </p:nvCxnSpPr>
        <p:spPr>
          <a:xfrm>
            <a:off x="4695271" y="3031417"/>
            <a:ext cx="2702532" cy="9389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4" name="Elbow Connector 123">
            <a:extLst>
              <a:ext uri="{FF2B5EF4-FFF2-40B4-BE49-F238E27FC236}">
                <a16:creationId xmlns:a16="http://schemas.microsoft.com/office/drawing/2014/main" id="{2DA60929-BAB1-D947-ABAF-77492DF29E68}"/>
              </a:ext>
            </a:extLst>
          </p:cNvPr>
          <p:cNvCxnSpPr>
            <a:cxnSpLocks/>
            <a:stCxn id="99" idx="3"/>
            <a:endCxn id="79" idx="0"/>
          </p:cNvCxnSpPr>
          <p:nvPr/>
        </p:nvCxnSpPr>
        <p:spPr>
          <a:xfrm>
            <a:off x="4529564" y="2400278"/>
            <a:ext cx="3679913" cy="158802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112FABCF-8DC2-9D47-868D-68F43B18E892}"/>
              </a:ext>
            </a:extLst>
          </p:cNvPr>
          <p:cNvSpPr txBox="1"/>
          <p:nvPr/>
        </p:nvSpPr>
        <p:spPr>
          <a:xfrm>
            <a:off x="2289612" y="3250983"/>
            <a:ext cx="2366482" cy="646331"/>
          </a:xfrm>
          <a:prstGeom prst="rect">
            <a:avLst/>
          </a:prstGeom>
          <a:noFill/>
        </p:spPr>
        <p:txBody>
          <a:bodyPr wrap="square" rtlCol="0">
            <a:spAutoFit/>
          </a:bodyPr>
          <a:lstStyle/>
          <a:p>
            <a:pPr algn="ctr"/>
            <a:r>
              <a:rPr lang="en-US" dirty="0"/>
              <a:t>From bioreactor</a:t>
            </a:r>
          </a:p>
          <a:p>
            <a:pPr algn="ctr"/>
            <a:r>
              <a:rPr lang="en-US" dirty="0"/>
              <a:t>85 L/min</a:t>
            </a:r>
          </a:p>
        </p:txBody>
      </p:sp>
      <p:sp>
        <p:nvSpPr>
          <p:cNvPr id="98" name="TextBox 97">
            <a:extLst>
              <a:ext uri="{FF2B5EF4-FFF2-40B4-BE49-F238E27FC236}">
                <a16:creationId xmlns:a16="http://schemas.microsoft.com/office/drawing/2014/main" id="{47C039B8-A411-0141-A454-CFD148FFB965}"/>
              </a:ext>
            </a:extLst>
          </p:cNvPr>
          <p:cNvSpPr txBox="1"/>
          <p:nvPr/>
        </p:nvSpPr>
        <p:spPr>
          <a:xfrm>
            <a:off x="2328789" y="2708251"/>
            <a:ext cx="2366482" cy="646331"/>
          </a:xfrm>
          <a:prstGeom prst="rect">
            <a:avLst/>
          </a:prstGeom>
          <a:noFill/>
        </p:spPr>
        <p:txBody>
          <a:bodyPr wrap="square" rtlCol="0">
            <a:spAutoFit/>
          </a:bodyPr>
          <a:lstStyle/>
          <a:p>
            <a:pPr algn="ctr"/>
            <a:r>
              <a:rPr lang="en-US" dirty="0"/>
              <a:t>From bioreactor</a:t>
            </a:r>
          </a:p>
          <a:p>
            <a:pPr algn="ctr"/>
            <a:r>
              <a:rPr lang="en-US" dirty="0"/>
              <a:t>85 L/min</a:t>
            </a:r>
          </a:p>
        </p:txBody>
      </p:sp>
      <p:sp>
        <p:nvSpPr>
          <p:cNvPr id="99" name="TextBox 98">
            <a:extLst>
              <a:ext uri="{FF2B5EF4-FFF2-40B4-BE49-F238E27FC236}">
                <a16:creationId xmlns:a16="http://schemas.microsoft.com/office/drawing/2014/main" id="{AA45CC88-79E9-3745-95CF-F618A5177C9F}"/>
              </a:ext>
            </a:extLst>
          </p:cNvPr>
          <p:cNvSpPr txBox="1"/>
          <p:nvPr/>
        </p:nvSpPr>
        <p:spPr>
          <a:xfrm>
            <a:off x="2163082" y="2077112"/>
            <a:ext cx="2366482" cy="646331"/>
          </a:xfrm>
          <a:prstGeom prst="rect">
            <a:avLst/>
          </a:prstGeom>
          <a:noFill/>
        </p:spPr>
        <p:txBody>
          <a:bodyPr wrap="square" rtlCol="0">
            <a:spAutoFit/>
          </a:bodyPr>
          <a:lstStyle/>
          <a:p>
            <a:pPr algn="ctr"/>
            <a:r>
              <a:rPr lang="en-US" dirty="0"/>
              <a:t>From bioreactor</a:t>
            </a:r>
          </a:p>
          <a:p>
            <a:pPr algn="ctr"/>
            <a:r>
              <a:rPr lang="en-US" dirty="0"/>
              <a:t>85 L/min</a:t>
            </a:r>
          </a:p>
        </p:txBody>
      </p:sp>
    </p:spTree>
    <p:extLst>
      <p:ext uri="{BB962C8B-B14F-4D97-AF65-F5344CB8AC3E}">
        <p14:creationId xmlns:p14="http://schemas.microsoft.com/office/powerpoint/2010/main" val="3083211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15</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endParaRPr lang="en-US"/>
          </a:p>
        </p:txBody>
      </p:sp>
      <p:sp>
        <p:nvSpPr>
          <p:cNvPr id="5" name="Rounded Rectangle 4">
            <a:extLst>
              <a:ext uri="{FF2B5EF4-FFF2-40B4-BE49-F238E27FC236}">
                <a16:creationId xmlns:a16="http://schemas.microsoft.com/office/drawing/2014/main" id="{C8118E87-F5B1-F945-B73B-1717169D120C}"/>
              </a:ext>
            </a:extLst>
          </p:cNvPr>
          <p:cNvSpPr/>
          <p:nvPr/>
        </p:nvSpPr>
        <p:spPr>
          <a:xfrm>
            <a:off x="1052624" y="1337884"/>
            <a:ext cx="1594883" cy="256244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Retentate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784679" y="375944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DCA18B4-E1C7-EA46-A3DE-94862F3F10F7}"/>
              </a:ext>
            </a:extLst>
          </p:cNvPr>
          <p:cNvGrpSpPr/>
          <p:nvPr/>
        </p:nvGrpSpPr>
        <p:grpSpPr>
          <a:xfrm>
            <a:off x="2647507" y="3362560"/>
            <a:ext cx="808078" cy="683141"/>
            <a:chOff x="1578937" y="3827721"/>
            <a:chExt cx="217967" cy="281762"/>
          </a:xfrm>
        </p:grpSpPr>
        <p:sp>
          <p:nvSpPr>
            <p:cNvPr id="11" name="Oval 10">
              <a:extLst>
                <a:ext uri="{FF2B5EF4-FFF2-40B4-BE49-F238E27FC236}">
                  <a16:creationId xmlns:a16="http://schemas.microsoft.com/office/drawing/2014/main" id="{CC7FE0A4-8366-FD4B-BE4A-F5BB2E4DFDD3}"/>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B97E0A9A-435A-8E41-A2B5-CA3691B423C8}"/>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a:off x="440887" y="372737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716F91AA-75D1-C54C-ABA7-FDBEBFBDD66B}"/>
              </a:ext>
            </a:extLst>
          </p:cNvPr>
          <p:cNvGrpSpPr/>
          <p:nvPr/>
        </p:nvGrpSpPr>
        <p:grpSpPr>
          <a:xfrm>
            <a:off x="3635279" y="3071726"/>
            <a:ext cx="1045562" cy="973976"/>
            <a:chOff x="5475212" y="3011672"/>
            <a:chExt cx="1012728" cy="1137683"/>
          </a:xfrm>
        </p:grpSpPr>
        <p:sp>
          <p:nvSpPr>
            <p:cNvPr id="22" name="Rectangle 21">
              <a:extLst>
                <a:ext uri="{FF2B5EF4-FFF2-40B4-BE49-F238E27FC236}">
                  <a16:creationId xmlns:a16="http://schemas.microsoft.com/office/drawing/2014/main" id="{CC1D71A4-4616-104A-9CA9-95DFC11FAF19}"/>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06261B45-3A27-C04D-A7A7-4D45A4435551}"/>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25" name="Straight Arrow Connector 24">
            <a:extLst>
              <a:ext uri="{FF2B5EF4-FFF2-40B4-BE49-F238E27FC236}">
                <a16:creationId xmlns:a16="http://schemas.microsoft.com/office/drawing/2014/main" id="{E8C45100-C6B4-2F45-B931-8E1E0213BB7D}"/>
              </a:ext>
            </a:extLst>
          </p:cNvPr>
          <p:cNvCxnSpPr>
            <a:stCxn id="6" idx="2"/>
          </p:cNvCxnSpPr>
          <p:nvPr/>
        </p:nvCxnSpPr>
        <p:spPr>
          <a:xfrm>
            <a:off x="548839" y="3972275"/>
            <a:ext cx="0" cy="23157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0AA19441-9F0B-CE46-B3CA-721FC3912A98}"/>
              </a:ext>
            </a:extLst>
          </p:cNvPr>
          <p:cNvGrpSpPr/>
          <p:nvPr/>
        </p:nvGrpSpPr>
        <p:grpSpPr>
          <a:xfrm>
            <a:off x="386055" y="430918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51790813-CD82-9C42-B141-178A57D18566}"/>
              </a:ext>
            </a:extLst>
          </p:cNvPr>
          <p:cNvGrpSpPr/>
          <p:nvPr/>
        </p:nvGrpSpPr>
        <p:grpSpPr>
          <a:xfrm>
            <a:off x="3989737" y="4400107"/>
            <a:ext cx="336645" cy="118280"/>
            <a:chOff x="1183488" y="4417325"/>
            <a:chExt cx="336645" cy="118280"/>
          </a:xfrm>
        </p:grpSpPr>
        <p:cxnSp>
          <p:nvCxnSpPr>
            <p:cNvPr id="34" name="Straight Connector 33">
              <a:extLst>
                <a:ext uri="{FF2B5EF4-FFF2-40B4-BE49-F238E27FC236}">
                  <a16:creationId xmlns:a16="http://schemas.microsoft.com/office/drawing/2014/main" id="{31D0EE44-3E42-0444-897E-ED4C885C64FC}"/>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E500817-B828-634F-A054-62DD40F2F17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1E8DA89-0E94-1B4F-80B8-C8A24F75C03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38" name="Straight Arrow Connector 37">
            <a:extLst>
              <a:ext uri="{FF2B5EF4-FFF2-40B4-BE49-F238E27FC236}">
                <a16:creationId xmlns:a16="http://schemas.microsoft.com/office/drawing/2014/main" id="{5DA05E81-799E-E547-965F-779D7A079A85}"/>
              </a:ext>
            </a:extLst>
          </p:cNvPr>
          <p:cNvCxnSpPr>
            <a:stCxn id="22" idx="2"/>
          </p:cNvCxnSpPr>
          <p:nvPr/>
        </p:nvCxnSpPr>
        <p:spPr>
          <a:xfrm>
            <a:off x="4158060" y="4045702"/>
            <a:ext cx="0" cy="32256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F30184A-3589-EF43-9751-369C63FD12C1}"/>
              </a:ext>
            </a:extLst>
          </p:cNvPr>
          <p:cNvCxnSpPr>
            <a:cxnSpLocks/>
            <a:endCxn id="22" idx="1"/>
          </p:cNvCxnSpPr>
          <p:nvPr/>
        </p:nvCxnSpPr>
        <p:spPr>
          <a:xfrm flipV="1">
            <a:off x="2073349" y="3558714"/>
            <a:ext cx="1561930" cy="229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3" name="Elbow Connector 42">
            <a:extLst>
              <a:ext uri="{FF2B5EF4-FFF2-40B4-BE49-F238E27FC236}">
                <a16:creationId xmlns:a16="http://schemas.microsoft.com/office/drawing/2014/main" id="{5F7B1C4B-8022-2244-9C30-87C47430E0C5}"/>
              </a:ext>
            </a:extLst>
          </p:cNvPr>
          <p:cNvCxnSpPr>
            <a:cxnSpLocks/>
            <a:stCxn id="22" idx="0"/>
            <a:endCxn id="5" idx="3"/>
          </p:cNvCxnSpPr>
          <p:nvPr/>
        </p:nvCxnSpPr>
        <p:spPr>
          <a:xfrm rot="16200000" flipV="1">
            <a:off x="3176475" y="2090140"/>
            <a:ext cx="452619" cy="151055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64ED600-0B00-3142-A433-E4CA023DEC0E}"/>
              </a:ext>
            </a:extLst>
          </p:cNvPr>
          <p:cNvCxnSpPr>
            <a:cxnSpLocks/>
            <a:endCxn id="6" idx="3"/>
          </p:cNvCxnSpPr>
          <p:nvPr/>
        </p:nvCxnSpPr>
        <p:spPr>
          <a:xfrm flipH="1">
            <a:off x="656791" y="3839192"/>
            <a:ext cx="721977" cy="1063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5DEE531C-A1F7-7542-A7C2-EEFB2A30F85C}"/>
              </a:ext>
            </a:extLst>
          </p:cNvPr>
          <p:cNvCxnSpPr>
            <a:stCxn id="6" idx="0"/>
            <a:endCxn id="5" idx="1"/>
          </p:cNvCxnSpPr>
          <p:nvPr/>
        </p:nvCxnSpPr>
        <p:spPr>
          <a:xfrm rot="5400000" flipH="1" flipV="1">
            <a:off x="246597" y="2921349"/>
            <a:ext cx="1108268" cy="50378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3055721" cy="646331"/>
          </a:xfrm>
          <a:prstGeom prst="rect">
            <a:avLst/>
          </a:prstGeom>
          <a:noFill/>
        </p:spPr>
        <p:txBody>
          <a:bodyPr wrap="square" rtlCol="0">
            <a:spAutoFit/>
          </a:bodyPr>
          <a:lstStyle/>
          <a:p>
            <a:r>
              <a:rPr lang="en-US" dirty="0"/>
              <a:t>Small UF for end-to-end daily concentration</a:t>
            </a:r>
          </a:p>
        </p:txBody>
      </p:sp>
      <p:sp>
        <p:nvSpPr>
          <p:cNvPr id="54" name="TextBox 53">
            <a:extLst>
              <a:ext uri="{FF2B5EF4-FFF2-40B4-BE49-F238E27FC236}">
                <a16:creationId xmlns:a16="http://schemas.microsoft.com/office/drawing/2014/main" id="{BB45CC8D-ADD5-2149-AE53-D95ECD87BF71}"/>
              </a:ext>
            </a:extLst>
          </p:cNvPr>
          <p:cNvSpPr txBox="1"/>
          <p:nvPr/>
        </p:nvSpPr>
        <p:spPr>
          <a:xfrm>
            <a:off x="3297220" y="4669010"/>
            <a:ext cx="3055721" cy="369332"/>
          </a:xfrm>
          <a:prstGeom prst="rect">
            <a:avLst/>
          </a:prstGeom>
          <a:noFill/>
        </p:spPr>
        <p:txBody>
          <a:bodyPr wrap="square" rtlCol="0">
            <a:spAutoFit/>
          </a:bodyPr>
          <a:lstStyle/>
          <a:p>
            <a:r>
              <a:rPr lang="en-US" dirty="0"/>
              <a:t>Large system for batch DF</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6496495" y="1345614"/>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17A8D3A1-E405-CB4B-ABA3-959C4D8E46AE}"/>
              </a:ext>
            </a:extLst>
          </p:cNvPr>
          <p:cNvGrpSpPr/>
          <p:nvPr/>
        </p:nvGrpSpPr>
        <p:grpSpPr>
          <a:xfrm>
            <a:off x="6504172" y="1734599"/>
            <a:ext cx="215904" cy="244900"/>
            <a:chOff x="5475212" y="3011672"/>
            <a:chExt cx="1012728" cy="1137683"/>
          </a:xfrm>
        </p:grpSpPr>
        <p:sp>
          <p:nvSpPr>
            <p:cNvPr id="59" name="Rectangle 58">
              <a:extLst>
                <a:ext uri="{FF2B5EF4-FFF2-40B4-BE49-F238E27FC236}">
                  <a16:creationId xmlns:a16="http://schemas.microsoft.com/office/drawing/2014/main" id="{A8A6238C-E38A-6C4D-96C4-3136CBB1D81A}"/>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A87F55C1-8025-2145-8F21-045B8B9C4D9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61" name="Group 60">
            <a:extLst>
              <a:ext uri="{FF2B5EF4-FFF2-40B4-BE49-F238E27FC236}">
                <a16:creationId xmlns:a16="http://schemas.microsoft.com/office/drawing/2014/main" id="{365DF414-4EDB-D342-957C-1C7AC37A2671}"/>
              </a:ext>
            </a:extLst>
          </p:cNvPr>
          <p:cNvGrpSpPr/>
          <p:nvPr/>
        </p:nvGrpSpPr>
        <p:grpSpPr>
          <a:xfrm>
            <a:off x="6504172" y="2303724"/>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64" name="Group 63">
            <a:extLst>
              <a:ext uri="{FF2B5EF4-FFF2-40B4-BE49-F238E27FC236}">
                <a16:creationId xmlns:a16="http://schemas.microsoft.com/office/drawing/2014/main" id="{D024A577-8E9D-DA42-9FEE-7DFD884ED7D5}"/>
              </a:ext>
            </a:extLst>
          </p:cNvPr>
          <p:cNvGrpSpPr/>
          <p:nvPr/>
        </p:nvGrpSpPr>
        <p:grpSpPr>
          <a:xfrm>
            <a:off x="6504172" y="2619106"/>
            <a:ext cx="215904" cy="244900"/>
            <a:chOff x="5475212" y="3011672"/>
            <a:chExt cx="1012728" cy="1137683"/>
          </a:xfrm>
        </p:grpSpPr>
        <p:sp>
          <p:nvSpPr>
            <p:cNvPr id="65" name="Rectangle 64">
              <a:extLst>
                <a:ext uri="{FF2B5EF4-FFF2-40B4-BE49-F238E27FC236}">
                  <a16:creationId xmlns:a16="http://schemas.microsoft.com/office/drawing/2014/main" id="{2551E273-E13E-0744-AD09-73DFC323B4B2}"/>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E20FA898-AF6A-5849-9CA5-2420EC550465}"/>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D89AC0CE-B05A-0644-B5FA-C55CA8E5DBBE}"/>
              </a:ext>
            </a:extLst>
          </p:cNvPr>
          <p:cNvGrpSpPr/>
          <p:nvPr/>
        </p:nvGrpSpPr>
        <p:grpSpPr>
          <a:xfrm>
            <a:off x="6504172" y="2928341"/>
            <a:ext cx="215904" cy="244900"/>
            <a:chOff x="5475212" y="3011672"/>
            <a:chExt cx="1012728" cy="1137683"/>
          </a:xfrm>
        </p:grpSpPr>
        <p:sp>
          <p:nvSpPr>
            <p:cNvPr id="68" name="Rectangle 67">
              <a:extLst>
                <a:ext uri="{FF2B5EF4-FFF2-40B4-BE49-F238E27FC236}">
                  <a16:creationId xmlns:a16="http://schemas.microsoft.com/office/drawing/2014/main" id="{36C4F230-124C-1445-B310-EFAE53661C48}"/>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8ACC2471-A2D2-474E-B4E9-E6A7745CB964}"/>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0" name="Group 69">
            <a:extLst>
              <a:ext uri="{FF2B5EF4-FFF2-40B4-BE49-F238E27FC236}">
                <a16:creationId xmlns:a16="http://schemas.microsoft.com/office/drawing/2014/main" id="{B7CE3641-1FE2-DC4C-8011-569CF5A4A425}"/>
              </a:ext>
            </a:extLst>
          </p:cNvPr>
          <p:cNvGrpSpPr/>
          <p:nvPr/>
        </p:nvGrpSpPr>
        <p:grpSpPr>
          <a:xfrm>
            <a:off x="6504172" y="3482475"/>
            <a:ext cx="215904" cy="244900"/>
            <a:chOff x="5475212" y="3011672"/>
            <a:chExt cx="1012728" cy="1137683"/>
          </a:xfrm>
        </p:grpSpPr>
        <p:sp>
          <p:nvSpPr>
            <p:cNvPr id="71" name="Rectangle 70">
              <a:extLst>
                <a:ext uri="{FF2B5EF4-FFF2-40B4-BE49-F238E27FC236}">
                  <a16:creationId xmlns:a16="http://schemas.microsoft.com/office/drawing/2014/main" id="{BA11C07E-85FA-5C46-88D7-3694343B3A5B}"/>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D45D86E7-CA35-524E-808D-AB7A4911F71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73" name="TextBox 72">
            <a:extLst>
              <a:ext uri="{FF2B5EF4-FFF2-40B4-BE49-F238E27FC236}">
                <a16:creationId xmlns:a16="http://schemas.microsoft.com/office/drawing/2014/main" id="{38AB68E2-EC55-DC46-BB38-6AEB0C67D0C2}"/>
              </a:ext>
            </a:extLst>
          </p:cNvPr>
          <p:cNvSpPr txBox="1"/>
          <p:nvPr/>
        </p:nvSpPr>
        <p:spPr>
          <a:xfrm>
            <a:off x="6827636" y="1516026"/>
            <a:ext cx="2476260" cy="646331"/>
          </a:xfrm>
          <a:prstGeom prst="rect">
            <a:avLst/>
          </a:prstGeom>
          <a:noFill/>
        </p:spPr>
        <p:txBody>
          <a:bodyPr wrap="square" rtlCol="0">
            <a:spAutoFit/>
          </a:bodyPr>
          <a:lstStyle/>
          <a:p>
            <a:pPr algn="ctr"/>
            <a:r>
              <a:rPr lang="en-US" dirty="0"/>
              <a:t>Single pass concentration</a:t>
            </a:r>
          </a:p>
        </p:txBody>
      </p:sp>
      <p:sp>
        <p:nvSpPr>
          <p:cNvPr id="74" name="TextBox 73">
            <a:extLst>
              <a:ext uri="{FF2B5EF4-FFF2-40B4-BE49-F238E27FC236}">
                <a16:creationId xmlns:a16="http://schemas.microsoft.com/office/drawing/2014/main" id="{82B923C0-2663-4440-8D92-DF7B8433EACC}"/>
              </a:ext>
            </a:extLst>
          </p:cNvPr>
          <p:cNvSpPr txBox="1"/>
          <p:nvPr/>
        </p:nvSpPr>
        <p:spPr>
          <a:xfrm>
            <a:off x="6827636" y="2433822"/>
            <a:ext cx="2476260" cy="646331"/>
          </a:xfrm>
          <a:prstGeom prst="rect">
            <a:avLst/>
          </a:prstGeom>
          <a:noFill/>
        </p:spPr>
        <p:txBody>
          <a:bodyPr wrap="square" rtlCol="0">
            <a:spAutoFit/>
          </a:bodyPr>
          <a:lstStyle/>
          <a:p>
            <a:pPr algn="ctr"/>
            <a:r>
              <a:rPr lang="en-US" dirty="0"/>
              <a:t>Multi-stage in-line diafiltration</a:t>
            </a:r>
          </a:p>
        </p:txBody>
      </p:sp>
      <p:sp>
        <p:nvSpPr>
          <p:cNvPr id="75" name="TextBox 74">
            <a:extLst>
              <a:ext uri="{FF2B5EF4-FFF2-40B4-BE49-F238E27FC236}">
                <a16:creationId xmlns:a16="http://schemas.microsoft.com/office/drawing/2014/main" id="{A37864EE-507C-B443-A5E0-79CFBD25E584}"/>
              </a:ext>
            </a:extLst>
          </p:cNvPr>
          <p:cNvSpPr txBox="1"/>
          <p:nvPr/>
        </p:nvSpPr>
        <p:spPr>
          <a:xfrm>
            <a:off x="6827636" y="3362560"/>
            <a:ext cx="2476260" cy="646331"/>
          </a:xfrm>
          <a:prstGeom prst="rect">
            <a:avLst/>
          </a:prstGeom>
          <a:noFill/>
        </p:spPr>
        <p:txBody>
          <a:bodyPr wrap="square" rtlCol="0">
            <a:spAutoFit/>
          </a:bodyPr>
          <a:lstStyle/>
          <a:p>
            <a:pPr algn="ctr"/>
            <a:r>
              <a:rPr lang="en-US" dirty="0"/>
              <a:t>Single pass final  concentration</a:t>
            </a:r>
          </a:p>
        </p:txBody>
      </p:sp>
      <p:grpSp>
        <p:nvGrpSpPr>
          <p:cNvPr id="76" name="Group 75">
            <a:extLst>
              <a:ext uri="{FF2B5EF4-FFF2-40B4-BE49-F238E27FC236}">
                <a16:creationId xmlns:a16="http://schemas.microsoft.com/office/drawing/2014/main" id="{F9D212B1-D636-D74F-9EC8-4B3E609FBAC4}"/>
              </a:ext>
            </a:extLst>
          </p:cNvPr>
          <p:cNvGrpSpPr/>
          <p:nvPr/>
        </p:nvGrpSpPr>
        <p:grpSpPr>
          <a:xfrm>
            <a:off x="6506831" y="3190675"/>
            <a:ext cx="217967" cy="281762"/>
            <a:chOff x="1578937" y="3827721"/>
            <a:chExt cx="217967" cy="281762"/>
          </a:xfrm>
        </p:grpSpPr>
        <p:sp>
          <p:nvSpPr>
            <p:cNvPr id="77" name="Oval 76">
              <a:extLst>
                <a:ext uri="{FF2B5EF4-FFF2-40B4-BE49-F238E27FC236}">
                  <a16:creationId xmlns:a16="http://schemas.microsoft.com/office/drawing/2014/main" id="{00E5340E-4619-0D42-807E-C78C0849A8D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Triangle 77">
              <a:extLst>
                <a:ext uri="{FF2B5EF4-FFF2-40B4-BE49-F238E27FC236}">
                  <a16:creationId xmlns:a16="http://schemas.microsoft.com/office/drawing/2014/main" id="{B0FF98FB-F0B1-D344-BCCD-5CCD69C5DB5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46F3DAE9-1EE2-894E-A271-451B4C9F627D}"/>
              </a:ext>
            </a:extLst>
          </p:cNvPr>
          <p:cNvGrpSpPr/>
          <p:nvPr/>
        </p:nvGrpSpPr>
        <p:grpSpPr>
          <a:xfrm>
            <a:off x="6827636" y="2292941"/>
            <a:ext cx="217967" cy="281762"/>
            <a:chOff x="1578937" y="3827721"/>
            <a:chExt cx="217967" cy="281762"/>
          </a:xfrm>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52C1673B-A377-4149-8905-4E54E27DEF92}"/>
              </a:ext>
            </a:extLst>
          </p:cNvPr>
          <p:cNvGrpSpPr/>
          <p:nvPr/>
        </p:nvGrpSpPr>
        <p:grpSpPr>
          <a:xfrm>
            <a:off x="6827636" y="2619106"/>
            <a:ext cx="217967" cy="281762"/>
            <a:chOff x="1578937" y="3827721"/>
            <a:chExt cx="217967" cy="281762"/>
          </a:xfrm>
        </p:grpSpPr>
        <p:sp>
          <p:nvSpPr>
            <p:cNvPr id="83" name="Oval 82">
              <a:extLst>
                <a:ext uri="{FF2B5EF4-FFF2-40B4-BE49-F238E27FC236}">
                  <a16:creationId xmlns:a16="http://schemas.microsoft.com/office/drawing/2014/main" id="{41C4DE06-B54B-DC49-B35E-71752CF208B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Triangle 83">
              <a:extLst>
                <a:ext uri="{FF2B5EF4-FFF2-40B4-BE49-F238E27FC236}">
                  <a16:creationId xmlns:a16="http://schemas.microsoft.com/office/drawing/2014/main" id="{53A986A4-CE23-B845-A307-F712F3AC2675}"/>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20418E3C-BCAA-A348-80BA-BFF46CBFA3B1}"/>
              </a:ext>
            </a:extLst>
          </p:cNvPr>
          <p:cNvGrpSpPr/>
          <p:nvPr/>
        </p:nvGrpSpPr>
        <p:grpSpPr>
          <a:xfrm>
            <a:off x="6827636" y="2939272"/>
            <a:ext cx="217967" cy="281762"/>
            <a:chOff x="1578937" y="3827721"/>
            <a:chExt cx="217967" cy="281762"/>
          </a:xfrm>
        </p:grpSpPr>
        <p:sp>
          <p:nvSpPr>
            <p:cNvPr id="86" name="Oval 85">
              <a:extLst>
                <a:ext uri="{FF2B5EF4-FFF2-40B4-BE49-F238E27FC236}">
                  <a16:creationId xmlns:a16="http://schemas.microsoft.com/office/drawing/2014/main" id="{6A8A7131-908C-E44F-9EBC-1B56A0752D7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Triangle 86">
              <a:extLst>
                <a:ext uri="{FF2B5EF4-FFF2-40B4-BE49-F238E27FC236}">
                  <a16:creationId xmlns:a16="http://schemas.microsoft.com/office/drawing/2014/main" id="{BBE5B5E8-6A93-5745-9EC2-C198429D1F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5D7EAFA2-DC45-EA4C-BD54-70D59B04D035}"/>
              </a:ext>
            </a:extLst>
          </p:cNvPr>
          <p:cNvGrpSpPr/>
          <p:nvPr/>
        </p:nvGrpSpPr>
        <p:grpSpPr>
          <a:xfrm>
            <a:off x="6123442" y="2909910"/>
            <a:ext cx="217967" cy="281762"/>
            <a:chOff x="1578937" y="3827721"/>
            <a:chExt cx="217967" cy="281762"/>
          </a:xfrm>
        </p:grpSpPr>
        <p:sp>
          <p:nvSpPr>
            <p:cNvPr id="89" name="Oval 88">
              <a:extLst>
                <a:ext uri="{FF2B5EF4-FFF2-40B4-BE49-F238E27FC236}">
                  <a16:creationId xmlns:a16="http://schemas.microsoft.com/office/drawing/2014/main" id="{72AAA982-2758-B245-8540-ED2AFB04FAD4}"/>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Triangle 89">
              <a:extLst>
                <a:ext uri="{FF2B5EF4-FFF2-40B4-BE49-F238E27FC236}">
                  <a16:creationId xmlns:a16="http://schemas.microsoft.com/office/drawing/2014/main" id="{50DC8890-B5B8-E946-B6B8-D15AB4BB912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8806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16</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endParaRPr lang="en-US"/>
          </a:p>
        </p:txBody>
      </p:sp>
      <p:sp>
        <p:nvSpPr>
          <p:cNvPr id="5" name="Rounded Rectangle 4">
            <a:extLst>
              <a:ext uri="{FF2B5EF4-FFF2-40B4-BE49-F238E27FC236}">
                <a16:creationId xmlns:a16="http://schemas.microsoft.com/office/drawing/2014/main" id="{C8118E87-F5B1-F945-B73B-1717169D120C}"/>
              </a:ext>
            </a:extLst>
          </p:cNvPr>
          <p:cNvSpPr/>
          <p:nvPr/>
        </p:nvSpPr>
        <p:spPr>
          <a:xfrm>
            <a:off x="1111348" y="301901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784679" y="375944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a:off x="440887" y="372737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25" name="Straight Arrow Connector 24">
            <a:extLst>
              <a:ext uri="{FF2B5EF4-FFF2-40B4-BE49-F238E27FC236}">
                <a16:creationId xmlns:a16="http://schemas.microsoft.com/office/drawing/2014/main" id="{E8C45100-C6B4-2F45-B931-8E1E0213BB7D}"/>
              </a:ext>
            </a:extLst>
          </p:cNvPr>
          <p:cNvCxnSpPr>
            <a:stCxn id="6" idx="2"/>
          </p:cNvCxnSpPr>
          <p:nvPr/>
        </p:nvCxnSpPr>
        <p:spPr>
          <a:xfrm>
            <a:off x="548839" y="3972275"/>
            <a:ext cx="0" cy="23157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0AA19441-9F0B-CE46-B3CA-721FC3912A98}"/>
              </a:ext>
            </a:extLst>
          </p:cNvPr>
          <p:cNvGrpSpPr/>
          <p:nvPr/>
        </p:nvGrpSpPr>
        <p:grpSpPr>
          <a:xfrm>
            <a:off x="386055" y="430918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a:extLst>
              <a:ext uri="{FF2B5EF4-FFF2-40B4-BE49-F238E27FC236}">
                <a16:creationId xmlns:a16="http://schemas.microsoft.com/office/drawing/2014/main" id="{5F30184A-3589-EF43-9751-369C63FD12C1}"/>
              </a:ext>
            </a:extLst>
          </p:cNvPr>
          <p:cNvCxnSpPr>
            <a:cxnSpLocks/>
            <a:stCxn id="5" idx="3"/>
          </p:cNvCxnSpPr>
          <p:nvPr/>
        </p:nvCxnSpPr>
        <p:spPr>
          <a:xfrm>
            <a:off x="1930640" y="3463537"/>
            <a:ext cx="569279"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64ED600-0B00-3142-A433-E4CA023DEC0E}"/>
              </a:ext>
            </a:extLst>
          </p:cNvPr>
          <p:cNvCxnSpPr>
            <a:cxnSpLocks/>
            <a:endCxn id="6" idx="3"/>
          </p:cNvCxnSpPr>
          <p:nvPr/>
        </p:nvCxnSpPr>
        <p:spPr>
          <a:xfrm flipH="1">
            <a:off x="656791" y="3839192"/>
            <a:ext cx="721977" cy="1063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5DEE531C-A1F7-7542-A7C2-EEFB2A30F85C}"/>
              </a:ext>
            </a:extLst>
          </p:cNvPr>
          <p:cNvCxnSpPr>
            <a:cxnSpLocks/>
            <a:stCxn id="6" idx="0"/>
            <a:endCxn id="5" idx="1"/>
          </p:cNvCxnSpPr>
          <p:nvPr/>
        </p:nvCxnSpPr>
        <p:spPr>
          <a:xfrm rot="5400000" flipH="1" flipV="1">
            <a:off x="698174" y="3314202"/>
            <a:ext cx="263838" cy="56250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3055721" cy="646331"/>
          </a:xfrm>
          <a:prstGeom prst="rect">
            <a:avLst/>
          </a:prstGeom>
          <a:noFill/>
        </p:spPr>
        <p:txBody>
          <a:bodyPr wrap="square" rtlCol="0">
            <a:spAutoFit/>
          </a:bodyPr>
          <a:lstStyle/>
          <a:p>
            <a:r>
              <a:rPr lang="en-US" dirty="0"/>
              <a:t>Small UF for end-to-end daily concentration</a:t>
            </a:r>
          </a:p>
        </p:txBody>
      </p:sp>
      <p:sp>
        <p:nvSpPr>
          <p:cNvPr id="54" name="TextBox 53">
            <a:extLst>
              <a:ext uri="{FF2B5EF4-FFF2-40B4-BE49-F238E27FC236}">
                <a16:creationId xmlns:a16="http://schemas.microsoft.com/office/drawing/2014/main" id="{BB45CC8D-ADD5-2149-AE53-D95ECD87BF71}"/>
              </a:ext>
            </a:extLst>
          </p:cNvPr>
          <p:cNvSpPr txBox="1"/>
          <p:nvPr/>
        </p:nvSpPr>
        <p:spPr>
          <a:xfrm>
            <a:off x="3297220" y="4669010"/>
            <a:ext cx="3055721" cy="369332"/>
          </a:xfrm>
          <a:prstGeom prst="rect">
            <a:avLst/>
          </a:prstGeom>
          <a:noFill/>
        </p:spPr>
        <p:txBody>
          <a:bodyPr wrap="square" rtlCol="0">
            <a:spAutoFit/>
          </a:bodyPr>
          <a:lstStyle/>
          <a:p>
            <a:r>
              <a:rPr lang="en-US" dirty="0"/>
              <a:t>Large system for batch DF</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247644" y="219203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a:off x="3336294" y="2982206"/>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0" name="Group 69">
            <a:extLst>
              <a:ext uri="{FF2B5EF4-FFF2-40B4-BE49-F238E27FC236}">
                <a16:creationId xmlns:a16="http://schemas.microsoft.com/office/drawing/2014/main" id="{B7CE3641-1FE2-DC4C-8011-569CF5A4A425}"/>
              </a:ext>
            </a:extLst>
          </p:cNvPr>
          <p:cNvGrpSpPr/>
          <p:nvPr/>
        </p:nvGrpSpPr>
        <p:grpSpPr>
          <a:xfrm>
            <a:off x="6246020" y="2915502"/>
            <a:ext cx="215904" cy="244900"/>
            <a:chOff x="5475212" y="3011672"/>
            <a:chExt cx="1012728" cy="1137683"/>
          </a:xfrm>
        </p:grpSpPr>
        <p:sp>
          <p:nvSpPr>
            <p:cNvPr id="71" name="Rectangle 70">
              <a:extLst>
                <a:ext uri="{FF2B5EF4-FFF2-40B4-BE49-F238E27FC236}">
                  <a16:creationId xmlns:a16="http://schemas.microsoft.com/office/drawing/2014/main" id="{BA11C07E-85FA-5C46-88D7-3694343B3A5B}"/>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D45D86E7-CA35-524E-808D-AB7A4911F71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6" name="Group 75">
            <a:extLst>
              <a:ext uri="{FF2B5EF4-FFF2-40B4-BE49-F238E27FC236}">
                <a16:creationId xmlns:a16="http://schemas.microsoft.com/office/drawing/2014/main" id="{F9D212B1-D636-D74F-9EC8-4B3E609FBAC4}"/>
              </a:ext>
            </a:extLst>
          </p:cNvPr>
          <p:cNvGrpSpPr/>
          <p:nvPr/>
        </p:nvGrpSpPr>
        <p:grpSpPr>
          <a:xfrm>
            <a:off x="6243957" y="3368576"/>
            <a:ext cx="217967" cy="281762"/>
            <a:chOff x="1578937" y="3827721"/>
            <a:chExt cx="217967" cy="281762"/>
          </a:xfrm>
        </p:grpSpPr>
        <p:sp>
          <p:nvSpPr>
            <p:cNvPr id="77" name="Oval 76">
              <a:extLst>
                <a:ext uri="{FF2B5EF4-FFF2-40B4-BE49-F238E27FC236}">
                  <a16:creationId xmlns:a16="http://schemas.microsoft.com/office/drawing/2014/main" id="{00E5340E-4619-0D42-807E-C78C0849A8D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Triangle 77">
              <a:extLst>
                <a:ext uri="{FF2B5EF4-FFF2-40B4-BE49-F238E27FC236}">
                  <a16:creationId xmlns:a16="http://schemas.microsoft.com/office/drawing/2014/main" id="{B0FF98FB-F0B1-D344-BCCD-5CCD69C5DB5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46F3DAE9-1EE2-894E-A271-451B4C9F627D}"/>
              </a:ext>
            </a:extLst>
          </p:cNvPr>
          <p:cNvGrpSpPr/>
          <p:nvPr/>
        </p:nvGrpSpPr>
        <p:grpSpPr>
          <a:xfrm>
            <a:off x="3332367" y="3401298"/>
            <a:ext cx="217967" cy="281762"/>
            <a:chOff x="1578937" y="3827721"/>
            <a:chExt cx="217967" cy="281762"/>
          </a:xfrm>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227524" y="303795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stCxn id="62" idx="0"/>
            <a:endCxn id="88" idx="0"/>
          </p:cNvCxnSpPr>
          <p:nvPr/>
        </p:nvCxnSpPr>
        <p:spPr>
          <a:xfrm rot="16200000" flipH="1" flipV="1">
            <a:off x="3012835" y="2606541"/>
            <a:ext cx="55746" cy="807076"/>
          </a:xfrm>
          <a:prstGeom prst="bentConnector3">
            <a:avLst>
              <a:gd name="adj1" fmla="val -410074"/>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C2BF262-23D8-9C4A-BB8B-B5593E2BF546}"/>
              </a:ext>
            </a:extLst>
          </p:cNvPr>
          <p:cNvCxnSpPr>
            <a:stCxn id="88" idx="3"/>
            <a:endCxn id="80" idx="2"/>
          </p:cNvCxnSpPr>
          <p:nvPr/>
        </p:nvCxnSpPr>
        <p:spPr>
          <a:xfrm>
            <a:off x="3046816" y="3482475"/>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9E60F90-07B0-2C46-8652-10E8648006F6}"/>
              </a:ext>
            </a:extLst>
          </p:cNvPr>
          <p:cNvCxnSpPr>
            <a:cxnSpLocks/>
            <a:stCxn id="80" idx="0"/>
            <a:endCxn id="62" idx="2"/>
          </p:cNvCxnSpPr>
          <p:nvPr/>
        </p:nvCxnSpPr>
        <p:spPr>
          <a:xfrm flipV="1">
            <a:off x="3441351" y="3227106"/>
            <a:ext cx="2895" cy="17419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401383" y="148027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Final DS tank</a:t>
            </a:r>
          </a:p>
        </p:txBody>
      </p:sp>
      <p:cxnSp>
        <p:nvCxnSpPr>
          <p:cNvPr id="89" name="Straight Arrow Connector 88">
            <a:extLst>
              <a:ext uri="{FF2B5EF4-FFF2-40B4-BE49-F238E27FC236}">
                <a16:creationId xmlns:a16="http://schemas.microsoft.com/office/drawing/2014/main" id="{4B3C5BBB-81F5-5A42-96AA-DE8AD77B9FF4}"/>
              </a:ext>
            </a:extLst>
          </p:cNvPr>
          <p:cNvCxnSpPr>
            <a:cxnSpLocks/>
          </p:cNvCxnSpPr>
          <p:nvPr/>
        </p:nvCxnSpPr>
        <p:spPr>
          <a:xfrm>
            <a:off x="3580591" y="3353360"/>
            <a:ext cx="820792"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90" name="Group 89">
            <a:extLst>
              <a:ext uri="{FF2B5EF4-FFF2-40B4-BE49-F238E27FC236}">
                <a16:creationId xmlns:a16="http://schemas.microsoft.com/office/drawing/2014/main" id="{7E097F75-E0EA-ED46-8E88-987853E75423}"/>
              </a:ext>
            </a:extLst>
          </p:cNvPr>
          <p:cNvGrpSpPr/>
          <p:nvPr/>
        </p:nvGrpSpPr>
        <p:grpSpPr>
          <a:xfrm>
            <a:off x="1962397" y="3514435"/>
            <a:ext cx="217967" cy="281762"/>
            <a:chOff x="1578937" y="3827721"/>
            <a:chExt cx="217967" cy="281762"/>
          </a:xfrm>
        </p:grpSpPr>
        <p:sp>
          <p:nvSpPr>
            <p:cNvPr id="91" name="Oval 90">
              <a:extLst>
                <a:ext uri="{FF2B5EF4-FFF2-40B4-BE49-F238E27FC236}">
                  <a16:creationId xmlns:a16="http://schemas.microsoft.com/office/drawing/2014/main" id="{0FE71CC6-A3E5-8E40-9D81-52301ECFABB6}"/>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Triangle 91">
              <a:extLst>
                <a:ext uri="{FF2B5EF4-FFF2-40B4-BE49-F238E27FC236}">
                  <a16:creationId xmlns:a16="http://schemas.microsoft.com/office/drawing/2014/main" id="{CF6A20D6-8C00-DA46-B132-AB8DC9878E21}"/>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425739" y="228241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cxnSpLocks/>
            <a:endCxn id="56" idx="0"/>
          </p:cNvCxnSpPr>
          <p:nvPr/>
        </p:nvCxnSpPr>
        <p:spPr>
          <a:xfrm>
            <a:off x="2356628" y="1937974"/>
            <a:ext cx="0" cy="25406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FCD2048-4FF3-7940-91CE-F9266324E7FB}"/>
              </a:ext>
            </a:extLst>
          </p:cNvPr>
          <p:cNvCxnSpPr>
            <a:endCxn id="5" idx="0"/>
          </p:cNvCxnSpPr>
          <p:nvPr/>
        </p:nvCxnSpPr>
        <p:spPr>
          <a:xfrm>
            <a:off x="1502797" y="2372790"/>
            <a:ext cx="18197" cy="64622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745E6B8D-C48B-344A-A13B-4C1EB5EAE796}"/>
              </a:ext>
            </a:extLst>
          </p:cNvPr>
          <p:cNvSpPr txBox="1"/>
          <p:nvPr/>
        </p:nvSpPr>
        <p:spPr>
          <a:xfrm>
            <a:off x="550031" y="1680001"/>
            <a:ext cx="1450064" cy="923330"/>
          </a:xfrm>
          <a:prstGeom prst="rect">
            <a:avLst/>
          </a:prstGeom>
          <a:noFill/>
        </p:spPr>
        <p:txBody>
          <a:bodyPr wrap="square" rtlCol="0">
            <a:spAutoFit/>
          </a:bodyPr>
          <a:lstStyle/>
          <a:p>
            <a:r>
              <a:rPr lang="en-US" dirty="0"/>
              <a:t>Cont. stream from VRF</a:t>
            </a:r>
          </a:p>
        </p:txBody>
      </p:sp>
    </p:spTree>
    <p:extLst>
      <p:ext uri="{BB962C8B-B14F-4D97-AF65-F5344CB8AC3E}">
        <p14:creationId xmlns:p14="http://schemas.microsoft.com/office/powerpoint/2010/main" val="3069238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17</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Two Column Skid</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369332"/>
          </a:xfrm>
          <a:prstGeom prst="rect">
            <a:avLst/>
          </a:prstGeom>
          <a:noFill/>
        </p:spPr>
        <p:txBody>
          <a:bodyPr wrap="square" rtlCol="0">
            <a:spAutoFit/>
          </a:bodyPr>
          <a:lstStyle/>
          <a:p>
            <a:pPr algn="ctr"/>
            <a:r>
              <a:rPr lang="en-US" dirty="0"/>
              <a:t>Water</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5" y="2307542"/>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741789" y="551229"/>
            <a:ext cx="697627" cy="369332"/>
          </a:xfrm>
          <a:prstGeom prst="rect">
            <a:avLst/>
          </a:prstGeom>
          <a:noFill/>
        </p:spPr>
        <p:txBody>
          <a:bodyPr wrap="none" rtlCol="0">
            <a:spAutoFit/>
          </a:bodyPr>
          <a:lstStyle/>
          <a:p>
            <a:pPr algn="ctr"/>
            <a:r>
              <a:rPr lang="en-US" dirty="0"/>
              <a:t>Load</a:t>
            </a:r>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0" y="648000"/>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29"/>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6"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8" y="1996434"/>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1"/>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071330"/>
            <a:ext cx="284772" cy="925104"/>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59"/>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7"/>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551929" y="1170525"/>
            <a:ext cx="1512539" cy="369332"/>
          </a:xfrm>
          <a:prstGeom prst="rect">
            <a:avLst/>
          </a:prstGeom>
          <a:noFill/>
        </p:spPr>
        <p:txBody>
          <a:bodyPr wrap="square" rtlCol="0">
            <a:spAutoFit/>
          </a:bodyPr>
          <a:lstStyle/>
          <a:p>
            <a:pPr algn="ctr"/>
            <a:r>
              <a:rPr lang="en-US" dirty="0"/>
              <a:t>Solutions</a:t>
            </a:r>
          </a:p>
        </p:txBody>
      </p:sp>
    </p:spTree>
    <p:extLst>
      <p:ext uri="{BB962C8B-B14F-4D97-AF65-F5344CB8AC3E}">
        <p14:creationId xmlns:p14="http://schemas.microsoft.com/office/powerpoint/2010/main" val="3109886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Skid complexity is low for one or two columns; significantly higher for &gt;3</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7176"/>
            <a:ext cx="9145191"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C7B6AEBB-D098-465C-AA11-6353D6FD00B8}"/>
              </a:ext>
            </a:extLst>
          </p:cNvPr>
          <p:cNvSpPr txBox="1"/>
          <p:nvPr/>
        </p:nvSpPr>
        <p:spPr>
          <a:xfrm>
            <a:off x="1204686" y="4630168"/>
            <a:ext cx="6553200" cy="369332"/>
          </a:xfrm>
          <a:prstGeom prst="rect">
            <a:avLst/>
          </a:prstGeom>
          <a:noFill/>
        </p:spPr>
        <p:txBody>
          <a:bodyPr wrap="square" rtlCol="0">
            <a:spAutoFit/>
          </a:bodyPr>
          <a:lstStyle/>
          <a:p>
            <a:r>
              <a:rPr lang="en-US" dirty="0"/>
              <a:t>The Entry Level Version of NGM is Two Columns</a:t>
            </a:r>
          </a:p>
        </p:txBody>
      </p:sp>
    </p:spTree>
    <p:extLst>
      <p:ext uri="{BB962C8B-B14F-4D97-AF65-F5344CB8AC3E}">
        <p14:creationId xmlns:p14="http://schemas.microsoft.com/office/powerpoint/2010/main" val="134740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279317-EC92-BC41-BE68-4EEF909749CC}"/>
              </a:ext>
            </a:extLst>
          </p:cNvPr>
          <p:cNvSpPr>
            <a:spLocks noGrp="1"/>
          </p:cNvSpPr>
          <p:nvPr>
            <p:ph type="sldNum" sz="quarter" idx="4"/>
          </p:nvPr>
        </p:nvSpPr>
        <p:spPr/>
        <p:txBody>
          <a:bodyPr/>
          <a:lstStyle/>
          <a:p>
            <a:fld id="{3C4F54F3-C349-4609-AFEE-01462D5C7942}" type="slidenum">
              <a:rPr lang="en-GB" smtClean="0"/>
              <a:pPr/>
              <a:t>19</a:t>
            </a:fld>
            <a:endParaRPr lang="en-GB"/>
          </a:p>
        </p:txBody>
      </p:sp>
      <p:sp>
        <p:nvSpPr>
          <p:cNvPr id="3" name="Title 2">
            <a:extLst>
              <a:ext uri="{FF2B5EF4-FFF2-40B4-BE49-F238E27FC236}">
                <a16:creationId xmlns:a16="http://schemas.microsoft.com/office/drawing/2014/main" id="{6247929E-5976-7F4A-86A1-36EAD8BAD4E7}"/>
              </a:ext>
            </a:extLst>
          </p:cNvPr>
          <p:cNvSpPr>
            <a:spLocks noGrp="1"/>
          </p:cNvSpPr>
          <p:nvPr>
            <p:ph type="title"/>
          </p:nvPr>
        </p:nvSpPr>
        <p:spPr/>
        <p:txBody>
          <a:bodyPr/>
          <a:lstStyle/>
          <a:p>
            <a:r>
              <a:rPr lang="en-US" dirty="0"/>
              <a:t>Figures and tables for Design Basis for Common Framework</a:t>
            </a:r>
          </a:p>
        </p:txBody>
      </p:sp>
    </p:spTree>
    <p:extLst>
      <p:ext uri="{BB962C8B-B14F-4D97-AF65-F5344CB8AC3E}">
        <p14:creationId xmlns:p14="http://schemas.microsoft.com/office/powerpoint/2010/main" val="4244357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39D91-F4C8-4960-A9F1-B227A2FC5251}"/>
              </a:ext>
            </a:extLst>
          </p:cNvPr>
          <p:cNvSpPr>
            <a:spLocks noGrp="1"/>
          </p:cNvSpPr>
          <p:nvPr>
            <p:ph type="sldNum" sz="quarter" idx="4"/>
          </p:nvPr>
        </p:nvSpPr>
        <p:spPr>
          <a:xfrm>
            <a:off x="273529" y="4665178"/>
            <a:ext cx="396000" cy="162000"/>
          </a:xfrm>
        </p:spPr>
        <p:txBody>
          <a:bodyPr/>
          <a:lstStyle/>
          <a:p>
            <a:fld id="{3C4F54F3-C349-4609-AFEE-01462D5C7942}" type="slidenum">
              <a:rPr lang="en-GB" smtClean="0"/>
              <a:pPr/>
              <a:t>20</a:t>
            </a:fld>
            <a:endParaRPr lang="en-GB"/>
          </a:p>
        </p:txBody>
      </p:sp>
      <p:sp>
        <p:nvSpPr>
          <p:cNvPr id="3" name="Title 2">
            <a:extLst>
              <a:ext uri="{FF2B5EF4-FFF2-40B4-BE49-F238E27FC236}">
                <a16:creationId xmlns:a16="http://schemas.microsoft.com/office/drawing/2014/main" id="{5ED5F057-2340-4553-9FBF-42E9A8F5F551}"/>
              </a:ext>
            </a:extLst>
          </p:cNvPr>
          <p:cNvSpPr>
            <a:spLocks noGrp="1"/>
          </p:cNvSpPr>
          <p:nvPr>
            <p:ph type="title"/>
          </p:nvPr>
        </p:nvSpPr>
        <p:spPr>
          <a:xfrm>
            <a:off x="237062" y="80384"/>
            <a:ext cx="8765651" cy="504000"/>
          </a:xfrm>
        </p:spPr>
        <p:txBody>
          <a:bodyPr/>
          <a:lstStyle/>
          <a:p>
            <a:r>
              <a:rPr lang="en-US" dirty="0"/>
              <a:t>Design basis for ICB for 0.5-20kg/day </a:t>
            </a:r>
          </a:p>
        </p:txBody>
      </p:sp>
      <p:graphicFrame>
        <p:nvGraphicFramePr>
          <p:cNvPr id="21" name="Diagram 20">
            <a:extLst>
              <a:ext uri="{FF2B5EF4-FFF2-40B4-BE49-F238E27FC236}">
                <a16:creationId xmlns:a16="http://schemas.microsoft.com/office/drawing/2014/main" id="{CB7AED5B-674F-904E-AC78-1345D7108333}"/>
              </a:ext>
            </a:extLst>
          </p:cNvPr>
          <p:cNvGraphicFramePr/>
          <p:nvPr>
            <p:custDataLst>
              <p:tags r:id="rId1"/>
            </p:custDataLst>
            <p:extLst>
              <p:ext uri="{D42A27DB-BD31-4B8C-83A1-F6EECF244321}">
                <p14:modId xmlns:p14="http://schemas.microsoft.com/office/powerpoint/2010/main" val="1156249000"/>
              </p:ext>
            </p:extLst>
          </p:nvPr>
        </p:nvGraphicFramePr>
        <p:xfrm>
          <a:off x="3545784" y="813234"/>
          <a:ext cx="1485581"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D7F5F8E2-E5D6-F144-A27B-4C758FCC6725}"/>
              </a:ext>
            </a:extLst>
          </p:cNvPr>
          <p:cNvSpPr txBox="1"/>
          <p:nvPr/>
        </p:nvSpPr>
        <p:spPr>
          <a:xfrm>
            <a:off x="2255036" y="1718984"/>
            <a:ext cx="1188365" cy="307777"/>
          </a:xfrm>
          <a:prstGeom prst="rect">
            <a:avLst/>
          </a:prstGeom>
          <a:noFill/>
        </p:spPr>
        <p:txBody>
          <a:bodyPr wrap="square" rtlCol="0">
            <a:spAutoFit/>
          </a:bodyPr>
          <a:lstStyle/>
          <a:p>
            <a:pPr algn="ctr"/>
            <a:r>
              <a:rPr lang="en-US" sz="1400" dirty="0"/>
              <a:t>&gt;500L surge</a:t>
            </a:r>
          </a:p>
        </p:txBody>
      </p:sp>
      <p:sp>
        <p:nvSpPr>
          <p:cNvPr id="29" name="TextBox 28">
            <a:extLst>
              <a:ext uri="{FF2B5EF4-FFF2-40B4-BE49-F238E27FC236}">
                <a16:creationId xmlns:a16="http://schemas.microsoft.com/office/drawing/2014/main" id="{4CF10644-113C-554C-B9E5-2E7C0803641D}"/>
              </a:ext>
            </a:extLst>
          </p:cNvPr>
          <p:cNvSpPr txBox="1"/>
          <p:nvPr/>
        </p:nvSpPr>
        <p:spPr>
          <a:xfrm>
            <a:off x="2127431" y="1949786"/>
            <a:ext cx="1308144" cy="523220"/>
          </a:xfrm>
          <a:prstGeom prst="rect">
            <a:avLst/>
          </a:prstGeom>
          <a:noFill/>
        </p:spPr>
        <p:txBody>
          <a:bodyPr wrap="square" rtlCol="0">
            <a:spAutoFit/>
          </a:bodyPr>
          <a:lstStyle/>
          <a:p>
            <a:pPr algn="ctr"/>
            <a:r>
              <a:rPr lang="en-US" sz="1400" dirty="0"/>
              <a:t>3L-20L</a:t>
            </a:r>
          </a:p>
          <a:p>
            <a:pPr algn="ctr"/>
            <a:r>
              <a:rPr lang="en-US" sz="1400" dirty="0"/>
              <a:t>0.1 to 5LPM</a:t>
            </a:r>
          </a:p>
        </p:txBody>
      </p:sp>
      <p:sp>
        <p:nvSpPr>
          <p:cNvPr id="30" name="TextBox 29">
            <a:extLst>
              <a:ext uri="{FF2B5EF4-FFF2-40B4-BE49-F238E27FC236}">
                <a16:creationId xmlns:a16="http://schemas.microsoft.com/office/drawing/2014/main" id="{CD713AD4-2B30-8044-AEAC-3B240A16F7FA}"/>
              </a:ext>
            </a:extLst>
          </p:cNvPr>
          <p:cNvSpPr txBox="1"/>
          <p:nvPr/>
        </p:nvSpPr>
        <p:spPr>
          <a:xfrm>
            <a:off x="1718957" y="551624"/>
            <a:ext cx="1933803" cy="523220"/>
          </a:xfrm>
          <a:prstGeom prst="rect">
            <a:avLst/>
          </a:prstGeom>
          <a:noFill/>
        </p:spPr>
        <p:txBody>
          <a:bodyPr wrap="square" rtlCol="0">
            <a:spAutoFit/>
          </a:bodyPr>
          <a:lstStyle/>
          <a:p>
            <a:pPr algn="ctr"/>
            <a:r>
              <a:rPr lang="en-US" sz="1400" u="sng" dirty="0"/>
              <a:t>One-Column Retrofit</a:t>
            </a:r>
          </a:p>
          <a:p>
            <a:pPr algn="ctr"/>
            <a:r>
              <a:rPr lang="en-US" sz="1400" dirty="0"/>
              <a:t>0.5kg-10kg/day</a:t>
            </a:r>
          </a:p>
        </p:txBody>
      </p:sp>
      <p:sp>
        <p:nvSpPr>
          <p:cNvPr id="31" name="TextBox 30">
            <a:extLst>
              <a:ext uri="{FF2B5EF4-FFF2-40B4-BE49-F238E27FC236}">
                <a16:creationId xmlns:a16="http://schemas.microsoft.com/office/drawing/2014/main" id="{A057F73B-E58C-D34B-B32F-BF7A50D05489}"/>
              </a:ext>
            </a:extLst>
          </p:cNvPr>
          <p:cNvSpPr txBox="1"/>
          <p:nvPr/>
        </p:nvSpPr>
        <p:spPr>
          <a:xfrm>
            <a:off x="2127431" y="3007553"/>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2" name="TextBox 31">
            <a:extLst>
              <a:ext uri="{FF2B5EF4-FFF2-40B4-BE49-F238E27FC236}">
                <a16:creationId xmlns:a16="http://schemas.microsoft.com/office/drawing/2014/main" id="{2AFC852E-6EC0-A04F-A727-3EC3A2860868}"/>
              </a:ext>
            </a:extLst>
          </p:cNvPr>
          <p:cNvSpPr txBox="1"/>
          <p:nvPr/>
        </p:nvSpPr>
        <p:spPr>
          <a:xfrm>
            <a:off x="2149725" y="3611415"/>
            <a:ext cx="1308144" cy="523220"/>
          </a:xfrm>
          <a:prstGeom prst="rect">
            <a:avLst/>
          </a:prstGeom>
          <a:noFill/>
        </p:spPr>
        <p:txBody>
          <a:bodyPr wrap="square" rtlCol="0">
            <a:spAutoFit/>
          </a:bodyPr>
          <a:lstStyle/>
          <a:p>
            <a:pPr algn="ctr"/>
            <a:r>
              <a:rPr lang="en-US" sz="1400" dirty="0"/>
              <a:t>1L-10L</a:t>
            </a:r>
          </a:p>
          <a:p>
            <a:pPr algn="ctr"/>
            <a:r>
              <a:rPr lang="en-US" sz="1400" dirty="0"/>
              <a:t>0.1 to 3LPM</a:t>
            </a:r>
          </a:p>
        </p:txBody>
      </p:sp>
      <p:sp>
        <p:nvSpPr>
          <p:cNvPr id="33" name="TextBox 32">
            <a:extLst>
              <a:ext uri="{FF2B5EF4-FFF2-40B4-BE49-F238E27FC236}">
                <a16:creationId xmlns:a16="http://schemas.microsoft.com/office/drawing/2014/main" id="{B2DF1DD8-3D87-234D-9914-C948DFEDCBD5}"/>
              </a:ext>
            </a:extLst>
          </p:cNvPr>
          <p:cNvSpPr txBox="1"/>
          <p:nvPr/>
        </p:nvSpPr>
        <p:spPr>
          <a:xfrm>
            <a:off x="2131343" y="4102535"/>
            <a:ext cx="1308144" cy="523220"/>
          </a:xfrm>
          <a:prstGeom prst="rect">
            <a:avLst/>
          </a:prstGeom>
          <a:noFill/>
        </p:spPr>
        <p:txBody>
          <a:bodyPr wrap="square" rtlCol="0">
            <a:spAutoFit/>
          </a:bodyPr>
          <a:lstStyle/>
          <a:p>
            <a:pPr algn="ctr"/>
            <a:r>
              <a:rPr lang="en-US" sz="1400" dirty="0"/>
              <a:t>0.3-5m</a:t>
            </a:r>
            <a:r>
              <a:rPr lang="en-US" sz="1400" baseline="30000" dirty="0"/>
              <a:t>2</a:t>
            </a:r>
            <a:endParaRPr lang="en-US" sz="1400" dirty="0"/>
          </a:p>
          <a:p>
            <a:pPr algn="ctr"/>
            <a:r>
              <a:rPr lang="en-US" sz="1400" dirty="0"/>
              <a:t>1 to 10LPM</a:t>
            </a:r>
          </a:p>
        </p:txBody>
      </p:sp>
      <p:sp>
        <p:nvSpPr>
          <p:cNvPr id="34" name="TextBox 33">
            <a:extLst>
              <a:ext uri="{FF2B5EF4-FFF2-40B4-BE49-F238E27FC236}">
                <a16:creationId xmlns:a16="http://schemas.microsoft.com/office/drawing/2014/main" id="{4E74177D-C74C-2A4F-B09C-BF89290F458E}"/>
              </a:ext>
            </a:extLst>
          </p:cNvPr>
          <p:cNvSpPr txBox="1"/>
          <p:nvPr/>
        </p:nvSpPr>
        <p:spPr>
          <a:xfrm>
            <a:off x="1576739" y="4667782"/>
            <a:ext cx="2048991" cy="523220"/>
          </a:xfrm>
          <a:prstGeom prst="rect">
            <a:avLst/>
          </a:prstGeom>
          <a:noFill/>
        </p:spPr>
        <p:txBody>
          <a:bodyPr wrap="square" rtlCol="0">
            <a:spAutoFit/>
          </a:bodyPr>
          <a:lstStyle/>
          <a:p>
            <a:pPr algn="ctr"/>
            <a:r>
              <a:rPr lang="en-US" sz="1400" dirty="0"/>
              <a:t>5-13m</a:t>
            </a:r>
            <a:r>
              <a:rPr lang="en-US" sz="1400" baseline="30000" dirty="0"/>
              <a:t>2</a:t>
            </a:r>
            <a:endParaRPr lang="en-US" sz="1400" dirty="0"/>
          </a:p>
          <a:p>
            <a:pPr algn="ctr"/>
            <a:r>
              <a:rPr lang="en-US" sz="1400" dirty="0"/>
              <a:t>Cross Flow 30-80LPM</a:t>
            </a:r>
          </a:p>
        </p:txBody>
      </p:sp>
      <p:sp>
        <p:nvSpPr>
          <p:cNvPr id="35" name="TextBox 34">
            <a:extLst>
              <a:ext uri="{FF2B5EF4-FFF2-40B4-BE49-F238E27FC236}">
                <a16:creationId xmlns:a16="http://schemas.microsoft.com/office/drawing/2014/main" id="{5C83EA7D-199F-8D44-8CBC-7D61C725A702}"/>
              </a:ext>
            </a:extLst>
          </p:cNvPr>
          <p:cNvSpPr txBox="1"/>
          <p:nvPr/>
        </p:nvSpPr>
        <p:spPr>
          <a:xfrm>
            <a:off x="4960927" y="538037"/>
            <a:ext cx="1933803" cy="523220"/>
          </a:xfrm>
          <a:prstGeom prst="rect">
            <a:avLst/>
          </a:prstGeom>
          <a:noFill/>
        </p:spPr>
        <p:txBody>
          <a:bodyPr wrap="square" rtlCol="0">
            <a:spAutoFit/>
          </a:bodyPr>
          <a:lstStyle/>
          <a:p>
            <a:pPr algn="ctr"/>
            <a:r>
              <a:rPr lang="en-US" sz="1400" u="sng" dirty="0"/>
              <a:t>Two Column</a:t>
            </a:r>
          </a:p>
          <a:p>
            <a:pPr algn="ctr"/>
            <a:r>
              <a:rPr lang="en-US" sz="1400" dirty="0"/>
              <a:t>0.5kg-20kg/day</a:t>
            </a:r>
          </a:p>
        </p:txBody>
      </p:sp>
      <p:sp>
        <p:nvSpPr>
          <p:cNvPr id="37" name="TextBox 36">
            <a:extLst>
              <a:ext uri="{FF2B5EF4-FFF2-40B4-BE49-F238E27FC236}">
                <a16:creationId xmlns:a16="http://schemas.microsoft.com/office/drawing/2014/main" id="{225FFFB5-CDD3-714A-B4FA-60A73812AC5E}"/>
              </a:ext>
            </a:extLst>
          </p:cNvPr>
          <p:cNvSpPr txBox="1"/>
          <p:nvPr/>
        </p:nvSpPr>
        <p:spPr>
          <a:xfrm>
            <a:off x="5086397" y="1971659"/>
            <a:ext cx="1308144" cy="523220"/>
          </a:xfrm>
          <a:prstGeom prst="rect">
            <a:avLst/>
          </a:prstGeom>
          <a:noFill/>
        </p:spPr>
        <p:txBody>
          <a:bodyPr wrap="square" rtlCol="0">
            <a:spAutoFit/>
          </a:bodyPr>
          <a:lstStyle/>
          <a:p>
            <a:pPr algn="ctr"/>
            <a:r>
              <a:rPr lang="en-US" sz="1400" dirty="0"/>
              <a:t>2L-20L</a:t>
            </a:r>
          </a:p>
          <a:p>
            <a:pPr algn="ctr"/>
            <a:r>
              <a:rPr lang="en-US" sz="1400" dirty="0"/>
              <a:t>0.1 to 5LPM</a:t>
            </a:r>
          </a:p>
        </p:txBody>
      </p:sp>
      <p:sp>
        <p:nvSpPr>
          <p:cNvPr id="38" name="TextBox 37">
            <a:extLst>
              <a:ext uri="{FF2B5EF4-FFF2-40B4-BE49-F238E27FC236}">
                <a16:creationId xmlns:a16="http://schemas.microsoft.com/office/drawing/2014/main" id="{9E3E1E33-A7E9-F646-9827-1F253445D4E1}"/>
              </a:ext>
            </a:extLst>
          </p:cNvPr>
          <p:cNvSpPr txBox="1"/>
          <p:nvPr/>
        </p:nvSpPr>
        <p:spPr>
          <a:xfrm>
            <a:off x="5193069" y="3084071"/>
            <a:ext cx="1308144" cy="523220"/>
          </a:xfrm>
          <a:prstGeom prst="rect">
            <a:avLst/>
          </a:prstGeom>
          <a:noFill/>
        </p:spPr>
        <p:txBody>
          <a:bodyPr wrap="square" rtlCol="0">
            <a:spAutoFit/>
          </a:bodyPr>
          <a:lstStyle/>
          <a:p>
            <a:pPr algn="ctr"/>
            <a:r>
              <a:rPr lang="en-US" sz="1400" dirty="0"/>
              <a:t>0.3L-10L</a:t>
            </a:r>
          </a:p>
          <a:p>
            <a:pPr algn="ctr"/>
            <a:r>
              <a:rPr lang="en-US" sz="1400" dirty="0"/>
              <a:t>0.1 to 1LPM</a:t>
            </a:r>
          </a:p>
        </p:txBody>
      </p:sp>
      <p:sp>
        <p:nvSpPr>
          <p:cNvPr id="39" name="TextBox 38">
            <a:extLst>
              <a:ext uri="{FF2B5EF4-FFF2-40B4-BE49-F238E27FC236}">
                <a16:creationId xmlns:a16="http://schemas.microsoft.com/office/drawing/2014/main" id="{2504FBB5-C4D0-B647-8F09-F739460C9EF7}"/>
              </a:ext>
            </a:extLst>
          </p:cNvPr>
          <p:cNvSpPr txBox="1"/>
          <p:nvPr/>
        </p:nvSpPr>
        <p:spPr>
          <a:xfrm>
            <a:off x="5193069" y="3653450"/>
            <a:ext cx="1308144" cy="523220"/>
          </a:xfrm>
          <a:prstGeom prst="rect">
            <a:avLst/>
          </a:prstGeom>
          <a:noFill/>
        </p:spPr>
        <p:txBody>
          <a:bodyPr wrap="square" rtlCol="0">
            <a:spAutoFit/>
          </a:bodyPr>
          <a:lstStyle/>
          <a:p>
            <a:pPr algn="ctr"/>
            <a:r>
              <a:rPr lang="en-US" sz="1400" dirty="0"/>
              <a:t>0.5L-20L</a:t>
            </a:r>
          </a:p>
          <a:p>
            <a:pPr algn="ctr"/>
            <a:r>
              <a:rPr lang="en-US" sz="1400" dirty="0"/>
              <a:t>0.1 to 5LPM</a:t>
            </a:r>
          </a:p>
        </p:txBody>
      </p:sp>
      <p:sp>
        <p:nvSpPr>
          <p:cNvPr id="40" name="TextBox 39">
            <a:extLst>
              <a:ext uri="{FF2B5EF4-FFF2-40B4-BE49-F238E27FC236}">
                <a16:creationId xmlns:a16="http://schemas.microsoft.com/office/drawing/2014/main" id="{2C0F6593-C55A-D54E-A4E2-7167A7082FE7}"/>
              </a:ext>
            </a:extLst>
          </p:cNvPr>
          <p:cNvSpPr txBox="1"/>
          <p:nvPr/>
        </p:nvSpPr>
        <p:spPr>
          <a:xfrm>
            <a:off x="5193069" y="4190431"/>
            <a:ext cx="1308144" cy="523220"/>
          </a:xfrm>
          <a:prstGeom prst="rect">
            <a:avLst/>
          </a:prstGeom>
          <a:noFill/>
        </p:spPr>
        <p:txBody>
          <a:bodyPr wrap="square" rtlCol="0">
            <a:spAutoFit/>
          </a:bodyPr>
          <a:lstStyle/>
          <a:p>
            <a:pPr algn="ctr"/>
            <a:r>
              <a:rPr lang="en-US" sz="1400" dirty="0"/>
              <a:t>0.3-5m</a:t>
            </a:r>
            <a:r>
              <a:rPr lang="en-US" sz="1400" baseline="30000" dirty="0"/>
              <a:t>2</a:t>
            </a:r>
            <a:endParaRPr lang="en-US" sz="1400" dirty="0"/>
          </a:p>
          <a:p>
            <a:pPr algn="ctr"/>
            <a:r>
              <a:rPr lang="en-US" sz="1400" dirty="0"/>
              <a:t>1 to 10LPM</a:t>
            </a:r>
          </a:p>
        </p:txBody>
      </p:sp>
      <p:sp>
        <p:nvSpPr>
          <p:cNvPr id="41" name="TextBox 40">
            <a:extLst>
              <a:ext uri="{FF2B5EF4-FFF2-40B4-BE49-F238E27FC236}">
                <a16:creationId xmlns:a16="http://schemas.microsoft.com/office/drawing/2014/main" id="{DC14A7B2-A85F-8E40-8450-7D28452D76E6}"/>
              </a:ext>
            </a:extLst>
          </p:cNvPr>
          <p:cNvSpPr txBox="1"/>
          <p:nvPr/>
        </p:nvSpPr>
        <p:spPr>
          <a:xfrm>
            <a:off x="4907830" y="4679234"/>
            <a:ext cx="2165494" cy="523220"/>
          </a:xfrm>
          <a:prstGeom prst="rect">
            <a:avLst/>
          </a:prstGeom>
          <a:noFill/>
        </p:spPr>
        <p:txBody>
          <a:bodyPr wrap="square" rtlCol="0">
            <a:spAutoFit/>
          </a:bodyPr>
          <a:lstStyle/>
          <a:p>
            <a:pPr algn="ctr"/>
            <a:r>
              <a:rPr lang="en-US" sz="1400" dirty="0"/>
              <a:t>5-13m</a:t>
            </a:r>
            <a:r>
              <a:rPr lang="en-US" sz="1400" baseline="30000" dirty="0"/>
              <a:t>2</a:t>
            </a:r>
            <a:endParaRPr lang="en-US" sz="1400" dirty="0"/>
          </a:p>
          <a:p>
            <a:pPr algn="ctr"/>
            <a:r>
              <a:rPr lang="en-US" sz="1400" dirty="0"/>
              <a:t>Cross Flow 30-80LPM</a:t>
            </a:r>
          </a:p>
        </p:txBody>
      </p:sp>
      <p:sp>
        <p:nvSpPr>
          <p:cNvPr id="42" name="TextBox 41">
            <a:extLst>
              <a:ext uri="{FF2B5EF4-FFF2-40B4-BE49-F238E27FC236}">
                <a16:creationId xmlns:a16="http://schemas.microsoft.com/office/drawing/2014/main" id="{3A589E7C-CB24-A846-9F1C-EEEC848882E8}"/>
              </a:ext>
            </a:extLst>
          </p:cNvPr>
          <p:cNvSpPr txBox="1"/>
          <p:nvPr/>
        </p:nvSpPr>
        <p:spPr>
          <a:xfrm>
            <a:off x="2092720" y="1257220"/>
            <a:ext cx="1377565" cy="523220"/>
          </a:xfrm>
          <a:prstGeom prst="rect">
            <a:avLst/>
          </a:prstGeom>
          <a:noFill/>
        </p:spPr>
        <p:txBody>
          <a:bodyPr wrap="square" rtlCol="0">
            <a:spAutoFit/>
          </a:bodyPr>
          <a:lstStyle/>
          <a:p>
            <a:pPr algn="ctr"/>
            <a:r>
              <a:rPr lang="en-US" sz="1400" dirty="0"/>
              <a:t>4-14m</a:t>
            </a:r>
            <a:r>
              <a:rPr lang="en-US" sz="1400" baseline="30000" dirty="0"/>
              <a:t>2</a:t>
            </a:r>
            <a:endParaRPr lang="en-US" dirty="0"/>
          </a:p>
          <a:p>
            <a:pPr algn="ctr"/>
            <a:r>
              <a:rPr lang="en-US" sz="1400" dirty="0"/>
              <a:t>100-400LPM</a:t>
            </a:r>
          </a:p>
        </p:txBody>
      </p:sp>
      <p:sp>
        <p:nvSpPr>
          <p:cNvPr id="43" name="TextBox 42">
            <a:extLst>
              <a:ext uri="{FF2B5EF4-FFF2-40B4-BE49-F238E27FC236}">
                <a16:creationId xmlns:a16="http://schemas.microsoft.com/office/drawing/2014/main" id="{507FA54B-13EC-3D48-9AFF-5BC7CCE9C387}"/>
              </a:ext>
            </a:extLst>
          </p:cNvPr>
          <p:cNvSpPr txBox="1"/>
          <p:nvPr/>
        </p:nvSpPr>
        <p:spPr>
          <a:xfrm>
            <a:off x="5239045" y="1349652"/>
            <a:ext cx="1377565" cy="523220"/>
          </a:xfrm>
          <a:prstGeom prst="rect">
            <a:avLst/>
          </a:prstGeom>
          <a:noFill/>
        </p:spPr>
        <p:txBody>
          <a:bodyPr wrap="square" rtlCol="0">
            <a:spAutoFit/>
          </a:bodyPr>
          <a:lstStyle/>
          <a:p>
            <a:pPr algn="ctr"/>
            <a:r>
              <a:rPr lang="en-US" sz="1400" dirty="0"/>
              <a:t>4-14m</a:t>
            </a:r>
            <a:r>
              <a:rPr lang="en-US" sz="1400" baseline="30000" dirty="0"/>
              <a:t>2</a:t>
            </a:r>
            <a:endParaRPr lang="en-US" dirty="0"/>
          </a:p>
          <a:p>
            <a:pPr algn="ctr"/>
            <a:r>
              <a:rPr lang="en-US" sz="1400" dirty="0"/>
              <a:t>100-400LPM</a:t>
            </a:r>
          </a:p>
        </p:txBody>
      </p:sp>
      <p:sp>
        <p:nvSpPr>
          <p:cNvPr id="9" name="TextBox 8">
            <a:extLst>
              <a:ext uri="{FF2B5EF4-FFF2-40B4-BE49-F238E27FC236}">
                <a16:creationId xmlns:a16="http://schemas.microsoft.com/office/drawing/2014/main" id="{5A74F023-FF0A-0C4F-BE47-2AB63412CF05}"/>
              </a:ext>
            </a:extLst>
          </p:cNvPr>
          <p:cNvSpPr txBox="1"/>
          <p:nvPr/>
        </p:nvSpPr>
        <p:spPr>
          <a:xfrm>
            <a:off x="6993296" y="579744"/>
            <a:ext cx="2137022" cy="1477328"/>
          </a:xfrm>
          <a:prstGeom prst="rect">
            <a:avLst/>
          </a:prstGeom>
          <a:noFill/>
        </p:spPr>
        <p:txBody>
          <a:bodyPr wrap="square" rtlCol="0">
            <a:spAutoFit/>
          </a:bodyPr>
          <a:lstStyle/>
          <a:p>
            <a:pPr marL="285750" indent="-285750">
              <a:buFont typeface="Arial" panose="020B0604020202020204" pitchFamily="34" charset="0"/>
              <a:buChar char="•"/>
            </a:pPr>
            <a:r>
              <a:rPr lang="en-US" dirty="0" err="1"/>
              <a:t>mAb</a:t>
            </a:r>
            <a:endParaRPr lang="en-US" dirty="0"/>
          </a:p>
          <a:p>
            <a:pPr marL="285750" indent="-285750">
              <a:buFont typeface="Arial" panose="020B0604020202020204" pitchFamily="34" charset="0"/>
              <a:buChar char="•"/>
            </a:pPr>
            <a:r>
              <a:rPr lang="en-US" dirty="0"/>
              <a:t>Bi-specific</a:t>
            </a:r>
          </a:p>
          <a:p>
            <a:pPr marL="285750" indent="-285750">
              <a:buFont typeface="Arial" panose="020B0604020202020204" pitchFamily="34" charset="0"/>
              <a:buChar char="•"/>
            </a:pPr>
            <a:r>
              <a:rPr lang="en-US" dirty="0"/>
              <a:t>Fc-Fusion</a:t>
            </a:r>
          </a:p>
          <a:p>
            <a:pPr marL="285750" indent="-285750">
              <a:buFont typeface="Arial" panose="020B0604020202020204" pitchFamily="34" charset="0"/>
              <a:buChar char="•"/>
            </a:pPr>
            <a:r>
              <a:rPr lang="en-US" dirty="0"/>
              <a:t>Enzymes</a:t>
            </a:r>
          </a:p>
          <a:p>
            <a:pPr marL="285750" indent="-285750">
              <a:buFont typeface="Arial" panose="020B0604020202020204" pitchFamily="34" charset="0"/>
              <a:buChar char="•"/>
            </a:pPr>
            <a:r>
              <a:rPr lang="en-US" dirty="0" err="1"/>
              <a:t>rProtein</a:t>
            </a:r>
            <a:endParaRPr lang="en-US" dirty="0"/>
          </a:p>
        </p:txBody>
      </p:sp>
      <p:sp>
        <p:nvSpPr>
          <p:cNvPr id="45" name="TextBox 44">
            <a:extLst>
              <a:ext uri="{FF2B5EF4-FFF2-40B4-BE49-F238E27FC236}">
                <a16:creationId xmlns:a16="http://schemas.microsoft.com/office/drawing/2014/main" id="{4064F8FD-800A-5C46-86EE-612DBF38182E}"/>
              </a:ext>
            </a:extLst>
          </p:cNvPr>
          <p:cNvSpPr txBox="1"/>
          <p:nvPr/>
        </p:nvSpPr>
        <p:spPr>
          <a:xfrm>
            <a:off x="6781677" y="3251408"/>
            <a:ext cx="2362323" cy="1754326"/>
          </a:xfrm>
          <a:prstGeom prst="rect">
            <a:avLst/>
          </a:prstGeom>
          <a:noFill/>
        </p:spPr>
        <p:txBody>
          <a:bodyPr wrap="square" rtlCol="0">
            <a:spAutoFit/>
          </a:bodyPr>
          <a:lstStyle/>
          <a:p>
            <a:r>
              <a:rPr lang="en-US" dirty="0"/>
              <a:t>Gene therapy (</a:t>
            </a:r>
            <a:r>
              <a:rPr lang="en-US" dirty="0" err="1"/>
              <a:t>oos</a:t>
            </a:r>
            <a:r>
              <a:rPr lang="en-US" dirty="0"/>
              <a:t>)</a:t>
            </a:r>
          </a:p>
          <a:p>
            <a:pPr marL="285750" indent="-285750">
              <a:buFont typeface="Arial" panose="020B0604020202020204" pitchFamily="34" charset="0"/>
              <a:buChar char="•"/>
            </a:pPr>
            <a:r>
              <a:rPr lang="en-US" dirty="0"/>
              <a:t>Plasmid production</a:t>
            </a:r>
          </a:p>
          <a:p>
            <a:pPr marL="285750" indent="-285750">
              <a:buFont typeface="Arial" panose="020B0604020202020204" pitchFamily="34" charset="0"/>
              <a:buChar char="•"/>
            </a:pPr>
            <a:r>
              <a:rPr lang="en-US" dirty="0"/>
              <a:t>Cont. Transfection</a:t>
            </a:r>
          </a:p>
          <a:p>
            <a:pPr marL="285750" indent="-285750">
              <a:buFont typeface="Arial" panose="020B0604020202020204" pitchFamily="34" charset="0"/>
              <a:buChar char="•"/>
            </a:pPr>
            <a:r>
              <a:rPr lang="en-US" dirty="0"/>
              <a:t>Virus bioreactor</a:t>
            </a:r>
          </a:p>
          <a:p>
            <a:pPr marL="285750" indent="-285750">
              <a:buFont typeface="Arial" panose="020B0604020202020204" pitchFamily="34" charset="0"/>
              <a:buChar char="•"/>
            </a:pPr>
            <a:r>
              <a:rPr lang="en-US" dirty="0"/>
              <a:t>Purification</a:t>
            </a:r>
          </a:p>
        </p:txBody>
      </p:sp>
      <p:sp>
        <p:nvSpPr>
          <p:cNvPr id="23" name="TextBox 22">
            <a:extLst>
              <a:ext uri="{FF2B5EF4-FFF2-40B4-BE49-F238E27FC236}">
                <a16:creationId xmlns:a16="http://schemas.microsoft.com/office/drawing/2014/main" id="{74557252-1461-3C4C-9484-8A7A77747D16}"/>
              </a:ext>
            </a:extLst>
          </p:cNvPr>
          <p:cNvSpPr txBox="1"/>
          <p:nvPr/>
        </p:nvSpPr>
        <p:spPr>
          <a:xfrm>
            <a:off x="2031786" y="2523698"/>
            <a:ext cx="1308144" cy="523220"/>
          </a:xfrm>
          <a:prstGeom prst="rect">
            <a:avLst/>
          </a:prstGeom>
          <a:noFill/>
        </p:spPr>
        <p:txBody>
          <a:bodyPr wrap="square" rtlCol="0">
            <a:spAutoFit/>
          </a:bodyPr>
          <a:lstStyle/>
          <a:p>
            <a:pPr algn="ctr"/>
            <a:r>
              <a:rPr lang="en-US" sz="1400" dirty="0"/>
              <a:t>7m</a:t>
            </a:r>
            <a:r>
              <a:rPr lang="en-US" sz="1400" baseline="30000" dirty="0"/>
              <a:t>2</a:t>
            </a:r>
            <a:r>
              <a:rPr lang="en-US" sz="1400" dirty="0"/>
              <a:t> changed daily</a:t>
            </a:r>
          </a:p>
        </p:txBody>
      </p:sp>
      <p:sp>
        <p:nvSpPr>
          <p:cNvPr id="24" name="TextBox 23">
            <a:extLst>
              <a:ext uri="{FF2B5EF4-FFF2-40B4-BE49-F238E27FC236}">
                <a16:creationId xmlns:a16="http://schemas.microsoft.com/office/drawing/2014/main" id="{A5727E56-6868-1E4E-BDD3-12B8C0DACC12}"/>
              </a:ext>
            </a:extLst>
          </p:cNvPr>
          <p:cNvSpPr txBox="1"/>
          <p:nvPr/>
        </p:nvSpPr>
        <p:spPr>
          <a:xfrm>
            <a:off x="5193069" y="2557825"/>
            <a:ext cx="1308144" cy="523220"/>
          </a:xfrm>
          <a:prstGeom prst="rect">
            <a:avLst/>
          </a:prstGeom>
          <a:noFill/>
        </p:spPr>
        <p:txBody>
          <a:bodyPr wrap="square" rtlCol="0">
            <a:spAutoFit/>
          </a:bodyPr>
          <a:lstStyle/>
          <a:p>
            <a:pPr algn="ctr"/>
            <a:r>
              <a:rPr lang="en-US" sz="1400" dirty="0"/>
              <a:t>7m</a:t>
            </a:r>
            <a:r>
              <a:rPr lang="en-US" sz="1400" baseline="30000" dirty="0"/>
              <a:t>2</a:t>
            </a:r>
            <a:r>
              <a:rPr lang="en-US" sz="1400" dirty="0"/>
              <a:t> changed daily</a:t>
            </a:r>
          </a:p>
        </p:txBody>
      </p:sp>
    </p:spTree>
    <p:extLst>
      <p:ext uri="{BB962C8B-B14F-4D97-AF65-F5344CB8AC3E}">
        <p14:creationId xmlns:p14="http://schemas.microsoft.com/office/powerpoint/2010/main" val="967411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21</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16664" y="144000"/>
            <a:ext cx="9257550" cy="504000"/>
          </a:xfrm>
        </p:spPr>
        <p:txBody>
          <a:bodyPr/>
          <a:lstStyle/>
          <a:p>
            <a:r>
              <a:rPr lang="en-US"/>
              <a:t>Skid Pump Design and column size range for 100-2000L BRX for perfusion or fed batch</a:t>
            </a:r>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CA673B2-AC8A-4593-8469-231C3A10D64F}"/>
              </a:ext>
            </a:extLst>
          </p:cNvPr>
          <p:cNvCxnSpPr>
            <a:cxnSpLocks/>
            <a:stCxn id="16" idx="2"/>
            <a:endCxn id="45" idx="0"/>
          </p:cNvCxnSpPr>
          <p:nvPr/>
        </p:nvCxnSpPr>
        <p:spPr>
          <a:xfrm>
            <a:off x="2933621" y="1464724"/>
            <a:ext cx="1" cy="2090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1952352" y="818393"/>
            <a:ext cx="1962538" cy="646331"/>
          </a:xfrm>
          <a:prstGeom prst="rect">
            <a:avLst/>
          </a:prstGeom>
          <a:noFill/>
        </p:spPr>
        <p:txBody>
          <a:bodyPr wrap="square" rtlCol="0">
            <a:spAutoFit/>
          </a:bodyPr>
          <a:lstStyle/>
          <a:p>
            <a:pPr algn="ctr"/>
            <a:r>
              <a:rPr lang="en-US" dirty="0"/>
              <a:t>Water</a:t>
            </a:r>
          </a:p>
          <a:p>
            <a:pPr algn="ctr"/>
            <a:r>
              <a:rPr lang="en-US" dirty="0"/>
              <a:t>0.5-10L/min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sp>
        <p:nvSpPr>
          <p:cNvPr id="31" name="TextBox 30">
            <a:extLst>
              <a:ext uri="{FF2B5EF4-FFF2-40B4-BE49-F238E27FC236}">
                <a16:creationId xmlns:a16="http://schemas.microsoft.com/office/drawing/2014/main" id="{7BCAFA67-C440-4659-8118-4C5B612E7A8A}"/>
              </a:ext>
            </a:extLst>
          </p:cNvPr>
          <p:cNvSpPr txBox="1"/>
          <p:nvPr/>
        </p:nvSpPr>
        <p:spPr>
          <a:xfrm rot="16200000">
            <a:off x="-356856" y="2591320"/>
            <a:ext cx="1962538" cy="369332"/>
          </a:xfrm>
          <a:prstGeom prst="rect">
            <a:avLst/>
          </a:prstGeom>
          <a:noFill/>
        </p:spPr>
        <p:txBody>
          <a:bodyPr wrap="square" rtlCol="0">
            <a:spAutoFit/>
          </a:bodyPr>
          <a:lstStyle/>
          <a:p>
            <a:pPr algn="ctr"/>
            <a:r>
              <a:rPr lang="en-US"/>
              <a:t>0.1-2L/min</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4791929" y="1750478"/>
            <a:ext cx="962775" cy="621801"/>
            <a:chOff x="5335009" y="2495485"/>
            <a:chExt cx="962775" cy="621801"/>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53106" y="3114176"/>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9E5F4F0D-9D2F-4A5F-8C43-974DBB5DD3B5}"/>
              </a:ext>
            </a:extLst>
          </p:cNvPr>
          <p:cNvGrpSpPr/>
          <p:nvPr/>
        </p:nvGrpSpPr>
        <p:grpSpPr>
          <a:xfrm>
            <a:off x="6941013" y="1497049"/>
            <a:ext cx="1416996" cy="1284809"/>
            <a:chOff x="7430278" y="2473665"/>
            <a:chExt cx="1416996" cy="1284809"/>
          </a:xfrm>
        </p:grpSpPr>
        <p:sp>
          <p:nvSpPr>
            <p:cNvPr id="33" name="Rectangle 32">
              <a:extLst>
                <a:ext uri="{FF2B5EF4-FFF2-40B4-BE49-F238E27FC236}">
                  <a16:creationId xmlns:a16="http://schemas.microsoft.com/office/drawing/2014/main" id="{DA016C8E-96E1-451F-BE62-559EC9365790}"/>
                </a:ext>
              </a:extLst>
            </p:cNvPr>
            <p:cNvSpPr/>
            <p:nvPr/>
          </p:nvSpPr>
          <p:spPr>
            <a:xfrm>
              <a:off x="7543800" y="2477317"/>
              <a:ext cx="1189953" cy="127993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D75B1022-2F08-4302-987A-E83CEE2F2EFB}"/>
                </a:ext>
              </a:extLst>
            </p:cNvPr>
            <p:cNvCxnSpPr>
              <a:cxnSpLocks/>
            </p:cNvCxnSpPr>
            <p:nvPr/>
          </p:nvCxnSpPr>
          <p:spPr>
            <a:xfrm flipV="1">
              <a:off x="7430278" y="2473665"/>
              <a:ext cx="1416996"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473E0FDE-86BA-43EE-9D7C-99822576D5A7}"/>
                </a:ext>
              </a:extLst>
            </p:cNvPr>
            <p:cNvCxnSpPr>
              <a:cxnSpLocks/>
            </p:cNvCxnSpPr>
            <p:nvPr/>
          </p:nvCxnSpPr>
          <p:spPr>
            <a:xfrm flipV="1">
              <a:off x="7430278" y="3755364"/>
              <a:ext cx="1416996"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43" name="TextBox 42">
            <a:extLst>
              <a:ext uri="{FF2B5EF4-FFF2-40B4-BE49-F238E27FC236}">
                <a16:creationId xmlns:a16="http://schemas.microsoft.com/office/drawing/2014/main" id="{5F649A0A-ACBF-4046-B35B-8E099FDD9E61}"/>
              </a:ext>
            </a:extLst>
          </p:cNvPr>
          <p:cNvSpPr txBox="1"/>
          <p:nvPr/>
        </p:nvSpPr>
        <p:spPr>
          <a:xfrm>
            <a:off x="3601329" y="2333999"/>
            <a:ext cx="3065904" cy="1477328"/>
          </a:xfrm>
          <a:prstGeom prst="rect">
            <a:avLst/>
          </a:prstGeom>
          <a:noFill/>
        </p:spPr>
        <p:txBody>
          <a:bodyPr wrap="none" rtlCol="0">
            <a:spAutoFit/>
          </a:bodyPr>
          <a:lstStyle/>
          <a:p>
            <a:r>
              <a:rPr lang="en-US" dirty="0"/>
              <a:t>0.4 L Column</a:t>
            </a:r>
          </a:p>
          <a:p>
            <a:r>
              <a:rPr lang="en-US" dirty="0"/>
              <a:t>At 10g/L load</a:t>
            </a:r>
          </a:p>
          <a:p>
            <a:r>
              <a:rPr lang="en-US" dirty="0"/>
              <a:t>1 cycles per day:</a:t>
            </a:r>
          </a:p>
          <a:p>
            <a:r>
              <a:rPr lang="en-US" dirty="0"/>
              <a:t>Minimum: 4g/day</a:t>
            </a:r>
          </a:p>
          <a:p>
            <a:r>
              <a:rPr lang="en-US" dirty="0"/>
              <a:t>Use 1x buffers and no water</a:t>
            </a:r>
          </a:p>
        </p:txBody>
      </p:sp>
      <p:sp>
        <p:nvSpPr>
          <p:cNvPr id="44" name="TextBox 43">
            <a:extLst>
              <a:ext uri="{FF2B5EF4-FFF2-40B4-BE49-F238E27FC236}">
                <a16:creationId xmlns:a16="http://schemas.microsoft.com/office/drawing/2014/main" id="{A5A519A0-6B91-455B-BC20-C48420365273}"/>
              </a:ext>
            </a:extLst>
          </p:cNvPr>
          <p:cNvSpPr txBox="1"/>
          <p:nvPr/>
        </p:nvSpPr>
        <p:spPr>
          <a:xfrm>
            <a:off x="6628458" y="3150569"/>
            <a:ext cx="2174174" cy="1477328"/>
          </a:xfrm>
          <a:prstGeom prst="rect">
            <a:avLst/>
          </a:prstGeom>
          <a:noFill/>
        </p:spPr>
        <p:txBody>
          <a:bodyPr wrap="square" rtlCol="0">
            <a:spAutoFit/>
          </a:bodyPr>
          <a:lstStyle/>
          <a:p>
            <a:r>
              <a:rPr lang="en-US" dirty="0"/>
              <a:t>40L Column at as much as 60g/L capacity </a:t>
            </a:r>
          </a:p>
          <a:p>
            <a:r>
              <a:rPr lang="en-US" dirty="0"/>
              <a:t>16 cycles per day: Maximum 38kg/day</a:t>
            </a:r>
          </a:p>
        </p:txBody>
      </p:sp>
      <p:cxnSp>
        <p:nvCxnSpPr>
          <p:cNvPr id="34" name="Straight Arrow Connector 33">
            <a:extLst>
              <a:ext uri="{FF2B5EF4-FFF2-40B4-BE49-F238E27FC236}">
                <a16:creationId xmlns:a16="http://schemas.microsoft.com/office/drawing/2014/main" id="{4275EC2F-944C-40DF-8A1C-D2E6A0FDCF9B}"/>
              </a:ext>
            </a:extLst>
          </p:cNvPr>
          <p:cNvCxnSpPr>
            <a:cxnSpLocks/>
          </p:cNvCxnSpPr>
          <p:nvPr/>
        </p:nvCxnSpPr>
        <p:spPr>
          <a:xfrm flipV="1">
            <a:off x="2963975" y="3949646"/>
            <a:ext cx="0" cy="33267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69915438-51C1-470D-9DBC-34943AC07862}"/>
              </a:ext>
            </a:extLst>
          </p:cNvPr>
          <p:cNvSpPr txBox="1"/>
          <p:nvPr/>
        </p:nvSpPr>
        <p:spPr>
          <a:xfrm>
            <a:off x="2262502" y="4385089"/>
            <a:ext cx="1402948" cy="923330"/>
          </a:xfrm>
          <a:prstGeom prst="rect">
            <a:avLst/>
          </a:prstGeom>
          <a:noFill/>
        </p:spPr>
        <p:txBody>
          <a:bodyPr wrap="none" rtlCol="0">
            <a:spAutoFit/>
          </a:bodyPr>
          <a:lstStyle/>
          <a:p>
            <a:pPr algn="ctr"/>
            <a:r>
              <a:rPr lang="en-US" dirty="0"/>
              <a:t>Load</a:t>
            </a:r>
          </a:p>
          <a:p>
            <a:pPr algn="ctr"/>
            <a:r>
              <a:rPr lang="en-US" dirty="0"/>
              <a:t>0.1-10L/min</a:t>
            </a:r>
          </a:p>
          <a:p>
            <a:pPr algn="ctr"/>
            <a:endParaRPr lang="en-US" dirty="0"/>
          </a:p>
        </p:txBody>
      </p:sp>
      <p:sp>
        <p:nvSpPr>
          <p:cNvPr id="45" name="Rectangle: Rounded Corners 44">
            <a:extLst>
              <a:ext uri="{FF2B5EF4-FFF2-40B4-BE49-F238E27FC236}">
                <a16:creationId xmlns:a16="http://schemas.microsoft.com/office/drawing/2014/main" id="{361C87A9-4F3A-4C1F-9D32-95A7E0977BE5}"/>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860256E-090A-48C5-8B01-A8D838108E10}"/>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sp>
        <p:nvSpPr>
          <p:cNvPr id="4" name="TextBox 3">
            <a:extLst>
              <a:ext uri="{FF2B5EF4-FFF2-40B4-BE49-F238E27FC236}">
                <a16:creationId xmlns:a16="http://schemas.microsoft.com/office/drawing/2014/main" id="{A1C3094B-25F9-426E-AB26-81CF5A7A109F}"/>
              </a:ext>
            </a:extLst>
          </p:cNvPr>
          <p:cNvSpPr txBox="1"/>
          <p:nvPr/>
        </p:nvSpPr>
        <p:spPr>
          <a:xfrm>
            <a:off x="3940152" y="4472084"/>
            <a:ext cx="3903633" cy="646331"/>
          </a:xfrm>
          <a:prstGeom prst="rect">
            <a:avLst/>
          </a:prstGeom>
          <a:noFill/>
        </p:spPr>
        <p:txBody>
          <a:bodyPr wrap="none" rtlCol="0">
            <a:spAutoFit/>
          </a:bodyPr>
          <a:lstStyle/>
          <a:p>
            <a:r>
              <a:rPr lang="en-US" dirty="0"/>
              <a:t>In batch dynamic range: 160</a:t>
            </a:r>
          </a:p>
          <a:p>
            <a:r>
              <a:rPr lang="en-US" dirty="0"/>
              <a:t>Batch-to-batch dynamic range: 8000</a:t>
            </a:r>
          </a:p>
        </p:txBody>
      </p:sp>
      <p:sp>
        <p:nvSpPr>
          <p:cNvPr id="25" name="TextBox 24">
            <a:extLst>
              <a:ext uri="{FF2B5EF4-FFF2-40B4-BE49-F238E27FC236}">
                <a16:creationId xmlns:a16="http://schemas.microsoft.com/office/drawing/2014/main" id="{6F9C0C60-4311-42AD-B6F8-C441EB3AC3D4}"/>
              </a:ext>
            </a:extLst>
          </p:cNvPr>
          <p:cNvSpPr txBox="1"/>
          <p:nvPr/>
        </p:nvSpPr>
        <p:spPr>
          <a:xfrm>
            <a:off x="6643583" y="680821"/>
            <a:ext cx="2011856" cy="646331"/>
          </a:xfrm>
          <a:prstGeom prst="rect">
            <a:avLst/>
          </a:prstGeom>
          <a:noFill/>
        </p:spPr>
        <p:txBody>
          <a:bodyPr wrap="square" rtlCol="0">
            <a:spAutoFit/>
          </a:bodyPr>
          <a:lstStyle/>
          <a:p>
            <a:r>
              <a:rPr lang="en-US"/>
              <a:t>Fed batch with 10g/L titer </a:t>
            </a:r>
          </a:p>
        </p:txBody>
      </p:sp>
    </p:spTree>
    <p:extLst>
      <p:ext uri="{BB962C8B-B14F-4D97-AF65-F5344CB8AC3E}">
        <p14:creationId xmlns:p14="http://schemas.microsoft.com/office/powerpoint/2010/main" val="549560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22</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Two Column Skid</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646331"/>
          </a:xfrm>
          <a:prstGeom prst="rect">
            <a:avLst/>
          </a:prstGeom>
          <a:noFill/>
        </p:spPr>
        <p:txBody>
          <a:bodyPr wrap="square" rtlCol="0">
            <a:spAutoFit/>
          </a:bodyPr>
          <a:lstStyle/>
          <a:p>
            <a:pPr algn="ctr"/>
            <a:r>
              <a:rPr lang="en-US" dirty="0"/>
              <a:t>Water</a:t>
            </a:r>
          </a:p>
          <a:p>
            <a:pPr algn="ctr"/>
            <a:r>
              <a:rPr lang="en-US" dirty="0"/>
              <a:t>0.5-10 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5" y="2307542"/>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357069" y="551229"/>
            <a:ext cx="1467068" cy="923330"/>
          </a:xfrm>
          <a:prstGeom prst="rect">
            <a:avLst/>
          </a:prstGeom>
          <a:noFill/>
        </p:spPr>
        <p:txBody>
          <a:bodyPr wrap="none" rtlCol="0">
            <a:spAutoFit/>
          </a:bodyPr>
          <a:lstStyle/>
          <a:p>
            <a:pPr algn="ctr"/>
            <a:r>
              <a:rPr lang="en-US" dirty="0"/>
              <a:t>Load</a:t>
            </a:r>
          </a:p>
          <a:p>
            <a:pPr algn="ctr"/>
            <a:r>
              <a:rPr lang="en-US" dirty="0"/>
              <a:t>0.1-10 L/min</a:t>
            </a:r>
          </a:p>
          <a:p>
            <a:pPr algn="ctr"/>
            <a:endParaRPr lang="en-US" dirty="0"/>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0" y="648000"/>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29"/>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6"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8" y="1996434"/>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1"/>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209830"/>
            <a:ext cx="284772" cy="786604"/>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59"/>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56B28B3D-C9A9-4472-97BC-4542803B3C12}"/>
              </a:ext>
            </a:extLst>
          </p:cNvPr>
          <p:cNvSpPr txBox="1"/>
          <p:nvPr/>
        </p:nvSpPr>
        <p:spPr>
          <a:xfrm>
            <a:off x="1912574" y="4466431"/>
            <a:ext cx="5143859" cy="646331"/>
          </a:xfrm>
          <a:prstGeom prst="rect">
            <a:avLst/>
          </a:prstGeom>
          <a:noFill/>
        </p:spPr>
        <p:txBody>
          <a:bodyPr wrap="square" rtlCol="0">
            <a:spAutoFit/>
          </a:bodyPr>
          <a:lstStyle/>
          <a:p>
            <a:r>
              <a:rPr lang="en-US"/>
              <a:t>Additional sensors on inlets can allow real-time modelling to assure step operated as intended </a:t>
            </a:r>
          </a:p>
        </p:txBody>
      </p:sp>
      <p:sp>
        <p:nvSpPr>
          <p:cNvPr id="27" name="TextBox 26">
            <a:extLst>
              <a:ext uri="{FF2B5EF4-FFF2-40B4-BE49-F238E27FC236}">
                <a16:creationId xmlns:a16="http://schemas.microsoft.com/office/drawing/2014/main" id="{CEF3472F-1E3D-6B44-A1C5-F7C39E3CDFAD}"/>
              </a:ext>
            </a:extLst>
          </p:cNvPr>
          <p:cNvSpPr txBox="1"/>
          <p:nvPr/>
        </p:nvSpPr>
        <p:spPr>
          <a:xfrm>
            <a:off x="3712718" y="3867977"/>
            <a:ext cx="2881943" cy="646331"/>
          </a:xfrm>
          <a:prstGeom prst="rect">
            <a:avLst/>
          </a:prstGeom>
          <a:noFill/>
        </p:spPr>
        <p:txBody>
          <a:bodyPr wrap="none" rtlCol="0">
            <a:spAutoFit/>
          </a:bodyPr>
          <a:lstStyle/>
          <a:p>
            <a:r>
              <a:rPr lang="en-US" dirty="0"/>
              <a:t>UV: 0.1 &amp; 1mm pathlength</a:t>
            </a:r>
          </a:p>
          <a:p>
            <a:r>
              <a:rPr lang="en-US" dirty="0"/>
              <a:t>Scan 230-320nm</a:t>
            </a:r>
          </a:p>
        </p:txBody>
      </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7"/>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137905" y="1205446"/>
            <a:ext cx="1512539" cy="646331"/>
          </a:xfrm>
          <a:prstGeom prst="rect">
            <a:avLst/>
          </a:prstGeom>
          <a:noFill/>
        </p:spPr>
        <p:txBody>
          <a:bodyPr wrap="square" rtlCol="0">
            <a:spAutoFit/>
          </a:bodyPr>
          <a:lstStyle/>
          <a:p>
            <a:pPr algn="ctr"/>
            <a:r>
              <a:rPr lang="en-US" dirty="0"/>
              <a:t>Buffers</a:t>
            </a:r>
          </a:p>
          <a:p>
            <a:pPr algn="ctr"/>
            <a:r>
              <a:rPr lang="en-US" dirty="0"/>
              <a:t>0.1-2 L/min</a:t>
            </a:r>
          </a:p>
        </p:txBody>
      </p:sp>
    </p:spTree>
    <p:extLst>
      <p:ext uri="{BB962C8B-B14F-4D97-AF65-F5344CB8AC3E}">
        <p14:creationId xmlns:p14="http://schemas.microsoft.com/office/powerpoint/2010/main" val="4256924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23</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Can a one column skid mimic an overloaded Twin?</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646331"/>
          </a:xfrm>
          <a:prstGeom prst="rect">
            <a:avLst/>
          </a:prstGeom>
          <a:noFill/>
        </p:spPr>
        <p:txBody>
          <a:bodyPr wrap="square" rtlCol="0">
            <a:spAutoFit/>
          </a:bodyPr>
          <a:lstStyle/>
          <a:p>
            <a:pPr algn="ctr"/>
            <a:r>
              <a:rPr lang="en-US" dirty="0"/>
              <a:t>Water</a:t>
            </a:r>
          </a:p>
          <a:p>
            <a:pPr algn="ctr"/>
            <a:r>
              <a:rPr lang="en-US" dirty="0"/>
              <a:t>0.5-10L/min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dirty="0"/>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dirty="0"/>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sp>
        <p:nvSpPr>
          <p:cNvPr id="31" name="TextBox 30">
            <a:extLst>
              <a:ext uri="{FF2B5EF4-FFF2-40B4-BE49-F238E27FC236}">
                <a16:creationId xmlns:a16="http://schemas.microsoft.com/office/drawing/2014/main" id="{7BCAFA67-C440-4659-8118-4C5B612E7A8A}"/>
              </a:ext>
            </a:extLst>
          </p:cNvPr>
          <p:cNvSpPr txBox="1"/>
          <p:nvPr/>
        </p:nvSpPr>
        <p:spPr>
          <a:xfrm>
            <a:off x="3295664" y="3186734"/>
            <a:ext cx="1388096" cy="369332"/>
          </a:xfrm>
          <a:prstGeom prst="rect">
            <a:avLst/>
          </a:prstGeom>
          <a:noFill/>
        </p:spPr>
        <p:txBody>
          <a:bodyPr wrap="square" rtlCol="0">
            <a:spAutoFit/>
          </a:bodyPr>
          <a:lstStyle/>
          <a:p>
            <a:pPr algn="ctr"/>
            <a:r>
              <a:rPr lang="en-US"/>
              <a:t>0.1-2 L/min</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5" y="2307542"/>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389128" y="551229"/>
            <a:ext cx="1402948" cy="923330"/>
          </a:xfrm>
          <a:prstGeom prst="rect">
            <a:avLst/>
          </a:prstGeom>
          <a:noFill/>
        </p:spPr>
        <p:txBody>
          <a:bodyPr wrap="none" rtlCol="0">
            <a:spAutoFit/>
          </a:bodyPr>
          <a:lstStyle/>
          <a:p>
            <a:pPr algn="ctr"/>
            <a:r>
              <a:rPr lang="en-US" dirty="0"/>
              <a:t>Load</a:t>
            </a:r>
          </a:p>
          <a:p>
            <a:pPr algn="ctr"/>
            <a:r>
              <a:rPr lang="en-US" dirty="0"/>
              <a:t>0.1-10L/min</a:t>
            </a:r>
          </a:p>
          <a:p>
            <a:pPr algn="ctr"/>
            <a:endParaRPr lang="en-US" dirty="0"/>
          </a:p>
        </p:txBody>
      </p:sp>
      <p:grpSp>
        <p:nvGrpSpPr>
          <p:cNvPr id="29" name="Group 28">
            <a:extLst>
              <a:ext uri="{FF2B5EF4-FFF2-40B4-BE49-F238E27FC236}">
                <a16:creationId xmlns:a16="http://schemas.microsoft.com/office/drawing/2014/main" id="{521977B6-35DD-4E81-A637-05AB507E83D5}"/>
              </a:ext>
            </a:extLst>
          </p:cNvPr>
          <p:cNvGrpSpPr/>
          <p:nvPr/>
        </p:nvGrpSpPr>
        <p:grpSpPr>
          <a:xfrm>
            <a:off x="5783720" y="648000"/>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29"/>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6"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8" y="1996434"/>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1"/>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209830"/>
            <a:ext cx="284772" cy="786604"/>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cxnSp>
        <p:nvCxnSpPr>
          <p:cNvPr id="28" name="Elbow Connector 27">
            <a:extLst>
              <a:ext uri="{FF2B5EF4-FFF2-40B4-BE49-F238E27FC236}">
                <a16:creationId xmlns:a16="http://schemas.microsoft.com/office/drawing/2014/main" id="{F34BE4F8-3BE4-FD4F-A2A5-EEB9093F1B12}"/>
              </a:ext>
            </a:extLst>
          </p:cNvPr>
          <p:cNvCxnSpPr>
            <a:cxnSpLocks/>
            <a:stCxn id="8" idx="3"/>
            <a:endCxn id="33" idx="2"/>
          </p:cNvCxnSpPr>
          <p:nvPr/>
        </p:nvCxnSpPr>
        <p:spPr>
          <a:xfrm rot="5400000">
            <a:off x="3336870" y="1222265"/>
            <a:ext cx="948553" cy="6167265"/>
          </a:xfrm>
          <a:prstGeom prst="bentConnector3">
            <a:avLst>
              <a:gd name="adj1" fmla="val 124100"/>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Rounded Rectangle 32">
            <a:extLst>
              <a:ext uri="{FF2B5EF4-FFF2-40B4-BE49-F238E27FC236}">
                <a16:creationId xmlns:a16="http://schemas.microsoft.com/office/drawing/2014/main" id="{EB84EAA2-BCEA-934C-94DB-80FB41CE7017}"/>
              </a:ext>
            </a:extLst>
          </p:cNvPr>
          <p:cNvSpPr/>
          <p:nvPr/>
        </p:nvSpPr>
        <p:spPr>
          <a:xfrm>
            <a:off x="46372" y="3714622"/>
            <a:ext cx="1362281" cy="10655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Overload Flow through Surge Tank</a:t>
            </a:r>
          </a:p>
        </p:txBody>
      </p:sp>
      <p:cxnSp>
        <p:nvCxnSpPr>
          <p:cNvPr id="43" name="Elbow Connector 42">
            <a:extLst>
              <a:ext uri="{FF2B5EF4-FFF2-40B4-BE49-F238E27FC236}">
                <a16:creationId xmlns:a16="http://schemas.microsoft.com/office/drawing/2014/main" id="{F98CA3F7-16A3-1341-AAC9-9903E6943AD7}"/>
              </a:ext>
            </a:extLst>
          </p:cNvPr>
          <p:cNvCxnSpPr>
            <a:stCxn id="33" idx="0"/>
          </p:cNvCxnSpPr>
          <p:nvPr/>
        </p:nvCxnSpPr>
        <p:spPr>
          <a:xfrm rot="5400000" flipH="1" flipV="1">
            <a:off x="1093198" y="456229"/>
            <a:ext cx="2892709" cy="3624078"/>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4928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64F012-1A28-488F-B3BA-0504F50A3D58}"/>
              </a:ext>
            </a:extLst>
          </p:cNvPr>
          <p:cNvSpPr>
            <a:spLocks noGrp="1"/>
          </p:cNvSpPr>
          <p:nvPr>
            <p:ph type="sldNum" sz="quarter" idx="4"/>
          </p:nvPr>
        </p:nvSpPr>
        <p:spPr/>
        <p:txBody>
          <a:bodyPr/>
          <a:lstStyle/>
          <a:p>
            <a:fld id="{3C4F54F3-C349-4609-AFEE-01462D5C7942}" type="slidenum">
              <a:rPr lang="en-GB" smtClean="0"/>
              <a:pPr/>
              <a:t>24</a:t>
            </a:fld>
            <a:endParaRPr lang="en-GB"/>
          </a:p>
        </p:txBody>
      </p:sp>
      <p:sp>
        <p:nvSpPr>
          <p:cNvPr id="3" name="Title 2">
            <a:extLst>
              <a:ext uri="{FF2B5EF4-FFF2-40B4-BE49-F238E27FC236}">
                <a16:creationId xmlns:a16="http://schemas.microsoft.com/office/drawing/2014/main" id="{11D9BF32-A7F4-4B1B-A6E7-0042391466D0}"/>
              </a:ext>
            </a:extLst>
          </p:cNvPr>
          <p:cNvSpPr>
            <a:spLocks noGrp="1"/>
          </p:cNvSpPr>
          <p:nvPr>
            <p:ph type="title"/>
          </p:nvPr>
        </p:nvSpPr>
        <p:spPr/>
        <p:txBody>
          <a:bodyPr/>
          <a:lstStyle/>
          <a:p>
            <a:r>
              <a:rPr lang="en-US"/>
              <a:t>Virus Inactivation Skid for Batch or Continuous</a:t>
            </a:r>
          </a:p>
        </p:txBody>
      </p:sp>
      <p:sp>
        <p:nvSpPr>
          <p:cNvPr id="4" name="Slide Number Placeholder 2">
            <a:extLst>
              <a:ext uri="{FF2B5EF4-FFF2-40B4-BE49-F238E27FC236}">
                <a16:creationId xmlns:a16="http://schemas.microsoft.com/office/drawing/2014/main" id="{693B1692-97B8-429B-B0A3-AE3B23DBAC3E}"/>
              </a:ext>
            </a:extLst>
          </p:cNvPr>
          <p:cNvSpPr txBox="1">
            <a:spLocks/>
          </p:cNvSpPr>
          <p:nvPr/>
        </p:nvSpPr>
        <p:spPr>
          <a:xfrm>
            <a:off x="318375" y="4846754"/>
            <a:ext cx="396000" cy="162000"/>
          </a:xfrm>
          <a:prstGeom prst="rect">
            <a:avLst/>
          </a:prstGeom>
        </p:spPr>
        <p:txBody>
          <a:bodyPr vert="horz" lIns="0" tIns="0" rIns="0" bIns="0" rtlCol="0" anchor="t" anchorCtr="0"/>
          <a:lstStyle>
            <a:defPPr>
              <a:defRPr lang="en-US"/>
            </a:defPPr>
            <a:lvl1pPr marL="0" algn="l" defTabSz="457200" rtl="0" eaLnBrk="1" latinLnBrk="0" hangingPunct="1">
              <a:defRPr sz="800" b="1"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4F54F3-C349-4609-AFEE-01462D5C7942}" type="slidenum">
              <a:rPr lang="en-GB" smtClean="0"/>
              <a:pPr/>
              <a:t>24</a:t>
            </a:fld>
            <a:endParaRPr lang="en-GB"/>
          </a:p>
        </p:txBody>
      </p:sp>
      <p:cxnSp>
        <p:nvCxnSpPr>
          <p:cNvPr id="7" name="Straight Arrow Connector 6">
            <a:extLst>
              <a:ext uri="{FF2B5EF4-FFF2-40B4-BE49-F238E27FC236}">
                <a16:creationId xmlns:a16="http://schemas.microsoft.com/office/drawing/2014/main" id="{E9FA1958-7AA2-4B8A-AD05-11D6EC33F9D1}"/>
              </a:ext>
            </a:extLst>
          </p:cNvPr>
          <p:cNvCxnSpPr>
            <a:cxnSpLocks/>
          </p:cNvCxnSpPr>
          <p:nvPr/>
        </p:nvCxnSpPr>
        <p:spPr>
          <a:xfrm>
            <a:off x="5563276" y="3854519"/>
            <a:ext cx="354192" cy="688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48EAA3E-5D69-4670-84DB-5898921F083E}"/>
              </a:ext>
            </a:extLst>
          </p:cNvPr>
          <p:cNvSpPr txBox="1"/>
          <p:nvPr/>
        </p:nvSpPr>
        <p:spPr>
          <a:xfrm>
            <a:off x="3780205" y="3090770"/>
            <a:ext cx="1880187" cy="369332"/>
          </a:xfrm>
          <a:prstGeom prst="rect">
            <a:avLst/>
          </a:prstGeom>
          <a:noFill/>
        </p:spPr>
        <p:txBody>
          <a:bodyPr wrap="square" rtlCol="0">
            <a:spAutoFit/>
          </a:bodyPr>
          <a:lstStyle/>
          <a:p>
            <a:pPr algn="ctr"/>
            <a:r>
              <a:rPr lang="en-US" dirty="0"/>
              <a:t>Water (for PFR)</a:t>
            </a:r>
          </a:p>
        </p:txBody>
      </p:sp>
      <p:sp>
        <p:nvSpPr>
          <p:cNvPr id="13" name="TextBox 12">
            <a:extLst>
              <a:ext uri="{FF2B5EF4-FFF2-40B4-BE49-F238E27FC236}">
                <a16:creationId xmlns:a16="http://schemas.microsoft.com/office/drawing/2014/main" id="{12021B99-D54E-4934-8E73-355B2845D54A}"/>
              </a:ext>
            </a:extLst>
          </p:cNvPr>
          <p:cNvSpPr txBox="1"/>
          <p:nvPr/>
        </p:nvSpPr>
        <p:spPr>
          <a:xfrm>
            <a:off x="4170105" y="1271226"/>
            <a:ext cx="1402948" cy="646331"/>
          </a:xfrm>
          <a:prstGeom prst="rect">
            <a:avLst/>
          </a:prstGeom>
          <a:noFill/>
        </p:spPr>
        <p:txBody>
          <a:bodyPr wrap="none" rtlCol="0">
            <a:spAutoFit/>
          </a:bodyPr>
          <a:lstStyle/>
          <a:p>
            <a:r>
              <a:rPr lang="en-US" dirty="0"/>
              <a:t>Acid</a:t>
            </a:r>
          </a:p>
          <a:p>
            <a:r>
              <a:rPr lang="en-US" dirty="0"/>
              <a:t>0.05-1L/min</a:t>
            </a:r>
          </a:p>
        </p:txBody>
      </p:sp>
      <p:sp>
        <p:nvSpPr>
          <p:cNvPr id="14" name="TextBox 13">
            <a:extLst>
              <a:ext uri="{FF2B5EF4-FFF2-40B4-BE49-F238E27FC236}">
                <a16:creationId xmlns:a16="http://schemas.microsoft.com/office/drawing/2014/main" id="{2DD20626-CA9C-467E-AD3D-1574A1DD1F72}"/>
              </a:ext>
            </a:extLst>
          </p:cNvPr>
          <p:cNvSpPr txBox="1"/>
          <p:nvPr/>
        </p:nvSpPr>
        <p:spPr>
          <a:xfrm>
            <a:off x="4170105" y="3601194"/>
            <a:ext cx="1493895" cy="923330"/>
          </a:xfrm>
          <a:prstGeom prst="rect">
            <a:avLst/>
          </a:prstGeom>
          <a:noFill/>
        </p:spPr>
        <p:txBody>
          <a:bodyPr wrap="square" rtlCol="0">
            <a:spAutoFit/>
          </a:bodyPr>
          <a:lstStyle/>
          <a:p>
            <a:pPr algn="ctr"/>
            <a:r>
              <a:rPr lang="en-US" dirty="0"/>
              <a:t>Base</a:t>
            </a:r>
          </a:p>
          <a:p>
            <a:pPr algn="ctr"/>
            <a:r>
              <a:rPr lang="en-US" dirty="0"/>
              <a:t>0.1-2L/min</a:t>
            </a:r>
          </a:p>
          <a:p>
            <a:pPr algn="ctr"/>
            <a:endParaRPr lang="en-US" dirty="0"/>
          </a:p>
        </p:txBody>
      </p:sp>
      <p:sp>
        <p:nvSpPr>
          <p:cNvPr id="26" name="TextBox 25">
            <a:extLst>
              <a:ext uri="{FF2B5EF4-FFF2-40B4-BE49-F238E27FC236}">
                <a16:creationId xmlns:a16="http://schemas.microsoft.com/office/drawing/2014/main" id="{FF60FCCE-9EF1-4A5F-8016-B137AE651C5A}"/>
              </a:ext>
            </a:extLst>
          </p:cNvPr>
          <p:cNvSpPr txBox="1"/>
          <p:nvPr/>
        </p:nvSpPr>
        <p:spPr>
          <a:xfrm>
            <a:off x="3435224" y="676629"/>
            <a:ext cx="2146806" cy="369332"/>
          </a:xfrm>
          <a:prstGeom prst="rect">
            <a:avLst/>
          </a:prstGeom>
          <a:noFill/>
        </p:spPr>
        <p:txBody>
          <a:bodyPr wrap="none" rtlCol="0">
            <a:spAutoFit/>
          </a:bodyPr>
          <a:lstStyle/>
          <a:p>
            <a:pPr algn="ctr"/>
            <a:r>
              <a:rPr lang="en-US"/>
              <a:t>From </a:t>
            </a:r>
            <a:r>
              <a:rPr lang="en-US" err="1"/>
              <a:t>ProA</a:t>
            </a:r>
            <a:r>
              <a:rPr lang="en-US"/>
              <a:t> Column</a:t>
            </a:r>
          </a:p>
        </p:txBody>
      </p:sp>
      <p:sp>
        <p:nvSpPr>
          <p:cNvPr id="34" name="Oval 33">
            <a:extLst>
              <a:ext uri="{FF2B5EF4-FFF2-40B4-BE49-F238E27FC236}">
                <a16:creationId xmlns:a16="http://schemas.microsoft.com/office/drawing/2014/main" id="{920ED7C8-101B-4D31-8E3D-9B2976A4E8EE}"/>
              </a:ext>
            </a:extLst>
          </p:cNvPr>
          <p:cNvSpPr/>
          <p:nvPr/>
        </p:nvSpPr>
        <p:spPr>
          <a:xfrm>
            <a:off x="6790415" y="358362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3674A88-52E0-450A-B653-18EBE1B976EE}"/>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9A5F6E31-ACFC-4F7E-BFF1-404E67F96DE8}"/>
              </a:ext>
            </a:extLst>
          </p:cNvPr>
          <p:cNvCxnSpPr>
            <a:cxnSpLocks/>
            <a:endCxn id="35" idx="0"/>
          </p:cNvCxnSpPr>
          <p:nvPr/>
        </p:nvCxnSpPr>
        <p:spPr>
          <a:xfrm>
            <a:off x="5918502" y="795174"/>
            <a:ext cx="1203640" cy="499186"/>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ED70ABF-ED5B-417D-AF5C-0B58B1DB11E7}"/>
              </a:ext>
            </a:extLst>
          </p:cNvPr>
          <p:cNvCxnSpPr>
            <a:cxnSpLocks/>
            <a:stCxn id="35" idx="3"/>
            <a:endCxn id="72" idx="0"/>
          </p:cNvCxnSpPr>
          <p:nvPr/>
        </p:nvCxnSpPr>
        <p:spPr>
          <a:xfrm rot="16200000" flipH="1">
            <a:off x="6795026" y="1863313"/>
            <a:ext cx="447738" cy="170214"/>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106B194D-0300-41B8-AB97-0BB39B1F59B4}"/>
              </a:ext>
            </a:extLst>
          </p:cNvPr>
          <p:cNvCxnSpPr>
            <a:cxnSpLocks/>
            <a:stCxn id="35" idx="5"/>
          </p:cNvCxnSpPr>
          <p:nvPr/>
        </p:nvCxnSpPr>
        <p:spPr>
          <a:xfrm rot="16200000" flipH="1">
            <a:off x="7412035" y="1623011"/>
            <a:ext cx="577802" cy="78088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EC858A54-76E2-4B2C-861B-1F8CA3D0F7D5}"/>
              </a:ext>
            </a:extLst>
          </p:cNvPr>
          <p:cNvCxnSpPr>
            <a:cxnSpLocks/>
            <a:stCxn id="72" idx="2"/>
            <a:endCxn id="34" idx="1"/>
          </p:cNvCxnSpPr>
          <p:nvPr/>
        </p:nvCxnSpPr>
        <p:spPr>
          <a:xfrm rot="5400000">
            <a:off x="6680028" y="3233454"/>
            <a:ext cx="612381" cy="235568"/>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9EAE652D-3CF6-40D4-B3FA-BC809D476783}"/>
              </a:ext>
            </a:extLst>
          </p:cNvPr>
          <p:cNvCxnSpPr>
            <a:stCxn id="34" idx="5"/>
          </p:cNvCxnSpPr>
          <p:nvPr/>
        </p:nvCxnSpPr>
        <p:spPr>
          <a:xfrm rot="16200000" flipH="1">
            <a:off x="7363909" y="3895043"/>
            <a:ext cx="375595" cy="61312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E67E2-37CA-4430-9A8C-84EDB0502D6F}"/>
              </a:ext>
            </a:extLst>
          </p:cNvPr>
          <p:cNvCxnSpPr>
            <a:stCxn id="34" idx="3"/>
          </p:cNvCxnSpPr>
          <p:nvPr/>
        </p:nvCxnSpPr>
        <p:spPr>
          <a:xfrm>
            <a:off x="6868434" y="401381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E833C816-C995-4380-8156-06260AA5B6C2}"/>
              </a:ext>
            </a:extLst>
          </p:cNvPr>
          <p:cNvGrpSpPr/>
          <p:nvPr/>
        </p:nvGrpSpPr>
        <p:grpSpPr>
          <a:xfrm>
            <a:off x="7935645" y="2368152"/>
            <a:ext cx="457200" cy="304800"/>
            <a:chOff x="6612318" y="4679156"/>
            <a:chExt cx="457200" cy="304800"/>
          </a:xfrm>
        </p:grpSpPr>
        <p:cxnSp>
          <p:nvCxnSpPr>
            <p:cNvPr id="44" name="Straight Connector 43">
              <a:extLst>
                <a:ext uri="{FF2B5EF4-FFF2-40B4-BE49-F238E27FC236}">
                  <a16:creationId xmlns:a16="http://schemas.microsoft.com/office/drawing/2014/main" id="{92D24026-FE1C-422A-9B5B-C8C3BB798CA2}"/>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34662A1-F04C-4838-BA14-B8624BF8D4B0}"/>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B78A0DC-6B89-4B7A-80A4-3EEC00170379}"/>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5F89F1F9-F187-4901-AB51-E2DBB8EDC041}"/>
              </a:ext>
            </a:extLst>
          </p:cNvPr>
          <p:cNvSpPr txBox="1"/>
          <p:nvPr/>
        </p:nvSpPr>
        <p:spPr>
          <a:xfrm>
            <a:off x="7948311" y="4204739"/>
            <a:ext cx="979755" cy="369332"/>
          </a:xfrm>
          <a:prstGeom prst="rect">
            <a:avLst/>
          </a:prstGeom>
          <a:noFill/>
        </p:spPr>
        <p:txBody>
          <a:bodyPr wrap="none" rtlCol="0">
            <a:spAutoFit/>
          </a:bodyPr>
          <a:lstStyle/>
          <a:p>
            <a:r>
              <a:rPr lang="en-US"/>
              <a:t>Product</a:t>
            </a:r>
          </a:p>
        </p:txBody>
      </p:sp>
      <p:cxnSp>
        <p:nvCxnSpPr>
          <p:cNvPr id="48" name="Connector: Elbow 47">
            <a:extLst>
              <a:ext uri="{FF2B5EF4-FFF2-40B4-BE49-F238E27FC236}">
                <a16:creationId xmlns:a16="http://schemas.microsoft.com/office/drawing/2014/main" id="{3CE6C91A-E1A2-4D76-9E0F-E6BDE5279BE3}"/>
              </a:ext>
            </a:extLst>
          </p:cNvPr>
          <p:cNvCxnSpPr>
            <a:cxnSpLocks/>
            <a:stCxn id="50" idx="6"/>
          </p:cNvCxnSpPr>
          <p:nvPr/>
        </p:nvCxnSpPr>
        <p:spPr>
          <a:xfrm flipV="1">
            <a:off x="5918502" y="1305843"/>
            <a:ext cx="1206463" cy="155617"/>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DE278910-246A-40E9-A068-4B2456D4B5A5}"/>
              </a:ext>
            </a:extLst>
          </p:cNvPr>
          <p:cNvGrpSpPr/>
          <p:nvPr/>
        </p:nvGrpSpPr>
        <p:grpSpPr>
          <a:xfrm>
            <a:off x="5562243" y="1303031"/>
            <a:ext cx="356259" cy="449101"/>
            <a:chOff x="4471713" y="4397646"/>
            <a:chExt cx="356259" cy="449101"/>
          </a:xfrm>
        </p:grpSpPr>
        <p:sp>
          <p:nvSpPr>
            <p:cNvPr id="50" name="Oval 49">
              <a:extLst>
                <a:ext uri="{FF2B5EF4-FFF2-40B4-BE49-F238E27FC236}">
                  <a16:creationId xmlns:a16="http://schemas.microsoft.com/office/drawing/2014/main" id="{A435C811-5099-4462-B5BA-FF4EB35EDDE2}"/>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7AA84154-C330-4748-AADF-849732B4CE72}"/>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88C71E47-FC02-49CB-82FC-A2F2DE579AEC}"/>
              </a:ext>
            </a:extLst>
          </p:cNvPr>
          <p:cNvGrpSpPr/>
          <p:nvPr/>
        </p:nvGrpSpPr>
        <p:grpSpPr>
          <a:xfrm>
            <a:off x="5572979" y="3115493"/>
            <a:ext cx="356259" cy="449101"/>
            <a:chOff x="4471713" y="4397646"/>
            <a:chExt cx="356259" cy="449101"/>
          </a:xfrm>
        </p:grpSpPr>
        <p:sp>
          <p:nvSpPr>
            <p:cNvPr id="53" name="Oval 52">
              <a:extLst>
                <a:ext uri="{FF2B5EF4-FFF2-40B4-BE49-F238E27FC236}">
                  <a16:creationId xmlns:a16="http://schemas.microsoft.com/office/drawing/2014/main" id="{A79AD016-A2D3-49DD-9FFF-68949EFCDA3E}"/>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27FF3DDD-FA12-4141-8266-207C9FB3E57A}"/>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58">
            <a:extLst>
              <a:ext uri="{FF2B5EF4-FFF2-40B4-BE49-F238E27FC236}">
                <a16:creationId xmlns:a16="http://schemas.microsoft.com/office/drawing/2014/main" id="{8A5C0850-C74B-45E0-9C10-4154D2C0C411}"/>
              </a:ext>
            </a:extLst>
          </p:cNvPr>
          <p:cNvCxnSpPr>
            <a:cxnSpLocks/>
            <a:stCxn id="35" idx="7"/>
            <a:endCxn id="35" idx="5"/>
          </p:cNvCxnSpPr>
          <p:nvPr/>
        </p:nvCxnSpPr>
        <p:spPr>
          <a:xfrm>
            <a:off x="7310496" y="1368169"/>
            <a:ext cx="0"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A16FBC0-6A96-4DE0-967F-0580E303F21E}"/>
              </a:ext>
            </a:extLst>
          </p:cNvPr>
          <p:cNvCxnSpPr>
            <a:cxnSpLocks/>
            <a:stCxn id="35" idx="0"/>
            <a:endCxn id="35" idx="3"/>
          </p:cNvCxnSpPr>
          <p:nvPr/>
        </p:nvCxnSpPr>
        <p:spPr>
          <a:xfrm flipH="1">
            <a:off x="6933788" y="1294360"/>
            <a:ext cx="188354" cy="430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B3B8D4A-6175-4CC2-AF91-1B8052CCAFA1}"/>
              </a:ext>
            </a:extLst>
          </p:cNvPr>
          <p:cNvCxnSpPr>
            <a:cxnSpLocks/>
            <a:stCxn id="34" idx="7"/>
            <a:endCxn id="34" idx="3"/>
          </p:cNvCxnSpPr>
          <p:nvPr/>
        </p:nvCxnSpPr>
        <p:spPr>
          <a:xfrm flipH="1">
            <a:off x="6868434" y="365742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1C6B510-8D22-4295-A28E-94AA5C5E9436}"/>
              </a:ext>
            </a:extLst>
          </p:cNvPr>
          <p:cNvCxnSpPr>
            <a:cxnSpLocks/>
            <a:stCxn id="34" idx="1"/>
            <a:endCxn id="34" idx="5"/>
          </p:cNvCxnSpPr>
          <p:nvPr/>
        </p:nvCxnSpPr>
        <p:spPr>
          <a:xfrm>
            <a:off x="6868434" y="365742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F82FFB03-1486-405D-92C6-B7A3A3B8EA06}"/>
              </a:ext>
            </a:extLst>
          </p:cNvPr>
          <p:cNvSpPr/>
          <p:nvPr/>
        </p:nvSpPr>
        <p:spPr>
          <a:xfrm>
            <a:off x="6362399" y="2172289"/>
            <a:ext cx="1483206" cy="87275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Plug Flow Reactor or Tank</a:t>
            </a:r>
          </a:p>
        </p:txBody>
      </p:sp>
      <p:grpSp>
        <p:nvGrpSpPr>
          <p:cNvPr id="81" name="Group 80">
            <a:extLst>
              <a:ext uri="{FF2B5EF4-FFF2-40B4-BE49-F238E27FC236}">
                <a16:creationId xmlns:a16="http://schemas.microsoft.com/office/drawing/2014/main" id="{C8BC10D5-12FE-4818-AD1F-7249AC5FAA23}"/>
              </a:ext>
            </a:extLst>
          </p:cNvPr>
          <p:cNvGrpSpPr/>
          <p:nvPr/>
        </p:nvGrpSpPr>
        <p:grpSpPr>
          <a:xfrm>
            <a:off x="6599588" y="4677690"/>
            <a:ext cx="457200" cy="304800"/>
            <a:chOff x="6612318" y="4679156"/>
            <a:chExt cx="457200" cy="304800"/>
          </a:xfrm>
        </p:grpSpPr>
        <p:cxnSp>
          <p:nvCxnSpPr>
            <p:cNvPr id="82" name="Straight Connector 81">
              <a:extLst>
                <a:ext uri="{FF2B5EF4-FFF2-40B4-BE49-F238E27FC236}">
                  <a16:creationId xmlns:a16="http://schemas.microsoft.com/office/drawing/2014/main" id="{64236969-0D2F-4B86-9362-BBA03A70E599}"/>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DB86D80-5F5A-445D-959F-C8049D8F0A5B}"/>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FC85468-3232-4FB0-B53D-4E0D9363B487}"/>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1A3879D0-D364-4EFF-934C-DD5947391E51}"/>
              </a:ext>
            </a:extLst>
          </p:cNvPr>
          <p:cNvGrpSpPr/>
          <p:nvPr/>
        </p:nvGrpSpPr>
        <p:grpSpPr>
          <a:xfrm>
            <a:off x="5562243" y="3689859"/>
            <a:ext cx="356259" cy="449101"/>
            <a:chOff x="4471713" y="4397646"/>
            <a:chExt cx="356259" cy="449101"/>
          </a:xfrm>
        </p:grpSpPr>
        <p:sp>
          <p:nvSpPr>
            <p:cNvPr id="88" name="Oval 87">
              <a:extLst>
                <a:ext uri="{FF2B5EF4-FFF2-40B4-BE49-F238E27FC236}">
                  <a16:creationId xmlns:a16="http://schemas.microsoft.com/office/drawing/2014/main" id="{032CEDCC-8940-4DE8-9218-87968977F4C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B4BBA95A-8A22-4FF8-B1FC-C786C1D0E9A8}"/>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92" name="Straight Arrow Connector 91">
            <a:extLst>
              <a:ext uri="{FF2B5EF4-FFF2-40B4-BE49-F238E27FC236}">
                <a16:creationId xmlns:a16="http://schemas.microsoft.com/office/drawing/2014/main" id="{2291C33A-9A77-4731-A761-C2C53F9DF3D7}"/>
              </a:ext>
            </a:extLst>
          </p:cNvPr>
          <p:cNvCxnSpPr>
            <a:cxnSpLocks/>
            <a:stCxn id="88" idx="6"/>
          </p:cNvCxnSpPr>
          <p:nvPr/>
        </p:nvCxnSpPr>
        <p:spPr>
          <a:xfrm>
            <a:off x="5918502" y="3848288"/>
            <a:ext cx="762700" cy="105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7A43990C-F407-435B-92E2-991B80EB5CA6}"/>
                  </a:ext>
                </a:extLst>
              </p:cNvPr>
              <p:cNvSpPr txBox="1"/>
              <p:nvPr/>
            </p:nvSpPr>
            <p:spPr>
              <a:xfrm>
                <a:off x="792129" y="1739308"/>
                <a:ext cx="1757425" cy="369332"/>
              </a:xfrm>
              <a:prstGeom prst="rect">
                <a:avLst/>
              </a:prstGeom>
              <a:noFill/>
            </p:spPr>
            <p:txBody>
              <a:bodyPr wrap="square" rtlCol="0">
                <a:spAutoFit/>
              </a:bodyPr>
              <a:lstStyle/>
              <a:p>
                <a:pPr algn="ctr"/>
                <a:r>
                  <a:rPr lang="en-US"/>
                  <a:t>Q</a:t>
                </a:r>
                <a:r>
                  <a:rPr lang="en-US" baseline="-25000" err="1"/>
                  <a:t>acid</a:t>
                </a:r>
                <a:r>
                  <a:rPr lang="en-US" baseline="-2500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m:rPr>
                        <m:nor/>
                      </m:rPr>
                      <a:rPr lang="en-US" dirty="0"/>
                      <m:t>UV</m:t>
                    </m:r>
                  </m:oMath>
                </a14:m>
                <a:endParaRPr lang="en-US"/>
              </a:p>
            </p:txBody>
          </p:sp>
        </mc:Choice>
        <mc:Fallback xmlns="">
          <p:sp>
            <p:nvSpPr>
              <p:cNvPr id="63" name="TextBox 62">
                <a:extLst>
                  <a:ext uri="{FF2B5EF4-FFF2-40B4-BE49-F238E27FC236}">
                    <a16:creationId xmlns:a16="http://schemas.microsoft.com/office/drawing/2014/main" id="{7A43990C-F407-435B-92E2-991B80EB5CA6}"/>
                  </a:ext>
                </a:extLst>
              </p:cNvPr>
              <p:cNvSpPr txBox="1">
                <a:spLocks noRot="1" noChangeAspect="1" noMove="1" noResize="1" noEditPoints="1" noAdjustHandles="1" noChangeArrowheads="1" noChangeShapeType="1" noTextEdit="1"/>
              </p:cNvSpPr>
              <p:nvPr/>
            </p:nvSpPr>
            <p:spPr>
              <a:xfrm>
                <a:off x="792129" y="1739308"/>
                <a:ext cx="1757425" cy="369332"/>
              </a:xfrm>
              <a:prstGeom prst="rect">
                <a:avLst/>
              </a:prstGeom>
              <a:blipFill>
                <a:blip r:embed="rId2"/>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F9438AB-2866-40E3-878C-FC15A4DF3053}"/>
                  </a:ext>
                </a:extLst>
              </p:cNvPr>
              <p:cNvSpPr txBox="1"/>
              <p:nvPr/>
            </p:nvSpPr>
            <p:spPr>
              <a:xfrm>
                <a:off x="877427" y="2114559"/>
                <a:ext cx="1586829" cy="369332"/>
              </a:xfrm>
              <a:prstGeom prst="rect">
                <a:avLst/>
              </a:prstGeom>
              <a:noFill/>
            </p:spPr>
            <p:txBody>
              <a:bodyPr wrap="square" rtlCol="0">
                <a:spAutoFit/>
              </a:bodyPr>
              <a:lstStyle/>
              <a:p>
                <a:pPr algn="ctr"/>
                <a:r>
                  <a:rPr lang="en-US" err="1"/>
                  <a:t>Q</a:t>
                </a:r>
                <a:r>
                  <a:rPr lang="en-US" baseline="-25000" err="1"/>
                  <a:t>base</a:t>
                </a:r>
                <a:r>
                  <a:rPr lang="en-US" baseline="-2500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m:rPr>
                        <m:nor/>
                      </m:rPr>
                      <a:rPr lang="en-US" dirty="0"/>
                      <m:t>UV</m:t>
                    </m:r>
                  </m:oMath>
                </a14:m>
                <a:endParaRPr lang="en-US"/>
              </a:p>
            </p:txBody>
          </p:sp>
        </mc:Choice>
        <mc:Fallback xmlns="">
          <p:sp>
            <p:nvSpPr>
              <p:cNvPr id="64" name="TextBox 63">
                <a:extLst>
                  <a:ext uri="{FF2B5EF4-FFF2-40B4-BE49-F238E27FC236}">
                    <a16:creationId xmlns:a16="http://schemas.microsoft.com/office/drawing/2014/main" id="{1F9438AB-2866-40E3-878C-FC15A4DF3053}"/>
                  </a:ext>
                </a:extLst>
              </p:cNvPr>
              <p:cNvSpPr txBox="1">
                <a:spLocks noRot="1" noChangeAspect="1" noMove="1" noResize="1" noEditPoints="1" noAdjustHandles="1" noChangeArrowheads="1" noChangeShapeType="1" noTextEdit="1"/>
              </p:cNvSpPr>
              <p:nvPr/>
            </p:nvSpPr>
            <p:spPr>
              <a:xfrm>
                <a:off x="877427" y="2114559"/>
                <a:ext cx="1586829" cy="369332"/>
              </a:xfrm>
              <a:prstGeom prst="rect">
                <a:avLst/>
              </a:prstGeom>
              <a:blipFill>
                <a:blip r:embed="rId3"/>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444CA6C-ED79-4356-89B3-87D9D3914C62}"/>
                  </a:ext>
                </a:extLst>
              </p:cNvPr>
              <p:cNvSpPr txBox="1"/>
              <p:nvPr/>
            </p:nvSpPr>
            <p:spPr>
              <a:xfrm>
                <a:off x="-157723" y="3185268"/>
                <a:ext cx="3622292" cy="923330"/>
              </a:xfrm>
              <a:prstGeom prst="rect">
                <a:avLst/>
              </a:prstGeom>
              <a:noFill/>
            </p:spPr>
            <p:txBody>
              <a:bodyPr wrap="square" rtlCol="0">
                <a:spAutoFit/>
              </a:bodyPr>
              <a:lstStyle/>
              <a:p>
                <a:pPr algn="ctr"/>
                <a:r>
                  <a:rPr lang="en-US" err="1"/>
                  <a:t>Q</a:t>
                </a:r>
                <a:r>
                  <a:rPr lang="en-US" baseline="-25000" err="1"/>
                  <a:t>water</a:t>
                </a:r>
                <a:r>
                  <a:rPr lang="en-US" baseline="-2500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m:rPr>
                        <m:nor/>
                      </m:rPr>
                      <a:rPr lang="en-US" dirty="0"/>
                      <m:t>UV</m:t>
                    </m:r>
                  </m:oMath>
                </a14:m>
                <a:r>
                  <a:rPr lang="en-US"/>
                  <a:t> </a:t>
                </a:r>
              </a:p>
              <a:p>
                <a:pPr algn="ctr"/>
                <a:r>
                  <a:rPr lang="en-US"/>
                  <a:t>(to maintain constant ionic strength)</a:t>
                </a:r>
              </a:p>
            </p:txBody>
          </p:sp>
        </mc:Choice>
        <mc:Fallback xmlns="">
          <p:sp>
            <p:nvSpPr>
              <p:cNvPr id="65" name="TextBox 64">
                <a:extLst>
                  <a:ext uri="{FF2B5EF4-FFF2-40B4-BE49-F238E27FC236}">
                    <a16:creationId xmlns:a16="http://schemas.microsoft.com/office/drawing/2014/main" id="{0444CA6C-ED79-4356-89B3-87D9D3914C62}"/>
                  </a:ext>
                </a:extLst>
              </p:cNvPr>
              <p:cNvSpPr txBox="1">
                <a:spLocks noRot="1" noChangeAspect="1" noMove="1" noResize="1" noEditPoints="1" noAdjustHandles="1" noChangeArrowheads="1" noChangeShapeType="1" noTextEdit="1"/>
              </p:cNvSpPr>
              <p:nvPr/>
            </p:nvSpPr>
            <p:spPr>
              <a:xfrm>
                <a:off x="-157723" y="3185268"/>
                <a:ext cx="3622292" cy="923330"/>
              </a:xfrm>
              <a:prstGeom prst="rect">
                <a:avLst/>
              </a:prstGeom>
              <a:blipFill>
                <a:blip r:embed="rId4"/>
                <a:stretch>
                  <a:fillRect t="-3974" b="-9934"/>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23B81B7-B5AE-42F2-B0E1-96A0DA7990A8}"/>
              </a:ext>
            </a:extLst>
          </p:cNvPr>
          <p:cNvCxnSpPr>
            <a:stCxn id="53" idx="6"/>
          </p:cNvCxnSpPr>
          <p:nvPr/>
        </p:nvCxnSpPr>
        <p:spPr>
          <a:xfrm flipV="1">
            <a:off x="5929238" y="3271354"/>
            <a:ext cx="670350"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CC2B8BE1-9F71-4BCA-939F-B3C0B13FC573}"/>
              </a:ext>
            </a:extLst>
          </p:cNvPr>
          <p:cNvGrpSpPr/>
          <p:nvPr/>
        </p:nvGrpSpPr>
        <p:grpSpPr>
          <a:xfrm>
            <a:off x="6686804" y="1820893"/>
            <a:ext cx="411250" cy="193657"/>
            <a:chOff x="6631843" y="3975912"/>
            <a:chExt cx="411250" cy="193657"/>
          </a:xfrm>
        </p:grpSpPr>
        <p:sp>
          <p:nvSpPr>
            <p:cNvPr id="56" name="Oval 55">
              <a:extLst>
                <a:ext uri="{FF2B5EF4-FFF2-40B4-BE49-F238E27FC236}">
                  <a16:creationId xmlns:a16="http://schemas.microsoft.com/office/drawing/2014/main" id="{1E196522-007C-48A2-8982-1828F60650C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3F15EBB-9366-4DB8-B16C-4172A72CD234}"/>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2DF6F89-D771-4003-AEC7-8E8F9D317DF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63223AF8-7CF6-4F9D-9EF8-BFB4DCD772AF}"/>
              </a:ext>
            </a:extLst>
          </p:cNvPr>
          <p:cNvGrpSpPr/>
          <p:nvPr/>
        </p:nvGrpSpPr>
        <p:grpSpPr>
          <a:xfrm>
            <a:off x="7018895" y="4099172"/>
            <a:ext cx="411250" cy="193657"/>
            <a:chOff x="6631843" y="3975912"/>
            <a:chExt cx="411250" cy="193657"/>
          </a:xfrm>
        </p:grpSpPr>
        <p:sp>
          <p:nvSpPr>
            <p:cNvPr id="69" name="Oval 68">
              <a:extLst>
                <a:ext uri="{FF2B5EF4-FFF2-40B4-BE49-F238E27FC236}">
                  <a16:creationId xmlns:a16="http://schemas.microsoft.com/office/drawing/2014/main" id="{B467195E-BA0E-4B87-84BC-40C5626C2F21}"/>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CCA925E-B32B-4938-9BF4-81C1439929B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DD30D41-99BE-455C-821A-D145F4F2621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9452BF51-F12A-48D9-B86D-5DB3196D2227}"/>
              </a:ext>
            </a:extLst>
          </p:cNvPr>
          <p:cNvGrpSpPr/>
          <p:nvPr/>
        </p:nvGrpSpPr>
        <p:grpSpPr>
          <a:xfrm>
            <a:off x="1607558" y="4636433"/>
            <a:ext cx="411250" cy="193657"/>
            <a:chOff x="6631843" y="3975912"/>
            <a:chExt cx="411250" cy="193657"/>
          </a:xfrm>
        </p:grpSpPr>
        <p:sp>
          <p:nvSpPr>
            <p:cNvPr id="74" name="Oval 73">
              <a:extLst>
                <a:ext uri="{FF2B5EF4-FFF2-40B4-BE49-F238E27FC236}">
                  <a16:creationId xmlns:a16="http://schemas.microsoft.com/office/drawing/2014/main" id="{F54F6FC2-F73B-495A-BD11-1E0AF950859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43151613-CFD9-4909-BA32-A566C72C59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679BFA0-DCDD-4672-9A76-80C1D2301395}"/>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TextBox 76">
            <a:extLst>
              <a:ext uri="{FF2B5EF4-FFF2-40B4-BE49-F238E27FC236}">
                <a16:creationId xmlns:a16="http://schemas.microsoft.com/office/drawing/2014/main" id="{B0FAA2E9-F246-49E7-8DC0-519415ED528D}"/>
              </a:ext>
            </a:extLst>
          </p:cNvPr>
          <p:cNvSpPr txBox="1"/>
          <p:nvPr/>
        </p:nvSpPr>
        <p:spPr>
          <a:xfrm>
            <a:off x="2027970" y="4539722"/>
            <a:ext cx="710451" cy="369332"/>
          </a:xfrm>
          <a:prstGeom prst="rect">
            <a:avLst/>
          </a:prstGeom>
          <a:noFill/>
        </p:spPr>
        <p:txBody>
          <a:bodyPr wrap="square" rtlCol="0">
            <a:spAutoFit/>
          </a:bodyPr>
          <a:lstStyle/>
          <a:p>
            <a:r>
              <a:rPr lang="en-US"/>
              <a:t>pH</a:t>
            </a:r>
          </a:p>
        </p:txBody>
      </p:sp>
      <p:grpSp>
        <p:nvGrpSpPr>
          <p:cNvPr id="79" name="Group 78">
            <a:extLst>
              <a:ext uri="{FF2B5EF4-FFF2-40B4-BE49-F238E27FC236}">
                <a16:creationId xmlns:a16="http://schemas.microsoft.com/office/drawing/2014/main" id="{1579D646-24B0-44D2-B5BF-33411928A937}"/>
              </a:ext>
            </a:extLst>
          </p:cNvPr>
          <p:cNvGrpSpPr/>
          <p:nvPr/>
        </p:nvGrpSpPr>
        <p:grpSpPr>
          <a:xfrm>
            <a:off x="6902927" y="964937"/>
            <a:ext cx="411250" cy="193657"/>
            <a:chOff x="6631843" y="3975912"/>
            <a:chExt cx="411250" cy="193657"/>
          </a:xfrm>
        </p:grpSpPr>
        <p:sp>
          <p:nvSpPr>
            <p:cNvPr id="80" name="Oval 79">
              <a:extLst>
                <a:ext uri="{FF2B5EF4-FFF2-40B4-BE49-F238E27FC236}">
                  <a16:creationId xmlns:a16="http://schemas.microsoft.com/office/drawing/2014/main" id="{DCD61402-6E9B-4946-BFAA-C2AA8F11C20F}"/>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F89C9A15-64CC-41FA-A205-7AE8E3969866}"/>
                </a:ext>
              </a:extLst>
            </p:cNvPr>
            <p:cNvSpPr/>
            <p:nvPr/>
          </p:nvSpPr>
          <p:spPr>
            <a:xfrm>
              <a:off x="6752131" y="3985545"/>
              <a:ext cx="179766" cy="165412"/>
            </a:xfrm>
            <a:prstGeom prst="ellipse">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B06B0740-9BE7-4D8F-9FEC-21950D28A34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B2098DB1-FA0D-4A0C-88E8-545C9C34A014}"/>
              </a:ext>
            </a:extLst>
          </p:cNvPr>
          <p:cNvSpPr txBox="1"/>
          <p:nvPr/>
        </p:nvSpPr>
        <p:spPr>
          <a:xfrm>
            <a:off x="7264119" y="882347"/>
            <a:ext cx="532746" cy="369332"/>
          </a:xfrm>
          <a:prstGeom prst="rect">
            <a:avLst/>
          </a:prstGeom>
          <a:noFill/>
        </p:spPr>
        <p:txBody>
          <a:bodyPr wrap="square" rtlCol="0">
            <a:spAutoFit/>
          </a:bodyPr>
          <a:lstStyle/>
          <a:p>
            <a:r>
              <a:rPr lang="en-US"/>
              <a:t>UV</a:t>
            </a:r>
          </a:p>
        </p:txBody>
      </p:sp>
      <p:grpSp>
        <p:nvGrpSpPr>
          <p:cNvPr id="90" name="Group 89">
            <a:extLst>
              <a:ext uri="{FF2B5EF4-FFF2-40B4-BE49-F238E27FC236}">
                <a16:creationId xmlns:a16="http://schemas.microsoft.com/office/drawing/2014/main" id="{3DB38BE6-5E26-487D-AC7E-0FCBFB676393}"/>
              </a:ext>
            </a:extLst>
          </p:cNvPr>
          <p:cNvGrpSpPr/>
          <p:nvPr/>
        </p:nvGrpSpPr>
        <p:grpSpPr>
          <a:xfrm>
            <a:off x="6893957" y="3120585"/>
            <a:ext cx="411250" cy="193657"/>
            <a:chOff x="6631843" y="3975912"/>
            <a:chExt cx="411250" cy="193657"/>
          </a:xfrm>
        </p:grpSpPr>
        <p:sp>
          <p:nvSpPr>
            <p:cNvPr id="91" name="Oval 90">
              <a:extLst>
                <a:ext uri="{FF2B5EF4-FFF2-40B4-BE49-F238E27FC236}">
                  <a16:creationId xmlns:a16="http://schemas.microsoft.com/office/drawing/2014/main" id="{9E02CF59-FC4A-4AEC-BE3B-CC9BB5D66EEB}"/>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56C7A6A-A5BB-48AD-AAF4-008738F1E650}"/>
                </a:ext>
              </a:extLst>
            </p:cNvPr>
            <p:cNvSpPr/>
            <p:nvPr/>
          </p:nvSpPr>
          <p:spPr>
            <a:xfrm>
              <a:off x="6752131" y="3985545"/>
              <a:ext cx="179766" cy="165412"/>
            </a:xfrm>
            <a:prstGeom prst="ellipse">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2DB5E8AA-2067-473D-B59C-D8712985883E}"/>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5" name="TextBox 94">
            <a:extLst>
              <a:ext uri="{FF2B5EF4-FFF2-40B4-BE49-F238E27FC236}">
                <a16:creationId xmlns:a16="http://schemas.microsoft.com/office/drawing/2014/main" id="{FA0E6D7E-8BCB-46B4-A378-64D650A9572B}"/>
              </a:ext>
            </a:extLst>
          </p:cNvPr>
          <p:cNvSpPr txBox="1"/>
          <p:nvPr/>
        </p:nvSpPr>
        <p:spPr>
          <a:xfrm>
            <a:off x="7255149" y="3037995"/>
            <a:ext cx="532746" cy="369332"/>
          </a:xfrm>
          <a:prstGeom prst="rect">
            <a:avLst/>
          </a:prstGeom>
          <a:noFill/>
        </p:spPr>
        <p:txBody>
          <a:bodyPr wrap="square" rtlCol="0">
            <a:spAutoFit/>
          </a:bodyPr>
          <a:lstStyle/>
          <a:p>
            <a:r>
              <a:rPr lang="en-US"/>
              <a:t>UV</a:t>
            </a:r>
          </a:p>
        </p:txBody>
      </p:sp>
    </p:spTree>
    <p:extLst>
      <p:ext uri="{BB962C8B-B14F-4D97-AF65-F5344CB8AC3E}">
        <p14:creationId xmlns:p14="http://schemas.microsoft.com/office/powerpoint/2010/main" val="2843946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59D7FC-2E2E-4643-ADF9-9F66D99607EC}"/>
              </a:ext>
            </a:extLst>
          </p:cNvPr>
          <p:cNvSpPr>
            <a:spLocks noGrp="1"/>
          </p:cNvSpPr>
          <p:nvPr>
            <p:ph type="sldNum" sz="quarter" idx="4"/>
          </p:nvPr>
        </p:nvSpPr>
        <p:spPr/>
        <p:txBody>
          <a:bodyPr/>
          <a:lstStyle/>
          <a:p>
            <a:fld id="{3C4F54F3-C349-4609-AFEE-01462D5C7942}" type="slidenum">
              <a:rPr lang="en-GB" smtClean="0"/>
              <a:pPr/>
              <a:t>25</a:t>
            </a:fld>
            <a:endParaRPr lang="en-GB"/>
          </a:p>
        </p:txBody>
      </p:sp>
      <p:sp>
        <p:nvSpPr>
          <p:cNvPr id="3" name="Title 2">
            <a:extLst>
              <a:ext uri="{FF2B5EF4-FFF2-40B4-BE49-F238E27FC236}">
                <a16:creationId xmlns:a16="http://schemas.microsoft.com/office/drawing/2014/main" id="{6DE0ECCE-E0ED-6F46-BF2B-8C2D11D8358B}"/>
              </a:ext>
            </a:extLst>
          </p:cNvPr>
          <p:cNvSpPr>
            <a:spLocks noGrp="1"/>
          </p:cNvSpPr>
          <p:nvPr>
            <p:ph type="title"/>
          </p:nvPr>
        </p:nvSpPr>
        <p:spPr/>
        <p:txBody>
          <a:bodyPr/>
          <a:lstStyle/>
          <a:p>
            <a:r>
              <a:rPr lang="en-US" dirty="0"/>
              <a:t>PFR Characteristics</a:t>
            </a:r>
          </a:p>
        </p:txBody>
      </p:sp>
      <p:graphicFrame>
        <p:nvGraphicFramePr>
          <p:cNvPr id="4" name="Table 3">
            <a:extLst>
              <a:ext uri="{FF2B5EF4-FFF2-40B4-BE49-F238E27FC236}">
                <a16:creationId xmlns:a16="http://schemas.microsoft.com/office/drawing/2014/main" id="{EB2B5F6F-E5A7-E246-A702-9BFC35A55789}"/>
              </a:ext>
            </a:extLst>
          </p:cNvPr>
          <p:cNvGraphicFramePr>
            <a:graphicFrameLocks noGrp="1"/>
          </p:cNvGraphicFramePr>
          <p:nvPr>
            <p:extLst>
              <p:ext uri="{D42A27DB-BD31-4B8C-83A1-F6EECF244321}">
                <p14:modId xmlns:p14="http://schemas.microsoft.com/office/powerpoint/2010/main" val="3435116745"/>
              </p:ext>
            </p:extLst>
          </p:nvPr>
        </p:nvGraphicFramePr>
        <p:xfrm>
          <a:off x="714375" y="539750"/>
          <a:ext cx="7720326" cy="5577840"/>
        </p:xfrm>
        <a:graphic>
          <a:graphicData uri="http://schemas.openxmlformats.org/drawingml/2006/table">
            <a:tbl>
              <a:tblPr firstRow="1" bandRow="1">
                <a:tableStyleId>{5C22544A-7EE6-4342-B048-85BDC9FD1C3A}</a:tableStyleId>
              </a:tblPr>
              <a:tblGrid>
                <a:gridCol w="1286721">
                  <a:extLst>
                    <a:ext uri="{9D8B030D-6E8A-4147-A177-3AD203B41FA5}">
                      <a16:colId xmlns:a16="http://schemas.microsoft.com/office/drawing/2014/main" val="95198760"/>
                    </a:ext>
                  </a:extLst>
                </a:gridCol>
                <a:gridCol w="1286721">
                  <a:extLst>
                    <a:ext uri="{9D8B030D-6E8A-4147-A177-3AD203B41FA5}">
                      <a16:colId xmlns:a16="http://schemas.microsoft.com/office/drawing/2014/main" val="4128474607"/>
                    </a:ext>
                  </a:extLst>
                </a:gridCol>
                <a:gridCol w="1286721">
                  <a:extLst>
                    <a:ext uri="{9D8B030D-6E8A-4147-A177-3AD203B41FA5}">
                      <a16:colId xmlns:a16="http://schemas.microsoft.com/office/drawing/2014/main" val="3704809651"/>
                    </a:ext>
                  </a:extLst>
                </a:gridCol>
                <a:gridCol w="1286721">
                  <a:extLst>
                    <a:ext uri="{9D8B030D-6E8A-4147-A177-3AD203B41FA5}">
                      <a16:colId xmlns:a16="http://schemas.microsoft.com/office/drawing/2014/main" val="3989371234"/>
                    </a:ext>
                  </a:extLst>
                </a:gridCol>
                <a:gridCol w="1286721">
                  <a:extLst>
                    <a:ext uri="{9D8B030D-6E8A-4147-A177-3AD203B41FA5}">
                      <a16:colId xmlns:a16="http://schemas.microsoft.com/office/drawing/2014/main" val="158708410"/>
                    </a:ext>
                  </a:extLst>
                </a:gridCol>
                <a:gridCol w="1286721">
                  <a:extLst>
                    <a:ext uri="{9D8B030D-6E8A-4147-A177-3AD203B41FA5}">
                      <a16:colId xmlns:a16="http://schemas.microsoft.com/office/drawing/2014/main" val="3595581871"/>
                    </a:ext>
                  </a:extLst>
                </a:gridCol>
              </a:tblGrid>
              <a:tr h="370840">
                <a:tc>
                  <a:txBody>
                    <a:bodyPr/>
                    <a:lstStyle/>
                    <a:p>
                      <a:endParaRPr lang="en-US" dirty="0"/>
                    </a:p>
                  </a:txBody>
                  <a:tcPr/>
                </a:tc>
                <a:tc>
                  <a:txBody>
                    <a:bodyPr/>
                    <a:lstStyle/>
                    <a:p>
                      <a:r>
                        <a:rPr lang="en-US" dirty="0"/>
                        <a:t>Flow Rate Range</a:t>
                      </a:r>
                    </a:p>
                  </a:txBody>
                  <a:tcPr/>
                </a:tc>
                <a:tc>
                  <a:txBody>
                    <a:bodyPr/>
                    <a:lstStyle/>
                    <a:p>
                      <a:r>
                        <a:rPr lang="en-US" dirty="0"/>
                        <a:t>Volume</a:t>
                      </a:r>
                    </a:p>
                  </a:txBody>
                  <a:tcPr/>
                </a:tc>
                <a:tc>
                  <a:txBody>
                    <a:bodyPr/>
                    <a:lstStyle/>
                    <a:p>
                      <a:r>
                        <a:rPr lang="en-US" dirty="0"/>
                        <a:t>Efficiency (</a:t>
                      </a:r>
                      <a:r>
                        <a:rPr lang="en-US" dirty="0" err="1"/>
                        <a:t>Vreq</a:t>
                      </a:r>
                      <a:r>
                        <a:rPr lang="en-US" dirty="0"/>
                        <a:t>/ </a:t>
                      </a:r>
                      <a:r>
                        <a:rPr lang="en-US" dirty="0" err="1"/>
                        <a:t>Videal</a:t>
                      </a:r>
                      <a:r>
                        <a:rPr lang="en-US" dirty="0"/>
                        <a:t>)</a:t>
                      </a:r>
                    </a:p>
                  </a:txBody>
                  <a:tcPr/>
                </a:tc>
                <a:tc>
                  <a:txBody>
                    <a:bodyPr/>
                    <a:lstStyle/>
                    <a:p>
                      <a:r>
                        <a:rPr lang="en-US" dirty="0"/>
                        <a:t>Plant Volume Efficiency (V liquid/ </a:t>
                      </a:r>
                      <a:r>
                        <a:rPr lang="en-US" dirty="0" err="1"/>
                        <a:t>Vsystem</a:t>
                      </a:r>
                      <a:r>
                        <a:rPr lang="en-US" dirty="0"/>
                        <a:t>)</a:t>
                      </a:r>
                    </a:p>
                  </a:txBody>
                  <a:tcPr/>
                </a:tc>
                <a:tc>
                  <a:txBody>
                    <a:bodyPr/>
                    <a:lstStyle/>
                    <a:p>
                      <a:r>
                        <a:rPr lang="en-US" dirty="0"/>
                        <a:t>Description of RTD</a:t>
                      </a:r>
                    </a:p>
                  </a:txBody>
                  <a:tcPr/>
                </a:tc>
                <a:extLst>
                  <a:ext uri="{0D108BD9-81ED-4DB2-BD59-A6C34878D82A}">
                    <a16:rowId xmlns:a16="http://schemas.microsoft.com/office/drawing/2014/main" val="2707385118"/>
                  </a:ext>
                </a:extLst>
              </a:tr>
              <a:tr h="370840">
                <a:tc>
                  <a:txBody>
                    <a:bodyPr/>
                    <a:lstStyle/>
                    <a:p>
                      <a:endParaRPr lang="en-US" dirty="0"/>
                    </a:p>
                    <a:p>
                      <a:r>
                        <a:rPr lang="en-US" dirty="0"/>
                        <a:t>CFI</a:t>
                      </a:r>
                    </a:p>
                  </a:txBody>
                  <a:tcPr/>
                </a:tc>
                <a:tc>
                  <a:txBody>
                    <a:bodyPr/>
                    <a:lstStyle/>
                    <a:p>
                      <a:r>
                        <a:rPr lang="en-US" dirty="0"/>
                        <a:t>5-20ml/min</a:t>
                      </a:r>
                    </a:p>
                  </a:txBody>
                  <a:tcPr/>
                </a:tc>
                <a:tc>
                  <a:txBody>
                    <a:bodyPr/>
                    <a:lstStyle/>
                    <a:p>
                      <a:endParaRPr lang="en-US" dirty="0"/>
                    </a:p>
                  </a:txBody>
                  <a:tcPr/>
                </a:tc>
                <a:tc>
                  <a:txBody>
                    <a:bodyPr/>
                    <a:lstStyle/>
                    <a:p>
                      <a:r>
                        <a:rPr lang="en-US" dirty="0"/>
                        <a:t>130%</a:t>
                      </a:r>
                    </a:p>
                  </a:txBody>
                  <a:tcPr/>
                </a:tc>
                <a:tc>
                  <a:txBody>
                    <a:bodyPr/>
                    <a:lstStyle/>
                    <a:p>
                      <a:r>
                        <a:rPr lang="en-US" dirty="0"/>
                        <a:t>1%</a:t>
                      </a:r>
                    </a:p>
                  </a:txBody>
                  <a:tcPr/>
                </a:tc>
                <a:tc>
                  <a:txBody>
                    <a:bodyPr/>
                    <a:lstStyle/>
                    <a:p>
                      <a:endParaRPr lang="en-US"/>
                    </a:p>
                  </a:txBody>
                  <a:tcPr/>
                </a:tc>
                <a:extLst>
                  <a:ext uri="{0D108BD9-81ED-4DB2-BD59-A6C34878D82A}">
                    <a16:rowId xmlns:a16="http://schemas.microsoft.com/office/drawing/2014/main" val="4113927779"/>
                  </a:ext>
                </a:extLst>
              </a:tr>
              <a:tr h="370840">
                <a:tc>
                  <a:txBody>
                    <a:bodyPr/>
                    <a:lstStyle/>
                    <a:p>
                      <a:r>
                        <a:rPr lang="en-US" dirty="0"/>
                        <a:t>JIG</a:t>
                      </a:r>
                    </a:p>
                  </a:txBody>
                  <a:tcPr/>
                </a:tc>
                <a:tc>
                  <a:txBody>
                    <a:bodyPr/>
                    <a:lstStyle/>
                    <a:p>
                      <a:r>
                        <a:rPr lang="en-US" dirty="0"/>
                        <a:t>50-200 mil/min</a:t>
                      </a:r>
                    </a:p>
                  </a:txBody>
                  <a:tcPr/>
                </a:tc>
                <a:tc>
                  <a:txBody>
                    <a:bodyPr/>
                    <a:lstStyle/>
                    <a:p>
                      <a:endParaRPr lang="en-US" dirty="0"/>
                    </a:p>
                  </a:txBody>
                  <a:tcPr/>
                </a:tc>
                <a:tc>
                  <a:txBody>
                    <a:bodyPr/>
                    <a:lstStyle/>
                    <a:p>
                      <a:r>
                        <a:rPr lang="en-US" dirty="0"/>
                        <a:t>120%</a:t>
                      </a:r>
                    </a:p>
                  </a:txBody>
                  <a:tcPr/>
                </a:tc>
                <a:tc>
                  <a:txBody>
                    <a:bodyPr/>
                    <a:lstStyle/>
                    <a:p>
                      <a:r>
                        <a:rPr lang="en-US" dirty="0"/>
                        <a:t>30%</a:t>
                      </a:r>
                    </a:p>
                  </a:txBody>
                  <a:tcPr/>
                </a:tc>
                <a:tc>
                  <a:txBody>
                    <a:bodyPr/>
                    <a:lstStyle/>
                    <a:p>
                      <a:endParaRPr lang="en-US" dirty="0"/>
                    </a:p>
                  </a:txBody>
                  <a:tcPr/>
                </a:tc>
                <a:extLst>
                  <a:ext uri="{0D108BD9-81ED-4DB2-BD59-A6C34878D82A}">
                    <a16:rowId xmlns:a16="http://schemas.microsoft.com/office/drawing/2014/main" val="2134575585"/>
                  </a:ext>
                </a:extLst>
              </a:tr>
              <a:tr h="370840">
                <a:tc>
                  <a:txBody>
                    <a:bodyPr/>
                    <a:lstStyle/>
                    <a:p>
                      <a:r>
                        <a:rPr lang="en-US" dirty="0"/>
                        <a:t>JIG</a:t>
                      </a:r>
                    </a:p>
                  </a:txBody>
                  <a:tcPr/>
                </a:tc>
                <a:tc>
                  <a:txBody>
                    <a:bodyPr/>
                    <a:lstStyle/>
                    <a:p>
                      <a:r>
                        <a:rPr lang="en-US" dirty="0"/>
                        <a:t>500ml/Min</a:t>
                      </a:r>
                    </a:p>
                  </a:txBody>
                  <a:tcPr/>
                </a:tc>
                <a:tc>
                  <a:txBody>
                    <a:bodyPr/>
                    <a:lstStyle/>
                    <a:p>
                      <a:endParaRPr lang="en-US" dirty="0"/>
                    </a:p>
                  </a:txBody>
                  <a:tcPr/>
                </a:tc>
                <a:tc>
                  <a:txBody>
                    <a:bodyPr/>
                    <a:lstStyle/>
                    <a:p>
                      <a:r>
                        <a:rPr lang="en-US" dirty="0"/>
                        <a:t>120%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30%</a:t>
                      </a:r>
                    </a:p>
                    <a:p>
                      <a:endParaRPr lang="en-US" dirty="0"/>
                    </a:p>
                  </a:txBody>
                  <a:tcPr/>
                </a:tc>
                <a:tc>
                  <a:txBody>
                    <a:bodyPr/>
                    <a:lstStyle/>
                    <a:p>
                      <a:endParaRPr lang="en-US" dirty="0"/>
                    </a:p>
                  </a:txBody>
                  <a:tcPr/>
                </a:tc>
                <a:extLst>
                  <a:ext uri="{0D108BD9-81ED-4DB2-BD59-A6C34878D82A}">
                    <a16:rowId xmlns:a16="http://schemas.microsoft.com/office/drawing/2014/main" val="3010311578"/>
                  </a:ext>
                </a:extLst>
              </a:tr>
              <a:tr h="370840">
                <a:tc>
                  <a:txBody>
                    <a:bodyPr/>
                    <a:lstStyle/>
                    <a:p>
                      <a:r>
                        <a:rPr lang="en-US" dirty="0"/>
                        <a:t>Packed Bed Reactor</a:t>
                      </a:r>
                    </a:p>
                  </a:txBody>
                  <a:tcPr/>
                </a:tc>
                <a:tc>
                  <a:txBody>
                    <a:bodyPr/>
                    <a:lstStyle/>
                    <a:p>
                      <a:r>
                        <a:rPr lang="en-US" dirty="0"/>
                        <a:t>Any flow</a:t>
                      </a:r>
                    </a:p>
                  </a:txBody>
                  <a:tcPr/>
                </a:tc>
                <a:tc>
                  <a:txBody>
                    <a:bodyPr/>
                    <a:lstStyle/>
                    <a:p>
                      <a:endParaRPr lang="en-US" dirty="0"/>
                    </a:p>
                  </a:txBody>
                  <a:tcPr/>
                </a:tc>
                <a:tc>
                  <a:txBody>
                    <a:bodyPr/>
                    <a:lstStyle/>
                    <a:p>
                      <a:r>
                        <a:rPr lang="en-US" dirty="0"/>
                        <a:t>110%</a:t>
                      </a:r>
                    </a:p>
                  </a:txBody>
                  <a:tcPr/>
                </a:tc>
                <a:tc>
                  <a:txBody>
                    <a:bodyPr/>
                    <a:lstStyle/>
                    <a:p>
                      <a:r>
                        <a:rPr lang="en-US" dirty="0"/>
                        <a:t>30%</a:t>
                      </a:r>
                    </a:p>
                  </a:txBody>
                  <a:tcPr/>
                </a:tc>
                <a:tc>
                  <a:txBody>
                    <a:bodyPr/>
                    <a:lstStyle/>
                    <a:p>
                      <a:endParaRPr lang="en-US" dirty="0"/>
                    </a:p>
                  </a:txBody>
                  <a:tcPr/>
                </a:tc>
                <a:extLst>
                  <a:ext uri="{0D108BD9-81ED-4DB2-BD59-A6C34878D82A}">
                    <a16:rowId xmlns:a16="http://schemas.microsoft.com/office/drawing/2014/main" val="1386475247"/>
                  </a:ext>
                </a:extLst>
              </a:tr>
              <a:tr h="370840">
                <a:tc>
                  <a:txBody>
                    <a:bodyPr/>
                    <a:lstStyle/>
                    <a:p>
                      <a:r>
                        <a:rPr lang="en-US" dirty="0"/>
                        <a:t>Static mixers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495837660"/>
                  </a:ext>
                </a:extLst>
              </a:tr>
              <a:tr h="370840">
                <a:tc>
                  <a:txBody>
                    <a:bodyPr/>
                    <a:lstStyle/>
                    <a:p>
                      <a:r>
                        <a:rPr lang="en-US" dirty="0"/>
                        <a:t>Coiled tubing</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947405059"/>
                  </a:ext>
                </a:extLst>
              </a:tr>
            </a:tbl>
          </a:graphicData>
        </a:graphic>
      </p:graphicFrame>
    </p:spTree>
    <p:extLst>
      <p:ext uri="{BB962C8B-B14F-4D97-AF65-F5344CB8AC3E}">
        <p14:creationId xmlns:p14="http://schemas.microsoft.com/office/powerpoint/2010/main" val="3764492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7E4CCBC-70A8-C145-9BEF-F606FC2487E3}"/>
              </a:ext>
            </a:extLst>
          </p:cNvPr>
          <p:cNvGraphicFramePr>
            <a:graphicFrameLocks noGrp="1"/>
          </p:cNvGraphicFramePr>
          <p:nvPr/>
        </p:nvGraphicFramePr>
        <p:xfrm>
          <a:off x="226997" y="736250"/>
          <a:ext cx="7886700" cy="202946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330200">
                <a:tc>
                  <a:txBody>
                    <a:bodyPr/>
                    <a:lstStyle/>
                    <a:p>
                      <a:pPr marL="0" marR="0">
                        <a:spcBef>
                          <a:spcPts val="0"/>
                        </a:spcBef>
                        <a:spcAft>
                          <a:spcPts val="0"/>
                        </a:spcAft>
                      </a:pPr>
                      <a:r>
                        <a:rPr lang="en-US" sz="1200" dirty="0">
                          <a:effectLst/>
                        </a:rPr>
                        <a:t>Bioreactor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7658199"/>
                  </a:ext>
                </a:extLst>
              </a:tr>
              <a:tr h="190500">
                <a:tc>
                  <a:txBody>
                    <a:bodyPr/>
                    <a:lstStyle/>
                    <a:p>
                      <a:pPr marL="0" marR="0">
                        <a:spcBef>
                          <a:spcPts val="0"/>
                        </a:spcBef>
                        <a:spcAft>
                          <a:spcPts val="0"/>
                        </a:spcAft>
                      </a:pPr>
                      <a:r>
                        <a:rPr lang="en-US" sz="1200">
                          <a:effectLst/>
                        </a:rPr>
                        <a:t>Bioreactor Size (L)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500-2000 (2000)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bioreactors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1-4 </a:t>
                      </a: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rPr>
                        <a:t>Avg cell density (million cells/mL)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50-150 (150)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a:effectLst/>
                        </a:rPr>
                        <a:t>Qp (pg/cell/day)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20-60 (40)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190500">
                <a:tc>
                  <a:txBody>
                    <a:bodyPr/>
                    <a:lstStyle/>
                    <a:p>
                      <a:pPr marL="0" marR="0">
                        <a:spcBef>
                          <a:spcPts val="0"/>
                        </a:spcBef>
                        <a:spcAft>
                          <a:spcPts val="0"/>
                        </a:spcAft>
                      </a:pPr>
                      <a:r>
                        <a:rPr lang="en-US" sz="1200" dirty="0">
                          <a:effectLst/>
                        </a:rPr>
                        <a:t>Permeate Perfusion Rate (bioreactor volumes/day, </a:t>
                      </a:r>
                      <a:r>
                        <a:rPr lang="en-US" sz="1200" dirty="0" err="1">
                          <a:effectLst/>
                        </a:rPr>
                        <a:t>vvd</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rPr>
                        <a:t>Batch Duration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14-30 (20)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concentrated media feeds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1-5 (3)</a:t>
                      </a: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a:effectLst/>
                        </a:rPr>
                        <a:t> Media Concentration Factor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 1-20x (3x, 12x, 20x)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079449"/>
                  </a:ext>
                </a:extLst>
              </a:tr>
            </a:tbl>
          </a:graphicData>
        </a:graphic>
      </p:graphicFrame>
      <p:sp>
        <p:nvSpPr>
          <p:cNvPr id="13" name="Rectangle 2">
            <a:extLst>
              <a:ext uri="{FF2B5EF4-FFF2-40B4-BE49-F238E27FC236}">
                <a16:creationId xmlns:a16="http://schemas.microsoft.com/office/drawing/2014/main" id="{9B548F51-332E-D745-ADA6-14BC3FE9C128}"/>
              </a:ext>
            </a:extLst>
          </p:cNvPr>
          <p:cNvSpPr>
            <a:spLocks noChangeArrowheads="1"/>
          </p:cNvSpPr>
          <p:nvPr/>
        </p:nvSpPr>
        <p:spPr bwMode="auto">
          <a:xfrm>
            <a:off x="226997" y="4365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3">
            <a:extLst>
              <a:ext uri="{FF2B5EF4-FFF2-40B4-BE49-F238E27FC236}">
                <a16:creationId xmlns:a16="http://schemas.microsoft.com/office/drawing/2014/main" id="{0AF90473-B588-8E44-BA06-35E408F92F28}"/>
              </a:ext>
            </a:extLst>
          </p:cNvPr>
          <p:cNvSpPr>
            <a:spLocks noChangeArrowheads="1"/>
          </p:cNvSpPr>
          <p:nvPr/>
        </p:nvSpPr>
        <p:spPr bwMode="auto">
          <a:xfrm>
            <a:off x="329547" y="410289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4">
            <a:extLst>
              <a:ext uri="{FF2B5EF4-FFF2-40B4-BE49-F238E27FC236}">
                <a16:creationId xmlns:a16="http://schemas.microsoft.com/office/drawing/2014/main" id="{AEC78DCD-E3E6-1E49-8FD4-7E4624B9FCCE}"/>
              </a:ext>
            </a:extLst>
          </p:cNvPr>
          <p:cNvSpPr>
            <a:spLocks noChangeArrowheads="1"/>
          </p:cNvSpPr>
          <p:nvPr/>
        </p:nvSpPr>
        <p:spPr bwMode="auto">
          <a:xfrm>
            <a:off x="189076" y="453743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EEF213E7-6593-364D-BF30-6D1FDEF35DDC}"/>
              </a:ext>
            </a:extLst>
          </p:cNvPr>
          <p:cNvGraphicFramePr>
            <a:graphicFrameLocks noGrp="1"/>
          </p:cNvGraphicFramePr>
          <p:nvPr/>
        </p:nvGraphicFramePr>
        <p:xfrm>
          <a:off x="226997" y="2949931"/>
          <a:ext cx="7886700" cy="204470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330200">
                <a:tc>
                  <a:txBody>
                    <a:bodyPr/>
                    <a:lstStyle/>
                    <a:p>
                      <a:pPr marL="0" marR="0">
                        <a:spcBef>
                          <a:spcPts val="0"/>
                        </a:spcBef>
                        <a:spcAft>
                          <a:spcPts val="0"/>
                        </a:spcAft>
                      </a:pPr>
                      <a:r>
                        <a:rPr lang="en-US" sz="1200" dirty="0">
                          <a:effectLst/>
                        </a:rPr>
                        <a:t>Cell Retention Systems for 2000L bioreactors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7658199"/>
                  </a:ext>
                </a:extLst>
              </a:tr>
              <a:tr h="190500">
                <a:tc>
                  <a:txBody>
                    <a:bodyPr/>
                    <a:lstStyle/>
                    <a:p>
                      <a:pPr marL="0" marR="0">
                        <a:spcBef>
                          <a:spcPts val="0"/>
                        </a:spcBef>
                        <a:spcAft>
                          <a:spcPts val="0"/>
                        </a:spcAft>
                      </a:pPr>
                      <a:r>
                        <a:rPr lang="en-US" sz="1200" dirty="0">
                          <a:effectLst/>
                        </a:rPr>
                        <a:t>ATF 10 retentate flow rate (L/min)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85 </a:t>
                      </a: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ATF 10 for ATF setup</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 per bioreactor</a:t>
                      </a: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TFF for TFF setup</a:t>
                      </a:r>
                    </a:p>
                  </a:txBody>
                  <a:tcPr marL="68580" marR="68580" marT="0" marB="0"/>
                </a:tc>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383988"/>
                  </a:ext>
                </a:extLst>
              </a:tr>
              <a:tr h="190500">
                <a:tc>
                  <a:txBody>
                    <a:bodyPr/>
                    <a:lstStyle/>
                    <a:p>
                      <a:pPr marL="0" marR="0">
                        <a:spcBef>
                          <a:spcPts val="0"/>
                        </a:spcBef>
                        <a:spcAft>
                          <a:spcPts val="0"/>
                        </a:spcAft>
                      </a:pPr>
                      <a:r>
                        <a:rPr lang="en-US" sz="1200" dirty="0">
                          <a:effectLst/>
                        </a:rPr>
                        <a:t>Filter changes per lot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 per bioreactor</a:t>
                      </a: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membrane capacity (L/m</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tc>
                <a:tc>
                  <a:txBody>
                    <a:bodyPr/>
                    <a:lstStyle/>
                    <a:p>
                      <a:pPr marL="0" marR="0">
                        <a:spcBef>
                          <a:spcPts val="0"/>
                        </a:spcBef>
                        <a:spcAft>
                          <a:spcPts val="0"/>
                        </a:spcAft>
                      </a:pPr>
                      <a:r>
                        <a:rPr lang="en-US" sz="1200" dirty="0">
                          <a:effectLst/>
                        </a:rPr>
                        <a:t>1000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190500">
                <a:tc>
                  <a:txBody>
                    <a:bodyPr/>
                    <a:lstStyle/>
                    <a:p>
                      <a:pPr marL="0" marR="0">
                        <a:spcBef>
                          <a:spcPts val="0"/>
                        </a:spcBef>
                        <a:spcAft>
                          <a:spcPts val="0"/>
                        </a:spcAft>
                      </a:pPr>
                      <a:r>
                        <a:rPr lang="en-US" sz="1200" dirty="0">
                          <a:effectLst/>
                        </a:rPr>
                        <a:t>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length 41.5</a:t>
                      </a:r>
                    </a:p>
                  </a:txBody>
                  <a:tcPr marL="68580" marR="68580" marT="0" marB="0"/>
                </a:tc>
                <a:tc>
                  <a:txBody>
                    <a:bodyPr/>
                    <a:lstStyle/>
                    <a:p>
                      <a:pPr marL="0" marR="0">
                        <a:spcBef>
                          <a:spcPts val="0"/>
                        </a:spcBef>
                        <a:spcAft>
                          <a:spcPts val="0"/>
                        </a:spcAft>
                      </a:pPr>
                      <a:r>
                        <a:rPr lang="en-US" sz="1200" dirty="0">
                          <a:effectLst/>
                        </a:rPr>
                        <a:t>41.5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modules in series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Retentate Shear Rate (s</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-1</a:t>
                      </a:r>
                      <a:r>
                        <a:rPr lang="en-US" sz="1200" baseline="0" dirty="0">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2000</a:t>
                      </a:r>
                    </a:p>
                  </a:txBody>
                  <a:tcPr marL="68580" marR="68580" marT="0" marB="0"/>
                </a:tc>
                <a:extLst>
                  <a:ext uri="{0D108BD9-81ED-4DB2-BD59-A6C34878D82A}">
                    <a16:rowId xmlns:a16="http://schemas.microsoft.com/office/drawing/2014/main" val="415850645"/>
                  </a:ext>
                </a:extLst>
              </a:tr>
            </a:tbl>
          </a:graphicData>
        </a:graphic>
      </p:graphicFrame>
      <p:sp>
        <p:nvSpPr>
          <p:cNvPr id="2" name="Title 1">
            <a:extLst>
              <a:ext uri="{FF2B5EF4-FFF2-40B4-BE49-F238E27FC236}">
                <a16:creationId xmlns:a16="http://schemas.microsoft.com/office/drawing/2014/main" id="{0783AD86-9712-B845-983E-25DD050DD3A0}"/>
              </a:ext>
            </a:extLst>
          </p:cNvPr>
          <p:cNvSpPr>
            <a:spLocks noGrp="1"/>
          </p:cNvSpPr>
          <p:nvPr>
            <p:ph type="title"/>
          </p:nvPr>
        </p:nvSpPr>
        <p:spPr/>
        <p:txBody>
          <a:bodyPr/>
          <a:lstStyle/>
          <a:p>
            <a:r>
              <a:rPr lang="en-US" dirty="0"/>
              <a:t>Bioreactor Assumptions</a:t>
            </a:r>
          </a:p>
        </p:txBody>
      </p:sp>
    </p:spTree>
    <p:extLst>
      <p:ext uri="{BB962C8B-B14F-4D97-AF65-F5344CB8AC3E}">
        <p14:creationId xmlns:p14="http://schemas.microsoft.com/office/powerpoint/2010/main" val="427601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A7629A-DBBC-FD42-BC66-F87FD1D46859}"/>
              </a:ext>
            </a:extLst>
          </p:cNvPr>
          <p:cNvSpPr>
            <a:spLocks noGrp="1"/>
          </p:cNvSpPr>
          <p:nvPr>
            <p:ph type="sldNum" sz="quarter" idx="4"/>
          </p:nvPr>
        </p:nvSpPr>
        <p:spPr/>
        <p:txBody>
          <a:bodyPr/>
          <a:lstStyle/>
          <a:p>
            <a:fld id="{3C4F54F3-C349-4609-AFEE-01462D5C7942}" type="slidenum">
              <a:rPr lang="en-GB" smtClean="0"/>
              <a:pPr/>
              <a:t>27</a:t>
            </a:fld>
            <a:endParaRPr lang="en-GB"/>
          </a:p>
        </p:txBody>
      </p:sp>
      <p:sp>
        <p:nvSpPr>
          <p:cNvPr id="3" name="Title 2">
            <a:extLst>
              <a:ext uri="{FF2B5EF4-FFF2-40B4-BE49-F238E27FC236}">
                <a16:creationId xmlns:a16="http://schemas.microsoft.com/office/drawing/2014/main" id="{5A5D694C-DEB2-374E-A74B-E6E4F973F53D}"/>
              </a:ext>
            </a:extLst>
          </p:cNvPr>
          <p:cNvSpPr>
            <a:spLocks noGrp="1"/>
          </p:cNvSpPr>
          <p:nvPr>
            <p:ph type="title"/>
          </p:nvPr>
        </p:nvSpPr>
        <p:spPr/>
        <p:txBody>
          <a:bodyPr/>
          <a:lstStyle/>
          <a:p>
            <a:r>
              <a:rPr lang="en-US" dirty="0"/>
              <a:t>Downstream Assumptions</a:t>
            </a:r>
          </a:p>
        </p:txBody>
      </p:sp>
      <p:graphicFrame>
        <p:nvGraphicFramePr>
          <p:cNvPr id="4" name="Table 3">
            <a:extLst>
              <a:ext uri="{FF2B5EF4-FFF2-40B4-BE49-F238E27FC236}">
                <a16:creationId xmlns:a16="http://schemas.microsoft.com/office/drawing/2014/main" id="{AC34A2BE-FDBE-ED42-BC45-EE8BFB65E88B}"/>
              </a:ext>
            </a:extLst>
          </p:cNvPr>
          <p:cNvGraphicFramePr>
            <a:graphicFrameLocks noGrp="1"/>
          </p:cNvGraphicFramePr>
          <p:nvPr/>
        </p:nvGraphicFramePr>
        <p:xfrm>
          <a:off x="134719" y="767888"/>
          <a:ext cx="7886700" cy="1480820"/>
        </p:xfrm>
        <a:graphic>
          <a:graphicData uri="http://schemas.openxmlformats.org/drawingml/2006/table">
            <a:tbl>
              <a:tblPr firstRow="1" firstCol="1" bandRow="1">
                <a:tableStyleId>{5C22544A-7EE6-4342-B048-85BDC9FD1C3A}</a:tableStyleId>
              </a:tblPr>
              <a:tblGrid>
                <a:gridCol w="1971675">
                  <a:extLst>
                    <a:ext uri="{9D8B030D-6E8A-4147-A177-3AD203B41FA5}">
                      <a16:colId xmlns:a16="http://schemas.microsoft.com/office/drawing/2014/main" val="2944500484"/>
                    </a:ext>
                  </a:extLst>
                </a:gridCol>
                <a:gridCol w="1971675">
                  <a:extLst>
                    <a:ext uri="{9D8B030D-6E8A-4147-A177-3AD203B41FA5}">
                      <a16:colId xmlns:a16="http://schemas.microsoft.com/office/drawing/2014/main" val="3981563227"/>
                    </a:ext>
                  </a:extLst>
                </a:gridCol>
                <a:gridCol w="1971675">
                  <a:extLst>
                    <a:ext uri="{9D8B030D-6E8A-4147-A177-3AD203B41FA5}">
                      <a16:colId xmlns:a16="http://schemas.microsoft.com/office/drawing/2014/main" val="404958995"/>
                    </a:ext>
                  </a:extLst>
                </a:gridCol>
                <a:gridCol w="1971675">
                  <a:extLst>
                    <a:ext uri="{9D8B030D-6E8A-4147-A177-3AD203B41FA5}">
                      <a16:colId xmlns:a16="http://schemas.microsoft.com/office/drawing/2014/main" val="2918544811"/>
                    </a:ext>
                  </a:extLst>
                </a:gridCol>
              </a:tblGrid>
              <a:tr h="368300">
                <a:tc>
                  <a:txBody>
                    <a:bodyPr/>
                    <a:lstStyle/>
                    <a:p>
                      <a:pPr marL="0" marR="0">
                        <a:spcBef>
                          <a:spcPts val="0"/>
                        </a:spcBef>
                        <a:spcAft>
                          <a:spcPts val="0"/>
                        </a:spcAft>
                      </a:pPr>
                      <a:r>
                        <a:rPr lang="en-US" sz="1200">
                          <a:effectLst/>
                        </a:rPr>
                        <a:t>Chromatography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Protein 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Flow Through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Bind/Elute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2968557"/>
                  </a:ext>
                </a:extLst>
              </a:tr>
              <a:tr h="190500">
                <a:tc>
                  <a:txBody>
                    <a:bodyPr/>
                    <a:lstStyle/>
                    <a:p>
                      <a:pPr marL="0" marR="0">
                        <a:spcBef>
                          <a:spcPts val="0"/>
                        </a:spcBef>
                        <a:spcAft>
                          <a:spcPts val="0"/>
                        </a:spcAft>
                      </a:pPr>
                      <a:r>
                        <a:rPr lang="en-US" sz="1200">
                          <a:effectLst/>
                        </a:rPr>
                        <a:t>Capacity (g/L)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(60)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50-150 (100)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(40)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9525458"/>
                  </a:ext>
                </a:extLst>
              </a:tr>
              <a:tr h="190500">
                <a:tc>
                  <a:txBody>
                    <a:bodyPr/>
                    <a:lstStyle/>
                    <a:p>
                      <a:pPr marL="0" marR="0">
                        <a:spcBef>
                          <a:spcPts val="0"/>
                        </a:spcBef>
                        <a:spcAft>
                          <a:spcPts val="0"/>
                        </a:spcAft>
                      </a:pPr>
                      <a:r>
                        <a:rPr lang="en-US" sz="1200" dirty="0">
                          <a:effectLst/>
                        </a:rPr>
                        <a:t>Buffer Volume (1x) used (Column Volume, CV)</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16-22 (22)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10-16 (16)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10-20 (16)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6386097"/>
                  </a:ext>
                </a:extLst>
              </a:tr>
              <a:tr h="190500">
                <a:tc>
                  <a:txBody>
                    <a:bodyPr/>
                    <a:lstStyle/>
                    <a:p>
                      <a:pPr marL="0" marR="0">
                        <a:spcBef>
                          <a:spcPts val="0"/>
                        </a:spcBef>
                        <a:spcAft>
                          <a:spcPts val="0"/>
                        </a:spcAft>
                      </a:pPr>
                      <a:r>
                        <a:rPr lang="en-US" sz="1200" dirty="0">
                          <a:effectLst/>
                        </a:rPr>
                        <a:t>Elution Volume collected (CV)</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1.5-3 (2)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0.2-0.5 (0.5)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1.0-1.5 (1.5)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0875114"/>
                  </a:ext>
                </a:extLst>
              </a:tr>
              <a:tr h="190500">
                <a:tc>
                  <a:txBody>
                    <a:bodyPr/>
                    <a:lstStyle/>
                    <a:p>
                      <a:pPr marL="0" marR="0">
                        <a:spcBef>
                          <a:spcPts val="0"/>
                        </a:spcBef>
                        <a:spcAft>
                          <a:spcPts val="0"/>
                        </a:spcAft>
                      </a:pPr>
                      <a:r>
                        <a:rPr lang="en-US" sz="1200" dirty="0">
                          <a:effectLst/>
                        </a:rPr>
                        <a:t>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90%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a:effectLst/>
                        </a:rPr>
                        <a:t>95%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85%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1016"/>
                  </a:ext>
                </a:extLst>
              </a:tr>
            </a:tbl>
          </a:graphicData>
        </a:graphic>
      </p:graphicFrame>
      <p:graphicFrame>
        <p:nvGraphicFramePr>
          <p:cNvPr id="5" name="Table 4">
            <a:extLst>
              <a:ext uri="{FF2B5EF4-FFF2-40B4-BE49-F238E27FC236}">
                <a16:creationId xmlns:a16="http://schemas.microsoft.com/office/drawing/2014/main" id="{42903409-2EFF-8740-82A5-5D1D236E018B}"/>
              </a:ext>
            </a:extLst>
          </p:cNvPr>
          <p:cNvGraphicFramePr>
            <a:graphicFrameLocks noGrp="1"/>
          </p:cNvGraphicFramePr>
          <p:nvPr/>
        </p:nvGraphicFramePr>
        <p:xfrm>
          <a:off x="134719" y="2294495"/>
          <a:ext cx="7886700" cy="104140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3192870925"/>
                    </a:ext>
                  </a:extLst>
                </a:gridCol>
                <a:gridCol w="3943350">
                  <a:extLst>
                    <a:ext uri="{9D8B030D-6E8A-4147-A177-3AD203B41FA5}">
                      <a16:colId xmlns:a16="http://schemas.microsoft.com/office/drawing/2014/main" val="1921168094"/>
                    </a:ext>
                  </a:extLst>
                </a:gridCol>
              </a:tblGrid>
              <a:tr h="330200">
                <a:tc>
                  <a:txBody>
                    <a:bodyPr/>
                    <a:lstStyle/>
                    <a:p>
                      <a:pPr marL="0" marR="0">
                        <a:spcBef>
                          <a:spcPts val="0"/>
                        </a:spcBef>
                        <a:spcAft>
                          <a:spcPts val="0"/>
                        </a:spcAft>
                      </a:pPr>
                      <a:r>
                        <a:rPr lang="en-US" sz="1200" dirty="0">
                          <a:effectLst/>
                        </a:rPr>
                        <a:t>Virus Filtration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9964336"/>
                  </a:ext>
                </a:extLst>
              </a:tr>
              <a:tr h="190500">
                <a:tc>
                  <a:txBody>
                    <a:bodyPr/>
                    <a:lstStyle/>
                    <a:p>
                      <a:pPr marL="0" marR="0">
                        <a:spcBef>
                          <a:spcPts val="0"/>
                        </a:spcBef>
                        <a:spcAft>
                          <a:spcPts val="0"/>
                        </a:spcAft>
                      </a:pPr>
                      <a:r>
                        <a:rPr lang="en-US" sz="1200" dirty="0">
                          <a:effectLst/>
                        </a:rPr>
                        <a:t>Capacity (L/m2)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700-1400 (1000)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0353496"/>
                  </a:ext>
                </a:extLst>
              </a:tr>
              <a:tr h="190500">
                <a:tc>
                  <a:txBody>
                    <a:bodyPr/>
                    <a:lstStyle/>
                    <a:p>
                      <a:pPr marL="0" marR="0">
                        <a:spcBef>
                          <a:spcPts val="0"/>
                        </a:spcBef>
                        <a:spcAft>
                          <a:spcPts val="0"/>
                        </a:spcAft>
                      </a:pPr>
                      <a:r>
                        <a:rPr lang="en-US" sz="1200">
                          <a:effectLst/>
                        </a:rPr>
                        <a:t>Flux (LMH)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100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7534843"/>
                  </a:ext>
                </a:extLst>
              </a:tr>
              <a:tr h="330200">
                <a:tc>
                  <a:txBody>
                    <a:bodyPr/>
                    <a:lstStyle/>
                    <a:p>
                      <a:pPr marL="0" marR="0">
                        <a:spcBef>
                          <a:spcPts val="0"/>
                        </a:spcBef>
                        <a:spcAft>
                          <a:spcPts val="0"/>
                        </a:spcAft>
                      </a:pPr>
                      <a:r>
                        <a:rPr lang="en-US" sz="1200">
                          <a:effectLst/>
                        </a:rPr>
                        <a:t>Yield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2494660"/>
                  </a:ext>
                </a:extLst>
              </a:tr>
            </a:tbl>
          </a:graphicData>
        </a:graphic>
      </p:graphicFrame>
      <p:graphicFrame>
        <p:nvGraphicFramePr>
          <p:cNvPr id="6" name="Table 5">
            <a:extLst>
              <a:ext uri="{FF2B5EF4-FFF2-40B4-BE49-F238E27FC236}">
                <a16:creationId xmlns:a16="http://schemas.microsoft.com/office/drawing/2014/main" id="{F78EE5B2-CA02-1C4A-BDA6-32BC80A90E15}"/>
              </a:ext>
            </a:extLst>
          </p:cNvPr>
          <p:cNvGraphicFramePr>
            <a:graphicFrameLocks noGrp="1"/>
          </p:cNvGraphicFramePr>
          <p:nvPr/>
        </p:nvGraphicFramePr>
        <p:xfrm>
          <a:off x="96798" y="3447974"/>
          <a:ext cx="7886700" cy="156078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1754880186"/>
                    </a:ext>
                  </a:extLst>
                </a:gridCol>
                <a:gridCol w="3943350">
                  <a:extLst>
                    <a:ext uri="{9D8B030D-6E8A-4147-A177-3AD203B41FA5}">
                      <a16:colId xmlns:a16="http://schemas.microsoft.com/office/drawing/2014/main" val="3486141746"/>
                    </a:ext>
                  </a:extLst>
                </a:gridCol>
              </a:tblGrid>
              <a:tr h="330200">
                <a:tc>
                  <a:txBody>
                    <a:bodyPr/>
                    <a:lstStyle/>
                    <a:p>
                      <a:pPr marL="0" marR="0">
                        <a:spcBef>
                          <a:spcPts val="0"/>
                        </a:spcBef>
                        <a:spcAft>
                          <a:spcPts val="0"/>
                        </a:spcAft>
                      </a:pPr>
                      <a:r>
                        <a:rPr lang="en-US" sz="1200" dirty="0">
                          <a:effectLst/>
                        </a:rPr>
                        <a:t>UFDF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4471228"/>
                  </a:ext>
                </a:extLst>
              </a:tr>
              <a:tr h="190500">
                <a:tc>
                  <a:txBody>
                    <a:bodyPr/>
                    <a:lstStyle/>
                    <a:p>
                      <a:pPr marL="0" marR="0">
                        <a:spcBef>
                          <a:spcPts val="0"/>
                        </a:spcBef>
                        <a:spcAft>
                          <a:spcPts val="0"/>
                        </a:spcAft>
                      </a:pPr>
                      <a:r>
                        <a:rPr lang="en-US" sz="1200">
                          <a:effectLst/>
                        </a:rPr>
                        <a:t>Membrane Capacity (g/m2)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800-1500 (1000)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4884127"/>
                  </a:ext>
                </a:extLst>
              </a:tr>
              <a:tr h="266693">
                <a:tc>
                  <a:txBody>
                    <a:bodyPr/>
                    <a:lstStyle/>
                    <a:p>
                      <a:pPr marL="0" marR="0">
                        <a:spcBef>
                          <a:spcPts val="0"/>
                        </a:spcBef>
                        <a:spcAft>
                          <a:spcPts val="0"/>
                        </a:spcAft>
                      </a:pPr>
                      <a:r>
                        <a:rPr lang="en-US" sz="1200">
                          <a:effectLst/>
                        </a:rPr>
                        <a:t>Yield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3220248"/>
                  </a:ext>
                </a:extLst>
              </a:tr>
              <a:tr h="190500">
                <a:tc>
                  <a:txBody>
                    <a:bodyPr/>
                    <a:lstStyle/>
                    <a:p>
                      <a:pPr marL="0" marR="0">
                        <a:spcBef>
                          <a:spcPts val="0"/>
                        </a:spcBef>
                        <a:spcAft>
                          <a:spcPts val="0"/>
                        </a:spcAft>
                      </a:pPr>
                      <a:r>
                        <a:rPr lang="en-US" sz="1200">
                          <a:effectLst/>
                        </a:rPr>
                        <a:t>Cross Flow (LMH)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300-500 (300)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6142893"/>
                  </a:ext>
                </a:extLst>
              </a:tr>
              <a:tr h="201887">
                <a:tc>
                  <a:txBody>
                    <a:bodyPr/>
                    <a:lstStyle/>
                    <a:p>
                      <a:pPr marL="0" marR="0">
                        <a:spcBef>
                          <a:spcPts val="0"/>
                        </a:spcBef>
                        <a:spcAft>
                          <a:spcPts val="0"/>
                        </a:spcAft>
                      </a:pPr>
                      <a:r>
                        <a:rPr lang="en-US" sz="1200" dirty="0">
                          <a:effectLst/>
                        </a:rPr>
                        <a:t>Concentration 1 Flux (LMH)</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(50)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4956378"/>
                  </a:ext>
                </a:extLst>
              </a:tr>
              <a:tr h="190500">
                <a:tc>
                  <a:txBody>
                    <a:bodyPr/>
                    <a:lstStyle/>
                    <a:p>
                      <a:pPr marL="0" marR="0">
                        <a:spcBef>
                          <a:spcPts val="0"/>
                        </a:spcBef>
                        <a:spcAft>
                          <a:spcPts val="0"/>
                        </a:spcAft>
                      </a:pPr>
                      <a:r>
                        <a:rPr lang="en-US" sz="1200">
                          <a:effectLst/>
                        </a:rPr>
                        <a:t># Diavolumes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249131"/>
                  </a:ext>
                </a:extLst>
              </a:tr>
              <a:tr h="190500">
                <a:tc>
                  <a:txBody>
                    <a:bodyPr/>
                    <a:lstStyle/>
                    <a:p>
                      <a:pPr marL="0" marR="0">
                        <a:spcBef>
                          <a:spcPts val="0"/>
                        </a:spcBef>
                        <a:spcAft>
                          <a:spcPts val="0"/>
                        </a:spcAft>
                      </a:pPr>
                      <a:r>
                        <a:rPr lang="en-US" sz="1200">
                          <a:effectLst/>
                        </a:rPr>
                        <a:t>Final DS Conc Target (g/L)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0366201"/>
                  </a:ext>
                </a:extLst>
              </a:tr>
            </a:tbl>
          </a:graphicData>
        </a:graphic>
      </p:graphicFrame>
    </p:spTree>
    <p:extLst>
      <p:ext uri="{BB962C8B-B14F-4D97-AF65-F5344CB8AC3E}">
        <p14:creationId xmlns:p14="http://schemas.microsoft.com/office/powerpoint/2010/main" val="39414830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ags/tag2.xml><?xml version="1.0" encoding="utf-8"?>
<p:tagLst xmlns:a="http://schemas.openxmlformats.org/drawingml/2006/main" xmlns:r="http://schemas.openxmlformats.org/officeDocument/2006/relationships" xmlns:p="http://schemas.openxmlformats.org/presentationml/2006/main">
  <p:tag name="ASTRAZENECA" val="SMARTART"/>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1ee89e71-04cd-405e-9ca3-99e020c1694d" ContentTypeId="0x0101" PreviousValue="false"/>
</file>

<file path=customXml/item4.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Props1.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A329C4-3ADB-4121-86BB-24F2FFE9F811}">
  <ds:schemaRefs>
    <ds:schemaRef ds:uri="http://schemas.microsoft.com/sharepoint/v3/contenttype/forms"/>
  </ds:schemaRefs>
</ds:datastoreItem>
</file>

<file path=customXml/itemProps3.xml><?xml version="1.0" encoding="utf-8"?>
<ds:datastoreItem xmlns:ds="http://schemas.openxmlformats.org/officeDocument/2006/customXml" ds:itemID="{0806EBE9-B777-486F-91C5-BDD76DC6B095}">
  <ds:schemaRefs>
    <ds:schemaRef ds:uri="Microsoft.SharePoint.Taxonomy.ContentTypeSync"/>
  </ds:schemaRefs>
</ds:datastoreItem>
</file>

<file path=customXml/itemProps4.xml><?xml version="1.0" encoding="utf-8"?>
<ds:datastoreItem xmlns:ds="http://schemas.openxmlformats.org/officeDocument/2006/customXml" ds:itemID="{36C4B194-6AED-4EB9-AAF8-3EA879A21719}">
  <ds:schemaRefs>
    <ds:schemaRef ds:uri="http://schemas.microsoft.com/office/2006/metadata/propertie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d300a0bd-4cfc-466d-8c27-3f3e3db5e0e2"/>
    <ds:schemaRef ds:uri="http://purl.org/dc/elements/1.1/"/>
    <ds:schemaRef ds:uri="894b19df-7688-4a9a-9e07-15ee5fcc5493"/>
    <ds:schemaRef ds:uri="44a56295-c29e-4898-8136-a54736c65b8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13420</TotalTime>
  <Words>2053</Words>
  <Application>Microsoft Macintosh PowerPoint</Application>
  <PresentationFormat>On-screen Show (16:9)</PresentationFormat>
  <Paragraphs>825</Paragraphs>
  <Slides>27</Slides>
  <Notes>15</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27</vt:i4>
      </vt:variant>
    </vt:vector>
  </HeadingPairs>
  <TitlesOfParts>
    <vt:vector size="34" baseType="lpstr">
      <vt:lpstr>Arial</vt:lpstr>
      <vt:lpstr>Calibri</vt:lpstr>
      <vt:lpstr>Cambria Math</vt:lpstr>
      <vt:lpstr>AZ Cover Slide Options</vt:lpstr>
      <vt:lpstr>AZ Divider Slide Options</vt:lpstr>
      <vt:lpstr>AZ Divider Slide Options - Colours</vt:lpstr>
      <vt:lpstr>AZ General Master Slide Options</vt:lpstr>
      <vt:lpstr>Figures and tables for (high level) Common Framework article </vt:lpstr>
      <vt:lpstr>Next Gen Manufacturing in the Industry</vt:lpstr>
      <vt:lpstr>Common Framework for Equipment and Facility Design</vt:lpstr>
      <vt:lpstr>Common Framework ICB capable of up to 500kg lot size or 8tons per year</vt:lpstr>
      <vt:lpstr>Bioreactor Assumptions</vt:lpstr>
      <vt:lpstr>Downstream Assumptions</vt:lpstr>
      <vt:lpstr>PowerPoint Presentation</vt:lpstr>
      <vt:lpstr>PowerPoint Presentation</vt:lpstr>
      <vt:lpstr>Water Usage per day</vt:lpstr>
      <vt:lpstr>TFF Design</vt:lpstr>
      <vt:lpstr>TFF Design</vt:lpstr>
      <vt:lpstr>TFF Design</vt:lpstr>
      <vt:lpstr>TFF Design</vt:lpstr>
      <vt:lpstr>TFF Design</vt:lpstr>
      <vt:lpstr>PowerPoint Presentation</vt:lpstr>
      <vt:lpstr>PowerPoint Presentation</vt:lpstr>
      <vt:lpstr>Two Column Skid</vt:lpstr>
      <vt:lpstr>Skid complexity is low for one or two columns; significantly higher for &gt;3</vt:lpstr>
      <vt:lpstr>Figures and tables for Design Basis for Common Framework</vt:lpstr>
      <vt:lpstr>Design basis for ICB for 0.5-20kg/day </vt:lpstr>
      <vt:lpstr>Skid Pump Design and column size range for 100-2000L BRX for perfusion or fed batch</vt:lpstr>
      <vt:lpstr>Two Column Skid</vt:lpstr>
      <vt:lpstr>Can a one column skid mimic an overloaded Twin?</vt:lpstr>
      <vt:lpstr>Virus Inactivation Skid for Batch or Continuous</vt:lpstr>
      <vt:lpstr>PFR Characteristics</vt:lpstr>
      <vt:lpstr>Bioreactor Assumptions</vt:lpstr>
      <vt:lpstr>Downstream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143</cp:revision>
  <cp:lastPrinted>2018-03-07T14:46:57Z</cp:lastPrinted>
  <dcterms:created xsi:type="dcterms:W3CDTF">2020-02-25T13:25:27Z</dcterms:created>
  <dcterms:modified xsi:type="dcterms:W3CDTF">2020-09-04T15:34:47Z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