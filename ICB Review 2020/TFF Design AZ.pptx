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5"/>
    <p:sldMasterId id="2147483730" r:id="rId6"/>
    <p:sldMasterId id="2147483800" r:id="rId7"/>
    <p:sldMasterId id="2147483656" r:id="rId8"/>
  </p:sldMasterIdLst>
  <p:notesMasterIdLst>
    <p:notesMasterId r:id="rId11"/>
  </p:notesMasterIdLst>
  <p:handoutMasterIdLst>
    <p:handoutMasterId r:id="rId12"/>
  </p:handoutMasterIdLst>
  <p:sldIdLst>
    <p:sldId id="7376" r:id="rId9"/>
    <p:sldId id="7377" r:id="rId10"/>
  </p:sldIdLst>
  <p:sldSz cx="9144000" cy="5143500" type="screen16x9"/>
  <p:notesSz cx="6670675" cy="9875838"/>
  <p:custDataLst>
    <p:tags r:id="rId1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6">
          <p15:clr>
            <a:srgbClr val="A4A3A4"/>
          </p15:clr>
        </p15:guide>
        <p15:guide id="7" pos="5666">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DD0"/>
    <a:srgbClr val="00A9CE"/>
    <a:srgbClr val="D8DCDE"/>
    <a:srgbClr val="002F5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A9BEFA-BF72-8840-BE45-68F30744698C}" v="15" dt="2020-09-04T15:29:05.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61"/>
    <p:restoredTop sz="82241"/>
  </p:normalViewPr>
  <p:slideViewPr>
    <p:cSldViewPr snapToGrid="0" snapToObjects="1">
      <p:cViewPr varScale="1">
        <p:scale>
          <a:sx n="123" d="100"/>
          <a:sy n="123" d="100"/>
        </p:scale>
        <p:origin x="1080" y="176"/>
      </p:cViewPr>
      <p:guideLst>
        <p:guide orient="horz"/>
        <p:guide/>
        <p:guide pos="5666"/>
      </p:guideLst>
    </p:cSldViewPr>
  </p:slideViewPr>
  <p:notesTextViewPr>
    <p:cViewPr>
      <p:scale>
        <a:sx n="1" d="1"/>
        <a:sy n="1" d="1"/>
      </p:scale>
      <p:origin x="0" y="0"/>
    </p:cViewPr>
  </p:notesTextViewPr>
  <p:notesViewPr>
    <p:cSldViewPr snapToGrid="0" snapToObjects="1">
      <p:cViewPr varScale="1">
        <p:scale>
          <a:sx n="66" d="100"/>
          <a:sy n="66" d="100"/>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tags" Target="tags/tag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Master" Target="slideMasters/slideMaster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viewProps" Target="viewProps.xml"/><Relationship Id="rId10" Type="http://schemas.openxmlformats.org/officeDocument/2006/relationships/slide" Target="slides/slide2.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9/4/20</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9/4/20</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1</a:t>
            </a:fld>
            <a:endParaRPr lang="en-US"/>
          </a:p>
        </p:txBody>
      </p:sp>
    </p:spTree>
    <p:extLst>
      <p:ext uri="{BB962C8B-B14F-4D97-AF65-F5344CB8AC3E}">
        <p14:creationId xmlns:p14="http://schemas.microsoft.com/office/powerpoint/2010/main" val="3770164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751AE-7ABC-314D-AFAD-47B860ED6FFE}" type="slidenum">
              <a:rPr lang="en-US" smtClean="0"/>
              <a:pPr/>
              <a:t>2</a:t>
            </a:fld>
            <a:endParaRPr lang="en-US"/>
          </a:p>
        </p:txBody>
      </p:sp>
    </p:spTree>
    <p:extLst>
      <p:ext uri="{BB962C8B-B14F-4D97-AF65-F5344CB8AC3E}">
        <p14:creationId xmlns:p14="http://schemas.microsoft.com/office/powerpoint/2010/main" val="34820718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6551"/>
            <a:ext cx="8834071" cy="2120400"/>
          </a:xfrm>
          <a:prstGeom prst="rect">
            <a:avLst/>
          </a:prstGeom>
        </p:spPr>
      </p:pic>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2" name="Picture 1" descr="Eosinophil_NK_Cell_10K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3" name="Picture 2" descr="page_04_AST109_TCell_Cancer_Cell_Lipid_Layer_10K_0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VRM">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2" name="Picture 1" descr="CR_Science image_f1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3" name="Picture 2" descr="DNA_Inside_Blood_Vessel_10K_AD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pic>
        <p:nvPicPr>
          <p:cNvPr id="2" name="Picture 1" descr="Diabetes.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46050" y="2876550"/>
            <a:ext cx="8856000" cy="2127250"/>
          </a:xfrm>
          <a:prstGeom prst="rect">
            <a:avLst/>
          </a:prstGeom>
        </p:spPr>
      </p:pic>
    </p:spTree>
    <p:extLst>
      <p:ext uri="{BB962C8B-B14F-4D97-AF65-F5344CB8AC3E}">
        <p14:creationId xmlns:p14="http://schemas.microsoft.com/office/powerpoint/2010/main" val="126413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86FD2-C3A7-1C42-A299-B8FF6953E81D}"/>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902521"/>
            <a:ext cx="8856000" cy="2125663"/>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79229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23" name="Picture 22"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2" name="Picture 1" descr="CRISPR_technology_for_genome_editing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1962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2"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3" name="Picture 2" descr="A picture containing cake, indoor&#10;&#10;Description automatically generated">
            <a:extLst>
              <a:ext uri="{FF2B5EF4-FFF2-40B4-BE49-F238E27FC236}">
                <a16:creationId xmlns:a16="http://schemas.microsoft.com/office/drawing/2014/main" id="{039D58CE-906A-0B48-B080-3AC203DB51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3"/>
            <a:ext cx="8853081"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375901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4" name="Picture 3" descr="A picture containing cake, tree, indoor&#10;&#10;Description automatically generated">
            <a:extLst>
              <a:ext uri="{FF2B5EF4-FFF2-40B4-BE49-F238E27FC236}">
                <a16:creationId xmlns:a16="http://schemas.microsoft.com/office/drawing/2014/main" id="{21295B4E-B6CB-D54A-89F0-ED27C4B1679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923030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3" name="Picture 2" descr="A picture containing cake, tree, reef, indoor&#10;&#10;Description automatically generated">
            <a:extLst>
              <a:ext uri="{FF2B5EF4-FFF2-40B4-BE49-F238E27FC236}">
                <a16:creationId xmlns:a16="http://schemas.microsoft.com/office/drawing/2014/main" id="{D70BBD08-7D34-5548-A954-46F975288B59}"/>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858221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10" name="Picture Placeholder 13" descr="AZ1383_screen rotate.jpg"/>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068852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2" cy="2128214"/>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130979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6000" cy="2113995"/>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78745"/>
            <a:ext cx="8853082" cy="2123399"/>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10"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5265" y="2878745"/>
            <a:ext cx="8853082" cy="2123399"/>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10" name="Picture Placeholder 23" descr="AZ138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3874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9" name="Picture Placeholder 3" descr="AZ1428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42759473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pic>
        <p:nvPicPr>
          <p:cNvPr id="9" name="Picture Placeholder 7" descr="AZ1466_screen.jpg"/>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252811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lide Title Only">
    <p:spTree>
      <p:nvGrpSpPr>
        <p:cNvPr id="1" name=""/>
        <p:cNvGrpSpPr/>
        <p:nvPr/>
      </p:nvGrpSpPr>
      <p:grpSpPr>
        <a:xfrm>
          <a:off x="0" y="0"/>
          <a:ext cx="0" cy="0"/>
          <a:chOff x="0" y="0"/>
          <a:chExt cx="0" cy="0"/>
        </a:xfrm>
      </p:grpSpPr>
      <p:pic>
        <p:nvPicPr>
          <p:cNvPr id="11" name="Picture 10" descr="AZ_RGB_H_PO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8760" y="106818"/>
            <a:ext cx="1998000" cy="659979"/>
          </a:xfrm>
          <a:prstGeom prst="rect">
            <a:avLst/>
          </a:prstGeom>
        </p:spPr>
      </p:pic>
      <p:sp>
        <p:nvSpPr>
          <p:cNvPr id="8"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chemeClr val="tx2"/>
                </a:solidFill>
                <a:latin typeface="Arial" pitchFamily="34" charset="0"/>
                <a:cs typeface="Arial" pitchFamily="34" charset="0"/>
              </a:defRPr>
            </a:lvl1pPr>
          </a:lstStyle>
          <a:p>
            <a:r>
              <a:rPr lang="en-GB" noProof="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a:t>00 Month Year</a:t>
            </a:r>
          </a:p>
        </p:txBody>
      </p:sp>
    </p:spTree>
    <p:extLst>
      <p:ext uri="{BB962C8B-B14F-4D97-AF65-F5344CB8AC3E}">
        <p14:creationId xmlns:p14="http://schemas.microsoft.com/office/powerpoint/2010/main" val="625363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RIA Tez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6551"/>
            <a:ext cx="8834071" cy="21204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K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RI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7" name="Picture 6" descr="Eosinophil_NK_Cell_10K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Oncology">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page_04_AST109_TCell_Cancer_Cell_Lipid_Layer_10K_0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000" cy="2125664"/>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VMD">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_Science image_f1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21" y="2876550"/>
            <a:ext cx="8850368" cy="2125664"/>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tDNA">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NA_Inside_Blood_Vessel_10K_AD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abete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3" descr="Diabetes.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6050" y="2876550"/>
            <a:ext cx="8856000" cy="2127250"/>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IA TLR9">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AA4108-BF7C-8B47-A181-1F6A7DDCC8F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44000" y="2893812"/>
            <a:ext cx="8856000" cy="2125663"/>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0347771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scovery Sciences">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CRISPR_technology_for_genome_editing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6957" y="2876550"/>
            <a:ext cx="8856000" cy="2125664"/>
          </a:xfrm>
          <a:prstGeom prst="rect">
            <a:avLst/>
          </a:prstGeom>
        </p:spPr>
      </p:pic>
    </p:spTree>
    <p:extLst>
      <p:ext uri="{BB962C8B-B14F-4D97-AF65-F5344CB8AC3E}">
        <p14:creationId xmlns:p14="http://schemas.microsoft.com/office/powerpoint/2010/main" val="17705424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scovery Sciences_2">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2"/>
            <a:ext cx="8853082"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48682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Pharma_Science">
    <p:spTree>
      <p:nvGrpSpPr>
        <p:cNvPr id="1" name=""/>
        <p:cNvGrpSpPr/>
        <p:nvPr/>
      </p:nvGrpSpPr>
      <p:grpSpPr>
        <a:xfrm>
          <a:off x="0" y="0"/>
          <a:ext cx="0" cy="0"/>
          <a:chOff x="0" y="0"/>
          <a:chExt cx="0" cy="0"/>
        </a:xfrm>
      </p:grpSpPr>
      <p:pic>
        <p:nvPicPr>
          <p:cNvPr id="6" name="Picture 5" descr="A picture containing cake, indoor&#10;&#10;Description automatically generated">
            <a:extLst>
              <a:ext uri="{FF2B5EF4-FFF2-40B4-BE49-F238E27FC236}">
                <a16:creationId xmlns:a16="http://schemas.microsoft.com/office/drawing/2014/main" id="{C8911739-E2AF-3840-809D-CECCF95205E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0" y="2877963"/>
            <a:ext cx="8853081"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1179155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Pharma_Science_2">
    <p:spTree>
      <p:nvGrpSpPr>
        <p:cNvPr id="1" name=""/>
        <p:cNvGrpSpPr/>
        <p:nvPr/>
      </p:nvGrpSpPr>
      <p:grpSpPr>
        <a:xfrm>
          <a:off x="0" y="0"/>
          <a:ext cx="0" cy="0"/>
          <a:chOff x="0" y="0"/>
          <a:chExt cx="0" cy="0"/>
        </a:xfrm>
      </p:grpSpPr>
      <p:pic>
        <p:nvPicPr>
          <p:cNvPr id="7" name="Picture 6" descr="A picture containing cake, tree, indoor&#10;&#10;Description automatically generated">
            <a:extLst>
              <a:ext uri="{FF2B5EF4-FFF2-40B4-BE49-F238E27FC236}">
                <a16:creationId xmlns:a16="http://schemas.microsoft.com/office/drawing/2014/main" id="{A17D1182-E2FB-D045-B7C7-36522F049E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681"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5312137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Pharma_Science_3">
    <p:spTree>
      <p:nvGrpSpPr>
        <p:cNvPr id="1" name=""/>
        <p:cNvGrpSpPr/>
        <p:nvPr/>
      </p:nvGrpSpPr>
      <p:grpSpPr>
        <a:xfrm>
          <a:off x="0" y="0"/>
          <a:ext cx="0" cy="0"/>
          <a:chOff x="0" y="0"/>
          <a:chExt cx="0" cy="0"/>
        </a:xfrm>
      </p:grpSpPr>
      <p:pic>
        <p:nvPicPr>
          <p:cNvPr id="5" name="Picture 4" descr="A picture containing cake, tree, reef, indoor&#10;&#10;Description automatically generated">
            <a:extLst>
              <a:ext uri="{FF2B5EF4-FFF2-40B4-BE49-F238E27FC236}">
                <a16:creationId xmlns:a16="http://schemas.microsoft.com/office/drawing/2014/main" id="{D76CA433-D431-E044-8CA9-F947822F2520}"/>
              </a:ext>
            </a:extLst>
          </p:cNvPr>
          <p:cNvPicPr>
            <a:picLocks noChangeAspect="1"/>
          </p:cNvPicPr>
          <p:nvPr userDrawn="1"/>
        </p:nvPicPr>
        <p:blipFill rotWithShape="1">
          <a:blip r:embed="rId2"/>
          <a:srcRect t="28772" b="28772"/>
          <a:stretch/>
        </p:blipFill>
        <p:spPr>
          <a:xfrm>
            <a:off x="144000" y="2877964"/>
            <a:ext cx="8852400" cy="211399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288311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Neuro">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13" descr="AZ1383_screen rotate.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144001" y="2875468"/>
            <a:ext cx="8855075" cy="2133000"/>
          </a:xfrm>
          <a:prstGeom prst="rect">
            <a:avLst/>
          </a:prstGeom>
        </p:spPr>
      </p:pic>
    </p:spTree>
    <p:extLst>
      <p:ext uri="{BB962C8B-B14F-4D97-AF65-F5344CB8AC3E}">
        <p14:creationId xmlns:p14="http://schemas.microsoft.com/office/powerpoint/2010/main" val="18571665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nfection">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0" y="2877962"/>
            <a:ext cx="8853082" cy="2128214"/>
          </a:xfrm>
          <a:prstGeom prst="rect">
            <a:avLst/>
          </a:prstGeom>
        </p:spPr>
      </p:pic>
    </p:spTree>
    <p:extLst>
      <p:ext uri="{BB962C8B-B14F-4D97-AF65-F5344CB8AC3E}">
        <p14:creationId xmlns:p14="http://schemas.microsoft.com/office/powerpoint/2010/main" val="36526798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Genomics">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2875" y="2889534"/>
            <a:ext cx="8856000" cy="211399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VRM_TA">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67773"/>
            <a:ext cx="8853082"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Renal_Cardio">
    <p:spTree>
      <p:nvGrpSpPr>
        <p:cNvPr id="1" name=""/>
        <p:cNvGrpSpPr/>
        <p:nvPr/>
      </p:nvGrpSpPr>
      <p:grpSpPr>
        <a:xfrm>
          <a:off x="0" y="0"/>
          <a:ext cx="0" cy="0"/>
          <a:chOff x="0" y="0"/>
          <a:chExt cx="0" cy="0"/>
        </a:xfrm>
      </p:grpSpPr>
      <p:pic>
        <p:nvPicPr>
          <p:cNvPr id="5" name="Picture Placeholder 17">
            <a:extLst>
              <a:ext uri="{FF2B5EF4-FFF2-40B4-BE49-F238E27FC236}">
                <a16:creationId xmlns:a16="http://schemas.microsoft.com/office/drawing/2014/main" id="{CA117B70-6B8D-4CE5-A512-9A88F050DE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8490"/>
            <a:ext cx="8853082" cy="2123399"/>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UK Scientist">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4" name="Picture Placeholder 23" descr="AZ138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4343643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cientist Examining Placenta">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3" descr="AZ1428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32992402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ross-Section of Cells">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Placeholder 7" descr="AZ1466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Scientist in Lab 1">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4001" y="2875468"/>
            <a:ext cx="8855075" cy="2133000"/>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1387859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cientist in Lab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Deepal_P_Shot_2-02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8544" y="2876550"/>
            <a:ext cx="8856000" cy="2133600"/>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cientist in Lab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Drew_M-05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1"/>
            <a:ext cx="8856662" cy="2133600"/>
          </a:xfrm>
          <a:prstGeom prst="rect">
            <a:avLst/>
          </a:prstGeom>
        </p:spPr>
      </p:pic>
    </p:spTree>
    <p:extLst>
      <p:ext uri="{BB962C8B-B14F-4D97-AF65-F5344CB8AC3E}">
        <p14:creationId xmlns:p14="http://schemas.microsoft.com/office/powerpoint/2010/main" val="25243103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quipm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Shot_1-060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49"/>
            <a:ext cx="8856000" cy="2133601"/>
          </a:xfrm>
          <a:prstGeom prst="rect">
            <a:avLst/>
          </a:prstGeom>
        </p:spPr>
      </p:pic>
    </p:spTree>
    <p:extLst>
      <p:ext uri="{BB962C8B-B14F-4D97-AF65-F5344CB8AC3E}">
        <p14:creationId xmlns:p14="http://schemas.microsoft.com/office/powerpoint/2010/main" val="5810169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quipm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Shot_3-037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4463" y="2876550"/>
            <a:ext cx="8856662" cy="2133600"/>
          </a:xfrm>
          <a:prstGeom prst="rect">
            <a:avLst/>
          </a:prstGeom>
        </p:spPr>
      </p:pic>
    </p:spTree>
    <p:extLst>
      <p:ext uri="{BB962C8B-B14F-4D97-AF65-F5344CB8AC3E}">
        <p14:creationId xmlns:p14="http://schemas.microsoft.com/office/powerpoint/2010/main" val="28227254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Patient 1">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2" name="Picture 1" descr="Meryl_G-154_Re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3538" y="2876551"/>
            <a:ext cx="8856000" cy="2133600"/>
          </a:xfrm>
          <a:prstGeom prst="rect">
            <a:avLst/>
          </a:prstGeom>
        </p:spPr>
      </p:pic>
    </p:spTree>
    <p:extLst>
      <p:ext uri="{BB962C8B-B14F-4D97-AF65-F5344CB8AC3E}">
        <p14:creationId xmlns:p14="http://schemas.microsoft.com/office/powerpoint/2010/main" val="21452153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atient 2">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5" name="Picture 4" descr="Liam_S-137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8" y="2876549"/>
            <a:ext cx="8856000" cy="2133601"/>
          </a:xfrm>
          <a:prstGeom prst="rect">
            <a:avLst/>
          </a:prstGeom>
        </p:spPr>
      </p:pic>
    </p:spTree>
    <p:extLst>
      <p:ext uri="{BB962C8B-B14F-4D97-AF65-F5344CB8AC3E}">
        <p14:creationId xmlns:p14="http://schemas.microsoft.com/office/powerpoint/2010/main" val="31568106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Patient 3">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tx2"/>
                </a:solidFill>
                <a:latin typeface="Arial" pitchFamily="34" charset="0"/>
                <a:cs typeface="Arial" pitchFamily="34" charset="0"/>
              </a:defRPr>
            </a:lvl1pPr>
          </a:lstStyle>
          <a:p>
            <a:r>
              <a:rPr lang="en-GB" noProof="0"/>
              <a:t>Click to add divider title</a:t>
            </a:r>
          </a:p>
        </p:txBody>
      </p:sp>
      <p:pic>
        <p:nvPicPr>
          <p:cNvPr id="6" name="Picture 5" descr="Jasmine_A-141_Ret_EDIT_screen.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47638" y="2876549"/>
            <a:ext cx="8864600" cy="2133601"/>
          </a:xfrm>
          <a:prstGeom prst="rect">
            <a:avLst/>
          </a:prstGeom>
        </p:spPr>
      </p:pic>
    </p:spTree>
    <p:extLst>
      <p:ext uri="{BB962C8B-B14F-4D97-AF65-F5344CB8AC3E}">
        <p14:creationId xmlns:p14="http://schemas.microsoft.com/office/powerpoint/2010/main" val="29380167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 Slide Mulberr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423481516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 Slide Navy">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0872682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Slide Light Blu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35394026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Slide Purpl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13080467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Slide Graphite">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a:t>Click to add divider title</a:t>
            </a:r>
          </a:p>
        </p:txBody>
      </p:sp>
    </p:spTree>
    <p:extLst>
      <p:ext uri="{BB962C8B-B14F-4D97-AF65-F5344CB8AC3E}">
        <p14:creationId xmlns:p14="http://schemas.microsoft.com/office/powerpoint/2010/main" val="22011376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title</a:t>
            </a:r>
          </a:p>
        </p:txBody>
      </p:sp>
      <p:sp>
        <p:nvSpPr>
          <p:cNvPr id="6" name="Text Placeholder 3"/>
          <p:cNvSpPr>
            <a:spLocks noGrp="1"/>
          </p:cNvSpPr>
          <p:nvPr>
            <p:ph type="body" sz="quarter" idx="11" hasCustomPrompt="1"/>
          </p:nvPr>
        </p:nvSpPr>
        <p:spPr>
          <a:xfrm>
            <a:off x="237061"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GB" noProof="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085139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Nav Contents 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1 title</a:t>
            </a:r>
          </a:p>
        </p:txBody>
      </p:sp>
      <p:sp>
        <p:nvSpPr>
          <p:cNvPr id="61" name="Table Placeholder 29"/>
          <p:cNvSpPr>
            <a:spLocks noGrp="1"/>
          </p:cNvSpPr>
          <p:nvPr>
            <p:ph type="tbl" sz="quarter" idx="15"/>
          </p:nvPr>
        </p:nvSpPr>
        <p:spPr>
          <a:xfrm>
            <a:off x="986400"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2"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830051"/>
              </a:solidFill>
              <a:effectLst/>
              <a:uLnTx/>
              <a:uFillTx/>
              <a:latin typeface="Arial" pitchFamily="34" charset="0"/>
              <a:cs typeface="Arial" pitchFamily="34" charset="0"/>
            </a:endParaRPr>
          </a:p>
        </p:txBody>
      </p:sp>
      <p:sp>
        <p:nvSpPr>
          <p:cNvPr id="63" name="Text Placeholder 49"/>
          <p:cNvSpPr>
            <a:spLocks noGrp="1"/>
          </p:cNvSpPr>
          <p:nvPr>
            <p:ph type="body" sz="quarter" idx="26" hasCustomPrompt="1"/>
          </p:nvPr>
        </p:nvSpPr>
        <p:spPr>
          <a:xfrm>
            <a:off x="330200" y="1298700"/>
            <a:ext cx="540000" cy="405000"/>
          </a:xfrm>
          <a:prstGeom prst="rect">
            <a:avLst/>
          </a:prstGeom>
          <a:solidFill>
            <a:srgbClr val="D8DCDE"/>
          </a:solidFill>
          <a:ln w="19050" cmpd="sng">
            <a:noFill/>
          </a:ln>
        </p:spPr>
        <p:txBody>
          <a:bodyPr vert="horz" anchor="ctr"/>
          <a:lstStyle>
            <a:lvl1pPr marL="0" indent="0" algn="ctr">
              <a:lnSpc>
                <a:spcPct val="90000"/>
              </a:lnSpc>
              <a:spcBef>
                <a:spcPts val="600"/>
              </a:spcBef>
              <a:buNone/>
              <a:defRPr sz="1800" b="1">
                <a:solidFill>
                  <a:schemeClr val="tx2"/>
                </a:solidFill>
                <a:latin typeface="Arial" pitchFamily="34" charset="0"/>
                <a:cs typeface="Arial" pitchFamily="34" charset="0"/>
              </a:defRPr>
            </a:lvl1pPr>
          </a:lstStyle>
          <a:p>
            <a:pPr marL="0" marR="0" lvl="0" indent="0" algn="ctr" defTabSz="914400" eaLnBrk="1" fontAlgn="auto" latinLnBrk="0" hangingPunct="1">
              <a:lnSpc>
                <a:spcPct val="90000"/>
              </a:lnSpc>
              <a:spcBef>
                <a:spcPts val="600"/>
              </a:spcBef>
              <a:spcAft>
                <a:spcPts val="0"/>
              </a:spcAft>
              <a:buClrTx/>
              <a:buSzTx/>
              <a:buFontTx/>
              <a:buNone/>
              <a:tabLst/>
              <a:defRPr/>
            </a:pPr>
            <a:r>
              <a:rPr kumimoji="0" lang="en-GB" sz="1800" b="1" i="0" u="none" strike="noStrike" kern="0" cap="none" spc="0" normalizeH="0" baseline="0" noProof="0">
                <a:ln>
                  <a:noFill/>
                </a:ln>
                <a:solidFill>
                  <a:srgbClr val="830051"/>
                </a:solidFill>
                <a:effectLst/>
                <a:uLnTx/>
                <a:uFillTx/>
                <a:latin typeface="Arial" pitchFamily="34" charset="0"/>
                <a:cs typeface="Arial" pitchFamily="34" charset="0"/>
              </a:rPr>
              <a:t>1</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3984237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Nav Contents 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chemeClr val="tx2"/>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21323380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Nav Contents 3">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5390519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v Contents 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078618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Nav Contents 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830051"/>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53575085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av Contents 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chemeClr val="tx2"/>
                </a:solidFill>
                <a:latin typeface="Arial" pitchFamily="34" charset="0"/>
                <a:cs typeface="Arial" pitchFamily="34" charset="0"/>
              </a:defRPr>
            </a:lvl1pPr>
          </a:lstStyle>
          <a:p>
            <a:r>
              <a:rPr lang="en-GB" noProof="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5" name="Text Placeholder 49"/>
          <p:cNvSpPr>
            <a:spLocks noGrp="1"/>
          </p:cNvSpPr>
          <p:nvPr>
            <p:ph type="body" sz="quarter" idx="26" hasCustomPrompt="1"/>
          </p:nvPr>
        </p:nvSpPr>
        <p:spPr>
          <a:xfrm>
            <a:off x="330200" y="1298700"/>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29" name="Text Placeholder 49"/>
          <p:cNvSpPr>
            <a:spLocks noGrp="1"/>
          </p:cNvSpPr>
          <p:nvPr>
            <p:ph type="body" sz="quarter" idx="29" hasCustomPrompt="1"/>
          </p:nvPr>
        </p:nvSpPr>
        <p:spPr>
          <a:xfrm>
            <a:off x="330200" y="1802967"/>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830051"/>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6" name="Text Placeholder 49"/>
          <p:cNvSpPr>
            <a:spLocks noGrp="1"/>
          </p:cNvSpPr>
          <p:nvPr>
            <p:ph type="body" sz="quarter" idx="35" hasCustomPrompt="1"/>
          </p:nvPr>
        </p:nvSpPr>
        <p:spPr>
          <a:xfrm>
            <a:off x="330200" y="2822732"/>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9" name="Text Placeholder 49"/>
          <p:cNvSpPr>
            <a:spLocks noGrp="1"/>
          </p:cNvSpPr>
          <p:nvPr>
            <p:ph type="body" sz="quarter" idx="38" hasCustomPrompt="1"/>
          </p:nvPr>
        </p:nvSpPr>
        <p:spPr>
          <a:xfrm>
            <a:off x="330200" y="3331009"/>
            <a:ext cx="540000" cy="405000"/>
          </a:xfrm>
          <a:prstGeom prst="rect">
            <a:avLst/>
          </a:prstGeom>
          <a:solidFill>
            <a:schemeClr val="tx2"/>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chemeClr val="tx2"/>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chemeClr val="tx2"/>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17597948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5" name="Rectangle 4"/>
          <p:cNvSpPr>
            <a:spLocks noGrp="1" noChangeArrowheads="1"/>
          </p:cNvSpPr>
          <p:nvPr userDrawn="1"/>
        </p:nvSpPr>
        <p:spPr bwMode="auto">
          <a:xfrm>
            <a:off x="528758" y="3431381"/>
            <a:ext cx="2689225" cy="285750"/>
          </a:xfrm>
          <a:prstGeom prst="rect">
            <a:avLst/>
          </a:prstGeom>
          <a:noFill/>
          <a:ln w="9525">
            <a:noFill/>
            <a:miter lim="800000"/>
            <a:headEnd/>
            <a:tailEnd/>
          </a:ln>
          <a:effectLst/>
        </p:spPr>
        <p:txBody>
          <a:bodyPr anchor="b"/>
          <a:lstStyle/>
          <a:p>
            <a:r>
              <a:rPr lang="en-GB" sz="1400" b="1">
                <a:solidFill>
                  <a:schemeClr val="tx1"/>
                </a:solidFill>
                <a:latin typeface="Arial" pitchFamily="34" charset="0"/>
                <a:cs typeface="Arial" pitchFamily="34" charset="0"/>
              </a:rPr>
              <a:t>Confidentiality Notice </a:t>
            </a:r>
            <a:endParaRPr lang="en-GB" sz="2400">
              <a:solidFill>
                <a:schemeClr val="tx1"/>
              </a:solidFill>
              <a:latin typeface="Arial" pitchFamily="34" charset="0"/>
              <a:cs typeface="Arial" pitchFamily="34" charset="0"/>
            </a:endParaRPr>
          </a:p>
        </p:txBody>
      </p:sp>
      <p:sp>
        <p:nvSpPr>
          <p:cNvPr id="7" name="Rectangle 6"/>
          <p:cNvSpPr>
            <a:spLocks noGrp="1" noChangeArrowheads="1"/>
          </p:cNvSpPr>
          <p:nvPr userDrawn="1"/>
        </p:nvSpPr>
        <p:spPr bwMode="auto">
          <a:xfrm>
            <a:off x="541457" y="3717131"/>
            <a:ext cx="7440493" cy="648000"/>
          </a:xfrm>
          <a:prstGeom prst="rect">
            <a:avLst/>
          </a:prstGeom>
          <a:noFill/>
          <a:ln w="9525">
            <a:noFill/>
            <a:miter lim="800000"/>
            <a:headEnd/>
            <a:tailEnd/>
          </a:ln>
          <a:effectLst/>
        </p:spPr>
        <p:txBody>
          <a:bodyPr/>
          <a:lstStyle/>
          <a:p>
            <a:r>
              <a:rPr lang="en-GB" sz="900" noProof="0">
                <a:solidFill>
                  <a:schemeClr val="tx1"/>
                </a:solidFill>
                <a:latin typeface="+mn-lt"/>
                <a:cs typeface="Arial"/>
              </a:rPr>
              <a:t>This file is private and may contain confidential and proprietary information. If you have received this file in error, please notify us and remove </a:t>
            </a:r>
            <a:br>
              <a:rPr lang="en-GB" sz="900" noProof="0">
                <a:solidFill>
                  <a:schemeClr val="tx1"/>
                </a:solidFill>
                <a:latin typeface="+mn-lt"/>
                <a:cs typeface="Arial"/>
              </a:rPr>
            </a:br>
            <a:r>
              <a:rPr lang="en-GB" sz="900" noProof="0">
                <a:solidFill>
                  <a:schemeClr val="tx1"/>
                </a:solidFill>
                <a:latin typeface="+mn-lt"/>
                <a:cs typeface="Arial"/>
              </a:rPr>
              <a:t>it from your system and note that you must not copy, distribute or take any action in reliance on it. Any unauthorized use or disclosure of the contents of this file is not permitted and may be unlawful. AstraZeneca PLC, </a:t>
            </a:r>
            <a:r>
              <a:rPr lang="en-US" sz="900" kern="1200">
                <a:solidFill>
                  <a:schemeClr val="tx1"/>
                </a:solidFill>
                <a:latin typeface="+mn-lt"/>
                <a:ea typeface="+mn-ea"/>
                <a:cs typeface="Arial"/>
              </a:rPr>
              <a:t>1 Francis Crick Avenue</a:t>
            </a:r>
            <a:r>
              <a:rPr lang="en-US" sz="900" kern="1200" baseline="0">
                <a:solidFill>
                  <a:schemeClr val="tx1"/>
                </a:solidFill>
                <a:latin typeface="+mn-lt"/>
                <a:ea typeface="+mn-ea"/>
                <a:cs typeface="Arial"/>
              </a:rPr>
              <a:t>, </a:t>
            </a:r>
            <a:r>
              <a:rPr lang="en-US" sz="900" kern="1200">
                <a:solidFill>
                  <a:schemeClr val="tx1"/>
                </a:solidFill>
                <a:latin typeface="+mn-lt"/>
                <a:ea typeface="+mn-ea"/>
                <a:cs typeface="Arial"/>
              </a:rPr>
              <a:t>Cambridge Biomedical Campus, Cambridge, CB2 0AA</a:t>
            </a:r>
            <a:r>
              <a:rPr lang="en-GB" sz="900" noProof="0">
                <a:solidFill>
                  <a:schemeClr val="tx1"/>
                </a:solidFill>
                <a:latin typeface="+mn-lt"/>
                <a:cs typeface="Arial"/>
              </a:rPr>
              <a:t>, UK, T: +44(0)203 749 5000, www.astrazeneca.com</a:t>
            </a:r>
          </a:p>
        </p:txBody>
      </p:sp>
    </p:spTree>
    <p:extLst>
      <p:ext uri="{BB962C8B-B14F-4D97-AF65-F5344CB8AC3E}">
        <p14:creationId xmlns:p14="http://schemas.microsoft.com/office/powerpoint/2010/main" val="25651784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ullet Content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a:lnSpc>
                <a:spcPct val="100000"/>
              </a:lnSpc>
              <a:defRPr sz="2400" b="1" baseline="0">
                <a:solidFill>
                  <a:srgbClr val="830051"/>
                </a:solidFill>
                <a:latin typeface="Arial" pitchFamily="34" charset="0"/>
                <a:cs typeface="Arial" pitchFamily="34" charset="0"/>
              </a:defRPr>
            </a:lvl1pPr>
          </a:lstStyle>
          <a:p>
            <a:r>
              <a:rPr lang="en-GB" noProof="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ullet Content 1 with Subtitle">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chemeClr val="tx2"/>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ody Only 1">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140222748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ody and Content 1">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0"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ody 1 with Content 2">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2" name="Content Placeholder 2"/>
          <p:cNvSpPr>
            <a:spLocks noGrp="1"/>
          </p:cNvSpPr>
          <p:nvPr>
            <p:ph idx="13" hasCustomPrompt="1"/>
          </p:nvPr>
        </p:nvSpPr>
        <p:spPr>
          <a:xfrm>
            <a:off x="237062"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ody 1 with Content 3">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ody Only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and Content Right 1">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ody and Content Right 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1"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riple Headings with Triple Content">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14"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dy and Picture Right 1">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dy and Picture Right 2">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dy and Picture Lower 1">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dy and Picture Lower 2">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dy and Picture Lower 3">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s Lis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7" y="1233071"/>
            <a:ext cx="8766174" cy="3172500"/>
          </a:xfrm>
          <a:prstGeom prst="rect">
            <a:avLst/>
          </a:prstGeom>
        </p:spPr>
        <p:txBody>
          <a:bodyPr/>
          <a:lstStyle>
            <a:lvl1pPr marL="269875" indent="-269875">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0" indent="-135000">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a:t>First level</a:t>
            </a:r>
          </a:p>
          <a:p>
            <a:pPr lvl="1"/>
            <a:r>
              <a:rPr lang="en-GB" noProof="0"/>
              <a:t>Second level</a:t>
            </a:r>
          </a:p>
          <a:p>
            <a:pPr lvl="1"/>
            <a:r>
              <a:rPr lang="en-GB" noProof="0"/>
              <a:t>Third level</a:t>
            </a:r>
          </a:p>
          <a:p>
            <a:pPr lvl="1"/>
            <a:r>
              <a:rPr lang="en-GB" noProof="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
        <p:nvSpPr>
          <p:cNvPr id="6"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830051"/>
                </a:solidFill>
                <a:latin typeface="Arial" pitchFamily="34" charset="0"/>
                <a:ea typeface="+mj-ea"/>
                <a:cs typeface="Arial" pitchFamily="34" charset="0"/>
              </a:defRPr>
            </a:lvl1pPr>
          </a:lstStyle>
          <a:p>
            <a:r>
              <a:rPr lang="en-GB" noProof="0"/>
              <a:t>Click to add title</a:t>
            </a:r>
          </a:p>
        </p:txBody>
      </p:sp>
    </p:spTree>
    <p:extLst>
      <p:ext uri="{BB962C8B-B14F-4D97-AF65-F5344CB8AC3E}">
        <p14:creationId xmlns:p14="http://schemas.microsoft.com/office/powerpoint/2010/main" val="114221122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3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slideLayout" Target="../slideLayouts/slideLayout51.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31" Type="http://schemas.openxmlformats.org/officeDocument/2006/relationships/image" Target="../media/image1.jpe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4.xml"/><Relationship Id="rId7" Type="http://schemas.openxmlformats.org/officeDocument/2006/relationships/image" Target="../media/image1.jpeg"/><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theme" Target="../theme/theme3.xml"/><Relationship Id="rId5" Type="http://schemas.openxmlformats.org/officeDocument/2006/relationships/slideLayout" Target="../slideLayouts/slideLayout56.xml"/><Relationship Id="rId4"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image" Target="../media/image1.jpeg"/><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theme" Target="../theme/theme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descr="AZ_SYMBOL_RGB.jpg"/>
          <p:cNvPicPr>
            <a:picLocks noChangeAspect="1"/>
          </p:cNvPicPr>
          <p:nvPr userDrawn="1"/>
        </p:nvPicPr>
        <p:blipFill>
          <a:blip r:embed="rId24"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830" r:id="rId2"/>
    <p:sldLayoutId id="2147483828" r:id="rId3"/>
    <p:sldLayoutId id="2147483790" r:id="rId4"/>
    <p:sldLayoutId id="2147483792" r:id="rId5"/>
    <p:sldLayoutId id="2147483793" r:id="rId6"/>
    <p:sldLayoutId id="2147483824" r:id="rId7"/>
    <p:sldLayoutId id="2147483826" r:id="rId8"/>
    <p:sldLayoutId id="2147483794" r:id="rId9"/>
    <p:sldLayoutId id="2147483832" r:id="rId10"/>
    <p:sldLayoutId id="2147483842" r:id="rId11"/>
    <p:sldLayoutId id="2147483843" r:id="rId12"/>
    <p:sldLayoutId id="2147483844" r:id="rId13"/>
    <p:sldLayoutId id="2147483795" r:id="rId14"/>
    <p:sldLayoutId id="2147483796" r:id="rId15"/>
    <p:sldLayoutId id="2147483833" r:id="rId16"/>
    <p:sldLayoutId id="2147483837" r:id="rId17"/>
    <p:sldLayoutId id="2147483839" r:id="rId18"/>
    <p:sldLayoutId id="2147483797" r:id="rId19"/>
    <p:sldLayoutId id="2147483798" r:id="rId20"/>
    <p:sldLayoutId id="2147483799" r:id="rId21"/>
    <p:sldLayoutId id="2147483789" r:id="rId2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35" r:id="rId1"/>
    <p:sldLayoutId id="2147483831" r:id="rId2"/>
    <p:sldLayoutId id="2147483829" r:id="rId3"/>
    <p:sldLayoutId id="2147483812" r:id="rId4"/>
    <p:sldLayoutId id="2147483813" r:id="rId5"/>
    <p:sldLayoutId id="2147483814" r:id="rId6"/>
    <p:sldLayoutId id="2147483825" r:id="rId7"/>
    <p:sldLayoutId id="2147483827" r:id="rId8"/>
    <p:sldLayoutId id="2147483815" r:id="rId9"/>
    <p:sldLayoutId id="2147483811" r:id="rId10"/>
    <p:sldLayoutId id="2147483846" r:id="rId11"/>
    <p:sldLayoutId id="2147483845" r:id="rId12"/>
    <p:sldLayoutId id="2147483847" r:id="rId13"/>
    <p:sldLayoutId id="2147483806" r:id="rId14"/>
    <p:sldLayoutId id="2147483807" r:id="rId15"/>
    <p:sldLayoutId id="2147483841" r:id="rId16"/>
    <p:sldLayoutId id="2147483838" r:id="rId17"/>
    <p:sldLayoutId id="2147483840" r:id="rId18"/>
    <p:sldLayoutId id="2147483808" r:id="rId19"/>
    <p:sldLayoutId id="2147483809" r:id="rId20"/>
    <p:sldLayoutId id="2147483810"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5" name="Picture 4" descr="AZ_SYMBOL_RGB.jpg"/>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a:p>
        </p:txBody>
      </p:sp>
      <p:pic>
        <p:nvPicPr>
          <p:cNvPr id="4" name="Picture 3" descr="AZ_SYMBOL_RGB.jpg"/>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8440596" y="4497844"/>
            <a:ext cx="453600" cy="522161"/>
          </a:xfrm>
          <a:prstGeom prst="rect">
            <a:avLst/>
          </a:prstGeom>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68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1</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p:txBody>
          <a:bodyPr/>
          <a:lstStyle/>
          <a:p>
            <a:r>
              <a:rPr lang="en-US" dirty="0"/>
              <a:t>TFF Design</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975104" y="2627570"/>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975104" y="173837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975104" y="849176"/>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9" name="TextBox 8">
            <a:extLst>
              <a:ext uri="{FF2B5EF4-FFF2-40B4-BE49-F238E27FC236}">
                <a16:creationId xmlns:a16="http://schemas.microsoft.com/office/drawing/2014/main" id="{9F906EC8-F7DE-0C40-8AF8-E30B14717BB5}"/>
              </a:ext>
            </a:extLst>
          </p:cNvPr>
          <p:cNvSpPr txBox="1"/>
          <p:nvPr/>
        </p:nvSpPr>
        <p:spPr>
          <a:xfrm>
            <a:off x="87318" y="2330054"/>
            <a:ext cx="1929387" cy="923330"/>
          </a:xfrm>
          <a:prstGeom prst="rect">
            <a:avLst/>
          </a:prstGeom>
          <a:noFill/>
        </p:spPr>
        <p:txBody>
          <a:bodyPr wrap="square" rtlCol="0">
            <a:spAutoFit/>
          </a:bodyPr>
          <a:lstStyle/>
          <a:p>
            <a:pPr algn="ctr"/>
            <a:r>
              <a:rPr lang="en-US" dirty="0"/>
              <a:t>TFF filter modules</a:t>
            </a:r>
          </a:p>
          <a:p>
            <a:pPr algn="ctr"/>
            <a:r>
              <a:rPr lang="en-US" dirty="0"/>
              <a:t>40-50cm long</a:t>
            </a:r>
          </a:p>
        </p:txBody>
      </p:sp>
      <p:sp>
        <p:nvSpPr>
          <p:cNvPr id="13" name="TextBox 12">
            <a:extLst>
              <a:ext uri="{FF2B5EF4-FFF2-40B4-BE49-F238E27FC236}">
                <a16:creationId xmlns:a16="http://schemas.microsoft.com/office/drawing/2014/main" id="{BB8D6F3A-074B-9841-91C1-A417238D3FF0}"/>
              </a:ext>
            </a:extLst>
          </p:cNvPr>
          <p:cNvSpPr txBox="1"/>
          <p:nvPr/>
        </p:nvSpPr>
        <p:spPr>
          <a:xfrm>
            <a:off x="-121641" y="4118176"/>
            <a:ext cx="2366482" cy="923330"/>
          </a:xfrm>
          <a:prstGeom prst="rect">
            <a:avLst/>
          </a:prstGeom>
          <a:noFill/>
        </p:spPr>
        <p:txBody>
          <a:bodyPr wrap="square" rtlCol="0">
            <a:spAutoFit/>
          </a:bodyPr>
          <a:lstStyle/>
          <a:p>
            <a:pPr algn="ctr"/>
            <a:r>
              <a:rPr lang="en-US" dirty="0"/>
              <a:t>From bioreactor</a:t>
            </a:r>
          </a:p>
          <a:p>
            <a:pPr algn="ctr"/>
            <a:r>
              <a:rPr lang="en-US" dirty="0"/>
              <a:t>85 L/min</a:t>
            </a:r>
          </a:p>
          <a:p>
            <a:pPr algn="ctr"/>
            <a:r>
              <a:rPr lang="en-US" dirty="0"/>
              <a:t>1.5” tubing</a:t>
            </a:r>
          </a:p>
        </p:txBody>
      </p:sp>
      <p:sp>
        <p:nvSpPr>
          <p:cNvPr id="14" name="Rounded Rectangle 13">
            <a:extLst>
              <a:ext uri="{FF2B5EF4-FFF2-40B4-BE49-F238E27FC236}">
                <a16:creationId xmlns:a16="http://schemas.microsoft.com/office/drawing/2014/main" id="{7D21E7F5-FABF-0942-A891-5E690EFC63CA}"/>
              </a:ext>
            </a:extLst>
          </p:cNvPr>
          <p:cNvSpPr/>
          <p:nvPr/>
        </p:nvSpPr>
        <p:spPr>
          <a:xfrm>
            <a:off x="2975104" y="3516767"/>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cxnSpLocks/>
          </p:cNvCxnSpPr>
          <p:nvPr/>
        </p:nvCxnSpPr>
        <p:spPr>
          <a:xfrm flipV="1">
            <a:off x="3128470" y="3267650"/>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cxnSpLocks/>
          </p:cNvCxnSpPr>
          <p:nvPr/>
        </p:nvCxnSpPr>
        <p:spPr>
          <a:xfrm flipV="1">
            <a:off x="3128470" y="2378453"/>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7C9EAB-5CF4-FA43-96EE-2DFCD44C15EA}"/>
              </a:ext>
            </a:extLst>
          </p:cNvPr>
          <p:cNvCxnSpPr>
            <a:cxnSpLocks/>
          </p:cNvCxnSpPr>
          <p:nvPr/>
        </p:nvCxnSpPr>
        <p:spPr>
          <a:xfrm flipV="1">
            <a:off x="3128470" y="1489256"/>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0E59C26-BEB4-3540-8E66-81D3F441F500}"/>
              </a:ext>
            </a:extLst>
          </p:cNvPr>
          <p:cNvCxnSpPr>
            <a:cxnSpLocks/>
          </p:cNvCxnSpPr>
          <p:nvPr/>
        </p:nvCxnSpPr>
        <p:spPr>
          <a:xfrm>
            <a:off x="3343292" y="3711932"/>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07CD848-D1CC-C743-B46E-8B863DAFB93C}"/>
              </a:ext>
            </a:extLst>
          </p:cNvPr>
          <p:cNvCxnSpPr>
            <a:cxnSpLocks/>
          </p:cNvCxnSpPr>
          <p:nvPr/>
        </p:nvCxnSpPr>
        <p:spPr>
          <a:xfrm>
            <a:off x="3343292" y="27770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4373F6E-0937-1045-8FFF-BFCD7CADA488}"/>
              </a:ext>
            </a:extLst>
          </p:cNvPr>
          <p:cNvCxnSpPr>
            <a:cxnSpLocks/>
          </p:cNvCxnSpPr>
          <p:nvPr/>
        </p:nvCxnSpPr>
        <p:spPr>
          <a:xfrm>
            <a:off x="3343292" y="1862684"/>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B5C4716-A2BF-F446-808D-BF1725034E65}"/>
              </a:ext>
            </a:extLst>
          </p:cNvPr>
          <p:cNvCxnSpPr>
            <a:cxnSpLocks/>
          </p:cNvCxnSpPr>
          <p:nvPr/>
        </p:nvCxnSpPr>
        <p:spPr>
          <a:xfrm>
            <a:off x="3343292" y="981840"/>
            <a:ext cx="494951"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0ED579E8-8CA2-DA4F-8F35-08E108D6EBE4}"/>
              </a:ext>
            </a:extLst>
          </p:cNvPr>
          <p:cNvGrpSpPr/>
          <p:nvPr/>
        </p:nvGrpSpPr>
        <p:grpSpPr>
          <a:xfrm>
            <a:off x="3701328" y="3616687"/>
            <a:ext cx="387190" cy="207818"/>
            <a:chOff x="3030263" y="2822231"/>
            <a:chExt cx="387190" cy="207818"/>
          </a:xfrm>
        </p:grpSpPr>
        <p:sp>
          <p:nvSpPr>
            <p:cNvPr id="26" name="Oval 25">
              <a:extLst>
                <a:ext uri="{FF2B5EF4-FFF2-40B4-BE49-F238E27FC236}">
                  <a16:creationId xmlns:a16="http://schemas.microsoft.com/office/drawing/2014/main" id="{E93CE575-27FD-C54A-9FF0-9926288F7BBB}"/>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Isosceles Triangle 8">
              <a:extLst>
                <a:ext uri="{FF2B5EF4-FFF2-40B4-BE49-F238E27FC236}">
                  <a16:creationId xmlns:a16="http://schemas.microsoft.com/office/drawing/2014/main" id="{FACCC557-0D13-E649-B198-75714E3CC26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4B8B5784-FD1A-B742-83D8-DF9EE8AD30E5}"/>
              </a:ext>
            </a:extLst>
          </p:cNvPr>
          <p:cNvGrpSpPr/>
          <p:nvPr/>
        </p:nvGrpSpPr>
        <p:grpSpPr>
          <a:xfrm>
            <a:off x="3701328" y="2688011"/>
            <a:ext cx="387190" cy="207818"/>
            <a:chOff x="3030263" y="2822231"/>
            <a:chExt cx="387190" cy="207818"/>
          </a:xfrm>
        </p:grpSpPr>
        <p:sp>
          <p:nvSpPr>
            <p:cNvPr id="30" name="Oval 29">
              <a:extLst>
                <a:ext uri="{FF2B5EF4-FFF2-40B4-BE49-F238E27FC236}">
                  <a16:creationId xmlns:a16="http://schemas.microsoft.com/office/drawing/2014/main" id="{C16F3139-4A57-8B47-86D9-6D41CB319D26}"/>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8">
              <a:extLst>
                <a:ext uri="{FF2B5EF4-FFF2-40B4-BE49-F238E27FC236}">
                  <a16:creationId xmlns:a16="http://schemas.microsoft.com/office/drawing/2014/main" id="{E6157976-05E3-E24B-838E-B6977307528C}"/>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32836704-474D-E642-9DA7-0DAE9A10D23C}"/>
              </a:ext>
            </a:extLst>
          </p:cNvPr>
          <p:cNvGrpSpPr/>
          <p:nvPr/>
        </p:nvGrpSpPr>
        <p:grpSpPr>
          <a:xfrm>
            <a:off x="3701328" y="1776090"/>
            <a:ext cx="387190" cy="207818"/>
            <a:chOff x="3030263" y="2822231"/>
            <a:chExt cx="387190" cy="207818"/>
          </a:xfrm>
        </p:grpSpPr>
        <p:sp>
          <p:nvSpPr>
            <p:cNvPr id="33" name="Oval 32">
              <a:extLst>
                <a:ext uri="{FF2B5EF4-FFF2-40B4-BE49-F238E27FC236}">
                  <a16:creationId xmlns:a16="http://schemas.microsoft.com/office/drawing/2014/main" id="{7A4043F9-8201-3D41-A712-D379768AA3F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8">
              <a:extLst>
                <a:ext uri="{FF2B5EF4-FFF2-40B4-BE49-F238E27FC236}">
                  <a16:creationId xmlns:a16="http://schemas.microsoft.com/office/drawing/2014/main" id="{C07B5846-8B66-1848-8166-656461FC0B9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7E9E8D2F-9A5E-B44C-8E6D-F9E634D4FDA7}"/>
              </a:ext>
            </a:extLst>
          </p:cNvPr>
          <p:cNvGrpSpPr/>
          <p:nvPr/>
        </p:nvGrpSpPr>
        <p:grpSpPr>
          <a:xfrm>
            <a:off x="3701328" y="887481"/>
            <a:ext cx="387190" cy="207818"/>
            <a:chOff x="3030263" y="2822231"/>
            <a:chExt cx="387190" cy="207818"/>
          </a:xfrm>
        </p:grpSpPr>
        <p:sp>
          <p:nvSpPr>
            <p:cNvPr id="36" name="Oval 35">
              <a:extLst>
                <a:ext uri="{FF2B5EF4-FFF2-40B4-BE49-F238E27FC236}">
                  <a16:creationId xmlns:a16="http://schemas.microsoft.com/office/drawing/2014/main" id="{5F82C33E-541C-A840-ACD3-501C29E26DD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8">
              <a:extLst>
                <a:ext uri="{FF2B5EF4-FFF2-40B4-BE49-F238E27FC236}">
                  <a16:creationId xmlns:a16="http://schemas.microsoft.com/office/drawing/2014/main" id="{54F59EB3-7A4A-5445-AFC4-19F0064894E9}"/>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8" name="Oval 37">
            <a:extLst>
              <a:ext uri="{FF2B5EF4-FFF2-40B4-BE49-F238E27FC236}">
                <a16:creationId xmlns:a16="http://schemas.microsoft.com/office/drawing/2014/main" id="{4BCF5846-6353-E840-A2C3-D6232ACCC3C3}"/>
              </a:ext>
            </a:extLst>
          </p:cNvPr>
          <p:cNvSpPr/>
          <p:nvPr/>
        </p:nvSpPr>
        <p:spPr>
          <a:xfrm>
            <a:off x="4980544" y="2312634"/>
            <a:ext cx="130379" cy="131637"/>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Elbow Connector 39">
            <a:extLst>
              <a:ext uri="{FF2B5EF4-FFF2-40B4-BE49-F238E27FC236}">
                <a16:creationId xmlns:a16="http://schemas.microsoft.com/office/drawing/2014/main" id="{B1CA6250-40BA-B344-B988-A775484B7E84}"/>
              </a:ext>
            </a:extLst>
          </p:cNvPr>
          <p:cNvCxnSpPr>
            <a:stCxn id="36" idx="6"/>
            <a:endCxn id="38" idx="2"/>
          </p:cNvCxnSpPr>
          <p:nvPr/>
        </p:nvCxnSpPr>
        <p:spPr>
          <a:xfrm>
            <a:off x="3986601" y="979813"/>
            <a:ext cx="993943" cy="1398640"/>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2" name="Elbow Connector 41">
            <a:extLst>
              <a:ext uri="{FF2B5EF4-FFF2-40B4-BE49-F238E27FC236}">
                <a16:creationId xmlns:a16="http://schemas.microsoft.com/office/drawing/2014/main" id="{8D0BFFBD-9025-9F4A-AC81-AD0559462EAD}"/>
              </a:ext>
            </a:extLst>
          </p:cNvPr>
          <p:cNvCxnSpPr>
            <a:stCxn id="33" idx="6"/>
            <a:endCxn id="38" idx="2"/>
          </p:cNvCxnSpPr>
          <p:nvPr/>
        </p:nvCxnSpPr>
        <p:spPr>
          <a:xfrm>
            <a:off x="3986601" y="1868422"/>
            <a:ext cx="993943" cy="510031"/>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4" name="Elbow Connector 43">
            <a:extLst>
              <a:ext uri="{FF2B5EF4-FFF2-40B4-BE49-F238E27FC236}">
                <a16:creationId xmlns:a16="http://schemas.microsoft.com/office/drawing/2014/main" id="{99413BD6-93CC-6F4D-A1E1-3BAA7887CBDC}"/>
              </a:ext>
            </a:extLst>
          </p:cNvPr>
          <p:cNvCxnSpPr>
            <a:stCxn id="30" idx="6"/>
          </p:cNvCxnSpPr>
          <p:nvPr/>
        </p:nvCxnSpPr>
        <p:spPr>
          <a:xfrm flipV="1">
            <a:off x="3986601" y="2402199"/>
            <a:ext cx="993943" cy="378144"/>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BAFADF59-98B6-904B-B737-A321720E730D}"/>
              </a:ext>
            </a:extLst>
          </p:cNvPr>
          <p:cNvCxnSpPr>
            <a:cxnSpLocks/>
            <a:stCxn id="26" idx="6"/>
            <a:endCxn id="137" idx="1"/>
          </p:cNvCxnSpPr>
          <p:nvPr/>
        </p:nvCxnSpPr>
        <p:spPr>
          <a:xfrm flipV="1">
            <a:off x="3986601" y="2425066"/>
            <a:ext cx="880113" cy="1283953"/>
          </a:xfrm>
          <a:prstGeom prst="bentConnector3">
            <a:avLst>
              <a:gd name="adj1" fmla="val 50000"/>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D53ABF74-D2F7-AE46-A878-63CB8478A67F}"/>
              </a:ext>
            </a:extLst>
          </p:cNvPr>
          <p:cNvCxnSpPr>
            <a:cxnSpLocks/>
            <a:stCxn id="68" idx="6"/>
            <a:endCxn id="14" idx="2"/>
          </p:cNvCxnSpPr>
          <p:nvPr/>
        </p:nvCxnSpPr>
        <p:spPr>
          <a:xfrm flipV="1">
            <a:off x="2607838" y="4156847"/>
            <a:ext cx="544908" cy="403070"/>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50" name="Elbow Connector 49">
            <a:extLst>
              <a:ext uri="{FF2B5EF4-FFF2-40B4-BE49-F238E27FC236}">
                <a16:creationId xmlns:a16="http://schemas.microsoft.com/office/drawing/2014/main" id="{EED1E3A7-FCBD-ED4E-9FE4-8955504FBC13}"/>
              </a:ext>
            </a:extLst>
          </p:cNvPr>
          <p:cNvCxnSpPr>
            <a:cxnSpLocks/>
            <a:stCxn id="8" idx="0"/>
          </p:cNvCxnSpPr>
          <p:nvPr/>
        </p:nvCxnSpPr>
        <p:spPr>
          <a:xfrm rot="16200000" flipV="1">
            <a:off x="2047981" y="-255589"/>
            <a:ext cx="153210" cy="2056320"/>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F9806D16-6B78-2A4D-892D-FD6DDBFBECC6}"/>
              </a:ext>
            </a:extLst>
          </p:cNvPr>
          <p:cNvSpPr txBox="1"/>
          <p:nvPr/>
        </p:nvSpPr>
        <p:spPr>
          <a:xfrm>
            <a:off x="-64129" y="643993"/>
            <a:ext cx="1677798" cy="369332"/>
          </a:xfrm>
          <a:prstGeom prst="rect">
            <a:avLst/>
          </a:prstGeom>
          <a:noFill/>
        </p:spPr>
        <p:txBody>
          <a:bodyPr wrap="square" rtlCol="0">
            <a:spAutoFit/>
          </a:bodyPr>
          <a:lstStyle/>
          <a:p>
            <a:pPr algn="ctr"/>
            <a:r>
              <a:rPr lang="en-US" dirty="0"/>
              <a:t>To bioreactor</a:t>
            </a:r>
          </a:p>
        </p:txBody>
      </p:sp>
      <p:sp>
        <p:nvSpPr>
          <p:cNvPr id="52" name="TextBox 51">
            <a:extLst>
              <a:ext uri="{FF2B5EF4-FFF2-40B4-BE49-F238E27FC236}">
                <a16:creationId xmlns:a16="http://schemas.microsoft.com/office/drawing/2014/main" id="{1BB413DF-AAA5-8549-B5DC-5D3085CFE224}"/>
              </a:ext>
            </a:extLst>
          </p:cNvPr>
          <p:cNvSpPr txBox="1"/>
          <p:nvPr/>
        </p:nvSpPr>
        <p:spPr>
          <a:xfrm>
            <a:off x="3683473" y="110473"/>
            <a:ext cx="2366482" cy="646331"/>
          </a:xfrm>
          <a:prstGeom prst="rect">
            <a:avLst/>
          </a:prstGeom>
          <a:noFill/>
        </p:spPr>
        <p:txBody>
          <a:bodyPr wrap="square" rtlCol="0">
            <a:spAutoFit/>
          </a:bodyPr>
          <a:lstStyle/>
          <a:p>
            <a:pPr algn="ctr"/>
            <a:r>
              <a:rPr lang="en-US" dirty="0"/>
              <a:t>Total permeate flow</a:t>
            </a:r>
          </a:p>
          <a:p>
            <a:pPr algn="ctr"/>
            <a:r>
              <a:rPr lang="en-US" dirty="0"/>
              <a:t>1-2vvd</a:t>
            </a:r>
          </a:p>
        </p:txBody>
      </p:sp>
      <p:cxnSp>
        <p:nvCxnSpPr>
          <p:cNvPr id="60" name="Straight Arrow Connector 59">
            <a:extLst>
              <a:ext uri="{FF2B5EF4-FFF2-40B4-BE49-F238E27FC236}">
                <a16:creationId xmlns:a16="http://schemas.microsoft.com/office/drawing/2014/main" id="{EF29AC4F-FAF3-994C-88A1-6A4B7CC3FAB8}"/>
              </a:ext>
            </a:extLst>
          </p:cNvPr>
          <p:cNvCxnSpPr>
            <a:cxnSpLocks/>
            <a:stCxn id="9" idx="3"/>
            <a:endCxn id="8" idx="1"/>
          </p:cNvCxnSpPr>
          <p:nvPr/>
        </p:nvCxnSpPr>
        <p:spPr>
          <a:xfrm flipV="1">
            <a:off x="2016705" y="1169216"/>
            <a:ext cx="958399" cy="1622503"/>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8335AB1-E8F2-2848-8F4A-DCAEE402C7B1}"/>
              </a:ext>
            </a:extLst>
          </p:cNvPr>
          <p:cNvCxnSpPr>
            <a:cxnSpLocks/>
            <a:stCxn id="9" idx="3"/>
            <a:endCxn id="7" idx="1"/>
          </p:cNvCxnSpPr>
          <p:nvPr/>
        </p:nvCxnSpPr>
        <p:spPr>
          <a:xfrm flipV="1">
            <a:off x="2016705" y="2058413"/>
            <a:ext cx="958399" cy="733306"/>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091470D-AB77-D64F-8C49-AECB9483E76F}"/>
              </a:ext>
            </a:extLst>
          </p:cNvPr>
          <p:cNvCxnSpPr>
            <a:stCxn id="9" idx="3"/>
          </p:cNvCxnSpPr>
          <p:nvPr/>
        </p:nvCxnSpPr>
        <p:spPr>
          <a:xfrm>
            <a:off x="2016705" y="2791719"/>
            <a:ext cx="799894" cy="222292"/>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439135C-B923-7146-B2D9-A2CB9AB0AD3C}"/>
              </a:ext>
            </a:extLst>
          </p:cNvPr>
          <p:cNvCxnSpPr>
            <a:cxnSpLocks/>
            <a:stCxn id="9" idx="3"/>
            <a:endCxn id="14" idx="1"/>
          </p:cNvCxnSpPr>
          <p:nvPr/>
        </p:nvCxnSpPr>
        <p:spPr>
          <a:xfrm>
            <a:off x="2016705" y="2791719"/>
            <a:ext cx="958399" cy="1045088"/>
          </a:xfrm>
          <a:prstGeom prst="straightConnector1">
            <a:avLst/>
          </a:prstGeom>
          <a:ln>
            <a:solidFill>
              <a:schemeClr val="accent2">
                <a:lumMod val="50000"/>
                <a:lumOff val="50000"/>
              </a:schemeClr>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67" name="Group 66">
            <a:extLst>
              <a:ext uri="{FF2B5EF4-FFF2-40B4-BE49-F238E27FC236}">
                <a16:creationId xmlns:a16="http://schemas.microsoft.com/office/drawing/2014/main" id="{F95C2E41-609F-8C49-8BE4-21492EE768E8}"/>
              </a:ext>
            </a:extLst>
          </p:cNvPr>
          <p:cNvGrpSpPr/>
          <p:nvPr/>
        </p:nvGrpSpPr>
        <p:grpSpPr>
          <a:xfrm>
            <a:off x="1944774" y="4308341"/>
            <a:ext cx="899951" cy="566238"/>
            <a:chOff x="3030263" y="2822231"/>
            <a:chExt cx="387190" cy="207818"/>
          </a:xfrm>
        </p:grpSpPr>
        <p:sp>
          <p:nvSpPr>
            <p:cNvPr id="68" name="Oval 67">
              <a:extLst>
                <a:ext uri="{FF2B5EF4-FFF2-40B4-BE49-F238E27FC236}">
                  <a16:creationId xmlns:a16="http://schemas.microsoft.com/office/drawing/2014/main" id="{C1E8379D-D666-7245-B0DD-66E23A146B3D}"/>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Isosceles Triangle 8">
              <a:extLst>
                <a:ext uri="{FF2B5EF4-FFF2-40B4-BE49-F238E27FC236}">
                  <a16:creationId xmlns:a16="http://schemas.microsoft.com/office/drawing/2014/main" id="{98925FC3-7298-5043-8FB5-A02C991CC676}"/>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33" name="TextBox 132">
            <a:extLst>
              <a:ext uri="{FF2B5EF4-FFF2-40B4-BE49-F238E27FC236}">
                <a16:creationId xmlns:a16="http://schemas.microsoft.com/office/drawing/2014/main" id="{6AC7203B-3DB5-5C40-9B7C-31A8F229152C}"/>
              </a:ext>
            </a:extLst>
          </p:cNvPr>
          <p:cNvSpPr txBox="1"/>
          <p:nvPr/>
        </p:nvSpPr>
        <p:spPr>
          <a:xfrm>
            <a:off x="6671733" y="4707467"/>
            <a:ext cx="1744134" cy="646331"/>
          </a:xfrm>
          <a:prstGeom prst="rect">
            <a:avLst/>
          </a:prstGeom>
          <a:noFill/>
        </p:spPr>
        <p:txBody>
          <a:bodyPr wrap="square" rtlCol="0">
            <a:spAutoFit/>
          </a:bodyPr>
          <a:lstStyle/>
          <a:p>
            <a:r>
              <a:rPr lang="en-US" dirty="0"/>
              <a:t>Confidential</a:t>
            </a:r>
          </a:p>
          <a:p>
            <a:endParaRPr lang="en-US" dirty="0"/>
          </a:p>
        </p:txBody>
      </p:sp>
      <p:sp>
        <p:nvSpPr>
          <p:cNvPr id="137" name="Rounded Rectangle 136">
            <a:extLst>
              <a:ext uri="{FF2B5EF4-FFF2-40B4-BE49-F238E27FC236}">
                <a16:creationId xmlns:a16="http://schemas.microsoft.com/office/drawing/2014/main" id="{99AA0B42-3D0F-0244-A542-E170A828AD24}"/>
              </a:ext>
            </a:extLst>
          </p:cNvPr>
          <p:cNvSpPr/>
          <p:nvPr/>
        </p:nvSpPr>
        <p:spPr>
          <a:xfrm>
            <a:off x="4866714" y="2091298"/>
            <a:ext cx="584200" cy="66753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38" name="Group 137">
            <a:extLst>
              <a:ext uri="{FF2B5EF4-FFF2-40B4-BE49-F238E27FC236}">
                <a16:creationId xmlns:a16="http://schemas.microsoft.com/office/drawing/2014/main" id="{800C80CE-9373-B544-99AF-D716E75AA341}"/>
              </a:ext>
            </a:extLst>
          </p:cNvPr>
          <p:cNvGrpSpPr/>
          <p:nvPr/>
        </p:nvGrpSpPr>
        <p:grpSpPr>
          <a:xfrm>
            <a:off x="5473467" y="2376535"/>
            <a:ext cx="387190" cy="207818"/>
            <a:chOff x="3030263" y="2822231"/>
            <a:chExt cx="387190" cy="207818"/>
          </a:xfrm>
        </p:grpSpPr>
        <p:sp>
          <p:nvSpPr>
            <p:cNvPr id="139" name="Oval 138">
              <a:extLst>
                <a:ext uri="{FF2B5EF4-FFF2-40B4-BE49-F238E27FC236}">
                  <a16:creationId xmlns:a16="http://schemas.microsoft.com/office/drawing/2014/main" id="{0E9B2F21-B64E-3B4C-AD72-B3C54B72ED2C}"/>
                </a:ext>
              </a:extLst>
            </p:cNvPr>
            <p:cNvSpPr/>
            <p:nvPr/>
          </p:nvSpPr>
          <p:spPr>
            <a:xfrm>
              <a:off x="3132180" y="2822231"/>
              <a:ext cx="183356" cy="1846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Isosceles Triangle 8">
              <a:extLst>
                <a:ext uri="{FF2B5EF4-FFF2-40B4-BE49-F238E27FC236}">
                  <a16:creationId xmlns:a16="http://schemas.microsoft.com/office/drawing/2014/main" id="{26071CC2-05EA-8844-9B29-3EDB27D66AA1}"/>
                </a:ext>
              </a:extLst>
            </p:cNvPr>
            <p:cNvSpPr/>
            <p:nvPr/>
          </p:nvSpPr>
          <p:spPr>
            <a:xfrm>
              <a:off x="3030263" y="2933125"/>
              <a:ext cx="387190" cy="96924"/>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6" name="TextBox 55">
            <a:extLst>
              <a:ext uri="{FF2B5EF4-FFF2-40B4-BE49-F238E27FC236}">
                <a16:creationId xmlns:a16="http://schemas.microsoft.com/office/drawing/2014/main" id="{32454B1C-9AA3-2D4B-B3DD-31193BC79CEF}"/>
              </a:ext>
            </a:extLst>
          </p:cNvPr>
          <p:cNvSpPr txBox="1"/>
          <p:nvPr/>
        </p:nvSpPr>
        <p:spPr>
          <a:xfrm>
            <a:off x="6718787" y="1217468"/>
            <a:ext cx="1929387" cy="369332"/>
          </a:xfrm>
          <a:prstGeom prst="rect">
            <a:avLst/>
          </a:prstGeom>
          <a:noFill/>
        </p:spPr>
        <p:txBody>
          <a:bodyPr wrap="square" rtlCol="0">
            <a:spAutoFit/>
          </a:bodyPr>
          <a:lstStyle/>
          <a:p>
            <a:pPr algn="ctr"/>
            <a:r>
              <a:rPr lang="en-US" dirty="0"/>
              <a:t>30m</a:t>
            </a:r>
            <a:r>
              <a:rPr lang="en-US" baseline="30000" dirty="0"/>
              <a:t>2</a:t>
            </a:r>
            <a:r>
              <a:rPr lang="en-US" dirty="0"/>
              <a:t> Area total</a:t>
            </a:r>
          </a:p>
        </p:txBody>
      </p:sp>
    </p:spTree>
    <p:extLst>
      <p:ext uri="{BB962C8B-B14F-4D97-AF65-F5344CB8AC3E}">
        <p14:creationId xmlns:p14="http://schemas.microsoft.com/office/powerpoint/2010/main" val="3974193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C0625B-A652-6545-BEE1-9A4032CFF35E}"/>
              </a:ext>
            </a:extLst>
          </p:cNvPr>
          <p:cNvSpPr>
            <a:spLocks noGrp="1"/>
          </p:cNvSpPr>
          <p:nvPr>
            <p:ph type="sldNum" sz="quarter" idx="4"/>
          </p:nvPr>
        </p:nvSpPr>
        <p:spPr>
          <a:xfrm>
            <a:off x="152476" y="4846980"/>
            <a:ext cx="396000" cy="162000"/>
          </a:xfrm>
        </p:spPr>
        <p:txBody>
          <a:bodyPr/>
          <a:lstStyle/>
          <a:p>
            <a:fld id="{3C4F54F3-C349-4609-AFEE-01462D5C7942}" type="slidenum">
              <a:rPr lang="en-GB" smtClean="0"/>
              <a:pPr/>
              <a:t>2</a:t>
            </a:fld>
            <a:endParaRPr lang="en-GB"/>
          </a:p>
        </p:txBody>
      </p:sp>
      <p:sp>
        <p:nvSpPr>
          <p:cNvPr id="2" name="Title 1">
            <a:extLst>
              <a:ext uri="{FF2B5EF4-FFF2-40B4-BE49-F238E27FC236}">
                <a16:creationId xmlns:a16="http://schemas.microsoft.com/office/drawing/2014/main" id="{D04B599B-3715-FA4E-B8D6-8BFE38D37A6A}"/>
              </a:ext>
            </a:extLst>
          </p:cNvPr>
          <p:cNvSpPr>
            <a:spLocks noGrp="1"/>
          </p:cNvSpPr>
          <p:nvPr>
            <p:ph type="title"/>
          </p:nvPr>
        </p:nvSpPr>
        <p:spPr>
          <a:xfrm>
            <a:off x="350476" y="79837"/>
            <a:ext cx="8765651" cy="504000"/>
          </a:xfrm>
        </p:spPr>
        <p:txBody>
          <a:bodyPr/>
          <a:lstStyle/>
          <a:p>
            <a:r>
              <a:rPr lang="en-US" dirty="0"/>
              <a:t>TFF Design</a:t>
            </a:r>
          </a:p>
        </p:txBody>
      </p:sp>
      <p:sp>
        <p:nvSpPr>
          <p:cNvPr id="6" name="Rounded Rectangle 5">
            <a:extLst>
              <a:ext uri="{FF2B5EF4-FFF2-40B4-BE49-F238E27FC236}">
                <a16:creationId xmlns:a16="http://schemas.microsoft.com/office/drawing/2014/main" id="{00900A4A-3282-194B-990C-B74C22B15E84}"/>
              </a:ext>
            </a:extLst>
          </p:cNvPr>
          <p:cNvSpPr/>
          <p:nvPr/>
        </p:nvSpPr>
        <p:spPr>
          <a:xfrm>
            <a:off x="2970773" y="2596397"/>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AC71709-01FB-1440-80B7-0D37A0F1404A}"/>
              </a:ext>
            </a:extLst>
          </p:cNvPr>
          <p:cNvSpPr/>
          <p:nvPr/>
        </p:nvSpPr>
        <p:spPr>
          <a:xfrm>
            <a:off x="2970773" y="173837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AF52B89-E8F8-AF48-9C96-D187DA0C4322}"/>
              </a:ext>
            </a:extLst>
          </p:cNvPr>
          <p:cNvSpPr/>
          <p:nvPr/>
        </p:nvSpPr>
        <p:spPr>
          <a:xfrm>
            <a:off x="2970773" y="972069"/>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00" dirty="0"/>
          </a:p>
        </p:txBody>
      </p:sp>
      <p:sp>
        <p:nvSpPr>
          <p:cNvPr id="14" name="Rounded Rectangle 13">
            <a:extLst>
              <a:ext uri="{FF2B5EF4-FFF2-40B4-BE49-F238E27FC236}">
                <a16:creationId xmlns:a16="http://schemas.microsoft.com/office/drawing/2014/main" id="{7D21E7F5-FABF-0942-A891-5E690EFC63CA}"/>
              </a:ext>
            </a:extLst>
          </p:cNvPr>
          <p:cNvSpPr/>
          <p:nvPr/>
        </p:nvSpPr>
        <p:spPr>
          <a:xfrm>
            <a:off x="2970773" y="3298823"/>
            <a:ext cx="355283" cy="6400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67338B-0542-6647-8ACF-9BA364120EB4}"/>
              </a:ext>
            </a:extLst>
          </p:cNvPr>
          <p:cNvCxnSpPr>
            <a:cxnSpLocks/>
          </p:cNvCxnSpPr>
          <p:nvPr/>
        </p:nvCxnSpPr>
        <p:spPr>
          <a:xfrm flipV="1">
            <a:off x="3148414" y="3298823"/>
            <a:ext cx="0" cy="249117"/>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BA1DE6D-BB51-234E-BE67-34281D2B9D68}"/>
              </a:ext>
            </a:extLst>
          </p:cNvPr>
          <p:cNvCxnSpPr>
            <a:cxnSpLocks/>
          </p:cNvCxnSpPr>
          <p:nvPr/>
        </p:nvCxnSpPr>
        <p:spPr>
          <a:xfrm flipV="1">
            <a:off x="3148414" y="2378453"/>
            <a:ext cx="0" cy="249117"/>
          </a:xfrm>
          <a:prstGeom prst="straightConnector1">
            <a:avLst/>
          </a:prstGeom>
          <a:ln w="76200">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6AC7203B-3DB5-5C40-9B7C-31A8F229152C}"/>
              </a:ext>
            </a:extLst>
          </p:cNvPr>
          <p:cNvSpPr txBox="1"/>
          <p:nvPr/>
        </p:nvSpPr>
        <p:spPr>
          <a:xfrm>
            <a:off x="6671733" y="4707467"/>
            <a:ext cx="1744134" cy="646331"/>
          </a:xfrm>
          <a:prstGeom prst="rect">
            <a:avLst/>
          </a:prstGeom>
          <a:noFill/>
        </p:spPr>
        <p:txBody>
          <a:bodyPr wrap="square" rtlCol="0">
            <a:spAutoFit/>
          </a:bodyPr>
          <a:lstStyle/>
          <a:p>
            <a:r>
              <a:rPr lang="en-US" dirty="0"/>
              <a:t>Confidential</a:t>
            </a:r>
          </a:p>
          <a:p>
            <a:endParaRPr lang="en-US" dirty="0"/>
          </a:p>
        </p:txBody>
      </p:sp>
      <p:sp>
        <p:nvSpPr>
          <p:cNvPr id="5" name="TextBox 4">
            <a:extLst>
              <a:ext uri="{FF2B5EF4-FFF2-40B4-BE49-F238E27FC236}">
                <a16:creationId xmlns:a16="http://schemas.microsoft.com/office/drawing/2014/main" id="{0635F945-E917-3A4B-88A8-11400341C5BE}"/>
              </a:ext>
            </a:extLst>
          </p:cNvPr>
          <p:cNvSpPr txBox="1"/>
          <p:nvPr/>
        </p:nvSpPr>
        <p:spPr>
          <a:xfrm>
            <a:off x="4956462" y="583837"/>
            <a:ext cx="4159663" cy="2862322"/>
          </a:xfrm>
          <a:prstGeom prst="rect">
            <a:avLst/>
          </a:prstGeom>
          <a:noFill/>
        </p:spPr>
        <p:txBody>
          <a:bodyPr wrap="square" rtlCol="0">
            <a:spAutoFit/>
          </a:bodyPr>
          <a:lstStyle/>
          <a:p>
            <a:r>
              <a:rPr lang="en-US" dirty="0"/>
              <a:t>How long a filter can be gamma irradiated? Can we put 1.5” (or wider) flexible tubing between filter modules to allow them to fold over and fit into the irradiation device? Also, allow for shipping?</a:t>
            </a:r>
          </a:p>
          <a:p>
            <a:endParaRPr lang="en-US" dirty="0"/>
          </a:p>
          <a:p>
            <a:r>
              <a:rPr lang="en-US" dirty="0"/>
              <a:t>How can we get a small scale version of this design to test? </a:t>
            </a:r>
          </a:p>
          <a:p>
            <a:r>
              <a:rPr lang="en-US" dirty="0"/>
              <a:t> </a:t>
            </a:r>
          </a:p>
        </p:txBody>
      </p:sp>
      <p:sp>
        <p:nvSpPr>
          <p:cNvPr id="10" name="Rounded Rectangle 9">
            <a:extLst>
              <a:ext uri="{FF2B5EF4-FFF2-40B4-BE49-F238E27FC236}">
                <a16:creationId xmlns:a16="http://schemas.microsoft.com/office/drawing/2014/main" id="{EDDC62E5-55F9-C347-B5CB-A9B67542851D}"/>
              </a:ext>
            </a:extLst>
          </p:cNvPr>
          <p:cNvSpPr/>
          <p:nvPr/>
        </p:nvSpPr>
        <p:spPr>
          <a:xfrm>
            <a:off x="2970773" y="3938903"/>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51997223-A839-A945-A21B-2E2D1BB9F12C}"/>
              </a:ext>
            </a:extLst>
          </p:cNvPr>
          <p:cNvSpPr/>
          <p:nvPr/>
        </p:nvSpPr>
        <p:spPr>
          <a:xfrm>
            <a:off x="2970773" y="3268052"/>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ounded Rectangle 54">
            <a:extLst>
              <a:ext uri="{FF2B5EF4-FFF2-40B4-BE49-F238E27FC236}">
                <a16:creationId xmlns:a16="http://schemas.microsoft.com/office/drawing/2014/main" id="{9D6BB19F-B67F-0B47-80E4-990907D10103}"/>
              </a:ext>
            </a:extLst>
          </p:cNvPr>
          <p:cNvSpPr/>
          <p:nvPr/>
        </p:nvSpPr>
        <p:spPr>
          <a:xfrm>
            <a:off x="2970773" y="3191850"/>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ounded Rectangle 56">
            <a:extLst>
              <a:ext uri="{FF2B5EF4-FFF2-40B4-BE49-F238E27FC236}">
                <a16:creationId xmlns:a16="http://schemas.microsoft.com/office/drawing/2014/main" id="{859F4104-EDDB-7146-8799-9F1334E32702}"/>
              </a:ext>
            </a:extLst>
          </p:cNvPr>
          <p:cNvSpPr/>
          <p:nvPr/>
        </p:nvSpPr>
        <p:spPr>
          <a:xfrm>
            <a:off x="2970773" y="2574233"/>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ounded Rectangle 57">
            <a:extLst>
              <a:ext uri="{FF2B5EF4-FFF2-40B4-BE49-F238E27FC236}">
                <a16:creationId xmlns:a16="http://schemas.microsoft.com/office/drawing/2014/main" id="{80825377-3B36-D94E-9E1A-B11D83711A08}"/>
              </a:ext>
            </a:extLst>
          </p:cNvPr>
          <p:cNvSpPr/>
          <p:nvPr/>
        </p:nvSpPr>
        <p:spPr>
          <a:xfrm>
            <a:off x="2970773" y="1623744"/>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id="{97B78246-D13E-3943-8944-CFF99D791D98}"/>
              </a:ext>
            </a:extLst>
          </p:cNvPr>
          <p:cNvSpPr/>
          <p:nvPr/>
        </p:nvSpPr>
        <p:spPr>
          <a:xfrm>
            <a:off x="2970773" y="1681058"/>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ounded Rectangle 60">
            <a:extLst>
              <a:ext uri="{FF2B5EF4-FFF2-40B4-BE49-F238E27FC236}">
                <a16:creationId xmlns:a16="http://schemas.microsoft.com/office/drawing/2014/main" id="{196F9EAC-E73B-E54C-A947-610498A3CD80}"/>
              </a:ext>
            </a:extLst>
          </p:cNvPr>
          <p:cNvSpPr/>
          <p:nvPr/>
        </p:nvSpPr>
        <p:spPr>
          <a:xfrm>
            <a:off x="2970773" y="2377361"/>
            <a:ext cx="355283" cy="45719"/>
          </a:xfrm>
          <a:prstGeom prst="roundRect">
            <a:avLst/>
          </a:prstGeom>
          <a:solidFill>
            <a:schemeClr val="accent2">
              <a:lumMod val="50000"/>
              <a:lumOff val="50000"/>
            </a:schemeClr>
          </a:solidFill>
          <a:ln>
            <a:solidFill>
              <a:schemeClr val="accent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A831E2C-2B66-F241-8938-D89AFDB1EBC3}"/>
              </a:ext>
            </a:extLst>
          </p:cNvPr>
          <p:cNvSpPr txBox="1"/>
          <p:nvPr/>
        </p:nvSpPr>
        <p:spPr>
          <a:xfrm>
            <a:off x="4031673" y="3777096"/>
            <a:ext cx="779318" cy="369332"/>
          </a:xfrm>
          <a:prstGeom prst="rect">
            <a:avLst/>
          </a:prstGeom>
          <a:noFill/>
        </p:spPr>
        <p:txBody>
          <a:bodyPr wrap="square" rtlCol="0">
            <a:spAutoFit/>
          </a:bodyPr>
          <a:lstStyle/>
          <a:p>
            <a:r>
              <a:rPr lang="en-US" dirty="0"/>
              <a:t>6” TC</a:t>
            </a:r>
          </a:p>
        </p:txBody>
      </p:sp>
      <p:cxnSp>
        <p:nvCxnSpPr>
          <p:cNvPr id="15" name="Straight Arrow Connector 14">
            <a:extLst>
              <a:ext uri="{FF2B5EF4-FFF2-40B4-BE49-F238E27FC236}">
                <a16:creationId xmlns:a16="http://schemas.microsoft.com/office/drawing/2014/main" id="{6D0A326D-BECE-2E42-8D58-9B58AFBB40EF}"/>
              </a:ext>
            </a:extLst>
          </p:cNvPr>
          <p:cNvCxnSpPr>
            <a:cxnSpLocks/>
            <a:stCxn id="11" idx="1"/>
            <a:endCxn id="10" idx="3"/>
          </p:cNvCxnSpPr>
          <p:nvPr/>
        </p:nvCxnSpPr>
        <p:spPr>
          <a:xfrm flipH="1">
            <a:off x="3326056" y="3961762"/>
            <a:ext cx="705617" cy="1"/>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078BC06D-64BB-094B-A504-DD43BDDB09EA}"/>
              </a:ext>
            </a:extLst>
          </p:cNvPr>
          <p:cNvSpPr txBox="1"/>
          <p:nvPr/>
        </p:nvSpPr>
        <p:spPr>
          <a:xfrm>
            <a:off x="935185" y="2245830"/>
            <a:ext cx="1128276" cy="646331"/>
          </a:xfrm>
          <a:prstGeom prst="rect">
            <a:avLst/>
          </a:prstGeom>
          <a:noFill/>
        </p:spPr>
        <p:txBody>
          <a:bodyPr wrap="square" rtlCol="0">
            <a:spAutoFit/>
          </a:bodyPr>
          <a:lstStyle/>
          <a:p>
            <a:r>
              <a:rPr lang="en-US" dirty="0"/>
              <a:t>Flexible tubing</a:t>
            </a:r>
          </a:p>
        </p:txBody>
      </p:sp>
      <p:cxnSp>
        <p:nvCxnSpPr>
          <p:cNvPr id="70" name="Straight Arrow Connector 69">
            <a:extLst>
              <a:ext uri="{FF2B5EF4-FFF2-40B4-BE49-F238E27FC236}">
                <a16:creationId xmlns:a16="http://schemas.microsoft.com/office/drawing/2014/main" id="{12C6E2C7-EFE5-F642-87DD-561E1FA81BEF}"/>
              </a:ext>
            </a:extLst>
          </p:cNvPr>
          <p:cNvCxnSpPr>
            <a:cxnSpLocks/>
            <a:stCxn id="65" idx="3"/>
          </p:cNvCxnSpPr>
          <p:nvPr/>
        </p:nvCxnSpPr>
        <p:spPr>
          <a:xfrm flipV="1">
            <a:off x="2063461" y="2523277"/>
            <a:ext cx="907312" cy="45719"/>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6174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heme/theme1.xml><?xml version="1.0" encoding="utf-8"?>
<a:theme xmlns:a="http://schemas.openxmlformats.org/drawingml/2006/main" name="AZ Cover Slide Options">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2E14A555-39E0-6043-81F6-2A1020966FF9}"/>
    </a:ext>
  </a:extLst>
</a:theme>
</file>

<file path=ppt/theme/theme2.xml><?xml version="1.0" encoding="utf-8"?>
<a:theme xmlns:a="http://schemas.openxmlformats.org/drawingml/2006/main" name="AZ Divid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548DD855-D4F5-C140-8E62-5E9C7E83AC73}"/>
    </a:ext>
  </a:extLst>
</a:theme>
</file>

<file path=ppt/theme/theme3.xml><?xml version="1.0" encoding="utf-8"?>
<a:theme xmlns:a="http://schemas.openxmlformats.org/drawingml/2006/main" name="AZ Divider Slide Options - Colour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F859A2E0-7DA1-7646-9600-5BD0D29A3DDD}"/>
    </a:ext>
  </a:extLst>
</a:theme>
</file>

<file path=ppt/theme/theme4.xml><?xml version="1.0" encoding="utf-8"?>
<a:theme xmlns:a="http://schemas.openxmlformats.org/drawingml/2006/main" name="AZ General Master Slide Options">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Z_External_16x9_AUG2019" id="{4E3592B0-A59B-4142-96CE-79C493DDFC41}" vid="{615A65BA-BBA0-B148-8D15-74EA144B5FA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E4329FE6390EC4D9AB60D638A227011" ma:contentTypeVersion="15" ma:contentTypeDescription="Create a new document." ma:contentTypeScope="" ma:versionID="6354fcf785cd4d256487ef7121ecdf3c">
  <xsd:schema xmlns:xsd="http://www.w3.org/2001/XMLSchema" xmlns:xs="http://www.w3.org/2001/XMLSchema" xmlns:p="http://schemas.microsoft.com/office/2006/metadata/properties" xmlns:ns3="44a56295-c29e-4898-8136-a54736c65b82" xmlns:ns4="d300a0bd-4cfc-466d-8c27-3f3e3db5e0e2" xmlns:ns5="894b19df-7688-4a9a-9e07-15ee5fcc5493" targetNamespace="http://schemas.microsoft.com/office/2006/metadata/properties" ma:root="true" ma:fieldsID="f9230649aa7be120af05e038d1b41c48" ns3:_="" ns4:_="" ns5:_="">
    <xsd:import namespace="44a56295-c29e-4898-8136-a54736c65b82"/>
    <xsd:import namespace="d300a0bd-4cfc-466d-8c27-3f3e3db5e0e2"/>
    <xsd:import namespace="894b19df-7688-4a9a-9e07-15ee5fcc5493"/>
    <xsd:element name="properties">
      <xsd:complexType>
        <xsd:sequence>
          <xsd:element name="documentManagement">
            <xsd:complexType>
              <xsd:all>
                <xsd:element ref="ns3:Descriptions" minOccurs="0"/>
                <xsd:element ref="ns3:Keyword"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5:SharedWithUsers" minOccurs="0"/>
                <xsd:element ref="ns5:SharedWithDetails" minOccurs="0"/>
                <xsd:element ref="ns5:SharingHintHash" minOccurs="0"/>
                <xsd:element ref="ns4:MediaServiceLocation" minOccurs="0"/>
                <xsd:element ref="ns4:MediaServiceOCR"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300a0bd-4cfc-466d-8c27-3f3e3db5e0e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b19df-7688-4a9a-9e07-15ee5fcc549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Descriptions xmlns="44a56295-c29e-4898-8136-a54736c65b82" xsi:nil="true"/>
  </documentManagement>
</p:properties>
</file>

<file path=customXml/item4.xml><?xml version="1.0" encoding="utf-8"?>
<?mso-contentType ?>
<SharedContentType xmlns="Microsoft.SharePoint.Taxonomy.ContentTypeSync" SourceId="1ee89e71-04cd-405e-9ca3-99e020c1694d" ContentTypeId="0x0101" PreviousValue="false"/>
</file>

<file path=customXml/itemProps1.xml><?xml version="1.0" encoding="utf-8"?>
<ds:datastoreItem xmlns:ds="http://schemas.openxmlformats.org/officeDocument/2006/customXml" ds:itemID="{97A329C4-3ADB-4121-86BB-24F2FFE9F811}">
  <ds:schemaRefs>
    <ds:schemaRef ds:uri="http://schemas.microsoft.com/sharepoint/v3/contenttype/forms"/>
  </ds:schemaRefs>
</ds:datastoreItem>
</file>

<file path=customXml/itemProps2.xml><?xml version="1.0" encoding="utf-8"?>
<ds:datastoreItem xmlns:ds="http://schemas.openxmlformats.org/officeDocument/2006/customXml" ds:itemID="{E9741D3B-E56D-4055-9E4C-7BA144C065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a56295-c29e-4898-8136-a54736c65b82"/>
    <ds:schemaRef ds:uri="d300a0bd-4cfc-466d-8c27-3f3e3db5e0e2"/>
    <ds:schemaRef ds:uri="894b19df-7688-4a9a-9e07-15ee5fcc549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C4B194-6AED-4EB9-AAF8-3EA879A21719}">
  <ds:schemaRefs>
    <ds:schemaRef ds:uri="http://www.w3.org/XML/1998/namespace"/>
    <ds:schemaRef ds:uri="http://purl.org/dc/terms/"/>
    <ds:schemaRef ds:uri="894b19df-7688-4a9a-9e07-15ee5fcc5493"/>
    <ds:schemaRef ds:uri="http://purl.org/dc/elements/1.1/"/>
    <ds:schemaRef ds:uri="http://schemas.microsoft.com/office/2006/documentManagement/types"/>
    <ds:schemaRef ds:uri="44a56295-c29e-4898-8136-a54736c65b82"/>
    <ds:schemaRef ds:uri="http://schemas.microsoft.com/office/infopath/2007/PartnerControls"/>
    <ds:schemaRef ds:uri="http://schemas.microsoft.com/office/2006/metadata/properties"/>
    <ds:schemaRef ds:uri="http://schemas.openxmlformats.org/package/2006/metadata/core-properties"/>
    <ds:schemaRef ds:uri="d300a0bd-4cfc-466d-8c27-3f3e3db5e0e2"/>
    <ds:schemaRef ds:uri="http://purl.org/dc/dcmitype/"/>
  </ds:schemaRefs>
</ds:datastoreItem>
</file>

<file path=customXml/itemProps4.xml><?xml version="1.0" encoding="utf-8"?>
<ds:datastoreItem xmlns:ds="http://schemas.openxmlformats.org/officeDocument/2006/customXml" ds:itemID="{0806EBE9-B777-486F-91C5-BDD76DC6B095}">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AZ External Template 16x9</Template>
  <TotalTime>13428</TotalTime>
  <Words>95</Words>
  <Application>Microsoft Macintosh PowerPoint</Application>
  <PresentationFormat>On-screen Show (16:9)</PresentationFormat>
  <Paragraphs>23</Paragraphs>
  <Slides>2</Slides>
  <Notes>2</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2</vt:i4>
      </vt:variant>
    </vt:vector>
  </HeadingPairs>
  <TitlesOfParts>
    <vt:vector size="8" baseType="lpstr">
      <vt:lpstr>Arial</vt:lpstr>
      <vt:lpstr>Calibri</vt:lpstr>
      <vt:lpstr>AZ Cover Slide Options</vt:lpstr>
      <vt:lpstr>AZ Divider Slide Options</vt:lpstr>
      <vt:lpstr>AZ Divider Slide Options - Colours</vt:lpstr>
      <vt:lpstr>AZ General Master Slide Options</vt:lpstr>
      <vt:lpstr>TFF Design</vt:lpstr>
      <vt:lpstr>TFF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Consensus Next Generation Manufacturing Framework: from entry level to advanced processing</dc:title>
  <dc:creator>Coffman, Jon</dc:creator>
  <cp:keywords>16:9</cp:keywords>
  <dc:description>v1.0</dc:description>
  <cp:lastModifiedBy>Coffman, Jon</cp:lastModifiedBy>
  <cp:revision>144</cp:revision>
  <cp:lastPrinted>2018-03-07T14:46:57Z</cp:lastPrinted>
  <dcterms:created xsi:type="dcterms:W3CDTF">2020-02-25T13:25:27Z</dcterms:created>
  <dcterms:modified xsi:type="dcterms:W3CDTF">2020-09-04T15:30:24Z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y fmtid="{D5CDD505-2E9C-101B-9397-08002B2CF9AE}" pid="7" name="ContentTypeId">
    <vt:lpwstr>0x0101003E4329FE6390EC4D9AB60D638A227011</vt:lpwstr>
  </property>
</Properties>
</file>