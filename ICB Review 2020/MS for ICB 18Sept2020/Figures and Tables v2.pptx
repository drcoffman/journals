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29"/>
  </p:notesMasterIdLst>
  <p:handoutMasterIdLst>
    <p:handoutMasterId r:id="rId30"/>
  </p:handoutMasterIdLst>
  <p:sldIdLst>
    <p:sldId id="7362" r:id="rId9"/>
    <p:sldId id="7329" r:id="rId10"/>
    <p:sldId id="6450" r:id="rId11"/>
    <p:sldId id="7377" r:id="rId12"/>
    <p:sldId id="7381" r:id="rId13"/>
    <p:sldId id="7351" r:id="rId14"/>
    <p:sldId id="7382" r:id="rId15"/>
    <p:sldId id="7364" r:id="rId16"/>
    <p:sldId id="7389" r:id="rId17"/>
    <p:sldId id="7390" r:id="rId18"/>
    <p:sldId id="7383" r:id="rId19"/>
    <p:sldId id="7363" r:id="rId20"/>
    <p:sldId id="6457" r:id="rId21"/>
    <p:sldId id="7386" r:id="rId22"/>
    <p:sldId id="7344" r:id="rId23"/>
    <p:sldId id="7345" r:id="rId24"/>
    <p:sldId id="7388" r:id="rId25"/>
    <p:sldId id="7391" r:id="rId26"/>
    <p:sldId id="7371" r:id="rId27"/>
    <p:sldId id="7372" r:id="rId28"/>
  </p:sldIdLst>
  <p:sldSz cx="9144000" cy="5143500" type="screen16x9"/>
  <p:notesSz cx="6670675" cy="9875838"/>
  <p:custDataLst>
    <p:tags r:id="rId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1EBAE-3F2D-2F47-AF72-3F170DEB93DA}">
          <p14:sldIdLst>
            <p14:sldId id="7362"/>
            <p14:sldId id="7329"/>
            <p14:sldId id="6450"/>
            <p14:sldId id="7377"/>
            <p14:sldId id="7381"/>
            <p14:sldId id="7351"/>
            <p14:sldId id="7382"/>
            <p14:sldId id="7364"/>
            <p14:sldId id="7389"/>
            <p14:sldId id="7390"/>
            <p14:sldId id="7383"/>
            <p14:sldId id="7363"/>
            <p14:sldId id="6457"/>
            <p14:sldId id="7386"/>
            <p14:sldId id="7344"/>
            <p14:sldId id="7345"/>
            <p14:sldId id="7388"/>
            <p14:sldId id="7391"/>
            <p14:sldId id="7371"/>
            <p14:sldId id="7372"/>
          </p14:sldIdLst>
        </p14:section>
      </p14:sectionLst>
    </p:ext>
    <p:ext uri="{EFAFB233-063F-42B5-8137-9DF3F51BA10A}">
      <p15:sldGuideLst xmlns:p15="http://schemas.microsoft.com/office/powerpoint/2012/main">
        <p15:guide id="1" orient="horz" userDrawn="1">
          <p15:clr>
            <a:srgbClr val="A4A3A4"/>
          </p15:clr>
        </p15:guide>
        <p15:guide id="6" userDrawn="1">
          <p15:clr>
            <a:srgbClr val="A4A3A4"/>
          </p15:clr>
        </p15:guide>
        <p15:guide id="7" pos="5667"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101BF-D202-4FE4-A2C1-83424C542C6D}" v="4" dt="2020-09-13T14:18:50.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12"/>
    <p:restoredTop sz="95872"/>
  </p:normalViewPr>
  <p:slideViewPr>
    <p:cSldViewPr snapToGrid="0" snapToObjects="1">
      <p:cViewPr>
        <p:scale>
          <a:sx n="150" d="100"/>
          <a:sy n="150" d="100"/>
        </p:scale>
        <p:origin x="1640" y="752"/>
      </p:cViewPr>
      <p:guideLst>
        <p:guide orient="horz"/>
        <p:guide/>
        <p:guide pos="5667"/>
      </p:guideLst>
    </p:cSldViewPr>
  </p:slideViewPr>
  <p:notesTextViewPr>
    <p:cViewPr>
      <p:scale>
        <a:sx n="400" d="100"/>
        <a:sy n="400" d="100"/>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Master" Target="slideMasters/slideMaster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Coffman" userId="7XIeATKQU8DvlzsFV9i8pMPzG+NiGfqXJSSrWZLaJm0=" providerId="None" clId="Web-{3D8101BF-D202-4FE4-A2C1-83424C542C6D}"/>
    <pc:docChg chg="delSld modSection">
      <pc:chgData name="Jon Coffman" userId="7XIeATKQU8DvlzsFV9i8pMPzG+NiGfqXJSSrWZLaJm0=" providerId="None" clId="Web-{3D8101BF-D202-4FE4-A2C1-83424C542C6D}" dt="2020-09-13T14:18:50.513" v="3"/>
      <pc:docMkLst>
        <pc:docMk/>
      </pc:docMkLst>
      <pc:sldChg chg="del">
        <pc:chgData name="Jon Coffman" userId="7XIeATKQU8DvlzsFV9i8pMPzG+NiGfqXJSSrWZLaJm0=" providerId="None" clId="Web-{3D8101BF-D202-4FE4-A2C1-83424C542C6D}" dt="2020-09-13T14:18:09.356" v="0"/>
        <pc:sldMkLst>
          <pc:docMk/>
          <pc:sldMk cId="444928142" sldId="7347"/>
        </pc:sldMkLst>
      </pc:sldChg>
      <pc:sldChg chg="del">
        <pc:chgData name="Jon Coffman" userId="7XIeATKQU8DvlzsFV9i8pMPzG+NiGfqXJSSrWZLaJm0=" providerId="None" clId="Web-{3D8101BF-D202-4FE4-A2C1-83424C542C6D}" dt="2020-09-13T14:18:11.403" v="1"/>
        <pc:sldMkLst>
          <pc:docMk/>
          <pc:sldMk cId="3764492395" sldId="7361"/>
        </pc:sldMkLst>
      </pc:sldChg>
      <pc:sldChg chg="del">
        <pc:chgData name="Jon Coffman" userId="7XIeATKQU8DvlzsFV9i8pMPzG+NiGfqXJSSrWZLaJm0=" providerId="None" clId="Web-{3D8101BF-D202-4FE4-A2C1-83424C542C6D}" dt="2020-09-13T14:18:46.404" v="2"/>
        <pc:sldMkLst>
          <pc:docMk/>
          <pc:sldMk cId="183119306" sldId="7376"/>
        </pc:sldMkLst>
      </pc:sldChg>
      <pc:sldChg chg="del">
        <pc:chgData name="Jon Coffman" userId="7XIeATKQU8DvlzsFV9i8pMPzG+NiGfqXJSSrWZLaJm0=" providerId="None" clId="Web-{3D8101BF-D202-4FE4-A2C1-83424C542C6D}" dt="2020-09-13T14:18:50.513" v="3"/>
        <pc:sldMkLst>
          <pc:docMk/>
          <pc:sldMk cId="1031883511" sldId="738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E6A52-E7F0-4249-939F-09ACE950772A}" type="doc">
      <dgm:prSet loTypeId="urn:microsoft.com/office/officeart/2005/8/layout/process2" loCatId="process" qsTypeId="urn:microsoft.com/office/officeart/2005/8/quickstyle/simple1" qsCatId="simple" csTypeId="urn:microsoft.com/office/officeart/2005/8/colors/accent1_2" csCatId="accent1" phldr="1"/>
      <dgm:spPr/>
    </dgm:pt>
    <dgm:pt modelId="{F3E1DA8A-D969-4EE6-8296-D7B22F6DFDA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500-2kL Perfusion </a:t>
          </a:r>
        </a:p>
      </dgm:t>
    </dgm:pt>
    <dgm:pt modelId="{C72BB4C7-0640-4367-B03D-BD994142E166}" type="parTrans" cxnId="{EF6E9B36-0C84-4491-B06F-59616500DAD2}">
      <dgm:prSet/>
      <dgm:spPr/>
      <dgm:t>
        <a:bodyPr/>
        <a:lstStyle/>
        <a:p>
          <a:endParaRPr lang="en-US"/>
        </a:p>
      </dgm:t>
    </dgm:pt>
    <dgm:pt modelId="{178BF03E-FB59-4A60-BF37-70BFD838EA82}" type="sibTrans" cxnId="{EF6E9B36-0C84-4491-B06F-59616500DAD2}">
      <dgm:prSet/>
      <dgm:spPr>
        <a:ln w="12700" cap="flat" cmpd="sng" algn="ctr">
          <a:solidFill>
            <a:schemeClr val="tx1">
              <a:alpha val="0"/>
            </a:schemeClr>
          </a:solidFill>
          <a:prstDash val="solid"/>
          <a:round/>
          <a:headEnd type="none" w="med" len="med"/>
          <a:tailEnd type="none" w="med" len="med"/>
        </a:ln>
        <a:effectLst/>
        <a:sp3d/>
      </dgm:spPr>
      <dgm:t>
        <a:bodyPr/>
        <a:lstStyle/>
        <a:p>
          <a:endParaRPr lang="en-US"/>
        </a:p>
      </dgm:t>
    </dgm:pt>
    <dgm:pt modelId="{9421A886-8756-41B8-A767-2A5D2A4271EB}">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Capture</a:t>
          </a:r>
        </a:p>
      </dgm:t>
    </dgm:pt>
    <dgm:pt modelId="{7492A8C1-2F5D-402B-AF7C-B93AC2F6D59A}" type="parTrans" cxnId="{C487DF50-E67A-4B9E-BA22-74F4939C59DB}">
      <dgm:prSet/>
      <dgm:spPr/>
      <dgm:t>
        <a:bodyPr/>
        <a:lstStyle/>
        <a:p>
          <a:endParaRPr lang="en-US"/>
        </a:p>
      </dgm:t>
    </dgm:pt>
    <dgm:pt modelId="{53DA832D-0347-4FC0-AEE9-7039D9F2CC76}" type="sibTrans" cxnId="{C487DF50-E67A-4B9E-BA22-74F4939C59DB}">
      <dgm:prSet/>
      <dgm:spPr/>
      <dgm:t>
        <a:bodyPr/>
        <a:lstStyle/>
        <a:p>
          <a:endParaRPr lang="en-US"/>
        </a:p>
      </dgm:t>
    </dgm:pt>
    <dgm:pt modelId="{9AD0A76D-FEAD-4870-A864-536AAD7D9DCF}">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Batch or </a:t>
          </a:r>
          <a:r>
            <a:rPr lang="en-US" dirty="0" err="1"/>
            <a:t>Cont</a:t>
          </a:r>
          <a:r>
            <a:rPr lang="en-US" dirty="0"/>
            <a:t> VI</a:t>
          </a:r>
        </a:p>
      </dgm:t>
    </dgm:pt>
    <dgm:pt modelId="{3D125C52-FDAA-4DFF-AE38-B8C8F4E6E21E}" type="parTrans" cxnId="{DC145251-73C4-4A8D-A0C9-7FED5BF67B08}">
      <dgm:prSet/>
      <dgm:spPr/>
      <dgm:t>
        <a:bodyPr/>
        <a:lstStyle/>
        <a:p>
          <a:endParaRPr lang="en-US"/>
        </a:p>
      </dgm:t>
    </dgm:pt>
    <dgm:pt modelId="{E4333604-55B4-4BAE-AE17-12D038007E04}" type="sibTrans" cxnId="{DC145251-73C4-4A8D-A0C9-7FED5BF67B08}">
      <dgm:prSet/>
      <dgm:spPr/>
      <dgm:t>
        <a:bodyPr/>
        <a:lstStyle/>
        <a:p>
          <a:endParaRPr lang="en-US"/>
        </a:p>
      </dgm:t>
    </dgm:pt>
    <dgm:pt modelId="{E8A4F527-E965-4C2B-A731-9CC0A74401B0}">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Polishing 1</a:t>
          </a:r>
        </a:p>
      </dgm:t>
    </dgm:pt>
    <dgm:pt modelId="{14557890-E477-4304-8333-C46A3E7FD0D0}" type="parTrans" cxnId="{23383C69-5F0D-4FBC-8758-68664E150169}">
      <dgm:prSet/>
      <dgm:spPr/>
      <dgm:t>
        <a:bodyPr/>
        <a:lstStyle/>
        <a:p>
          <a:endParaRPr lang="en-US"/>
        </a:p>
      </dgm:t>
    </dgm:pt>
    <dgm:pt modelId="{C071B31D-28D8-4FB6-84D0-AFC49F0CB450}" type="sibTrans" cxnId="{23383C69-5F0D-4FBC-8758-68664E150169}">
      <dgm:prSet/>
      <dgm:spPr/>
      <dgm:t>
        <a:bodyPr/>
        <a:lstStyle/>
        <a:p>
          <a:endParaRPr lang="en-US"/>
        </a:p>
      </dgm:t>
    </dgm:pt>
    <dgm:pt modelId="{BE47C6CA-22B8-455C-9A5B-A522D05E513D}">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Polishing 2</a:t>
          </a:r>
        </a:p>
      </dgm:t>
    </dgm:pt>
    <dgm:pt modelId="{627FBA09-0ACA-4EBE-87E2-380E0DCA0DF0}" type="parTrans" cxnId="{0C803E38-6410-4DFB-AA5A-59D28CB92951}">
      <dgm:prSet/>
      <dgm:spPr/>
      <dgm:t>
        <a:bodyPr/>
        <a:lstStyle/>
        <a:p>
          <a:endParaRPr lang="en-US"/>
        </a:p>
      </dgm:t>
    </dgm:pt>
    <dgm:pt modelId="{679CC6F7-B9C7-4782-8217-E7D13CA74D25}" type="sibTrans" cxnId="{0C803E38-6410-4DFB-AA5A-59D28CB92951}">
      <dgm:prSet/>
      <dgm:spPr/>
      <dgm:t>
        <a:bodyPr/>
        <a:lstStyle/>
        <a:p>
          <a:endParaRPr lang="en-US"/>
        </a:p>
      </dgm:t>
    </dgm:pt>
    <dgm:pt modelId="{5CD70F8E-6F84-4674-A2D0-FEA95C577ADA}">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Virus Filter</a:t>
          </a:r>
        </a:p>
      </dgm:t>
    </dgm:pt>
    <dgm:pt modelId="{E9201B0F-E594-4807-A4B3-987FAE1082EE}" type="parTrans" cxnId="{CAC68E9A-B577-4467-BBA1-2E6ECD1AA638}">
      <dgm:prSet/>
      <dgm:spPr/>
      <dgm:t>
        <a:bodyPr/>
        <a:lstStyle/>
        <a:p>
          <a:endParaRPr lang="en-US"/>
        </a:p>
      </dgm:t>
    </dgm:pt>
    <dgm:pt modelId="{EFEE064A-7AF2-4D81-B4C4-CE79A8BCDFD1}" type="sibTrans" cxnId="{CAC68E9A-B577-4467-BBA1-2E6ECD1AA638}">
      <dgm:prSet/>
      <dgm:spPr/>
      <dgm:t>
        <a:bodyPr/>
        <a:lstStyle/>
        <a:p>
          <a:endParaRPr lang="en-US"/>
        </a:p>
      </dgm:t>
    </dgm:pt>
    <dgm:pt modelId="{0789565C-5D85-4402-8319-4E36EA9B6F1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UFDF</a:t>
          </a:r>
        </a:p>
      </dgm:t>
    </dgm:pt>
    <dgm:pt modelId="{D8E16DDF-0381-4DCE-9B18-8431CF06EAB7}" type="parTrans" cxnId="{5908EDCB-F5AA-49DB-8805-D0FF1A07B723}">
      <dgm:prSet/>
      <dgm:spPr/>
      <dgm:t>
        <a:bodyPr/>
        <a:lstStyle/>
        <a:p>
          <a:endParaRPr lang="en-US"/>
        </a:p>
      </dgm:t>
    </dgm:pt>
    <dgm:pt modelId="{BCE6872F-3837-453D-B16E-F51563DD3EA4}" type="sibTrans" cxnId="{5908EDCB-F5AA-49DB-8805-D0FF1A07B723}">
      <dgm:prSet/>
      <dgm:spPr/>
      <dgm:t>
        <a:bodyPr/>
        <a:lstStyle/>
        <a:p>
          <a:endParaRPr lang="en-US"/>
        </a:p>
      </dgm:t>
    </dgm:pt>
    <dgm:pt modelId="{F22580C3-65DF-1043-A1C7-9F921AD91785}">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ATF or TFF</a:t>
          </a:r>
        </a:p>
      </dgm:t>
    </dgm:pt>
    <dgm:pt modelId="{1889A708-18CE-B448-88C7-E9CEAAF6BAAA}" type="parTrans" cxnId="{62D9F964-D237-EC47-8BF1-7D044F5EA327}">
      <dgm:prSet/>
      <dgm:spPr/>
      <dgm:t>
        <a:bodyPr/>
        <a:lstStyle/>
        <a:p>
          <a:endParaRPr lang="en-US"/>
        </a:p>
      </dgm:t>
    </dgm:pt>
    <dgm:pt modelId="{2A65D35D-6BC3-2F40-B3CD-976523F1E2A2}" type="sibTrans" cxnId="{62D9F964-D237-EC47-8BF1-7D044F5EA327}">
      <dgm:prSet/>
      <dgm:spPr/>
      <dgm:t>
        <a:bodyPr/>
        <a:lstStyle/>
        <a:p>
          <a:endParaRPr lang="en-US"/>
        </a:p>
      </dgm:t>
    </dgm:pt>
    <dgm:pt modelId="{0AABF02D-DB92-2244-B712-D98AEFC06B49}">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Depth Filter</a:t>
          </a:r>
        </a:p>
      </dgm:t>
    </dgm:pt>
    <dgm:pt modelId="{0BBCD7EC-58A0-784A-BB6E-6F9DF53156A5}" type="parTrans" cxnId="{ADA05B88-30D8-D047-ADEA-DFD64427EAA0}">
      <dgm:prSet/>
      <dgm:spPr/>
      <dgm:t>
        <a:bodyPr/>
        <a:lstStyle/>
        <a:p>
          <a:endParaRPr lang="en-US"/>
        </a:p>
      </dgm:t>
    </dgm:pt>
    <dgm:pt modelId="{EB1DBD78-BD65-3044-931D-DA47062792D2}" type="sibTrans" cxnId="{ADA05B88-30D8-D047-ADEA-DFD64427EAA0}">
      <dgm:prSet/>
      <dgm:spPr/>
      <dgm:t>
        <a:bodyPr/>
        <a:lstStyle/>
        <a:p>
          <a:endParaRPr lang="en-US"/>
        </a:p>
      </dgm:t>
    </dgm:pt>
    <dgm:pt modelId="{F0CFC05A-BEB1-4B65-9294-42766E57124C}" type="pres">
      <dgm:prSet presAssocID="{0FFE6A52-E7F0-4249-939F-09ACE950772A}" presName="linearFlow" presStyleCnt="0">
        <dgm:presLayoutVars>
          <dgm:resizeHandles val="exact"/>
        </dgm:presLayoutVars>
      </dgm:prSet>
      <dgm:spPr/>
    </dgm:pt>
    <dgm:pt modelId="{11F4F502-53DB-449F-878E-BE1868514305}" type="pres">
      <dgm:prSet presAssocID="{F3E1DA8A-D969-4EE6-8296-D7B22F6DFDAC}" presName="node" presStyleLbl="node1" presStyleIdx="0" presStyleCnt="9">
        <dgm:presLayoutVars>
          <dgm:bulletEnabled val="1"/>
        </dgm:presLayoutVars>
      </dgm:prSet>
      <dgm:spPr/>
    </dgm:pt>
    <dgm:pt modelId="{FDC915AF-6026-4983-AAA1-6BCD6467DEF4}" type="pres">
      <dgm:prSet presAssocID="{178BF03E-FB59-4A60-BF37-70BFD838EA82}" presName="sibTrans" presStyleLbl="sibTrans2D1" presStyleIdx="0" presStyleCnt="8"/>
      <dgm:spPr/>
    </dgm:pt>
    <dgm:pt modelId="{D006C45C-A39C-472B-88C1-6554A4089C86}" type="pres">
      <dgm:prSet presAssocID="{178BF03E-FB59-4A60-BF37-70BFD838EA82}" presName="connectorText" presStyleLbl="sibTrans2D1" presStyleIdx="0" presStyleCnt="8"/>
      <dgm:spPr/>
    </dgm:pt>
    <dgm:pt modelId="{296A77E5-C0DA-BB49-ADCB-B9CDEBEB61EF}" type="pres">
      <dgm:prSet presAssocID="{F22580C3-65DF-1043-A1C7-9F921AD91785}" presName="node" presStyleLbl="node1" presStyleIdx="1" presStyleCnt="9">
        <dgm:presLayoutVars>
          <dgm:bulletEnabled val="1"/>
        </dgm:presLayoutVars>
      </dgm:prSet>
      <dgm:spPr/>
    </dgm:pt>
    <dgm:pt modelId="{469E1AF2-F5F0-3046-8F6A-B4C753B6DEED}" type="pres">
      <dgm:prSet presAssocID="{2A65D35D-6BC3-2F40-B3CD-976523F1E2A2}" presName="sibTrans" presStyleLbl="sibTrans2D1" presStyleIdx="1" presStyleCnt="8"/>
      <dgm:spPr/>
    </dgm:pt>
    <dgm:pt modelId="{6239121A-D361-CF43-B506-28F8EC3F1460}" type="pres">
      <dgm:prSet presAssocID="{2A65D35D-6BC3-2F40-B3CD-976523F1E2A2}" presName="connectorText" presStyleLbl="sibTrans2D1" presStyleIdx="1" presStyleCnt="8"/>
      <dgm:spPr/>
    </dgm:pt>
    <dgm:pt modelId="{5129CC8F-DA47-426E-BD10-697214B6EA28}" type="pres">
      <dgm:prSet presAssocID="{9421A886-8756-41B8-A767-2A5D2A4271EB}" presName="node" presStyleLbl="node1" presStyleIdx="2" presStyleCnt="9">
        <dgm:presLayoutVars>
          <dgm:bulletEnabled val="1"/>
        </dgm:presLayoutVars>
      </dgm:prSet>
      <dgm:spPr/>
    </dgm:pt>
    <dgm:pt modelId="{F8EA24F2-77AB-4D3B-B52D-5C62C65989F9}" type="pres">
      <dgm:prSet presAssocID="{53DA832D-0347-4FC0-AEE9-7039D9F2CC76}" presName="sibTrans" presStyleLbl="sibTrans2D1" presStyleIdx="2" presStyleCnt="8"/>
      <dgm:spPr/>
    </dgm:pt>
    <dgm:pt modelId="{E699A173-DC91-4C5F-8B12-91F94001FBF3}" type="pres">
      <dgm:prSet presAssocID="{53DA832D-0347-4FC0-AEE9-7039D9F2CC76}" presName="connectorText" presStyleLbl="sibTrans2D1" presStyleIdx="2" presStyleCnt="8"/>
      <dgm:spPr/>
    </dgm:pt>
    <dgm:pt modelId="{EB6B4FB0-594B-46E7-88A8-E99A3D7D28BA}" type="pres">
      <dgm:prSet presAssocID="{9AD0A76D-FEAD-4870-A864-536AAD7D9DCF}" presName="node" presStyleLbl="node1" presStyleIdx="3" presStyleCnt="9">
        <dgm:presLayoutVars>
          <dgm:bulletEnabled val="1"/>
        </dgm:presLayoutVars>
      </dgm:prSet>
      <dgm:spPr/>
    </dgm:pt>
    <dgm:pt modelId="{F33F5D7E-B525-4341-BEAB-69DFE7C337B2}" type="pres">
      <dgm:prSet presAssocID="{E4333604-55B4-4BAE-AE17-12D038007E04}" presName="sibTrans" presStyleLbl="sibTrans2D1" presStyleIdx="3" presStyleCnt="8"/>
      <dgm:spPr/>
    </dgm:pt>
    <dgm:pt modelId="{0E52DAAC-9123-4120-A226-357E36775F56}" type="pres">
      <dgm:prSet presAssocID="{E4333604-55B4-4BAE-AE17-12D038007E04}" presName="connectorText" presStyleLbl="sibTrans2D1" presStyleIdx="3" presStyleCnt="8"/>
      <dgm:spPr/>
    </dgm:pt>
    <dgm:pt modelId="{5F80A041-11EF-CC48-982E-739028B8042B}" type="pres">
      <dgm:prSet presAssocID="{0AABF02D-DB92-2244-B712-D98AEFC06B49}" presName="node" presStyleLbl="node1" presStyleIdx="4" presStyleCnt="9">
        <dgm:presLayoutVars>
          <dgm:bulletEnabled val="1"/>
        </dgm:presLayoutVars>
      </dgm:prSet>
      <dgm:spPr/>
    </dgm:pt>
    <dgm:pt modelId="{0CC316FD-17A4-814B-978F-640E54DE3759}" type="pres">
      <dgm:prSet presAssocID="{EB1DBD78-BD65-3044-931D-DA47062792D2}" presName="sibTrans" presStyleLbl="sibTrans2D1" presStyleIdx="4" presStyleCnt="8"/>
      <dgm:spPr/>
    </dgm:pt>
    <dgm:pt modelId="{5A8A56D6-0C59-D943-91D5-ED7C731739C4}" type="pres">
      <dgm:prSet presAssocID="{EB1DBD78-BD65-3044-931D-DA47062792D2}" presName="connectorText" presStyleLbl="sibTrans2D1" presStyleIdx="4" presStyleCnt="8"/>
      <dgm:spPr/>
    </dgm:pt>
    <dgm:pt modelId="{F97BB873-62A5-4C6B-AF89-1ECA6E7CBDAF}" type="pres">
      <dgm:prSet presAssocID="{E8A4F527-E965-4C2B-A731-9CC0A74401B0}" presName="node" presStyleLbl="node1" presStyleIdx="5" presStyleCnt="9">
        <dgm:presLayoutVars>
          <dgm:bulletEnabled val="1"/>
        </dgm:presLayoutVars>
      </dgm:prSet>
      <dgm:spPr/>
    </dgm:pt>
    <dgm:pt modelId="{98E95033-BF7B-4FC9-8FE8-AA425CF14630}" type="pres">
      <dgm:prSet presAssocID="{C071B31D-28D8-4FB6-84D0-AFC49F0CB450}" presName="sibTrans" presStyleLbl="sibTrans2D1" presStyleIdx="5" presStyleCnt="8"/>
      <dgm:spPr/>
    </dgm:pt>
    <dgm:pt modelId="{2E6CC01A-2253-4BDB-9CCD-1FA6E0DD0000}" type="pres">
      <dgm:prSet presAssocID="{C071B31D-28D8-4FB6-84D0-AFC49F0CB450}" presName="connectorText" presStyleLbl="sibTrans2D1" presStyleIdx="5" presStyleCnt="8"/>
      <dgm:spPr/>
    </dgm:pt>
    <dgm:pt modelId="{448D3433-EDE0-47D4-8296-64B29C485040}" type="pres">
      <dgm:prSet presAssocID="{BE47C6CA-22B8-455C-9A5B-A522D05E513D}" presName="node" presStyleLbl="node1" presStyleIdx="6" presStyleCnt="9">
        <dgm:presLayoutVars>
          <dgm:bulletEnabled val="1"/>
        </dgm:presLayoutVars>
      </dgm:prSet>
      <dgm:spPr/>
    </dgm:pt>
    <dgm:pt modelId="{46229D48-125F-47CA-8E73-7DCE202303D8}" type="pres">
      <dgm:prSet presAssocID="{679CC6F7-B9C7-4782-8217-E7D13CA74D25}" presName="sibTrans" presStyleLbl="sibTrans2D1" presStyleIdx="6" presStyleCnt="8"/>
      <dgm:spPr/>
    </dgm:pt>
    <dgm:pt modelId="{F3B27A07-0CB2-4B81-AF75-C7D1053FB26A}" type="pres">
      <dgm:prSet presAssocID="{679CC6F7-B9C7-4782-8217-E7D13CA74D25}" presName="connectorText" presStyleLbl="sibTrans2D1" presStyleIdx="6" presStyleCnt="8"/>
      <dgm:spPr/>
    </dgm:pt>
    <dgm:pt modelId="{E63B843D-F550-4B1E-B3A4-86556ECB9F80}" type="pres">
      <dgm:prSet presAssocID="{5CD70F8E-6F84-4674-A2D0-FEA95C577ADA}" presName="node" presStyleLbl="node1" presStyleIdx="7" presStyleCnt="9">
        <dgm:presLayoutVars>
          <dgm:bulletEnabled val="1"/>
        </dgm:presLayoutVars>
      </dgm:prSet>
      <dgm:spPr/>
    </dgm:pt>
    <dgm:pt modelId="{E4DC339F-DB2D-49F7-B4DA-7F8F8B7FF8D3}" type="pres">
      <dgm:prSet presAssocID="{EFEE064A-7AF2-4D81-B4C4-CE79A8BCDFD1}" presName="sibTrans" presStyleLbl="sibTrans2D1" presStyleIdx="7" presStyleCnt="8"/>
      <dgm:spPr/>
    </dgm:pt>
    <dgm:pt modelId="{047F9BD3-B303-4633-AA20-724A5A343181}" type="pres">
      <dgm:prSet presAssocID="{EFEE064A-7AF2-4D81-B4C4-CE79A8BCDFD1}" presName="connectorText" presStyleLbl="sibTrans2D1" presStyleIdx="7" presStyleCnt="8"/>
      <dgm:spPr/>
    </dgm:pt>
    <dgm:pt modelId="{69BAAA73-3EC5-4D67-AAD2-D74F46F717A5}" type="pres">
      <dgm:prSet presAssocID="{0789565C-5D85-4402-8319-4E36EA9B6F1C}" presName="node" presStyleLbl="node1" presStyleIdx="8" presStyleCnt="9">
        <dgm:presLayoutVars>
          <dgm:bulletEnabled val="1"/>
        </dgm:presLayoutVars>
      </dgm:prSet>
      <dgm:spPr/>
    </dgm:pt>
  </dgm:ptLst>
  <dgm:cxnLst>
    <dgm:cxn modelId="{C88C1B07-4FF7-4D01-8152-B50ED730E184}" type="presOf" srcId="{0789565C-5D85-4402-8319-4E36EA9B6F1C}" destId="{69BAAA73-3EC5-4D67-AAD2-D74F46F717A5}" srcOrd="0" destOrd="0" presId="urn:microsoft.com/office/officeart/2005/8/layout/process2"/>
    <dgm:cxn modelId="{0B373715-833E-4B3E-A799-973E4AF421FB}" type="presOf" srcId="{C071B31D-28D8-4FB6-84D0-AFC49F0CB450}" destId="{98E95033-BF7B-4FC9-8FE8-AA425CF14630}" srcOrd="0" destOrd="0" presId="urn:microsoft.com/office/officeart/2005/8/layout/process2"/>
    <dgm:cxn modelId="{A733B716-E4DF-4703-A181-2A8FA3011420}" type="presOf" srcId="{679CC6F7-B9C7-4782-8217-E7D13CA74D25}" destId="{F3B27A07-0CB2-4B81-AF75-C7D1053FB26A}" srcOrd="1" destOrd="0" presId="urn:microsoft.com/office/officeart/2005/8/layout/process2"/>
    <dgm:cxn modelId="{162BAB18-E6AA-4614-8B80-41236A7E39DA}" type="presOf" srcId="{178BF03E-FB59-4A60-BF37-70BFD838EA82}" destId="{FDC915AF-6026-4983-AAA1-6BCD6467DEF4}" srcOrd="0" destOrd="0" presId="urn:microsoft.com/office/officeart/2005/8/layout/process2"/>
    <dgm:cxn modelId="{B01FE11D-2D72-AE45-8EA8-4120074B9009}" type="presOf" srcId="{EB1DBD78-BD65-3044-931D-DA47062792D2}" destId="{0CC316FD-17A4-814B-978F-640E54DE3759}" srcOrd="0" destOrd="0" presId="urn:microsoft.com/office/officeart/2005/8/layout/process2"/>
    <dgm:cxn modelId="{DE96C520-C94D-454C-B70B-C52F58DCF5DC}" type="presOf" srcId="{53DA832D-0347-4FC0-AEE9-7039D9F2CC76}" destId="{F8EA24F2-77AB-4D3B-B52D-5C62C65989F9}" srcOrd="0" destOrd="0" presId="urn:microsoft.com/office/officeart/2005/8/layout/process2"/>
    <dgm:cxn modelId="{06E86D25-47CD-814F-813A-DAF5597731C9}" type="presOf" srcId="{2A65D35D-6BC3-2F40-B3CD-976523F1E2A2}" destId="{6239121A-D361-CF43-B506-28F8EC3F1460}" srcOrd="1" destOrd="0" presId="urn:microsoft.com/office/officeart/2005/8/layout/process2"/>
    <dgm:cxn modelId="{628FD229-A367-443E-8F48-5BC4A681763C}" type="presOf" srcId="{679CC6F7-B9C7-4782-8217-E7D13CA74D25}" destId="{46229D48-125F-47CA-8E73-7DCE202303D8}" srcOrd="0" destOrd="0" presId="urn:microsoft.com/office/officeart/2005/8/layout/process2"/>
    <dgm:cxn modelId="{EF6E9B36-0C84-4491-B06F-59616500DAD2}" srcId="{0FFE6A52-E7F0-4249-939F-09ACE950772A}" destId="{F3E1DA8A-D969-4EE6-8296-D7B22F6DFDAC}" srcOrd="0" destOrd="0" parTransId="{C72BB4C7-0640-4367-B03D-BD994142E166}" sibTransId="{178BF03E-FB59-4A60-BF37-70BFD838EA82}"/>
    <dgm:cxn modelId="{0C803E38-6410-4DFB-AA5A-59D28CB92951}" srcId="{0FFE6A52-E7F0-4249-939F-09ACE950772A}" destId="{BE47C6CA-22B8-455C-9A5B-A522D05E513D}" srcOrd="6" destOrd="0" parTransId="{627FBA09-0ACA-4EBE-87E2-380E0DCA0DF0}" sibTransId="{679CC6F7-B9C7-4782-8217-E7D13CA74D25}"/>
    <dgm:cxn modelId="{E4AF2C39-8FC8-465D-8A08-8A8D030D0768}" type="presOf" srcId="{9421A886-8756-41B8-A767-2A5D2A4271EB}" destId="{5129CC8F-DA47-426E-BD10-697214B6EA28}" srcOrd="0" destOrd="0" presId="urn:microsoft.com/office/officeart/2005/8/layout/process2"/>
    <dgm:cxn modelId="{9A1EB948-F53E-4551-B473-F5546409A5C4}" type="presOf" srcId="{C071B31D-28D8-4FB6-84D0-AFC49F0CB450}" destId="{2E6CC01A-2253-4BDB-9CCD-1FA6E0DD0000}" srcOrd="1" destOrd="0" presId="urn:microsoft.com/office/officeart/2005/8/layout/process2"/>
    <dgm:cxn modelId="{C487DF50-E67A-4B9E-BA22-74F4939C59DB}" srcId="{0FFE6A52-E7F0-4249-939F-09ACE950772A}" destId="{9421A886-8756-41B8-A767-2A5D2A4271EB}" srcOrd="2" destOrd="0" parTransId="{7492A8C1-2F5D-402B-AF7C-B93AC2F6D59A}" sibTransId="{53DA832D-0347-4FC0-AEE9-7039D9F2CC76}"/>
    <dgm:cxn modelId="{DC145251-73C4-4A8D-A0C9-7FED5BF67B08}" srcId="{0FFE6A52-E7F0-4249-939F-09ACE950772A}" destId="{9AD0A76D-FEAD-4870-A864-536AAD7D9DCF}" srcOrd="3" destOrd="0" parTransId="{3D125C52-FDAA-4DFF-AE38-B8C8F4E6E21E}" sibTransId="{E4333604-55B4-4BAE-AE17-12D038007E04}"/>
    <dgm:cxn modelId="{D8840A5B-F643-DD47-B66E-EFF1883440B9}" type="presOf" srcId="{F22580C3-65DF-1043-A1C7-9F921AD91785}" destId="{296A77E5-C0DA-BB49-ADCB-B9CDEBEB61EF}" srcOrd="0" destOrd="0" presId="urn:microsoft.com/office/officeart/2005/8/layout/process2"/>
    <dgm:cxn modelId="{F365F35D-3CCB-4D8F-B645-AA5C577F0747}" type="presOf" srcId="{EFEE064A-7AF2-4D81-B4C4-CE79A8BCDFD1}" destId="{047F9BD3-B303-4633-AA20-724A5A343181}" srcOrd="1" destOrd="0" presId="urn:microsoft.com/office/officeart/2005/8/layout/process2"/>
    <dgm:cxn modelId="{62D9F964-D237-EC47-8BF1-7D044F5EA327}" srcId="{0FFE6A52-E7F0-4249-939F-09ACE950772A}" destId="{F22580C3-65DF-1043-A1C7-9F921AD91785}" srcOrd="1" destOrd="0" parTransId="{1889A708-18CE-B448-88C7-E9CEAAF6BAAA}" sibTransId="{2A65D35D-6BC3-2F40-B3CD-976523F1E2A2}"/>
    <dgm:cxn modelId="{25330B65-B113-4A3F-96BF-4DAA433DC5B7}" type="presOf" srcId="{EFEE064A-7AF2-4D81-B4C4-CE79A8BCDFD1}" destId="{E4DC339F-DB2D-49F7-B4DA-7F8F8B7FF8D3}" srcOrd="0" destOrd="0" presId="urn:microsoft.com/office/officeart/2005/8/layout/process2"/>
    <dgm:cxn modelId="{23383C69-5F0D-4FBC-8758-68664E150169}" srcId="{0FFE6A52-E7F0-4249-939F-09ACE950772A}" destId="{E8A4F527-E965-4C2B-A731-9CC0A74401B0}" srcOrd="5" destOrd="0" parTransId="{14557890-E477-4304-8333-C46A3E7FD0D0}" sibTransId="{C071B31D-28D8-4FB6-84D0-AFC49F0CB450}"/>
    <dgm:cxn modelId="{8D8A5C76-BEEA-4294-A7F1-C26A6C57C860}" type="presOf" srcId="{F3E1DA8A-D969-4EE6-8296-D7B22F6DFDAC}" destId="{11F4F502-53DB-449F-878E-BE1868514305}" srcOrd="0" destOrd="0" presId="urn:microsoft.com/office/officeart/2005/8/layout/process2"/>
    <dgm:cxn modelId="{ADA05B88-30D8-D047-ADEA-DFD64427EAA0}" srcId="{0FFE6A52-E7F0-4249-939F-09ACE950772A}" destId="{0AABF02D-DB92-2244-B712-D98AEFC06B49}" srcOrd="4" destOrd="0" parTransId="{0BBCD7EC-58A0-784A-BB6E-6F9DF53156A5}" sibTransId="{EB1DBD78-BD65-3044-931D-DA47062792D2}"/>
    <dgm:cxn modelId="{5A163690-117E-43CE-902A-78B6DA30F6C7}" type="presOf" srcId="{0FFE6A52-E7F0-4249-939F-09ACE950772A}" destId="{F0CFC05A-BEB1-4B65-9294-42766E57124C}" srcOrd="0" destOrd="0" presId="urn:microsoft.com/office/officeart/2005/8/layout/process2"/>
    <dgm:cxn modelId="{CAC68E9A-B577-4467-BBA1-2E6ECD1AA638}" srcId="{0FFE6A52-E7F0-4249-939F-09ACE950772A}" destId="{5CD70F8E-6F84-4674-A2D0-FEA95C577ADA}" srcOrd="7" destOrd="0" parTransId="{E9201B0F-E594-4807-A4B3-987FAE1082EE}" sibTransId="{EFEE064A-7AF2-4D81-B4C4-CE79A8BCDFD1}"/>
    <dgm:cxn modelId="{970346A5-8AA8-4467-BD7D-E336C6557CC6}" type="presOf" srcId="{BE47C6CA-22B8-455C-9A5B-A522D05E513D}" destId="{448D3433-EDE0-47D4-8296-64B29C485040}" srcOrd="0" destOrd="0" presId="urn:microsoft.com/office/officeart/2005/8/layout/process2"/>
    <dgm:cxn modelId="{AF3649A5-E16E-174B-B466-D5063586960B}" type="presOf" srcId="{2A65D35D-6BC3-2F40-B3CD-976523F1E2A2}" destId="{469E1AF2-F5F0-3046-8F6A-B4C753B6DEED}" srcOrd="0" destOrd="0" presId="urn:microsoft.com/office/officeart/2005/8/layout/process2"/>
    <dgm:cxn modelId="{211619AE-ABB7-C640-9D75-21AFFBD7FC28}" type="presOf" srcId="{EB1DBD78-BD65-3044-931D-DA47062792D2}" destId="{5A8A56D6-0C59-D943-91D5-ED7C731739C4}" srcOrd="1" destOrd="0" presId="urn:microsoft.com/office/officeart/2005/8/layout/process2"/>
    <dgm:cxn modelId="{685FA2B4-2534-4D75-8768-F1D536330DCA}" type="presOf" srcId="{9AD0A76D-FEAD-4870-A864-536AAD7D9DCF}" destId="{EB6B4FB0-594B-46E7-88A8-E99A3D7D28BA}" srcOrd="0" destOrd="0" presId="urn:microsoft.com/office/officeart/2005/8/layout/process2"/>
    <dgm:cxn modelId="{C76172B6-9991-4E86-854B-46345B6EEDD0}" type="presOf" srcId="{E4333604-55B4-4BAE-AE17-12D038007E04}" destId="{F33F5D7E-B525-4341-BEAB-69DFE7C337B2}" srcOrd="0" destOrd="0" presId="urn:microsoft.com/office/officeart/2005/8/layout/process2"/>
    <dgm:cxn modelId="{AB9CAEB8-3383-43F0-8C42-A299F5581283}" type="presOf" srcId="{E8A4F527-E965-4C2B-A731-9CC0A74401B0}" destId="{F97BB873-62A5-4C6B-AF89-1ECA6E7CBDAF}" srcOrd="0" destOrd="0" presId="urn:microsoft.com/office/officeart/2005/8/layout/process2"/>
    <dgm:cxn modelId="{5908EDCB-F5AA-49DB-8805-D0FF1A07B723}" srcId="{0FFE6A52-E7F0-4249-939F-09ACE950772A}" destId="{0789565C-5D85-4402-8319-4E36EA9B6F1C}" srcOrd="8" destOrd="0" parTransId="{D8E16DDF-0381-4DCE-9B18-8431CF06EAB7}" sibTransId="{BCE6872F-3837-453D-B16E-F51563DD3EA4}"/>
    <dgm:cxn modelId="{C05B22D7-C83A-4010-88AD-5485A2861F9E}" type="presOf" srcId="{53DA832D-0347-4FC0-AEE9-7039D9F2CC76}" destId="{E699A173-DC91-4C5F-8B12-91F94001FBF3}" srcOrd="1" destOrd="0" presId="urn:microsoft.com/office/officeart/2005/8/layout/process2"/>
    <dgm:cxn modelId="{75F3E3DB-3A1E-4F2A-81E3-DC6890B912A0}" type="presOf" srcId="{178BF03E-FB59-4A60-BF37-70BFD838EA82}" destId="{D006C45C-A39C-472B-88C1-6554A4089C86}" srcOrd="1" destOrd="0" presId="urn:microsoft.com/office/officeart/2005/8/layout/process2"/>
    <dgm:cxn modelId="{6B86ACE4-3624-452E-A950-D71B3A340B6E}" type="presOf" srcId="{E4333604-55B4-4BAE-AE17-12D038007E04}" destId="{0E52DAAC-9123-4120-A226-357E36775F56}" srcOrd="1" destOrd="0" presId="urn:microsoft.com/office/officeart/2005/8/layout/process2"/>
    <dgm:cxn modelId="{BBE5ACF9-0E00-4E8F-A99F-7FD70A7584F4}" type="presOf" srcId="{5CD70F8E-6F84-4674-A2D0-FEA95C577ADA}" destId="{E63B843D-F550-4B1E-B3A4-86556ECB9F80}" srcOrd="0" destOrd="0" presId="urn:microsoft.com/office/officeart/2005/8/layout/process2"/>
    <dgm:cxn modelId="{165E40FB-1153-7F4D-B9D7-C6100D53FB18}" type="presOf" srcId="{0AABF02D-DB92-2244-B712-D98AEFC06B49}" destId="{5F80A041-11EF-CC48-982E-739028B8042B}" srcOrd="0" destOrd="0" presId="urn:microsoft.com/office/officeart/2005/8/layout/process2"/>
    <dgm:cxn modelId="{0F4E5B72-369C-48A9-ADFA-D1F6002DF71F}" type="presParOf" srcId="{F0CFC05A-BEB1-4B65-9294-42766E57124C}" destId="{11F4F502-53DB-449F-878E-BE1868514305}" srcOrd="0" destOrd="0" presId="urn:microsoft.com/office/officeart/2005/8/layout/process2"/>
    <dgm:cxn modelId="{25F5E505-625D-4F0B-A20E-0BA6A78A7953}" type="presParOf" srcId="{F0CFC05A-BEB1-4B65-9294-42766E57124C}" destId="{FDC915AF-6026-4983-AAA1-6BCD6467DEF4}" srcOrd="1" destOrd="0" presId="urn:microsoft.com/office/officeart/2005/8/layout/process2"/>
    <dgm:cxn modelId="{BF24DD7E-C51E-4DF3-9C7D-2E6E75AF39C6}" type="presParOf" srcId="{FDC915AF-6026-4983-AAA1-6BCD6467DEF4}" destId="{D006C45C-A39C-472B-88C1-6554A4089C86}" srcOrd="0" destOrd="0" presId="urn:microsoft.com/office/officeart/2005/8/layout/process2"/>
    <dgm:cxn modelId="{29A1B6D0-00C1-8B48-99DD-A50D277691B0}" type="presParOf" srcId="{F0CFC05A-BEB1-4B65-9294-42766E57124C}" destId="{296A77E5-C0DA-BB49-ADCB-B9CDEBEB61EF}" srcOrd="2" destOrd="0" presId="urn:microsoft.com/office/officeart/2005/8/layout/process2"/>
    <dgm:cxn modelId="{DE204B7E-1B41-7549-BDBE-130045F618F5}" type="presParOf" srcId="{F0CFC05A-BEB1-4B65-9294-42766E57124C}" destId="{469E1AF2-F5F0-3046-8F6A-B4C753B6DEED}" srcOrd="3" destOrd="0" presId="urn:microsoft.com/office/officeart/2005/8/layout/process2"/>
    <dgm:cxn modelId="{C82F240D-117E-C34D-9F97-D50E8B17D01D}" type="presParOf" srcId="{469E1AF2-F5F0-3046-8F6A-B4C753B6DEED}" destId="{6239121A-D361-CF43-B506-28F8EC3F1460}" srcOrd="0" destOrd="0" presId="urn:microsoft.com/office/officeart/2005/8/layout/process2"/>
    <dgm:cxn modelId="{2A197155-B801-4556-BBBD-0F4D78C46190}" type="presParOf" srcId="{F0CFC05A-BEB1-4B65-9294-42766E57124C}" destId="{5129CC8F-DA47-426E-BD10-697214B6EA28}" srcOrd="4" destOrd="0" presId="urn:microsoft.com/office/officeart/2005/8/layout/process2"/>
    <dgm:cxn modelId="{8FF0D314-0E84-4FFA-8A20-44ACAF874FDA}" type="presParOf" srcId="{F0CFC05A-BEB1-4B65-9294-42766E57124C}" destId="{F8EA24F2-77AB-4D3B-B52D-5C62C65989F9}" srcOrd="5" destOrd="0" presId="urn:microsoft.com/office/officeart/2005/8/layout/process2"/>
    <dgm:cxn modelId="{865A61A8-F39E-4E70-A990-F05B9EEFE4C8}" type="presParOf" srcId="{F8EA24F2-77AB-4D3B-B52D-5C62C65989F9}" destId="{E699A173-DC91-4C5F-8B12-91F94001FBF3}" srcOrd="0" destOrd="0" presId="urn:microsoft.com/office/officeart/2005/8/layout/process2"/>
    <dgm:cxn modelId="{D80C0683-8E66-48A8-BB00-2EA1986401B7}" type="presParOf" srcId="{F0CFC05A-BEB1-4B65-9294-42766E57124C}" destId="{EB6B4FB0-594B-46E7-88A8-E99A3D7D28BA}" srcOrd="6" destOrd="0" presId="urn:microsoft.com/office/officeart/2005/8/layout/process2"/>
    <dgm:cxn modelId="{F42DB6C2-44B9-4BE8-BB6C-B89FD3B42454}" type="presParOf" srcId="{F0CFC05A-BEB1-4B65-9294-42766E57124C}" destId="{F33F5D7E-B525-4341-BEAB-69DFE7C337B2}" srcOrd="7" destOrd="0" presId="urn:microsoft.com/office/officeart/2005/8/layout/process2"/>
    <dgm:cxn modelId="{216C5A6A-2D2D-4411-A2B1-92D847909FEB}" type="presParOf" srcId="{F33F5D7E-B525-4341-BEAB-69DFE7C337B2}" destId="{0E52DAAC-9123-4120-A226-357E36775F56}" srcOrd="0" destOrd="0" presId="urn:microsoft.com/office/officeart/2005/8/layout/process2"/>
    <dgm:cxn modelId="{3EC06CBD-1D08-1A4D-8D50-FBBE91EA329B}" type="presParOf" srcId="{F0CFC05A-BEB1-4B65-9294-42766E57124C}" destId="{5F80A041-11EF-CC48-982E-739028B8042B}" srcOrd="8" destOrd="0" presId="urn:microsoft.com/office/officeart/2005/8/layout/process2"/>
    <dgm:cxn modelId="{8BEA4A55-BC7B-774A-A435-8C7E6E6E39B1}" type="presParOf" srcId="{F0CFC05A-BEB1-4B65-9294-42766E57124C}" destId="{0CC316FD-17A4-814B-978F-640E54DE3759}" srcOrd="9" destOrd="0" presId="urn:microsoft.com/office/officeart/2005/8/layout/process2"/>
    <dgm:cxn modelId="{BEF3B883-0F80-AE41-ABC1-AB8838A89D4C}" type="presParOf" srcId="{0CC316FD-17A4-814B-978F-640E54DE3759}" destId="{5A8A56D6-0C59-D943-91D5-ED7C731739C4}" srcOrd="0" destOrd="0" presId="urn:microsoft.com/office/officeart/2005/8/layout/process2"/>
    <dgm:cxn modelId="{8103DC85-522C-4754-8365-73FB8B395A95}" type="presParOf" srcId="{F0CFC05A-BEB1-4B65-9294-42766E57124C}" destId="{F97BB873-62A5-4C6B-AF89-1ECA6E7CBDAF}" srcOrd="10" destOrd="0" presId="urn:microsoft.com/office/officeart/2005/8/layout/process2"/>
    <dgm:cxn modelId="{B5B50499-FC48-446C-A1CC-B8DA3D7EC6C3}" type="presParOf" srcId="{F0CFC05A-BEB1-4B65-9294-42766E57124C}" destId="{98E95033-BF7B-4FC9-8FE8-AA425CF14630}" srcOrd="11" destOrd="0" presId="urn:microsoft.com/office/officeart/2005/8/layout/process2"/>
    <dgm:cxn modelId="{FF460F01-EC8E-4DD4-B71E-396FC36C0268}" type="presParOf" srcId="{98E95033-BF7B-4FC9-8FE8-AA425CF14630}" destId="{2E6CC01A-2253-4BDB-9CCD-1FA6E0DD0000}" srcOrd="0" destOrd="0" presId="urn:microsoft.com/office/officeart/2005/8/layout/process2"/>
    <dgm:cxn modelId="{58294009-2709-4859-9C23-8942E5089A7D}" type="presParOf" srcId="{F0CFC05A-BEB1-4B65-9294-42766E57124C}" destId="{448D3433-EDE0-47D4-8296-64B29C485040}" srcOrd="12" destOrd="0" presId="urn:microsoft.com/office/officeart/2005/8/layout/process2"/>
    <dgm:cxn modelId="{846F4FDE-A2FE-4A64-AB14-E5AA61992F88}" type="presParOf" srcId="{F0CFC05A-BEB1-4B65-9294-42766E57124C}" destId="{46229D48-125F-47CA-8E73-7DCE202303D8}" srcOrd="13" destOrd="0" presId="urn:microsoft.com/office/officeart/2005/8/layout/process2"/>
    <dgm:cxn modelId="{3B944479-C204-46C4-8074-B500C4A9211F}" type="presParOf" srcId="{46229D48-125F-47CA-8E73-7DCE202303D8}" destId="{F3B27A07-0CB2-4B81-AF75-C7D1053FB26A}" srcOrd="0" destOrd="0" presId="urn:microsoft.com/office/officeart/2005/8/layout/process2"/>
    <dgm:cxn modelId="{4D5ADA16-968A-4EA6-ADB8-724F98CD8424}" type="presParOf" srcId="{F0CFC05A-BEB1-4B65-9294-42766E57124C}" destId="{E63B843D-F550-4B1E-B3A4-86556ECB9F80}" srcOrd="14" destOrd="0" presId="urn:microsoft.com/office/officeart/2005/8/layout/process2"/>
    <dgm:cxn modelId="{98C72831-9AED-4C9F-AEE0-2BBDABDAEDCA}" type="presParOf" srcId="{F0CFC05A-BEB1-4B65-9294-42766E57124C}" destId="{E4DC339F-DB2D-49F7-B4DA-7F8F8B7FF8D3}" srcOrd="15" destOrd="0" presId="urn:microsoft.com/office/officeart/2005/8/layout/process2"/>
    <dgm:cxn modelId="{17719358-99CE-4811-8B73-535E1D0AFFE5}" type="presParOf" srcId="{E4DC339F-DB2D-49F7-B4DA-7F8F8B7FF8D3}" destId="{047F9BD3-B303-4633-AA20-724A5A343181}" srcOrd="0" destOrd="0" presId="urn:microsoft.com/office/officeart/2005/8/layout/process2"/>
    <dgm:cxn modelId="{46C89503-7E0F-4384-8765-031DD03589AC}" type="presParOf" srcId="{F0CFC05A-BEB1-4B65-9294-42766E57124C}" destId="{69BAAA73-3EC5-4D67-AAD2-D74F46F717A5}" srcOrd="1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6A52-E7F0-4249-939F-09ACE950772A}" type="doc">
      <dgm:prSet loTypeId="urn:microsoft.com/office/officeart/2005/8/layout/process2" loCatId="process" qsTypeId="urn:microsoft.com/office/officeart/2005/8/quickstyle/simple1" qsCatId="simple" csTypeId="urn:microsoft.com/office/officeart/2005/8/colors/accent1_2" csCatId="accent1" phldr="1"/>
      <dgm:spPr/>
    </dgm:pt>
    <dgm:pt modelId="{F3E1DA8A-D969-4EE6-8296-D7B22F6DFDA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500-4x2kL Perfusion </a:t>
          </a:r>
        </a:p>
      </dgm:t>
    </dgm:pt>
    <dgm:pt modelId="{C72BB4C7-0640-4367-B03D-BD994142E166}" type="parTrans" cxnId="{EF6E9B36-0C84-4491-B06F-59616500DAD2}">
      <dgm:prSet/>
      <dgm:spPr/>
      <dgm:t>
        <a:bodyPr/>
        <a:lstStyle/>
        <a:p>
          <a:endParaRPr lang="en-US"/>
        </a:p>
      </dgm:t>
    </dgm:pt>
    <dgm:pt modelId="{178BF03E-FB59-4A60-BF37-70BFD838EA82}" type="sibTrans" cxnId="{EF6E9B36-0C84-4491-B06F-59616500DAD2}">
      <dgm:prSet/>
      <dgm:spPr>
        <a:ln w="12700" cap="flat" cmpd="sng" algn="ctr">
          <a:solidFill>
            <a:schemeClr val="tx1">
              <a:alpha val="0"/>
            </a:schemeClr>
          </a:solidFill>
          <a:prstDash val="solid"/>
          <a:round/>
          <a:headEnd type="none" w="med" len="med"/>
          <a:tailEnd type="none" w="med" len="med"/>
        </a:ln>
        <a:effectLst/>
        <a:sp3d/>
      </dgm:spPr>
      <dgm:t>
        <a:bodyPr/>
        <a:lstStyle/>
        <a:p>
          <a:endParaRPr lang="en-US"/>
        </a:p>
      </dgm:t>
    </dgm:pt>
    <dgm:pt modelId="{9421A886-8756-41B8-A767-2A5D2A4271EB}">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Capture</a:t>
          </a:r>
        </a:p>
      </dgm:t>
    </dgm:pt>
    <dgm:pt modelId="{7492A8C1-2F5D-402B-AF7C-B93AC2F6D59A}" type="parTrans" cxnId="{C487DF50-E67A-4B9E-BA22-74F4939C59DB}">
      <dgm:prSet/>
      <dgm:spPr/>
      <dgm:t>
        <a:bodyPr/>
        <a:lstStyle/>
        <a:p>
          <a:endParaRPr lang="en-US"/>
        </a:p>
      </dgm:t>
    </dgm:pt>
    <dgm:pt modelId="{53DA832D-0347-4FC0-AEE9-7039D9F2CC76}" type="sibTrans" cxnId="{C487DF50-E67A-4B9E-BA22-74F4939C59DB}">
      <dgm:prSet/>
      <dgm:spPr/>
      <dgm:t>
        <a:bodyPr/>
        <a:lstStyle/>
        <a:p>
          <a:endParaRPr lang="en-US"/>
        </a:p>
      </dgm:t>
    </dgm:pt>
    <dgm:pt modelId="{9AD0A76D-FEAD-4870-A864-536AAD7D9DCF}">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Batch or </a:t>
          </a:r>
          <a:r>
            <a:rPr lang="en-US" dirty="0" err="1"/>
            <a:t>Cont</a:t>
          </a:r>
          <a:r>
            <a:rPr lang="en-US" dirty="0"/>
            <a:t> VI</a:t>
          </a:r>
        </a:p>
      </dgm:t>
    </dgm:pt>
    <dgm:pt modelId="{3D125C52-FDAA-4DFF-AE38-B8C8F4E6E21E}" type="parTrans" cxnId="{DC145251-73C4-4A8D-A0C9-7FED5BF67B08}">
      <dgm:prSet/>
      <dgm:spPr/>
      <dgm:t>
        <a:bodyPr/>
        <a:lstStyle/>
        <a:p>
          <a:endParaRPr lang="en-US"/>
        </a:p>
      </dgm:t>
    </dgm:pt>
    <dgm:pt modelId="{E4333604-55B4-4BAE-AE17-12D038007E04}" type="sibTrans" cxnId="{DC145251-73C4-4A8D-A0C9-7FED5BF67B08}">
      <dgm:prSet/>
      <dgm:spPr/>
      <dgm:t>
        <a:bodyPr/>
        <a:lstStyle/>
        <a:p>
          <a:endParaRPr lang="en-US"/>
        </a:p>
      </dgm:t>
    </dgm:pt>
    <dgm:pt modelId="{E8A4F527-E965-4C2B-A731-9CC0A74401B0}">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FT</a:t>
          </a:r>
        </a:p>
      </dgm:t>
    </dgm:pt>
    <dgm:pt modelId="{14557890-E477-4304-8333-C46A3E7FD0D0}" type="parTrans" cxnId="{23383C69-5F0D-4FBC-8758-68664E150169}">
      <dgm:prSet/>
      <dgm:spPr/>
      <dgm:t>
        <a:bodyPr/>
        <a:lstStyle/>
        <a:p>
          <a:endParaRPr lang="en-US"/>
        </a:p>
      </dgm:t>
    </dgm:pt>
    <dgm:pt modelId="{C071B31D-28D8-4FB6-84D0-AFC49F0CB450}" type="sibTrans" cxnId="{23383C69-5F0D-4FBC-8758-68664E150169}">
      <dgm:prSet/>
      <dgm:spPr/>
      <dgm:t>
        <a:bodyPr/>
        <a:lstStyle/>
        <a:p>
          <a:endParaRPr lang="en-US"/>
        </a:p>
      </dgm:t>
    </dgm:pt>
    <dgm:pt modelId="{BE47C6CA-22B8-455C-9A5B-A522D05E513D}">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2 Col. B/E</a:t>
          </a:r>
        </a:p>
      </dgm:t>
    </dgm:pt>
    <dgm:pt modelId="{627FBA09-0ACA-4EBE-87E2-380E0DCA0DF0}" type="parTrans" cxnId="{0C803E38-6410-4DFB-AA5A-59D28CB92951}">
      <dgm:prSet/>
      <dgm:spPr/>
      <dgm:t>
        <a:bodyPr/>
        <a:lstStyle/>
        <a:p>
          <a:endParaRPr lang="en-US"/>
        </a:p>
      </dgm:t>
    </dgm:pt>
    <dgm:pt modelId="{679CC6F7-B9C7-4782-8217-E7D13CA74D25}" type="sibTrans" cxnId="{0C803E38-6410-4DFB-AA5A-59D28CB92951}">
      <dgm:prSet/>
      <dgm:spPr/>
      <dgm:t>
        <a:bodyPr/>
        <a:lstStyle/>
        <a:p>
          <a:endParaRPr lang="en-US"/>
        </a:p>
      </dgm:t>
    </dgm:pt>
    <dgm:pt modelId="{5CD70F8E-6F84-4674-A2D0-FEA95C577ADA}">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Virus Filter</a:t>
          </a:r>
        </a:p>
      </dgm:t>
    </dgm:pt>
    <dgm:pt modelId="{E9201B0F-E594-4807-A4B3-987FAE1082EE}" type="parTrans" cxnId="{CAC68E9A-B577-4467-BBA1-2E6ECD1AA638}">
      <dgm:prSet/>
      <dgm:spPr/>
      <dgm:t>
        <a:bodyPr/>
        <a:lstStyle/>
        <a:p>
          <a:endParaRPr lang="en-US"/>
        </a:p>
      </dgm:t>
    </dgm:pt>
    <dgm:pt modelId="{EFEE064A-7AF2-4D81-B4C4-CE79A8BCDFD1}" type="sibTrans" cxnId="{CAC68E9A-B577-4467-BBA1-2E6ECD1AA638}">
      <dgm:prSet/>
      <dgm:spPr/>
      <dgm:t>
        <a:bodyPr/>
        <a:lstStyle/>
        <a:p>
          <a:endParaRPr lang="en-US"/>
        </a:p>
      </dgm:t>
    </dgm:pt>
    <dgm:pt modelId="{0789565C-5D85-4402-8319-4E36EA9B6F1C}">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UFDF</a:t>
          </a:r>
        </a:p>
      </dgm:t>
    </dgm:pt>
    <dgm:pt modelId="{D8E16DDF-0381-4DCE-9B18-8431CF06EAB7}" type="parTrans" cxnId="{5908EDCB-F5AA-49DB-8805-D0FF1A07B723}">
      <dgm:prSet/>
      <dgm:spPr/>
      <dgm:t>
        <a:bodyPr/>
        <a:lstStyle/>
        <a:p>
          <a:endParaRPr lang="en-US"/>
        </a:p>
      </dgm:t>
    </dgm:pt>
    <dgm:pt modelId="{BCE6872F-3837-453D-B16E-F51563DD3EA4}" type="sibTrans" cxnId="{5908EDCB-F5AA-49DB-8805-D0FF1A07B723}">
      <dgm:prSet/>
      <dgm:spPr/>
      <dgm:t>
        <a:bodyPr/>
        <a:lstStyle/>
        <a:p>
          <a:endParaRPr lang="en-US"/>
        </a:p>
      </dgm:t>
    </dgm:pt>
    <dgm:pt modelId="{F22580C3-65DF-1043-A1C7-9F921AD91785}">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ATF or TFF</a:t>
          </a:r>
        </a:p>
      </dgm:t>
    </dgm:pt>
    <dgm:pt modelId="{1889A708-18CE-B448-88C7-E9CEAAF6BAAA}" type="parTrans" cxnId="{62D9F964-D237-EC47-8BF1-7D044F5EA327}">
      <dgm:prSet/>
      <dgm:spPr/>
      <dgm:t>
        <a:bodyPr/>
        <a:lstStyle/>
        <a:p>
          <a:endParaRPr lang="en-US"/>
        </a:p>
      </dgm:t>
    </dgm:pt>
    <dgm:pt modelId="{2A65D35D-6BC3-2F40-B3CD-976523F1E2A2}" type="sibTrans" cxnId="{62D9F964-D237-EC47-8BF1-7D044F5EA327}">
      <dgm:prSet/>
      <dgm:spPr/>
      <dgm:t>
        <a:bodyPr/>
        <a:lstStyle/>
        <a:p>
          <a:endParaRPr lang="en-US"/>
        </a:p>
      </dgm:t>
    </dgm:pt>
    <dgm:pt modelId="{0AABF02D-DB92-2244-B712-D98AEFC06B49}">
      <dgm:prSet phldrT="[Text]"/>
      <dgm:spPr>
        <a:ln w="25400" cap="flat" cmpd="sng" algn="ctr">
          <a:solidFill>
            <a:schemeClr val="lt1">
              <a:hueOff val="0"/>
              <a:satOff val="0"/>
              <a:lumOff val="0"/>
              <a:alpha val="0"/>
            </a:schemeClr>
          </a:solidFill>
          <a:prstDash val="solid"/>
          <a:round/>
          <a:headEnd type="none" w="med" len="med"/>
          <a:tailEnd type="none" w="med" len="med"/>
        </a:ln>
        <a:effectLst/>
        <a:sp3d/>
      </dgm:spPr>
      <dgm:t>
        <a:bodyPr/>
        <a:lstStyle/>
        <a:p>
          <a:r>
            <a:rPr lang="en-US" dirty="0"/>
            <a:t>Depth Filter</a:t>
          </a:r>
        </a:p>
      </dgm:t>
    </dgm:pt>
    <dgm:pt modelId="{0BBCD7EC-58A0-784A-BB6E-6F9DF53156A5}" type="parTrans" cxnId="{ADA05B88-30D8-D047-ADEA-DFD64427EAA0}">
      <dgm:prSet/>
      <dgm:spPr/>
      <dgm:t>
        <a:bodyPr/>
        <a:lstStyle/>
        <a:p>
          <a:endParaRPr lang="en-US"/>
        </a:p>
      </dgm:t>
    </dgm:pt>
    <dgm:pt modelId="{EB1DBD78-BD65-3044-931D-DA47062792D2}" type="sibTrans" cxnId="{ADA05B88-30D8-D047-ADEA-DFD64427EAA0}">
      <dgm:prSet/>
      <dgm:spPr/>
      <dgm:t>
        <a:bodyPr/>
        <a:lstStyle/>
        <a:p>
          <a:endParaRPr lang="en-US"/>
        </a:p>
      </dgm:t>
    </dgm:pt>
    <dgm:pt modelId="{F0CFC05A-BEB1-4B65-9294-42766E57124C}" type="pres">
      <dgm:prSet presAssocID="{0FFE6A52-E7F0-4249-939F-09ACE950772A}" presName="linearFlow" presStyleCnt="0">
        <dgm:presLayoutVars>
          <dgm:resizeHandles val="exact"/>
        </dgm:presLayoutVars>
      </dgm:prSet>
      <dgm:spPr/>
    </dgm:pt>
    <dgm:pt modelId="{11F4F502-53DB-449F-878E-BE1868514305}" type="pres">
      <dgm:prSet presAssocID="{F3E1DA8A-D969-4EE6-8296-D7B22F6DFDAC}" presName="node" presStyleLbl="node1" presStyleIdx="0" presStyleCnt="9">
        <dgm:presLayoutVars>
          <dgm:bulletEnabled val="1"/>
        </dgm:presLayoutVars>
      </dgm:prSet>
      <dgm:spPr/>
    </dgm:pt>
    <dgm:pt modelId="{FDC915AF-6026-4983-AAA1-6BCD6467DEF4}" type="pres">
      <dgm:prSet presAssocID="{178BF03E-FB59-4A60-BF37-70BFD838EA82}" presName="sibTrans" presStyleLbl="sibTrans2D1" presStyleIdx="0" presStyleCnt="8"/>
      <dgm:spPr/>
    </dgm:pt>
    <dgm:pt modelId="{D006C45C-A39C-472B-88C1-6554A4089C86}" type="pres">
      <dgm:prSet presAssocID="{178BF03E-FB59-4A60-BF37-70BFD838EA82}" presName="connectorText" presStyleLbl="sibTrans2D1" presStyleIdx="0" presStyleCnt="8"/>
      <dgm:spPr/>
    </dgm:pt>
    <dgm:pt modelId="{296A77E5-C0DA-BB49-ADCB-B9CDEBEB61EF}" type="pres">
      <dgm:prSet presAssocID="{F22580C3-65DF-1043-A1C7-9F921AD91785}" presName="node" presStyleLbl="node1" presStyleIdx="1" presStyleCnt="9">
        <dgm:presLayoutVars>
          <dgm:bulletEnabled val="1"/>
        </dgm:presLayoutVars>
      </dgm:prSet>
      <dgm:spPr/>
    </dgm:pt>
    <dgm:pt modelId="{469E1AF2-F5F0-3046-8F6A-B4C753B6DEED}" type="pres">
      <dgm:prSet presAssocID="{2A65D35D-6BC3-2F40-B3CD-976523F1E2A2}" presName="sibTrans" presStyleLbl="sibTrans2D1" presStyleIdx="1" presStyleCnt="8"/>
      <dgm:spPr/>
    </dgm:pt>
    <dgm:pt modelId="{6239121A-D361-CF43-B506-28F8EC3F1460}" type="pres">
      <dgm:prSet presAssocID="{2A65D35D-6BC3-2F40-B3CD-976523F1E2A2}" presName="connectorText" presStyleLbl="sibTrans2D1" presStyleIdx="1" presStyleCnt="8"/>
      <dgm:spPr/>
    </dgm:pt>
    <dgm:pt modelId="{5129CC8F-DA47-426E-BD10-697214B6EA28}" type="pres">
      <dgm:prSet presAssocID="{9421A886-8756-41B8-A767-2A5D2A4271EB}" presName="node" presStyleLbl="node1" presStyleIdx="2" presStyleCnt="9">
        <dgm:presLayoutVars>
          <dgm:bulletEnabled val="1"/>
        </dgm:presLayoutVars>
      </dgm:prSet>
      <dgm:spPr/>
    </dgm:pt>
    <dgm:pt modelId="{F8EA24F2-77AB-4D3B-B52D-5C62C65989F9}" type="pres">
      <dgm:prSet presAssocID="{53DA832D-0347-4FC0-AEE9-7039D9F2CC76}" presName="sibTrans" presStyleLbl="sibTrans2D1" presStyleIdx="2" presStyleCnt="8"/>
      <dgm:spPr/>
    </dgm:pt>
    <dgm:pt modelId="{E699A173-DC91-4C5F-8B12-91F94001FBF3}" type="pres">
      <dgm:prSet presAssocID="{53DA832D-0347-4FC0-AEE9-7039D9F2CC76}" presName="connectorText" presStyleLbl="sibTrans2D1" presStyleIdx="2" presStyleCnt="8"/>
      <dgm:spPr/>
    </dgm:pt>
    <dgm:pt modelId="{EB6B4FB0-594B-46E7-88A8-E99A3D7D28BA}" type="pres">
      <dgm:prSet presAssocID="{9AD0A76D-FEAD-4870-A864-536AAD7D9DCF}" presName="node" presStyleLbl="node1" presStyleIdx="3" presStyleCnt="9">
        <dgm:presLayoutVars>
          <dgm:bulletEnabled val="1"/>
        </dgm:presLayoutVars>
      </dgm:prSet>
      <dgm:spPr/>
    </dgm:pt>
    <dgm:pt modelId="{F33F5D7E-B525-4341-BEAB-69DFE7C337B2}" type="pres">
      <dgm:prSet presAssocID="{E4333604-55B4-4BAE-AE17-12D038007E04}" presName="sibTrans" presStyleLbl="sibTrans2D1" presStyleIdx="3" presStyleCnt="8"/>
      <dgm:spPr/>
    </dgm:pt>
    <dgm:pt modelId="{0E52DAAC-9123-4120-A226-357E36775F56}" type="pres">
      <dgm:prSet presAssocID="{E4333604-55B4-4BAE-AE17-12D038007E04}" presName="connectorText" presStyleLbl="sibTrans2D1" presStyleIdx="3" presStyleCnt="8"/>
      <dgm:spPr/>
    </dgm:pt>
    <dgm:pt modelId="{5F80A041-11EF-CC48-982E-739028B8042B}" type="pres">
      <dgm:prSet presAssocID="{0AABF02D-DB92-2244-B712-D98AEFC06B49}" presName="node" presStyleLbl="node1" presStyleIdx="4" presStyleCnt="9">
        <dgm:presLayoutVars>
          <dgm:bulletEnabled val="1"/>
        </dgm:presLayoutVars>
      </dgm:prSet>
      <dgm:spPr/>
    </dgm:pt>
    <dgm:pt modelId="{0CC316FD-17A4-814B-978F-640E54DE3759}" type="pres">
      <dgm:prSet presAssocID="{EB1DBD78-BD65-3044-931D-DA47062792D2}" presName="sibTrans" presStyleLbl="sibTrans2D1" presStyleIdx="4" presStyleCnt="8"/>
      <dgm:spPr/>
    </dgm:pt>
    <dgm:pt modelId="{5A8A56D6-0C59-D943-91D5-ED7C731739C4}" type="pres">
      <dgm:prSet presAssocID="{EB1DBD78-BD65-3044-931D-DA47062792D2}" presName="connectorText" presStyleLbl="sibTrans2D1" presStyleIdx="4" presStyleCnt="8"/>
      <dgm:spPr/>
    </dgm:pt>
    <dgm:pt modelId="{F97BB873-62A5-4C6B-AF89-1ECA6E7CBDAF}" type="pres">
      <dgm:prSet presAssocID="{E8A4F527-E965-4C2B-A731-9CC0A74401B0}" presName="node" presStyleLbl="node1" presStyleIdx="5" presStyleCnt="9">
        <dgm:presLayoutVars>
          <dgm:bulletEnabled val="1"/>
        </dgm:presLayoutVars>
      </dgm:prSet>
      <dgm:spPr/>
    </dgm:pt>
    <dgm:pt modelId="{98E95033-BF7B-4FC9-8FE8-AA425CF14630}" type="pres">
      <dgm:prSet presAssocID="{C071B31D-28D8-4FB6-84D0-AFC49F0CB450}" presName="sibTrans" presStyleLbl="sibTrans2D1" presStyleIdx="5" presStyleCnt="8"/>
      <dgm:spPr/>
    </dgm:pt>
    <dgm:pt modelId="{2E6CC01A-2253-4BDB-9CCD-1FA6E0DD0000}" type="pres">
      <dgm:prSet presAssocID="{C071B31D-28D8-4FB6-84D0-AFC49F0CB450}" presName="connectorText" presStyleLbl="sibTrans2D1" presStyleIdx="5" presStyleCnt="8"/>
      <dgm:spPr/>
    </dgm:pt>
    <dgm:pt modelId="{448D3433-EDE0-47D4-8296-64B29C485040}" type="pres">
      <dgm:prSet presAssocID="{BE47C6CA-22B8-455C-9A5B-A522D05E513D}" presName="node" presStyleLbl="node1" presStyleIdx="6" presStyleCnt="9">
        <dgm:presLayoutVars>
          <dgm:bulletEnabled val="1"/>
        </dgm:presLayoutVars>
      </dgm:prSet>
      <dgm:spPr/>
    </dgm:pt>
    <dgm:pt modelId="{46229D48-125F-47CA-8E73-7DCE202303D8}" type="pres">
      <dgm:prSet presAssocID="{679CC6F7-B9C7-4782-8217-E7D13CA74D25}" presName="sibTrans" presStyleLbl="sibTrans2D1" presStyleIdx="6" presStyleCnt="8"/>
      <dgm:spPr/>
    </dgm:pt>
    <dgm:pt modelId="{F3B27A07-0CB2-4B81-AF75-C7D1053FB26A}" type="pres">
      <dgm:prSet presAssocID="{679CC6F7-B9C7-4782-8217-E7D13CA74D25}" presName="connectorText" presStyleLbl="sibTrans2D1" presStyleIdx="6" presStyleCnt="8"/>
      <dgm:spPr/>
    </dgm:pt>
    <dgm:pt modelId="{E63B843D-F550-4B1E-B3A4-86556ECB9F80}" type="pres">
      <dgm:prSet presAssocID="{5CD70F8E-6F84-4674-A2D0-FEA95C577ADA}" presName="node" presStyleLbl="node1" presStyleIdx="7" presStyleCnt="9">
        <dgm:presLayoutVars>
          <dgm:bulletEnabled val="1"/>
        </dgm:presLayoutVars>
      </dgm:prSet>
      <dgm:spPr/>
    </dgm:pt>
    <dgm:pt modelId="{E4DC339F-DB2D-49F7-B4DA-7F8F8B7FF8D3}" type="pres">
      <dgm:prSet presAssocID="{EFEE064A-7AF2-4D81-B4C4-CE79A8BCDFD1}" presName="sibTrans" presStyleLbl="sibTrans2D1" presStyleIdx="7" presStyleCnt="8"/>
      <dgm:spPr/>
    </dgm:pt>
    <dgm:pt modelId="{047F9BD3-B303-4633-AA20-724A5A343181}" type="pres">
      <dgm:prSet presAssocID="{EFEE064A-7AF2-4D81-B4C4-CE79A8BCDFD1}" presName="connectorText" presStyleLbl="sibTrans2D1" presStyleIdx="7" presStyleCnt="8"/>
      <dgm:spPr/>
    </dgm:pt>
    <dgm:pt modelId="{69BAAA73-3EC5-4D67-AAD2-D74F46F717A5}" type="pres">
      <dgm:prSet presAssocID="{0789565C-5D85-4402-8319-4E36EA9B6F1C}" presName="node" presStyleLbl="node1" presStyleIdx="8" presStyleCnt="9">
        <dgm:presLayoutVars>
          <dgm:bulletEnabled val="1"/>
        </dgm:presLayoutVars>
      </dgm:prSet>
      <dgm:spPr/>
    </dgm:pt>
  </dgm:ptLst>
  <dgm:cxnLst>
    <dgm:cxn modelId="{C88C1B07-4FF7-4D01-8152-B50ED730E184}" type="presOf" srcId="{0789565C-5D85-4402-8319-4E36EA9B6F1C}" destId="{69BAAA73-3EC5-4D67-AAD2-D74F46F717A5}" srcOrd="0" destOrd="0" presId="urn:microsoft.com/office/officeart/2005/8/layout/process2"/>
    <dgm:cxn modelId="{0B373715-833E-4B3E-A799-973E4AF421FB}" type="presOf" srcId="{C071B31D-28D8-4FB6-84D0-AFC49F0CB450}" destId="{98E95033-BF7B-4FC9-8FE8-AA425CF14630}" srcOrd="0" destOrd="0" presId="urn:microsoft.com/office/officeart/2005/8/layout/process2"/>
    <dgm:cxn modelId="{A733B716-E4DF-4703-A181-2A8FA3011420}" type="presOf" srcId="{679CC6F7-B9C7-4782-8217-E7D13CA74D25}" destId="{F3B27A07-0CB2-4B81-AF75-C7D1053FB26A}" srcOrd="1" destOrd="0" presId="urn:microsoft.com/office/officeart/2005/8/layout/process2"/>
    <dgm:cxn modelId="{162BAB18-E6AA-4614-8B80-41236A7E39DA}" type="presOf" srcId="{178BF03E-FB59-4A60-BF37-70BFD838EA82}" destId="{FDC915AF-6026-4983-AAA1-6BCD6467DEF4}" srcOrd="0" destOrd="0" presId="urn:microsoft.com/office/officeart/2005/8/layout/process2"/>
    <dgm:cxn modelId="{B01FE11D-2D72-AE45-8EA8-4120074B9009}" type="presOf" srcId="{EB1DBD78-BD65-3044-931D-DA47062792D2}" destId="{0CC316FD-17A4-814B-978F-640E54DE3759}" srcOrd="0" destOrd="0" presId="urn:microsoft.com/office/officeart/2005/8/layout/process2"/>
    <dgm:cxn modelId="{DE96C520-C94D-454C-B70B-C52F58DCF5DC}" type="presOf" srcId="{53DA832D-0347-4FC0-AEE9-7039D9F2CC76}" destId="{F8EA24F2-77AB-4D3B-B52D-5C62C65989F9}" srcOrd="0" destOrd="0" presId="urn:microsoft.com/office/officeart/2005/8/layout/process2"/>
    <dgm:cxn modelId="{06E86D25-47CD-814F-813A-DAF5597731C9}" type="presOf" srcId="{2A65D35D-6BC3-2F40-B3CD-976523F1E2A2}" destId="{6239121A-D361-CF43-B506-28F8EC3F1460}" srcOrd="1" destOrd="0" presId="urn:microsoft.com/office/officeart/2005/8/layout/process2"/>
    <dgm:cxn modelId="{628FD229-A367-443E-8F48-5BC4A681763C}" type="presOf" srcId="{679CC6F7-B9C7-4782-8217-E7D13CA74D25}" destId="{46229D48-125F-47CA-8E73-7DCE202303D8}" srcOrd="0" destOrd="0" presId="urn:microsoft.com/office/officeart/2005/8/layout/process2"/>
    <dgm:cxn modelId="{EF6E9B36-0C84-4491-B06F-59616500DAD2}" srcId="{0FFE6A52-E7F0-4249-939F-09ACE950772A}" destId="{F3E1DA8A-D969-4EE6-8296-D7B22F6DFDAC}" srcOrd="0" destOrd="0" parTransId="{C72BB4C7-0640-4367-B03D-BD994142E166}" sibTransId="{178BF03E-FB59-4A60-BF37-70BFD838EA82}"/>
    <dgm:cxn modelId="{0C803E38-6410-4DFB-AA5A-59D28CB92951}" srcId="{0FFE6A52-E7F0-4249-939F-09ACE950772A}" destId="{BE47C6CA-22B8-455C-9A5B-A522D05E513D}" srcOrd="6" destOrd="0" parTransId="{627FBA09-0ACA-4EBE-87E2-380E0DCA0DF0}" sibTransId="{679CC6F7-B9C7-4782-8217-E7D13CA74D25}"/>
    <dgm:cxn modelId="{E4AF2C39-8FC8-465D-8A08-8A8D030D0768}" type="presOf" srcId="{9421A886-8756-41B8-A767-2A5D2A4271EB}" destId="{5129CC8F-DA47-426E-BD10-697214B6EA28}" srcOrd="0" destOrd="0" presId="urn:microsoft.com/office/officeart/2005/8/layout/process2"/>
    <dgm:cxn modelId="{9A1EB948-F53E-4551-B473-F5546409A5C4}" type="presOf" srcId="{C071B31D-28D8-4FB6-84D0-AFC49F0CB450}" destId="{2E6CC01A-2253-4BDB-9CCD-1FA6E0DD0000}" srcOrd="1" destOrd="0" presId="urn:microsoft.com/office/officeart/2005/8/layout/process2"/>
    <dgm:cxn modelId="{C487DF50-E67A-4B9E-BA22-74F4939C59DB}" srcId="{0FFE6A52-E7F0-4249-939F-09ACE950772A}" destId="{9421A886-8756-41B8-A767-2A5D2A4271EB}" srcOrd="2" destOrd="0" parTransId="{7492A8C1-2F5D-402B-AF7C-B93AC2F6D59A}" sibTransId="{53DA832D-0347-4FC0-AEE9-7039D9F2CC76}"/>
    <dgm:cxn modelId="{DC145251-73C4-4A8D-A0C9-7FED5BF67B08}" srcId="{0FFE6A52-E7F0-4249-939F-09ACE950772A}" destId="{9AD0A76D-FEAD-4870-A864-536AAD7D9DCF}" srcOrd="3" destOrd="0" parTransId="{3D125C52-FDAA-4DFF-AE38-B8C8F4E6E21E}" sibTransId="{E4333604-55B4-4BAE-AE17-12D038007E04}"/>
    <dgm:cxn modelId="{D8840A5B-F643-DD47-B66E-EFF1883440B9}" type="presOf" srcId="{F22580C3-65DF-1043-A1C7-9F921AD91785}" destId="{296A77E5-C0DA-BB49-ADCB-B9CDEBEB61EF}" srcOrd="0" destOrd="0" presId="urn:microsoft.com/office/officeart/2005/8/layout/process2"/>
    <dgm:cxn modelId="{F365F35D-3CCB-4D8F-B645-AA5C577F0747}" type="presOf" srcId="{EFEE064A-7AF2-4D81-B4C4-CE79A8BCDFD1}" destId="{047F9BD3-B303-4633-AA20-724A5A343181}" srcOrd="1" destOrd="0" presId="urn:microsoft.com/office/officeart/2005/8/layout/process2"/>
    <dgm:cxn modelId="{62D9F964-D237-EC47-8BF1-7D044F5EA327}" srcId="{0FFE6A52-E7F0-4249-939F-09ACE950772A}" destId="{F22580C3-65DF-1043-A1C7-9F921AD91785}" srcOrd="1" destOrd="0" parTransId="{1889A708-18CE-B448-88C7-E9CEAAF6BAAA}" sibTransId="{2A65D35D-6BC3-2F40-B3CD-976523F1E2A2}"/>
    <dgm:cxn modelId="{25330B65-B113-4A3F-96BF-4DAA433DC5B7}" type="presOf" srcId="{EFEE064A-7AF2-4D81-B4C4-CE79A8BCDFD1}" destId="{E4DC339F-DB2D-49F7-B4DA-7F8F8B7FF8D3}" srcOrd="0" destOrd="0" presId="urn:microsoft.com/office/officeart/2005/8/layout/process2"/>
    <dgm:cxn modelId="{23383C69-5F0D-4FBC-8758-68664E150169}" srcId="{0FFE6A52-E7F0-4249-939F-09ACE950772A}" destId="{E8A4F527-E965-4C2B-A731-9CC0A74401B0}" srcOrd="5" destOrd="0" parTransId="{14557890-E477-4304-8333-C46A3E7FD0D0}" sibTransId="{C071B31D-28D8-4FB6-84D0-AFC49F0CB450}"/>
    <dgm:cxn modelId="{8D8A5C76-BEEA-4294-A7F1-C26A6C57C860}" type="presOf" srcId="{F3E1DA8A-D969-4EE6-8296-D7B22F6DFDAC}" destId="{11F4F502-53DB-449F-878E-BE1868514305}" srcOrd="0" destOrd="0" presId="urn:microsoft.com/office/officeart/2005/8/layout/process2"/>
    <dgm:cxn modelId="{ADA05B88-30D8-D047-ADEA-DFD64427EAA0}" srcId="{0FFE6A52-E7F0-4249-939F-09ACE950772A}" destId="{0AABF02D-DB92-2244-B712-D98AEFC06B49}" srcOrd="4" destOrd="0" parTransId="{0BBCD7EC-58A0-784A-BB6E-6F9DF53156A5}" sibTransId="{EB1DBD78-BD65-3044-931D-DA47062792D2}"/>
    <dgm:cxn modelId="{5A163690-117E-43CE-902A-78B6DA30F6C7}" type="presOf" srcId="{0FFE6A52-E7F0-4249-939F-09ACE950772A}" destId="{F0CFC05A-BEB1-4B65-9294-42766E57124C}" srcOrd="0" destOrd="0" presId="urn:microsoft.com/office/officeart/2005/8/layout/process2"/>
    <dgm:cxn modelId="{CAC68E9A-B577-4467-BBA1-2E6ECD1AA638}" srcId="{0FFE6A52-E7F0-4249-939F-09ACE950772A}" destId="{5CD70F8E-6F84-4674-A2D0-FEA95C577ADA}" srcOrd="7" destOrd="0" parTransId="{E9201B0F-E594-4807-A4B3-987FAE1082EE}" sibTransId="{EFEE064A-7AF2-4D81-B4C4-CE79A8BCDFD1}"/>
    <dgm:cxn modelId="{970346A5-8AA8-4467-BD7D-E336C6557CC6}" type="presOf" srcId="{BE47C6CA-22B8-455C-9A5B-A522D05E513D}" destId="{448D3433-EDE0-47D4-8296-64B29C485040}" srcOrd="0" destOrd="0" presId="urn:microsoft.com/office/officeart/2005/8/layout/process2"/>
    <dgm:cxn modelId="{AF3649A5-E16E-174B-B466-D5063586960B}" type="presOf" srcId="{2A65D35D-6BC3-2F40-B3CD-976523F1E2A2}" destId="{469E1AF2-F5F0-3046-8F6A-B4C753B6DEED}" srcOrd="0" destOrd="0" presId="urn:microsoft.com/office/officeart/2005/8/layout/process2"/>
    <dgm:cxn modelId="{211619AE-ABB7-C640-9D75-21AFFBD7FC28}" type="presOf" srcId="{EB1DBD78-BD65-3044-931D-DA47062792D2}" destId="{5A8A56D6-0C59-D943-91D5-ED7C731739C4}" srcOrd="1" destOrd="0" presId="urn:microsoft.com/office/officeart/2005/8/layout/process2"/>
    <dgm:cxn modelId="{685FA2B4-2534-4D75-8768-F1D536330DCA}" type="presOf" srcId="{9AD0A76D-FEAD-4870-A864-536AAD7D9DCF}" destId="{EB6B4FB0-594B-46E7-88A8-E99A3D7D28BA}" srcOrd="0" destOrd="0" presId="urn:microsoft.com/office/officeart/2005/8/layout/process2"/>
    <dgm:cxn modelId="{C76172B6-9991-4E86-854B-46345B6EEDD0}" type="presOf" srcId="{E4333604-55B4-4BAE-AE17-12D038007E04}" destId="{F33F5D7E-B525-4341-BEAB-69DFE7C337B2}" srcOrd="0" destOrd="0" presId="urn:microsoft.com/office/officeart/2005/8/layout/process2"/>
    <dgm:cxn modelId="{AB9CAEB8-3383-43F0-8C42-A299F5581283}" type="presOf" srcId="{E8A4F527-E965-4C2B-A731-9CC0A74401B0}" destId="{F97BB873-62A5-4C6B-AF89-1ECA6E7CBDAF}" srcOrd="0" destOrd="0" presId="urn:microsoft.com/office/officeart/2005/8/layout/process2"/>
    <dgm:cxn modelId="{5908EDCB-F5AA-49DB-8805-D0FF1A07B723}" srcId="{0FFE6A52-E7F0-4249-939F-09ACE950772A}" destId="{0789565C-5D85-4402-8319-4E36EA9B6F1C}" srcOrd="8" destOrd="0" parTransId="{D8E16DDF-0381-4DCE-9B18-8431CF06EAB7}" sibTransId="{BCE6872F-3837-453D-B16E-F51563DD3EA4}"/>
    <dgm:cxn modelId="{C05B22D7-C83A-4010-88AD-5485A2861F9E}" type="presOf" srcId="{53DA832D-0347-4FC0-AEE9-7039D9F2CC76}" destId="{E699A173-DC91-4C5F-8B12-91F94001FBF3}" srcOrd="1" destOrd="0" presId="urn:microsoft.com/office/officeart/2005/8/layout/process2"/>
    <dgm:cxn modelId="{75F3E3DB-3A1E-4F2A-81E3-DC6890B912A0}" type="presOf" srcId="{178BF03E-FB59-4A60-BF37-70BFD838EA82}" destId="{D006C45C-A39C-472B-88C1-6554A4089C86}" srcOrd="1" destOrd="0" presId="urn:microsoft.com/office/officeart/2005/8/layout/process2"/>
    <dgm:cxn modelId="{6B86ACE4-3624-452E-A950-D71B3A340B6E}" type="presOf" srcId="{E4333604-55B4-4BAE-AE17-12D038007E04}" destId="{0E52DAAC-9123-4120-A226-357E36775F56}" srcOrd="1" destOrd="0" presId="urn:microsoft.com/office/officeart/2005/8/layout/process2"/>
    <dgm:cxn modelId="{BBE5ACF9-0E00-4E8F-A99F-7FD70A7584F4}" type="presOf" srcId="{5CD70F8E-6F84-4674-A2D0-FEA95C577ADA}" destId="{E63B843D-F550-4B1E-B3A4-86556ECB9F80}" srcOrd="0" destOrd="0" presId="urn:microsoft.com/office/officeart/2005/8/layout/process2"/>
    <dgm:cxn modelId="{165E40FB-1153-7F4D-B9D7-C6100D53FB18}" type="presOf" srcId="{0AABF02D-DB92-2244-B712-D98AEFC06B49}" destId="{5F80A041-11EF-CC48-982E-739028B8042B}" srcOrd="0" destOrd="0" presId="urn:microsoft.com/office/officeart/2005/8/layout/process2"/>
    <dgm:cxn modelId="{0F4E5B72-369C-48A9-ADFA-D1F6002DF71F}" type="presParOf" srcId="{F0CFC05A-BEB1-4B65-9294-42766E57124C}" destId="{11F4F502-53DB-449F-878E-BE1868514305}" srcOrd="0" destOrd="0" presId="urn:microsoft.com/office/officeart/2005/8/layout/process2"/>
    <dgm:cxn modelId="{25F5E505-625D-4F0B-A20E-0BA6A78A7953}" type="presParOf" srcId="{F0CFC05A-BEB1-4B65-9294-42766E57124C}" destId="{FDC915AF-6026-4983-AAA1-6BCD6467DEF4}" srcOrd="1" destOrd="0" presId="urn:microsoft.com/office/officeart/2005/8/layout/process2"/>
    <dgm:cxn modelId="{BF24DD7E-C51E-4DF3-9C7D-2E6E75AF39C6}" type="presParOf" srcId="{FDC915AF-6026-4983-AAA1-6BCD6467DEF4}" destId="{D006C45C-A39C-472B-88C1-6554A4089C86}" srcOrd="0" destOrd="0" presId="urn:microsoft.com/office/officeart/2005/8/layout/process2"/>
    <dgm:cxn modelId="{29A1B6D0-00C1-8B48-99DD-A50D277691B0}" type="presParOf" srcId="{F0CFC05A-BEB1-4B65-9294-42766E57124C}" destId="{296A77E5-C0DA-BB49-ADCB-B9CDEBEB61EF}" srcOrd="2" destOrd="0" presId="urn:microsoft.com/office/officeart/2005/8/layout/process2"/>
    <dgm:cxn modelId="{DE204B7E-1B41-7549-BDBE-130045F618F5}" type="presParOf" srcId="{F0CFC05A-BEB1-4B65-9294-42766E57124C}" destId="{469E1AF2-F5F0-3046-8F6A-B4C753B6DEED}" srcOrd="3" destOrd="0" presId="urn:microsoft.com/office/officeart/2005/8/layout/process2"/>
    <dgm:cxn modelId="{C82F240D-117E-C34D-9F97-D50E8B17D01D}" type="presParOf" srcId="{469E1AF2-F5F0-3046-8F6A-B4C753B6DEED}" destId="{6239121A-D361-CF43-B506-28F8EC3F1460}" srcOrd="0" destOrd="0" presId="urn:microsoft.com/office/officeart/2005/8/layout/process2"/>
    <dgm:cxn modelId="{2A197155-B801-4556-BBBD-0F4D78C46190}" type="presParOf" srcId="{F0CFC05A-BEB1-4B65-9294-42766E57124C}" destId="{5129CC8F-DA47-426E-BD10-697214B6EA28}" srcOrd="4" destOrd="0" presId="urn:microsoft.com/office/officeart/2005/8/layout/process2"/>
    <dgm:cxn modelId="{8FF0D314-0E84-4FFA-8A20-44ACAF874FDA}" type="presParOf" srcId="{F0CFC05A-BEB1-4B65-9294-42766E57124C}" destId="{F8EA24F2-77AB-4D3B-B52D-5C62C65989F9}" srcOrd="5" destOrd="0" presId="urn:microsoft.com/office/officeart/2005/8/layout/process2"/>
    <dgm:cxn modelId="{865A61A8-F39E-4E70-A990-F05B9EEFE4C8}" type="presParOf" srcId="{F8EA24F2-77AB-4D3B-B52D-5C62C65989F9}" destId="{E699A173-DC91-4C5F-8B12-91F94001FBF3}" srcOrd="0" destOrd="0" presId="urn:microsoft.com/office/officeart/2005/8/layout/process2"/>
    <dgm:cxn modelId="{D80C0683-8E66-48A8-BB00-2EA1986401B7}" type="presParOf" srcId="{F0CFC05A-BEB1-4B65-9294-42766E57124C}" destId="{EB6B4FB0-594B-46E7-88A8-E99A3D7D28BA}" srcOrd="6" destOrd="0" presId="urn:microsoft.com/office/officeart/2005/8/layout/process2"/>
    <dgm:cxn modelId="{F42DB6C2-44B9-4BE8-BB6C-B89FD3B42454}" type="presParOf" srcId="{F0CFC05A-BEB1-4B65-9294-42766E57124C}" destId="{F33F5D7E-B525-4341-BEAB-69DFE7C337B2}" srcOrd="7" destOrd="0" presId="urn:microsoft.com/office/officeart/2005/8/layout/process2"/>
    <dgm:cxn modelId="{216C5A6A-2D2D-4411-A2B1-92D847909FEB}" type="presParOf" srcId="{F33F5D7E-B525-4341-BEAB-69DFE7C337B2}" destId="{0E52DAAC-9123-4120-A226-357E36775F56}" srcOrd="0" destOrd="0" presId="urn:microsoft.com/office/officeart/2005/8/layout/process2"/>
    <dgm:cxn modelId="{3EC06CBD-1D08-1A4D-8D50-FBBE91EA329B}" type="presParOf" srcId="{F0CFC05A-BEB1-4B65-9294-42766E57124C}" destId="{5F80A041-11EF-CC48-982E-739028B8042B}" srcOrd="8" destOrd="0" presId="urn:microsoft.com/office/officeart/2005/8/layout/process2"/>
    <dgm:cxn modelId="{8BEA4A55-BC7B-774A-A435-8C7E6E6E39B1}" type="presParOf" srcId="{F0CFC05A-BEB1-4B65-9294-42766E57124C}" destId="{0CC316FD-17A4-814B-978F-640E54DE3759}" srcOrd="9" destOrd="0" presId="urn:microsoft.com/office/officeart/2005/8/layout/process2"/>
    <dgm:cxn modelId="{BEF3B883-0F80-AE41-ABC1-AB8838A89D4C}" type="presParOf" srcId="{0CC316FD-17A4-814B-978F-640E54DE3759}" destId="{5A8A56D6-0C59-D943-91D5-ED7C731739C4}" srcOrd="0" destOrd="0" presId="urn:microsoft.com/office/officeart/2005/8/layout/process2"/>
    <dgm:cxn modelId="{8103DC85-522C-4754-8365-73FB8B395A95}" type="presParOf" srcId="{F0CFC05A-BEB1-4B65-9294-42766E57124C}" destId="{F97BB873-62A5-4C6B-AF89-1ECA6E7CBDAF}" srcOrd="10" destOrd="0" presId="urn:microsoft.com/office/officeart/2005/8/layout/process2"/>
    <dgm:cxn modelId="{B5B50499-FC48-446C-A1CC-B8DA3D7EC6C3}" type="presParOf" srcId="{F0CFC05A-BEB1-4B65-9294-42766E57124C}" destId="{98E95033-BF7B-4FC9-8FE8-AA425CF14630}" srcOrd="11" destOrd="0" presId="urn:microsoft.com/office/officeart/2005/8/layout/process2"/>
    <dgm:cxn modelId="{FF460F01-EC8E-4DD4-B71E-396FC36C0268}" type="presParOf" srcId="{98E95033-BF7B-4FC9-8FE8-AA425CF14630}" destId="{2E6CC01A-2253-4BDB-9CCD-1FA6E0DD0000}" srcOrd="0" destOrd="0" presId="urn:microsoft.com/office/officeart/2005/8/layout/process2"/>
    <dgm:cxn modelId="{58294009-2709-4859-9C23-8942E5089A7D}" type="presParOf" srcId="{F0CFC05A-BEB1-4B65-9294-42766E57124C}" destId="{448D3433-EDE0-47D4-8296-64B29C485040}" srcOrd="12" destOrd="0" presId="urn:microsoft.com/office/officeart/2005/8/layout/process2"/>
    <dgm:cxn modelId="{846F4FDE-A2FE-4A64-AB14-E5AA61992F88}" type="presParOf" srcId="{F0CFC05A-BEB1-4B65-9294-42766E57124C}" destId="{46229D48-125F-47CA-8E73-7DCE202303D8}" srcOrd="13" destOrd="0" presId="urn:microsoft.com/office/officeart/2005/8/layout/process2"/>
    <dgm:cxn modelId="{3B944479-C204-46C4-8074-B500C4A9211F}" type="presParOf" srcId="{46229D48-125F-47CA-8E73-7DCE202303D8}" destId="{F3B27A07-0CB2-4B81-AF75-C7D1053FB26A}" srcOrd="0" destOrd="0" presId="urn:microsoft.com/office/officeart/2005/8/layout/process2"/>
    <dgm:cxn modelId="{4D5ADA16-968A-4EA6-ADB8-724F98CD8424}" type="presParOf" srcId="{F0CFC05A-BEB1-4B65-9294-42766E57124C}" destId="{E63B843D-F550-4B1E-B3A4-86556ECB9F80}" srcOrd="14" destOrd="0" presId="urn:microsoft.com/office/officeart/2005/8/layout/process2"/>
    <dgm:cxn modelId="{98C72831-9AED-4C9F-AEE0-2BBDABDAEDCA}" type="presParOf" srcId="{F0CFC05A-BEB1-4B65-9294-42766E57124C}" destId="{E4DC339F-DB2D-49F7-B4DA-7F8F8B7FF8D3}" srcOrd="15" destOrd="0" presId="urn:microsoft.com/office/officeart/2005/8/layout/process2"/>
    <dgm:cxn modelId="{17719358-99CE-4811-8B73-535E1D0AFFE5}" type="presParOf" srcId="{E4DC339F-DB2D-49F7-B4DA-7F8F8B7FF8D3}" destId="{047F9BD3-B303-4633-AA20-724A5A343181}" srcOrd="0" destOrd="0" presId="urn:microsoft.com/office/officeart/2005/8/layout/process2"/>
    <dgm:cxn modelId="{46C89503-7E0F-4384-8765-031DD03589AC}" type="presParOf" srcId="{F0CFC05A-BEB1-4B65-9294-42766E57124C}" destId="{69BAAA73-3EC5-4D67-AAD2-D74F46F717A5}" srcOrd="1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4F502-53DB-449F-878E-BE1868514305}">
      <dsp:nvSpPr>
        <dsp:cNvPr id="0" name=""/>
        <dsp:cNvSpPr/>
      </dsp:nvSpPr>
      <dsp:spPr>
        <a:xfrm>
          <a:off x="117712" y="496"/>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500-2kL Perfusion </a:t>
          </a:r>
        </a:p>
      </dsp:txBody>
      <dsp:txXfrm>
        <a:off x="126866" y="9650"/>
        <a:ext cx="1231848" cy="294231"/>
      </dsp:txXfrm>
    </dsp:sp>
    <dsp:sp modelId="{FDC915AF-6026-4983-AAA1-6BCD6467DEF4}">
      <dsp:nvSpPr>
        <dsp:cNvPr id="0" name=""/>
        <dsp:cNvSpPr/>
      </dsp:nvSpPr>
      <dsp:spPr>
        <a:xfrm rot="5400000">
          <a:off x="684189" y="320848"/>
          <a:ext cx="117202" cy="140642"/>
        </a:xfrm>
        <a:prstGeom prst="rightArrow">
          <a:avLst>
            <a:gd name="adj1" fmla="val 60000"/>
            <a:gd name="adj2" fmla="val 50000"/>
          </a:avLst>
        </a:prstGeom>
        <a:solidFill>
          <a:schemeClr val="accent1">
            <a:tint val="60000"/>
            <a:hueOff val="0"/>
            <a:satOff val="0"/>
            <a:lumOff val="0"/>
            <a:alphaOff val="0"/>
          </a:schemeClr>
        </a:solidFill>
        <a:ln w="12700" cap="flat" cmpd="sng" algn="ctr">
          <a:solidFill>
            <a:schemeClr val="tx1">
              <a:alpha val="0"/>
            </a:schemeClr>
          </a:solidFill>
          <a:prstDash val="solid"/>
          <a:round/>
          <a:headEnd type="none" w="med" len="med"/>
          <a:tailEnd type="none" w="med" len="med"/>
        </a:ln>
        <a:effectLs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32568"/>
        <a:ext cx="84386" cy="82041"/>
      </dsp:txXfrm>
    </dsp:sp>
    <dsp:sp modelId="{296A77E5-C0DA-BB49-ADCB-B9CDEBEB61EF}">
      <dsp:nvSpPr>
        <dsp:cNvPr id="0" name=""/>
        <dsp:cNvSpPr/>
      </dsp:nvSpPr>
      <dsp:spPr>
        <a:xfrm>
          <a:off x="117712" y="469304"/>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ATF or TFF</a:t>
          </a:r>
        </a:p>
      </dsp:txBody>
      <dsp:txXfrm>
        <a:off x="126866" y="478458"/>
        <a:ext cx="1231848" cy="294231"/>
      </dsp:txXfrm>
    </dsp:sp>
    <dsp:sp modelId="{469E1AF2-F5F0-3046-8F6A-B4C753B6DEED}">
      <dsp:nvSpPr>
        <dsp:cNvPr id="0" name=""/>
        <dsp:cNvSpPr/>
      </dsp:nvSpPr>
      <dsp:spPr>
        <a:xfrm rot="5400000">
          <a:off x="684189" y="789657"/>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801377"/>
        <a:ext cx="84386" cy="82041"/>
      </dsp:txXfrm>
    </dsp:sp>
    <dsp:sp modelId="{5129CC8F-DA47-426E-BD10-697214B6EA28}">
      <dsp:nvSpPr>
        <dsp:cNvPr id="0" name=""/>
        <dsp:cNvSpPr/>
      </dsp:nvSpPr>
      <dsp:spPr>
        <a:xfrm>
          <a:off x="117712" y="938113"/>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Capture</a:t>
          </a:r>
        </a:p>
      </dsp:txBody>
      <dsp:txXfrm>
        <a:off x="126866" y="947267"/>
        <a:ext cx="1231848" cy="294231"/>
      </dsp:txXfrm>
    </dsp:sp>
    <dsp:sp modelId="{F8EA24F2-77AB-4D3B-B52D-5C62C65989F9}">
      <dsp:nvSpPr>
        <dsp:cNvPr id="0" name=""/>
        <dsp:cNvSpPr/>
      </dsp:nvSpPr>
      <dsp:spPr>
        <a:xfrm rot="5400000">
          <a:off x="684189" y="1258465"/>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1270185"/>
        <a:ext cx="84386" cy="82041"/>
      </dsp:txXfrm>
    </dsp:sp>
    <dsp:sp modelId="{EB6B4FB0-594B-46E7-88A8-E99A3D7D28BA}">
      <dsp:nvSpPr>
        <dsp:cNvPr id="0" name=""/>
        <dsp:cNvSpPr/>
      </dsp:nvSpPr>
      <dsp:spPr>
        <a:xfrm>
          <a:off x="117712" y="1406921"/>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Batch or </a:t>
          </a:r>
          <a:r>
            <a:rPr lang="en-US" sz="1100" kern="1200" dirty="0" err="1"/>
            <a:t>Cont</a:t>
          </a:r>
          <a:r>
            <a:rPr lang="en-US" sz="1100" kern="1200" dirty="0"/>
            <a:t> VI</a:t>
          </a:r>
        </a:p>
      </dsp:txBody>
      <dsp:txXfrm>
        <a:off x="126866" y="1416075"/>
        <a:ext cx="1231848" cy="294231"/>
      </dsp:txXfrm>
    </dsp:sp>
    <dsp:sp modelId="{F33F5D7E-B525-4341-BEAB-69DFE7C337B2}">
      <dsp:nvSpPr>
        <dsp:cNvPr id="0" name=""/>
        <dsp:cNvSpPr/>
      </dsp:nvSpPr>
      <dsp:spPr>
        <a:xfrm rot="5400000">
          <a:off x="684189" y="1727274"/>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1738994"/>
        <a:ext cx="84386" cy="82041"/>
      </dsp:txXfrm>
    </dsp:sp>
    <dsp:sp modelId="{5F80A041-11EF-CC48-982E-739028B8042B}">
      <dsp:nvSpPr>
        <dsp:cNvPr id="0" name=""/>
        <dsp:cNvSpPr/>
      </dsp:nvSpPr>
      <dsp:spPr>
        <a:xfrm>
          <a:off x="117712" y="1875730"/>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Depth Filter</a:t>
          </a:r>
        </a:p>
      </dsp:txBody>
      <dsp:txXfrm>
        <a:off x="126866" y="1884884"/>
        <a:ext cx="1231848" cy="294231"/>
      </dsp:txXfrm>
    </dsp:sp>
    <dsp:sp modelId="{0CC316FD-17A4-814B-978F-640E54DE3759}">
      <dsp:nvSpPr>
        <dsp:cNvPr id="0" name=""/>
        <dsp:cNvSpPr/>
      </dsp:nvSpPr>
      <dsp:spPr>
        <a:xfrm rot="5400000">
          <a:off x="684189" y="2196083"/>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2207803"/>
        <a:ext cx="84386" cy="82041"/>
      </dsp:txXfrm>
    </dsp:sp>
    <dsp:sp modelId="{F97BB873-62A5-4C6B-AF89-1ECA6E7CBDAF}">
      <dsp:nvSpPr>
        <dsp:cNvPr id="0" name=""/>
        <dsp:cNvSpPr/>
      </dsp:nvSpPr>
      <dsp:spPr>
        <a:xfrm>
          <a:off x="117712" y="2344539"/>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Polishing 1</a:t>
          </a:r>
        </a:p>
      </dsp:txBody>
      <dsp:txXfrm>
        <a:off x="126866" y="2353693"/>
        <a:ext cx="1231848" cy="294231"/>
      </dsp:txXfrm>
    </dsp:sp>
    <dsp:sp modelId="{98E95033-BF7B-4FC9-8FE8-AA425CF14630}">
      <dsp:nvSpPr>
        <dsp:cNvPr id="0" name=""/>
        <dsp:cNvSpPr/>
      </dsp:nvSpPr>
      <dsp:spPr>
        <a:xfrm rot="5400000">
          <a:off x="684189" y="2664891"/>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2676611"/>
        <a:ext cx="84386" cy="82041"/>
      </dsp:txXfrm>
    </dsp:sp>
    <dsp:sp modelId="{448D3433-EDE0-47D4-8296-64B29C485040}">
      <dsp:nvSpPr>
        <dsp:cNvPr id="0" name=""/>
        <dsp:cNvSpPr/>
      </dsp:nvSpPr>
      <dsp:spPr>
        <a:xfrm>
          <a:off x="117712" y="2813347"/>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Polishing 2</a:t>
          </a:r>
        </a:p>
      </dsp:txBody>
      <dsp:txXfrm>
        <a:off x="126866" y="2822501"/>
        <a:ext cx="1231848" cy="294231"/>
      </dsp:txXfrm>
    </dsp:sp>
    <dsp:sp modelId="{46229D48-125F-47CA-8E73-7DCE202303D8}">
      <dsp:nvSpPr>
        <dsp:cNvPr id="0" name=""/>
        <dsp:cNvSpPr/>
      </dsp:nvSpPr>
      <dsp:spPr>
        <a:xfrm rot="5400000">
          <a:off x="684189" y="3133700"/>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145420"/>
        <a:ext cx="84386" cy="82041"/>
      </dsp:txXfrm>
    </dsp:sp>
    <dsp:sp modelId="{E63B843D-F550-4B1E-B3A4-86556ECB9F80}">
      <dsp:nvSpPr>
        <dsp:cNvPr id="0" name=""/>
        <dsp:cNvSpPr/>
      </dsp:nvSpPr>
      <dsp:spPr>
        <a:xfrm>
          <a:off x="117712" y="3282156"/>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Virus Filter</a:t>
          </a:r>
        </a:p>
      </dsp:txBody>
      <dsp:txXfrm>
        <a:off x="126866" y="3291310"/>
        <a:ext cx="1231848" cy="294231"/>
      </dsp:txXfrm>
    </dsp:sp>
    <dsp:sp modelId="{E4DC339F-DB2D-49F7-B4DA-7F8F8B7FF8D3}">
      <dsp:nvSpPr>
        <dsp:cNvPr id="0" name=""/>
        <dsp:cNvSpPr/>
      </dsp:nvSpPr>
      <dsp:spPr>
        <a:xfrm rot="5400000">
          <a:off x="684189" y="3602508"/>
          <a:ext cx="117202" cy="1406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700598" y="3614228"/>
        <a:ext cx="84386" cy="82041"/>
      </dsp:txXfrm>
    </dsp:sp>
    <dsp:sp modelId="{69BAAA73-3EC5-4D67-AAD2-D74F46F717A5}">
      <dsp:nvSpPr>
        <dsp:cNvPr id="0" name=""/>
        <dsp:cNvSpPr/>
      </dsp:nvSpPr>
      <dsp:spPr>
        <a:xfrm>
          <a:off x="117712" y="3750964"/>
          <a:ext cx="1250156" cy="3125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UFDF</a:t>
          </a:r>
        </a:p>
      </dsp:txBody>
      <dsp:txXfrm>
        <a:off x="126866" y="3760118"/>
        <a:ext cx="1231848" cy="2942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4F502-53DB-449F-878E-BE1868514305}">
      <dsp:nvSpPr>
        <dsp:cNvPr id="0" name=""/>
        <dsp:cNvSpPr/>
      </dsp:nvSpPr>
      <dsp:spPr>
        <a:xfrm>
          <a:off x="104521" y="52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500-4x2kL Perfusion </a:t>
          </a:r>
        </a:p>
      </dsp:txBody>
      <dsp:txXfrm>
        <a:off x="114201" y="10204"/>
        <a:ext cx="1257178" cy="311135"/>
      </dsp:txXfrm>
    </dsp:sp>
    <dsp:sp modelId="{FDC915AF-6026-4983-AAA1-6BCD6467DEF4}">
      <dsp:nvSpPr>
        <dsp:cNvPr id="0" name=""/>
        <dsp:cNvSpPr/>
      </dsp:nvSpPr>
      <dsp:spPr>
        <a:xfrm rot="5400000">
          <a:off x="680822" y="339282"/>
          <a:ext cx="123935" cy="148722"/>
        </a:xfrm>
        <a:prstGeom prst="rightArrow">
          <a:avLst>
            <a:gd name="adj1" fmla="val 60000"/>
            <a:gd name="adj2" fmla="val 50000"/>
          </a:avLst>
        </a:prstGeom>
        <a:solidFill>
          <a:schemeClr val="accent1">
            <a:tint val="60000"/>
            <a:hueOff val="0"/>
            <a:satOff val="0"/>
            <a:lumOff val="0"/>
            <a:alphaOff val="0"/>
          </a:schemeClr>
        </a:solidFill>
        <a:ln w="12700" cap="flat" cmpd="sng" algn="ctr">
          <a:solidFill>
            <a:schemeClr val="tx1">
              <a:alpha val="0"/>
            </a:schemeClr>
          </a:solidFill>
          <a:prstDash val="solid"/>
          <a:round/>
          <a:headEnd type="none" w="med" len="med"/>
          <a:tailEnd type="none" w="med" len="med"/>
        </a:ln>
        <a:effectLs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51675"/>
        <a:ext cx="89234" cy="86755"/>
      </dsp:txXfrm>
    </dsp:sp>
    <dsp:sp modelId="{296A77E5-C0DA-BB49-ADCB-B9CDEBEB61EF}">
      <dsp:nvSpPr>
        <dsp:cNvPr id="0" name=""/>
        <dsp:cNvSpPr/>
      </dsp:nvSpPr>
      <dsp:spPr>
        <a:xfrm>
          <a:off x="104521" y="49626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ATF or TFF</a:t>
          </a:r>
        </a:p>
      </dsp:txBody>
      <dsp:txXfrm>
        <a:off x="114201" y="505947"/>
        <a:ext cx="1257178" cy="311135"/>
      </dsp:txXfrm>
    </dsp:sp>
    <dsp:sp modelId="{469E1AF2-F5F0-3046-8F6A-B4C753B6DEED}">
      <dsp:nvSpPr>
        <dsp:cNvPr id="0" name=""/>
        <dsp:cNvSpPr/>
      </dsp:nvSpPr>
      <dsp:spPr>
        <a:xfrm rot="5400000">
          <a:off x="680822" y="83502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847418"/>
        <a:ext cx="89234" cy="86755"/>
      </dsp:txXfrm>
    </dsp:sp>
    <dsp:sp modelId="{5129CC8F-DA47-426E-BD10-697214B6EA28}">
      <dsp:nvSpPr>
        <dsp:cNvPr id="0" name=""/>
        <dsp:cNvSpPr/>
      </dsp:nvSpPr>
      <dsp:spPr>
        <a:xfrm>
          <a:off x="104521" y="99201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Capture</a:t>
          </a:r>
        </a:p>
      </dsp:txBody>
      <dsp:txXfrm>
        <a:off x="114201" y="1001690"/>
        <a:ext cx="1257178" cy="311135"/>
      </dsp:txXfrm>
    </dsp:sp>
    <dsp:sp modelId="{F8EA24F2-77AB-4D3B-B52D-5C62C65989F9}">
      <dsp:nvSpPr>
        <dsp:cNvPr id="0" name=""/>
        <dsp:cNvSpPr/>
      </dsp:nvSpPr>
      <dsp:spPr>
        <a:xfrm rot="5400000">
          <a:off x="680822" y="133076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343161"/>
        <a:ext cx="89234" cy="86755"/>
      </dsp:txXfrm>
    </dsp:sp>
    <dsp:sp modelId="{EB6B4FB0-594B-46E7-88A8-E99A3D7D28BA}">
      <dsp:nvSpPr>
        <dsp:cNvPr id="0" name=""/>
        <dsp:cNvSpPr/>
      </dsp:nvSpPr>
      <dsp:spPr>
        <a:xfrm>
          <a:off x="104521" y="1487754"/>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Batch or </a:t>
          </a:r>
          <a:r>
            <a:rPr lang="en-US" sz="1000" kern="1200" dirty="0" err="1"/>
            <a:t>Cont</a:t>
          </a:r>
          <a:r>
            <a:rPr lang="en-US" sz="1000" kern="1200" dirty="0"/>
            <a:t> VI</a:t>
          </a:r>
        </a:p>
      </dsp:txBody>
      <dsp:txXfrm>
        <a:off x="114201" y="1497434"/>
        <a:ext cx="1257178" cy="311135"/>
      </dsp:txXfrm>
    </dsp:sp>
    <dsp:sp modelId="{F33F5D7E-B525-4341-BEAB-69DFE7C337B2}">
      <dsp:nvSpPr>
        <dsp:cNvPr id="0" name=""/>
        <dsp:cNvSpPr/>
      </dsp:nvSpPr>
      <dsp:spPr>
        <a:xfrm rot="5400000">
          <a:off x="680822" y="182651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1838904"/>
        <a:ext cx="89234" cy="86755"/>
      </dsp:txXfrm>
    </dsp:sp>
    <dsp:sp modelId="{5F80A041-11EF-CC48-982E-739028B8042B}">
      <dsp:nvSpPr>
        <dsp:cNvPr id="0" name=""/>
        <dsp:cNvSpPr/>
      </dsp:nvSpPr>
      <dsp:spPr>
        <a:xfrm>
          <a:off x="104521" y="1983497"/>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Depth Filter</a:t>
          </a:r>
        </a:p>
      </dsp:txBody>
      <dsp:txXfrm>
        <a:off x="114201" y="1993177"/>
        <a:ext cx="1257178" cy="311135"/>
      </dsp:txXfrm>
    </dsp:sp>
    <dsp:sp modelId="{0CC316FD-17A4-814B-978F-640E54DE3759}">
      <dsp:nvSpPr>
        <dsp:cNvPr id="0" name=""/>
        <dsp:cNvSpPr/>
      </dsp:nvSpPr>
      <dsp:spPr>
        <a:xfrm rot="5400000">
          <a:off x="680822" y="2322255"/>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334648"/>
        <a:ext cx="89234" cy="86755"/>
      </dsp:txXfrm>
    </dsp:sp>
    <dsp:sp modelId="{F97BB873-62A5-4C6B-AF89-1ECA6E7CBDAF}">
      <dsp:nvSpPr>
        <dsp:cNvPr id="0" name=""/>
        <dsp:cNvSpPr/>
      </dsp:nvSpPr>
      <dsp:spPr>
        <a:xfrm>
          <a:off x="104521" y="2479240"/>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FT</a:t>
          </a:r>
        </a:p>
      </dsp:txBody>
      <dsp:txXfrm>
        <a:off x="114201" y="2488920"/>
        <a:ext cx="1257178" cy="311135"/>
      </dsp:txXfrm>
    </dsp:sp>
    <dsp:sp modelId="{98E95033-BF7B-4FC9-8FE8-AA425CF14630}">
      <dsp:nvSpPr>
        <dsp:cNvPr id="0" name=""/>
        <dsp:cNvSpPr/>
      </dsp:nvSpPr>
      <dsp:spPr>
        <a:xfrm rot="5400000">
          <a:off x="680822" y="2817998"/>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2830391"/>
        <a:ext cx="89234" cy="86755"/>
      </dsp:txXfrm>
    </dsp:sp>
    <dsp:sp modelId="{448D3433-EDE0-47D4-8296-64B29C485040}">
      <dsp:nvSpPr>
        <dsp:cNvPr id="0" name=""/>
        <dsp:cNvSpPr/>
      </dsp:nvSpPr>
      <dsp:spPr>
        <a:xfrm>
          <a:off x="104521" y="2974983"/>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2 Col. B/E</a:t>
          </a:r>
        </a:p>
      </dsp:txBody>
      <dsp:txXfrm>
        <a:off x="114201" y="2984663"/>
        <a:ext cx="1257178" cy="311135"/>
      </dsp:txXfrm>
    </dsp:sp>
    <dsp:sp modelId="{46229D48-125F-47CA-8E73-7DCE202303D8}">
      <dsp:nvSpPr>
        <dsp:cNvPr id="0" name=""/>
        <dsp:cNvSpPr/>
      </dsp:nvSpPr>
      <dsp:spPr>
        <a:xfrm rot="5400000">
          <a:off x="680822" y="3313741"/>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326134"/>
        <a:ext cx="89234" cy="86755"/>
      </dsp:txXfrm>
    </dsp:sp>
    <dsp:sp modelId="{E63B843D-F550-4B1E-B3A4-86556ECB9F80}">
      <dsp:nvSpPr>
        <dsp:cNvPr id="0" name=""/>
        <dsp:cNvSpPr/>
      </dsp:nvSpPr>
      <dsp:spPr>
        <a:xfrm>
          <a:off x="104521" y="3470726"/>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Virus Filter</a:t>
          </a:r>
        </a:p>
      </dsp:txBody>
      <dsp:txXfrm>
        <a:off x="114201" y="3480406"/>
        <a:ext cx="1257178" cy="311135"/>
      </dsp:txXfrm>
    </dsp:sp>
    <dsp:sp modelId="{E4DC339F-DB2D-49F7-B4DA-7F8F8B7FF8D3}">
      <dsp:nvSpPr>
        <dsp:cNvPr id="0" name=""/>
        <dsp:cNvSpPr/>
      </dsp:nvSpPr>
      <dsp:spPr>
        <a:xfrm rot="5400000">
          <a:off x="680822" y="3809484"/>
          <a:ext cx="123935" cy="14872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698173" y="3821877"/>
        <a:ext cx="89234" cy="86755"/>
      </dsp:txXfrm>
    </dsp:sp>
    <dsp:sp modelId="{69BAAA73-3EC5-4D67-AAD2-D74F46F717A5}">
      <dsp:nvSpPr>
        <dsp:cNvPr id="0" name=""/>
        <dsp:cNvSpPr/>
      </dsp:nvSpPr>
      <dsp:spPr>
        <a:xfrm>
          <a:off x="104521" y="3966469"/>
          <a:ext cx="1276538" cy="33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 val="0"/>
            </a:schemeClr>
          </a:solidFill>
          <a:prstDash val="solid"/>
          <a:round/>
          <a:headEnd type="none" w="med" len="med"/>
          <a:tailEnd type="none" w="med" len="me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UFDF</a:t>
          </a:r>
        </a:p>
      </dsp:txBody>
      <dsp:txXfrm>
        <a:off x="114201" y="3976149"/>
        <a:ext cx="1257178" cy="3111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9/15/20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9/15/20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3526103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1924027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6</a:t>
            </a:fld>
            <a:endParaRPr lang="en-US"/>
          </a:p>
        </p:txBody>
      </p:sp>
    </p:spTree>
    <p:extLst>
      <p:ext uri="{BB962C8B-B14F-4D97-AF65-F5344CB8AC3E}">
        <p14:creationId xmlns:p14="http://schemas.microsoft.com/office/powerpoint/2010/main" val="1148365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7</a:t>
            </a:fld>
            <a:endParaRPr lang="en-US"/>
          </a:p>
        </p:txBody>
      </p:sp>
    </p:spTree>
    <p:extLst>
      <p:ext uri="{BB962C8B-B14F-4D97-AF65-F5344CB8AC3E}">
        <p14:creationId xmlns:p14="http://schemas.microsoft.com/office/powerpoint/2010/main" val="275584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8</a:t>
            </a:fld>
            <a:endParaRPr lang="en-US"/>
          </a:p>
        </p:txBody>
      </p:sp>
    </p:spTree>
    <p:extLst>
      <p:ext uri="{BB962C8B-B14F-4D97-AF65-F5344CB8AC3E}">
        <p14:creationId xmlns:p14="http://schemas.microsoft.com/office/powerpoint/2010/main" val="3996128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9</a:t>
            </a:fld>
            <a:endParaRPr lang="en-US"/>
          </a:p>
        </p:txBody>
      </p:sp>
    </p:spTree>
    <p:extLst>
      <p:ext uri="{BB962C8B-B14F-4D97-AF65-F5344CB8AC3E}">
        <p14:creationId xmlns:p14="http://schemas.microsoft.com/office/powerpoint/2010/main" val="1511769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10</a:t>
            </a:fld>
            <a:endParaRPr lang="en-US"/>
          </a:p>
        </p:txBody>
      </p:sp>
    </p:spTree>
    <p:extLst>
      <p:ext uri="{BB962C8B-B14F-4D97-AF65-F5344CB8AC3E}">
        <p14:creationId xmlns:p14="http://schemas.microsoft.com/office/powerpoint/2010/main" val="2464114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11</a:t>
            </a:fld>
            <a:endParaRPr lang="en-US"/>
          </a:p>
        </p:txBody>
      </p:sp>
    </p:spTree>
    <p:extLst>
      <p:ext uri="{BB962C8B-B14F-4D97-AF65-F5344CB8AC3E}">
        <p14:creationId xmlns:p14="http://schemas.microsoft.com/office/powerpoint/2010/main" val="404625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13</a:t>
            </a:fld>
            <a:endParaRPr lang="en-US"/>
          </a:p>
        </p:txBody>
      </p:sp>
    </p:spTree>
    <p:extLst>
      <p:ext uri="{BB962C8B-B14F-4D97-AF65-F5344CB8AC3E}">
        <p14:creationId xmlns:p14="http://schemas.microsoft.com/office/powerpoint/2010/main" val="3458842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14</a:t>
            </a:fld>
            <a:endParaRPr lang="en-US"/>
          </a:p>
        </p:txBody>
      </p:sp>
    </p:spTree>
    <p:extLst>
      <p:ext uri="{BB962C8B-B14F-4D97-AF65-F5344CB8AC3E}">
        <p14:creationId xmlns:p14="http://schemas.microsoft.com/office/powerpoint/2010/main" val="126357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r>
              <a:rPr lang="en-US"/>
              <a:t>CNC area</a:t>
            </a:r>
          </a:p>
          <a:p>
            <a:r>
              <a:rPr lang="en-US"/>
              <a:t>Functionally closed system</a:t>
            </a:r>
          </a:p>
          <a:p>
            <a:r>
              <a:rPr lang="en-US"/>
              <a:t>IoT parts</a:t>
            </a:r>
          </a:p>
          <a:p>
            <a:r>
              <a:rPr lang="en-US"/>
              <a:t>Self-validating</a:t>
            </a:r>
          </a:p>
          <a:p>
            <a:endParaRPr lang="en-US"/>
          </a:p>
          <a:p>
            <a:r>
              <a:rPr lang="en-US"/>
              <a:t>No more than 1m2 space</a:t>
            </a:r>
          </a:p>
          <a:p>
            <a:r>
              <a:rPr lang="en-US"/>
              <a:t>What kind of molecules?</a:t>
            </a:r>
          </a:p>
          <a:p>
            <a:r>
              <a:rPr lang="en-US"/>
              <a:t>Changeover time</a:t>
            </a:r>
          </a:p>
          <a:p>
            <a:r>
              <a:rPr lang="en-US"/>
              <a:t>Operator schedule</a:t>
            </a:r>
          </a:p>
          <a:p>
            <a:endParaRPr lang="en-US"/>
          </a:p>
          <a:p>
            <a:r>
              <a:rPr lang="en-US"/>
              <a:t>User Requirement Information Architecture</a:t>
            </a:r>
          </a:p>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pPr/>
              <a:t>15</a:t>
            </a:fld>
            <a:endParaRPr lang="en-US"/>
          </a:p>
        </p:txBody>
      </p:sp>
    </p:spTree>
    <p:extLst>
      <p:ext uri="{BB962C8B-B14F-4D97-AF65-F5344CB8AC3E}">
        <p14:creationId xmlns:p14="http://schemas.microsoft.com/office/powerpoint/2010/main" val="1882739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17</a:t>
            </a:fld>
            <a:endParaRPr lang="en-US"/>
          </a:p>
        </p:txBody>
      </p:sp>
    </p:spTree>
    <p:extLst>
      <p:ext uri="{BB962C8B-B14F-4D97-AF65-F5344CB8AC3E}">
        <p14:creationId xmlns:p14="http://schemas.microsoft.com/office/powerpoint/2010/main" val="2304344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18</a:t>
            </a:fld>
            <a:endParaRPr lang="en-US"/>
          </a:p>
        </p:txBody>
      </p:sp>
    </p:spTree>
    <p:extLst>
      <p:ext uri="{BB962C8B-B14F-4D97-AF65-F5344CB8AC3E}">
        <p14:creationId xmlns:p14="http://schemas.microsoft.com/office/powerpoint/2010/main" val="2125745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19</a:t>
            </a:fld>
            <a:endParaRPr lang="en-US"/>
          </a:p>
        </p:txBody>
      </p:sp>
    </p:spTree>
    <p:extLst>
      <p:ext uri="{BB962C8B-B14F-4D97-AF65-F5344CB8AC3E}">
        <p14:creationId xmlns:p14="http://schemas.microsoft.com/office/powerpoint/2010/main" val="30814649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3"/>
            <a:ext cx="8856000" cy="2113995"/>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8"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3"/>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5"/>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4"/>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1"/>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9"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2"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6" indent="0">
              <a:buNone/>
              <a:defRPr sz="2400"/>
            </a:lvl2pPr>
            <a:lvl3pPr marL="914411" indent="0">
              <a:buNone/>
              <a:defRPr sz="2400"/>
            </a:lvl3pPr>
            <a:lvl4pPr marL="1371617" indent="0">
              <a:buNone/>
              <a:defRPr sz="2400"/>
            </a:lvl4pPr>
            <a:lvl5pPr marL="1828823"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11"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60"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8"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5" indent="0" algn="ctr">
              <a:buNone/>
              <a:defRPr>
                <a:solidFill>
                  <a:schemeClr val="tx1">
                    <a:tint val="75000"/>
                  </a:schemeClr>
                </a:solidFill>
              </a:defRPr>
            </a:lvl2pPr>
            <a:lvl3pPr marL="685808" indent="0" algn="ctr">
              <a:buNone/>
              <a:defRPr>
                <a:solidFill>
                  <a:schemeClr val="tx1">
                    <a:tint val="75000"/>
                  </a:schemeClr>
                </a:solidFill>
              </a:defRPr>
            </a:lvl3pPr>
            <a:lvl4pPr marL="1028713" indent="0" algn="ctr">
              <a:buNone/>
              <a:defRPr>
                <a:solidFill>
                  <a:schemeClr val="tx1">
                    <a:tint val="75000"/>
                  </a:schemeClr>
                </a:solidFill>
              </a:defRPr>
            </a:lvl4pPr>
            <a:lvl5pPr marL="1371617" indent="0" algn="ctr">
              <a:buNone/>
              <a:defRPr>
                <a:solidFill>
                  <a:schemeClr val="tx1">
                    <a:tint val="75000"/>
                  </a:schemeClr>
                </a:solidFill>
              </a:defRPr>
            </a:lvl5pPr>
            <a:lvl6pPr marL="1714521" indent="0" algn="ctr">
              <a:buNone/>
              <a:defRPr>
                <a:solidFill>
                  <a:schemeClr val="tx1">
                    <a:tint val="75000"/>
                  </a:schemeClr>
                </a:solidFill>
              </a:defRPr>
            </a:lvl6pPr>
            <a:lvl7pPr marL="2057426" indent="0" algn="ctr">
              <a:buNone/>
              <a:defRPr>
                <a:solidFill>
                  <a:schemeClr val="tx1">
                    <a:tint val="75000"/>
                  </a:schemeClr>
                </a:solidFill>
              </a:defRPr>
            </a:lvl7pPr>
            <a:lvl8pPr marL="2400330" indent="0" algn="ctr">
              <a:buNone/>
              <a:defRPr>
                <a:solidFill>
                  <a:schemeClr val="tx1">
                    <a:tint val="75000"/>
                  </a:schemeClr>
                </a:solidFill>
              </a:defRPr>
            </a:lvl8pPr>
            <a:lvl9pPr marL="2743234"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8"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3"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8" y="1233071"/>
            <a:ext cx="8766175" cy="3172500"/>
          </a:xfrm>
          <a:prstGeom prst="rect">
            <a:avLst/>
          </a:prstGeom>
        </p:spPr>
        <p:txBody>
          <a:bodyPr/>
          <a:lstStyle>
            <a:lvl1pPr marL="269879" indent="-269879">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6" indent="-135002">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3.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9.xml"/><Relationship Id="rId7" Type="http://schemas.openxmlformats.org/officeDocument/2006/relationships/diagramColors" Target="../diagrams/colors1.xml"/><Relationship Id="rId2" Type="http://schemas.openxmlformats.org/officeDocument/2006/relationships/slideLayout" Target="../slideLayouts/slideLayout23.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0.xml"/><Relationship Id="rId7" Type="http://schemas.openxmlformats.org/officeDocument/2006/relationships/diagramColors" Target="../diagrams/colors2.xml"/><Relationship Id="rId2" Type="http://schemas.openxmlformats.org/officeDocument/2006/relationships/slideLayout" Target="../slideLayouts/slideLayout23.xml"/><Relationship Id="rId1" Type="http://schemas.openxmlformats.org/officeDocument/2006/relationships/tags" Target="../tags/tag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3.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35F89F-D75B-2842-B92A-DCF8B372B00A}"/>
              </a:ext>
            </a:extLst>
          </p:cNvPr>
          <p:cNvSpPr>
            <a:spLocks noGrp="1"/>
          </p:cNvSpPr>
          <p:nvPr>
            <p:ph type="title"/>
          </p:nvPr>
        </p:nvSpPr>
        <p:spPr/>
        <p:txBody>
          <a:bodyPr/>
          <a:lstStyle/>
          <a:p>
            <a:r>
              <a:rPr lang="en-US" dirty="0"/>
              <a:t>Figures and tables for (high level) Common Framework article </a:t>
            </a:r>
          </a:p>
        </p:txBody>
      </p:sp>
      <p:sp>
        <p:nvSpPr>
          <p:cNvPr id="8" name="Text Placeholder 7">
            <a:extLst>
              <a:ext uri="{FF2B5EF4-FFF2-40B4-BE49-F238E27FC236}">
                <a16:creationId xmlns:a16="http://schemas.microsoft.com/office/drawing/2014/main" id="{BFC32797-78FA-8744-B5CF-2B3D44AA9A9E}"/>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C5ED231A-F7DE-E242-8543-9B9F13DFF40B}"/>
              </a:ext>
            </a:extLst>
          </p:cNvPr>
          <p:cNvSpPr>
            <a:spLocks noGrp="1"/>
          </p:cNvSpPr>
          <p:nvPr>
            <p:ph type="body" sz="quarter" idx="12"/>
          </p:nvPr>
        </p:nvSpPr>
        <p:spPr/>
        <p:txBody>
          <a:bodyPr/>
          <a:lstStyle/>
          <a:p>
            <a:endParaRPr lang="en-US"/>
          </a:p>
        </p:txBody>
      </p:sp>
      <p:sp>
        <p:nvSpPr>
          <p:cNvPr id="11" name="Text Placeholder 10">
            <a:extLst>
              <a:ext uri="{FF2B5EF4-FFF2-40B4-BE49-F238E27FC236}">
                <a16:creationId xmlns:a16="http://schemas.microsoft.com/office/drawing/2014/main" id="{CD25D36F-4153-514A-9F16-DB7A5F7A6482}"/>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72FE03AB-7381-8B48-83D6-1963FF0BF0E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02830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9EB132-B526-4F1F-8FFB-3167AC2008C2}"/>
              </a:ext>
            </a:extLst>
          </p:cNvPr>
          <p:cNvSpPr>
            <a:spLocks noGrp="1"/>
          </p:cNvSpPr>
          <p:nvPr>
            <p:ph type="sldNum" sz="quarter" idx="4"/>
          </p:nvPr>
        </p:nvSpPr>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71D64CBF-B5E7-4120-885F-D7A866E2AF38}"/>
              </a:ext>
            </a:extLst>
          </p:cNvPr>
          <p:cNvSpPr>
            <a:spLocks noGrp="1"/>
          </p:cNvSpPr>
          <p:nvPr>
            <p:ph type="title"/>
          </p:nvPr>
        </p:nvSpPr>
        <p:spPr/>
        <p:txBody>
          <a:bodyPr/>
          <a:lstStyle/>
          <a:p>
            <a:r>
              <a:rPr lang="en-US" sz="2000" dirty="0"/>
              <a:t>Table 1: Integrated and Continuous Bioprocessing Implementation</a:t>
            </a:r>
          </a:p>
        </p:txBody>
      </p:sp>
      <p:graphicFrame>
        <p:nvGraphicFramePr>
          <p:cNvPr id="4" name="Table 3">
            <a:extLst>
              <a:ext uri="{FF2B5EF4-FFF2-40B4-BE49-F238E27FC236}">
                <a16:creationId xmlns:a16="http://schemas.microsoft.com/office/drawing/2014/main" id="{83FC77EC-E7DA-4EA5-8756-074F3F44A593}"/>
              </a:ext>
            </a:extLst>
          </p:cNvPr>
          <p:cNvGraphicFramePr>
            <a:graphicFrameLocks noGrp="1"/>
          </p:cNvGraphicFramePr>
          <p:nvPr>
            <p:extLst>
              <p:ext uri="{D42A27DB-BD31-4B8C-83A1-F6EECF244321}">
                <p14:modId xmlns:p14="http://schemas.microsoft.com/office/powerpoint/2010/main" val="278247358"/>
              </p:ext>
            </p:extLst>
          </p:nvPr>
        </p:nvGraphicFramePr>
        <p:xfrm>
          <a:off x="141286" y="445505"/>
          <a:ext cx="8903271" cy="4697995"/>
        </p:xfrm>
        <a:graphic>
          <a:graphicData uri="http://schemas.openxmlformats.org/drawingml/2006/table">
            <a:tbl>
              <a:tblPr firstRow="1" bandRow="1">
                <a:tableStyleId>{5C22544A-7EE6-4342-B048-85BDC9FD1C3A}</a:tableStyleId>
              </a:tblPr>
              <a:tblGrid>
                <a:gridCol w="1480149">
                  <a:extLst>
                    <a:ext uri="{9D8B030D-6E8A-4147-A177-3AD203B41FA5}">
                      <a16:colId xmlns:a16="http://schemas.microsoft.com/office/drawing/2014/main" val="1331994281"/>
                    </a:ext>
                  </a:extLst>
                </a:gridCol>
                <a:gridCol w="616728">
                  <a:extLst>
                    <a:ext uri="{9D8B030D-6E8A-4147-A177-3AD203B41FA5}">
                      <a16:colId xmlns:a16="http://schemas.microsoft.com/office/drawing/2014/main" val="4098781757"/>
                    </a:ext>
                  </a:extLst>
                </a:gridCol>
                <a:gridCol w="740074">
                  <a:extLst>
                    <a:ext uri="{9D8B030D-6E8A-4147-A177-3AD203B41FA5}">
                      <a16:colId xmlns:a16="http://schemas.microsoft.com/office/drawing/2014/main" val="3177721031"/>
                    </a:ext>
                  </a:extLst>
                </a:gridCol>
                <a:gridCol w="740074">
                  <a:extLst>
                    <a:ext uri="{9D8B030D-6E8A-4147-A177-3AD203B41FA5}">
                      <a16:colId xmlns:a16="http://schemas.microsoft.com/office/drawing/2014/main" val="2119094409"/>
                    </a:ext>
                  </a:extLst>
                </a:gridCol>
                <a:gridCol w="714461">
                  <a:extLst>
                    <a:ext uri="{9D8B030D-6E8A-4147-A177-3AD203B41FA5}">
                      <a16:colId xmlns:a16="http://schemas.microsoft.com/office/drawing/2014/main" val="848065991"/>
                    </a:ext>
                  </a:extLst>
                </a:gridCol>
                <a:gridCol w="1139095">
                  <a:extLst>
                    <a:ext uri="{9D8B030D-6E8A-4147-A177-3AD203B41FA5}">
                      <a16:colId xmlns:a16="http://schemas.microsoft.com/office/drawing/2014/main" val="1738516071"/>
                    </a:ext>
                  </a:extLst>
                </a:gridCol>
                <a:gridCol w="1107552">
                  <a:extLst>
                    <a:ext uri="{9D8B030D-6E8A-4147-A177-3AD203B41FA5}">
                      <a16:colId xmlns:a16="http://schemas.microsoft.com/office/drawing/2014/main" val="1649592483"/>
                    </a:ext>
                  </a:extLst>
                </a:gridCol>
                <a:gridCol w="761644">
                  <a:extLst>
                    <a:ext uri="{9D8B030D-6E8A-4147-A177-3AD203B41FA5}">
                      <a16:colId xmlns:a16="http://schemas.microsoft.com/office/drawing/2014/main" val="744124026"/>
                    </a:ext>
                  </a:extLst>
                </a:gridCol>
                <a:gridCol w="863420">
                  <a:extLst>
                    <a:ext uri="{9D8B030D-6E8A-4147-A177-3AD203B41FA5}">
                      <a16:colId xmlns:a16="http://schemas.microsoft.com/office/drawing/2014/main" val="1290535272"/>
                    </a:ext>
                  </a:extLst>
                </a:gridCol>
                <a:gridCol w="740074">
                  <a:extLst>
                    <a:ext uri="{9D8B030D-6E8A-4147-A177-3AD203B41FA5}">
                      <a16:colId xmlns:a16="http://schemas.microsoft.com/office/drawing/2014/main" val="863792691"/>
                    </a:ext>
                  </a:extLst>
                </a:gridCol>
              </a:tblGrid>
              <a:tr h="858975">
                <a:tc>
                  <a:txBody>
                    <a:bodyPr/>
                    <a:lstStyle/>
                    <a:p>
                      <a:pPr algn="ctr" fontAlgn="t"/>
                      <a:endParaRPr lang="en-US" sz="1400" b="0" i="0" u="none" strike="noStrike" dirty="0">
                        <a:solidFill>
                          <a:srgbClr val="000000"/>
                        </a:solidFill>
                        <a:effectLst/>
                        <a:latin typeface="Arial" panose="020B0604020202020204" pitchFamily="34" charset="0"/>
                      </a:endParaRPr>
                    </a:p>
                  </a:txBody>
                  <a:tcPr marL="1725" marR="1725" marT="1725" marB="0"/>
                </a:tc>
                <a:tc>
                  <a:txBody>
                    <a:bodyPr/>
                    <a:lstStyle/>
                    <a:p>
                      <a:pPr algn="ctr" rtl="0" fontAlgn="ctr"/>
                      <a:r>
                        <a:rPr lang="en-US" sz="1400" u="none" strike="noStrike" dirty="0">
                          <a:effectLst/>
                        </a:rPr>
                        <a:t>N-1</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 </a:t>
                      </a:r>
                      <a:r>
                        <a:rPr lang="en-US" sz="1400" u="none" strike="noStrike" dirty="0" err="1">
                          <a:effectLst/>
                        </a:rPr>
                        <a:t>Brx</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 Virus </a:t>
                      </a:r>
                      <a:r>
                        <a:rPr lang="en-US" sz="1400" u="none" strike="noStrike" dirty="0" err="1">
                          <a:effectLst/>
                        </a:rPr>
                        <a:t>inact</a:t>
                      </a:r>
                      <a:r>
                        <a:rPr lang="en-US" sz="1400" u="none" strike="noStrike" dirty="0">
                          <a:effectLst/>
                        </a:rPr>
                        <a:t>.</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Number of Columns </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Virus Filter</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UFDF</a:t>
                      </a:r>
                      <a:endParaRPr lang="en-US" sz="1400" b="1" i="0" u="none" strike="noStrike" dirty="0">
                        <a:solidFill>
                          <a:srgbClr val="FFFFFF"/>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GMP?</a:t>
                      </a:r>
                      <a:endParaRPr lang="en-US" sz="1400" b="1" i="0" u="none" strike="noStrike" dirty="0">
                        <a:solidFill>
                          <a:srgbClr val="FFFFFF"/>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052009566"/>
                  </a:ext>
                </a:extLst>
              </a:tr>
              <a:tr h="383902">
                <a:tc>
                  <a:txBody>
                    <a:bodyPr/>
                    <a:lstStyle/>
                    <a:p>
                      <a:pPr algn="l" rtl="0" fontAlgn="ctr"/>
                      <a:r>
                        <a:rPr lang="en-US" sz="1400" u="none" strike="noStrike" dirty="0">
                          <a:effectLst/>
                        </a:rPr>
                        <a:t>Amgen</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730733001"/>
                  </a:ext>
                </a:extLst>
              </a:tr>
              <a:tr h="383902">
                <a:tc>
                  <a:txBody>
                    <a:bodyPr/>
                    <a:lstStyle/>
                    <a:p>
                      <a:pPr algn="l" rtl="0" fontAlgn="ctr"/>
                      <a:r>
                        <a:rPr lang="en-US" sz="1400" u="none" strike="noStrike" dirty="0">
                          <a:effectLst/>
                        </a:rPr>
                        <a:t>Sanofi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Both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b="0" i="0" u="none" strike="noStrike" dirty="0">
                          <a:solidFill>
                            <a:srgbClr val="000000"/>
                          </a:solidFill>
                          <a:effectLst/>
                          <a:latin typeface="Arial" panose="020B0604020202020204" pitchFamily="34" charset="0"/>
                        </a:rPr>
                        <a:t>Multi</a:t>
                      </a: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98646737"/>
                  </a:ext>
                </a:extLst>
              </a:tr>
              <a:tr h="383902">
                <a:tc>
                  <a:txBody>
                    <a:bodyPr/>
                    <a:lstStyle/>
                    <a:p>
                      <a:pPr algn="l" rtl="0" fontAlgn="ctr"/>
                      <a:r>
                        <a:rPr lang="en-US" sz="1400" u="none" strike="noStrike" dirty="0">
                          <a:effectLst/>
                        </a:rPr>
                        <a:t>Novartis</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901905116"/>
                  </a:ext>
                </a:extLst>
              </a:tr>
              <a:tr h="383902">
                <a:tc>
                  <a:txBody>
                    <a:bodyPr/>
                    <a:lstStyle/>
                    <a:p>
                      <a:pPr algn="l" rtl="0" fontAlgn="ctr"/>
                      <a:r>
                        <a:rPr lang="en-US" sz="1400" u="none" strike="noStrike" dirty="0">
                          <a:effectLst/>
                        </a:rPr>
                        <a:t>BMS</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527293138"/>
                  </a:ext>
                </a:extLst>
              </a:tr>
              <a:tr h="383902">
                <a:tc>
                  <a:txBody>
                    <a:bodyPr/>
                    <a:lstStyle/>
                    <a:p>
                      <a:pPr algn="l" rtl="0" fontAlgn="ctr"/>
                      <a:r>
                        <a:rPr lang="en-US" sz="1400" u="none" strike="noStrike" dirty="0">
                          <a:effectLst/>
                        </a:rPr>
                        <a:t>Merck (MSD)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b="0" i="0" u="none" strike="noStrike" dirty="0">
                          <a:solidFill>
                            <a:srgbClr val="000000"/>
                          </a:solidFill>
                          <a:effectLst/>
                          <a:latin typeface="Arial"/>
                        </a:rPr>
                        <a:t>Batch</a:t>
                      </a: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522206493"/>
                  </a:ext>
                </a:extLst>
              </a:tr>
              <a:tr h="383902">
                <a:tc>
                  <a:txBody>
                    <a:bodyPr/>
                    <a:lstStyle/>
                    <a:p>
                      <a:pPr algn="l" rtl="0" fontAlgn="ctr"/>
                      <a:r>
                        <a:rPr lang="en-US" sz="1400" u="none" strike="noStrike" dirty="0">
                          <a:effectLst/>
                        </a:rPr>
                        <a:t>Merck (</a:t>
                      </a:r>
                      <a:r>
                        <a:rPr lang="en-US" sz="1400" u="none" strike="noStrike" dirty="0" err="1">
                          <a:effectLst/>
                        </a:rPr>
                        <a:t>KgaA</a:t>
                      </a: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Y</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2962161507"/>
                  </a:ext>
                </a:extLst>
              </a:tr>
              <a:tr h="383902">
                <a:tc>
                  <a:txBody>
                    <a:bodyPr/>
                    <a:lstStyle/>
                    <a:p>
                      <a:pPr algn="l" rtl="0" fontAlgn="ctr"/>
                      <a:r>
                        <a:rPr lang="en-US" sz="1400" u="none" strike="noStrike" dirty="0">
                          <a:effectLst/>
                        </a:rPr>
                        <a:t>Pfizer/BI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172123322"/>
                  </a:ext>
                </a:extLst>
              </a:tr>
              <a:tr h="383902">
                <a:tc>
                  <a:txBody>
                    <a:bodyPr/>
                    <a:lstStyle/>
                    <a:p>
                      <a:pPr algn="l" rtl="0" fontAlgn="ctr"/>
                      <a:r>
                        <a:rPr lang="en-US" sz="1400" u="none" strike="noStrike" dirty="0">
                          <a:effectLst/>
                        </a:rPr>
                        <a:t>Bayer</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Batch</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Cont.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488488862"/>
                  </a:ext>
                </a:extLst>
              </a:tr>
              <a:tr h="383902">
                <a:tc>
                  <a:txBody>
                    <a:bodyPr/>
                    <a:lstStyle/>
                    <a:p>
                      <a:pPr lvl="0" algn="l">
                        <a:buNone/>
                      </a:pPr>
                      <a:r>
                        <a:rPr lang="en-US" sz="1400" u="none" strike="noStrike" dirty="0">
                          <a:effectLst/>
                        </a:rPr>
                        <a:t>Janssen</a:t>
                      </a:r>
                    </a:p>
                  </a:txBody>
                  <a:tcPr marL="1725" marR="1725" marT="1725" marB="0" anchor="ctr"/>
                </a:tc>
                <a:tc>
                  <a:txBody>
                    <a:bodyPr/>
                    <a:lstStyle/>
                    <a:p>
                      <a:pPr lvl="0" algn="ctr">
                        <a:buNone/>
                      </a:pPr>
                      <a:r>
                        <a:rPr lang="en-US" sz="1400" u="none" strike="noStrike" dirty="0">
                          <a:effectLst/>
                        </a:rPr>
                        <a:t>Perf</a:t>
                      </a:r>
                    </a:p>
                  </a:txBody>
                  <a:tcPr marL="1725" marR="1725" marT="1725" marB="0" anchor="ctr"/>
                </a:tc>
                <a:tc>
                  <a:txBody>
                    <a:bodyPr/>
                    <a:lstStyle/>
                    <a:p>
                      <a:pPr lvl="0" algn="ctr">
                        <a:buNone/>
                      </a:pPr>
                      <a:r>
                        <a:rPr lang="en-US" sz="1400" u="none" strike="noStrike" dirty="0">
                          <a:effectLst/>
                        </a:rPr>
                        <a:t>Batch</a:t>
                      </a:r>
                    </a:p>
                  </a:txBody>
                  <a:tcPr marL="1725" marR="1725" marT="1725" marB="0" anchor="ctr"/>
                </a:tc>
                <a:tc>
                  <a:txBody>
                    <a:bodyPr/>
                    <a:lstStyle/>
                    <a:p>
                      <a:pPr lvl="0" algn="ctr" rtl="0">
                        <a:buNone/>
                      </a:pPr>
                      <a:r>
                        <a:rPr lang="en-US" sz="1400" b="0" i="0" u="none" strike="noStrike" dirty="0">
                          <a:solidFill>
                            <a:srgbClr val="000000"/>
                          </a:solidFill>
                          <a:effectLst/>
                          <a:latin typeface="Arial"/>
                        </a:rPr>
                        <a:t>Single</a:t>
                      </a: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Batch</a:t>
                      </a:r>
                      <a:endParaRPr lang="en-US" sz="1400" b="0" i="0" u="none" strike="noStrike" dirty="0">
                        <a:solidFill>
                          <a:srgbClr val="000000"/>
                        </a:solidFill>
                        <a:effectLst/>
                        <a:latin typeface="Arial"/>
                      </a:endParaRPr>
                    </a:p>
                  </a:txBody>
                  <a:tcPr marL="1725" marR="1725" marT="1725" marB="0" anchor="ctr"/>
                </a:tc>
                <a:tc>
                  <a:txBody>
                    <a:bodyPr/>
                    <a:lstStyle/>
                    <a:p>
                      <a:pPr lvl="0" algn="ctr" rtl="0">
                        <a:buNone/>
                      </a:pPr>
                      <a:r>
                        <a:rPr lang="en-US" sz="1400" u="none" strike="noStrike" dirty="0">
                          <a:effectLst/>
                        </a:rPr>
                        <a:t>Y</a:t>
                      </a:r>
                      <a:endParaRPr lang="en-US" sz="1400" b="0" i="0" u="none" strike="noStrike" dirty="0">
                        <a:solidFill>
                          <a:srgbClr val="000000"/>
                        </a:solidFill>
                        <a:effectLst/>
                        <a:latin typeface="Arial"/>
                      </a:endParaRPr>
                    </a:p>
                  </a:txBody>
                  <a:tcPr marL="1725" marR="1725" marT="1725" marB="0" anchor="ctr"/>
                </a:tc>
                <a:extLst>
                  <a:ext uri="{0D108BD9-81ED-4DB2-BD59-A6C34878D82A}">
                    <a16:rowId xmlns:a16="http://schemas.microsoft.com/office/drawing/2014/main" val="2324612252"/>
                  </a:ext>
                </a:extLst>
              </a:tr>
              <a:tr h="383902">
                <a:tc>
                  <a:txBody>
                    <a:bodyPr/>
                    <a:lstStyle/>
                    <a:p>
                      <a:pPr algn="l" rtl="0" fontAlgn="ctr"/>
                      <a:r>
                        <a:rPr lang="en-US" sz="1400" u="none" strike="noStrike" dirty="0">
                          <a:effectLst/>
                        </a:rPr>
                        <a:t>AstraZeneca</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Perf</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Multi</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kumimoji="0" lang="en-US" sz="1400" b="0" i="0" u="none" strike="noStrike" kern="1200" cap="none" spc="0" normalizeH="0" baseline="0" noProof="0" dirty="0">
                          <a:ln>
                            <a:noFill/>
                          </a:ln>
                          <a:solidFill>
                            <a:srgbClr val="000000"/>
                          </a:solidFill>
                          <a:effectLst/>
                          <a:uLnTx/>
                          <a:uFillTx/>
                          <a:latin typeface="Arial"/>
                          <a:ea typeface="+mn-ea"/>
                          <a:cs typeface="+mn-cs"/>
                        </a:rPr>
                        <a:t>Single</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TBD</a:t>
                      </a:r>
                      <a:endParaRPr lang="en-US" sz="1400" b="0" i="0" u="none" strike="noStrike" dirty="0">
                        <a:solidFill>
                          <a:srgbClr val="000000"/>
                        </a:solidFill>
                        <a:effectLst/>
                        <a:latin typeface="Arial" panose="020B0604020202020204" pitchFamily="34" charset="0"/>
                      </a:endParaRPr>
                    </a:p>
                  </a:txBody>
                  <a:tcPr marL="1725" marR="1725" marT="1725" marB="0" anchor="ctr"/>
                </a:tc>
                <a:tc>
                  <a:txBody>
                    <a:bodyPr/>
                    <a:lstStyle/>
                    <a:p>
                      <a:pPr algn="ctr" rtl="0" fontAlgn="ctr"/>
                      <a:r>
                        <a:rPr lang="en-US" sz="1400" u="none" strike="noStrike" dirty="0">
                          <a:effectLst/>
                        </a:rPr>
                        <a:t>N</a:t>
                      </a:r>
                      <a:endParaRPr lang="en-US" sz="1400" b="0" i="0" u="none" strike="noStrike" dirty="0">
                        <a:solidFill>
                          <a:srgbClr val="000000"/>
                        </a:solidFill>
                        <a:effectLst/>
                        <a:latin typeface="Arial" panose="020B0604020202020204" pitchFamily="34" charset="0"/>
                      </a:endParaRPr>
                    </a:p>
                  </a:txBody>
                  <a:tcPr marL="1725" marR="1725" marT="1725" marB="0" anchor="ctr"/>
                </a:tc>
                <a:extLst>
                  <a:ext uri="{0D108BD9-81ED-4DB2-BD59-A6C34878D82A}">
                    <a16:rowId xmlns:a16="http://schemas.microsoft.com/office/drawing/2014/main" val="3576956999"/>
                  </a:ext>
                </a:extLst>
              </a:tr>
            </a:tbl>
          </a:graphicData>
        </a:graphic>
      </p:graphicFrame>
    </p:spTree>
    <p:extLst>
      <p:ext uri="{BB962C8B-B14F-4D97-AF65-F5344CB8AC3E}">
        <p14:creationId xmlns:p14="http://schemas.microsoft.com/office/powerpoint/2010/main" val="122785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9797D2-37BA-4219-BE72-FE7ADC0710EC}"/>
              </a:ext>
            </a:extLst>
          </p:cNvPr>
          <p:cNvSpPr>
            <a:spLocks noGrp="1"/>
          </p:cNvSpPr>
          <p:nvPr>
            <p:ph type="sldNum" sz="quarter" idx="4"/>
          </p:nvPr>
        </p:nvSpPr>
        <p:spPr/>
        <p:txBody>
          <a:bodyPr/>
          <a:lstStyle/>
          <a:p>
            <a:pPr defTabSz="457195"/>
            <a:fld id="{3C4F54F3-C349-4609-AFEE-01462D5C7942}" type="slidenum">
              <a:rPr lang="en-GB">
                <a:solidFill>
                  <a:srgbClr val="000000"/>
                </a:solidFill>
              </a:rPr>
              <a:pPr defTabSz="457195"/>
              <a:t>3</a:t>
            </a:fld>
            <a:endParaRPr lang="en-GB">
              <a:solidFill>
                <a:srgbClr val="000000"/>
              </a:solidFill>
            </a:endParaRPr>
          </a:p>
        </p:txBody>
      </p:sp>
      <p:sp>
        <p:nvSpPr>
          <p:cNvPr id="5" name="Rectangle: Rounded Corners 4">
            <a:extLst>
              <a:ext uri="{FF2B5EF4-FFF2-40B4-BE49-F238E27FC236}">
                <a16:creationId xmlns:a16="http://schemas.microsoft.com/office/drawing/2014/main" id="{73867430-3538-4EB2-845E-75804B46C909}"/>
              </a:ext>
            </a:extLst>
          </p:cNvPr>
          <p:cNvSpPr/>
          <p:nvPr/>
        </p:nvSpPr>
        <p:spPr>
          <a:xfrm>
            <a:off x="1583391" y="1260131"/>
            <a:ext cx="1443563" cy="1562100"/>
          </a:xfrm>
          <a:prstGeom prst="roundRect">
            <a:avLst/>
          </a:prstGeom>
          <a:solidFill>
            <a:schemeClr val="accent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6" name="Rectangle: Rounded Corners 5">
            <a:extLst>
              <a:ext uri="{FF2B5EF4-FFF2-40B4-BE49-F238E27FC236}">
                <a16:creationId xmlns:a16="http://schemas.microsoft.com/office/drawing/2014/main" id="{168550AA-0CF1-4B42-A2E7-C783D7B8BEA3}"/>
              </a:ext>
            </a:extLst>
          </p:cNvPr>
          <p:cNvSpPr/>
          <p:nvPr/>
        </p:nvSpPr>
        <p:spPr>
          <a:xfrm>
            <a:off x="3145141" y="1521315"/>
            <a:ext cx="366712" cy="11668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sz="1400" dirty="0">
              <a:solidFill>
                <a:srgbClr val="FFFFFF"/>
              </a:solidFill>
              <a:latin typeface="Arial"/>
            </a:endParaRPr>
          </a:p>
        </p:txBody>
      </p:sp>
      <p:cxnSp>
        <p:nvCxnSpPr>
          <p:cNvPr id="8" name="Connector: Elbow 7">
            <a:extLst>
              <a:ext uri="{FF2B5EF4-FFF2-40B4-BE49-F238E27FC236}">
                <a16:creationId xmlns:a16="http://schemas.microsoft.com/office/drawing/2014/main" id="{3498395E-2067-4ECC-B0B9-68498D72205E}"/>
              </a:ext>
            </a:extLst>
          </p:cNvPr>
          <p:cNvCxnSpPr>
            <a:stCxn id="5" idx="3"/>
            <a:endCxn id="6" idx="2"/>
          </p:cNvCxnSpPr>
          <p:nvPr/>
        </p:nvCxnSpPr>
        <p:spPr>
          <a:xfrm>
            <a:off x="3026955" y="2041181"/>
            <a:ext cx="301543" cy="646946"/>
          </a:xfrm>
          <a:prstGeom prst="bentConnector4">
            <a:avLst>
              <a:gd name="adj1" fmla="val 19597"/>
              <a:gd name="adj2" fmla="val 13533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137B4CD7-DBAB-4F78-B299-70D3BA182C61}"/>
              </a:ext>
            </a:extLst>
          </p:cNvPr>
          <p:cNvCxnSpPr>
            <a:cxnSpLocks/>
            <a:stCxn id="6" idx="0"/>
            <a:endCxn id="5" idx="0"/>
          </p:cNvCxnSpPr>
          <p:nvPr/>
        </p:nvCxnSpPr>
        <p:spPr>
          <a:xfrm rot="16200000" flipV="1">
            <a:off x="2686243" y="879061"/>
            <a:ext cx="261184" cy="1023324"/>
          </a:xfrm>
          <a:prstGeom prst="bentConnector3">
            <a:avLst>
              <a:gd name="adj1" fmla="val 187525"/>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EFB99A3E-1A94-427A-A256-BC011139BA9C}"/>
              </a:ext>
            </a:extLst>
          </p:cNvPr>
          <p:cNvGrpSpPr/>
          <p:nvPr/>
        </p:nvGrpSpPr>
        <p:grpSpPr>
          <a:xfrm>
            <a:off x="3971726" y="1692478"/>
            <a:ext cx="552450" cy="690562"/>
            <a:chOff x="3603122" y="2443163"/>
            <a:chExt cx="552450" cy="690562"/>
          </a:xfrm>
        </p:grpSpPr>
        <p:sp>
          <p:nvSpPr>
            <p:cNvPr id="15" name="Rectangle 14">
              <a:extLst>
                <a:ext uri="{FF2B5EF4-FFF2-40B4-BE49-F238E27FC236}">
                  <a16:creationId xmlns:a16="http://schemas.microsoft.com/office/drawing/2014/main" id="{71A3EE9F-3F41-4154-AE3A-629AFA616D70}"/>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8" name="Straight Connector 17">
              <a:extLst>
                <a:ext uri="{FF2B5EF4-FFF2-40B4-BE49-F238E27FC236}">
                  <a16:creationId xmlns:a16="http://schemas.microsoft.com/office/drawing/2014/main" id="{2045AB47-1875-4CB0-980D-5C85CD7CD4F8}"/>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200C012-6CD9-4FF2-84EE-B5A01C4564C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EA109D33-878C-4393-A309-F5249E308822}"/>
              </a:ext>
            </a:extLst>
          </p:cNvPr>
          <p:cNvGrpSpPr/>
          <p:nvPr/>
        </p:nvGrpSpPr>
        <p:grpSpPr>
          <a:xfrm>
            <a:off x="4614664" y="1694574"/>
            <a:ext cx="552450" cy="690562"/>
            <a:chOff x="3603122" y="2443163"/>
            <a:chExt cx="552450" cy="690562"/>
          </a:xfrm>
        </p:grpSpPr>
        <p:sp>
          <p:nvSpPr>
            <p:cNvPr id="24" name="Rectangle 23">
              <a:extLst>
                <a:ext uri="{FF2B5EF4-FFF2-40B4-BE49-F238E27FC236}">
                  <a16:creationId xmlns:a16="http://schemas.microsoft.com/office/drawing/2014/main" id="{80463B95-AD67-4FE7-B755-00B06EBCE807}"/>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25" name="Straight Connector 24">
              <a:extLst>
                <a:ext uri="{FF2B5EF4-FFF2-40B4-BE49-F238E27FC236}">
                  <a16:creationId xmlns:a16="http://schemas.microsoft.com/office/drawing/2014/main" id="{16788200-6EB1-451C-809E-68D404904A0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BDB0545-D9BB-478C-9074-772C75CB54F7}"/>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34" name="Connector: Elbow 33">
            <a:extLst>
              <a:ext uri="{FF2B5EF4-FFF2-40B4-BE49-F238E27FC236}">
                <a16:creationId xmlns:a16="http://schemas.microsoft.com/office/drawing/2014/main" id="{5AE4C338-10F5-4DA1-AEC6-44F7EED3398D}"/>
              </a:ext>
            </a:extLst>
          </p:cNvPr>
          <p:cNvCxnSpPr>
            <a:cxnSpLocks/>
            <a:stCxn id="6" idx="3"/>
            <a:endCxn id="65" idx="1"/>
          </p:cNvCxnSpPr>
          <p:nvPr/>
        </p:nvCxnSpPr>
        <p:spPr>
          <a:xfrm flipV="1">
            <a:off x="3511853" y="1218201"/>
            <a:ext cx="216986" cy="88652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9BCDBFF4-B25F-45E3-A1BE-1FD06C5D63A5}"/>
              </a:ext>
            </a:extLst>
          </p:cNvPr>
          <p:cNvGrpSpPr/>
          <p:nvPr/>
        </p:nvGrpSpPr>
        <p:grpSpPr>
          <a:xfrm>
            <a:off x="7684680" y="1625764"/>
            <a:ext cx="552450" cy="690562"/>
            <a:chOff x="3603122" y="2443163"/>
            <a:chExt cx="552450" cy="690562"/>
          </a:xfrm>
          <a:solidFill>
            <a:schemeClr val="accent2">
              <a:lumMod val="25000"/>
              <a:lumOff val="75000"/>
            </a:schemeClr>
          </a:solidFill>
        </p:grpSpPr>
        <p:sp>
          <p:nvSpPr>
            <p:cNvPr id="54" name="Rectangle 53">
              <a:extLst>
                <a:ext uri="{FF2B5EF4-FFF2-40B4-BE49-F238E27FC236}">
                  <a16:creationId xmlns:a16="http://schemas.microsoft.com/office/drawing/2014/main" id="{07799CF3-B4BF-4221-9FF0-4BDF035F8062}"/>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55" name="Straight Connector 54">
              <a:extLst>
                <a:ext uri="{FF2B5EF4-FFF2-40B4-BE49-F238E27FC236}">
                  <a16:creationId xmlns:a16="http://schemas.microsoft.com/office/drawing/2014/main" id="{B0E7B4A4-9747-4F74-AF31-4AE2504282DF}"/>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56213EF-43D1-41F3-AF5D-A54B0F5C3A50}"/>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C497AB71-60A9-4AA6-ADF9-17DA20B30386}"/>
              </a:ext>
            </a:extLst>
          </p:cNvPr>
          <p:cNvGrpSpPr/>
          <p:nvPr/>
        </p:nvGrpSpPr>
        <p:grpSpPr>
          <a:xfrm>
            <a:off x="7684680" y="1625764"/>
            <a:ext cx="552450" cy="690562"/>
            <a:chOff x="3603122" y="2443163"/>
            <a:chExt cx="552450" cy="690562"/>
          </a:xfrm>
        </p:grpSpPr>
        <p:sp>
          <p:nvSpPr>
            <p:cNvPr id="46" name="Rectangle 45">
              <a:extLst>
                <a:ext uri="{FF2B5EF4-FFF2-40B4-BE49-F238E27FC236}">
                  <a16:creationId xmlns:a16="http://schemas.microsoft.com/office/drawing/2014/main" id="{E7994D04-6B95-497F-98E5-DA74A86E580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47" name="Straight Connector 46">
              <a:extLst>
                <a:ext uri="{FF2B5EF4-FFF2-40B4-BE49-F238E27FC236}">
                  <a16:creationId xmlns:a16="http://schemas.microsoft.com/office/drawing/2014/main" id="{582D20E4-6442-4B73-B5C3-7869077E1F2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9CB4202-14EA-4D6B-9B16-D352DC4B55AB}"/>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63" name="Connector: Elbow 62">
            <a:extLst>
              <a:ext uri="{FF2B5EF4-FFF2-40B4-BE49-F238E27FC236}">
                <a16:creationId xmlns:a16="http://schemas.microsoft.com/office/drawing/2014/main" id="{28798F01-037B-4C7F-9F85-1232E9BECE5F}"/>
              </a:ext>
            </a:extLst>
          </p:cNvPr>
          <p:cNvCxnSpPr>
            <a:cxnSpLocks/>
            <a:stCxn id="24" idx="2"/>
          </p:cNvCxnSpPr>
          <p:nvPr/>
        </p:nvCxnSpPr>
        <p:spPr>
          <a:xfrm rot="5400000" flipH="1" flipV="1">
            <a:off x="5053825" y="1873328"/>
            <a:ext cx="348872" cy="674745"/>
          </a:xfrm>
          <a:prstGeom prst="bentConnector4">
            <a:avLst>
              <a:gd name="adj1" fmla="val -65525"/>
              <a:gd name="adj2" fmla="val 7558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A1E1A94-5B21-4453-9C45-2375458F069D}"/>
              </a:ext>
            </a:extLst>
          </p:cNvPr>
          <p:cNvCxnSpPr>
            <a:stCxn id="65" idx="3"/>
            <a:endCxn id="15" idx="0"/>
          </p:cNvCxnSpPr>
          <p:nvPr/>
        </p:nvCxnSpPr>
        <p:spPr>
          <a:xfrm>
            <a:off x="4095551" y="1218201"/>
            <a:ext cx="152400" cy="47427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1CCA0B7F-2C0D-4A2E-BFFA-FE7EFACB186A}"/>
              </a:ext>
            </a:extLst>
          </p:cNvPr>
          <p:cNvGrpSpPr/>
          <p:nvPr/>
        </p:nvGrpSpPr>
        <p:grpSpPr>
          <a:xfrm>
            <a:off x="3728839" y="1084862"/>
            <a:ext cx="366713" cy="266676"/>
            <a:chOff x="2760098" y="1097937"/>
            <a:chExt cx="366713" cy="266676"/>
          </a:xfrm>
        </p:grpSpPr>
        <p:sp>
          <p:nvSpPr>
            <p:cNvPr id="65" name="Rectangle: Rounded Corners 64">
              <a:extLst>
                <a:ext uri="{FF2B5EF4-FFF2-40B4-BE49-F238E27FC236}">
                  <a16:creationId xmlns:a16="http://schemas.microsoft.com/office/drawing/2014/main" id="{CBA3BC2D-D813-4398-945D-C11F5FD40B2F}"/>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0" name="Rectangle 69">
              <a:extLst>
                <a:ext uri="{FF2B5EF4-FFF2-40B4-BE49-F238E27FC236}">
                  <a16:creationId xmlns:a16="http://schemas.microsoft.com/office/drawing/2014/main" id="{EF5A7E58-73B0-4A2C-BD8C-1B36A102DB0F}"/>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1" name="Rectangle 70">
              <a:extLst>
                <a:ext uri="{FF2B5EF4-FFF2-40B4-BE49-F238E27FC236}">
                  <a16:creationId xmlns:a16="http://schemas.microsoft.com/office/drawing/2014/main" id="{735940AC-3E0D-4CFB-B88C-1252340A7258}"/>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3" name="Group 72">
            <a:extLst>
              <a:ext uri="{FF2B5EF4-FFF2-40B4-BE49-F238E27FC236}">
                <a16:creationId xmlns:a16="http://schemas.microsoft.com/office/drawing/2014/main" id="{2FD5BAA5-C3E5-47F2-B6BB-8A19E0D03DFE}"/>
              </a:ext>
            </a:extLst>
          </p:cNvPr>
          <p:cNvGrpSpPr/>
          <p:nvPr/>
        </p:nvGrpSpPr>
        <p:grpSpPr>
          <a:xfrm>
            <a:off x="6509322" y="1855159"/>
            <a:ext cx="366713" cy="266676"/>
            <a:chOff x="2760098" y="1097937"/>
            <a:chExt cx="366713" cy="266676"/>
          </a:xfrm>
        </p:grpSpPr>
        <p:sp>
          <p:nvSpPr>
            <p:cNvPr id="74" name="Rectangle: Rounded Corners 73">
              <a:extLst>
                <a:ext uri="{FF2B5EF4-FFF2-40B4-BE49-F238E27FC236}">
                  <a16:creationId xmlns:a16="http://schemas.microsoft.com/office/drawing/2014/main" id="{9FB59C2F-8D13-4E77-B9B3-ABEDDD1D1C73}"/>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5" name="Rectangle 74">
              <a:extLst>
                <a:ext uri="{FF2B5EF4-FFF2-40B4-BE49-F238E27FC236}">
                  <a16:creationId xmlns:a16="http://schemas.microsoft.com/office/drawing/2014/main" id="{A460852C-18CD-4D3F-9D19-BC3331CB5F54}"/>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6" name="Rectangle 75">
              <a:extLst>
                <a:ext uri="{FF2B5EF4-FFF2-40B4-BE49-F238E27FC236}">
                  <a16:creationId xmlns:a16="http://schemas.microsoft.com/office/drawing/2014/main" id="{7306E292-86A8-4D6F-AAF0-01E6B615752A}"/>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7" name="Group 76">
            <a:extLst>
              <a:ext uri="{FF2B5EF4-FFF2-40B4-BE49-F238E27FC236}">
                <a16:creationId xmlns:a16="http://schemas.microsoft.com/office/drawing/2014/main" id="{4051E1B8-39FB-43F6-81C9-6281C08EE84F}"/>
              </a:ext>
            </a:extLst>
          </p:cNvPr>
          <p:cNvGrpSpPr/>
          <p:nvPr/>
        </p:nvGrpSpPr>
        <p:grpSpPr>
          <a:xfrm>
            <a:off x="8431802" y="2862846"/>
            <a:ext cx="366713" cy="266676"/>
            <a:chOff x="2760098" y="1097937"/>
            <a:chExt cx="366713" cy="266676"/>
          </a:xfrm>
        </p:grpSpPr>
        <p:sp>
          <p:nvSpPr>
            <p:cNvPr id="78" name="Rectangle: Rounded Corners 77">
              <a:extLst>
                <a:ext uri="{FF2B5EF4-FFF2-40B4-BE49-F238E27FC236}">
                  <a16:creationId xmlns:a16="http://schemas.microsoft.com/office/drawing/2014/main" id="{2F21C2DF-1F9C-4E4A-B2F1-F41C97B7E732}"/>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9" name="Rectangle 78">
              <a:extLst>
                <a:ext uri="{FF2B5EF4-FFF2-40B4-BE49-F238E27FC236}">
                  <a16:creationId xmlns:a16="http://schemas.microsoft.com/office/drawing/2014/main" id="{7C92C4CD-FCAD-4462-A0AE-04253EB0474E}"/>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80" name="Rectangle 79">
              <a:extLst>
                <a:ext uri="{FF2B5EF4-FFF2-40B4-BE49-F238E27FC236}">
                  <a16:creationId xmlns:a16="http://schemas.microsoft.com/office/drawing/2014/main" id="{F4A4FC08-8615-496F-BC94-D90C71A2E2C3}"/>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93" name="Group 92">
            <a:extLst>
              <a:ext uri="{FF2B5EF4-FFF2-40B4-BE49-F238E27FC236}">
                <a16:creationId xmlns:a16="http://schemas.microsoft.com/office/drawing/2014/main" id="{61C76972-09C5-411A-B8E4-D9F6C98D092C}"/>
              </a:ext>
            </a:extLst>
          </p:cNvPr>
          <p:cNvGrpSpPr/>
          <p:nvPr/>
        </p:nvGrpSpPr>
        <p:grpSpPr>
          <a:xfrm>
            <a:off x="7684680" y="3614584"/>
            <a:ext cx="552450" cy="690562"/>
            <a:chOff x="3603122" y="2443163"/>
            <a:chExt cx="552450" cy="690562"/>
          </a:xfrm>
          <a:solidFill>
            <a:schemeClr val="accent2">
              <a:lumMod val="25000"/>
              <a:lumOff val="75000"/>
            </a:schemeClr>
          </a:solidFill>
        </p:grpSpPr>
        <p:sp>
          <p:nvSpPr>
            <p:cNvPr id="94" name="Rectangle 93">
              <a:extLst>
                <a:ext uri="{FF2B5EF4-FFF2-40B4-BE49-F238E27FC236}">
                  <a16:creationId xmlns:a16="http://schemas.microsoft.com/office/drawing/2014/main" id="{12537B53-78F4-4CE8-94E4-FD8B6E984E41}"/>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95" name="Straight Connector 94">
              <a:extLst>
                <a:ext uri="{FF2B5EF4-FFF2-40B4-BE49-F238E27FC236}">
                  <a16:creationId xmlns:a16="http://schemas.microsoft.com/office/drawing/2014/main" id="{A9536DC7-BDBD-4F91-9B43-33EF99D17C22}"/>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BEA9545-C879-4641-880C-54B6F524538D}"/>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5011CCDF-A14E-49E1-BF4F-09877B5D1195}"/>
              </a:ext>
            </a:extLst>
          </p:cNvPr>
          <p:cNvGrpSpPr/>
          <p:nvPr/>
        </p:nvGrpSpPr>
        <p:grpSpPr>
          <a:xfrm>
            <a:off x="7684680" y="3614584"/>
            <a:ext cx="552450" cy="690562"/>
            <a:chOff x="3603122" y="2443163"/>
            <a:chExt cx="552450" cy="690562"/>
          </a:xfrm>
        </p:grpSpPr>
        <p:sp>
          <p:nvSpPr>
            <p:cNvPr id="86" name="Rectangle 85">
              <a:extLst>
                <a:ext uri="{FF2B5EF4-FFF2-40B4-BE49-F238E27FC236}">
                  <a16:creationId xmlns:a16="http://schemas.microsoft.com/office/drawing/2014/main" id="{28EDAA69-F572-44EE-89D2-BE816106B259}"/>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87" name="Straight Connector 86">
              <a:extLst>
                <a:ext uri="{FF2B5EF4-FFF2-40B4-BE49-F238E27FC236}">
                  <a16:creationId xmlns:a16="http://schemas.microsoft.com/office/drawing/2014/main" id="{0E7377C6-9A0A-4D57-BE7F-88EC05EF3F5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3C606E5-EDEE-4551-9B65-F9D50ECF8BD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1" name="Group 100">
            <a:extLst>
              <a:ext uri="{FF2B5EF4-FFF2-40B4-BE49-F238E27FC236}">
                <a16:creationId xmlns:a16="http://schemas.microsoft.com/office/drawing/2014/main" id="{F6DBEE6E-5529-42EE-9A3A-82FDCD33B6A3}"/>
              </a:ext>
            </a:extLst>
          </p:cNvPr>
          <p:cNvGrpSpPr/>
          <p:nvPr/>
        </p:nvGrpSpPr>
        <p:grpSpPr>
          <a:xfrm>
            <a:off x="2387042" y="3809099"/>
            <a:ext cx="1093470" cy="350263"/>
            <a:chOff x="3922148" y="3718559"/>
            <a:chExt cx="1148962" cy="796282"/>
          </a:xfrm>
        </p:grpSpPr>
        <p:sp>
          <p:nvSpPr>
            <p:cNvPr id="98" name="Rectangle 97">
              <a:extLst>
                <a:ext uri="{FF2B5EF4-FFF2-40B4-BE49-F238E27FC236}">
                  <a16:creationId xmlns:a16="http://schemas.microsoft.com/office/drawing/2014/main" id="{8A86107C-A44C-43F2-9687-D79430E7E8BF}"/>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0" name="Straight Connector 99">
              <a:extLst>
                <a:ext uri="{FF2B5EF4-FFF2-40B4-BE49-F238E27FC236}">
                  <a16:creationId xmlns:a16="http://schemas.microsoft.com/office/drawing/2014/main" id="{FF79EE14-A309-49C1-A349-833BF38EED5E}"/>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2" name="Group 101">
            <a:extLst>
              <a:ext uri="{FF2B5EF4-FFF2-40B4-BE49-F238E27FC236}">
                <a16:creationId xmlns:a16="http://schemas.microsoft.com/office/drawing/2014/main" id="{8484E271-6A8E-4F5F-AD45-007EB6EAA7A2}"/>
              </a:ext>
            </a:extLst>
          </p:cNvPr>
          <p:cNvGrpSpPr/>
          <p:nvPr/>
        </p:nvGrpSpPr>
        <p:grpSpPr>
          <a:xfrm>
            <a:off x="3492833" y="3809100"/>
            <a:ext cx="1093470" cy="350263"/>
            <a:chOff x="3922148" y="3718559"/>
            <a:chExt cx="1148962" cy="796282"/>
          </a:xfrm>
        </p:grpSpPr>
        <p:sp>
          <p:nvSpPr>
            <p:cNvPr id="103" name="Rectangle 102">
              <a:extLst>
                <a:ext uri="{FF2B5EF4-FFF2-40B4-BE49-F238E27FC236}">
                  <a16:creationId xmlns:a16="http://schemas.microsoft.com/office/drawing/2014/main" id="{2DBD04D1-ED56-4FC4-84E5-E8EF69F79DE6}"/>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4" name="Straight Connector 103">
              <a:extLst>
                <a:ext uri="{FF2B5EF4-FFF2-40B4-BE49-F238E27FC236}">
                  <a16:creationId xmlns:a16="http://schemas.microsoft.com/office/drawing/2014/main" id="{B499C83D-3048-44C7-96B3-3640DE1275E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D136CEC1-DFEC-4310-AE68-52AEE6B99B3D}"/>
              </a:ext>
            </a:extLst>
          </p:cNvPr>
          <p:cNvGrpSpPr/>
          <p:nvPr/>
        </p:nvGrpSpPr>
        <p:grpSpPr>
          <a:xfrm>
            <a:off x="1266658" y="3809100"/>
            <a:ext cx="1093470" cy="350263"/>
            <a:chOff x="3922148" y="3718559"/>
            <a:chExt cx="1148962" cy="796282"/>
          </a:xfrm>
        </p:grpSpPr>
        <p:sp>
          <p:nvSpPr>
            <p:cNvPr id="106" name="Rectangle 105">
              <a:extLst>
                <a:ext uri="{FF2B5EF4-FFF2-40B4-BE49-F238E27FC236}">
                  <a16:creationId xmlns:a16="http://schemas.microsoft.com/office/drawing/2014/main" id="{6153724C-447A-4F63-96A3-62100BAB03B1}"/>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7" name="Straight Connector 106">
              <a:extLst>
                <a:ext uri="{FF2B5EF4-FFF2-40B4-BE49-F238E27FC236}">
                  <a16:creationId xmlns:a16="http://schemas.microsoft.com/office/drawing/2014/main" id="{9582E063-9075-4A54-AD0D-81D325583CFB}"/>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108" name="TextBox 107">
            <a:extLst>
              <a:ext uri="{FF2B5EF4-FFF2-40B4-BE49-F238E27FC236}">
                <a16:creationId xmlns:a16="http://schemas.microsoft.com/office/drawing/2014/main" id="{687DD290-F912-431C-867C-4017B58728BF}"/>
              </a:ext>
            </a:extLst>
          </p:cNvPr>
          <p:cNvSpPr txBox="1"/>
          <p:nvPr/>
        </p:nvSpPr>
        <p:spPr>
          <a:xfrm>
            <a:off x="1453175" y="4426831"/>
            <a:ext cx="2027338" cy="646331"/>
          </a:xfrm>
          <a:prstGeom prst="rect">
            <a:avLst/>
          </a:prstGeom>
          <a:noFill/>
        </p:spPr>
        <p:txBody>
          <a:bodyPr wrap="square" rtlCol="0">
            <a:spAutoFit/>
          </a:bodyPr>
          <a:lstStyle/>
          <a:p>
            <a:pPr algn="ctr" defTabSz="457195"/>
            <a:r>
              <a:rPr lang="en-US" dirty="0">
                <a:solidFill>
                  <a:srgbClr val="000000"/>
                </a:solidFill>
                <a:latin typeface="Arial"/>
              </a:rPr>
              <a:t>SPTFF or</a:t>
            </a:r>
          </a:p>
          <a:p>
            <a:pPr algn="ctr" defTabSz="457195"/>
            <a:r>
              <a:rPr lang="en-US" dirty="0">
                <a:solidFill>
                  <a:srgbClr val="000000"/>
                </a:solidFill>
                <a:latin typeface="Arial"/>
              </a:rPr>
              <a:t>UF/DF</a:t>
            </a:r>
          </a:p>
        </p:txBody>
      </p:sp>
      <p:sp>
        <p:nvSpPr>
          <p:cNvPr id="109" name="TextBox 108">
            <a:extLst>
              <a:ext uri="{FF2B5EF4-FFF2-40B4-BE49-F238E27FC236}">
                <a16:creationId xmlns:a16="http://schemas.microsoft.com/office/drawing/2014/main" id="{2301B265-D50B-4094-8C27-A4E4ED3F7EC6}"/>
              </a:ext>
            </a:extLst>
          </p:cNvPr>
          <p:cNvSpPr txBox="1"/>
          <p:nvPr/>
        </p:nvSpPr>
        <p:spPr>
          <a:xfrm>
            <a:off x="4050987" y="2637565"/>
            <a:ext cx="1030851" cy="369332"/>
          </a:xfrm>
          <a:prstGeom prst="rect">
            <a:avLst/>
          </a:prstGeom>
          <a:noFill/>
        </p:spPr>
        <p:txBody>
          <a:bodyPr wrap="square" rtlCol="0">
            <a:spAutoFit/>
          </a:bodyPr>
          <a:lstStyle/>
          <a:p>
            <a:pPr algn="ctr" defTabSz="457195"/>
            <a:r>
              <a:rPr lang="en-US" dirty="0">
                <a:solidFill>
                  <a:srgbClr val="000000"/>
                </a:solidFill>
                <a:latin typeface="Arial"/>
              </a:rPr>
              <a:t>Capture</a:t>
            </a:r>
          </a:p>
        </p:txBody>
      </p:sp>
      <p:sp>
        <p:nvSpPr>
          <p:cNvPr id="110" name="TextBox 109">
            <a:extLst>
              <a:ext uri="{FF2B5EF4-FFF2-40B4-BE49-F238E27FC236}">
                <a16:creationId xmlns:a16="http://schemas.microsoft.com/office/drawing/2014/main" id="{A604C147-369B-421D-8900-39DBCA1CE361}"/>
              </a:ext>
            </a:extLst>
          </p:cNvPr>
          <p:cNvSpPr txBox="1"/>
          <p:nvPr/>
        </p:nvSpPr>
        <p:spPr>
          <a:xfrm>
            <a:off x="6663613" y="2286794"/>
            <a:ext cx="1243274" cy="646331"/>
          </a:xfrm>
          <a:prstGeom prst="rect">
            <a:avLst/>
          </a:prstGeom>
          <a:noFill/>
        </p:spPr>
        <p:txBody>
          <a:bodyPr wrap="square" rtlCol="0">
            <a:spAutoFit/>
          </a:bodyPr>
          <a:lstStyle/>
          <a:p>
            <a:pPr algn="ctr" defTabSz="457195"/>
            <a:r>
              <a:rPr lang="en-US">
                <a:solidFill>
                  <a:srgbClr val="000000"/>
                </a:solidFill>
                <a:latin typeface="Arial"/>
              </a:rPr>
              <a:t>Polishing</a:t>
            </a:r>
          </a:p>
          <a:p>
            <a:pPr algn="ctr" defTabSz="457195"/>
            <a:endParaRPr lang="en-US">
              <a:solidFill>
                <a:srgbClr val="000000"/>
              </a:solidFill>
              <a:latin typeface="Arial"/>
            </a:endParaRPr>
          </a:p>
        </p:txBody>
      </p:sp>
      <p:sp>
        <p:nvSpPr>
          <p:cNvPr id="111" name="TextBox 110">
            <a:extLst>
              <a:ext uri="{FF2B5EF4-FFF2-40B4-BE49-F238E27FC236}">
                <a16:creationId xmlns:a16="http://schemas.microsoft.com/office/drawing/2014/main" id="{76339292-FAA6-48F3-8312-5F01227E3F8C}"/>
              </a:ext>
            </a:extLst>
          </p:cNvPr>
          <p:cNvSpPr txBox="1"/>
          <p:nvPr/>
        </p:nvSpPr>
        <p:spPr>
          <a:xfrm>
            <a:off x="6981958" y="4516836"/>
            <a:ext cx="1255173" cy="369332"/>
          </a:xfrm>
          <a:prstGeom prst="rect">
            <a:avLst/>
          </a:prstGeom>
          <a:noFill/>
        </p:spPr>
        <p:txBody>
          <a:bodyPr wrap="square" rtlCol="0">
            <a:spAutoFit/>
          </a:bodyPr>
          <a:lstStyle/>
          <a:p>
            <a:pPr algn="ctr" defTabSz="457195"/>
            <a:r>
              <a:rPr lang="en-US">
                <a:solidFill>
                  <a:srgbClr val="000000"/>
                </a:solidFill>
                <a:latin typeface="Arial"/>
              </a:rPr>
              <a:t>Polishing</a:t>
            </a:r>
          </a:p>
        </p:txBody>
      </p:sp>
      <p:sp>
        <p:nvSpPr>
          <p:cNvPr id="112" name="Rectangle: Rounded Corners 111">
            <a:extLst>
              <a:ext uri="{FF2B5EF4-FFF2-40B4-BE49-F238E27FC236}">
                <a16:creationId xmlns:a16="http://schemas.microsoft.com/office/drawing/2014/main" id="{D9215188-581C-44BB-B37B-9D5C5B242A4A}"/>
              </a:ext>
            </a:extLst>
          </p:cNvPr>
          <p:cNvSpPr/>
          <p:nvPr/>
        </p:nvSpPr>
        <p:spPr>
          <a:xfrm>
            <a:off x="225954" y="3516408"/>
            <a:ext cx="759169" cy="8931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6" name="Connector: Elbow 115">
            <a:extLst>
              <a:ext uri="{FF2B5EF4-FFF2-40B4-BE49-F238E27FC236}">
                <a16:creationId xmlns:a16="http://schemas.microsoft.com/office/drawing/2014/main" id="{3B8800BE-A315-4357-AE00-661DBCCC9E80}"/>
              </a:ext>
            </a:extLst>
          </p:cNvPr>
          <p:cNvCxnSpPr>
            <a:cxnSpLocks/>
            <a:stCxn id="86" idx="2"/>
            <a:endCxn id="137" idx="0"/>
          </p:cNvCxnSpPr>
          <p:nvPr/>
        </p:nvCxnSpPr>
        <p:spPr>
          <a:xfrm rot="5400000" flipH="1">
            <a:off x="6700460" y="3044701"/>
            <a:ext cx="401904" cy="2118986"/>
          </a:xfrm>
          <a:prstGeom prst="bentConnector5">
            <a:avLst>
              <a:gd name="adj1" fmla="val -56879"/>
              <a:gd name="adj2" fmla="val 49270"/>
              <a:gd name="adj3" fmla="val 15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Connector: Elbow 117">
            <a:extLst>
              <a:ext uri="{FF2B5EF4-FFF2-40B4-BE49-F238E27FC236}">
                <a16:creationId xmlns:a16="http://schemas.microsoft.com/office/drawing/2014/main" id="{D5338D1A-40CD-450E-89F4-7DCC740AD8E1}"/>
              </a:ext>
            </a:extLst>
          </p:cNvPr>
          <p:cNvCxnSpPr>
            <a:cxnSpLocks/>
            <a:stCxn id="103" idx="0"/>
            <a:endCxn id="98" idx="0"/>
          </p:cNvCxnSpPr>
          <p:nvPr/>
        </p:nvCxnSpPr>
        <p:spPr>
          <a:xfrm rot="16200000" flipV="1">
            <a:off x="3486674" y="3256205"/>
            <a:ext cx="1" cy="1105791"/>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Connector: Elbow 119">
            <a:extLst>
              <a:ext uri="{FF2B5EF4-FFF2-40B4-BE49-F238E27FC236}">
                <a16:creationId xmlns:a16="http://schemas.microsoft.com/office/drawing/2014/main" id="{B27572D0-3B94-4482-BC56-74A3BC298285}"/>
              </a:ext>
            </a:extLst>
          </p:cNvPr>
          <p:cNvCxnSpPr>
            <a:cxnSpLocks/>
            <a:stCxn id="98" idx="2"/>
            <a:endCxn id="106" idx="2"/>
          </p:cNvCxnSpPr>
          <p:nvPr/>
        </p:nvCxnSpPr>
        <p:spPr>
          <a:xfrm rot="5400000">
            <a:off x="2373586" y="3599169"/>
            <a:ext cx="1" cy="1120384"/>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2" name="Connector: Elbow 121">
            <a:extLst>
              <a:ext uri="{FF2B5EF4-FFF2-40B4-BE49-F238E27FC236}">
                <a16:creationId xmlns:a16="http://schemas.microsoft.com/office/drawing/2014/main" id="{80952DFF-1980-48EC-9EAE-5672ACB3FF19}"/>
              </a:ext>
            </a:extLst>
          </p:cNvPr>
          <p:cNvCxnSpPr>
            <a:cxnSpLocks/>
            <a:stCxn id="106" idx="0"/>
            <a:endCxn id="112" idx="0"/>
          </p:cNvCxnSpPr>
          <p:nvPr/>
        </p:nvCxnSpPr>
        <p:spPr>
          <a:xfrm rot="16200000" flipV="1">
            <a:off x="1063122" y="3058827"/>
            <a:ext cx="292691" cy="1207855"/>
          </a:xfrm>
          <a:prstGeom prst="bentConnector3">
            <a:avLst>
              <a:gd name="adj1" fmla="val 17810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973D54AA-A749-4520-A3E3-AEBA6125C47B}"/>
              </a:ext>
            </a:extLst>
          </p:cNvPr>
          <p:cNvSpPr txBox="1"/>
          <p:nvPr/>
        </p:nvSpPr>
        <p:spPr>
          <a:xfrm>
            <a:off x="4724402" y="4696732"/>
            <a:ext cx="1030851" cy="369332"/>
          </a:xfrm>
          <a:prstGeom prst="rect">
            <a:avLst/>
          </a:prstGeom>
          <a:noFill/>
        </p:spPr>
        <p:txBody>
          <a:bodyPr wrap="square" rtlCol="0">
            <a:spAutoFit/>
          </a:bodyPr>
          <a:lstStyle/>
          <a:p>
            <a:pPr algn="ctr" defTabSz="457195"/>
            <a:r>
              <a:rPr lang="en-US">
                <a:solidFill>
                  <a:srgbClr val="000000"/>
                </a:solidFill>
                <a:latin typeface="Arial"/>
              </a:rPr>
              <a:t>VRF</a:t>
            </a:r>
          </a:p>
        </p:txBody>
      </p:sp>
      <p:grpSp>
        <p:nvGrpSpPr>
          <p:cNvPr id="131" name="Group 130">
            <a:extLst>
              <a:ext uri="{FF2B5EF4-FFF2-40B4-BE49-F238E27FC236}">
                <a16:creationId xmlns:a16="http://schemas.microsoft.com/office/drawing/2014/main" id="{873AD296-C673-4723-AD9F-6CFAEFBA63A3}"/>
              </a:ext>
            </a:extLst>
          </p:cNvPr>
          <p:cNvGrpSpPr/>
          <p:nvPr/>
        </p:nvGrpSpPr>
        <p:grpSpPr>
          <a:xfrm>
            <a:off x="4935101" y="3514681"/>
            <a:ext cx="490926" cy="893126"/>
            <a:chOff x="3922148" y="3718559"/>
            <a:chExt cx="1148962" cy="796282"/>
          </a:xfrm>
        </p:grpSpPr>
        <p:sp>
          <p:nvSpPr>
            <p:cNvPr id="132" name="Rectangle 131">
              <a:extLst>
                <a:ext uri="{FF2B5EF4-FFF2-40B4-BE49-F238E27FC236}">
                  <a16:creationId xmlns:a16="http://schemas.microsoft.com/office/drawing/2014/main" id="{3B8AE44B-DE96-4690-87DF-87C2472A463B}"/>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33" name="Straight Connector 132">
              <a:extLst>
                <a:ext uri="{FF2B5EF4-FFF2-40B4-BE49-F238E27FC236}">
                  <a16:creationId xmlns:a16="http://schemas.microsoft.com/office/drawing/2014/main" id="{A1591214-714B-41B8-B599-171BF4A813C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36" name="Group 135">
            <a:extLst>
              <a:ext uri="{FF2B5EF4-FFF2-40B4-BE49-F238E27FC236}">
                <a16:creationId xmlns:a16="http://schemas.microsoft.com/office/drawing/2014/main" id="{8D157B4C-93A0-4E03-892D-574AA49021A5}"/>
              </a:ext>
            </a:extLst>
          </p:cNvPr>
          <p:cNvGrpSpPr/>
          <p:nvPr/>
        </p:nvGrpSpPr>
        <p:grpSpPr>
          <a:xfrm>
            <a:off x="5658563" y="3903242"/>
            <a:ext cx="366713" cy="266676"/>
            <a:chOff x="2760098" y="1097937"/>
            <a:chExt cx="366713" cy="266676"/>
          </a:xfrm>
        </p:grpSpPr>
        <p:sp>
          <p:nvSpPr>
            <p:cNvPr id="137" name="Rectangle: Rounded Corners 136">
              <a:extLst>
                <a:ext uri="{FF2B5EF4-FFF2-40B4-BE49-F238E27FC236}">
                  <a16:creationId xmlns:a16="http://schemas.microsoft.com/office/drawing/2014/main" id="{445F9076-4870-4F33-9657-E061A59029E9}"/>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8" name="Rectangle 137">
              <a:extLst>
                <a:ext uri="{FF2B5EF4-FFF2-40B4-BE49-F238E27FC236}">
                  <a16:creationId xmlns:a16="http://schemas.microsoft.com/office/drawing/2014/main" id="{4EBCFAB8-829B-40BA-85D2-6B893B909D73}"/>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9" name="Rectangle 138">
              <a:extLst>
                <a:ext uri="{FF2B5EF4-FFF2-40B4-BE49-F238E27FC236}">
                  <a16:creationId xmlns:a16="http://schemas.microsoft.com/office/drawing/2014/main" id="{5D00FAEA-D291-46A0-9A59-2C21416B817C}"/>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cxnSp>
        <p:nvCxnSpPr>
          <p:cNvPr id="142" name="Connector: Elbow 141">
            <a:extLst>
              <a:ext uri="{FF2B5EF4-FFF2-40B4-BE49-F238E27FC236}">
                <a16:creationId xmlns:a16="http://schemas.microsoft.com/office/drawing/2014/main" id="{CC0BE4FD-F84E-4DF9-A88F-0B808A97F2F1}"/>
              </a:ext>
            </a:extLst>
          </p:cNvPr>
          <p:cNvCxnSpPr>
            <a:stCxn id="139" idx="2"/>
            <a:endCxn id="132" idx="2"/>
          </p:cNvCxnSpPr>
          <p:nvPr/>
        </p:nvCxnSpPr>
        <p:spPr>
          <a:xfrm rot="5400000">
            <a:off x="5392299" y="3958186"/>
            <a:ext cx="237889" cy="661355"/>
          </a:xfrm>
          <a:prstGeom prst="bentConnector3">
            <a:avLst>
              <a:gd name="adj1" fmla="val 19609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0D569C7A-3C32-4A1F-8410-B06E7855AD94}"/>
              </a:ext>
            </a:extLst>
          </p:cNvPr>
          <p:cNvCxnSpPr>
            <a:cxnSpLocks/>
            <a:stCxn id="132" idx="0"/>
            <a:endCxn id="103" idx="3"/>
          </p:cNvCxnSpPr>
          <p:nvPr/>
        </p:nvCxnSpPr>
        <p:spPr>
          <a:xfrm rot="16200000" flipH="1" flipV="1">
            <a:off x="4648660" y="3452326"/>
            <a:ext cx="469549" cy="594261"/>
          </a:xfrm>
          <a:prstGeom prst="bentConnector4">
            <a:avLst>
              <a:gd name="adj1" fmla="val -48685"/>
              <a:gd name="adj2" fmla="val 7065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1CCA6975-E1E5-4FF1-9B1A-C652510EDF3D}"/>
              </a:ext>
            </a:extLst>
          </p:cNvPr>
          <p:cNvSpPr/>
          <p:nvPr/>
        </p:nvSpPr>
        <p:spPr>
          <a:xfrm>
            <a:off x="1646526" y="1292128"/>
            <a:ext cx="1363088" cy="646331"/>
          </a:xfrm>
          <a:prstGeom prst="rect">
            <a:avLst/>
          </a:prstGeom>
        </p:spPr>
        <p:txBody>
          <a:bodyPr wrap="square">
            <a:spAutoFit/>
          </a:bodyPr>
          <a:lstStyle/>
          <a:p>
            <a:pPr algn="ctr" defTabSz="457195"/>
            <a:r>
              <a:rPr lang="en-US" dirty="0">
                <a:solidFill>
                  <a:srgbClr val="FFFFFF"/>
                </a:solidFill>
                <a:latin typeface="Arial"/>
              </a:rPr>
              <a:t>N-stage Bioreactors</a:t>
            </a:r>
          </a:p>
        </p:txBody>
      </p:sp>
      <p:sp>
        <p:nvSpPr>
          <p:cNvPr id="126" name="Rectangle 125">
            <a:extLst>
              <a:ext uri="{FF2B5EF4-FFF2-40B4-BE49-F238E27FC236}">
                <a16:creationId xmlns:a16="http://schemas.microsoft.com/office/drawing/2014/main" id="{ABB72E90-74EE-4454-A98C-AB22B9D8F394}"/>
              </a:ext>
            </a:extLst>
          </p:cNvPr>
          <p:cNvSpPr/>
          <p:nvPr/>
        </p:nvSpPr>
        <p:spPr>
          <a:xfrm>
            <a:off x="244129" y="3458225"/>
            <a:ext cx="728892" cy="923330"/>
          </a:xfrm>
          <a:prstGeom prst="rect">
            <a:avLst/>
          </a:prstGeom>
        </p:spPr>
        <p:txBody>
          <a:bodyPr wrap="square">
            <a:spAutoFit/>
          </a:bodyPr>
          <a:lstStyle/>
          <a:p>
            <a:pPr defTabSz="457195"/>
            <a:r>
              <a:rPr lang="en-US" dirty="0">
                <a:solidFill>
                  <a:srgbClr val="FFFFFF"/>
                </a:solidFill>
                <a:latin typeface="Arial"/>
              </a:rPr>
              <a:t>120-500kg</a:t>
            </a:r>
          </a:p>
        </p:txBody>
      </p:sp>
      <p:cxnSp>
        <p:nvCxnSpPr>
          <p:cNvPr id="14" name="Connector: Elbow 13">
            <a:extLst>
              <a:ext uri="{FF2B5EF4-FFF2-40B4-BE49-F238E27FC236}">
                <a16:creationId xmlns:a16="http://schemas.microsoft.com/office/drawing/2014/main" id="{F491BA7D-5004-4D11-9D1E-50BAF08CF8DA}"/>
              </a:ext>
            </a:extLst>
          </p:cNvPr>
          <p:cNvCxnSpPr>
            <a:cxnSpLocks/>
            <a:endCxn id="74" idx="0"/>
          </p:cNvCxnSpPr>
          <p:nvPr/>
        </p:nvCxnSpPr>
        <p:spPr>
          <a:xfrm flipV="1">
            <a:off x="6256196" y="1855159"/>
            <a:ext cx="436482" cy="181104"/>
          </a:xfrm>
          <a:prstGeom prst="bentConnector4">
            <a:avLst>
              <a:gd name="adj1" fmla="val 33449"/>
              <a:gd name="adj2" fmla="val 31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7A523B8-94FE-42A1-9F95-C11D95554B7E}"/>
              </a:ext>
            </a:extLst>
          </p:cNvPr>
          <p:cNvCxnSpPr>
            <a:stCxn id="74" idx="3"/>
            <a:endCxn id="46" idx="0"/>
          </p:cNvCxnSpPr>
          <p:nvPr/>
        </p:nvCxnSpPr>
        <p:spPr>
          <a:xfrm flipV="1">
            <a:off x="6876035" y="1625764"/>
            <a:ext cx="1084870" cy="362733"/>
          </a:xfrm>
          <a:prstGeom prst="bentConnector4">
            <a:avLst>
              <a:gd name="adj1" fmla="val 42976"/>
              <a:gd name="adj2" fmla="val 16302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0F83D2BD-307C-4F4E-B6E7-1A9BEEC744BC}"/>
              </a:ext>
            </a:extLst>
          </p:cNvPr>
          <p:cNvSpPr txBox="1"/>
          <p:nvPr/>
        </p:nvSpPr>
        <p:spPr>
          <a:xfrm>
            <a:off x="5210116" y="2164808"/>
            <a:ext cx="1576490" cy="646331"/>
          </a:xfrm>
          <a:prstGeom prst="rect">
            <a:avLst/>
          </a:prstGeom>
          <a:noFill/>
        </p:spPr>
        <p:txBody>
          <a:bodyPr wrap="square" rtlCol="0">
            <a:spAutoFit/>
          </a:bodyPr>
          <a:lstStyle/>
          <a:p>
            <a:pPr algn="ctr" defTabSz="457195"/>
            <a:r>
              <a:rPr lang="en-US">
                <a:solidFill>
                  <a:srgbClr val="000000"/>
                </a:solidFill>
                <a:latin typeface="Arial"/>
              </a:rPr>
              <a:t>Virus Inactivation</a:t>
            </a:r>
          </a:p>
        </p:txBody>
      </p:sp>
      <p:cxnSp>
        <p:nvCxnSpPr>
          <p:cNvPr id="16" name="Straight Arrow Connector 15">
            <a:extLst>
              <a:ext uri="{FF2B5EF4-FFF2-40B4-BE49-F238E27FC236}">
                <a16:creationId xmlns:a16="http://schemas.microsoft.com/office/drawing/2014/main" id="{DC03BA69-01CE-4778-9B6D-422E1453BD6A}"/>
              </a:ext>
            </a:extLst>
          </p:cNvPr>
          <p:cNvCxnSpPr>
            <a:cxnSpLocks/>
          </p:cNvCxnSpPr>
          <p:nvPr/>
        </p:nvCxnSpPr>
        <p:spPr>
          <a:xfrm>
            <a:off x="8611607" y="3043950"/>
            <a:ext cx="7102" cy="57063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5F77AEC-C950-479C-9A5F-577972477EF5}"/>
              </a:ext>
            </a:extLst>
          </p:cNvPr>
          <p:cNvCxnSpPr>
            <a:cxnSpLocks/>
          </p:cNvCxnSpPr>
          <p:nvPr/>
        </p:nvCxnSpPr>
        <p:spPr>
          <a:xfrm>
            <a:off x="8611606" y="2316326"/>
            <a:ext cx="7104" cy="54652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6E42AD39-3835-4C14-8257-1D137DE93A93}"/>
              </a:ext>
            </a:extLst>
          </p:cNvPr>
          <p:cNvSpPr txBox="1"/>
          <p:nvPr/>
        </p:nvSpPr>
        <p:spPr>
          <a:xfrm>
            <a:off x="936213" y="830718"/>
            <a:ext cx="665567" cy="300082"/>
          </a:xfrm>
          <a:prstGeom prst="rect">
            <a:avLst/>
          </a:prstGeom>
          <a:noFill/>
        </p:spPr>
        <p:txBody>
          <a:bodyPr wrap="none" rtlCol="0">
            <a:spAutoFit/>
          </a:bodyPr>
          <a:lstStyle/>
          <a:p>
            <a:pPr defTabSz="457195"/>
            <a:r>
              <a:rPr lang="en-US" sz="1350">
                <a:solidFill>
                  <a:srgbClr val="000000"/>
                </a:solidFill>
                <a:latin typeface="Arial"/>
              </a:rPr>
              <a:t>Feeds</a:t>
            </a:r>
          </a:p>
        </p:txBody>
      </p:sp>
      <p:cxnSp>
        <p:nvCxnSpPr>
          <p:cNvPr id="141" name="Connector: Elbow 140">
            <a:extLst>
              <a:ext uri="{FF2B5EF4-FFF2-40B4-BE49-F238E27FC236}">
                <a16:creationId xmlns:a16="http://schemas.microsoft.com/office/drawing/2014/main" id="{ADB6AB38-73C9-4228-A782-DC32A5395C1A}"/>
              </a:ext>
            </a:extLst>
          </p:cNvPr>
          <p:cNvCxnSpPr>
            <a:cxnSpLocks/>
          </p:cNvCxnSpPr>
          <p:nvPr/>
        </p:nvCxnSpPr>
        <p:spPr>
          <a:xfrm>
            <a:off x="1798154" y="1027753"/>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 name="Title 6">
            <a:extLst>
              <a:ext uri="{FF2B5EF4-FFF2-40B4-BE49-F238E27FC236}">
                <a16:creationId xmlns:a16="http://schemas.microsoft.com/office/drawing/2014/main" id="{B3465F7A-BEA2-40FF-8ECE-78B8CD551E05}"/>
              </a:ext>
            </a:extLst>
          </p:cNvPr>
          <p:cNvSpPr>
            <a:spLocks noGrp="1"/>
          </p:cNvSpPr>
          <p:nvPr>
            <p:ph type="title"/>
          </p:nvPr>
        </p:nvSpPr>
        <p:spPr>
          <a:xfrm>
            <a:off x="148856" y="144000"/>
            <a:ext cx="9286546" cy="504000"/>
          </a:xfrm>
        </p:spPr>
        <p:txBody>
          <a:bodyPr/>
          <a:lstStyle/>
          <a:p>
            <a:r>
              <a:rPr lang="en-US" dirty="0"/>
              <a:t>Figure 1: Common Framework for Integrated and Continuous Processing</a:t>
            </a:r>
          </a:p>
        </p:txBody>
      </p:sp>
      <p:sp>
        <p:nvSpPr>
          <p:cNvPr id="11" name="Rectangle: Rounded Corners 10">
            <a:extLst>
              <a:ext uri="{FF2B5EF4-FFF2-40B4-BE49-F238E27FC236}">
                <a16:creationId xmlns:a16="http://schemas.microsoft.com/office/drawing/2014/main" id="{A5B193FD-3087-432B-9F23-8CB7A4269C69}"/>
              </a:ext>
            </a:extLst>
          </p:cNvPr>
          <p:cNvSpPr/>
          <p:nvPr/>
        </p:nvSpPr>
        <p:spPr>
          <a:xfrm>
            <a:off x="90041" y="2215423"/>
            <a:ext cx="745191" cy="5874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N-1</a:t>
            </a:r>
          </a:p>
        </p:txBody>
      </p:sp>
      <p:sp>
        <p:nvSpPr>
          <p:cNvPr id="97" name="Rectangle: Rounded Corners 96">
            <a:extLst>
              <a:ext uri="{FF2B5EF4-FFF2-40B4-BE49-F238E27FC236}">
                <a16:creationId xmlns:a16="http://schemas.microsoft.com/office/drawing/2014/main" id="{95F067C0-D0F6-4014-A6D2-B8E6A475DBAA}"/>
              </a:ext>
            </a:extLst>
          </p:cNvPr>
          <p:cNvSpPr/>
          <p:nvPr/>
        </p:nvSpPr>
        <p:spPr>
          <a:xfrm>
            <a:off x="851575" y="2513677"/>
            <a:ext cx="78618" cy="2926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6C13F743-3A02-4A0E-BFD7-128E8575E7D5}"/>
              </a:ext>
            </a:extLst>
          </p:cNvPr>
          <p:cNvGrpSpPr/>
          <p:nvPr/>
        </p:nvGrpSpPr>
        <p:grpSpPr>
          <a:xfrm>
            <a:off x="8338933" y="3614584"/>
            <a:ext cx="552450" cy="690562"/>
            <a:chOff x="3603122" y="2443163"/>
            <a:chExt cx="552450" cy="690562"/>
          </a:xfrm>
        </p:grpSpPr>
        <p:sp>
          <p:nvSpPr>
            <p:cNvPr id="113" name="Rectangle 112">
              <a:extLst>
                <a:ext uri="{FF2B5EF4-FFF2-40B4-BE49-F238E27FC236}">
                  <a16:creationId xmlns:a16="http://schemas.microsoft.com/office/drawing/2014/main" id="{FC536352-6819-494D-B25B-2A22FE4C263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4" name="Straight Connector 113">
              <a:extLst>
                <a:ext uri="{FF2B5EF4-FFF2-40B4-BE49-F238E27FC236}">
                  <a16:creationId xmlns:a16="http://schemas.microsoft.com/office/drawing/2014/main" id="{5142B0D5-4A8C-4E4C-9A6B-A72C9248676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8A41BD5C-79A8-4E33-AB52-EB358FF063EC}"/>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36B558DD-C7D5-406F-B10C-1FADA43F099D}"/>
              </a:ext>
            </a:extLst>
          </p:cNvPr>
          <p:cNvGrpSpPr/>
          <p:nvPr/>
        </p:nvGrpSpPr>
        <p:grpSpPr>
          <a:xfrm>
            <a:off x="8338933" y="1625764"/>
            <a:ext cx="552450" cy="690562"/>
            <a:chOff x="3603122" y="2443163"/>
            <a:chExt cx="552450" cy="690562"/>
          </a:xfrm>
        </p:grpSpPr>
        <p:sp>
          <p:nvSpPr>
            <p:cNvPr id="119" name="Rectangle 118">
              <a:extLst>
                <a:ext uri="{FF2B5EF4-FFF2-40B4-BE49-F238E27FC236}">
                  <a16:creationId xmlns:a16="http://schemas.microsoft.com/office/drawing/2014/main" id="{F9101B6D-E0AE-48A7-8063-0B6ECB760696}"/>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21" name="Straight Connector 120">
              <a:extLst>
                <a:ext uri="{FF2B5EF4-FFF2-40B4-BE49-F238E27FC236}">
                  <a16:creationId xmlns:a16="http://schemas.microsoft.com/office/drawing/2014/main" id="{E4779BD7-188F-44B2-942F-C7AFA60DEE1C}"/>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517EF09-F3DB-459B-B5A3-74EEA1B4E4ED}"/>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230A6CFB-F09A-49C3-A4FB-D194078475B6}"/>
              </a:ext>
            </a:extLst>
          </p:cNvPr>
          <p:cNvSpPr txBox="1"/>
          <p:nvPr/>
        </p:nvSpPr>
        <p:spPr>
          <a:xfrm>
            <a:off x="632605" y="2837093"/>
            <a:ext cx="437940" cy="253916"/>
          </a:xfrm>
          <a:prstGeom prst="rect">
            <a:avLst/>
          </a:prstGeom>
          <a:noFill/>
        </p:spPr>
        <p:txBody>
          <a:bodyPr wrap="none" rtlCol="0">
            <a:spAutoFit/>
          </a:bodyPr>
          <a:lstStyle/>
          <a:p>
            <a:r>
              <a:rPr lang="en-US" sz="1050" dirty="0"/>
              <a:t>ATF</a:t>
            </a:r>
          </a:p>
        </p:txBody>
      </p:sp>
      <p:cxnSp>
        <p:nvCxnSpPr>
          <p:cNvPr id="31" name="Straight Arrow Connector 30">
            <a:extLst>
              <a:ext uri="{FF2B5EF4-FFF2-40B4-BE49-F238E27FC236}">
                <a16:creationId xmlns:a16="http://schemas.microsoft.com/office/drawing/2014/main" id="{C82503C1-F0E1-474A-B919-E5F29FEABF13}"/>
              </a:ext>
            </a:extLst>
          </p:cNvPr>
          <p:cNvCxnSpPr>
            <a:cxnSpLocks/>
          </p:cNvCxnSpPr>
          <p:nvPr/>
        </p:nvCxnSpPr>
        <p:spPr>
          <a:xfrm>
            <a:off x="5426027" y="1165425"/>
            <a:ext cx="0" cy="82307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7AF8652-1087-48CC-8102-3D3619481BFF}"/>
              </a:ext>
            </a:extLst>
          </p:cNvPr>
          <p:cNvCxnSpPr>
            <a:cxnSpLocks/>
          </p:cNvCxnSpPr>
          <p:nvPr/>
        </p:nvCxnSpPr>
        <p:spPr>
          <a:xfrm flipH="1">
            <a:off x="6509322" y="1084861"/>
            <a:ext cx="2" cy="36849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2203A68-10D3-4C8C-A7D6-33F5ECA158E1}"/>
              </a:ext>
            </a:extLst>
          </p:cNvPr>
          <p:cNvSpPr txBox="1"/>
          <p:nvPr/>
        </p:nvSpPr>
        <p:spPr>
          <a:xfrm>
            <a:off x="5055911" y="796093"/>
            <a:ext cx="1633781" cy="369332"/>
          </a:xfrm>
          <a:prstGeom prst="rect">
            <a:avLst/>
          </a:prstGeom>
          <a:noFill/>
        </p:spPr>
        <p:txBody>
          <a:bodyPr wrap="none" rtlCol="0">
            <a:spAutoFit/>
          </a:bodyPr>
          <a:lstStyle/>
          <a:p>
            <a:r>
              <a:rPr lang="en-US"/>
              <a:t>In-line titration</a:t>
            </a:r>
          </a:p>
        </p:txBody>
      </p:sp>
      <p:sp>
        <p:nvSpPr>
          <p:cNvPr id="38" name="Rectangle 37">
            <a:extLst>
              <a:ext uri="{FF2B5EF4-FFF2-40B4-BE49-F238E27FC236}">
                <a16:creationId xmlns:a16="http://schemas.microsoft.com/office/drawing/2014/main" id="{74F3C48A-39F8-4AFD-8207-298D5F9F70A9}"/>
              </a:ext>
            </a:extLst>
          </p:cNvPr>
          <p:cNvSpPr/>
          <p:nvPr/>
        </p:nvSpPr>
        <p:spPr>
          <a:xfrm>
            <a:off x="5567978" y="1674345"/>
            <a:ext cx="661304" cy="51168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Tank or PFR</a:t>
            </a:r>
          </a:p>
        </p:txBody>
      </p:sp>
      <p:sp>
        <p:nvSpPr>
          <p:cNvPr id="128" name="TextBox 127">
            <a:extLst>
              <a:ext uri="{FF2B5EF4-FFF2-40B4-BE49-F238E27FC236}">
                <a16:creationId xmlns:a16="http://schemas.microsoft.com/office/drawing/2014/main" id="{561A8106-8C05-48C9-A5F3-3060520AFB95}"/>
              </a:ext>
            </a:extLst>
          </p:cNvPr>
          <p:cNvSpPr txBox="1"/>
          <p:nvPr/>
        </p:nvSpPr>
        <p:spPr>
          <a:xfrm>
            <a:off x="6479524" y="2883868"/>
            <a:ext cx="1633781" cy="369332"/>
          </a:xfrm>
          <a:prstGeom prst="rect">
            <a:avLst/>
          </a:prstGeom>
          <a:noFill/>
        </p:spPr>
        <p:txBody>
          <a:bodyPr wrap="none" rtlCol="0">
            <a:spAutoFit/>
          </a:bodyPr>
          <a:lstStyle/>
          <a:p>
            <a:r>
              <a:rPr lang="en-US"/>
              <a:t>In-line titration</a:t>
            </a:r>
          </a:p>
        </p:txBody>
      </p:sp>
      <p:cxnSp>
        <p:nvCxnSpPr>
          <p:cNvPr id="40" name="Straight Arrow Connector 39">
            <a:extLst>
              <a:ext uri="{FF2B5EF4-FFF2-40B4-BE49-F238E27FC236}">
                <a16:creationId xmlns:a16="http://schemas.microsoft.com/office/drawing/2014/main" id="{74FDBC3C-68FD-4350-B089-9EBA16AE117F}"/>
              </a:ext>
            </a:extLst>
          </p:cNvPr>
          <p:cNvCxnSpPr>
            <a:cxnSpLocks/>
            <a:stCxn id="128" idx="3"/>
            <a:endCxn id="79" idx="1"/>
          </p:cNvCxnSpPr>
          <p:nvPr/>
        </p:nvCxnSpPr>
        <p:spPr>
          <a:xfrm>
            <a:off x="8113305" y="3068534"/>
            <a:ext cx="318499" cy="685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3" name="TextBox 142">
            <a:extLst>
              <a:ext uri="{FF2B5EF4-FFF2-40B4-BE49-F238E27FC236}">
                <a16:creationId xmlns:a16="http://schemas.microsoft.com/office/drawing/2014/main" id="{7C7726E8-F3EF-4883-9864-7237889CFD9D}"/>
              </a:ext>
            </a:extLst>
          </p:cNvPr>
          <p:cNvSpPr txBox="1"/>
          <p:nvPr/>
        </p:nvSpPr>
        <p:spPr>
          <a:xfrm>
            <a:off x="6267262" y="3272945"/>
            <a:ext cx="1633781" cy="369332"/>
          </a:xfrm>
          <a:prstGeom prst="rect">
            <a:avLst/>
          </a:prstGeom>
          <a:noFill/>
        </p:spPr>
        <p:txBody>
          <a:bodyPr wrap="none" rtlCol="0">
            <a:spAutoFit/>
          </a:bodyPr>
          <a:lstStyle/>
          <a:p>
            <a:r>
              <a:rPr lang="en-US"/>
              <a:t>In-line titration</a:t>
            </a:r>
          </a:p>
        </p:txBody>
      </p:sp>
      <p:cxnSp>
        <p:nvCxnSpPr>
          <p:cNvPr id="51" name="Straight Arrow Connector 50">
            <a:extLst>
              <a:ext uri="{FF2B5EF4-FFF2-40B4-BE49-F238E27FC236}">
                <a16:creationId xmlns:a16="http://schemas.microsoft.com/office/drawing/2014/main" id="{74CEDEB1-E35D-4949-B5D3-1842A24419C1}"/>
              </a:ext>
            </a:extLst>
          </p:cNvPr>
          <p:cNvCxnSpPr>
            <a:stCxn id="143" idx="2"/>
          </p:cNvCxnSpPr>
          <p:nvPr/>
        </p:nvCxnSpPr>
        <p:spPr>
          <a:xfrm flipH="1">
            <a:off x="7084152" y="3642277"/>
            <a:ext cx="1" cy="87455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EFDC6F78-B2BF-48DE-9233-9E2A4A629A76}"/>
              </a:ext>
            </a:extLst>
          </p:cNvPr>
          <p:cNvCxnSpPr>
            <a:cxnSpLocks/>
          </p:cNvCxnSpPr>
          <p:nvPr/>
        </p:nvCxnSpPr>
        <p:spPr>
          <a:xfrm>
            <a:off x="1798154" y="111368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CED80CF7-CDFF-4415-8AB9-EB4D8617E220}"/>
              </a:ext>
            </a:extLst>
          </p:cNvPr>
          <p:cNvCxnSpPr>
            <a:cxnSpLocks/>
          </p:cNvCxnSpPr>
          <p:nvPr/>
        </p:nvCxnSpPr>
        <p:spPr>
          <a:xfrm>
            <a:off x="1798154" y="94181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52D978-B228-4D4A-99DF-D49B1EB73E67}"/>
              </a:ext>
            </a:extLst>
          </p:cNvPr>
          <p:cNvSpPr txBox="1"/>
          <p:nvPr/>
        </p:nvSpPr>
        <p:spPr>
          <a:xfrm rot="16200000">
            <a:off x="2737332" y="1976393"/>
            <a:ext cx="1189749" cy="276999"/>
          </a:xfrm>
          <a:prstGeom prst="rect">
            <a:avLst/>
          </a:prstGeom>
          <a:noFill/>
        </p:spPr>
        <p:txBody>
          <a:bodyPr wrap="none" rtlCol="0">
            <a:spAutoFit/>
          </a:bodyPr>
          <a:lstStyle/>
          <a:p>
            <a:r>
              <a:rPr lang="en-US" sz="1200" dirty="0">
                <a:solidFill>
                  <a:schemeClr val="bg1"/>
                </a:solidFill>
              </a:rPr>
              <a:t> Cell Retention</a:t>
            </a:r>
          </a:p>
        </p:txBody>
      </p:sp>
      <p:sp>
        <p:nvSpPr>
          <p:cNvPr id="125" name="TextBox 124">
            <a:extLst>
              <a:ext uri="{FF2B5EF4-FFF2-40B4-BE49-F238E27FC236}">
                <a16:creationId xmlns:a16="http://schemas.microsoft.com/office/drawing/2014/main" id="{72E5D790-E7CA-6B45-B799-9AA6DA36F54A}"/>
              </a:ext>
            </a:extLst>
          </p:cNvPr>
          <p:cNvSpPr txBox="1"/>
          <p:nvPr/>
        </p:nvSpPr>
        <p:spPr>
          <a:xfrm>
            <a:off x="3372903" y="723370"/>
            <a:ext cx="1084870" cy="307777"/>
          </a:xfrm>
          <a:prstGeom prst="rect">
            <a:avLst/>
          </a:prstGeom>
          <a:noFill/>
        </p:spPr>
        <p:txBody>
          <a:bodyPr wrap="square" rtlCol="0">
            <a:spAutoFit/>
          </a:bodyPr>
          <a:lstStyle/>
          <a:p>
            <a:pPr algn="ctr"/>
            <a:r>
              <a:rPr lang="en-US" sz="1400" dirty="0"/>
              <a:t>Surge tank</a:t>
            </a:r>
          </a:p>
        </p:txBody>
      </p:sp>
      <p:sp>
        <p:nvSpPr>
          <p:cNvPr id="148" name="TextBox 147">
            <a:extLst>
              <a:ext uri="{FF2B5EF4-FFF2-40B4-BE49-F238E27FC236}">
                <a16:creationId xmlns:a16="http://schemas.microsoft.com/office/drawing/2014/main" id="{E7BD0437-F8C5-C149-9BC3-382CC88D8B02}"/>
              </a:ext>
            </a:extLst>
          </p:cNvPr>
          <p:cNvSpPr txBox="1"/>
          <p:nvPr/>
        </p:nvSpPr>
        <p:spPr>
          <a:xfrm>
            <a:off x="5805379" y="4151259"/>
            <a:ext cx="1084870" cy="738664"/>
          </a:xfrm>
          <a:prstGeom prst="rect">
            <a:avLst/>
          </a:prstGeom>
          <a:noFill/>
        </p:spPr>
        <p:txBody>
          <a:bodyPr wrap="square" rtlCol="0">
            <a:spAutoFit/>
          </a:bodyPr>
          <a:lstStyle/>
          <a:p>
            <a:pPr algn="ctr"/>
            <a:r>
              <a:rPr lang="en-US" sz="1400" dirty="0"/>
              <a:t>Surge tank</a:t>
            </a:r>
          </a:p>
          <a:p>
            <a:pPr algn="ctr"/>
            <a:r>
              <a:rPr lang="en-US" sz="1400" dirty="0"/>
              <a:t>Optional lot pool</a:t>
            </a:r>
          </a:p>
        </p:txBody>
      </p:sp>
      <p:sp>
        <p:nvSpPr>
          <p:cNvPr id="9" name="Oval 8">
            <a:extLst>
              <a:ext uri="{FF2B5EF4-FFF2-40B4-BE49-F238E27FC236}">
                <a16:creationId xmlns:a16="http://schemas.microsoft.com/office/drawing/2014/main" id="{EA28337E-02F6-F348-9897-A0BBC47A34F9}"/>
              </a:ext>
            </a:extLst>
          </p:cNvPr>
          <p:cNvSpPr/>
          <p:nvPr/>
        </p:nvSpPr>
        <p:spPr>
          <a:xfrm>
            <a:off x="6849121" y="1165425"/>
            <a:ext cx="235030" cy="225297"/>
          </a:xfrm>
          <a:prstGeom prst="ellipse">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a:t>
            </a:r>
          </a:p>
        </p:txBody>
      </p:sp>
      <p:sp>
        <p:nvSpPr>
          <p:cNvPr id="134" name="Oval 133">
            <a:extLst>
              <a:ext uri="{FF2B5EF4-FFF2-40B4-BE49-F238E27FC236}">
                <a16:creationId xmlns:a16="http://schemas.microsoft.com/office/drawing/2014/main" id="{4BDB3B2D-902E-9344-9A1A-04C69A19B1E2}"/>
              </a:ext>
            </a:extLst>
          </p:cNvPr>
          <p:cNvSpPr/>
          <p:nvPr/>
        </p:nvSpPr>
        <p:spPr>
          <a:xfrm>
            <a:off x="8155039" y="2511178"/>
            <a:ext cx="235030" cy="225297"/>
          </a:xfrm>
          <a:prstGeom prst="ellipse">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a:t>
            </a:r>
          </a:p>
        </p:txBody>
      </p:sp>
      <p:sp>
        <p:nvSpPr>
          <p:cNvPr id="145" name="Oval 144">
            <a:extLst>
              <a:ext uri="{FF2B5EF4-FFF2-40B4-BE49-F238E27FC236}">
                <a16:creationId xmlns:a16="http://schemas.microsoft.com/office/drawing/2014/main" id="{2F19C2D7-0875-034A-9A55-284A69FF1755}"/>
              </a:ext>
            </a:extLst>
          </p:cNvPr>
          <p:cNvSpPr/>
          <p:nvPr/>
        </p:nvSpPr>
        <p:spPr>
          <a:xfrm>
            <a:off x="6101662" y="3800581"/>
            <a:ext cx="235030" cy="225297"/>
          </a:xfrm>
          <a:prstGeom prst="ellipse">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sp>
        <p:nvSpPr>
          <p:cNvPr id="146" name="Oval 145">
            <a:extLst>
              <a:ext uri="{FF2B5EF4-FFF2-40B4-BE49-F238E27FC236}">
                <a16:creationId xmlns:a16="http://schemas.microsoft.com/office/drawing/2014/main" id="{46C512CA-B2E8-2F42-906A-1D38C4989238}"/>
              </a:ext>
            </a:extLst>
          </p:cNvPr>
          <p:cNvSpPr/>
          <p:nvPr/>
        </p:nvSpPr>
        <p:spPr>
          <a:xfrm>
            <a:off x="4591958" y="4273154"/>
            <a:ext cx="235030" cy="225297"/>
          </a:xfrm>
          <a:prstGeom prst="ellipse">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4</a:t>
            </a:r>
          </a:p>
        </p:txBody>
      </p:sp>
      <p:sp>
        <p:nvSpPr>
          <p:cNvPr id="147" name="Oval 146">
            <a:extLst>
              <a:ext uri="{FF2B5EF4-FFF2-40B4-BE49-F238E27FC236}">
                <a16:creationId xmlns:a16="http://schemas.microsoft.com/office/drawing/2014/main" id="{AEFF2D99-817C-2142-AF7B-D3BC5BAB7681}"/>
              </a:ext>
            </a:extLst>
          </p:cNvPr>
          <p:cNvSpPr/>
          <p:nvPr/>
        </p:nvSpPr>
        <p:spPr>
          <a:xfrm>
            <a:off x="1089035" y="4291538"/>
            <a:ext cx="235030" cy="225297"/>
          </a:xfrm>
          <a:prstGeom prst="ellipse">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5</a:t>
            </a:r>
          </a:p>
        </p:txBody>
      </p:sp>
      <p:sp>
        <p:nvSpPr>
          <p:cNvPr id="2" name="TextBox 1">
            <a:extLst>
              <a:ext uri="{FF2B5EF4-FFF2-40B4-BE49-F238E27FC236}">
                <a16:creationId xmlns:a16="http://schemas.microsoft.com/office/drawing/2014/main" id="{6CA143CB-446E-D649-8187-8C019A3952A4}"/>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11168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extLst>
              <p:ext uri="{D42A27DB-BD31-4B8C-83A1-F6EECF244321}">
                <p14:modId xmlns:p14="http://schemas.microsoft.com/office/powerpoint/2010/main" val="2391925860"/>
              </p:ext>
            </p:extLst>
          </p:nvPr>
        </p:nvGraphicFramePr>
        <p:xfrm>
          <a:off x="628650" y="665163"/>
          <a:ext cx="7886700" cy="1699260"/>
        </p:xfrm>
        <a:graphic>
          <a:graphicData uri="http://schemas.openxmlformats.org/drawingml/2006/table">
            <a:tbl>
              <a:tblPr firstRow="1" firstCol="1" bandRow="1">
                <a:tableStyleId>{073A0DAA-6AF3-43AB-8588-CEC1D06C72B9}</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190500">
                <a:tc>
                  <a:txBody>
                    <a:bodyPr/>
                    <a:lstStyle/>
                    <a:p>
                      <a:pPr marL="0" marR="0">
                        <a:spcBef>
                          <a:spcPts val="0"/>
                        </a:spcBef>
                        <a:spcAft>
                          <a:spcPts val="0"/>
                        </a:spcAft>
                      </a:pPr>
                      <a:r>
                        <a:rPr lang="en-US" sz="1200" dirty="0">
                          <a:effectLst/>
                        </a:rPr>
                        <a:t>N-stage bioreactor Size (L)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rPr>
                        <a:t>Number of bioreactors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1-4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50-120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20-40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36576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0.5-2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Lot (Batch) Duration (days)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rPr>
                        <a:t>Number of concentrated media feeds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 (3)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rPr>
                        <a:t> Media Concentration Factor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1x to 5x (20x, 12x, and 5x)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8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468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813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Table 2: Bioreactor Assumptions</a:t>
            </a:r>
          </a:p>
        </p:txBody>
      </p:sp>
      <p:sp>
        <p:nvSpPr>
          <p:cNvPr id="3" name="TextBox 2">
            <a:extLst>
              <a:ext uri="{FF2B5EF4-FFF2-40B4-BE49-F238E27FC236}">
                <a16:creationId xmlns:a16="http://schemas.microsoft.com/office/drawing/2014/main" id="{EE44F339-CD6A-0145-B31B-4A5E63A86550}"/>
              </a:ext>
            </a:extLst>
          </p:cNvPr>
          <p:cNvSpPr txBox="1"/>
          <p:nvPr/>
        </p:nvSpPr>
        <p:spPr>
          <a:xfrm>
            <a:off x="1336431" y="2364424"/>
            <a:ext cx="4030270" cy="261610"/>
          </a:xfrm>
          <a:prstGeom prst="rect">
            <a:avLst/>
          </a:prstGeom>
          <a:noFill/>
        </p:spPr>
        <p:txBody>
          <a:bodyPr wrap="none" rtlCol="0">
            <a:spAutoFit/>
          </a:bodyPr>
          <a:lstStyle/>
          <a:p>
            <a:r>
              <a:rPr lang="en-US" sz="1100" dirty="0"/>
              <a:t>Range of parameters (parenthetical values used in examples)</a:t>
            </a:r>
          </a:p>
        </p:txBody>
      </p:sp>
    </p:spTree>
    <p:extLst>
      <p:ext uri="{BB962C8B-B14F-4D97-AF65-F5344CB8AC3E}">
        <p14:creationId xmlns:p14="http://schemas.microsoft.com/office/powerpoint/2010/main" val="1579411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5E307-C246-7A45-9B55-CD440773F5A7}"/>
              </a:ext>
            </a:extLst>
          </p:cNvPr>
          <p:cNvSpPr>
            <a:spLocks noGrp="1"/>
          </p:cNvSpPr>
          <p:nvPr>
            <p:ph type="sldNum" sz="quarter" idx="4"/>
          </p:nvPr>
        </p:nvSpPr>
        <p:spPr/>
        <p:txBody>
          <a:bodyPr/>
          <a:lstStyle/>
          <a:p>
            <a:fld id="{3C4F54F3-C349-4609-AFEE-01462D5C7942}" type="slidenum">
              <a:rPr lang="en-GB" smtClean="0"/>
              <a:pPr/>
              <a:t>5</a:t>
            </a:fld>
            <a:endParaRPr lang="en-GB"/>
          </a:p>
        </p:txBody>
      </p:sp>
      <p:sp>
        <p:nvSpPr>
          <p:cNvPr id="3" name="Title 2">
            <a:extLst>
              <a:ext uri="{FF2B5EF4-FFF2-40B4-BE49-F238E27FC236}">
                <a16:creationId xmlns:a16="http://schemas.microsoft.com/office/drawing/2014/main" id="{37371F97-6C66-5143-A700-08C6FB0A797D}"/>
              </a:ext>
            </a:extLst>
          </p:cNvPr>
          <p:cNvSpPr>
            <a:spLocks noGrp="1"/>
          </p:cNvSpPr>
          <p:nvPr>
            <p:ph type="title"/>
          </p:nvPr>
        </p:nvSpPr>
        <p:spPr>
          <a:xfrm>
            <a:off x="189175" y="134746"/>
            <a:ext cx="8765651" cy="504000"/>
          </a:xfrm>
        </p:spPr>
        <p:txBody>
          <a:bodyPr/>
          <a:lstStyle/>
          <a:p>
            <a:r>
              <a:rPr lang="en-US" dirty="0"/>
              <a:t>Table 3: Productivity, capacity, yield, and solution use</a:t>
            </a:r>
          </a:p>
        </p:txBody>
      </p:sp>
      <p:sp>
        <p:nvSpPr>
          <p:cNvPr id="5" name="Rectangle 4">
            <a:extLst>
              <a:ext uri="{FF2B5EF4-FFF2-40B4-BE49-F238E27FC236}">
                <a16:creationId xmlns:a16="http://schemas.microsoft.com/office/drawing/2014/main" id="{1E480020-727C-0C4C-83C3-FC211ECA5C04}"/>
              </a:ext>
            </a:extLst>
          </p:cNvPr>
          <p:cNvSpPr/>
          <p:nvPr/>
        </p:nvSpPr>
        <p:spPr>
          <a:xfrm>
            <a:off x="1073322" y="4728001"/>
            <a:ext cx="7752303" cy="830997"/>
          </a:xfrm>
          <a:prstGeom prst="rect">
            <a:avLst/>
          </a:prstGeom>
        </p:spPr>
        <p:txBody>
          <a:bodyPr wrap="square">
            <a:spAutoFit/>
          </a:bodyPr>
          <a:lstStyle/>
          <a:p>
            <a:r>
              <a:rPr lang="en-US" sz="1200" dirty="0"/>
              <a:t>*The number of buffers does not include the VI/VRF buffers, as those will not go into large buffer tanks. The sanitization solution is assumed to be common among all steps.</a:t>
            </a:r>
            <a:endParaRPr lang="en-US" sz="1400" dirty="0"/>
          </a:p>
          <a:p>
            <a:r>
              <a:rPr lang="en-US" sz="1200" dirty="0"/>
              <a:t>400kg buffer/kg BDS equally divided among 14 buffers means each kg of BDS requires 29L of each buffer.</a:t>
            </a:r>
          </a:p>
          <a:p>
            <a:r>
              <a:rPr lang="en-US" sz="1200" dirty="0"/>
              <a:t>Overall yield includes 90% yield of cell retention step</a:t>
            </a:r>
            <a:endParaRPr lang="en-US" sz="1400" dirty="0"/>
          </a:p>
        </p:txBody>
      </p:sp>
      <p:graphicFrame>
        <p:nvGraphicFramePr>
          <p:cNvPr id="6" name="Table 5">
            <a:extLst>
              <a:ext uri="{FF2B5EF4-FFF2-40B4-BE49-F238E27FC236}">
                <a16:creationId xmlns:a16="http://schemas.microsoft.com/office/drawing/2014/main" id="{5F24B9A8-0DC4-EF4C-99B8-780E8395DD3C}"/>
              </a:ext>
            </a:extLst>
          </p:cNvPr>
          <p:cNvGraphicFramePr>
            <a:graphicFrameLocks noGrp="1"/>
          </p:cNvGraphicFramePr>
          <p:nvPr>
            <p:extLst>
              <p:ext uri="{D42A27DB-BD31-4B8C-83A1-F6EECF244321}">
                <p14:modId xmlns:p14="http://schemas.microsoft.com/office/powerpoint/2010/main" val="2337629114"/>
              </p:ext>
            </p:extLst>
          </p:nvPr>
        </p:nvGraphicFramePr>
        <p:xfrm>
          <a:off x="519770" y="550874"/>
          <a:ext cx="7514496" cy="4171919"/>
        </p:xfrm>
        <a:graphic>
          <a:graphicData uri="http://schemas.openxmlformats.org/drawingml/2006/table">
            <a:tbl>
              <a:tblPr firstRow="1" firstCol="1">
                <a:tableStyleId>{5C22544A-7EE6-4342-B048-85BDC9FD1C3A}</a:tableStyleId>
              </a:tblPr>
              <a:tblGrid>
                <a:gridCol w="939312">
                  <a:extLst>
                    <a:ext uri="{9D8B030D-6E8A-4147-A177-3AD203B41FA5}">
                      <a16:colId xmlns:a16="http://schemas.microsoft.com/office/drawing/2014/main" val="2604581815"/>
                    </a:ext>
                  </a:extLst>
                </a:gridCol>
                <a:gridCol w="939312">
                  <a:extLst>
                    <a:ext uri="{9D8B030D-6E8A-4147-A177-3AD203B41FA5}">
                      <a16:colId xmlns:a16="http://schemas.microsoft.com/office/drawing/2014/main" val="461474317"/>
                    </a:ext>
                  </a:extLst>
                </a:gridCol>
                <a:gridCol w="939312">
                  <a:extLst>
                    <a:ext uri="{9D8B030D-6E8A-4147-A177-3AD203B41FA5}">
                      <a16:colId xmlns:a16="http://schemas.microsoft.com/office/drawing/2014/main" val="3576912720"/>
                    </a:ext>
                  </a:extLst>
                </a:gridCol>
                <a:gridCol w="939312">
                  <a:extLst>
                    <a:ext uri="{9D8B030D-6E8A-4147-A177-3AD203B41FA5}">
                      <a16:colId xmlns:a16="http://schemas.microsoft.com/office/drawing/2014/main" val="801358245"/>
                    </a:ext>
                  </a:extLst>
                </a:gridCol>
                <a:gridCol w="939312">
                  <a:extLst>
                    <a:ext uri="{9D8B030D-6E8A-4147-A177-3AD203B41FA5}">
                      <a16:colId xmlns:a16="http://schemas.microsoft.com/office/drawing/2014/main" val="3185503945"/>
                    </a:ext>
                  </a:extLst>
                </a:gridCol>
                <a:gridCol w="939312">
                  <a:extLst>
                    <a:ext uri="{9D8B030D-6E8A-4147-A177-3AD203B41FA5}">
                      <a16:colId xmlns:a16="http://schemas.microsoft.com/office/drawing/2014/main" val="767672734"/>
                    </a:ext>
                  </a:extLst>
                </a:gridCol>
                <a:gridCol w="939312">
                  <a:extLst>
                    <a:ext uri="{9D8B030D-6E8A-4147-A177-3AD203B41FA5}">
                      <a16:colId xmlns:a16="http://schemas.microsoft.com/office/drawing/2014/main" val="996637692"/>
                    </a:ext>
                  </a:extLst>
                </a:gridCol>
                <a:gridCol w="939312">
                  <a:extLst>
                    <a:ext uri="{9D8B030D-6E8A-4147-A177-3AD203B41FA5}">
                      <a16:colId xmlns:a16="http://schemas.microsoft.com/office/drawing/2014/main" val="2621473178"/>
                    </a:ext>
                  </a:extLst>
                </a:gridCol>
              </a:tblGrid>
              <a:tr h="696629">
                <a:tc>
                  <a:txBody>
                    <a:bodyPr/>
                    <a:lstStyle/>
                    <a:p>
                      <a:pPr algn="r" fontAlgn="b"/>
                      <a:endParaRPr lang="en-US" sz="1100" b="0" i="0" u="none" strike="noStrike" dirty="0">
                        <a:solidFill>
                          <a:schemeClr val="bg1"/>
                        </a:solidFill>
                        <a:effectLst/>
                        <a:latin typeface="Calibri" panose="020F0502020204030204" pitchFamily="34" charset="0"/>
                      </a:endParaRPr>
                    </a:p>
                  </a:txBody>
                  <a:tcPr marL="0" marR="0" marT="0" marB="0" anchor="b"/>
                </a:tc>
                <a:tc>
                  <a:txBody>
                    <a:bodyPr/>
                    <a:lstStyle/>
                    <a:p>
                      <a:pPr algn="r" fontAlgn="b"/>
                      <a:r>
                        <a:rPr lang="en-US" sz="1100" u="none" strike="noStrike" dirty="0">
                          <a:effectLst/>
                        </a:rPr>
                        <a:t>Productivity/  Capacity/ DF</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dirty="0">
                          <a:effectLst/>
                        </a:rPr>
                        <a:t>Perfusion/ Wash/ DF volume(L/L)</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a:effectLst/>
                        </a:rPr>
                        <a:t>Yield</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a:effectLst/>
                        </a:rPr>
                        <a:t> Number of Solutions per Step </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dirty="0">
                          <a:effectLst/>
                        </a:rPr>
                        <a:t>Product Mass Index (PMI) (L/kg)</a:t>
                      </a:r>
                      <a:endParaRPr lang="en-US"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a:effectLst/>
                        </a:rPr>
                        <a:t>Buffer Concentrate Factor</a:t>
                      </a:r>
                      <a:endParaRPr lang="en-US" sz="11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u="none" strike="noStrike">
                          <a:effectLst/>
                        </a:rPr>
                        <a:t>Buffer PMI</a:t>
                      </a:r>
                      <a:endParaRPr lang="en-US"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41237468"/>
                  </a:ext>
                </a:extLst>
              </a:tr>
              <a:tr h="376015">
                <a:tc>
                  <a:txBody>
                    <a:bodyPr/>
                    <a:lstStyle/>
                    <a:p>
                      <a:pPr algn="r" fontAlgn="b"/>
                      <a:r>
                        <a:rPr lang="en-US" sz="1400" b="0" i="0" u="none" strike="noStrike" dirty="0">
                          <a:solidFill>
                            <a:schemeClr val="bg1"/>
                          </a:solidFill>
                          <a:effectLst/>
                          <a:latin typeface="Calibri" panose="020F0502020204030204" pitchFamily="34" charset="0"/>
                        </a:rPr>
                        <a:t>Bioreactor</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4.8g/L/day</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100%</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                            3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476</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3</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159</a:t>
                      </a:r>
                    </a:p>
                  </a:txBody>
                  <a:tcPr marL="0" marR="0" marT="0" marB="0" anchor="b"/>
                </a:tc>
                <a:extLst>
                  <a:ext uri="{0D108BD9-81ED-4DB2-BD59-A6C34878D82A}">
                    <a16:rowId xmlns:a16="http://schemas.microsoft.com/office/drawing/2014/main" val="1513762624"/>
                  </a:ext>
                </a:extLst>
              </a:tr>
              <a:tr h="376015">
                <a:tc>
                  <a:txBody>
                    <a:bodyPr/>
                    <a:lstStyle/>
                    <a:p>
                      <a:pPr algn="r" fontAlgn="b"/>
                      <a:r>
                        <a:rPr lang="en-US" sz="1400" b="0" i="0" u="none" strike="noStrike">
                          <a:solidFill>
                            <a:schemeClr val="bg1"/>
                          </a:solidFill>
                          <a:effectLst/>
                          <a:latin typeface="Calibri" panose="020F0502020204030204" pitchFamily="34" charset="0"/>
                        </a:rPr>
                        <a:t>ProA</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60g/L</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21</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90%</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                            7 </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534</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5</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107</a:t>
                      </a:r>
                    </a:p>
                  </a:txBody>
                  <a:tcPr marL="0" marR="0" marT="0" marB="0" anchor="b"/>
                </a:tc>
                <a:extLst>
                  <a:ext uri="{0D108BD9-81ED-4DB2-BD59-A6C34878D82A}">
                    <a16:rowId xmlns:a16="http://schemas.microsoft.com/office/drawing/2014/main" val="4178430526"/>
                  </a:ext>
                </a:extLst>
              </a:tr>
              <a:tr h="376015">
                <a:tc>
                  <a:txBody>
                    <a:bodyPr/>
                    <a:lstStyle/>
                    <a:p>
                      <a:pPr algn="r" fontAlgn="b"/>
                      <a:r>
                        <a:rPr lang="en-US" sz="1400" b="0" i="0" u="none" strike="noStrike" dirty="0">
                          <a:solidFill>
                            <a:schemeClr val="bg1"/>
                          </a:solidFill>
                          <a:effectLst/>
                          <a:latin typeface="Calibri" panose="020F0502020204030204" pitchFamily="34" charset="0"/>
                        </a:rPr>
                        <a:t>VI</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NA</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0.1</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100%</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 NA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15</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15</a:t>
                      </a:r>
                    </a:p>
                  </a:txBody>
                  <a:tcPr marL="0" marR="0" marT="0" marB="0" anchor="b"/>
                </a:tc>
                <a:extLst>
                  <a:ext uri="{0D108BD9-81ED-4DB2-BD59-A6C34878D82A}">
                    <a16:rowId xmlns:a16="http://schemas.microsoft.com/office/drawing/2014/main" val="1329666618"/>
                  </a:ext>
                </a:extLst>
              </a:tr>
              <a:tr h="213645">
                <a:tc>
                  <a:txBody>
                    <a:bodyPr/>
                    <a:lstStyle/>
                    <a:p>
                      <a:pPr algn="r" fontAlgn="b"/>
                      <a:r>
                        <a:rPr lang="en-US" sz="1400" b="0" i="0" u="none" strike="noStrike" dirty="0">
                          <a:solidFill>
                            <a:schemeClr val="bg1"/>
                          </a:solidFill>
                          <a:effectLst/>
                          <a:latin typeface="Calibri" panose="020F0502020204030204" pitchFamily="34" charset="0"/>
                        </a:rPr>
                        <a:t>AEX</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100g/L</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16</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95%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                            4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220</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5</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44</a:t>
                      </a:r>
                    </a:p>
                  </a:txBody>
                  <a:tcPr marL="0" marR="0" marT="0" marB="0" anchor="b"/>
                </a:tc>
                <a:extLst>
                  <a:ext uri="{0D108BD9-81ED-4DB2-BD59-A6C34878D82A}">
                    <a16:rowId xmlns:a16="http://schemas.microsoft.com/office/drawing/2014/main" val="3745309751"/>
                  </a:ext>
                </a:extLst>
              </a:tr>
              <a:tr h="376015">
                <a:tc>
                  <a:txBody>
                    <a:bodyPr/>
                    <a:lstStyle/>
                    <a:p>
                      <a:pPr algn="r" fontAlgn="b"/>
                      <a:r>
                        <a:rPr lang="en-US" sz="1400" b="0" i="0" u="none" strike="noStrike" dirty="0">
                          <a:solidFill>
                            <a:schemeClr val="bg1"/>
                          </a:solidFill>
                          <a:effectLst/>
                          <a:latin typeface="Calibri" panose="020F0502020204030204" pitchFamily="34" charset="0"/>
                        </a:rPr>
                        <a:t>CEX</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40g/L</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16</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85%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                            5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521</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104</a:t>
                      </a:r>
                    </a:p>
                  </a:txBody>
                  <a:tcPr marL="0" marR="0" marT="0" marB="0" anchor="b"/>
                </a:tc>
                <a:extLst>
                  <a:ext uri="{0D108BD9-81ED-4DB2-BD59-A6C34878D82A}">
                    <a16:rowId xmlns:a16="http://schemas.microsoft.com/office/drawing/2014/main" val="2593346000"/>
                  </a:ext>
                </a:extLst>
              </a:tr>
              <a:tr h="376015">
                <a:tc>
                  <a:txBody>
                    <a:bodyPr/>
                    <a:lstStyle/>
                    <a:p>
                      <a:pPr algn="r" fontAlgn="b"/>
                      <a:r>
                        <a:rPr lang="en-US" sz="1400" b="0" i="0" u="none" strike="noStrike" dirty="0">
                          <a:solidFill>
                            <a:schemeClr val="bg1"/>
                          </a:solidFill>
                          <a:effectLst/>
                          <a:latin typeface="Calibri" panose="020F0502020204030204" pitchFamily="34" charset="0"/>
                        </a:rPr>
                        <a:t>VRF</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700L/m2</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NA</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95%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 NA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3</a:t>
                      </a:r>
                    </a:p>
                  </a:txBody>
                  <a:tcPr marL="0" marR="0" marT="0" marB="0" anchor="b"/>
                </a:tc>
                <a:extLst>
                  <a:ext uri="{0D108BD9-81ED-4DB2-BD59-A6C34878D82A}">
                    <a16:rowId xmlns:a16="http://schemas.microsoft.com/office/drawing/2014/main" val="3844137353"/>
                  </a:ext>
                </a:extLst>
              </a:tr>
              <a:tr h="213645">
                <a:tc>
                  <a:txBody>
                    <a:bodyPr/>
                    <a:lstStyle/>
                    <a:p>
                      <a:pPr algn="r" fontAlgn="b"/>
                      <a:r>
                        <a:rPr lang="en-US" sz="1400" b="0" i="0" u="none" strike="noStrike" dirty="0">
                          <a:solidFill>
                            <a:schemeClr val="bg1"/>
                          </a:solidFill>
                          <a:effectLst/>
                          <a:latin typeface="Calibri" panose="020F0502020204030204" pitchFamily="34" charset="0"/>
                        </a:rPr>
                        <a:t>UFDF</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50g/L</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6</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95%</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                            2 </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126</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126</a:t>
                      </a:r>
                    </a:p>
                  </a:txBody>
                  <a:tcPr marL="0" marR="0" marT="0" marB="0" anchor="b"/>
                </a:tc>
                <a:extLst>
                  <a:ext uri="{0D108BD9-81ED-4DB2-BD59-A6C34878D82A}">
                    <a16:rowId xmlns:a16="http://schemas.microsoft.com/office/drawing/2014/main" val="2980989194"/>
                  </a:ext>
                </a:extLst>
              </a:tr>
              <a:tr h="376015">
                <a:tc>
                  <a:txBody>
                    <a:bodyPr/>
                    <a:lstStyle/>
                    <a:p>
                      <a:pPr algn="r" fontAlgn="b"/>
                      <a:endParaRPr lang="en-US" sz="1400" b="0" i="0" u="none" strike="noStrike" dirty="0">
                        <a:solidFill>
                          <a:schemeClr val="bg1"/>
                        </a:solidFill>
                        <a:effectLst/>
                        <a:latin typeface="Calibri" panose="020F0502020204030204" pitchFamily="34" charset="0"/>
                      </a:endParaRPr>
                    </a:p>
                  </a:txBody>
                  <a:tcPr marL="0" marR="0" marT="0" marB="0" anchor="b"/>
                </a:tc>
                <a:tc>
                  <a:txBody>
                    <a:bodyPr/>
                    <a:lstStyle/>
                    <a:p>
                      <a:pPr algn="r" fontAlgn="b"/>
                      <a:endParaRPr lang="en-US"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Total</a:t>
                      </a: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59%</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14</a:t>
                      </a: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1431</a:t>
                      </a:r>
                    </a:p>
                  </a:txBody>
                  <a:tcPr marL="0" marR="0" marT="0" marB="0" anchor="b"/>
                </a:tc>
                <a:tc>
                  <a:txBody>
                    <a:bodyPr/>
                    <a:lstStyle/>
                    <a:p>
                      <a:pPr algn="r" fontAlgn="b"/>
                      <a:endParaRPr lang="en-US"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399</a:t>
                      </a:r>
                    </a:p>
                  </a:txBody>
                  <a:tcPr marL="0" marR="0" marT="0" marB="0" anchor="b"/>
                </a:tc>
                <a:extLst>
                  <a:ext uri="{0D108BD9-81ED-4DB2-BD59-A6C34878D82A}">
                    <a16:rowId xmlns:a16="http://schemas.microsoft.com/office/drawing/2014/main" val="3185342297"/>
                  </a:ext>
                </a:extLst>
              </a:tr>
              <a:tr h="213645">
                <a:tc>
                  <a:txBody>
                    <a:bodyPr/>
                    <a:lstStyle/>
                    <a:p>
                      <a:pPr algn="r" fontAlgn="b"/>
                      <a:endParaRPr lang="en-US" sz="1400" b="0" i="0" u="none" strike="noStrike" dirty="0">
                        <a:solidFill>
                          <a:schemeClr val="bg1"/>
                        </a:solidFill>
                        <a:effectLst/>
                        <a:latin typeface="Calibri" panose="020F0502020204030204" pitchFamily="34" charset="0"/>
                      </a:endParaRPr>
                    </a:p>
                  </a:txBody>
                  <a:tcPr marL="0" marR="0" marT="0" marB="0" anchor="b"/>
                </a:tc>
                <a:tc>
                  <a:txBody>
                    <a:bodyPr/>
                    <a:lstStyle/>
                    <a:p>
                      <a:pPr algn="r" fontAlgn="b"/>
                      <a:endParaRPr lang="en-US" sz="1400" b="0" i="0" u="none" strike="noStrike">
                        <a:solidFill>
                          <a:srgbClr val="000000"/>
                        </a:solidFill>
                        <a:effectLst/>
                        <a:latin typeface="Calibri" panose="020F0502020204030204" pitchFamily="34" charset="0"/>
                      </a:endParaRPr>
                    </a:p>
                  </a:txBody>
                  <a:tcPr marL="0" marR="0" marT="0" marB="0" anchor="b"/>
                </a:tc>
                <a:tc gridSpan="2">
                  <a:txBody>
                    <a:bodyPr/>
                    <a:lstStyle/>
                    <a:p>
                      <a:pPr algn="r" fontAlgn="b"/>
                      <a:r>
                        <a:rPr lang="en-US" sz="1400" b="0" i="0" u="none" strike="noStrike" dirty="0">
                          <a:solidFill>
                            <a:srgbClr val="000000"/>
                          </a:solidFill>
                          <a:effectLst/>
                          <a:latin typeface="Calibri" panose="020F0502020204030204" pitchFamily="34" charset="0"/>
                        </a:rPr>
                        <a:t>Solution and Media</a:t>
                      </a:r>
                    </a:p>
                  </a:txBody>
                  <a:tcPr marL="0" marR="0" marT="0" marB="0" anchor="b"/>
                </a:tc>
                <a:tc hMerge="1">
                  <a:txBody>
                    <a:bodyPr/>
                    <a:lstStyle/>
                    <a:p>
                      <a:endParaRPr lang="en-US"/>
                    </a:p>
                  </a:txBody>
                  <a:tcPr/>
                </a:tc>
                <a:tc>
                  <a:txBody>
                    <a:bodyPr/>
                    <a:lstStyle/>
                    <a:p>
                      <a:pPr algn="r" fontAlgn="b"/>
                      <a:endParaRPr lang="en-US"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400" b="0" i="0" u="none" strike="noStrike">
                          <a:solidFill>
                            <a:srgbClr val="000000"/>
                          </a:solidFill>
                          <a:effectLst/>
                          <a:latin typeface="Calibri" panose="020F0502020204030204" pitchFamily="34" charset="0"/>
                        </a:rPr>
                        <a:t>1907</a:t>
                      </a:r>
                    </a:p>
                  </a:txBody>
                  <a:tcPr marL="0" marR="0" marT="0" marB="0" anchor="b"/>
                </a:tc>
                <a:tc>
                  <a:txBody>
                    <a:bodyPr/>
                    <a:lstStyle/>
                    <a:p>
                      <a:pPr algn="r" fontAlgn="b"/>
                      <a:endParaRPr lang="en-US"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400" b="0" i="0" u="none" strike="noStrike" dirty="0">
                          <a:solidFill>
                            <a:srgbClr val="000000"/>
                          </a:solidFill>
                          <a:effectLst/>
                          <a:latin typeface="Calibri" panose="020F0502020204030204" pitchFamily="34" charset="0"/>
                        </a:rPr>
                        <a:t>558</a:t>
                      </a:r>
                    </a:p>
                  </a:txBody>
                  <a:tcPr marL="0" marR="0" marT="0" marB="0" anchor="b"/>
                </a:tc>
                <a:extLst>
                  <a:ext uri="{0D108BD9-81ED-4DB2-BD59-A6C34878D82A}">
                    <a16:rowId xmlns:a16="http://schemas.microsoft.com/office/drawing/2014/main" val="1663221694"/>
                  </a:ext>
                </a:extLst>
              </a:tr>
            </a:tbl>
          </a:graphicData>
        </a:graphic>
      </p:graphicFrame>
    </p:spTree>
    <p:extLst>
      <p:ext uri="{BB962C8B-B14F-4D97-AF65-F5344CB8AC3E}">
        <p14:creationId xmlns:p14="http://schemas.microsoft.com/office/powerpoint/2010/main" val="27106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6</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Figure 2: 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4197294" y="2598065"/>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4197294" y="1708868"/>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4197294" y="819671"/>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9" name="TextBox 8">
            <a:extLst>
              <a:ext uri="{FF2B5EF4-FFF2-40B4-BE49-F238E27FC236}">
                <a16:creationId xmlns:a16="http://schemas.microsoft.com/office/drawing/2014/main" id="{9F906EC8-F7DE-0C40-8AF8-E30B14717BB5}"/>
              </a:ext>
            </a:extLst>
          </p:cNvPr>
          <p:cNvSpPr txBox="1"/>
          <p:nvPr/>
        </p:nvSpPr>
        <p:spPr>
          <a:xfrm>
            <a:off x="1353920" y="2301835"/>
            <a:ext cx="1929387" cy="646331"/>
          </a:xfrm>
          <a:prstGeom prst="rect">
            <a:avLst/>
          </a:prstGeom>
          <a:noFill/>
        </p:spPr>
        <p:txBody>
          <a:bodyPr wrap="square" rtlCol="0">
            <a:spAutoFit/>
          </a:bodyPr>
          <a:lstStyle/>
          <a:p>
            <a:pPr algn="ctr"/>
            <a:r>
              <a:rPr lang="en-US" dirty="0"/>
              <a:t>TFF filter modules</a:t>
            </a:r>
          </a:p>
        </p:txBody>
      </p:sp>
      <p:sp>
        <p:nvSpPr>
          <p:cNvPr id="13" name="TextBox 12">
            <a:extLst>
              <a:ext uri="{FF2B5EF4-FFF2-40B4-BE49-F238E27FC236}">
                <a16:creationId xmlns:a16="http://schemas.microsoft.com/office/drawing/2014/main" id="{BB8D6F3A-074B-9841-91C1-A417238D3FF0}"/>
              </a:ext>
            </a:extLst>
          </p:cNvPr>
          <p:cNvSpPr txBox="1"/>
          <p:nvPr/>
        </p:nvSpPr>
        <p:spPr>
          <a:xfrm>
            <a:off x="696210" y="4127342"/>
            <a:ext cx="2366482" cy="646331"/>
          </a:xfrm>
          <a:prstGeom prst="rect">
            <a:avLst/>
          </a:prstGeom>
          <a:noFill/>
        </p:spPr>
        <p:txBody>
          <a:bodyPr wrap="square" rtlCol="0">
            <a:spAutoFit/>
          </a:bodyPr>
          <a:lstStyle/>
          <a:p>
            <a:pPr algn="ctr"/>
            <a:r>
              <a:rPr lang="en-US" dirty="0"/>
              <a:t>From bioreactor</a:t>
            </a:r>
          </a:p>
          <a:p>
            <a:pPr algn="ctr"/>
            <a:r>
              <a:rPr lang="en-US" dirty="0"/>
              <a:t>90L/min</a:t>
            </a:r>
          </a:p>
        </p:txBody>
      </p:sp>
      <p:sp>
        <p:nvSpPr>
          <p:cNvPr id="14" name="Rounded Rectangle 13">
            <a:extLst>
              <a:ext uri="{FF2B5EF4-FFF2-40B4-BE49-F238E27FC236}">
                <a16:creationId xmlns:a16="http://schemas.microsoft.com/office/drawing/2014/main" id="{7D21E7F5-FABF-0942-A891-5E690EFC63CA}"/>
              </a:ext>
            </a:extLst>
          </p:cNvPr>
          <p:cNvSpPr/>
          <p:nvPr/>
        </p:nvSpPr>
        <p:spPr>
          <a:xfrm>
            <a:off x="4197294" y="3487262"/>
            <a:ext cx="457200"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stCxn id="14" idx="0"/>
            <a:endCxn id="6" idx="2"/>
          </p:cNvCxnSpPr>
          <p:nvPr/>
        </p:nvCxnSpPr>
        <p:spPr>
          <a:xfrm flipV="1">
            <a:off x="4425894" y="3238146"/>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stCxn id="6" idx="0"/>
            <a:endCxn id="7" idx="2"/>
          </p:cNvCxnSpPr>
          <p:nvPr/>
        </p:nvCxnSpPr>
        <p:spPr>
          <a:xfrm flipV="1">
            <a:off x="4425894" y="2348949"/>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stCxn id="7" idx="0"/>
            <a:endCxn id="8" idx="2"/>
          </p:cNvCxnSpPr>
          <p:nvPr/>
        </p:nvCxnSpPr>
        <p:spPr>
          <a:xfrm flipV="1">
            <a:off x="4425894" y="1459752"/>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4654495" y="3682427"/>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4654495" y="2747579"/>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4654495" y="1833179"/>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4654495" y="952335"/>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ED579E8-8CA2-DA4F-8F35-08E108D6EBE4}"/>
              </a:ext>
            </a:extLst>
          </p:cNvPr>
          <p:cNvGrpSpPr/>
          <p:nvPr/>
        </p:nvGrpSpPr>
        <p:grpSpPr>
          <a:xfrm>
            <a:off x="5012530" y="3587182"/>
            <a:ext cx="387190" cy="207818"/>
            <a:chOff x="3030263" y="2822231"/>
            <a:chExt cx="387190" cy="207818"/>
          </a:xfrm>
        </p:grpSpPr>
        <p:sp>
          <p:nvSpPr>
            <p:cNvPr id="26" name="Oval 25">
              <a:extLst>
                <a:ext uri="{FF2B5EF4-FFF2-40B4-BE49-F238E27FC236}">
                  <a16:creationId xmlns:a16="http://schemas.microsoft.com/office/drawing/2014/main" id="{E93CE575-27FD-C54A-9FF0-9926288F7BBB}"/>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B8B5784-FD1A-B742-83D8-DF9EE8AD30E5}"/>
              </a:ext>
            </a:extLst>
          </p:cNvPr>
          <p:cNvGrpSpPr/>
          <p:nvPr/>
        </p:nvGrpSpPr>
        <p:grpSpPr>
          <a:xfrm>
            <a:off x="5012530" y="2658506"/>
            <a:ext cx="387190" cy="207818"/>
            <a:chOff x="3030263" y="2822231"/>
            <a:chExt cx="387190" cy="207818"/>
          </a:xfrm>
        </p:grpSpPr>
        <p:sp>
          <p:nvSpPr>
            <p:cNvPr id="30" name="Oval 29">
              <a:extLst>
                <a:ext uri="{FF2B5EF4-FFF2-40B4-BE49-F238E27FC236}">
                  <a16:creationId xmlns:a16="http://schemas.microsoft.com/office/drawing/2014/main" id="{C16F3139-4A57-8B47-86D9-6D41CB319D2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2836704-474D-E642-9DA7-0DAE9A10D23C}"/>
              </a:ext>
            </a:extLst>
          </p:cNvPr>
          <p:cNvGrpSpPr/>
          <p:nvPr/>
        </p:nvGrpSpPr>
        <p:grpSpPr>
          <a:xfrm>
            <a:off x="5012530" y="1746585"/>
            <a:ext cx="387190" cy="207818"/>
            <a:chOff x="3030263" y="2822231"/>
            <a:chExt cx="387190" cy="207818"/>
          </a:xfrm>
        </p:grpSpPr>
        <p:sp>
          <p:nvSpPr>
            <p:cNvPr id="33" name="Oval 32">
              <a:extLst>
                <a:ext uri="{FF2B5EF4-FFF2-40B4-BE49-F238E27FC236}">
                  <a16:creationId xmlns:a16="http://schemas.microsoft.com/office/drawing/2014/main" id="{7A4043F9-8201-3D41-A712-D379768AA3F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7E9E8D2F-9A5E-B44C-8E6D-F9E634D4FDA7}"/>
              </a:ext>
            </a:extLst>
          </p:cNvPr>
          <p:cNvGrpSpPr/>
          <p:nvPr/>
        </p:nvGrpSpPr>
        <p:grpSpPr>
          <a:xfrm>
            <a:off x="5012530" y="857976"/>
            <a:ext cx="387190" cy="207818"/>
            <a:chOff x="3030263" y="2822231"/>
            <a:chExt cx="387190" cy="207818"/>
          </a:xfrm>
        </p:grpSpPr>
        <p:sp>
          <p:nvSpPr>
            <p:cNvPr id="36" name="Oval 35">
              <a:extLst>
                <a:ext uri="{FF2B5EF4-FFF2-40B4-BE49-F238E27FC236}">
                  <a16:creationId xmlns:a16="http://schemas.microsoft.com/office/drawing/2014/main" id="{5F82C33E-541C-A840-ACD3-501C29E26DD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Oval 37">
            <a:extLst>
              <a:ext uri="{FF2B5EF4-FFF2-40B4-BE49-F238E27FC236}">
                <a16:creationId xmlns:a16="http://schemas.microsoft.com/office/drawing/2014/main" id="{4BCF5846-6353-E840-A2C3-D6232ACCC3C3}"/>
              </a:ext>
            </a:extLst>
          </p:cNvPr>
          <p:cNvSpPr/>
          <p:nvPr/>
        </p:nvSpPr>
        <p:spPr>
          <a:xfrm>
            <a:off x="6291747" y="2283130"/>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5297803" y="950309"/>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5297803" y="1838918"/>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stCxn id="30" idx="6"/>
          </p:cNvCxnSpPr>
          <p:nvPr/>
        </p:nvCxnSpPr>
        <p:spPr>
          <a:xfrm flipV="1">
            <a:off x="5297803" y="2372694"/>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stCxn id="26" idx="6"/>
            <a:endCxn id="38" idx="2"/>
          </p:cNvCxnSpPr>
          <p:nvPr/>
        </p:nvCxnSpPr>
        <p:spPr>
          <a:xfrm flipV="1">
            <a:off x="5297803" y="2348948"/>
            <a:ext cx="993943" cy="1330566"/>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endCxn id="14" idx="2"/>
          </p:cNvCxnSpPr>
          <p:nvPr/>
        </p:nvCxnSpPr>
        <p:spPr>
          <a:xfrm flipV="1">
            <a:off x="2516613" y="4127342"/>
            <a:ext cx="1909281" cy="3682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stCxn id="8" idx="0"/>
          </p:cNvCxnSpPr>
          <p:nvPr/>
        </p:nvCxnSpPr>
        <p:spPr>
          <a:xfrm rot="16200000" flipV="1">
            <a:off x="3295649" y="-310575"/>
            <a:ext cx="153211" cy="210728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9806D16-6B78-2A4D-892D-FD6DDBFBECC6}"/>
              </a:ext>
            </a:extLst>
          </p:cNvPr>
          <p:cNvSpPr txBox="1"/>
          <p:nvPr/>
        </p:nvSpPr>
        <p:spPr>
          <a:xfrm>
            <a:off x="1158061" y="614488"/>
            <a:ext cx="1677798" cy="369332"/>
          </a:xfrm>
          <a:prstGeom prst="rect">
            <a:avLst/>
          </a:prstGeom>
          <a:noFill/>
        </p:spPr>
        <p:txBody>
          <a:bodyPr wrap="square" rtlCol="0">
            <a:spAutoFit/>
          </a:bodyPr>
          <a:lstStyle/>
          <a:p>
            <a:pPr algn="ctr"/>
            <a:r>
              <a:rPr lang="en-US" dirty="0"/>
              <a:t>To bioreactor</a:t>
            </a:r>
          </a:p>
        </p:txBody>
      </p:sp>
      <p:sp>
        <p:nvSpPr>
          <p:cNvPr id="52" name="TextBox 51">
            <a:extLst>
              <a:ext uri="{FF2B5EF4-FFF2-40B4-BE49-F238E27FC236}">
                <a16:creationId xmlns:a16="http://schemas.microsoft.com/office/drawing/2014/main" id="{1BB413DF-AAA5-8549-B5DC-5D3085CFE224}"/>
              </a:ext>
            </a:extLst>
          </p:cNvPr>
          <p:cNvSpPr txBox="1"/>
          <p:nvPr/>
        </p:nvSpPr>
        <p:spPr>
          <a:xfrm>
            <a:off x="5660415" y="1642138"/>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cxnSp>
        <p:nvCxnSpPr>
          <p:cNvPr id="60" name="Straight Arrow Connector 59">
            <a:extLst>
              <a:ext uri="{FF2B5EF4-FFF2-40B4-BE49-F238E27FC236}">
                <a16:creationId xmlns:a16="http://schemas.microsoft.com/office/drawing/2014/main" id="{EF29AC4F-FAF3-994C-88A1-6A4B7CC3FAB8}"/>
              </a:ext>
            </a:extLst>
          </p:cNvPr>
          <p:cNvCxnSpPr>
            <a:stCxn id="9" idx="3"/>
            <a:endCxn id="8" idx="1"/>
          </p:cNvCxnSpPr>
          <p:nvPr/>
        </p:nvCxnSpPr>
        <p:spPr>
          <a:xfrm flipV="1">
            <a:off x="3283307" y="1139711"/>
            <a:ext cx="913987" cy="1485290"/>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stCxn id="9" idx="3"/>
            <a:endCxn id="7" idx="1"/>
          </p:cNvCxnSpPr>
          <p:nvPr/>
        </p:nvCxnSpPr>
        <p:spPr>
          <a:xfrm flipV="1">
            <a:off x="3283307" y="2028908"/>
            <a:ext cx="913987" cy="59609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stCxn id="9" idx="3"/>
          </p:cNvCxnSpPr>
          <p:nvPr/>
        </p:nvCxnSpPr>
        <p:spPr>
          <a:xfrm>
            <a:off x="3283307" y="2625001"/>
            <a:ext cx="799895" cy="360791"/>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stCxn id="9" idx="3"/>
            <a:endCxn id="14" idx="1"/>
          </p:cNvCxnSpPr>
          <p:nvPr/>
        </p:nvCxnSpPr>
        <p:spPr>
          <a:xfrm>
            <a:off x="3283307" y="2625001"/>
            <a:ext cx="913987" cy="1182301"/>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F95C2E41-609F-8C49-8BE4-21492EE768E8}"/>
              </a:ext>
            </a:extLst>
          </p:cNvPr>
          <p:cNvGrpSpPr/>
          <p:nvPr/>
        </p:nvGrpSpPr>
        <p:grpSpPr>
          <a:xfrm>
            <a:off x="3166965" y="4278836"/>
            <a:ext cx="899951" cy="566238"/>
            <a:chOff x="3030263" y="2822231"/>
            <a:chExt cx="387190" cy="207818"/>
          </a:xfrm>
        </p:grpSpPr>
        <p:sp>
          <p:nvSpPr>
            <p:cNvPr id="68" name="Oval 67">
              <a:extLst>
                <a:ext uri="{FF2B5EF4-FFF2-40B4-BE49-F238E27FC236}">
                  <a16:creationId xmlns:a16="http://schemas.microsoft.com/office/drawing/2014/main" id="{C1E8379D-D666-7245-B0DD-66E23A146B3D}"/>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8A692D9A-CE8B-8C48-A974-B47B5C08915C}"/>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198541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64F012-1A28-488F-B3BA-0504F50A3D58}"/>
              </a:ext>
            </a:extLst>
          </p:cNvPr>
          <p:cNvSpPr>
            <a:spLocks noGrp="1"/>
          </p:cNvSpPr>
          <p:nvPr>
            <p:ph type="sldNum" sz="quarter" idx="4"/>
          </p:nvPr>
        </p:nvSpPr>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11D9BF32-A7F4-4B1B-A6E7-0042391466D0}"/>
              </a:ext>
            </a:extLst>
          </p:cNvPr>
          <p:cNvSpPr>
            <a:spLocks noGrp="1"/>
          </p:cNvSpPr>
          <p:nvPr>
            <p:ph type="title"/>
          </p:nvPr>
        </p:nvSpPr>
        <p:spPr/>
        <p:txBody>
          <a:bodyPr/>
          <a:lstStyle/>
          <a:p>
            <a:r>
              <a:rPr lang="en-US" dirty="0"/>
              <a:t>Figure 3: Virus Inactivation Skid for Batch or Continuous</a:t>
            </a:r>
          </a:p>
        </p:txBody>
      </p:sp>
      <p:sp>
        <p:nvSpPr>
          <p:cNvPr id="4" name="Slide Number Placeholder 2">
            <a:extLst>
              <a:ext uri="{FF2B5EF4-FFF2-40B4-BE49-F238E27FC236}">
                <a16:creationId xmlns:a16="http://schemas.microsoft.com/office/drawing/2014/main" id="{693B1692-97B8-429B-B0A3-AE3B23DBAC3E}"/>
              </a:ext>
            </a:extLst>
          </p:cNvPr>
          <p:cNvSpPr txBox="1">
            <a:spLocks/>
          </p:cNvSpPr>
          <p:nvPr/>
        </p:nvSpPr>
        <p:spPr>
          <a:xfrm>
            <a:off x="318375" y="4846754"/>
            <a:ext cx="396000" cy="162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4F54F3-C349-4609-AFEE-01462D5C7942}" type="slidenum">
              <a:rPr lang="en-GB"/>
              <a:pPr/>
              <a:t>7</a:t>
            </a:fld>
            <a:endParaRPr lang="en-GB"/>
          </a:p>
        </p:txBody>
      </p:sp>
      <p:cxnSp>
        <p:nvCxnSpPr>
          <p:cNvPr id="7" name="Straight Arrow Connector 6">
            <a:extLst>
              <a:ext uri="{FF2B5EF4-FFF2-40B4-BE49-F238E27FC236}">
                <a16:creationId xmlns:a16="http://schemas.microsoft.com/office/drawing/2014/main" id="{E9FA1958-7AA2-4B8A-AD05-11D6EC33F9D1}"/>
              </a:ext>
            </a:extLst>
          </p:cNvPr>
          <p:cNvCxnSpPr>
            <a:cxnSpLocks/>
          </p:cNvCxnSpPr>
          <p:nvPr/>
        </p:nvCxnSpPr>
        <p:spPr>
          <a:xfrm>
            <a:off x="5563276" y="3854520"/>
            <a:ext cx="354192" cy="688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48EAA3E-5D69-4670-84DB-5898921F083E}"/>
              </a:ext>
            </a:extLst>
          </p:cNvPr>
          <p:cNvSpPr txBox="1"/>
          <p:nvPr/>
        </p:nvSpPr>
        <p:spPr>
          <a:xfrm>
            <a:off x="3780206" y="3090770"/>
            <a:ext cx="1880187" cy="369332"/>
          </a:xfrm>
          <a:prstGeom prst="rect">
            <a:avLst/>
          </a:prstGeom>
          <a:noFill/>
        </p:spPr>
        <p:txBody>
          <a:bodyPr wrap="square" rtlCol="0">
            <a:spAutoFit/>
          </a:bodyPr>
          <a:lstStyle/>
          <a:p>
            <a:pPr algn="ctr"/>
            <a:r>
              <a:rPr lang="en-US" dirty="0"/>
              <a:t>Water (for PFR)</a:t>
            </a:r>
          </a:p>
        </p:txBody>
      </p:sp>
      <p:sp>
        <p:nvSpPr>
          <p:cNvPr id="13" name="TextBox 12">
            <a:extLst>
              <a:ext uri="{FF2B5EF4-FFF2-40B4-BE49-F238E27FC236}">
                <a16:creationId xmlns:a16="http://schemas.microsoft.com/office/drawing/2014/main" id="{12021B99-D54E-4934-8E73-355B2845D54A}"/>
              </a:ext>
            </a:extLst>
          </p:cNvPr>
          <p:cNvSpPr txBox="1"/>
          <p:nvPr/>
        </p:nvSpPr>
        <p:spPr>
          <a:xfrm>
            <a:off x="4776857" y="1289367"/>
            <a:ext cx="633507" cy="369332"/>
          </a:xfrm>
          <a:prstGeom prst="rect">
            <a:avLst/>
          </a:prstGeom>
          <a:noFill/>
        </p:spPr>
        <p:txBody>
          <a:bodyPr wrap="none" rtlCol="0">
            <a:spAutoFit/>
          </a:bodyPr>
          <a:lstStyle/>
          <a:p>
            <a:r>
              <a:rPr lang="en-US" dirty="0"/>
              <a:t>Acid</a:t>
            </a:r>
          </a:p>
        </p:txBody>
      </p:sp>
      <p:sp>
        <p:nvSpPr>
          <p:cNvPr id="14" name="TextBox 13">
            <a:extLst>
              <a:ext uri="{FF2B5EF4-FFF2-40B4-BE49-F238E27FC236}">
                <a16:creationId xmlns:a16="http://schemas.microsoft.com/office/drawing/2014/main" id="{2DD20626-CA9C-467E-AD3D-1574A1DD1F72}"/>
              </a:ext>
            </a:extLst>
          </p:cNvPr>
          <p:cNvSpPr txBox="1"/>
          <p:nvPr/>
        </p:nvSpPr>
        <p:spPr>
          <a:xfrm>
            <a:off x="4306809" y="3703507"/>
            <a:ext cx="1493895" cy="369332"/>
          </a:xfrm>
          <a:prstGeom prst="rect">
            <a:avLst/>
          </a:prstGeom>
          <a:noFill/>
        </p:spPr>
        <p:txBody>
          <a:bodyPr wrap="square" rtlCol="0">
            <a:spAutoFit/>
          </a:bodyPr>
          <a:lstStyle/>
          <a:p>
            <a:pPr algn="ctr"/>
            <a:r>
              <a:rPr lang="en-US" dirty="0"/>
              <a:t>Base</a:t>
            </a:r>
          </a:p>
        </p:txBody>
      </p:sp>
      <p:sp>
        <p:nvSpPr>
          <p:cNvPr id="26" name="TextBox 25">
            <a:extLst>
              <a:ext uri="{FF2B5EF4-FFF2-40B4-BE49-F238E27FC236}">
                <a16:creationId xmlns:a16="http://schemas.microsoft.com/office/drawing/2014/main" id="{FF60FCCE-9EF1-4A5F-8016-B137AE651C5A}"/>
              </a:ext>
            </a:extLst>
          </p:cNvPr>
          <p:cNvSpPr txBox="1"/>
          <p:nvPr/>
        </p:nvSpPr>
        <p:spPr>
          <a:xfrm>
            <a:off x="3435224" y="676630"/>
            <a:ext cx="2146806" cy="369332"/>
          </a:xfrm>
          <a:prstGeom prst="rect">
            <a:avLst/>
          </a:prstGeom>
          <a:noFill/>
        </p:spPr>
        <p:txBody>
          <a:bodyPr wrap="none" rtlCol="0">
            <a:spAutoFit/>
          </a:bodyPr>
          <a:lstStyle/>
          <a:p>
            <a:pPr algn="ctr"/>
            <a:r>
              <a:rPr lang="en-US"/>
              <a:t>From </a:t>
            </a:r>
            <a:r>
              <a:rPr lang="en-US" err="1"/>
              <a:t>ProA</a:t>
            </a:r>
            <a:r>
              <a:rPr lang="en-US"/>
              <a:t> Column</a:t>
            </a:r>
          </a:p>
        </p:txBody>
      </p:sp>
      <p:sp>
        <p:nvSpPr>
          <p:cNvPr id="34" name="Oval 33">
            <a:extLst>
              <a:ext uri="{FF2B5EF4-FFF2-40B4-BE49-F238E27FC236}">
                <a16:creationId xmlns:a16="http://schemas.microsoft.com/office/drawing/2014/main" id="{920ED7C8-101B-4D31-8E3D-9B2976A4E8EE}"/>
              </a:ext>
            </a:extLst>
          </p:cNvPr>
          <p:cNvSpPr/>
          <p:nvPr/>
        </p:nvSpPr>
        <p:spPr>
          <a:xfrm>
            <a:off x="6790415" y="358362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3674A88-52E0-450A-B653-18EBE1B976EE}"/>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9A5F6E31-ACFC-4F7E-BFF1-404E67F96DE8}"/>
              </a:ext>
            </a:extLst>
          </p:cNvPr>
          <p:cNvCxnSpPr>
            <a:cxnSpLocks/>
            <a:endCxn id="35" idx="0"/>
          </p:cNvCxnSpPr>
          <p:nvPr/>
        </p:nvCxnSpPr>
        <p:spPr>
          <a:xfrm>
            <a:off x="5918502" y="795174"/>
            <a:ext cx="1203640" cy="499186"/>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ED70ABF-ED5B-417D-AF5C-0B58B1DB11E7}"/>
              </a:ext>
            </a:extLst>
          </p:cNvPr>
          <p:cNvCxnSpPr>
            <a:cxnSpLocks/>
            <a:stCxn id="35" idx="3"/>
            <a:endCxn id="72" idx="0"/>
          </p:cNvCxnSpPr>
          <p:nvPr/>
        </p:nvCxnSpPr>
        <p:spPr>
          <a:xfrm rot="16200000" flipH="1">
            <a:off x="6795026" y="1863313"/>
            <a:ext cx="447738" cy="170214"/>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06B194D-0300-41B8-AB97-0BB39B1F59B4}"/>
              </a:ext>
            </a:extLst>
          </p:cNvPr>
          <p:cNvCxnSpPr>
            <a:cxnSpLocks/>
            <a:stCxn id="35" idx="5"/>
          </p:cNvCxnSpPr>
          <p:nvPr/>
        </p:nvCxnSpPr>
        <p:spPr>
          <a:xfrm rot="16200000" flipH="1">
            <a:off x="7412035" y="1623011"/>
            <a:ext cx="577802" cy="78088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EC858A54-76E2-4B2C-861B-1F8CA3D0F7D5}"/>
              </a:ext>
            </a:extLst>
          </p:cNvPr>
          <p:cNvCxnSpPr>
            <a:cxnSpLocks/>
            <a:stCxn id="72" idx="2"/>
            <a:endCxn id="34" idx="1"/>
          </p:cNvCxnSpPr>
          <p:nvPr/>
        </p:nvCxnSpPr>
        <p:spPr>
          <a:xfrm rot="5400000">
            <a:off x="6680028" y="3233454"/>
            <a:ext cx="612381" cy="235568"/>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9EAE652D-3CF6-40D4-B3FA-BC809D476783}"/>
              </a:ext>
            </a:extLst>
          </p:cNvPr>
          <p:cNvCxnSpPr>
            <a:stCxn id="34" idx="5"/>
          </p:cNvCxnSpPr>
          <p:nvPr/>
        </p:nvCxnSpPr>
        <p:spPr>
          <a:xfrm rot="16200000" flipH="1">
            <a:off x="7363909" y="3895043"/>
            <a:ext cx="375595" cy="61312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E67E2-37CA-4430-9A8C-84EDB0502D6F}"/>
              </a:ext>
            </a:extLst>
          </p:cNvPr>
          <p:cNvCxnSpPr>
            <a:stCxn id="34" idx="3"/>
          </p:cNvCxnSpPr>
          <p:nvPr/>
        </p:nvCxnSpPr>
        <p:spPr>
          <a:xfrm>
            <a:off x="6868434" y="401381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833C816-C995-4380-8156-06260AA5B6C2}"/>
              </a:ext>
            </a:extLst>
          </p:cNvPr>
          <p:cNvGrpSpPr/>
          <p:nvPr/>
        </p:nvGrpSpPr>
        <p:grpSpPr>
          <a:xfrm>
            <a:off x="7935645" y="2368152"/>
            <a:ext cx="457200" cy="304800"/>
            <a:chOff x="6612318" y="4679156"/>
            <a:chExt cx="457200" cy="304800"/>
          </a:xfrm>
        </p:grpSpPr>
        <p:cxnSp>
          <p:nvCxnSpPr>
            <p:cNvPr id="44" name="Straight Connector 43">
              <a:extLst>
                <a:ext uri="{FF2B5EF4-FFF2-40B4-BE49-F238E27FC236}">
                  <a16:creationId xmlns:a16="http://schemas.microsoft.com/office/drawing/2014/main" id="{92D24026-FE1C-422A-9B5B-C8C3BB798CA2}"/>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34662A1-F04C-4838-BA14-B8624BF8D4B0}"/>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B78A0DC-6B89-4B7A-80A4-3EEC00170379}"/>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5F89F1F9-F187-4901-AB51-E2DBB8EDC041}"/>
              </a:ext>
            </a:extLst>
          </p:cNvPr>
          <p:cNvSpPr txBox="1"/>
          <p:nvPr/>
        </p:nvSpPr>
        <p:spPr>
          <a:xfrm>
            <a:off x="7948311" y="4204739"/>
            <a:ext cx="979755" cy="369332"/>
          </a:xfrm>
          <a:prstGeom prst="rect">
            <a:avLst/>
          </a:prstGeom>
          <a:noFill/>
        </p:spPr>
        <p:txBody>
          <a:bodyPr wrap="none" rtlCol="0">
            <a:spAutoFit/>
          </a:bodyPr>
          <a:lstStyle/>
          <a:p>
            <a:r>
              <a:rPr lang="en-US"/>
              <a:t>Product</a:t>
            </a:r>
          </a:p>
        </p:txBody>
      </p:sp>
      <p:cxnSp>
        <p:nvCxnSpPr>
          <p:cNvPr id="48" name="Connector: Elbow 47">
            <a:extLst>
              <a:ext uri="{FF2B5EF4-FFF2-40B4-BE49-F238E27FC236}">
                <a16:creationId xmlns:a16="http://schemas.microsoft.com/office/drawing/2014/main" id="{3CE6C91A-E1A2-4D76-9E0F-E6BDE5279BE3}"/>
              </a:ext>
            </a:extLst>
          </p:cNvPr>
          <p:cNvCxnSpPr>
            <a:cxnSpLocks/>
            <a:stCxn id="50" idx="6"/>
          </p:cNvCxnSpPr>
          <p:nvPr/>
        </p:nvCxnSpPr>
        <p:spPr>
          <a:xfrm flipV="1">
            <a:off x="5918503" y="1305844"/>
            <a:ext cx="1206463" cy="155617"/>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DE278910-246A-40E9-A068-4B2456D4B5A5}"/>
              </a:ext>
            </a:extLst>
          </p:cNvPr>
          <p:cNvGrpSpPr/>
          <p:nvPr/>
        </p:nvGrpSpPr>
        <p:grpSpPr>
          <a:xfrm>
            <a:off x="5562244" y="1303031"/>
            <a:ext cx="356259" cy="449101"/>
            <a:chOff x="4471713" y="4397646"/>
            <a:chExt cx="356259" cy="449101"/>
          </a:xfrm>
        </p:grpSpPr>
        <p:sp>
          <p:nvSpPr>
            <p:cNvPr id="50" name="Oval 49">
              <a:extLst>
                <a:ext uri="{FF2B5EF4-FFF2-40B4-BE49-F238E27FC236}">
                  <a16:creationId xmlns:a16="http://schemas.microsoft.com/office/drawing/2014/main" id="{A435C811-5099-4462-B5BA-FF4EB35EDDE2}"/>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AA84154-C330-4748-AADF-849732B4CE72}"/>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88C71E47-FC02-49CB-82FC-A2F2DE579AEC}"/>
              </a:ext>
            </a:extLst>
          </p:cNvPr>
          <p:cNvGrpSpPr/>
          <p:nvPr/>
        </p:nvGrpSpPr>
        <p:grpSpPr>
          <a:xfrm>
            <a:off x="5572980" y="3115494"/>
            <a:ext cx="356259" cy="449101"/>
            <a:chOff x="4471713" y="4397646"/>
            <a:chExt cx="356259" cy="449101"/>
          </a:xfrm>
        </p:grpSpPr>
        <p:sp>
          <p:nvSpPr>
            <p:cNvPr id="53" name="Oval 52">
              <a:extLst>
                <a:ext uri="{FF2B5EF4-FFF2-40B4-BE49-F238E27FC236}">
                  <a16:creationId xmlns:a16="http://schemas.microsoft.com/office/drawing/2014/main" id="{A79AD016-A2D3-49DD-9FFF-68949EFCDA3E}"/>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27FF3DDD-FA12-4141-8266-207C9FB3E57A}"/>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id="{8A5C0850-C74B-45E0-9C10-4154D2C0C411}"/>
              </a:ext>
            </a:extLst>
          </p:cNvPr>
          <p:cNvCxnSpPr>
            <a:cxnSpLocks/>
            <a:stCxn id="35" idx="7"/>
            <a:endCxn id="35" idx="5"/>
          </p:cNvCxnSpPr>
          <p:nvPr/>
        </p:nvCxnSpPr>
        <p:spPr>
          <a:xfrm>
            <a:off x="7310496" y="1368169"/>
            <a:ext cx="0"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A16FBC0-6A96-4DE0-967F-0580E303F21E}"/>
              </a:ext>
            </a:extLst>
          </p:cNvPr>
          <p:cNvCxnSpPr>
            <a:cxnSpLocks/>
            <a:stCxn id="35" idx="0"/>
            <a:endCxn id="35" idx="3"/>
          </p:cNvCxnSpPr>
          <p:nvPr/>
        </p:nvCxnSpPr>
        <p:spPr>
          <a:xfrm flipH="1">
            <a:off x="6933788" y="1294360"/>
            <a:ext cx="188354" cy="430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B3B8D4A-6175-4CC2-AF91-1B8052CCAFA1}"/>
              </a:ext>
            </a:extLst>
          </p:cNvPr>
          <p:cNvCxnSpPr>
            <a:cxnSpLocks/>
            <a:stCxn id="34" idx="7"/>
            <a:endCxn id="34" idx="3"/>
          </p:cNvCxnSpPr>
          <p:nvPr/>
        </p:nvCxnSpPr>
        <p:spPr>
          <a:xfrm flipH="1">
            <a:off x="6868434" y="365742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1C6B510-8D22-4295-A28E-94AA5C5E9436}"/>
              </a:ext>
            </a:extLst>
          </p:cNvPr>
          <p:cNvCxnSpPr>
            <a:cxnSpLocks/>
            <a:stCxn id="34" idx="1"/>
            <a:endCxn id="34" idx="5"/>
          </p:cNvCxnSpPr>
          <p:nvPr/>
        </p:nvCxnSpPr>
        <p:spPr>
          <a:xfrm>
            <a:off x="6868434" y="365742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82FFB03-1486-405D-92C6-B7A3A3B8EA06}"/>
              </a:ext>
            </a:extLst>
          </p:cNvPr>
          <p:cNvSpPr/>
          <p:nvPr/>
        </p:nvSpPr>
        <p:spPr>
          <a:xfrm>
            <a:off x="6362399" y="2172290"/>
            <a:ext cx="1483206" cy="87275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Plug Flow Reactor or Tank</a:t>
            </a:r>
          </a:p>
        </p:txBody>
      </p:sp>
      <p:grpSp>
        <p:nvGrpSpPr>
          <p:cNvPr id="81" name="Group 80">
            <a:extLst>
              <a:ext uri="{FF2B5EF4-FFF2-40B4-BE49-F238E27FC236}">
                <a16:creationId xmlns:a16="http://schemas.microsoft.com/office/drawing/2014/main" id="{C8BC10D5-12FE-4818-AD1F-7249AC5FAA23}"/>
              </a:ext>
            </a:extLst>
          </p:cNvPr>
          <p:cNvGrpSpPr/>
          <p:nvPr/>
        </p:nvGrpSpPr>
        <p:grpSpPr>
          <a:xfrm>
            <a:off x="6599588" y="4677690"/>
            <a:ext cx="457200" cy="304800"/>
            <a:chOff x="6612318" y="4679156"/>
            <a:chExt cx="457200" cy="304800"/>
          </a:xfrm>
        </p:grpSpPr>
        <p:cxnSp>
          <p:nvCxnSpPr>
            <p:cNvPr id="82" name="Straight Connector 81">
              <a:extLst>
                <a:ext uri="{FF2B5EF4-FFF2-40B4-BE49-F238E27FC236}">
                  <a16:creationId xmlns:a16="http://schemas.microsoft.com/office/drawing/2014/main" id="{64236969-0D2F-4B86-9362-BBA03A70E599}"/>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DB86D80-5F5A-445D-959F-C8049D8F0A5B}"/>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FC85468-3232-4FB0-B53D-4E0D9363B487}"/>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1A3879D0-D364-4EFF-934C-DD5947391E51}"/>
              </a:ext>
            </a:extLst>
          </p:cNvPr>
          <p:cNvGrpSpPr/>
          <p:nvPr/>
        </p:nvGrpSpPr>
        <p:grpSpPr>
          <a:xfrm>
            <a:off x="5562244" y="3689859"/>
            <a:ext cx="356259" cy="449101"/>
            <a:chOff x="4471713" y="4397646"/>
            <a:chExt cx="356259" cy="449101"/>
          </a:xfrm>
        </p:grpSpPr>
        <p:sp>
          <p:nvSpPr>
            <p:cNvPr id="88" name="Oval 87">
              <a:extLst>
                <a:ext uri="{FF2B5EF4-FFF2-40B4-BE49-F238E27FC236}">
                  <a16:creationId xmlns:a16="http://schemas.microsoft.com/office/drawing/2014/main" id="{032CEDCC-8940-4DE8-9218-87968977F4C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B4BBA95A-8A22-4FF8-B1FC-C786C1D0E9A8}"/>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92" name="Straight Arrow Connector 91">
            <a:extLst>
              <a:ext uri="{FF2B5EF4-FFF2-40B4-BE49-F238E27FC236}">
                <a16:creationId xmlns:a16="http://schemas.microsoft.com/office/drawing/2014/main" id="{2291C33A-9A77-4731-A761-C2C53F9DF3D7}"/>
              </a:ext>
            </a:extLst>
          </p:cNvPr>
          <p:cNvCxnSpPr>
            <a:cxnSpLocks/>
            <a:stCxn id="88" idx="6"/>
          </p:cNvCxnSpPr>
          <p:nvPr/>
        </p:nvCxnSpPr>
        <p:spPr>
          <a:xfrm>
            <a:off x="5918502" y="3848288"/>
            <a:ext cx="762700" cy="105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A43990C-F407-435B-92E2-991B80EB5CA6}"/>
                  </a:ext>
                </a:extLst>
              </p:cNvPr>
              <p:cNvSpPr txBox="1"/>
              <p:nvPr/>
            </p:nvSpPr>
            <p:spPr>
              <a:xfrm>
                <a:off x="792129" y="1739308"/>
                <a:ext cx="1757425" cy="369332"/>
              </a:xfrm>
              <a:prstGeom prst="rect">
                <a:avLst/>
              </a:prstGeom>
              <a:noFill/>
            </p:spPr>
            <p:txBody>
              <a:bodyPr wrap="square" rtlCol="0">
                <a:spAutoFit/>
              </a:bodyPr>
              <a:lstStyle/>
              <a:p>
                <a:pPr algn="ctr"/>
                <a:r>
                  <a:rPr lang="en-US"/>
                  <a:t>Q</a:t>
                </a:r>
                <a:r>
                  <a:rPr lang="en-US" baseline="-25000" err="1"/>
                  <a:t>acid</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3" name="TextBox 62">
                <a:extLst>
                  <a:ext uri="{FF2B5EF4-FFF2-40B4-BE49-F238E27FC236}">
                    <a16:creationId xmlns:a16="http://schemas.microsoft.com/office/drawing/2014/main" id="{7A43990C-F407-435B-92E2-991B80EB5CA6}"/>
                  </a:ext>
                </a:extLst>
              </p:cNvPr>
              <p:cNvSpPr txBox="1">
                <a:spLocks noRot="1" noChangeAspect="1" noMove="1" noResize="1" noEditPoints="1" noAdjustHandles="1" noChangeArrowheads="1" noChangeShapeType="1" noTextEdit="1"/>
              </p:cNvSpPr>
              <p:nvPr/>
            </p:nvSpPr>
            <p:spPr>
              <a:xfrm>
                <a:off x="792129" y="1739308"/>
                <a:ext cx="1757425" cy="369332"/>
              </a:xfrm>
              <a:prstGeom prst="rect">
                <a:avLst/>
              </a:prstGeom>
              <a:blipFill>
                <a:blip r:embed="rId3"/>
                <a:stretch>
                  <a:fillRect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F9438AB-2866-40E3-878C-FC15A4DF3053}"/>
                  </a:ext>
                </a:extLst>
              </p:cNvPr>
              <p:cNvSpPr txBox="1"/>
              <p:nvPr/>
            </p:nvSpPr>
            <p:spPr>
              <a:xfrm>
                <a:off x="877427" y="2114559"/>
                <a:ext cx="1586829" cy="369332"/>
              </a:xfrm>
              <a:prstGeom prst="rect">
                <a:avLst/>
              </a:prstGeom>
              <a:noFill/>
            </p:spPr>
            <p:txBody>
              <a:bodyPr wrap="square" rtlCol="0">
                <a:spAutoFit/>
              </a:bodyPr>
              <a:lstStyle/>
              <a:p>
                <a:pPr algn="ctr"/>
                <a:r>
                  <a:rPr lang="en-US" err="1"/>
                  <a:t>Q</a:t>
                </a:r>
                <a:r>
                  <a:rPr lang="en-US" baseline="-25000" err="1"/>
                  <a:t>base</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4" name="TextBox 63">
                <a:extLst>
                  <a:ext uri="{FF2B5EF4-FFF2-40B4-BE49-F238E27FC236}">
                    <a16:creationId xmlns:a16="http://schemas.microsoft.com/office/drawing/2014/main" id="{1F9438AB-2866-40E3-878C-FC15A4DF3053}"/>
                  </a:ext>
                </a:extLst>
              </p:cNvPr>
              <p:cNvSpPr txBox="1">
                <a:spLocks noRot="1" noChangeAspect="1" noMove="1" noResize="1" noEditPoints="1" noAdjustHandles="1" noChangeArrowheads="1" noChangeShapeType="1" noTextEdit="1"/>
              </p:cNvSpPr>
              <p:nvPr/>
            </p:nvSpPr>
            <p:spPr>
              <a:xfrm>
                <a:off x="877427" y="2114559"/>
                <a:ext cx="1586829" cy="369332"/>
              </a:xfrm>
              <a:prstGeom prst="rect">
                <a:avLst/>
              </a:prstGeom>
              <a:blipFill>
                <a:blip r:embed="rId4"/>
                <a:stretch>
                  <a:fillRect t="-6897"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44CA6C-ED79-4356-89B3-87D9D3914C62}"/>
                  </a:ext>
                </a:extLst>
              </p:cNvPr>
              <p:cNvSpPr txBox="1"/>
              <p:nvPr/>
            </p:nvSpPr>
            <p:spPr>
              <a:xfrm>
                <a:off x="-157723" y="3185268"/>
                <a:ext cx="3622292" cy="923330"/>
              </a:xfrm>
              <a:prstGeom prst="rect">
                <a:avLst/>
              </a:prstGeom>
              <a:noFill/>
            </p:spPr>
            <p:txBody>
              <a:bodyPr wrap="square" rtlCol="0">
                <a:spAutoFit/>
              </a:bodyPr>
              <a:lstStyle/>
              <a:p>
                <a:pPr algn="ctr"/>
                <a:r>
                  <a:rPr lang="en-US" err="1"/>
                  <a:t>Q</a:t>
                </a:r>
                <a:r>
                  <a:rPr lang="en-US" baseline="-25000" err="1"/>
                  <a:t>water</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r>
                  <a:rPr lang="en-US"/>
                  <a:t> </a:t>
                </a:r>
              </a:p>
              <a:p>
                <a:pPr algn="ctr"/>
                <a:r>
                  <a:rPr lang="en-US"/>
                  <a:t>(to maintain constant ionic strength)</a:t>
                </a:r>
              </a:p>
            </p:txBody>
          </p:sp>
        </mc:Choice>
        <mc:Fallback xmlns="">
          <p:sp>
            <p:nvSpPr>
              <p:cNvPr id="65" name="TextBox 64">
                <a:extLst>
                  <a:ext uri="{FF2B5EF4-FFF2-40B4-BE49-F238E27FC236}">
                    <a16:creationId xmlns:a16="http://schemas.microsoft.com/office/drawing/2014/main" id="{0444CA6C-ED79-4356-89B3-87D9D3914C62}"/>
                  </a:ext>
                </a:extLst>
              </p:cNvPr>
              <p:cNvSpPr txBox="1">
                <a:spLocks noRot="1" noChangeAspect="1" noMove="1" noResize="1" noEditPoints="1" noAdjustHandles="1" noChangeArrowheads="1" noChangeShapeType="1" noTextEdit="1"/>
              </p:cNvSpPr>
              <p:nvPr/>
            </p:nvSpPr>
            <p:spPr>
              <a:xfrm>
                <a:off x="-157723" y="3185268"/>
                <a:ext cx="3622292" cy="923330"/>
              </a:xfrm>
              <a:prstGeom prst="rect">
                <a:avLst/>
              </a:prstGeom>
              <a:blipFill>
                <a:blip r:embed="rId5"/>
                <a:stretch>
                  <a:fillRect t="-4167" b="-972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3B81B7-B5AE-42F2-B0E1-96A0DA7990A8}"/>
              </a:ext>
            </a:extLst>
          </p:cNvPr>
          <p:cNvCxnSpPr>
            <a:stCxn id="53" idx="6"/>
          </p:cNvCxnSpPr>
          <p:nvPr/>
        </p:nvCxnSpPr>
        <p:spPr>
          <a:xfrm flipV="1">
            <a:off x="5929238" y="3271355"/>
            <a:ext cx="670350"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CC2B8BE1-9F71-4BCA-939F-B3C0B13FC573}"/>
              </a:ext>
            </a:extLst>
          </p:cNvPr>
          <p:cNvGrpSpPr/>
          <p:nvPr/>
        </p:nvGrpSpPr>
        <p:grpSpPr>
          <a:xfrm>
            <a:off x="6686804" y="1820893"/>
            <a:ext cx="411250" cy="193657"/>
            <a:chOff x="6631843" y="3975912"/>
            <a:chExt cx="411250" cy="193657"/>
          </a:xfrm>
        </p:grpSpPr>
        <p:sp>
          <p:nvSpPr>
            <p:cNvPr id="56" name="Oval 55">
              <a:extLst>
                <a:ext uri="{FF2B5EF4-FFF2-40B4-BE49-F238E27FC236}">
                  <a16:creationId xmlns:a16="http://schemas.microsoft.com/office/drawing/2014/main" id="{1E196522-007C-48A2-8982-1828F60650C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3F15EBB-9366-4DB8-B16C-4172A72CD234}"/>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2DF6F89-D771-4003-AEC7-8E8F9D317DF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3223AF8-7CF6-4F9D-9EF8-BFB4DCD772AF}"/>
              </a:ext>
            </a:extLst>
          </p:cNvPr>
          <p:cNvGrpSpPr/>
          <p:nvPr/>
        </p:nvGrpSpPr>
        <p:grpSpPr>
          <a:xfrm>
            <a:off x="7018895" y="4099172"/>
            <a:ext cx="411250" cy="193657"/>
            <a:chOff x="6631843" y="3975912"/>
            <a:chExt cx="411250" cy="193657"/>
          </a:xfrm>
        </p:grpSpPr>
        <p:sp>
          <p:nvSpPr>
            <p:cNvPr id="69" name="Oval 68">
              <a:extLst>
                <a:ext uri="{FF2B5EF4-FFF2-40B4-BE49-F238E27FC236}">
                  <a16:creationId xmlns:a16="http://schemas.microsoft.com/office/drawing/2014/main" id="{B467195E-BA0E-4B87-84BC-40C5626C2F21}"/>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CA925E-B32B-4938-9BF4-81C1439929B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D30D41-99BE-455C-821A-D145F4F2621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9452BF51-F12A-48D9-B86D-5DB3196D2227}"/>
              </a:ext>
            </a:extLst>
          </p:cNvPr>
          <p:cNvGrpSpPr/>
          <p:nvPr/>
        </p:nvGrpSpPr>
        <p:grpSpPr>
          <a:xfrm>
            <a:off x="1607558" y="4636433"/>
            <a:ext cx="411250" cy="193657"/>
            <a:chOff x="6631843" y="3975912"/>
            <a:chExt cx="411250" cy="193657"/>
          </a:xfrm>
        </p:grpSpPr>
        <p:sp>
          <p:nvSpPr>
            <p:cNvPr id="74" name="Oval 73">
              <a:extLst>
                <a:ext uri="{FF2B5EF4-FFF2-40B4-BE49-F238E27FC236}">
                  <a16:creationId xmlns:a16="http://schemas.microsoft.com/office/drawing/2014/main" id="{F54F6FC2-F73B-495A-BD11-1E0AF950859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151613-CFD9-4909-BA32-A566C72C59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679BFA0-DCDD-4672-9A76-80C1D2301395}"/>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B0FAA2E9-F246-49E7-8DC0-519415ED528D}"/>
              </a:ext>
            </a:extLst>
          </p:cNvPr>
          <p:cNvSpPr txBox="1"/>
          <p:nvPr/>
        </p:nvSpPr>
        <p:spPr>
          <a:xfrm>
            <a:off x="2027970" y="4539722"/>
            <a:ext cx="710451" cy="369332"/>
          </a:xfrm>
          <a:prstGeom prst="rect">
            <a:avLst/>
          </a:prstGeom>
          <a:noFill/>
        </p:spPr>
        <p:txBody>
          <a:bodyPr wrap="square" rtlCol="0">
            <a:spAutoFit/>
          </a:bodyPr>
          <a:lstStyle/>
          <a:p>
            <a:r>
              <a:rPr lang="en-US"/>
              <a:t>pH</a:t>
            </a:r>
          </a:p>
        </p:txBody>
      </p:sp>
      <p:grpSp>
        <p:nvGrpSpPr>
          <p:cNvPr id="79" name="Group 78">
            <a:extLst>
              <a:ext uri="{FF2B5EF4-FFF2-40B4-BE49-F238E27FC236}">
                <a16:creationId xmlns:a16="http://schemas.microsoft.com/office/drawing/2014/main" id="{1579D646-24B0-44D2-B5BF-33411928A937}"/>
              </a:ext>
            </a:extLst>
          </p:cNvPr>
          <p:cNvGrpSpPr/>
          <p:nvPr/>
        </p:nvGrpSpPr>
        <p:grpSpPr>
          <a:xfrm>
            <a:off x="6902927" y="964937"/>
            <a:ext cx="411250" cy="193657"/>
            <a:chOff x="6631843" y="3975912"/>
            <a:chExt cx="411250" cy="193657"/>
          </a:xfrm>
        </p:grpSpPr>
        <p:sp>
          <p:nvSpPr>
            <p:cNvPr id="80" name="Oval 79">
              <a:extLst>
                <a:ext uri="{FF2B5EF4-FFF2-40B4-BE49-F238E27FC236}">
                  <a16:creationId xmlns:a16="http://schemas.microsoft.com/office/drawing/2014/main" id="{DCD61402-6E9B-4946-BFAA-C2AA8F11C20F}"/>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F89C9A15-64CC-41FA-A205-7AE8E3969866}"/>
                </a:ext>
              </a:extLst>
            </p:cNvPr>
            <p:cNvSpPr/>
            <p:nvPr/>
          </p:nvSpPr>
          <p:spPr>
            <a:xfrm>
              <a:off x="6752131" y="3985545"/>
              <a:ext cx="179766" cy="165412"/>
            </a:xfrm>
            <a:prstGeom prst="ellipse">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06B0740-9BE7-4D8F-9FEC-21950D28A34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B2098DB1-FA0D-4A0C-88E8-545C9C34A014}"/>
              </a:ext>
            </a:extLst>
          </p:cNvPr>
          <p:cNvSpPr txBox="1"/>
          <p:nvPr/>
        </p:nvSpPr>
        <p:spPr>
          <a:xfrm>
            <a:off x="7264119" y="882347"/>
            <a:ext cx="532746" cy="369332"/>
          </a:xfrm>
          <a:prstGeom prst="rect">
            <a:avLst/>
          </a:prstGeom>
          <a:noFill/>
        </p:spPr>
        <p:txBody>
          <a:bodyPr wrap="square" rtlCol="0">
            <a:spAutoFit/>
          </a:bodyPr>
          <a:lstStyle/>
          <a:p>
            <a:r>
              <a:rPr lang="en-US" dirty="0"/>
              <a:t>UV</a:t>
            </a:r>
          </a:p>
        </p:txBody>
      </p:sp>
      <p:grpSp>
        <p:nvGrpSpPr>
          <p:cNvPr id="90" name="Group 89">
            <a:extLst>
              <a:ext uri="{FF2B5EF4-FFF2-40B4-BE49-F238E27FC236}">
                <a16:creationId xmlns:a16="http://schemas.microsoft.com/office/drawing/2014/main" id="{3DB38BE6-5E26-487D-AC7E-0FCBFB676393}"/>
              </a:ext>
            </a:extLst>
          </p:cNvPr>
          <p:cNvGrpSpPr/>
          <p:nvPr/>
        </p:nvGrpSpPr>
        <p:grpSpPr>
          <a:xfrm>
            <a:off x="6893957" y="3120585"/>
            <a:ext cx="411250" cy="193657"/>
            <a:chOff x="6631843" y="3975912"/>
            <a:chExt cx="411250" cy="193657"/>
          </a:xfrm>
        </p:grpSpPr>
        <p:sp>
          <p:nvSpPr>
            <p:cNvPr id="91" name="Oval 90">
              <a:extLst>
                <a:ext uri="{FF2B5EF4-FFF2-40B4-BE49-F238E27FC236}">
                  <a16:creationId xmlns:a16="http://schemas.microsoft.com/office/drawing/2014/main" id="{9E02CF59-FC4A-4AEC-BE3B-CC9BB5D66EEB}"/>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56C7A6A-A5BB-48AD-AAF4-008738F1E650}"/>
                </a:ext>
              </a:extLst>
            </p:cNvPr>
            <p:cNvSpPr/>
            <p:nvPr/>
          </p:nvSpPr>
          <p:spPr>
            <a:xfrm>
              <a:off x="6752131" y="3985545"/>
              <a:ext cx="179766" cy="165412"/>
            </a:xfrm>
            <a:prstGeom prst="ellipse">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2DB5E8AA-2067-473D-B59C-D8712985883E}"/>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5" name="TextBox 94">
            <a:extLst>
              <a:ext uri="{FF2B5EF4-FFF2-40B4-BE49-F238E27FC236}">
                <a16:creationId xmlns:a16="http://schemas.microsoft.com/office/drawing/2014/main" id="{FA0E6D7E-8BCB-46B4-A378-64D650A9572B}"/>
              </a:ext>
            </a:extLst>
          </p:cNvPr>
          <p:cNvSpPr txBox="1"/>
          <p:nvPr/>
        </p:nvSpPr>
        <p:spPr>
          <a:xfrm>
            <a:off x="7255149" y="3037995"/>
            <a:ext cx="532746" cy="369332"/>
          </a:xfrm>
          <a:prstGeom prst="rect">
            <a:avLst/>
          </a:prstGeom>
          <a:noFill/>
        </p:spPr>
        <p:txBody>
          <a:bodyPr wrap="square" rtlCol="0">
            <a:spAutoFit/>
          </a:bodyPr>
          <a:lstStyle/>
          <a:p>
            <a:r>
              <a:rPr lang="en-US" dirty="0"/>
              <a:t>UV</a:t>
            </a:r>
          </a:p>
        </p:txBody>
      </p:sp>
      <p:sp>
        <p:nvSpPr>
          <p:cNvPr id="78" name="TextBox 77">
            <a:extLst>
              <a:ext uri="{FF2B5EF4-FFF2-40B4-BE49-F238E27FC236}">
                <a16:creationId xmlns:a16="http://schemas.microsoft.com/office/drawing/2014/main" id="{AC635CCD-F828-8E41-8106-2F2F8B7755B7}"/>
              </a:ext>
            </a:extLst>
          </p:cNvPr>
          <p:cNvSpPr txBox="1"/>
          <p:nvPr/>
        </p:nvSpPr>
        <p:spPr>
          <a:xfrm>
            <a:off x="7517199" y="3954273"/>
            <a:ext cx="532746" cy="369332"/>
          </a:xfrm>
          <a:prstGeom prst="rect">
            <a:avLst/>
          </a:prstGeom>
          <a:noFill/>
        </p:spPr>
        <p:txBody>
          <a:bodyPr wrap="square" rtlCol="0">
            <a:spAutoFit/>
          </a:bodyPr>
          <a:lstStyle/>
          <a:p>
            <a:r>
              <a:rPr lang="en-US" dirty="0"/>
              <a:t>pH</a:t>
            </a:r>
          </a:p>
        </p:txBody>
      </p:sp>
      <p:sp>
        <p:nvSpPr>
          <p:cNvPr id="96" name="TextBox 95">
            <a:extLst>
              <a:ext uri="{FF2B5EF4-FFF2-40B4-BE49-F238E27FC236}">
                <a16:creationId xmlns:a16="http://schemas.microsoft.com/office/drawing/2014/main" id="{D516DD5D-3B38-1248-B7C0-5791AD8B2B74}"/>
              </a:ext>
            </a:extLst>
          </p:cNvPr>
          <p:cNvSpPr txBox="1"/>
          <p:nvPr/>
        </p:nvSpPr>
        <p:spPr>
          <a:xfrm>
            <a:off x="6041774" y="1728003"/>
            <a:ext cx="532746" cy="369332"/>
          </a:xfrm>
          <a:prstGeom prst="rect">
            <a:avLst/>
          </a:prstGeom>
          <a:noFill/>
        </p:spPr>
        <p:txBody>
          <a:bodyPr wrap="square" rtlCol="0">
            <a:spAutoFit/>
          </a:bodyPr>
          <a:lstStyle/>
          <a:p>
            <a:r>
              <a:rPr lang="en-US" dirty="0"/>
              <a:t>pH</a:t>
            </a:r>
          </a:p>
        </p:txBody>
      </p:sp>
      <p:sp>
        <p:nvSpPr>
          <p:cNvPr id="97" name="TextBox 96">
            <a:extLst>
              <a:ext uri="{FF2B5EF4-FFF2-40B4-BE49-F238E27FC236}">
                <a16:creationId xmlns:a16="http://schemas.microsoft.com/office/drawing/2014/main" id="{C252BFDD-689E-364B-9AF3-B3C5276E5D8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1585470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8</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369332"/>
          </a:xfrm>
          <a:prstGeom prst="rect">
            <a:avLst/>
          </a:prstGeom>
          <a:noFill/>
        </p:spPr>
        <p:txBody>
          <a:bodyPr wrap="square" rtlCol="0">
            <a:spAutoFit/>
          </a:bodyPr>
          <a:lstStyle/>
          <a:p>
            <a:pPr algn="ctr"/>
            <a:r>
              <a:rPr lang="en-US" dirty="0"/>
              <a:t>Water</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6" y="2307543"/>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741790" y="551230"/>
            <a:ext cx="697627" cy="369332"/>
          </a:xfrm>
          <a:prstGeom prst="rect">
            <a:avLst/>
          </a:prstGeom>
          <a:noFill/>
        </p:spPr>
        <p:txBody>
          <a:bodyPr wrap="none" rtlCol="0">
            <a:spAutoFit/>
          </a:bodyPr>
          <a:lstStyle/>
          <a:p>
            <a:pPr algn="ctr"/>
            <a:r>
              <a:rPr lang="en-US" dirty="0"/>
              <a:t>Load</a:t>
            </a:r>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1" y="648001"/>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30"/>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7"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9" y="1996435"/>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2"/>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071330"/>
            <a:ext cx="284773" cy="92510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60"/>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8"/>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551929" y="1170525"/>
            <a:ext cx="1512539" cy="369332"/>
          </a:xfrm>
          <a:prstGeom prst="rect">
            <a:avLst/>
          </a:prstGeom>
          <a:noFill/>
        </p:spPr>
        <p:txBody>
          <a:bodyPr wrap="square" rtlCol="0">
            <a:spAutoFit/>
          </a:bodyPr>
          <a:lstStyle/>
          <a:p>
            <a:pPr algn="ctr"/>
            <a:r>
              <a:rPr lang="en-US" dirty="0"/>
              <a:t>Solutions</a:t>
            </a:r>
          </a:p>
        </p:txBody>
      </p:sp>
      <p:sp>
        <p:nvSpPr>
          <p:cNvPr id="107" name="TextBox 106">
            <a:extLst>
              <a:ext uri="{FF2B5EF4-FFF2-40B4-BE49-F238E27FC236}">
                <a16:creationId xmlns:a16="http://schemas.microsoft.com/office/drawing/2014/main" id="{F3533F50-D1C8-3648-8974-6242AFBA3231}"/>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109886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9</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r>
              <a:rPr lang="en-US" dirty="0"/>
              <a:t>Figure 5A: Batch-wise UFDF</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324405" y="1513681"/>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88245" y="2470478"/>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33005" y="2592928"/>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145289" y="1934877"/>
            <a:ext cx="2151041" cy="369332"/>
          </a:xfrm>
          <a:prstGeom prst="rect">
            <a:avLst/>
          </a:prstGeom>
          <a:noFill/>
        </p:spPr>
        <p:txBody>
          <a:bodyPr wrap="square" rtlCol="0">
            <a:spAutoFit/>
          </a:bodyPr>
          <a:lstStyle/>
          <a:p>
            <a:r>
              <a:rPr lang="en-US" dirty="0"/>
              <a:t>Product Stream </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p:cNvCxnSpPr>
          <p:nvPr/>
        </p:nvCxnSpPr>
        <p:spPr>
          <a:xfrm>
            <a:off x="3895998" y="3343852"/>
            <a:ext cx="429132" cy="62281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5400000" flipH="1" flipV="1">
            <a:off x="6700405" y="2793778"/>
            <a:ext cx="188690" cy="2894"/>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18647" y="2592928"/>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83607A80-9DFB-924F-A8A7-0E3AC387E3A7}"/>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3865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10</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Single-Pass Tangential Flow Filtration and In-Line Diafiltration</a:t>
            </a:r>
          </a:p>
        </p:txBody>
      </p:sp>
      <p:grpSp>
        <p:nvGrpSpPr>
          <p:cNvPr id="4" name="Group 3">
            <a:extLst>
              <a:ext uri="{FF2B5EF4-FFF2-40B4-BE49-F238E27FC236}">
                <a16:creationId xmlns:a16="http://schemas.microsoft.com/office/drawing/2014/main" id="{B61D835A-7DCF-D046-8762-64FCCEE8F7AD}"/>
              </a:ext>
            </a:extLst>
          </p:cNvPr>
          <p:cNvGrpSpPr/>
          <p:nvPr/>
        </p:nvGrpSpPr>
        <p:grpSpPr>
          <a:xfrm>
            <a:off x="1540332" y="3480002"/>
            <a:ext cx="215904" cy="244900"/>
            <a:chOff x="5475212" y="3011672"/>
            <a:chExt cx="1012728" cy="1137683"/>
          </a:xfrm>
        </p:grpSpPr>
        <p:sp>
          <p:nvSpPr>
            <p:cNvPr id="5" name="Rectangle 4">
              <a:extLst>
                <a:ext uri="{FF2B5EF4-FFF2-40B4-BE49-F238E27FC236}">
                  <a16:creationId xmlns:a16="http://schemas.microsoft.com/office/drawing/2014/main" id="{ECDBB7A7-8A40-8C4A-81BE-A5FE5B9C281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841C7E46-9FF1-4D48-8752-4C29579494EB}"/>
              </a:ext>
            </a:extLst>
          </p:cNvPr>
          <p:cNvGrpSpPr/>
          <p:nvPr/>
        </p:nvGrpSpPr>
        <p:grpSpPr>
          <a:xfrm>
            <a:off x="3599027" y="3480002"/>
            <a:ext cx="215904" cy="244900"/>
            <a:chOff x="5475212" y="3011672"/>
            <a:chExt cx="1012728" cy="1137683"/>
          </a:xfrm>
        </p:grpSpPr>
        <p:sp>
          <p:nvSpPr>
            <p:cNvPr id="8" name="Rectangle 7">
              <a:extLst>
                <a:ext uri="{FF2B5EF4-FFF2-40B4-BE49-F238E27FC236}">
                  <a16:creationId xmlns:a16="http://schemas.microsoft.com/office/drawing/2014/main" id="{4132063A-868B-F34E-90EE-8519EA54BF6A}"/>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95DBBB0-2B4D-8545-9AF5-A9491BF66A7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4B39E71C-3D34-5E44-BDFE-37EC098EAD52}"/>
              </a:ext>
            </a:extLst>
          </p:cNvPr>
          <p:cNvGrpSpPr/>
          <p:nvPr/>
        </p:nvGrpSpPr>
        <p:grpSpPr>
          <a:xfrm>
            <a:off x="5695776" y="3509830"/>
            <a:ext cx="215904" cy="244900"/>
            <a:chOff x="5475212" y="3011672"/>
            <a:chExt cx="1012728" cy="1137683"/>
          </a:xfrm>
        </p:grpSpPr>
        <p:sp>
          <p:nvSpPr>
            <p:cNvPr id="11" name="Rectangle 10">
              <a:extLst>
                <a:ext uri="{FF2B5EF4-FFF2-40B4-BE49-F238E27FC236}">
                  <a16:creationId xmlns:a16="http://schemas.microsoft.com/office/drawing/2014/main" id="{459D0B84-3778-B24C-82CF-5274B43D6E4B}"/>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E007E9-E238-FE4C-9220-36AD1FC4BA0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FD2CC284-4C41-6D45-B0E5-1E9B31F7ED65}"/>
              </a:ext>
            </a:extLst>
          </p:cNvPr>
          <p:cNvGrpSpPr/>
          <p:nvPr/>
        </p:nvGrpSpPr>
        <p:grpSpPr>
          <a:xfrm>
            <a:off x="4301517" y="3480002"/>
            <a:ext cx="215904" cy="244900"/>
            <a:chOff x="5475212" y="3011672"/>
            <a:chExt cx="1012728" cy="1137683"/>
          </a:xfrm>
        </p:grpSpPr>
        <p:sp>
          <p:nvSpPr>
            <p:cNvPr id="14" name="Rectangle 13">
              <a:extLst>
                <a:ext uri="{FF2B5EF4-FFF2-40B4-BE49-F238E27FC236}">
                  <a16:creationId xmlns:a16="http://schemas.microsoft.com/office/drawing/2014/main" id="{53394859-2582-0844-986F-8E93B9553D29}"/>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57CF2BF-E925-414C-9F58-AB9B2FC1D7B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6798403" y="1938036"/>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56DEE26B-240B-0047-BE55-20CD06C90595}"/>
              </a:ext>
            </a:extLst>
          </p:cNvPr>
          <p:cNvGrpSpPr/>
          <p:nvPr/>
        </p:nvGrpSpPr>
        <p:grpSpPr>
          <a:xfrm>
            <a:off x="2821525" y="3480002"/>
            <a:ext cx="215904" cy="244900"/>
            <a:chOff x="5475212" y="3011672"/>
            <a:chExt cx="1012728" cy="1137683"/>
          </a:xfrm>
        </p:grpSpPr>
        <p:sp>
          <p:nvSpPr>
            <p:cNvPr id="32" name="Rectangle 31">
              <a:extLst>
                <a:ext uri="{FF2B5EF4-FFF2-40B4-BE49-F238E27FC236}">
                  <a16:creationId xmlns:a16="http://schemas.microsoft.com/office/drawing/2014/main" id="{E3346678-BBB2-5F4B-AFE9-2D80E7809D48}"/>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Arrow Connector 37">
            <a:extLst>
              <a:ext uri="{FF2B5EF4-FFF2-40B4-BE49-F238E27FC236}">
                <a16:creationId xmlns:a16="http://schemas.microsoft.com/office/drawing/2014/main" id="{2D78FFE2-22BA-7446-BF18-CCBAB9241F58}"/>
              </a:ext>
            </a:extLst>
          </p:cNvPr>
          <p:cNvCxnSpPr>
            <a:cxnSpLocks/>
          </p:cNvCxnSpPr>
          <p:nvPr/>
        </p:nvCxnSpPr>
        <p:spPr>
          <a:xfrm>
            <a:off x="3814931" y="3598753"/>
            <a:ext cx="486586"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6A65596-8184-E540-ACB4-D6083534CD95}"/>
              </a:ext>
            </a:extLst>
          </p:cNvPr>
          <p:cNvCxnSpPr>
            <a:cxnSpLocks/>
            <a:endCxn id="11" idx="1"/>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7597C9E-2E04-FD41-B376-0E88F48A386D}"/>
              </a:ext>
            </a:extLst>
          </p:cNvPr>
          <p:cNvCxnSpPr>
            <a:cxnSpLocks/>
          </p:cNvCxnSpPr>
          <p:nvPr/>
        </p:nvCxnSpPr>
        <p:spPr>
          <a:xfrm>
            <a:off x="3024818" y="3598753"/>
            <a:ext cx="574209"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9B6C3F2-EDE4-0042-B26D-341A158A924E}"/>
              </a:ext>
            </a:extLst>
          </p:cNvPr>
          <p:cNvCxnSpPr>
            <a:cxnSpLocks/>
          </p:cNvCxnSpPr>
          <p:nvPr/>
        </p:nvCxnSpPr>
        <p:spPr>
          <a:xfrm>
            <a:off x="1756236" y="3602452"/>
            <a:ext cx="1052678"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4085CFC-9F8A-4242-A869-F47C3D359F9B}"/>
              </a:ext>
            </a:extLst>
          </p:cNvPr>
          <p:cNvCxnSpPr>
            <a:cxnSpLocks/>
            <a:stCxn id="29" idx="6"/>
            <a:endCxn id="5" idx="1"/>
          </p:cNvCxnSpPr>
          <p:nvPr/>
        </p:nvCxnSpPr>
        <p:spPr>
          <a:xfrm flipV="1">
            <a:off x="1344355" y="3602452"/>
            <a:ext cx="195977" cy="53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2"/>
          </p:cNvCxnSpPr>
          <p:nvPr/>
        </p:nvCxnSpPr>
        <p:spPr>
          <a:xfrm rot="10800000">
            <a:off x="3290427" y="3598754"/>
            <a:ext cx="1050962" cy="41028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204921" y="3415165"/>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368846" y="3605767"/>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stCxn id="14" idx="2"/>
            <a:endCxn id="23" idx="0"/>
          </p:cNvCxnSpPr>
          <p:nvPr/>
        </p:nvCxnSpPr>
        <p:spPr>
          <a:xfrm>
            <a:off x="4409469" y="3724902"/>
            <a:ext cx="1032" cy="19375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7E2B3BF-6B00-AC42-8802-3B4A99BA02EA}"/>
              </a:ext>
            </a:extLst>
          </p:cNvPr>
          <p:cNvCxnSpPr>
            <a:cxnSpLocks/>
          </p:cNvCxnSpPr>
          <p:nvPr/>
        </p:nvCxnSpPr>
        <p:spPr>
          <a:xfrm>
            <a:off x="4153710" y="3072391"/>
            <a:ext cx="0" cy="52352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A18EC30A-6895-524D-8BBA-B34AE6237AA2}"/>
              </a:ext>
            </a:extLst>
          </p:cNvPr>
          <p:cNvCxnSpPr>
            <a:stCxn id="8" idx="0"/>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stCxn id="26" idx="2"/>
            <a:endCxn id="59" idx="0"/>
          </p:cNvCxnSpPr>
          <p:nvPr/>
        </p:nvCxnSpPr>
        <p:spPr>
          <a:xfrm rot="10800000" flipV="1">
            <a:off x="2454352" y="2982015"/>
            <a:ext cx="1182484" cy="623752"/>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a:stCxn id="11" idx="2"/>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63A35C81-A400-1743-A160-783C6CEB79EF}"/>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801610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B2023A-8621-AC4C-9105-684851A99F64}"/>
              </a:ext>
            </a:extLst>
          </p:cNvPr>
          <p:cNvSpPr>
            <a:spLocks noGrp="1"/>
          </p:cNvSpPr>
          <p:nvPr>
            <p:ph type="sldNum" sz="quarter" idx="4"/>
          </p:nvPr>
        </p:nvSpPr>
        <p:spPr/>
        <p:txBody>
          <a:bodyPr/>
          <a:lstStyle/>
          <a:p>
            <a:fld id="{3C4F54F3-C349-4609-AFEE-01462D5C7942}" type="slidenum">
              <a:rPr lang="en-GB" smtClean="0"/>
              <a:pPr/>
              <a:t>11</a:t>
            </a:fld>
            <a:endParaRPr lang="en-GB"/>
          </a:p>
        </p:txBody>
      </p:sp>
      <p:sp>
        <p:nvSpPr>
          <p:cNvPr id="3" name="Title 2">
            <a:extLst>
              <a:ext uri="{FF2B5EF4-FFF2-40B4-BE49-F238E27FC236}">
                <a16:creationId xmlns:a16="http://schemas.microsoft.com/office/drawing/2014/main" id="{9FA81B7F-6BEA-BB44-80D9-F136405F449C}"/>
              </a:ext>
            </a:extLst>
          </p:cNvPr>
          <p:cNvSpPr>
            <a:spLocks noGrp="1"/>
          </p:cNvSpPr>
          <p:nvPr>
            <p:ph type="title"/>
          </p:nvPr>
        </p:nvSpPr>
        <p:spPr/>
        <p:txBody>
          <a:bodyPr/>
          <a:lstStyle/>
          <a:p>
            <a:r>
              <a:rPr lang="en-US" dirty="0"/>
              <a:t>Figure 4</a:t>
            </a:r>
          </a:p>
        </p:txBody>
      </p:sp>
      <p:pic>
        <p:nvPicPr>
          <p:cNvPr id="6" name="Picture 5">
            <a:extLst>
              <a:ext uri="{FF2B5EF4-FFF2-40B4-BE49-F238E27FC236}">
                <a16:creationId xmlns:a16="http://schemas.microsoft.com/office/drawing/2014/main" id="{F1AA54D5-34C8-3B4B-AC80-240ACA0C22A0}"/>
              </a:ext>
            </a:extLst>
          </p:cNvPr>
          <p:cNvPicPr>
            <a:picLocks noChangeAspect="1"/>
          </p:cNvPicPr>
          <p:nvPr/>
        </p:nvPicPr>
        <p:blipFill>
          <a:blip r:embed="rId3"/>
          <a:stretch>
            <a:fillRect/>
          </a:stretch>
        </p:blipFill>
        <p:spPr>
          <a:xfrm>
            <a:off x="2584738" y="0"/>
            <a:ext cx="3974523" cy="5143500"/>
          </a:xfrm>
          <a:prstGeom prst="rect">
            <a:avLst/>
          </a:prstGeom>
        </p:spPr>
      </p:pic>
      <p:sp>
        <p:nvSpPr>
          <p:cNvPr id="5" name="TextBox 4">
            <a:extLst>
              <a:ext uri="{FF2B5EF4-FFF2-40B4-BE49-F238E27FC236}">
                <a16:creationId xmlns:a16="http://schemas.microsoft.com/office/drawing/2014/main" id="{95491DF9-FFF7-4D4C-A8C6-D6DA705E10D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463934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279317-EC92-BC41-BE68-4EEF909749CC}"/>
              </a:ext>
            </a:extLst>
          </p:cNvPr>
          <p:cNvSpPr>
            <a:spLocks noGrp="1"/>
          </p:cNvSpPr>
          <p:nvPr>
            <p:ph type="sldNum" sz="quarter" idx="4"/>
          </p:nvPr>
        </p:nvSpPr>
        <p:spPr/>
        <p:txBody>
          <a:bodyPr/>
          <a:lstStyle/>
          <a:p>
            <a:fld id="{3C4F54F3-C349-4609-AFEE-01462D5C7942}" type="slidenum">
              <a:rPr lang="en-GB" smtClean="0"/>
              <a:pPr/>
              <a:t>12</a:t>
            </a:fld>
            <a:endParaRPr lang="en-GB"/>
          </a:p>
        </p:txBody>
      </p:sp>
      <p:sp>
        <p:nvSpPr>
          <p:cNvPr id="3" name="Title 2">
            <a:extLst>
              <a:ext uri="{FF2B5EF4-FFF2-40B4-BE49-F238E27FC236}">
                <a16:creationId xmlns:a16="http://schemas.microsoft.com/office/drawing/2014/main" id="{6247929E-5976-7F4A-86A1-36EAD8BAD4E7}"/>
              </a:ext>
            </a:extLst>
          </p:cNvPr>
          <p:cNvSpPr>
            <a:spLocks noGrp="1"/>
          </p:cNvSpPr>
          <p:nvPr>
            <p:ph type="title"/>
          </p:nvPr>
        </p:nvSpPr>
        <p:spPr/>
        <p:txBody>
          <a:bodyPr/>
          <a:lstStyle/>
          <a:p>
            <a:r>
              <a:rPr lang="en-US" dirty="0"/>
              <a:t>Figures and tables for Design Basis for Common Framework</a:t>
            </a:r>
          </a:p>
        </p:txBody>
      </p:sp>
    </p:spTree>
    <p:extLst>
      <p:ext uri="{BB962C8B-B14F-4D97-AF65-F5344CB8AC3E}">
        <p14:creationId xmlns:p14="http://schemas.microsoft.com/office/powerpoint/2010/main" val="4244357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39D91-F4C8-4960-A9F1-B227A2FC5251}"/>
              </a:ext>
            </a:extLst>
          </p:cNvPr>
          <p:cNvSpPr>
            <a:spLocks noGrp="1"/>
          </p:cNvSpPr>
          <p:nvPr>
            <p:ph type="sldNum" sz="quarter" idx="4"/>
          </p:nvPr>
        </p:nvSpPr>
        <p:spPr>
          <a:xfrm>
            <a:off x="273529" y="4665178"/>
            <a:ext cx="396000" cy="162000"/>
          </a:xfrm>
        </p:spPr>
        <p:txBody>
          <a:bodyPr/>
          <a:lstStyle/>
          <a:p>
            <a:fld id="{3C4F54F3-C349-4609-AFEE-01462D5C7942}" type="slidenum">
              <a:rPr lang="en-GB" smtClean="0"/>
              <a:pPr/>
              <a:t>13</a:t>
            </a:fld>
            <a:endParaRPr lang="en-GB"/>
          </a:p>
        </p:txBody>
      </p:sp>
      <p:sp>
        <p:nvSpPr>
          <p:cNvPr id="3" name="Title 2">
            <a:extLst>
              <a:ext uri="{FF2B5EF4-FFF2-40B4-BE49-F238E27FC236}">
                <a16:creationId xmlns:a16="http://schemas.microsoft.com/office/drawing/2014/main" id="{5ED5F057-2340-4553-9FBF-42E9A8F5F551}"/>
              </a:ext>
            </a:extLst>
          </p:cNvPr>
          <p:cNvSpPr>
            <a:spLocks noGrp="1"/>
          </p:cNvSpPr>
          <p:nvPr>
            <p:ph type="title"/>
          </p:nvPr>
        </p:nvSpPr>
        <p:spPr>
          <a:xfrm>
            <a:off x="237062" y="80384"/>
            <a:ext cx="8765651" cy="504000"/>
          </a:xfrm>
        </p:spPr>
        <p:txBody>
          <a:bodyPr/>
          <a:lstStyle/>
          <a:p>
            <a:r>
              <a:rPr lang="en-US" dirty="0"/>
              <a:t>Design basis for ICB for 0.5-20kg/day </a:t>
            </a:r>
          </a:p>
        </p:txBody>
      </p:sp>
      <p:graphicFrame>
        <p:nvGraphicFramePr>
          <p:cNvPr id="21" name="Diagram 20">
            <a:extLst>
              <a:ext uri="{FF2B5EF4-FFF2-40B4-BE49-F238E27FC236}">
                <a16:creationId xmlns:a16="http://schemas.microsoft.com/office/drawing/2014/main" id="{CB7AED5B-674F-904E-AC78-1345D7108333}"/>
              </a:ext>
            </a:extLst>
          </p:cNvPr>
          <p:cNvGraphicFramePr/>
          <p:nvPr>
            <p:custDataLst>
              <p:tags r:id="rId1"/>
            </p:custDataLst>
            <p:extLst>
              <p:ext uri="{D42A27DB-BD31-4B8C-83A1-F6EECF244321}">
                <p14:modId xmlns:p14="http://schemas.microsoft.com/office/powerpoint/2010/main" val="1156249000"/>
              </p:ext>
            </p:extLst>
          </p:nvPr>
        </p:nvGraphicFramePr>
        <p:xfrm>
          <a:off x="3545785" y="813234"/>
          <a:ext cx="1485581"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D7F5F8E2-E5D6-F144-A27B-4C758FCC6725}"/>
              </a:ext>
            </a:extLst>
          </p:cNvPr>
          <p:cNvSpPr txBox="1"/>
          <p:nvPr/>
        </p:nvSpPr>
        <p:spPr>
          <a:xfrm>
            <a:off x="2255036" y="1718984"/>
            <a:ext cx="1188365" cy="307777"/>
          </a:xfrm>
          <a:prstGeom prst="rect">
            <a:avLst/>
          </a:prstGeom>
          <a:noFill/>
        </p:spPr>
        <p:txBody>
          <a:bodyPr wrap="square" rtlCol="0">
            <a:spAutoFit/>
          </a:bodyPr>
          <a:lstStyle/>
          <a:p>
            <a:pPr algn="ctr"/>
            <a:r>
              <a:rPr lang="en-US" sz="1400" dirty="0"/>
              <a:t>&gt;500L surge</a:t>
            </a:r>
          </a:p>
        </p:txBody>
      </p:sp>
      <p:sp>
        <p:nvSpPr>
          <p:cNvPr id="29" name="TextBox 28">
            <a:extLst>
              <a:ext uri="{FF2B5EF4-FFF2-40B4-BE49-F238E27FC236}">
                <a16:creationId xmlns:a16="http://schemas.microsoft.com/office/drawing/2014/main" id="{4CF10644-113C-554C-B9E5-2E7C0803641D}"/>
              </a:ext>
            </a:extLst>
          </p:cNvPr>
          <p:cNvSpPr txBox="1"/>
          <p:nvPr/>
        </p:nvSpPr>
        <p:spPr>
          <a:xfrm>
            <a:off x="2127431" y="1949786"/>
            <a:ext cx="1308144" cy="523220"/>
          </a:xfrm>
          <a:prstGeom prst="rect">
            <a:avLst/>
          </a:prstGeom>
          <a:noFill/>
        </p:spPr>
        <p:txBody>
          <a:bodyPr wrap="square" rtlCol="0">
            <a:spAutoFit/>
          </a:bodyPr>
          <a:lstStyle/>
          <a:p>
            <a:pPr algn="ctr"/>
            <a:r>
              <a:rPr lang="en-US" sz="1400" dirty="0"/>
              <a:t>3L-20L</a:t>
            </a:r>
          </a:p>
          <a:p>
            <a:pPr algn="ctr"/>
            <a:r>
              <a:rPr lang="en-US" sz="1400" dirty="0"/>
              <a:t>0.1 to 5LPM</a:t>
            </a:r>
          </a:p>
        </p:txBody>
      </p:sp>
      <p:sp>
        <p:nvSpPr>
          <p:cNvPr id="30" name="TextBox 29">
            <a:extLst>
              <a:ext uri="{FF2B5EF4-FFF2-40B4-BE49-F238E27FC236}">
                <a16:creationId xmlns:a16="http://schemas.microsoft.com/office/drawing/2014/main" id="{CD713AD4-2B30-8044-AEAC-3B240A16F7FA}"/>
              </a:ext>
            </a:extLst>
          </p:cNvPr>
          <p:cNvSpPr txBox="1"/>
          <p:nvPr/>
        </p:nvSpPr>
        <p:spPr>
          <a:xfrm>
            <a:off x="1718957" y="551624"/>
            <a:ext cx="1933803" cy="523220"/>
          </a:xfrm>
          <a:prstGeom prst="rect">
            <a:avLst/>
          </a:prstGeom>
          <a:noFill/>
        </p:spPr>
        <p:txBody>
          <a:bodyPr wrap="square" rtlCol="0">
            <a:spAutoFit/>
          </a:bodyPr>
          <a:lstStyle/>
          <a:p>
            <a:pPr algn="ctr"/>
            <a:r>
              <a:rPr lang="en-US" sz="1400" u="sng" dirty="0"/>
              <a:t>One-Column Retrofit</a:t>
            </a:r>
          </a:p>
          <a:p>
            <a:pPr algn="ctr"/>
            <a:r>
              <a:rPr lang="en-US" sz="1400" dirty="0"/>
              <a:t>0.5kg-10kg/day</a:t>
            </a:r>
          </a:p>
        </p:txBody>
      </p:sp>
      <p:sp>
        <p:nvSpPr>
          <p:cNvPr id="31" name="TextBox 30">
            <a:extLst>
              <a:ext uri="{FF2B5EF4-FFF2-40B4-BE49-F238E27FC236}">
                <a16:creationId xmlns:a16="http://schemas.microsoft.com/office/drawing/2014/main" id="{A057F73B-E58C-D34B-B32F-BF7A50D05489}"/>
              </a:ext>
            </a:extLst>
          </p:cNvPr>
          <p:cNvSpPr txBox="1"/>
          <p:nvPr/>
        </p:nvSpPr>
        <p:spPr>
          <a:xfrm>
            <a:off x="2127431" y="3007553"/>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2" name="TextBox 31">
            <a:extLst>
              <a:ext uri="{FF2B5EF4-FFF2-40B4-BE49-F238E27FC236}">
                <a16:creationId xmlns:a16="http://schemas.microsoft.com/office/drawing/2014/main" id="{2AFC852E-6EC0-A04F-A727-3EC3A2860868}"/>
              </a:ext>
            </a:extLst>
          </p:cNvPr>
          <p:cNvSpPr txBox="1"/>
          <p:nvPr/>
        </p:nvSpPr>
        <p:spPr>
          <a:xfrm>
            <a:off x="2149725" y="3611415"/>
            <a:ext cx="1308144" cy="523220"/>
          </a:xfrm>
          <a:prstGeom prst="rect">
            <a:avLst/>
          </a:prstGeom>
          <a:noFill/>
        </p:spPr>
        <p:txBody>
          <a:bodyPr wrap="square" rtlCol="0">
            <a:spAutoFit/>
          </a:bodyPr>
          <a:lstStyle/>
          <a:p>
            <a:pPr algn="ctr"/>
            <a:r>
              <a:rPr lang="en-US" sz="1400" dirty="0"/>
              <a:t>1L-10L</a:t>
            </a:r>
          </a:p>
          <a:p>
            <a:pPr algn="ctr"/>
            <a:r>
              <a:rPr lang="en-US" sz="1400" dirty="0"/>
              <a:t>0.1 to 3LPM</a:t>
            </a:r>
          </a:p>
        </p:txBody>
      </p:sp>
      <p:sp>
        <p:nvSpPr>
          <p:cNvPr id="33" name="TextBox 32">
            <a:extLst>
              <a:ext uri="{FF2B5EF4-FFF2-40B4-BE49-F238E27FC236}">
                <a16:creationId xmlns:a16="http://schemas.microsoft.com/office/drawing/2014/main" id="{B2DF1DD8-3D87-234D-9914-C948DFEDCBD5}"/>
              </a:ext>
            </a:extLst>
          </p:cNvPr>
          <p:cNvSpPr txBox="1"/>
          <p:nvPr/>
        </p:nvSpPr>
        <p:spPr>
          <a:xfrm>
            <a:off x="2131343" y="4102535"/>
            <a:ext cx="1308144" cy="523220"/>
          </a:xfrm>
          <a:prstGeom prst="rect">
            <a:avLst/>
          </a:prstGeom>
          <a:noFill/>
        </p:spPr>
        <p:txBody>
          <a:bodyPr wrap="square" rtlCol="0">
            <a:spAutoFit/>
          </a:bodyPr>
          <a:lstStyle/>
          <a:p>
            <a:pPr algn="ctr"/>
            <a:r>
              <a:rPr lang="en-US" sz="1400" dirty="0"/>
              <a:t>0.3-5m</a:t>
            </a:r>
            <a:r>
              <a:rPr lang="en-US" sz="1400" baseline="30000" dirty="0"/>
              <a:t>2</a:t>
            </a:r>
            <a:endParaRPr lang="en-US" sz="1400" dirty="0"/>
          </a:p>
          <a:p>
            <a:pPr algn="ctr"/>
            <a:r>
              <a:rPr lang="en-US" sz="1400" dirty="0"/>
              <a:t>1 to 10LPM</a:t>
            </a:r>
          </a:p>
        </p:txBody>
      </p:sp>
      <p:sp>
        <p:nvSpPr>
          <p:cNvPr id="34" name="TextBox 33">
            <a:extLst>
              <a:ext uri="{FF2B5EF4-FFF2-40B4-BE49-F238E27FC236}">
                <a16:creationId xmlns:a16="http://schemas.microsoft.com/office/drawing/2014/main" id="{4E74177D-C74C-2A4F-B09C-BF89290F458E}"/>
              </a:ext>
            </a:extLst>
          </p:cNvPr>
          <p:cNvSpPr txBox="1"/>
          <p:nvPr/>
        </p:nvSpPr>
        <p:spPr>
          <a:xfrm>
            <a:off x="1576739" y="4667782"/>
            <a:ext cx="2048991" cy="523220"/>
          </a:xfrm>
          <a:prstGeom prst="rect">
            <a:avLst/>
          </a:prstGeom>
          <a:noFill/>
        </p:spPr>
        <p:txBody>
          <a:bodyPr wrap="square" rtlCol="0">
            <a:spAutoFit/>
          </a:bodyPr>
          <a:lstStyle/>
          <a:p>
            <a:pPr algn="ctr"/>
            <a:r>
              <a:rPr lang="en-US" sz="1400" dirty="0"/>
              <a:t>5-13m</a:t>
            </a:r>
            <a:r>
              <a:rPr lang="en-US" sz="1400" baseline="30000" dirty="0"/>
              <a:t>2</a:t>
            </a:r>
            <a:endParaRPr lang="en-US" sz="1400" dirty="0"/>
          </a:p>
          <a:p>
            <a:pPr algn="ctr"/>
            <a:r>
              <a:rPr lang="en-US" sz="1400" dirty="0"/>
              <a:t>Cross Flow 30-80LPM</a:t>
            </a:r>
          </a:p>
        </p:txBody>
      </p:sp>
      <p:sp>
        <p:nvSpPr>
          <p:cNvPr id="35" name="TextBox 34">
            <a:extLst>
              <a:ext uri="{FF2B5EF4-FFF2-40B4-BE49-F238E27FC236}">
                <a16:creationId xmlns:a16="http://schemas.microsoft.com/office/drawing/2014/main" id="{5C83EA7D-199F-8D44-8CBC-7D61C725A702}"/>
              </a:ext>
            </a:extLst>
          </p:cNvPr>
          <p:cNvSpPr txBox="1"/>
          <p:nvPr/>
        </p:nvSpPr>
        <p:spPr>
          <a:xfrm>
            <a:off x="4960928" y="538038"/>
            <a:ext cx="1933803" cy="523220"/>
          </a:xfrm>
          <a:prstGeom prst="rect">
            <a:avLst/>
          </a:prstGeom>
          <a:noFill/>
        </p:spPr>
        <p:txBody>
          <a:bodyPr wrap="square" rtlCol="0">
            <a:spAutoFit/>
          </a:bodyPr>
          <a:lstStyle/>
          <a:p>
            <a:pPr algn="ctr"/>
            <a:r>
              <a:rPr lang="en-US" sz="1400" u="sng" dirty="0"/>
              <a:t>Two Column</a:t>
            </a:r>
          </a:p>
          <a:p>
            <a:pPr algn="ctr"/>
            <a:r>
              <a:rPr lang="en-US" sz="1400" dirty="0"/>
              <a:t>0.5kg-20kg/day</a:t>
            </a:r>
          </a:p>
        </p:txBody>
      </p:sp>
      <p:sp>
        <p:nvSpPr>
          <p:cNvPr id="37" name="TextBox 36">
            <a:extLst>
              <a:ext uri="{FF2B5EF4-FFF2-40B4-BE49-F238E27FC236}">
                <a16:creationId xmlns:a16="http://schemas.microsoft.com/office/drawing/2014/main" id="{225FFFB5-CDD3-714A-B4FA-60A73812AC5E}"/>
              </a:ext>
            </a:extLst>
          </p:cNvPr>
          <p:cNvSpPr txBox="1"/>
          <p:nvPr/>
        </p:nvSpPr>
        <p:spPr>
          <a:xfrm>
            <a:off x="5086397" y="1971659"/>
            <a:ext cx="1308144" cy="523220"/>
          </a:xfrm>
          <a:prstGeom prst="rect">
            <a:avLst/>
          </a:prstGeom>
          <a:noFill/>
        </p:spPr>
        <p:txBody>
          <a:bodyPr wrap="square" rtlCol="0">
            <a:spAutoFit/>
          </a:bodyPr>
          <a:lstStyle/>
          <a:p>
            <a:pPr algn="ctr"/>
            <a:r>
              <a:rPr lang="en-US" sz="1400" dirty="0"/>
              <a:t>2L-20L</a:t>
            </a:r>
          </a:p>
          <a:p>
            <a:pPr algn="ctr"/>
            <a:r>
              <a:rPr lang="en-US" sz="1400" dirty="0"/>
              <a:t>0.1 to 5LPM</a:t>
            </a:r>
          </a:p>
        </p:txBody>
      </p:sp>
      <p:sp>
        <p:nvSpPr>
          <p:cNvPr id="38" name="TextBox 37">
            <a:extLst>
              <a:ext uri="{FF2B5EF4-FFF2-40B4-BE49-F238E27FC236}">
                <a16:creationId xmlns:a16="http://schemas.microsoft.com/office/drawing/2014/main" id="{9E3E1E33-A7E9-F646-9827-1F253445D4E1}"/>
              </a:ext>
            </a:extLst>
          </p:cNvPr>
          <p:cNvSpPr txBox="1"/>
          <p:nvPr/>
        </p:nvSpPr>
        <p:spPr>
          <a:xfrm>
            <a:off x="5193069" y="3084072"/>
            <a:ext cx="1308144" cy="523220"/>
          </a:xfrm>
          <a:prstGeom prst="rect">
            <a:avLst/>
          </a:prstGeom>
          <a:noFill/>
        </p:spPr>
        <p:txBody>
          <a:bodyPr wrap="square" rtlCol="0">
            <a:spAutoFit/>
          </a:bodyPr>
          <a:lstStyle/>
          <a:p>
            <a:pPr algn="ctr"/>
            <a:r>
              <a:rPr lang="en-US" sz="1400" dirty="0"/>
              <a:t>0.3L-10L</a:t>
            </a:r>
          </a:p>
          <a:p>
            <a:pPr algn="ctr"/>
            <a:r>
              <a:rPr lang="en-US" sz="1400" dirty="0"/>
              <a:t>0.1 to 1LPM</a:t>
            </a:r>
          </a:p>
        </p:txBody>
      </p:sp>
      <p:sp>
        <p:nvSpPr>
          <p:cNvPr id="39" name="TextBox 38">
            <a:extLst>
              <a:ext uri="{FF2B5EF4-FFF2-40B4-BE49-F238E27FC236}">
                <a16:creationId xmlns:a16="http://schemas.microsoft.com/office/drawing/2014/main" id="{2504FBB5-C4D0-B647-8F09-F739460C9EF7}"/>
              </a:ext>
            </a:extLst>
          </p:cNvPr>
          <p:cNvSpPr txBox="1"/>
          <p:nvPr/>
        </p:nvSpPr>
        <p:spPr>
          <a:xfrm>
            <a:off x="5193069" y="3653451"/>
            <a:ext cx="1308144" cy="523220"/>
          </a:xfrm>
          <a:prstGeom prst="rect">
            <a:avLst/>
          </a:prstGeom>
          <a:noFill/>
        </p:spPr>
        <p:txBody>
          <a:bodyPr wrap="square" rtlCol="0">
            <a:spAutoFit/>
          </a:bodyPr>
          <a:lstStyle/>
          <a:p>
            <a:pPr algn="ctr"/>
            <a:r>
              <a:rPr lang="en-US" sz="1400" dirty="0"/>
              <a:t>0.5L-20L</a:t>
            </a:r>
          </a:p>
          <a:p>
            <a:pPr algn="ctr"/>
            <a:r>
              <a:rPr lang="en-US" sz="1400" dirty="0"/>
              <a:t>0.1 to 5LPM</a:t>
            </a:r>
          </a:p>
        </p:txBody>
      </p:sp>
      <p:sp>
        <p:nvSpPr>
          <p:cNvPr id="40" name="TextBox 39">
            <a:extLst>
              <a:ext uri="{FF2B5EF4-FFF2-40B4-BE49-F238E27FC236}">
                <a16:creationId xmlns:a16="http://schemas.microsoft.com/office/drawing/2014/main" id="{2C0F6593-C55A-D54E-A4E2-7167A7082FE7}"/>
              </a:ext>
            </a:extLst>
          </p:cNvPr>
          <p:cNvSpPr txBox="1"/>
          <p:nvPr/>
        </p:nvSpPr>
        <p:spPr>
          <a:xfrm>
            <a:off x="5193069" y="4190431"/>
            <a:ext cx="1308144" cy="523220"/>
          </a:xfrm>
          <a:prstGeom prst="rect">
            <a:avLst/>
          </a:prstGeom>
          <a:noFill/>
        </p:spPr>
        <p:txBody>
          <a:bodyPr wrap="square" rtlCol="0">
            <a:spAutoFit/>
          </a:bodyPr>
          <a:lstStyle/>
          <a:p>
            <a:pPr algn="ctr"/>
            <a:r>
              <a:rPr lang="en-US" sz="1400" dirty="0"/>
              <a:t>0.3-5m</a:t>
            </a:r>
            <a:r>
              <a:rPr lang="en-US" sz="1400" baseline="30000" dirty="0"/>
              <a:t>2</a:t>
            </a:r>
            <a:endParaRPr lang="en-US" sz="1400" dirty="0"/>
          </a:p>
          <a:p>
            <a:pPr algn="ctr"/>
            <a:r>
              <a:rPr lang="en-US" sz="1400" dirty="0"/>
              <a:t>1 to 10LPM</a:t>
            </a:r>
          </a:p>
        </p:txBody>
      </p:sp>
      <p:sp>
        <p:nvSpPr>
          <p:cNvPr id="41" name="TextBox 40">
            <a:extLst>
              <a:ext uri="{FF2B5EF4-FFF2-40B4-BE49-F238E27FC236}">
                <a16:creationId xmlns:a16="http://schemas.microsoft.com/office/drawing/2014/main" id="{DC14A7B2-A85F-8E40-8450-7D28452D76E6}"/>
              </a:ext>
            </a:extLst>
          </p:cNvPr>
          <p:cNvSpPr txBox="1"/>
          <p:nvPr/>
        </p:nvSpPr>
        <p:spPr>
          <a:xfrm>
            <a:off x="4907830" y="4679234"/>
            <a:ext cx="2165494" cy="523220"/>
          </a:xfrm>
          <a:prstGeom prst="rect">
            <a:avLst/>
          </a:prstGeom>
          <a:noFill/>
        </p:spPr>
        <p:txBody>
          <a:bodyPr wrap="square" rtlCol="0">
            <a:spAutoFit/>
          </a:bodyPr>
          <a:lstStyle/>
          <a:p>
            <a:pPr algn="ctr"/>
            <a:r>
              <a:rPr lang="en-US" sz="1400" dirty="0"/>
              <a:t>5-13m</a:t>
            </a:r>
            <a:r>
              <a:rPr lang="en-US" sz="1400" baseline="30000" dirty="0"/>
              <a:t>2</a:t>
            </a:r>
            <a:endParaRPr lang="en-US" sz="1400" dirty="0"/>
          </a:p>
          <a:p>
            <a:pPr algn="ctr"/>
            <a:r>
              <a:rPr lang="en-US" sz="1400" dirty="0"/>
              <a:t>Cross Flow 30-80LPM</a:t>
            </a:r>
          </a:p>
        </p:txBody>
      </p:sp>
      <p:sp>
        <p:nvSpPr>
          <p:cNvPr id="42" name="TextBox 41">
            <a:extLst>
              <a:ext uri="{FF2B5EF4-FFF2-40B4-BE49-F238E27FC236}">
                <a16:creationId xmlns:a16="http://schemas.microsoft.com/office/drawing/2014/main" id="{3A589E7C-CB24-A846-9F1C-EEEC848882E8}"/>
              </a:ext>
            </a:extLst>
          </p:cNvPr>
          <p:cNvSpPr txBox="1"/>
          <p:nvPr/>
        </p:nvSpPr>
        <p:spPr>
          <a:xfrm>
            <a:off x="2092720" y="1257220"/>
            <a:ext cx="1377565" cy="523220"/>
          </a:xfrm>
          <a:prstGeom prst="rect">
            <a:avLst/>
          </a:prstGeom>
          <a:noFill/>
        </p:spPr>
        <p:txBody>
          <a:bodyPr wrap="square" rtlCol="0">
            <a:spAutoFit/>
          </a:bodyPr>
          <a:lstStyle/>
          <a:p>
            <a:pPr algn="ctr"/>
            <a:r>
              <a:rPr lang="en-US" sz="1400" dirty="0"/>
              <a:t>4-14m</a:t>
            </a:r>
            <a:r>
              <a:rPr lang="en-US" sz="1400" baseline="30000" dirty="0"/>
              <a:t>2</a:t>
            </a:r>
            <a:endParaRPr lang="en-US" dirty="0"/>
          </a:p>
          <a:p>
            <a:pPr algn="ctr"/>
            <a:r>
              <a:rPr lang="en-US" sz="1400" dirty="0"/>
              <a:t>100-400LPM</a:t>
            </a:r>
          </a:p>
        </p:txBody>
      </p:sp>
      <p:sp>
        <p:nvSpPr>
          <p:cNvPr id="43" name="TextBox 42">
            <a:extLst>
              <a:ext uri="{FF2B5EF4-FFF2-40B4-BE49-F238E27FC236}">
                <a16:creationId xmlns:a16="http://schemas.microsoft.com/office/drawing/2014/main" id="{507FA54B-13EC-3D48-9AFF-5BC7CCE9C387}"/>
              </a:ext>
            </a:extLst>
          </p:cNvPr>
          <p:cNvSpPr txBox="1"/>
          <p:nvPr/>
        </p:nvSpPr>
        <p:spPr>
          <a:xfrm>
            <a:off x="5239046" y="1349653"/>
            <a:ext cx="1377565" cy="523220"/>
          </a:xfrm>
          <a:prstGeom prst="rect">
            <a:avLst/>
          </a:prstGeom>
          <a:noFill/>
        </p:spPr>
        <p:txBody>
          <a:bodyPr wrap="square" rtlCol="0">
            <a:spAutoFit/>
          </a:bodyPr>
          <a:lstStyle/>
          <a:p>
            <a:pPr algn="ctr"/>
            <a:r>
              <a:rPr lang="en-US" sz="1400" dirty="0"/>
              <a:t>4-14m</a:t>
            </a:r>
            <a:r>
              <a:rPr lang="en-US" sz="1400" baseline="30000" dirty="0"/>
              <a:t>2</a:t>
            </a:r>
            <a:endParaRPr lang="en-US" dirty="0"/>
          </a:p>
          <a:p>
            <a:pPr algn="ctr"/>
            <a:r>
              <a:rPr lang="en-US" sz="1400" dirty="0"/>
              <a:t>100-400LPM</a:t>
            </a:r>
          </a:p>
        </p:txBody>
      </p:sp>
      <p:sp>
        <p:nvSpPr>
          <p:cNvPr id="9" name="TextBox 8">
            <a:extLst>
              <a:ext uri="{FF2B5EF4-FFF2-40B4-BE49-F238E27FC236}">
                <a16:creationId xmlns:a16="http://schemas.microsoft.com/office/drawing/2014/main" id="{5A74F023-FF0A-0C4F-BE47-2AB63412CF05}"/>
              </a:ext>
            </a:extLst>
          </p:cNvPr>
          <p:cNvSpPr txBox="1"/>
          <p:nvPr/>
        </p:nvSpPr>
        <p:spPr>
          <a:xfrm>
            <a:off x="6993296" y="579744"/>
            <a:ext cx="2137022" cy="1477328"/>
          </a:xfrm>
          <a:prstGeom prst="rect">
            <a:avLst/>
          </a:prstGeom>
          <a:noFill/>
        </p:spPr>
        <p:txBody>
          <a:bodyPr wrap="square" rtlCol="0">
            <a:spAutoFit/>
          </a:bodyPr>
          <a:lstStyle/>
          <a:p>
            <a:pPr marL="285753" indent="-285753">
              <a:buFont typeface="Arial" panose="020B0604020202020204" pitchFamily="34" charset="0"/>
              <a:buChar char="•"/>
            </a:pPr>
            <a:r>
              <a:rPr lang="en-US" dirty="0" err="1"/>
              <a:t>mAb</a:t>
            </a:r>
            <a:endParaRPr lang="en-US" dirty="0"/>
          </a:p>
          <a:p>
            <a:pPr marL="285753" indent="-285753">
              <a:buFont typeface="Arial" panose="020B0604020202020204" pitchFamily="34" charset="0"/>
              <a:buChar char="•"/>
            </a:pPr>
            <a:r>
              <a:rPr lang="en-US" dirty="0"/>
              <a:t>Bi-specific</a:t>
            </a:r>
          </a:p>
          <a:p>
            <a:pPr marL="285753" indent="-285753">
              <a:buFont typeface="Arial" panose="020B0604020202020204" pitchFamily="34" charset="0"/>
              <a:buChar char="•"/>
            </a:pPr>
            <a:r>
              <a:rPr lang="en-US" dirty="0"/>
              <a:t>Fc-Fusion</a:t>
            </a:r>
          </a:p>
          <a:p>
            <a:pPr marL="285753" indent="-285753">
              <a:buFont typeface="Arial" panose="020B0604020202020204" pitchFamily="34" charset="0"/>
              <a:buChar char="•"/>
            </a:pPr>
            <a:r>
              <a:rPr lang="en-US" dirty="0"/>
              <a:t>Enzymes</a:t>
            </a:r>
          </a:p>
          <a:p>
            <a:pPr marL="285753" indent="-285753">
              <a:buFont typeface="Arial" panose="020B0604020202020204" pitchFamily="34" charset="0"/>
              <a:buChar char="•"/>
            </a:pPr>
            <a:r>
              <a:rPr lang="en-US" dirty="0" err="1"/>
              <a:t>rProtein</a:t>
            </a:r>
            <a:endParaRPr lang="en-US" dirty="0"/>
          </a:p>
        </p:txBody>
      </p:sp>
      <p:sp>
        <p:nvSpPr>
          <p:cNvPr id="45" name="TextBox 44">
            <a:extLst>
              <a:ext uri="{FF2B5EF4-FFF2-40B4-BE49-F238E27FC236}">
                <a16:creationId xmlns:a16="http://schemas.microsoft.com/office/drawing/2014/main" id="{4064F8FD-800A-5C46-86EE-612DBF38182E}"/>
              </a:ext>
            </a:extLst>
          </p:cNvPr>
          <p:cNvSpPr txBox="1"/>
          <p:nvPr/>
        </p:nvSpPr>
        <p:spPr>
          <a:xfrm>
            <a:off x="6781677" y="3251408"/>
            <a:ext cx="2362323" cy="1754326"/>
          </a:xfrm>
          <a:prstGeom prst="rect">
            <a:avLst/>
          </a:prstGeom>
          <a:noFill/>
        </p:spPr>
        <p:txBody>
          <a:bodyPr wrap="square" rtlCol="0">
            <a:spAutoFit/>
          </a:bodyPr>
          <a:lstStyle/>
          <a:p>
            <a:r>
              <a:rPr lang="en-US" dirty="0"/>
              <a:t>Gene therapy (</a:t>
            </a:r>
            <a:r>
              <a:rPr lang="en-US" dirty="0" err="1"/>
              <a:t>oos</a:t>
            </a:r>
            <a:r>
              <a:rPr lang="en-US" dirty="0"/>
              <a:t>)</a:t>
            </a:r>
          </a:p>
          <a:p>
            <a:pPr marL="285753" indent="-285753">
              <a:buFont typeface="Arial" panose="020B0604020202020204" pitchFamily="34" charset="0"/>
              <a:buChar char="•"/>
            </a:pPr>
            <a:r>
              <a:rPr lang="en-US" dirty="0"/>
              <a:t>Plasmid production</a:t>
            </a:r>
          </a:p>
          <a:p>
            <a:pPr marL="285753" indent="-285753">
              <a:buFont typeface="Arial" panose="020B0604020202020204" pitchFamily="34" charset="0"/>
              <a:buChar char="•"/>
            </a:pPr>
            <a:r>
              <a:rPr lang="en-US" dirty="0"/>
              <a:t>Cont. Transfection</a:t>
            </a:r>
          </a:p>
          <a:p>
            <a:pPr marL="285753" indent="-285753">
              <a:buFont typeface="Arial" panose="020B0604020202020204" pitchFamily="34" charset="0"/>
              <a:buChar char="•"/>
            </a:pPr>
            <a:r>
              <a:rPr lang="en-US" dirty="0"/>
              <a:t>Virus bioreactor</a:t>
            </a:r>
          </a:p>
          <a:p>
            <a:pPr marL="285753" indent="-285753">
              <a:buFont typeface="Arial" panose="020B0604020202020204" pitchFamily="34" charset="0"/>
              <a:buChar char="•"/>
            </a:pPr>
            <a:r>
              <a:rPr lang="en-US" dirty="0"/>
              <a:t>Purification</a:t>
            </a:r>
          </a:p>
        </p:txBody>
      </p:sp>
      <p:sp>
        <p:nvSpPr>
          <p:cNvPr id="23" name="TextBox 22">
            <a:extLst>
              <a:ext uri="{FF2B5EF4-FFF2-40B4-BE49-F238E27FC236}">
                <a16:creationId xmlns:a16="http://schemas.microsoft.com/office/drawing/2014/main" id="{74557252-1461-3C4C-9484-8A7A77747D16}"/>
              </a:ext>
            </a:extLst>
          </p:cNvPr>
          <p:cNvSpPr txBox="1"/>
          <p:nvPr/>
        </p:nvSpPr>
        <p:spPr>
          <a:xfrm>
            <a:off x="2031786" y="2523698"/>
            <a:ext cx="1308144" cy="523220"/>
          </a:xfrm>
          <a:prstGeom prst="rect">
            <a:avLst/>
          </a:prstGeom>
          <a:noFill/>
        </p:spPr>
        <p:txBody>
          <a:bodyPr wrap="square" rtlCol="0">
            <a:spAutoFit/>
          </a:bodyPr>
          <a:lstStyle/>
          <a:p>
            <a:pPr algn="ctr"/>
            <a:r>
              <a:rPr lang="en-US" sz="1400" dirty="0"/>
              <a:t>7m</a:t>
            </a:r>
            <a:r>
              <a:rPr lang="en-US" sz="1400" baseline="30000" dirty="0"/>
              <a:t>2</a:t>
            </a:r>
            <a:r>
              <a:rPr lang="en-US" sz="1400" dirty="0"/>
              <a:t> changed daily</a:t>
            </a:r>
          </a:p>
        </p:txBody>
      </p:sp>
      <p:sp>
        <p:nvSpPr>
          <p:cNvPr id="24" name="TextBox 23">
            <a:extLst>
              <a:ext uri="{FF2B5EF4-FFF2-40B4-BE49-F238E27FC236}">
                <a16:creationId xmlns:a16="http://schemas.microsoft.com/office/drawing/2014/main" id="{A5727E56-6868-1E4E-BDD3-12B8C0DACC12}"/>
              </a:ext>
            </a:extLst>
          </p:cNvPr>
          <p:cNvSpPr txBox="1"/>
          <p:nvPr/>
        </p:nvSpPr>
        <p:spPr>
          <a:xfrm>
            <a:off x="5193069" y="2557825"/>
            <a:ext cx="1308144" cy="523220"/>
          </a:xfrm>
          <a:prstGeom prst="rect">
            <a:avLst/>
          </a:prstGeom>
          <a:noFill/>
        </p:spPr>
        <p:txBody>
          <a:bodyPr wrap="square" rtlCol="0">
            <a:spAutoFit/>
          </a:bodyPr>
          <a:lstStyle/>
          <a:p>
            <a:pPr algn="ctr"/>
            <a:r>
              <a:rPr lang="en-US" sz="1400" dirty="0"/>
              <a:t>7m</a:t>
            </a:r>
            <a:r>
              <a:rPr lang="en-US" sz="1400" baseline="30000" dirty="0"/>
              <a:t>2</a:t>
            </a:r>
            <a:r>
              <a:rPr lang="en-US" sz="1400" dirty="0"/>
              <a:t> changed daily</a:t>
            </a:r>
          </a:p>
        </p:txBody>
      </p:sp>
    </p:spTree>
    <p:extLst>
      <p:ext uri="{BB962C8B-B14F-4D97-AF65-F5344CB8AC3E}">
        <p14:creationId xmlns:p14="http://schemas.microsoft.com/office/powerpoint/2010/main" val="967411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39D91-F4C8-4960-A9F1-B227A2FC5251}"/>
              </a:ext>
            </a:extLst>
          </p:cNvPr>
          <p:cNvSpPr>
            <a:spLocks noGrp="1"/>
          </p:cNvSpPr>
          <p:nvPr>
            <p:ph type="sldNum" sz="quarter" idx="4"/>
          </p:nvPr>
        </p:nvSpPr>
        <p:spPr>
          <a:xfrm>
            <a:off x="273529" y="4876928"/>
            <a:ext cx="396000" cy="162000"/>
          </a:xfrm>
        </p:spPr>
        <p:txBody>
          <a:bodyPr/>
          <a:lstStyle/>
          <a:p>
            <a:fld id="{3C4F54F3-C349-4609-AFEE-01462D5C7942}" type="slidenum">
              <a:rPr lang="en-GB" smtClean="0"/>
              <a:pPr/>
              <a:t>14</a:t>
            </a:fld>
            <a:endParaRPr lang="en-GB"/>
          </a:p>
        </p:txBody>
      </p:sp>
      <p:sp>
        <p:nvSpPr>
          <p:cNvPr id="3" name="Title 2">
            <a:extLst>
              <a:ext uri="{FF2B5EF4-FFF2-40B4-BE49-F238E27FC236}">
                <a16:creationId xmlns:a16="http://schemas.microsoft.com/office/drawing/2014/main" id="{5ED5F057-2340-4553-9FBF-42E9A8F5F551}"/>
              </a:ext>
            </a:extLst>
          </p:cNvPr>
          <p:cNvSpPr>
            <a:spLocks noGrp="1"/>
          </p:cNvSpPr>
          <p:nvPr>
            <p:ph type="title"/>
          </p:nvPr>
        </p:nvSpPr>
        <p:spPr>
          <a:xfrm>
            <a:off x="237062" y="80384"/>
            <a:ext cx="8765651" cy="504000"/>
          </a:xfrm>
        </p:spPr>
        <p:txBody>
          <a:bodyPr/>
          <a:lstStyle/>
          <a:p>
            <a:r>
              <a:rPr lang="en-US" dirty="0"/>
              <a:t>Design basis for ICB for 0.5-40kg/day </a:t>
            </a:r>
          </a:p>
        </p:txBody>
      </p:sp>
      <p:graphicFrame>
        <p:nvGraphicFramePr>
          <p:cNvPr id="21" name="Diagram 20">
            <a:extLst>
              <a:ext uri="{FF2B5EF4-FFF2-40B4-BE49-F238E27FC236}">
                <a16:creationId xmlns:a16="http://schemas.microsoft.com/office/drawing/2014/main" id="{CB7AED5B-674F-904E-AC78-1345D7108333}"/>
              </a:ext>
            </a:extLst>
          </p:cNvPr>
          <p:cNvGraphicFramePr/>
          <p:nvPr>
            <p:custDataLst>
              <p:tags r:id="rId1"/>
            </p:custDataLst>
            <p:extLst>
              <p:ext uri="{D42A27DB-BD31-4B8C-83A1-F6EECF244321}">
                <p14:modId xmlns:p14="http://schemas.microsoft.com/office/powerpoint/2010/main" val="3360046987"/>
              </p:ext>
            </p:extLst>
          </p:nvPr>
        </p:nvGraphicFramePr>
        <p:xfrm>
          <a:off x="3545785" y="791494"/>
          <a:ext cx="1485581" cy="4297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9" name="TextBox 28">
            <a:extLst>
              <a:ext uri="{FF2B5EF4-FFF2-40B4-BE49-F238E27FC236}">
                <a16:creationId xmlns:a16="http://schemas.microsoft.com/office/drawing/2014/main" id="{4CF10644-113C-554C-B9E5-2E7C0803641D}"/>
              </a:ext>
            </a:extLst>
          </p:cNvPr>
          <p:cNvSpPr txBox="1"/>
          <p:nvPr/>
        </p:nvSpPr>
        <p:spPr>
          <a:xfrm>
            <a:off x="1920853" y="1723444"/>
            <a:ext cx="1308144" cy="523220"/>
          </a:xfrm>
          <a:prstGeom prst="rect">
            <a:avLst/>
          </a:prstGeom>
          <a:noFill/>
        </p:spPr>
        <p:txBody>
          <a:bodyPr wrap="square" rtlCol="0">
            <a:spAutoFit/>
          </a:bodyPr>
          <a:lstStyle/>
          <a:p>
            <a:pPr algn="ctr"/>
            <a:r>
              <a:rPr lang="en-US" sz="1400" dirty="0"/>
              <a:t>1-5L</a:t>
            </a:r>
          </a:p>
          <a:p>
            <a:pPr algn="ctr"/>
            <a:r>
              <a:rPr lang="en-US" sz="1400" dirty="0"/>
              <a:t>0.1 to 1 LPM</a:t>
            </a:r>
          </a:p>
        </p:txBody>
      </p:sp>
      <p:sp>
        <p:nvSpPr>
          <p:cNvPr id="30" name="TextBox 29">
            <a:extLst>
              <a:ext uri="{FF2B5EF4-FFF2-40B4-BE49-F238E27FC236}">
                <a16:creationId xmlns:a16="http://schemas.microsoft.com/office/drawing/2014/main" id="{CD713AD4-2B30-8044-AEAC-3B240A16F7FA}"/>
              </a:ext>
            </a:extLst>
          </p:cNvPr>
          <p:cNvSpPr txBox="1"/>
          <p:nvPr/>
        </p:nvSpPr>
        <p:spPr>
          <a:xfrm>
            <a:off x="1608023" y="573020"/>
            <a:ext cx="1933803" cy="523220"/>
          </a:xfrm>
          <a:prstGeom prst="rect">
            <a:avLst/>
          </a:prstGeom>
          <a:noFill/>
        </p:spPr>
        <p:txBody>
          <a:bodyPr wrap="square" rtlCol="0">
            <a:spAutoFit/>
          </a:bodyPr>
          <a:lstStyle/>
          <a:p>
            <a:pPr algn="ctr"/>
            <a:r>
              <a:rPr lang="en-US" sz="1400" u="sng" dirty="0"/>
              <a:t>Clinical Manufacturing</a:t>
            </a:r>
          </a:p>
          <a:p>
            <a:pPr algn="ctr"/>
            <a:r>
              <a:rPr lang="en-US" sz="1400" dirty="0"/>
              <a:t>0.1kg-0.5kg/day</a:t>
            </a:r>
          </a:p>
        </p:txBody>
      </p:sp>
      <p:sp>
        <p:nvSpPr>
          <p:cNvPr id="31" name="TextBox 30">
            <a:extLst>
              <a:ext uri="{FF2B5EF4-FFF2-40B4-BE49-F238E27FC236}">
                <a16:creationId xmlns:a16="http://schemas.microsoft.com/office/drawing/2014/main" id="{A057F73B-E58C-D34B-B32F-BF7A50D05489}"/>
              </a:ext>
            </a:extLst>
          </p:cNvPr>
          <p:cNvSpPr txBox="1"/>
          <p:nvPr/>
        </p:nvSpPr>
        <p:spPr>
          <a:xfrm>
            <a:off x="1920853" y="3199812"/>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2" name="TextBox 31">
            <a:extLst>
              <a:ext uri="{FF2B5EF4-FFF2-40B4-BE49-F238E27FC236}">
                <a16:creationId xmlns:a16="http://schemas.microsoft.com/office/drawing/2014/main" id="{2AFC852E-6EC0-A04F-A727-3EC3A2860868}"/>
              </a:ext>
            </a:extLst>
          </p:cNvPr>
          <p:cNvSpPr txBox="1"/>
          <p:nvPr/>
        </p:nvSpPr>
        <p:spPr>
          <a:xfrm>
            <a:off x="1920853" y="3719374"/>
            <a:ext cx="1308144" cy="523220"/>
          </a:xfrm>
          <a:prstGeom prst="rect">
            <a:avLst/>
          </a:prstGeom>
          <a:noFill/>
        </p:spPr>
        <p:txBody>
          <a:bodyPr wrap="square" rtlCol="0">
            <a:spAutoFit/>
          </a:bodyPr>
          <a:lstStyle/>
          <a:p>
            <a:pPr algn="ctr"/>
            <a:r>
              <a:rPr lang="en-US" sz="1400" dirty="0"/>
              <a:t>1L-5L</a:t>
            </a:r>
          </a:p>
          <a:p>
            <a:pPr algn="ctr"/>
            <a:r>
              <a:rPr lang="en-US" sz="1400" dirty="0"/>
              <a:t>0.1 to 1LPM</a:t>
            </a:r>
          </a:p>
        </p:txBody>
      </p:sp>
      <p:sp>
        <p:nvSpPr>
          <p:cNvPr id="33" name="TextBox 32">
            <a:extLst>
              <a:ext uri="{FF2B5EF4-FFF2-40B4-BE49-F238E27FC236}">
                <a16:creationId xmlns:a16="http://schemas.microsoft.com/office/drawing/2014/main" id="{B2DF1DD8-3D87-234D-9914-C948DFEDCBD5}"/>
              </a:ext>
            </a:extLst>
          </p:cNvPr>
          <p:cNvSpPr txBox="1"/>
          <p:nvPr/>
        </p:nvSpPr>
        <p:spPr>
          <a:xfrm>
            <a:off x="1193371" y="4241006"/>
            <a:ext cx="273578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34" name="TextBox 33">
            <a:extLst>
              <a:ext uri="{FF2B5EF4-FFF2-40B4-BE49-F238E27FC236}">
                <a16:creationId xmlns:a16="http://schemas.microsoft.com/office/drawing/2014/main" id="{4E74177D-C74C-2A4F-B09C-BF89290F458E}"/>
              </a:ext>
            </a:extLst>
          </p:cNvPr>
          <p:cNvSpPr txBox="1"/>
          <p:nvPr/>
        </p:nvSpPr>
        <p:spPr>
          <a:xfrm>
            <a:off x="1550430" y="4814768"/>
            <a:ext cx="2048991" cy="307777"/>
          </a:xfrm>
          <a:prstGeom prst="rect">
            <a:avLst/>
          </a:prstGeom>
          <a:noFill/>
        </p:spPr>
        <p:txBody>
          <a:bodyPr wrap="square" rtlCol="0">
            <a:spAutoFit/>
          </a:bodyPr>
          <a:lstStyle/>
          <a:p>
            <a:pPr algn="ctr"/>
            <a:r>
              <a:rPr lang="en-US" sz="1400" dirty="0"/>
              <a:t>1m</a:t>
            </a:r>
            <a:r>
              <a:rPr lang="en-US" sz="1400" baseline="30000" dirty="0"/>
              <a:t>2</a:t>
            </a:r>
            <a:endParaRPr lang="en-US" sz="1400" dirty="0"/>
          </a:p>
        </p:txBody>
      </p:sp>
      <p:sp>
        <p:nvSpPr>
          <p:cNvPr id="35" name="TextBox 34">
            <a:extLst>
              <a:ext uri="{FF2B5EF4-FFF2-40B4-BE49-F238E27FC236}">
                <a16:creationId xmlns:a16="http://schemas.microsoft.com/office/drawing/2014/main" id="{5C83EA7D-199F-8D44-8CBC-7D61C725A702}"/>
              </a:ext>
            </a:extLst>
          </p:cNvPr>
          <p:cNvSpPr txBox="1"/>
          <p:nvPr/>
        </p:nvSpPr>
        <p:spPr>
          <a:xfrm>
            <a:off x="5348154" y="541831"/>
            <a:ext cx="1933803" cy="523220"/>
          </a:xfrm>
          <a:prstGeom prst="rect">
            <a:avLst/>
          </a:prstGeom>
          <a:noFill/>
        </p:spPr>
        <p:txBody>
          <a:bodyPr wrap="square" rtlCol="0">
            <a:spAutoFit/>
          </a:bodyPr>
          <a:lstStyle/>
          <a:p>
            <a:pPr algn="ctr"/>
            <a:r>
              <a:rPr lang="en-US" sz="1400" u="sng" dirty="0"/>
              <a:t>130-500kg batch</a:t>
            </a:r>
          </a:p>
          <a:p>
            <a:pPr algn="ctr"/>
            <a:r>
              <a:rPr lang="en-US" sz="1400" dirty="0"/>
              <a:t>0.5kg-40kg/day</a:t>
            </a:r>
          </a:p>
        </p:txBody>
      </p:sp>
      <p:sp>
        <p:nvSpPr>
          <p:cNvPr id="38" name="TextBox 37">
            <a:extLst>
              <a:ext uri="{FF2B5EF4-FFF2-40B4-BE49-F238E27FC236}">
                <a16:creationId xmlns:a16="http://schemas.microsoft.com/office/drawing/2014/main" id="{9E3E1E33-A7E9-F646-9827-1F253445D4E1}"/>
              </a:ext>
            </a:extLst>
          </p:cNvPr>
          <p:cNvSpPr txBox="1"/>
          <p:nvPr/>
        </p:nvSpPr>
        <p:spPr>
          <a:xfrm>
            <a:off x="5661989" y="3199812"/>
            <a:ext cx="1308144" cy="523220"/>
          </a:xfrm>
          <a:prstGeom prst="rect">
            <a:avLst/>
          </a:prstGeom>
          <a:noFill/>
        </p:spPr>
        <p:txBody>
          <a:bodyPr wrap="square" rtlCol="0">
            <a:spAutoFit/>
          </a:bodyPr>
          <a:lstStyle/>
          <a:p>
            <a:pPr algn="ctr"/>
            <a:r>
              <a:rPr lang="en-US" sz="1400" dirty="0"/>
              <a:t>5L-30L</a:t>
            </a:r>
          </a:p>
          <a:p>
            <a:pPr algn="ctr"/>
            <a:r>
              <a:rPr lang="en-US" sz="1400" dirty="0"/>
              <a:t>1 to 13LPM</a:t>
            </a:r>
          </a:p>
        </p:txBody>
      </p:sp>
      <p:sp>
        <p:nvSpPr>
          <p:cNvPr id="40" name="TextBox 39">
            <a:extLst>
              <a:ext uri="{FF2B5EF4-FFF2-40B4-BE49-F238E27FC236}">
                <a16:creationId xmlns:a16="http://schemas.microsoft.com/office/drawing/2014/main" id="{2C0F6593-C55A-D54E-A4E2-7167A7082FE7}"/>
              </a:ext>
            </a:extLst>
          </p:cNvPr>
          <p:cNvSpPr txBox="1"/>
          <p:nvPr/>
        </p:nvSpPr>
        <p:spPr>
          <a:xfrm>
            <a:off x="5233315" y="4241006"/>
            <a:ext cx="2165493" cy="523220"/>
          </a:xfrm>
          <a:prstGeom prst="rect">
            <a:avLst/>
          </a:prstGeom>
          <a:noFill/>
        </p:spPr>
        <p:txBody>
          <a:bodyPr wrap="square" rtlCol="0">
            <a:spAutoFit/>
          </a:bodyPr>
          <a:lstStyle/>
          <a:p>
            <a:pPr algn="ctr"/>
            <a:r>
              <a:rPr lang="en-US" sz="1400" dirty="0"/>
              <a:t>0.3-5m</a:t>
            </a:r>
            <a:r>
              <a:rPr lang="en-US" sz="1400" baseline="30000" dirty="0"/>
              <a:t>2 </a:t>
            </a:r>
            <a:r>
              <a:rPr lang="en-US" sz="1400" dirty="0"/>
              <a:t>changed daily</a:t>
            </a:r>
          </a:p>
          <a:p>
            <a:pPr algn="ctr"/>
            <a:r>
              <a:rPr lang="en-US" sz="1400" dirty="0"/>
              <a:t>1 to 10LPM</a:t>
            </a:r>
          </a:p>
        </p:txBody>
      </p:sp>
      <p:sp>
        <p:nvSpPr>
          <p:cNvPr id="41" name="TextBox 40">
            <a:extLst>
              <a:ext uri="{FF2B5EF4-FFF2-40B4-BE49-F238E27FC236}">
                <a16:creationId xmlns:a16="http://schemas.microsoft.com/office/drawing/2014/main" id="{DC14A7B2-A85F-8E40-8450-7D28452D76E6}"/>
              </a:ext>
            </a:extLst>
          </p:cNvPr>
          <p:cNvSpPr txBox="1"/>
          <p:nvPr/>
        </p:nvSpPr>
        <p:spPr>
          <a:xfrm>
            <a:off x="4626974" y="4814768"/>
            <a:ext cx="3378174" cy="307777"/>
          </a:xfrm>
          <a:prstGeom prst="rect">
            <a:avLst/>
          </a:prstGeom>
          <a:noFill/>
        </p:spPr>
        <p:txBody>
          <a:bodyPr wrap="square" rtlCol="0">
            <a:spAutoFit/>
          </a:bodyPr>
          <a:lstStyle/>
          <a:p>
            <a:pPr algn="ctr"/>
            <a:r>
              <a:rPr lang="en-US" sz="1400" dirty="0"/>
              <a:t>1-4m</a:t>
            </a:r>
            <a:r>
              <a:rPr lang="en-US" sz="1400" baseline="30000" dirty="0"/>
              <a:t>2</a:t>
            </a:r>
            <a:r>
              <a:rPr lang="en-US" sz="1400" dirty="0"/>
              <a:t> operated daily if batch</a:t>
            </a:r>
          </a:p>
        </p:txBody>
      </p:sp>
      <p:sp>
        <p:nvSpPr>
          <p:cNvPr id="42" name="TextBox 41">
            <a:extLst>
              <a:ext uri="{FF2B5EF4-FFF2-40B4-BE49-F238E27FC236}">
                <a16:creationId xmlns:a16="http://schemas.microsoft.com/office/drawing/2014/main" id="{3A589E7C-CB24-A846-9F1C-EEEC848882E8}"/>
              </a:ext>
            </a:extLst>
          </p:cNvPr>
          <p:cNvSpPr txBox="1"/>
          <p:nvPr/>
        </p:nvSpPr>
        <p:spPr>
          <a:xfrm>
            <a:off x="1380292" y="1156339"/>
            <a:ext cx="2389267" cy="523220"/>
          </a:xfrm>
          <a:prstGeom prst="rect">
            <a:avLst/>
          </a:prstGeom>
          <a:noFill/>
        </p:spPr>
        <p:txBody>
          <a:bodyPr wrap="square" rtlCol="0">
            <a:spAutoFit/>
          </a:bodyPr>
          <a:lstStyle/>
          <a:p>
            <a:pPr algn="ctr"/>
            <a:r>
              <a:rPr lang="en-US" sz="1400" dirty="0"/>
              <a:t>7-15m</a:t>
            </a:r>
            <a:r>
              <a:rPr lang="en-US" sz="1400" baseline="30000" dirty="0"/>
              <a:t>2</a:t>
            </a:r>
            <a:endParaRPr lang="en-US" dirty="0"/>
          </a:p>
          <a:p>
            <a:pPr algn="ctr"/>
            <a:r>
              <a:rPr lang="en-US" sz="1400" dirty="0"/>
              <a:t>Cross flow &lt;90LPM</a:t>
            </a:r>
          </a:p>
        </p:txBody>
      </p:sp>
      <p:sp>
        <p:nvSpPr>
          <p:cNvPr id="43" name="TextBox 42">
            <a:extLst>
              <a:ext uri="{FF2B5EF4-FFF2-40B4-BE49-F238E27FC236}">
                <a16:creationId xmlns:a16="http://schemas.microsoft.com/office/drawing/2014/main" id="{507FA54B-13EC-3D48-9AFF-5BC7CCE9C387}"/>
              </a:ext>
            </a:extLst>
          </p:cNvPr>
          <p:cNvSpPr txBox="1"/>
          <p:nvPr/>
        </p:nvSpPr>
        <p:spPr>
          <a:xfrm>
            <a:off x="5248342" y="1156339"/>
            <a:ext cx="2135438" cy="523220"/>
          </a:xfrm>
          <a:prstGeom prst="rect">
            <a:avLst/>
          </a:prstGeom>
          <a:noFill/>
        </p:spPr>
        <p:txBody>
          <a:bodyPr wrap="square" rtlCol="0">
            <a:spAutoFit/>
          </a:bodyPr>
          <a:lstStyle/>
          <a:p>
            <a:pPr algn="ctr"/>
            <a:r>
              <a:rPr lang="en-US" sz="1400" dirty="0"/>
              <a:t>2x30m</a:t>
            </a:r>
            <a:r>
              <a:rPr lang="en-US" sz="1400" baseline="30000" dirty="0"/>
              <a:t>2</a:t>
            </a:r>
            <a:endParaRPr lang="en-US" dirty="0"/>
          </a:p>
          <a:p>
            <a:pPr algn="ctr"/>
            <a:r>
              <a:rPr lang="en-US" sz="1400" dirty="0"/>
              <a:t>Cross flow &lt;90PM</a:t>
            </a:r>
          </a:p>
        </p:txBody>
      </p:sp>
      <p:sp>
        <p:nvSpPr>
          <p:cNvPr id="23" name="TextBox 22">
            <a:extLst>
              <a:ext uri="{FF2B5EF4-FFF2-40B4-BE49-F238E27FC236}">
                <a16:creationId xmlns:a16="http://schemas.microsoft.com/office/drawing/2014/main" id="{74557252-1461-3C4C-9484-8A7A77747D16}"/>
              </a:ext>
            </a:extLst>
          </p:cNvPr>
          <p:cNvSpPr txBox="1"/>
          <p:nvPr/>
        </p:nvSpPr>
        <p:spPr>
          <a:xfrm>
            <a:off x="1920853" y="2667469"/>
            <a:ext cx="1308144" cy="523220"/>
          </a:xfrm>
          <a:prstGeom prst="rect">
            <a:avLst/>
          </a:prstGeom>
          <a:noFill/>
        </p:spPr>
        <p:txBody>
          <a:bodyPr wrap="square" rtlCol="0">
            <a:spAutoFit/>
          </a:bodyPr>
          <a:lstStyle/>
          <a:p>
            <a:pPr algn="ctr"/>
            <a:r>
              <a:rPr lang="en-US" sz="1400" dirty="0"/>
              <a:t>0.5m</a:t>
            </a:r>
            <a:r>
              <a:rPr lang="en-US" sz="1400" baseline="30000" dirty="0"/>
              <a:t>2</a:t>
            </a:r>
            <a:r>
              <a:rPr lang="en-US" sz="1400" dirty="0"/>
              <a:t> changed daily</a:t>
            </a:r>
          </a:p>
        </p:txBody>
      </p:sp>
      <p:sp>
        <p:nvSpPr>
          <p:cNvPr id="24" name="TextBox 23">
            <a:extLst>
              <a:ext uri="{FF2B5EF4-FFF2-40B4-BE49-F238E27FC236}">
                <a16:creationId xmlns:a16="http://schemas.microsoft.com/office/drawing/2014/main" id="{A5727E56-6868-1E4E-BDD3-12B8C0DACC12}"/>
              </a:ext>
            </a:extLst>
          </p:cNvPr>
          <p:cNvSpPr txBox="1"/>
          <p:nvPr/>
        </p:nvSpPr>
        <p:spPr>
          <a:xfrm>
            <a:off x="5661989" y="2667469"/>
            <a:ext cx="1308144" cy="523220"/>
          </a:xfrm>
          <a:prstGeom prst="rect">
            <a:avLst/>
          </a:prstGeom>
          <a:noFill/>
        </p:spPr>
        <p:txBody>
          <a:bodyPr wrap="square" rtlCol="0">
            <a:spAutoFit/>
          </a:bodyPr>
          <a:lstStyle/>
          <a:p>
            <a:pPr algn="ctr"/>
            <a:r>
              <a:rPr lang="en-US" sz="1400" dirty="0"/>
              <a:t>3-13m</a:t>
            </a:r>
            <a:r>
              <a:rPr lang="en-US" sz="1400" baseline="30000" dirty="0"/>
              <a:t>2</a:t>
            </a:r>
            <a:r>
              <a:rPr lang="en-US" sz="1400" dirty="0"/>
              <a:t> changed daily</a:t>
            </a:r>
          </a:p>
        </p:txBody>
      </p:sp>
      <p:sp>
        <p:nvSpPr>
          <p:cNvPr id="25" name="TextBox 24">
            <a:extLst>
              <a:ext uri="{FF2B5EF4-FFF2-40B4-BE49-F238E27FC236}">
                <a16:creationId xmlns:a16="http://schemas.microsoft.com/office/drawing/2014/main" id="{5BA7CD51-B9A4-EF4F-9E6E-2BC5955FE1F5}"/>
              </a:ext>
            </a:extLst>
          </p:cNvPr>
          <p:cNvSpPr txBox="1"/>
          <p:nvPr/>
        </p:nvSpPr>
        <p:spPr>
          <a:xfrm>
            <a:off x="5661989" y="1723444"/>
            <a:ext cx="1308144" cy="523220"/>
          </a:xfrm>
          <a:prstGeom prst="rect">
            <a:avLst/>
          </a:prstGeom>
          <a:noFill/>
        </p:spPr>
        <p:txBody>
          <a:bodyPr wrap="square" rtlCol="0">
            <a:spAutoFit/>
          </a:bodyPr>
          <a:lstStyle/>
          <a:p>
            <a:pPr algn="ctr"/>
            <a:r>
              <a:rPr lang="en-US" sz="1400" dirty="0"/>
              <a:t>5-50L</a:t>
            </a:r>
          </a:p>
          <a:p>
            <a:pPr algn="ctr"/>
            <a:r>
              <a:rPr lang="en-US" sz="1400" dirty="0"/>
              <a:t>1-13 LPM</a:t>
            </a:r>
          </a:p>
        </p:txBody>
      </p:sp>
      <p:sp>
        <p:nvSpPr>
          <p:cNvPr id="26" name="TextBox 25">
            <a:extLst>
              <a:ext uri="{FF2B5EF4-FFF2-40B4-BE49-F238E27FC236}">
                <a16:creationId xmlns:a16="http://schemas.microsoft.com/office/drawing/2014/main" id="{833B7BC8-68B3-FC49-9066-63C669579834}"/>
              </a:ext>
            </a:extLst>
          </p:cNvPr>
          <p:cNvSpPr txBox="1"/>
          <p:nvPr/>
        </p:nvSpPr>
        <p:spPr>
          <a:xfrm>
            <a:off x="5661989" y="3719374"/>
            <a:ext cx="1308144" cy="523220"/>
          </a:xfrm>
          <a:prstGeom prst="rect">
            <a:avLst/>
          </a:prstGeom>
          <a:noFill/>
        </p:spPr>
        <p:txBody>
          <a:bodyPr wrap="square" rtlCol="0">
            <a:spAutoFit/>
          </a:bodyPr>
          <a:lstStyle/>
          <a:p>
            <a:pPr algn="ctr"/>
            <a:r>
              <a:rPr lang="en-US" sz="1400" dirty="0"/>
              <a:t>5L-50L</a:t>
            </a:r>
          </a:p>
          <a:p>
            <a:pPr algn="ctr"/>
            <a:r>
              <a:rPr lang="en-US" sz="1400" dirty="0"/>
              <a:t>1 to 13LPM</a:t>
            </a:r>
          </a:p>
        </p:txBody>
      </p:sp>
    </p:spTree>
    <p:extLst>
      <p:ext uri="{BB962C8B-B14F-4D97-AF65-F5344CB8AC3E}">
        <p14:creationId xmlns:p14="http://schemas.microsoft.com/office/powerpoint/2010/main" val="3504619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A39B1D-D6FB-4F46-97E0-7AA88B90700A}"/>
              </a:ext>
            </a:extLst>
          </p:cNvPr>
          <p:cNvSpPr>
            <a:spLocks noGrp="1"/>
          </p:cNvSpPr>
          <p:nvPr>
            <p:ph type="sldNum" sz="quarter" idx="4"/>
          </p:nvPr>
        </p:nvSpPr>
        <p:spPr/>
        <p:txBody>
          <a:bodyPr/>
          <a:lstStyle/>
          <a:p>
            <a:fld id="{3C4F54F3-C349-4609-AFEE-01462D5C7942}" type="slidenum">
              <a:rPr lang="en-GB" smtClean="0"/>
              <a:pPr/>
              <a:t>15</a:t>
            </a:fld>
            <a:endParaRPr lang="en-GB"/>
          </a:p>
        </p:txBody>
      </p:sp>
      <p:sp>
        <p:nvSpPr>
          <p:cNvPr id="5" name="Title 4">
            <a:extLst>
              <a:ext uri="{FF2B5EF4-FFF2-40B4-BE49-F238E27FC236}">
                <a16:creationId xmlns:a16="http://schemas.microsoft.com/office/drawing/2014/main" id="{0F02E302-C3D0-436A-8E46-AF2B597F08A0}"/>
              </a:ext>
            </a:extLst>
          </p:cNvPr>
          <p:cNvSpPr>
            <a:spLocks noGrp="1"/>
          </p:cNvSpPr>
          <p:nvPr>
            <p:ph type="title"/>
          </p:nvPr>
        </p:nvSpPr>
        <p:spPr>
          <a:xfrm>
            <a:off x="229285" y="144000"/>
            <a:ext cx="8765651" cy="504000"/>
          </a:xfrm>
        </p:spPr>
        <p:txBody>
          <a:bodyPr/>
          <a:lstStyle/>
          <a:p>
            <a:r>
              <a:rPr lang="en-US" dirty="0"/>
              <a:t>Figure 2: Two Column Skid</a:t>
            </a:r>
          </a:p>
        </p:txBody>
      </p:sp>
      <p:sp>
        <p:nvSpPr>
          <p:cNvPr id="7" name="Rectangle: Rounded Corners 6">
            <a:extLst>
              <a:ext uri="{FF2B5EF4-FFF2-40B4-BE49-F238E27FC236}">
                <a16:creationId xmlns:a16="http://schemas.microsoft.com/office/drawing/2014/main" id="{341EAED0-D48A-43C1-887B-74E37DE87588}"/>
              </a:ext>
            </a:extLst>
          </p:cNvPr>
          <p:cNvSpPr/>
          <p:nvPr/>
        </p:nvSpPr>
        <p:spPr>
          <a:xfrm>
            <a:off x="2618539" y="1673776"/>
            <a:ext cx="630165" cy="23036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6C73237-E8F4-4218-8642-656B483D9322}"/>
              </a:ext>
            </a:extLst>
          </p:cNvPr>
          <p:cNvCxnSpPr/>
          <p:nvPr/>
        </p:nvCxnSpPr>
        <p:spPr>
          <a:xfrm>
            <a:off x="1659907" y="2003685"/>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88D40F-7A05-4767-B2EB-28C6B2C83376}"/>
              </a:ext>
            </a:extLst>
          </p:cNvPr>
          <p:cNvCxnSpPr/>
          <p:nvPr/>
        </p:nvCxnSpPr>
        <p:spPr>
          <a:xfrm>
            <a:off x="1659907" y="2242056"/>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87B486D-2BC9-42D4-93DF-C4FAA1464BEF}"/>
              </a:ext>
            </a:extLst>
          </p:cNvPr>
          <p:cNvCxnSpPr/>
          <p:nvPr/>
        </p:nvCxnSpPr>
        <p:spPr>
          <a:xfrm>
            <a:off x="1659907" y="2480427"/>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722D040-1341-44F3-9BE1-8FB2564C51F1}"/>
              </a:ext>
            </a:extLst>
          </p:cNvPr>
          <p:cNvCxnSpPr/>
          <p:nvPr/>
        </p:nvCxnSpPr>
        <p:spPr>
          <a:xfrm>
            <a:off x="1659907" y="2718798"/>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F4167C-E013-41CD-ACA3-3E91E4C32302}"/>
              </a:ext>
            </a:extLst>
          </p:cNvPr>
          <p:cNvCxnSpPr/>
          <p:nvPr/>
        </p:nvCxnSpPr>
        <p:spPr>
          <a:xfrm>
            <a:off x="1659907" y="3195540"/>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90241EE-3F6C-4022-9E20-C79D2E99ABF3}"/>
              </a:ext>
            </a:extLst>
          </p:cNvPr>
          <p:cNvCxnSpPr/>
          <p:nvPr/>
        </p:nvCxnSpPr>
        <p:spPr>
          <a:xfrm>
            <a:off x="1659907" y="3433911"/>
            <a:ext cx="90440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890C34D-5D33-49CB-9612-947E5353FD90}"/>
              </a:ext>
            </a:extLst>
          </p:cNvPr>
          <p:cNvSpPr txBox="1"/>
          <p:nvPr/>
        </p:nvSpPr>
        <p:spPr>
          <a:xfrm>
            <a:off x="2025427" y="886664"/>
            <a:ext cx="1512539" cy="646331"/>
          </a:xfrm>
          <a:prstGeom prst="rect">
            <a:avLst/>
          </a:prstGeom>
          <a:noFill/>
        </p:spPr>
        <p:txBody>
          <a:bodyPr wrap="square" rtlCol="0">
            <a:spAutoFit/>
          </a:bodyPr>
          <a:lstStyle/>
          <a:p>
            <a:pPr algn="ctr"/>
            <a:r>
              <a:rPr lang="en-US" dirty="0"/>
              <a:t>Water</a:t>
            </a:r>
          </a:p>
          <a:p>
            <a:pPr algn="ctr"/>
            <a:r>
              <a:rPr lang="en-US" dirty="0"/>
              <a:t>1-10 L/min</a:t>
            </a:r>
          </a:p>
        </p:txBody>
      </p:sp>
      <p:sp>
        <p:nvSpPr>
          <p:cNvPr id="17" name="TextBox 16">
            <a:extLst>
              <a:ext uri="{FF2B5EF4-FFF2-40B4-BE49-F238E27FC236}">
                <a16:creationId xmlns:a16="http://schemas.microsoft.com/office/drawing/2014/main" id="{6AE08673-BA27-4ED3-8AC5-F22286A0F4DE}"/>
              </a:ext>
            </a:extLst>
          </p:cNvPr>
          <p:cNvSpPr txBox="1"/>
          <p:nvPr/>
        </p:nvSpPr>
        <p:spPr>
          <a:xfrm>
            <a:off x="927291" y="1821639"/>
            <a:ext cx="697627" cy="369332"/>
          </a:xfrm>
          <a:prstGeom prst="rect">
            <a:avLst/>
          </a:prstGeom>
          <a:noFill/>
        </p:spPr>
        <p:txBody>
          <a:bodyPr wrap="none" rtlCol="0">
            <a:spAutoFit/>
          </a:bodyPr>
          <a:lstStyle/>
          <a:p>
            <a:r>
              <a:rPr lang="en-US" err="1"/>
              <a:t>Equil</a:t>
            </a:r>
            <a:endParaRPr lang="en-US"/>
          </a:p>
        </p:txBody>
      </p:sp>
      <p:sp>
        <p:nvSpPr>
          <p:cNvPr id="18" name="TextBox 17">
            <a:extLst>
              <a:ext uri="{FF2B5EF4-FFF2-40B4-BE49-F238E27FC236}">
                <a16:creationId xmlns:a16="http://schemas.microsoft.com/office/drawing/2014/main" id="{C9FC1842-DB68-427B-8B49-17A86163080A}"/>
              </a:ext>
            </a:extLst>
          </p:cNvPr>
          <p:cNvSpPr txBox="1"/>
          <p:nvPr/>
        </p:nvSpPr>
        <p:spPr>
          <a:xfrm>
            <a:off x="893115" y="2061379"/>
            <a:ext cx="765979" cy="369332"/>
          </a:xfrm>
          <a:prstGeom prst="rect">
            <a:avLst/>
          </a:prstGeom>
          <a:noFill/>
        </p:spPr>
        <p:txBody>
          <a:bodyPr wrap="none" rtlCol="0">
            <a:spAutoFit/>
          </a:bodyPr>
          <a:lstStyle/>
          <a:p>
            <a:r>
              <a:rPr lang="en-US"/>
              <a:t>Wash</a:t>
            </a:r>
          </a:p>
        </p:txBody>
      </p:sp>
      <p:sp>
        <p:nvSpPr>
          <p:cNvPr id="19" name="TextBox 18">
            <a:extLst>
              <a:ext uri="{FF2B5EF4-FFF2-40B4-BE49-F238E27FC236}">
                <a16:creationId xmlns:a16="http://schemas.microsoft.com/office/drawing/2014/main" id="{978AFC8B-1622-401B-A16A-CAD4575689CA}"/>
              </a:ext>
            </a:extLst>
          </p:cNvPr>
          <p:cNvSpPr txBox="1"/>
          <p:nvPr/>
        </p:nvSpPr>
        <p:spPr>
          <a:xfrm>
            <a:off x="893115" y="2301119"/>
            <a:ext cx="765979" cy="369332"/>
          </a:xfrm>
          <a:prstGeom prst="rect">
            <a:avLst/>
          </a:prstGeom>
          <a:noFill/>
        </p:spPr>
        <p:txBody>
          <a:bodyPr wrap="none" rtlCol="0">
            <a:spAutoFit/>
          </a:bodyPr>
          <a:lstStyle/>
          <a:p>
            <a:r>
              <a:rPr lang="en-US"/>
              <a:t>Wash</a:t>
            </a:r>
          </a:p>
        </p:txBody>
      </p:sp>
      <p:sp>
        <p:nvSpPr>
          <p:cNvPr id="20" name="TextBox 19">
            <a:extLst>
              <a:ext uri="{FF2B5EF4-FFF2-40B4-BE49-F238E27FC236}">
                <a16:creationId xmlns:a16="http://schemas.microsoft.com/office/drawing/2014/main" id="{ECD21C21-3A89-4A9F-85A7-7A60D61D9EE4}"/>
              </a:ext>
            </a:extLst>
          </p:cNvPr>
          <p:cNvSpPr txBox="1"/>
          <p:nvPr/>
        </p:nvSpPr>
        <p:spPr>
          <a:xfrm>
            <a:off x="893115" y="2540859"/>
            <a:ext cx="765979" cy="369332"/>
          </a:xfrm>
          <a:prstGeom prst="rect">
            <a:avLst/>
          </a:prstGeom>
          <a:noFill/>
        </p:spPr>
        <p:txBody>
          <a:bodyPr wrap="none" rtlCol="0">
            <a:spAutoFit/>
          </a:bodyPr>
          <a:lstStyle/>
          <a:p>
            <a:r>
              <a:rPr lang="en-US"/>
              <a:t>Wash</a:t>
            </a:r>
          </a:p>
        </p:txBody>
      </p:sp>
      <p:sp>
        <p:nvSpPr>
          <p:cNvPr id="21" name="TextBox 20">
            <a:extLst>
              <a:ext uri="{FF2B5EF4-FFF2-40B4-BE49-F238E27FC236}">
                <a16:creationId xmlns:a16="http://schemas.microsoft.com/office/drawing/2014/main" id="{AEBDB271-5599-41A5-B16D-015C720BD386}"/>
              </a:ext>
            </a:extLst>
          </p:cNvPr>
          <p:cNvSpPr txBox="1"/>
          <p:nvPr/>
        </p:nvSpPr>
        <p:spPr>
          <a:xfrm>
            <a:off x="830796" y="3260079"/>
            <a:ext cx="864339" cy="369332"/>
          </a:xfrm>
          <a:prstGeom prst="rect">
            <a:avLst/>
          </a:prstGeom>
          <a:noFill/>
        </p:spPr>
        <p:txBody>
          <a:bodyPr wrap="none" rtlCol="0">
            <a:spAutoFit/>
          </a:bodyPr>
          <a:lstStyle/>
          <a:p>
            <a:r>
              <a:rPr lang="en-US"/>
              <a:t>Regen</a:t>
            </a:r>
          </a:p>
        </p:txBody>
      </p:sp>
      <p:sp>
        <p:nvSpPr>
          <p:cNvPr id="22" name="TextBox 21">
            <a:extLst>
              <a:ext uri="{FF2B5EF4-FFF2-40B4-BE49-F238E27FC236}">
                <a16:creationId xmlns:a16="http://schemas.microsoft.com/office/drawing/2014/main" id="{6BAAF5F6-B696-4C67-9E77-ADCE2E11FBC4}"/>
              </a:ext>
            </a:extLst>
          </p:cNvPr>
          <p:cNvSpPr txBox="1"/>
          <p:nvPr/>
        </p:nvSpPr>
        <p:spPr>
          <a:xfrm>
            <a:off x="946527" y="3020339"/>
            <a:ext cx="659155" cy="369332"/>
          </a:xfrm>
          <a:prstGeom prst="rect">
            <a:avLst/>
          </a:prstGeom>
          <a:noFill/>
        </p:spPr>
        <p:txBody>
          <a:bodyPr wrap="none" rtlCol="0">
            <a:spAutoFit/>
          </a:bodyPr>
          <a:lstStyle/>
          <a:p>
            <a:r>
              <a:rPr lang="en-US"/>
              <a:t>Strip</a:t>
            </a:r>
          </a:p>
        </p:txBody>
      </p:sp>
      <p:cxnSp>
        <p:nvCxnSpPr>
          <p:cNvPr id="23" name="Straight Arrow Connector 22">
            <a:extLst>
              <a:ext uri="{FF2B5EF4-FFF2-40B4-BE49-F238E27FC236}">
                <a16:creationId xmlns:a16="http://schemas.microsoft.com/office/drawing/2014/main" id="{FCD64C62-8BDF-4600-9D86-E4069A38EC91}"/>
              </a:ext>
            </a:extLst>
          </p:cNvPr>
          <p:cNvCxnSpPr/>
          <p:nvPr/>
        </p:nvCxnSpPr>
        <p:spPr>
          <a:xfrm>
            <a:off x="1659907" y="2957169"/>
            <a:ext cx="904407" cy="0"/>
          </a:xfrm>
          <a:prstGeom prst="straightConnector1">
            <a:avLst/>
          </a:prstGeom>
          <a:ln>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BD1A99-360E-4437-995B-40ECAC87460B}"/>
              </a:ext>
            </a:extLst>
          </p:cNvPr>
          <p:cNvSpPr txBox="1"/>
          <p:nvPr/>
        </p:nvSpPr>
        <p:spPr>
          <a:xfrm>
            <a:off x="920879" y="2780599"/>
            <a:ext cx="710451" cy="369332"/>
          </a:xfrm>
          <a:prstGeom prst="rect">
            <a:avLst/>
          </a:prstGeom>
          <a:noFill/>
        </p:spPr>
        <p:txBody>
          <a:bodyPr wrap="none" rtlCol="0">
            <a:spAutoFit/>
          </a:bodyPr>
          <a:lstStyle/>
          <a:p>
            <a:r>
              <a:rPr lang="en-US"/>
              <a:t>Elute</a:t>
            </a:r>
          </a:p>
        </p:txBody>
      </p:sp>
      <p:grpSp>
        <p:nvGrpSpPr>
          <p:cNvPr id="41" name="Group 40">
            <a:extLst>
              <a:ext uri="{FF2B5EF4-FFF2-40B4-BE49-F238E27FC236}">
                <a16:creationId xmlns:a16="http://schemas.microsoft.com/office/drawing/2014/main" id="{38EAFA26-6DD7-41D3-847B-C3D5F149E52B}"/>
              </a:ext>
            </a:extLst>
          </p:cNvPr>
          <p:cNvGrpSpPr/>
          <p:nvPr/>
        </p:nvGrpSpPr>
        <p:grpSpPr>
          <a:xfrm>
            <a:off x="5652216" y="2307543"/>
            <a:ext cx="954865" cy="604997"/>
            <a:chOff x="5335009" y="2495485"/>
            <a:chExt cx="954865" cy="604997"/>
          </a:xfrm>
        </p:grpSpPr>
        <p:sp>
          <p:nvSpPr>
            <p:cNvPr id="32" name="Rectangle 31">
              <a:extLst>
                <a:ext uri="{FF2B5EF4-FFF2-40B4-BE49-F238E27FC236}">
                  <a16:creationId xmlns:a16="http://schemas.microsoft.com/office/drawing/2014/main" id="{76EBF267-9AFE-44F0-8139-EAC7C401A4BE}"/>
                </a:ext>
              </a:extLst>
            </p:cNvPr>
            <p:cNvSpPr/>
            <p:nvPr/>
          </p:nvSpPr>
          <p:spPr>
            <a:xfrm>
              <a:off x="5571179" y="2503144"/>
              <a:ext cx="436005" cy="597338"/>
            </a:xfrm>
            <a:prstGeom prst="rect">
              <a:avLst/>
            </a:prstGeom>
            <a:solidFill>
              <a:schemeClr val="accent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1272381-99BF-4EB4-A3EA-BB6C768C571D}"/>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058D0D-F907-4C7A-8B0B-9934E01C9536}"/>
                </a:ext>
              </a:extLst>
            </p:cNvPr>
            <p:cNvCxnSpPr/>
            <p:nvPr/>
          </p:nvCxnSpPr>
          <p:spPr>
            <a:xfrm flipV="1">
              <a:off x="5345196"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69915438-51C1-470D-9DBC-34943AC07862}"/>
              </a:ext>
            </a:extLst>
          </p:cNvPr>
          <p:cNvSpPr txBox="1"/>
          <p:nvPr/>
        </p:nvSpPr>
        <p:spPr>
          <a:xfrm>
            <a:off x="4357069" y="551229"/>
            <a:ext cx="1467068" cy="923330"/>
          </a:xfrm>
          <a:prstGeom prst="rect">
            <a:avLst/>
          </a:prstGeom>
          <a:noFill/>
        </p:spPr>
        <p:txBody>
          <a:bodyPr wrap="none" rtlCol="0">
            <a:spAutoFit/>
          </a:bodyPr>
          <a:lstStyle/>
          <a:p>
            <a:pPr algn="ctr"/>
            <a:r>
              <a:rPr lang="en-US" dirty="0"/>
              <a:t>Load</a:t>
            </a:r>
          </a:p>
          <a:p>
            <a:pPr algn="ctr"/>
            <a:r>
              <a:rPr lang="en-US" dirty="0"/>
              <a:t>0.1-10 L/min</a:t>
            </a:r>
          </a:p>
          <a:p>
            <a:pPr algn="ctr"/>
            <a:endParaRPr lang="en-US" dirty="0"/>
          </a:p>
        </p:txBody>
      </p:sp>
      <p:grpSp>
        <p:nvGrpSpPr>
          <p:cNvPr id="39" name="Group 38">
            <a:extLst>
              <a:ext uri="{FF2B5EF4-FFF2-40B4-BE49-F238E27FC236}">
                <a16:creationId xmlns:a16="http://schemas.microsoft.com/office/drawing/2014/main" id="{246B6F06-1D59-4619-A231-490672159737}"/>
              </a:ext>
            </a:extLst>
          </p:cNvPr>
          <p:cNvGrpSpPr/>
          <p:nvPr/>
        </p:nvGrpSpPr>
        <p:grpSpPr>
          <a:xfrm>
            <a:off x="7637204" y="2294694"/>
            <a:ext cx="953728" cy="604997"/>
            <a:chOff x="5335009" y="2495485"/>
            <a:chExt cx="953728" cy="604997"/>
          </a:xfrm>
        </p:grpSpPr>
        <p:sp>
          <p:nvSpPr>
            <p:cNvPr id="45" name="Rectangle 44">
              <a:extLst>
                <a:ext uri="{FF2B5EF4-FFF2-40B4-BE49-F238E27FC236}">
                  <a16:creationId xmlns:a16="http://schemas.microsoft.com/office/drawing/2014/main" id="{7512B7FB-8685-4458-BAAE-3ADAC73DE131}"/>
                </a:ext>
              </a:extLst>
            </p:cNvPr>
            <p:cNvSpPr/>
            <p:nvPr/>
          </p:nvSpPr>
          <p:spPr>
            <a:xfrm>
              <a:off x="5571179" y="2503144"/>
              <a:ext cx="436005" cy="597338"/>
            </a:xfrm>
            <a:prstGeom prst="rect">
              <a:avLst/>
            </a:prstGeom>
            <a:solidFill>
              <a:schemeClr val="bg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0FDE7D6-DEDF-46F4-BB59-A05F40B82AFC}"/>
                </a:ext>
              </a:extLst>
            </p:cNvPr>
            <p:cNvCxnSpPr/>
            <p:nvPr/>
          </p:nvCxnSpPr>
          <p:spPr>
            <a:xfrm flipV="1">
              <a:off x="5335009" y="2495485"/>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BEB618-C53A-4D67-A9D3-43976345EF49}"/>
                </a:ext>
              </a:extLst>
            </p:cNvPr>
            <p:cNvCxnSpPr/>
            <p:nvPr/>
          </p:nvCxnSpPr>
          <p:spPr>
            <a:xfrm flipV="1">
              <a:off x="5344059" y="3096579"/>
              <a:ext cx="944678" cy="311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521977B6-35DD-4E81-A637-05AB507E83D5}"/>
              </a:ext>
            </a:extLst>
          </p:cNvPr>
          <p:cNvGrpSpPr/>
          <p:nvPr/>
        </p:nvGrpSpPr>
        <p:grpSpPr>
          <a:xfrm>
            <a:off x="5783721" y="648001"/>
            <a:ext cx="356259" cy="449101"/>
            <a:chOff x="4471713" y="4397646"/>
            <a:chExt cx="356259" cy="449101"/>
          </a:xfrm>
        </p:grpSpPr>
        <p:sp>
          <p:nvSpPr>
            <p:cNvPr id="4" name="Oval 3">
              <a:extLst>
                <a:ext uri="{FF2B5EF4-FFF2-40B4-BE49-F238E27FC236}">
                  <a16:creationId xmlns:a16="http://schemas.microsoft.com/office/drawing/2014/main" id="{3DB725C8-3A50-46AB-8F71-C829748BA68A}"/>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1A110C6-7D13-477D-BA96-F2213B3D571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9" name="Connector: Elbow 48">
            <a:extLst>
              <a:ext uri="{FF2B5EF4-FFF2-40B4-BE49-F238E27FC236}">
                <a16:creationId xmlns:a16="http://schemas.microsoft.com/office/drawing/2014/main" id="{9404D04A-D2C5-4DA8-9E4E-6FA00F13CB66}"/>
              </a:ext>
            </a:extLst>
          </p:cNvPr>
          <p:cNvCxnSpPr>
            <a:stCxn id="4" idx="6"/>
            <a:endCxn id="48" idx="0"/>
          </p:cNvCxnSpPr>
          <p:nvPr/>
        </p:nvCxnSpPr>
        <p:spPr>
          <a:xfrm>
            <a:off x="6139979" y="806430"/>
            <a:ext cx="943153" cy="487931"/>
          </a:xfrm>
          <a:prstGeom prst="bentConnector2">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AF4F5F82-0DC6-4FA2-AD01-2E27D0C9436C}"/>
              </a:ext>
            </a:extLst>
          </p:cNvPr>
          <p:cNvCxnSpPr>
            <a:cxnSpLocks/>
          </p:cNvCxnSpPr>
          <p:nvPr/>
        </p:nvCxnSpPr>
        <p:spPr>
          <a:xfrm rot="5400000">
            <a:off x="6185753" y="1625681"/>
            <a:ext cx="590650" cy="788390"/>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4EDCED4-FDDE-4ACA-B602-AC401CA0AF86}"/>
              </a:ext>
            </a:extLst>
          </p:cNvPr>
          <p:cNvCxnSpPr>
            <a:stCxn id="48" idx="5"/>
            <a:endCxn id="45" idx="0"/>
          </p:cNvCxnSpPr>
          <p:nvPr/>
        </p:nvCxnSpPr>
        <p:spPr>
          <a:xfrm rot="16200000" flipH="1">
            <a:off x="7392530" y="1603506"/>
            <a:ext cx="577802"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A06000F-0656-4F98-AADC-12967D995016}"/>
              </a:ext>
            </a:extLst>
          </p:cNvPr>
          <p:cNvCxnSpPr>
            <a:cxnSpLocks/>
            <a:stCxn id="32" idx="2"/>
            <a:endCxn id="8" idx="1"/>
          </p:cNvCxnSpPr>
          <p:nvPr/>
        </p:nvCxnSpPr>
        <p:spPr>
          <a:xfrm rot="16200000" flipH="1">
            <a:off x="6219233" y="2799694"/>
            <a:ext cx="562700" cy="78839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2D37E6CD-F5BF-4FFF-B38D-7FFDDD5E3959}"/>
              </a:ext>
            </a:extLst>
          </p:cNvPr>
          <p:cNvCxnSpPr>
            <a:cxnSpLocks/>
            <a:stCxn id="45" idx="2"/>
            <a:endCxn id="8" idx="7"/>
          </p:cNvCxnSpPr>
          <p:nvPr/>
        </p:nvCxnSpPr>
        <p:spPr>
          <a:xfrm rot="5400000">
            <a:off x="7393658" y="2777520"/>
            <a:ext cx="575548" cy="81989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075F9F38-4CC5-42BC-9F09-1672DD3DEB95}"/>
              </a:ext>
            </a:extLst>
          </p:cNvPr>
          <p:cNvCxnSpPr>
            <a:stCxn id="8" idx="5"/>
          </p:cNvCxnSpPr>
          <p:nvPr/>
        </p:nvCxnSpPr>
        <p:spPr>
          <a:xfrm rot="16200000" flipH="1">
            <a:off x="7370748" y="3732358"/>
            <a:ext cx="375594" cy="57411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31843E5-E800-46CF-BB24-6EEDCEAEDB20}"/>
              </a:ext>
            </a:extLst>
          </p:cNvPr>
          <p:cNvCxnSpPr>
            <a:cxnSpLocks/>
            <a:stCxn id="8" idx="3"/>
          </p:cNvCxnSpPr>
          <p:nvPr/>
        </p:nvCxnSpPr>
        <p:spPr>
          <a:xfrm>
            <a:off x="6894778" y="383162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8" name="Group 67">
            <a:extLst>
              <a:ext uri="{FF2B5EF4-FFF2-40B4-BE49-F238E27FC236}">
                <a16:creationId xmlns:a16="http://schemas.microsoft.com/office/drawing/2014/main" id="{BF9AC50B-6AB0-481D-A33C-C5E34913929D}"/>
              </a:ext>
            </a:extLst>
          </p:cNvPr>
          <p:cNvGrpSpPr/>
          <p:nvPr/>
        </p:nvGrpSpPr>
        <p:grpSpPr>
          <a:xfrm>
            <a:off x="6689341" y="4543422"/>
            <a:ext cx="457200" cy="304800"/>
            <a:chOff x="6612318" y="4679156"/>
            <a:chExt cx="457200" cy="304800"/>
          </a:xfrm>
        </p:grpSpPr>
        <p:cxnSp>
          <p:nvCxnSpPr>
            <p:cNvPr id="64" name="Straight Connector 63">
              <a:extLst>
                <a:ext uri="{FF2B5EF4-FFF2-40B4-BE49-F238E27FC236}">
                  <a16:creationId xmlns:a16="http://schemas.microsoft.com/office/drawing/2014/main" id="{68243F1E-3952-43DF-BD13-F9B7EC057E6E}"/>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728578B9-3500-44E3-B4BB-7EABD40A0C23}"/>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0FDCF15-A690-433C-A783-E4DFA59FBB81}"/>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9" name="TextBox 68">
            <a:extLst>
              <a:ext uri="{FF2B5EF4-FFF2-40B4-BE49-F238E27FC236}">
                <a16:creationId xmlns:a16="http://schemas.microsoft.com/office/drawing/2014/main" id="{5DA72DC0-1825-478A-9445-5AF679FFB46C}"/>
              </a:ext>
            </a:extLst>
          </p:cNvPr>
          <p:cNvSpPr txBox="1"/>
          <p:nvPr/>
        </p:nvSpPr>
        <p:spPr>
          <a:xfrm>
            <a:off x="7979569" y="4062732"/>
            <a:ext cx="979755" cy="369332"/>
          </a:xfrm>
          <a:prstGeom prst="rect">
            <a:avLst/>
          </a:prstGeom>
          <a:noFill/>
        </p:spPr>
        <p:txBody>
          <a:bodyPr wrap="none" rtlCol="0">
            <a:spAutoFit/>
          </a:bodyPr>
          <a:lstStyle/>
          <a:p>
            <a:r>
              <a:rPr lang="en-US"/>
              <a:t>Product</a:t>
            </a:r>
          </a:p>
        </p:txBody>
      </p:sp>
      <p:cxnSp>
        <p:nvCxnSpPr>
          <p:cNvPr id="71" name="Connector: Elbow 70">
            <a:extLst>
              <a:ext uri="{FF2B5EF4-FFF2-40B4-BE49-F238E27FC236}">
                <a16:creationId xmlns:a16="http://schemas.microsoft.com/office/drawing/2014/main" id="{149F2181-1408-4C77-BAC4-2D22E37A489E}"/>
              </a:ext>
            </a:extLst>
          </p:cNvPr>
          <p:cNvCxnSpPr>
            <a:cxnSpLocks/>
          </p:cNvCxnSpPr>
          <p:nvPr/>
        </p:nvCxnSpPr>
        <p:spPr>
          <a:xfrm flipV="1">
            <a:off x="3807730" y="1546360"/>
            <a:ext cx="2989524" cy="1282520"/>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02947F69-1EDD-4F65-B1D5-ED5098067478}"/>
              </a:ext>
            </a:extLst>
          </p:cNvPr>
          <p:cNvGrpSpPr/>
          <p:nvPr/>
        </p:nvGrpSpPr>
        <p:grpSpPr>
          <a:xfrm>
            <a:off x="3470977" y="2670451"/>
            <a:ext cx="356259" cy="449101"/>
            <a:chOff x="4471713" y="4397646"/>
            <a:chExt cx="356259" cy="449101"/>
          </a:xfrm>
        </p:grpSpPr>
        <p:sp>
          <p:nvSpPr>
            <p:cNvPr id="77" name="Oval 76">
              <a:extLst>
                <a:ext uri="{FF2B5EF4-FFF2-40B4-BE49-F238E27FC236}">
                  <a16:creationId xmlns:a16="http://schemas.microsoft.com/office/drawing/2014/main" id="{DCAB666F-7F02-45C6-AB0A-DADBD30C372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56E20013-5061-415A-92A5-BC3B5DA599B0}"/>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24B0404-57A5-4AB5-BB00-94C16F437F34}"/>
              </a:ext>
            </a:extLst>
          </p:cNvPr>
          <p:cNvGrpSpPr/>
          <p:nvPr/>
        </p:nvGrpSpPr>
        <p:grpSpPr>
          <a:xfrm>
            <a:off x="3644609" y="1996435"/>
            <a:ext cx="356259" cy="449101"/>
            <a:chOff x="4471713" y="4397646"/>
            <a:chExt cx="356259" cy="449101"/>
          </a:xfrm>
        </p:grpSpPr>
        <p:sp>
          <p:nvSpPr>
            <p:cNvPr id="82" name="Oval 81">
              <a:extLst>
                <a:ext uri="{FF2B5EF4-FFF2-40B4-BE49-F238E27FC236}">
                  <a16:creationId xmlns:a16="http://schemas.microsoft.com/office/drawing/2014/main" id="{8CFBADEA-152B-4A3B-9DAD-3B006987311C}"/>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755AEFAA-A339-4B30-8098-B3B16CCFB83D}"/>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85" name="Connector: Elbow 84">
            <a:extLst>
              <a:ext uri="{FF2B5EF4-FFF2-40B4-BE49-F238E27FC236}">
                <a16:creationId xmlns:a16="http://schemas.microsoft.com/office/drawing/2014/main" id="{24504E13-5E00-4813-8BD0-F96B37182086}"/>
              </a:ext>
            </a:extLst>
          </p:cNvPr>
          <p:cNvCxnSpPr>
            <a:cxnSpLocks/>
            <a:stCxn id="82" idx="6"/>
          </p:cNvCxnSpPr>
          <p:nvPr/>
        </p:nvCxnSpPr>
        <p:spPr>
          <a:xfrm>
            <a:off x="4000867" y="2154863"/>
            <a:ext cx="97840" cy="69161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BF6D2F-BEC2-4218-90C8-3DF3D67912B1}"/>
              </a:ext>
            </a:extLst>
          </p:cNvPr>
          <p:cNvCxnSpPr>
            <a:cxnSpLocks/>
          </p:cNvCxnSpPr>
          <p:nvPr/>
        </p:nvCxnSpPr>
        <p:spPr>
          <a:xfrm>
            <a:off x="3229199" y="2825582"/>
            <a:ext cx="222272" cy="3299"/>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2C7BE37F-2AC1-4526-A9E2-438826CA11AC}"/>
              </a:ext>
            </a:extLst>
          </p:cNvPr>
          <p:cNvCxnSpPr>
            <a:cxnSpLocks/>
            <a:stCxn id="16" idx="3"/>
            <a:endCxn id="82" idx="0"/>
          </p:cNvCxnSpPr>
          <p:nvPr/>
        </p:nvCxnSpPr>
        <p:spPr>
          <a:xfrm>
            <a:off x="3537966" y="1209830"/>
            <a:ext cx="284773" cy="78660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5E830B13-3914-4352-A652-8F2662D81836}"/>
              </a:ext>
            </a:extLst>
          </p:cNvPr>
          <p:cNvCxnSpPr>
            <a:endCxn id="4" idx="2"/>
          </p:cNvCxnSpPr>
          <p:nvPr/>
        </p:nvCxnSpPr>
        <p:spPr>
          <a:xfrm>
            <a:off x="5461000" y="806429"/>
            <a:ext cx="322720" cy="0"/>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E8A546B-FCC1-486E-9F18-4F73DCA1E196}"/>
              </a:ext>
            </a:extLst>
          </p:cNvPr>
          <p:cNvGrpSpPr/>
          <p:nvPr/>
        </p:nvGrpSpPr>
        <p:grpSpPr>
          <a:xfrm>
            <a:off x="6816759" y="1294360"/>
            <a:ext cx="532746" cy="504000"/>
            <a:chOff x="6855769" y="1294360"/>
            <a:chExt cx="532746" cy="504000"/>
          </a:xfrm>
        </p:grpSpPr>
        <p:sp>
          <p:nvSpPr>
            <p:cNvPr id="48" name="Oval 47">
              <a:extLst>
                <a:ext uri="{FF2B5EF4-FFF2-40B4-BE49-F238E27FC236}">
                  <a16:creationId xmlns:a16="http://schemas.microsoft.com/office/drawing/2014/main" id="{56932133-7446-4490-A289-FA9AE43654E3}"/>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2A294851-1F19-42E8-8519-E206A5B6EE1C}"/>
                </a:ext>
              </a:extLst>
            </p:cNvPr>
            <p:cNvCxnSpPr>
              <a:cxnSpLocks/>
              <a:stCxn id="48" idx="0"/>
              <a:endCxn id="48" idx="5"/>
            </p:cNvCxnSpPr>
            <p:nvPr/>
          </p:nvCxnSpPr>
          <p:spPr>
            <a:xfrm>
              <a:off x="7122142" y="1294360"/>
              <a:ext cx="188354" cy="430191"/>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980FBC3F-0004-4B97-9A75-518A2CE71A70}"/>
                </a:ext>
              </a:extLst>
            </p:cNvPr>
            <p:cNvCxnSpPr>
              <a:stCxn id="48" idx="2"/>
              <a:endCxn id="48" idx="3"/>
            </p:cNvCxnSpPr>
            <p:nvPr/>
          </p:nvCxnSpPr>
          <p:spPr>
            <a:xfrm>
              <a:off x="6855769" y="1546360"/>
              <a:ext cx="78019" cy="178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4BA2BB30-1883-44CA-ADB8-D00B2B9232A9}"/>
              </a:ext>
            </a:extLst>
          </p:cNvPr>
          <p:cNvGrpSpPr/>
          <p:nvPr/>
        </p:nvGrpSpPr>
        <p:grpSpPr>
          <a:xfrm>
            <a:off x="6816759" y="3401430"/>
            <a:ext cx="532746" cy="504000"/>
            <a:chOff x="6777749" y="3401430"/>
            <a:chExt cx="532746" cy="504000"/>
          </a:xfrm>
        </p:grpSpPr>
        <p:sp>
          <p:nvSpPr>
            <p:cNvPr id="8" name="Oval 7">
              <a:extLst>
                <a:ext uri="{FF2B5EF4-FFF2-40B4-BE49-F238E27FC236}">
                  <a16:creationId xmlns:a16="http://schemas.microsoft.com/office/drawing/2014/main" id="{F1D8BEC1-6495-456A-8414-3064887B4645}"/>
                </a:ext>
              </a:extLst>
            </p:cNvPr>
            <p:cNvSpPr/>
            <p:nvPr/>
          </p:nvSpPr>
          <p:spPr>
            <a:xfrm>
              <a:off x="6777749" y="340143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0C011113-BE39-489D-9D3C-0D30DA014070}"/>
                </a:ext>
              </a:extLst>
            </p:cNvPr>
            <p:cNvCxnSpPr>
              <a:cxnSpLocks/>
              <a:stCxn id="8" idx="7"/>
              <a:endCxn id="8" idx="3"/>
            </p:cNvCxnSpPr>
            <p:nvPr/>
          </p:nvCxnSpPr>
          <p:spPr>
            <a:xfrm flipH="1">
              <a:off x="6855768" y="347523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25B8686-5EB9-47C0-A71D-BF9D3350F8F4}"/>
                </a:ext>
              </a:extLst>
            </p:cNvPr>
            <p:cNvCxnSpPr>
              <a:cxnSpLocks/>
              <a:stCxn id="8" idx="1"/>
              <a:endCxn id="8" idx="5"/>
            </p:cNvCxnSpPr>
            <p:nvPr/>
          </p:nvCxnSpPr>
          <p:spPr>
            <a:xfrm>
              <a:off x="6855768" y="347523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13AD38FB-941A-4451-92CB-DBE8DA5B6E23}"/>
              </a:ext>
            </a:extLst>
          </p:cNvPr>
          <p:cNvCxnSpPr>
            <a:stCxn id="8" idx="0"/>
            <a:endCxn id="48" idx="4"/>
          </p:cNvCxnSpPr>
          <p:nvPr/>
        </p:nvCxnSpPr>
        <p:spPr>
          <a:xfrm flipV="1">
            <a:off x="7083132" y="1798360"/>
            <a:ext cx="0" cy="16030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3CD1028-E340-4FE7-8CC7-C080D81C766A}"/>
              </a:ext>
            </a:extLst>
          </p:cNvPr>
          <p:cNvSpPr txBox="1"/>
          <p:nvPr/>
        </p:nvSpPr>
        <p:spPr>
          <a:xfrm rot="16200000">
            <a:off x="2078282" y="2597191"/>
            <a:ext cx="1680781" cy="369332"/>
          </a:xfrm>
          <a:prstGeom prst="rect">
            <a:avLst/>
          </a:prstGeom>
          <a:noFill/>
        </p:spPr>
        <p:txBody>
          <a:bodyPr wrap="none" rtlCol="0">
            <a:spAutoFit/>
          </a:bodyPr>
          <a:lstStyle/>
          <a:p>
            <a:r>
              <a:rPr lang="en-US">
                <a:solidFill>
                  <a:schemeClr val="bg1"/>
                </a:solidFill>
              </a:rPr>
              <a:t>Valve Manifold</a:t>
            </a:r>
          </a:p>
        </p:txBody>
      </p:sp>
      <p:grpSp>
        <p:nvGrpSpPr>
          <p:cNvPr id="70" name="Group 69">
            <a:extLst>
              <a:ext uri="{FF2B5EF4-FFF2-40B4-BE49-F238E27FC236}">
                <a16:creationId xmlns:a16="http://schemas.microsoft.com/office/drawing/2014/main" id="{7558E6CD-05C0-4E0C-B3F0-AAB760596B17}"/>
              </a:ext>
            </a:extLst>
          </p:cNvPr>
          <p:cNvGrpSpPr/>
          <p:nvPr/>
        </p:nvGrpSpPr>
        <p:grpSpPr>
          <a:xfrm>
            <a:off x="7583798" y="825843"/>
            <a:ext cx="356259" cy="449101"/>
            <a:chOff x="4471713" y="4397646"/>
            <a:chExt cx="356259" cy="449101"/>
          </a:xfrm>
        </p:grpSpPr>
        <p:sp>
          <p:nvSpPr>
            <p:cNvPr id="72" name="Oval 71">
              <a:extLst>
                <a:ext uri="{FF2B5EF4-FFF2-40B4-BE49-F238E27FC236}">
                  <a16:creationId xmlns:a16="http://schemas.microsoft.com/office/drawing/2014/main" id="{76AD182C-7BE4-4B37-B7FE-EBE4C09B607B}"/>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A21BB1F2-0791-4ED3-A922-0F4D10435BA4}"/>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0" name="Straight Arrow Connector 29">
            <a:extLst>
              <a:ext uri="{FF2B5EF4-FFF2-40B4-BE49-F238E27FC236}">
                <a16:creationId xmlns:a16="http://schemas.microsoft.com/office/drawing/2014/main" id="{AB4838CF-656C-45DC-B721-F03F4CFE58A9}"/>
              </a:ext>
            </a:extLst>
          </p:cNvPr>
          <p:cNvCxnSpPr>
            <a:cxnSpLocks/>
            <a:stCxn id="72" idx="2"/>
          </p:cNvCxnSpPr>
          <p:nvPr/>
        </p:nvCxnSpPr>
        <p:spPr>
          <a:xfrm flipH="1" flipV="1">
            <a:off x="7118573" y="981704"/>
            <a:ext cx="465225"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CEECA78-1C35-470F-B073-BF8460E09C15}"/>
              </a:ext>
            </a:extLst>
          </p:cNvPr>
          <p:cNvSpPr txBox="1"/>
          <p:nvPr/>
        </p:nvSpPr>
        <p:spPr>
          <a:xfrm>
            <a:off x="7440984" y="168521"/>
            <a:ext cx="1473731" cy="646331"/>
          </a:xfrm>
          <a:prstGeom prst="rect">
            <a:avLst/>
          </a:prstGeom>
          <a:noFill/>
        </p:spPr>
        <p:txBody>
          <a:bodyPr wrap="square" rtlCol="0">
            <a:spAutoFit/>
          </a:bodyPr>
          <a:lstStyle/>
          <a:p>
            <a:pPr algn="ctr"/>
            <a:r>
              <a:rPr lang="en-US"/>
              <a:t>In-line Conditioning</a:t>
            </a:r>
          </a:p>
        </p:txBody>
      </p:sp>
      <p:grpSp>
        <p:nvGrpSpPr>
          <p:cNvPr id="34" name="Group 33">
            <a:extLst>
              <a:ext uri="{FF2B5EF4-FFF2-40B4-BE49-F238E27FC236}">
                <a16:creationId xmlns:a16="http://schemas.microsoft.com/office/drawing/2014/main" id="{F42EF381-A197-4021-AC66-E08F5B815C31}"/>
              </a:ext>
            </a:extLst>
          </p:cNvPr>
          <p:cNvGrpSpPr/>
          <p:nvPr/>
        </p:nvGrpSpPr>
        <p:grpSpPr>
          <a:xfrm>
            <a:off x="6658613" y="3985284"/>
            <a:ext cx="411250" cy="193657"/>
            <a:chOff x="6631843" y="3975912"/>
            <a:chExt cx="411250" cy="193657"/>
          </a:xfrm>
        </p:grpSpPr>
        <p:sp>
          <p:nvSpPr>
            <p:cNvPr id="86" name="Oval 85">
              <a:extLst>
                <a:ext uri="{FF2B5EF4-FFF2-40B4-BE49-F238E27FC236}">
                  <a16:creationId xmlns:a16="http://schemas.microsoft.com/office/drawing/2014/main" id="{9D912130-258F-4687-A036-418A8012F389}"/>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F838DF2-F3E4-4A42-887A-BA377B75BA1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BB14E697-DFEC-4BE7-AC60-35A562190E2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F68CC741-DA92-4806-8EF9-D0A2367188EE}"/>
              </a:ext>
            </a:extLst>
          </p:cNvPr>
          <p:cNvGrpSpPr/>
          <p:nvPr/>
        </p:nvGrpSpPr>
        <p:grpSpPr>
          <a:xfrm>
            <a:off x="7069863" y="3987373"/>
            <a:ext cx="411250" cy="193657"/>
            <a:chOff x="6631843" y="3975912"/>
            <a:chExt cx="411250" cy="193657"/>
          </a:xfrm>
        </p:grpSpPr>
        <p:sp>
          <p:nvSpPr>
            <p:cNvPr id="93" name="Oval 92">
              <a:extLst>
                <a:ext uri="{FF2B5EF4-FFF2-40B4-BE49-F238E27FC236}">
                  <a16:creationId xmlns:a16="http://schemas.microsoft.com/office/drawing/2014/main" id="{5BF9BBCA-551A-4906-9FFA-99406AB43D85}"/>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6059CA63-37EE-4F57-85D1-030E693C5A57}"/>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C925864-F0AC-4838-9600-DAFE3802BB80}"/>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677BDCB5-B4AB-4FD3-97B8-308B64EBCDE2}"/>
              </a:ext>
            </a:extLst>
          </p:cNvPr>
          <p:cNvGrpSpPr/>
          <p:nvPr/>
        </p:nvGrpSpPr>
        <p:grpSpPr>
          <a:xfrm>
            <a:off x="6850808" y="1021648"/>
            <a:ext cx="411250" cy="193657"/>
            <a:chOff x="6631843" y="3975912"/>
            <a:chExt cx="411250" cy="193657"/>
          </a:xfrm>
        </p:grpSpPr>
        <p:sp>
          <p:nvSpPr>
            <p:cNvPr id="97" name="Oval 96">
              <a:extLst>
                <a:ext uri="{FF2B5EF4-FFF2-40B4-BE49-F238E27FC236}">
                  <a16:creationId xmlns:a16="http://schemas.microsoft.com/office/drawing/2014/main" id="{97116B82-D149-41C8-9039-4C7BB4DD4C17}"/>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C07FACA-7C5F-41BB-A351-609E368889A1}"/>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3FC6FA38-D637-47A8-BCF7-6BB282E7BA4F}"/>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E69322-1C72-4C9B-85B6-F741BB3CC6B7}"/>
              </a:ext>
            </a:extLst>
          </p:cNvPr>
          <p:cNvGrpSpPr/>
          <p:nvPr/>
        </p:nvGrpSpPr>
        <p:grpSpPr>
          <a:xfrm>
            <a:off x="6277344" y="1458560"/>
            <a:ext cx="411250" cy="193657"/>
            <a:chOff x="6631843" y="3975912"/>
            <a:chExt cx="411250" cy="193657"/>
          </a:xfrm>
        </p:grpSpPr>
        <p:sp>
          <p:nvSpPr>
            <p:cNvPr id="89" name="Oval 88">
              <a:extLst>
                <a:ext uri="{FF2B5EF4-FFF2-40B4-BE49-F238E27FC236}">
                  <a16:creationId xmlns:a16="http://schemas.microsoft.com/office/drawing/2014/main" id="{7A8F2693-6703-4EE2-A11B-5F1057387880}"/>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BE6E629-0EC6-4129-BB08-DAD2B7BB4693}"/>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F8FDA26-B426-4439-A998-9B3632A2C1C4}"/>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56B28B3D-C9A9-4472-97BC-4542803B3C12}"/>
              </a:ext>
            </a:extLst>
          </p:cNvPr>
          <p:cNvSpPr txBox="1"/>
          <p:nvPr/>
        </p:nvSpPr>
        <p:spPr>
          <a:xfrm>
            <a:off x="1912574" y="4466431"/>
            <a:ext cx="5143859" cy="646331"/>
          </a:xfrm>
          <a:prstGeom prst="rect">
            <a:avLst/>
          </a:prstGeom>
          <a:noFill/>
        </p:spPr>
        <p:txBody>
          <a:bodyPr wrap="square" rtlCol="0">
            <a:spAutoFit/>
          </a:bodyPr>
          <a:lstStyle/>
          <a:p>
            <a:r>
              <a:rPr lang="en-US"/>
              <a:t>Additional sensors on inlets can allow real-time modelling to assure step operated as intended </a:t>
            </a:r>
          </a:p>
        </p:txBody>
      </p:sp>
      <p:sp>
        <p:nvSpPr>
          <p:cNvPr id="27" name="TextBox 26">
            <a:extLst>
              <a:ext uri="{FF2B5EF4-FFF2-40B4-BE49-F238E27FC236}">
                <a16:creationId xmlns:a16="http://schemas.microsoft.com/office/drawing/2014/main" id="{CEF3472F-1E3D-6B44-A1C5-F7C39E3CDFAD}"/>
              </a:ext>
            </a:extLst>
          </p:cNvPr>
          <p:cNvSpPr txBox="1"/>
          <p:nvPr/>
        </p:nvSpPr>
        <p:spPr>
          <a:xfrm>
            <a:off x="3712719" y="3867978"/>
            <a:ext cx="2881943" cy="646331"/>
          </a:xfrm>
          <a:prstGeom prst="rect">
            <a:avLst/>
          </a:prstGeom>
          <a:noFill/>
        </p:spPr>
        <p:txBody>
          <a:bodyPr wrap="none" rtlCol="0">
            <a:spAutoFit/>
          </a:bodyPr>
          <a:lstStyle/>
          <a:p>
            <a:r>
              <a:rPr lang="en-US" dirty="0"/>
              <a:t>UV: 0.1 &amp; 1mm pathlength</a:t>
            </a:r>
          </a:p>
          <a:p>
            <a:r>
              <a:rPr lang="en-US" dirty="0"/>
              <a:t>Scan 230-320nm</a:t>
            </a:r>
          </a:p>
        </p:txBody>
      </p:sp>
      <p:sp>
        <p:nvSpPr>
          <p:cNvPr id="28" name="TextBox 27">
            <a:extLst>
              <a:ext uri="{FF2B5EF4-FFF2-40B4-BE49-F238E27FC236}">
                <a16:creationId xmlns:a16="http://schemas.microsoft.com/office/drawing/2014/main" id="{4D4EA22F-8791-E149-855F-5A8C7B2B77F6}"/>
              </a:ext>
            </a:extLst>
          </p:cNvPr>
          <p:cNvSpPr txBox="1"/>
          <p:nvPr/>
        </p:nvSpPr>
        <p:spPr>
          <a:xfrm>
            <a:off x="6546444" y="3667910"/>
            <a:ext cx="190461" cy="369332"/>
          </a:xfrm>
          <a:prstGeom prst="rect">
            <a:avLst/>
          </a:prstGeom>
          <a:noFill/>
        </p:spPr>
        <p:txBody>
          <a:bodyPr wrap="square" rtlCol="0">
            <a:spAutoFit/>
          </a:bodyPr>
          <a:lstStyle/>
          <a:p>
            <a:r>
              <a:rPr lang="en-US" dirty="0"/>
              <a:t>1</a:t>
            </a:r>
          </a:p>
        </p:txBody>
      </p:sp>
      <p:sp>
        <p:nvSpPr>
          <p:cNvPr id="103" name="TextBox 102">
            <a:extLst>
              <a:ext uri="{FF2B5EF4-FFF2-40B4-BE49-F238E27FC236}">
                <a16:creationId xmlns:a16="http://schemas.microsoft.com/office/drawing/2014/main" id="{E22278BE-5982-B345-99F4-C67FC288B762}"/>
              </a:ext>
            </a:extLst>
          </p:cNvPr>
          <p:cNvSpPr txBox="1"/>
          <p:nvPr/>
        </p:nvSpPr>
        <p:spPr>
          <a:xfrm>
            <a:off x="7326254" y="3683311"/>
            <a:ext cx="190461" cy="369332"/>
          </a:xfrm>
          <a:prstGeom prst="rect">
            <a:avLst/>
          </a:prstGeom>
          <a:noFill/>
        </p:spPr>
        <p:txBody>
          <a:bodyPr wrap="square" rtlCol="0">
            <a:spAutoFit/>
          </a:bodyPr>
          <a:lstStyle/>
          <a:p>
            <a:r>
              <a:rPr lang="en-US" dirty="0"/>
              <a:t>2</a:t>
            </a:r>
          </a:p>
        </p:txBody>
      </p:sp>
      <p:sp>
        <p:nvSpPr>
          <p:cNvPr id="31" name="TextBox 30">
            <a:extLst>
              <a:ext uri="{FF2B5EF4-FFF2-40B4-BE49-F238E27FC236}">
                <a16:creationId xmlns:a16="http://schemas.microsoft.com/office/drawing/2014/main" id="{BA2B2DBF-EC8D-C34B-87EA-DC6B89D83E89}"/>
              </a:ext>
            </a:extLst>
          </p:cNvPr>
          <p:cNvSpPr txBox="1"/>
          <p:nvPr/>
        </p:nvSpPr>
        <p:spPr>
          <a:xfrm>
            <a:off x="6658613" y="784315"/>
            <a:ext cx="244204" cy="369332"/>
          </a:xfrm>
          <a:prstGeom prst="rect">
            <a:avLst/>
          </a:prstGeom>
          <a:noFill/>
        </p:spPr>
        <p:txBody>
          <a:bodyPr wrap="square" rtlCol="0">
            <a:spAutoFit/>
          </a:bodyPr>
          <a:lstStyle/>
          <a:p>
            <a:r>
              <a:rPr lang="en-US" dirty="0"/>
              <a:t>3</a:t>
            </a:r>
          </a:p>
        </p:txBody>
      </p:sp>
      <p:sp>
        <p:nvSpPr>
          <p:cNvPr id="105" name="TextBox 104">
            <a:extLst>
              <a:ext uri="{FF2B5EF4-FFF2-40B4-BE49-F238E27FC236}">
                <a16:creationId xmlns:a16="http://schemas.microsoft.com/office/drawing/2014/main" id="{EDBF1782-6FDC-FB4B-A8A0-97EBA9001C2F}"/>
              </a:ext>
            </a:extLst>
          </p:cNvPr>
          <p:cNvSpPr txBox="1"/>
          <p:nvPr/>
        </p:nvSpPr>
        <p:spPr>
          <a:xfrm>
            <a:off x="6071082" y="1625548"/>
            <a:ext cx="244204" cy="369332"/>
          </a:xfrm>
          <a:prstGeom prst="rect">
            <a:avLst/>
          </a:prstGeom>
          <a:noFill/>
        </p:spPr>
        <p:txBody>
          <a:bodyPr wrap="square" rtlCol="0">
            <a:spAutoFit/>
          </a:bodyPr>
          <a:lstStyle/>
          <a:p>
            <a:r>
              <a:rPr lang="en-US" dirty="0"/>
              <a:t>4</a:t>
            </a:r>
          </a:p>
        </p:txBody>
      </p:sp>
      <p:sp>
        <p:nvSpPr>
          <p:cNvPr id="106" name="TextBox 105">
            <a:extLst>
              <a:ext uri="{FF2B5EF4-FFF2-40B4-BE49-F238E27FC236}">
                <a16:creationId xmlns:a16="http://schemas.microsoft.com/office/drawing/2014/main" id="{254CE261-C2DF-1544-A539-A59DFD6AF5DC}"/>
              </a:ext>
            </a:extLst>
          </p:cNvPr>
          <p:cNvSpPr txBox="1"/>
          <p:nvPr/>
        </p:nvSpPr>
        <p:spPr>
          <a:xfrm>
            <a:off x="137905" y="1205446"/>
            <a:ext cx="1512539" cy="646331"/>
          </a:xfrm>
          <a:prstGeom prst="rect">
            <a:avLst/>
          </a:prstGeom>
          <a:noFill/>
        </p:spPr>
        <p:txBody>
          <a:bodyPr wrap="square" rtlCol="0">
            <a:spAutoFit/>
          </a:bodyPr>
          <a:lstStyle/>
          <a:p>
            <a:pPr algn="ctr"/>
            <a:r>
              <a:rPr lang="en-US" dirty="0"/>
              <a:t>Buffers</a:t>
            </a:r>
          </a:p>
          <a:p>
            <a:pPr algn="ctr"/>
            <a:r>
              <a:rPr lang="en-US" dirty="0"/>
              <a:t>0.3-3 L/min</a:t>
            </a:r>
          </a:p>
        </p:txBody>
      </p:sp>
    </p:spTree>
    <p:extLst>
      <p:ext uri="{BB962C8B-B14F-4D97-AF65-F5344CB8AC3E}">
        <p14:creationId xmlns:p14="http://schemas.microsoft.com/office/powerpoint/2010/main" val="4256924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64F012-1A28-488F-B3BA-0504F50A3D58}"/>
              </a:ext>
            </a:extLst>
          </p:cNvPr>
          <p:cNvSpPr>
            <a:spLocks noGrp="1"/>
          </p:cNvSpPr>
          <p:nvPr>
            <p:ph type="sldNum" sz="quarter" idx="4"/>
          </p:nvPr>
        </p:nvSpPr>
        <p:spPr/>
        <p:txBody>
          <a:bodyPr/>
          <a:lstStyle/>
          <a:p>
            <a:fld id="{3C4F54F3-C349-4609-AFEE-01462D5C7942}" type="slidenum">
              <a:rPr lang="en-GB" smtClean="0"/>
              <a:pPr/>
              <a:t>16</a:t>
            </a:fld>
            <a:endParaRPr lang="en-GB"/>
          </a:p>
        </p:txBody>
      </p:sp>
      <p:sp>
        <p:nvSpPr>
          <p:cNvPr id="3" name="Title 2">
            <a:extLst>
              <a:ext uri="{FF2B5EF4-FFF2-40B4-BE49-F238E27FC236}">
                <a16:creationId xmlns:a16="http://schemas.microsoft.com/office/drawing/2014/main" id="{11D9BF32-A7F4-4B1B-A6E7-0042391466D0}"/>
              </a:ext>
            </a:extLst>
          </p:cNvPr>
          <p:cNvSpPr>
            <a:spLocks noGrp="1"/>
          </p:cNvSpPr>
          <p:nvPr>
            <p:ph type="title"/>
          </p:nvPr>
        </p:nvSpPr>
        <p:spPr/>
        <p:txBody>
          <a:bodyPr/>
          <a:lstStyle/>
          <a:p>
            <a:r>
              <a:rPr lang="en-US"/>
              <a:t>Virus Inactivation Skid for Batch or Continuous</a:t>
            </a:r>
          </a:p>
        </p:txBody>
      </p:sp>
      <p:sp>
        <p:nvSpPr>
          <p:cNvPr id="4" name="Slide Number Placeholder 2">
            <a:extLst>
              <a:ext uri="{FF2B5EF4-FFF2-40B4-BE49-F238E27FC236}">
                <a16:creationId xmlns:a16="http://schemas.microsoft.com/office/drawing/2014/main" id="{693B1692-97B8-429B-B0A3-AE3B23DBAC3E}"/>
              </a:ext>
            </a:extLst>
          </p:cNvPr>
          <p:cNvSpPr txBox="1">
            <a:spLocks/>
          </p:cNvSpPr>
          <p:nvPr/>
        </p:nvSpPr>
        <p:spPr>
          <a:xfrm>
            <a:off x="318375" y="4846754"/>
            <a:ext cx="396000" cy="162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4F54F3-C349-4609-AFEE-01462D5C7942}" type="slidenum">
              <a:rPr lang="en-GB"/>
              <a:pPr/>
              <a:t>16</a:t>
            </a:fld>
            <a:endParaRPr lang="en-GB"/>
          </a:p>
        </p:txBody>
      </p:sp>
      <p:cxnSp>
        <p:nvCxnSpPr>
          <p:cNvPr id="7" name="Straight Arrow Connector 6">
            <a:extLst>
              <a:ext uri="{FF2B5EF4-FFF2-40B4-BE49-F238E27FC236}">
                <a16:creationId xmlns:a16="http://schemas.microsoft.com/office/drawing/2014/main" id="{E9FA1958-7AA2-4B8A-AD05-11D6EC33F9D1}"/>
              </a:ext>
            </a:extLst>
          </p:cNvPr>
          <p:cNvCxnSpPr>
            <a:cxnSpLocks/>
          </p:cNvCxnSpPr>
          <p:nvPr/>
        </p:nvCxnSpPr>
        <p:spPr>
          <a:xfrm>
            <a:off x="5563276" y="3854520"/>
            <a:ext cx="354192" cy="688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48EAA3E-5D69-4670-84DB-5898921F083E}"/>
              </a:ext>
            </a:extLst>
          </p:cNvPr>
          <p:cNvSpPr txBox="1"/>
          <p:nvPr/>
        </p:nvSpPr>
        <p:spPr>
          <a:xfrm>
            <a:off x="3780206" y="3090770"/>
            <a:ext cx="1880187" cy="369332"/>
          </a:xfrm>
          <a:prstGeom prst="rect">
            <a:avLst/>
          </a:prstGeom>
          <a:noFill/>
        </p:spPr>
        <p:txBody>
          <a:bodyPr wrap="square" rtlCol="0">
            <a:spAutoFit/>
          </a:bodyPr>
          <a:lstStyle/>
          <a:p>
            <a:pPr algn="ctr"/>
            <a:r>
              <a:rPr lang="en-US" dirty="0"/>
              <a:t>Water (for PFR)</a:t>
            </a:r>
          </a:p>
        </p:txBody>
      </p:sp>
      <p:sp>
        <p:nvSpPr>
          <p:cNvPr id="13" name="TextBox 12">
            <a:extLst>
              <a:ext uri="{FF2B5EF4-FFF2-40B4-BE49-F238E27FC236}">
                <a16:creationId xmlns:a16="http://schemas.microsoft.com/office/drawing/2014/main" id="{12021B99-D54E-4934-8E73-355B2845D54A}"/>
              </a:ext>
            </a:extLst>
          </p:cNvPr>
          <p:cNvSpPr txBox="1"/>
          <p:nvPr/>
        </p:nvSpPr>
        <p:spPr>
          <a:xfrm>
            <a:off x="4170106" y="1271226"/>
            <a:ext cx="1402948" cy="646331"/>
          </a:xfrm>
          <a:prstGeom prst="rect">
            <a:avLst/>
          </a:prstGeom>
          <a:noFill/>
        </p:spPr>
        <p:txBody>
          <a:bodyPr wrap="none" rtlCol="0">
            <a:spAutoFit/>
          </a:bodyPr>
          <a:lstStyle/>
          <a:p>
            <a:r>
              <a:rPr lang="en-US" dirty="0"/>
              <a:t>Acid</a:t>
            </a:r>
          </a:p>
          <a:p>
            <a:r>
              <a:rPr lang="en-US" dirty="0"/>
              <a:t>0.05-1L/min</a:t>
            </a:r>
          </a:p>
        </p:txBody>
      </p:sp>
      <p:sp>
        <p:nvSpPr>
          <p:cNvPr id="14" name="TextBox 13">
            <a:extLst>
              <a:ext uri="{FF2B5EF4-FFF2-40B4-BE49-F238E27FC236}">
                <a16:creationId xmlns:a16="http://schemas.microsoft.com/office/drawing/2014/main" id="{2DD20626-CA9C-467E-AD3D-1574A1DD1F72}"/>
              </a:ext>
            </a:extLst>
          </p:cNvPr>
          <p:cNvSpPr txBox="1"/>
          <p:nvPr/>
        </p:nvSpPr>
        <p:spPr>
          <a:xfrm>
            <a:off x="4170106" y="3601195"/>
            <a:ext cx="1493895" cy="923330"/>
          </a:xfrm>
          <a:prstGeom prst="rect">
            <a:avLst/>
          </a:prstGeom>
          <a:noFill/>
        </p:spPr>
        <p:txBody>
          <a:bodyPr wrap="square" rtlCol="0">
            <a:spAutoFit/>
          </a:bodyPr>
          <a:lstStyle/>
          <a:p>
            <a:pPr algn="ctr"/>
            <a:r>
              <a:rPr lang="en-US" dirty="0"/>
              <a:t>Base</a:t>
            </a:r>
          </a:p>
          <a:p>
            <a:pPr algn="ctr"/>
            <a:r>
              <a:rPr lang="en-US" dirty="0"/>
              <a:t>0.1-2L/min</a:t>
            </a:r>
          </a:p>
          <a:p>
            <a:pPr algn="ctr"/>
            <a:endParaRPr lang="en-US" dirty="0"/>
          </a:p>
        </p:txBody>
      </p:sp>
      <p:sp>
        <p:nvSpPr>
          <p:cNvPr id="26" name="TextBox 25">
            <a:extLst>
              <a:ext uri="{FF2B5EF4-FFF2-40B4-BE49-F238E27FC236}">
                <a16:creationId xmlns:a16="http://schemas.microsoft.com/office/drawing/2014/main" id="{FF60FCCE-9EF1-4A5F-8016-B137AE651C5A}"/>
              </a:ext>
            </a:extLst>
          </p:cNvPr>
          <p:cNvSpPr txBox="1"/>
          <p:nvPr/>
        </p:nvSpPr>
        <p:spPr>
          <a:xfrm>
            <a:off x="3435224" y="676630"/>
            <a:ext cx="2146806" cy="369332"/>
          </a:xfrm>
          <a:prstGeom prst="rect">
            <a:avLst/>
          </a:prstGeom>
          <a:noFill/>
        </p:spPr>
        <p:txBody>
          <a:bodyPr wrap="none" rtlCol="0">
            <a:spAutoFit/>
          </a:bodyPr>
          <a:lstStyle/>
          <a:p>
            <a:pPr algn="ctr"/>
            <a:r>
              <a:rPr lang="en-US"/>
              <a:t>From </a:t>
            </a:r>
            <a:r>
              <a:rPr lang="en-US" err="1"/>
              <a:t>ProA</a:t>
            </a:r>
            <a:r>
              <a:rPr lang="en-US"/>
              <a:t> Column</a:t>
            </a:r>
          </a:p>
        </p:txBody>
      </p:sp>
      <p:sp>
        <p:nvSpPr>
          <p:cNvPr id="34" name="Oval 33">
            <a:extLst>
              <a:ext uri="{FF2B5EF4-FFF2-40B4-BE49-F238E27FC236}">
                <a16:creationId xmlns:a16="http://schemas.microsoft.com/office/drawing/2014/main" id="{920ED7C8-101B-4D31-8E3D-9B2976A4E8EE}"/>
              </a:ext>
            </a:extLst>
          </p:cNvPr>
          <p:cNvSpPr/>
          <p:nvPr/>
        </p:nvSpPr>
        <p:spPr>
          <a:xfrm>
            <a:off x="6790415" y="364137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3674A88-52E0-450A-B653-18EBE1B976EE}"/>
              </a:ext>
            </a:extLst>
          </p:cNvPr>
          <p:cNvSpPr/>
          <p:nvPr/>
        </p:nvSpPr>
        <p:spPr>
          <a:xfrm>
            <a:off x="6855769" y="1294360"/>
            <a:ext cx="532746" cy="504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9A5F6E31-ACFC-4F7E-BFF1-404E67F96DE8}"/>
              </a:ext>
            </a:extLst>
          </p:cNvPr>
          <p:cNvCxnSpPr>
            <a:cxnSpLocks/>
            <a:endCxn id="35" idx="0"/>
          </p:cNvCxnSpPr>
          <p:nvPr/>
        </p:nvCxnSpPr>
        <p:spPr>
          <a:xfrm>
            <a:off x="5918502" y="795174"/>
            <a:ext cx="1203640" cy="499186"/>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ED70ABF-ED5B-417D-AF5C-0B58B1DB11E7}"/>
              </a:ext>
            </a:extLst>
          </p:cNvPr>
          <p:cNvCxnSpPr>
            <a:cxnSpLocks/>
            <a:stCxn id="35" idx="3"/>
            <a:endCxn id="72" idx="0"/>
          </p:cNvCxnSpPr>
          <p:nvPr/>
        </p:nvCxnSpPr>
        <p:spPr>
          <a:xfrm rot="16200000" flipH="1">
            <a:off x="6795026" y="1863313"/>
            <a:ext cx="447738" cy="170214"/>
          </a:xfrm>
          <a:prstGeom prst="bentConnector3">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106B194D-0300-41B8-AB97-0BB39B1F59B4}"/>
              </a:ext>
            </a:extLst>
          </p:cNvPr>
          <p:cNvCxnSpPr>
            <a:cxnSpLocks/>
            <a:stCxn id="35" idx="5"/>
          </p:cNvCxnSpPr>
          <p:nvPr/>
        </p:nvCxnSpPr>
        <p:spPr>
          <a:xfrm rot="16200000" flipH="1">
            <a:off x="7412035" y="1623011"/>
            <a:ext cx="577802" cy="780881"/>
          </a:xfrm>
          <a:prstGeom prst="bentConnector3">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EC858A54-76E2-4B2C-861B-1F8CA3D0F7D5}"/>
              </a:ext>
            </a:extLst>
          </p:cNvPr>
          <p:cNvCxnSpPr>
            <a:cxnSpLocks/>
            <a:stCxn id="72" idx="2"/>
            <a:endCxn id="34" idx="1"/>
          </p:cNvCxnSpPr>
          <p:nvPr/>
        </p:nvCxnSpPr>
        <p:spPr>
          <a:xfrm rot="5400000">
            <a:off x="6651153" y="3262330"/>
            <a:ext cx="670130" cy="235568"/>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9EAE652D-3CF6-40D4-B3FA-BC809D476783}"/>
              </a:ext>
            </a:extLst>
          </p:cNvPr>
          <p:cNvCxnSpPr>
            <a:stCxn id="34" idx="5"/>
          </p:cNvCxnSpPr>
          <p:nvPr/>
        </p:nvCxnSpPr>
        <p:spPr>
          <a:xfrm rot="16200000" flipH="1">
            <a:off x="7363909" y="3952793"/>
            <a:ext cx="375595" cy="613129"/>
          </a:xfrm>
          <a:prstGeom prst="bentConnector2">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E67E2-37CA-4430-9A8C-84EDB0502D6F}"/>
              </a:ext>
            </a:extLst>
          </p:cNvPr>
          <p:cNvCxnSpPr>
            <a:stCxn id="34" idx="3"/>
          </p:cNvCxnSpPr>
          <p:nvPr/>
        </p:nvCxnSpPr>
        <p:spPr>
          <a:xfrm>
            <a:off x="6868434" y="4071561"/>
            <a:ext cx="0" cy="641319"/>
          </a:xfrm>
          <a:prstGeom prst="straightConnector1">
            <a:avLst/>
          </a:prstGeom>
          <a:ln>
            <a:solidFill>
              <a:schemeClr val="bg2">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833C816-C995-4380-8156-06260AA5B6C2}"/>
              </a:ext>
            </a:extLst>
          </p:cNvPr>
          <p:cNvGrpSpPr/>
          <p:nvPr/>
        </p:nvGrpSpPr>
        <p:grpSpPr>
          <a:xfrm>
            <a:off x="7935645" y="2368152"/>
            <a:ext cx="457200" cy="304800"/>
            <a:chOff x="6612318" y="4679156"/>
            <a:chExt cx="457200" cy="304800"/>
          </a:xfrm>
        </p:grpSpPr>
        <p:cxnSp>
          <p:nvCxnSpPr>
            <p:cNvPr id="44" name="Straight Connector 43">
              <a:extLst>
                <a:ext uri="{FF2B5EF4-FFF2-40B4-BE49-F238E27FC236}">
                  <a16:creationId xmlns:a16="http://schemas.microsoft.com/office/drawing/2014/main" id="{92D24026-FE1C-422A-9B5B-C8C3BB798CA2}"/>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34662A1-F04C-4838-BA14-B8624BF8D4B0}"/>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B78A0DC-6B89-4B7A-80A4-3EEC00170379}"/>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5F89F1F9-F187-4901-AB51-E2DBB8EDC041}"/>
              </a:ext>
            </a:extLst>
          </p:cNvPr>
          <p:cNvSpPr txBox="1"/>
          <p:nvPr/>
        </p:nvSpPr>
        <p:spPr>
          <a:xfrm>
            <a:off x="7948311" y="4262489"/>
            <a:ext cx="979755" cy="369332"/>
          </a:xfrm>
          <a:prstGeom prst="rect">
            <a:avLst/>
          </a:prstGeom>
          <a:noFill/>
        </p:spPr>
        <p:txBody>
          <a:bodyPr wrap="none" rtlCol="0">
            <a:spAutoFit/>
          </a:bodyPr>
          <a:lstStyle/>
          <a:p>
            <a:r>
              <a:rPr lang="en-US"/>
              <a:t>Product</a:t>
            </a:r>
          </a:p>
        </p:txBody>
      </p:sp>
      <p:cxnSp>
        <p:nvCxnSpPr>
          <p:cNvPr id="48" name="Connector: Elbow 47">
            <a:extLst>
              <a:ext uri="{FF2B5EF4-FFF2-40B4-BE49-F238E27FC236}">
                <a16:creationId xmlns:a16="http://schemas.microsoft.com/office/drawing/2014/main" id="{3CE6C91A-E1A2-4D76-9E0F-E6BDE5279BE3}"/>
              </a:ext>
            </a:extLst>
          </p:cNvPr>
          <p:cNvCxnSpPr>
            <a:cxnSpLocks/>
            <a:stCxn id="50" idx="6"/>
          </p:cNvCxnSpPr>
          <p:nvPr/>
        </p:nvCxnSpPr>
        <p:spPr>
          <a:xfrm flipV="1">
            <a:off x="5918503" y="1305844"/>
            <a:ext cx="1206463" cy="155617"/>
          </a:xfrm>
          <a:prstGeom prst="bentConnector3">
            <a:avLst>
              <a:gd name="adj1" fmla="val 50000"/>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DE278910-246A-40E9-A068-4B2456D4B5A5}"/>
              </a:ext>
            </a:extLst>
          </p:cNvPr>
          <p:cNvGrpSpPr/>
          <p:nvPr/>
        </p:nvGrpSpPr>
        <p:grpSpPr>
          <a:xfrm>
            <a:off x="5562244" y="1303031"/>
            <a:ext cx="356259" cy="449101"/>
            <a:chOff x="4471713" y="4397646"/>
            <a:chExt cx="356259" cy="449101"/>
          </a:xfrm>
        </p:grpSpPr>
        <p:sp>
          <p:nvSpPr>
            <p:cNvPr id="50" name="Oval 49">
              <a:extLst>
                <a:ext uri="{FF2B5EF4-FFF2-40B4-BE49-F238E27FC236}">
                  <a16:creationId xmlns:a16="http://schemas.microsoft.com/office/drawing/2014/main" id="{A435C811-5099-4462-B5BA-FF4EB35EDDE2}"/>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AA84154-C330-4748-AADF-849732B4CE72}"/>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88C71E47-FC02-49CB-82FC-A2F2DE579AEC}"/>
              </a:ext>
            </a:extLst>
          </p:cNvPr>
          <p:cNvGrpSpPr/>
          <p:nvPr/>
        </p:nvGrpSpPr>
        <p:grpSpPr>
          <a:xfrm>
            <a:off x="5572980" y="3115494"/>
            <a:ext cx="356259" cy="449101"/>
            <a:chOff x="4471713" y="4397646"/>
            <a:chExt cx="356259" cy="449101"/>
          </a:xfrm>
        </p:grpSpPr>
        <p:sp>
          <p:nvSpPr>
            <p:cNvPr id="53" name="Oval 52">
              <a:extLst>
                <a:ext uri="{FF2B5EF4-FFF2-40B4-BE49-F238E27FC236}">
                  <a16:creationId xmlns:a16="http://schemas.microsoft.com/office/drawing/2014/main" id="{A79AD016-A2D3-49DD-9FFF-68949EFCDA3E}"/>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27FF3DDD-FA12-4141-8266-207C9FB3E57A}"/>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id="{8A5C0850-C74B-45E0-9C10-4154D2C0C411}"/>
              </a:ext>
            </a:extLst>
          </p:cNvPr>
          <p:cNvCxnSpPr>
            <a:cxnSpLocks/>
            <a:stCxn id="35" idx="7"/>
            <a:endCxn id="35" idx="5"/>
          </p:cNvCxnSpPr>
          <p:nvPr/>
        </p:nvCxnSpPr>
        <p:spPr>
          <a:xfrm>
            <a:off x="7310496" y="1368169"/>
            <a:ext cx="0"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A16FBC0-6A96-4DE0-967F-0580E303F21E}"/>
              </a:ext>
            </a:extLst>
          </p:cNvPr>
          <p:cNvCxnSpPr>
            <a:cxnSpLocks/>
            <a:stCxn id="35" idx="0"/>
            <a:endCxn id="35" idx="3"/>
          </p:cNvCxnSpPr>
          <p:nvPr/>
        </p:nvCxnSpPr>
        <p:spPr>
          <a:xfrm flipH="1">
            <a:off x="6933788" y="1294360"/>
            <a:ext cx="188354" cy="430191"/>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B3B8D4A-6175-4CC2-AF91-1B8052CCAFA1}"/>
              </a:ext>
            </a:extLst>
          </p:cNvPr>
          <p:cNvCxnSpPr>
            <a:cxnSpLocks/>
            <a:stCxn id="34" idx="7"/>
            <a:endCxn id="34" idx="3"/>
          </p:cNvCxnSpPr>
          <p:nvPr/>
        </p:nvCxnSpPr>
        <p:spPr>
          <a:xfrm flipH="1">
            <a:off x="6868434" y="3715179"/>
            <a:ext cx="376708" cy="356382"/>
          </a:xfrm>
          <a:prstGeom prst="line">
            <a:avLst/>
          </a:prstGeom>
          <a:ln w="38100">
            <a:solidFill>
              <a:schemeClr val="bg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1C6B510-8D22-4295-A28E-94AA5C5E9436}"/>
              </a:ext>
            </a:extLst>
          </p:cNvPr>
          <p:cNvCxnSpPr>
            <a:cxnSpLocks/>
            <a:stCxn id="34" idx="1"/>
            <a:endCxn id="34" idx="5"/>
          </p:cNvCxnSpPr>
          <p:nvPr/>
        </p:nvCxnSpPr>
        <p:spPr>
          <a:xfrm>
            <a:off x="6868434" y="3715179"/>
            <a:ext cx="376708" cy="356382"/>
          </a:xfrm>
          <a:prstGeom prst="line">
            <a:avLst/>
          </a:prstGeom>
          <a:ln w="38100">
            <a:solidFill>
              <a:srgbClr val="00B0F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82FFB03-1486-405D-92C6-B7A3A3B8EA06}"/>
              </a:ext>
            </a:extLst>
          </p:cNvPr>
          <p:cNvSpPr/>
          <p:nvPr/>
        </p:nvSpPr>
        <p:spPr>
          <a:xfrm>
            <a:off x="6362399" y="2172290"/>
            <a:ext cx="1483206" cy="87275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Plug Flow Reactor or Tank</a:t>
            </a:r>
          </a:p>
        </p:txBody>
      </p:sp>
      <p:grpSp>
        <p:nvGrpSpPr>
          <p:cNvPr id="81" name="Group 80">
            <a:extLst>
              <a:ext uri="{FF2B5EF4-FFF2-40B4-BE49-F238E27FC236}">
                <a16:creationId xmlns:a16="http://schemas.microsoft.com/office/drawing/2014/main" id="{C8BC10D5-12FE-4818-AD1F-7249AC5FAA23}"/>
              </a:ext>
            </a:extLst>
          </p:cNvPr>
          <p:cNvGrpSpPr/>
          <p:nvPr/>
        </p:nvGrpSpPr>
        <p:grpSpPr>
          <a:xfrm>
            <a:off x="6599588" y="4735440"/>
            <a:ext cx="457200" cy="304800"/>
            <a:chOff x="6612318" y="4679156"/>
            <a:chExt cx="457200" cy="304800"/>
          </a:xfrm>
        </p:grpSpPr>
        <p:cxnSp>
          <p:nvCxnSpPr>
            <p:cNvPr id="82" name="Straight Connector 81">
              <a:extLst>
                <a:ext uri="{FF2B5EF4-FFF2-40B4-BE49-F238E27FC236}">
                  <a16:creationId xmlns:a16="http://schemas.microsoft.com/office/drawing/2014/main" id="{64236969-0D2F-4B86-9362-BBA03A70E599}"/>
                </a:ext>
              </a:extLst>
            </p:cNvPr>
            <p:cNvCxnSpPr/>
            <p:nvPr/>
          </p:nvCxnSpPr>
          <p:spPr>
            <a:xfrm>
              <a:off x="6612318" y="4679156"/>
              <a:ext cx="4572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DB86D80-5F5A-445D-959F-C8049D8F0A5B}"/>
                </a:ext>
              </a:extLst>
            </p:cNvPr>
            <p:cNvCxnSpPr/>
            <p:nvPr/>
          </p:nvCxnSpPr>
          <p:spPr>
            <a:xfrm>
              <a:off x="6726618" y="4831556"/>
              <a:ext cx="2286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FC85468-3232-4FB0-B53D-4E0D9363B487}"/>
                </a:ext>
              </a:extLst>
            </p:cNvPr>
            <p:cNvCxnSpPr/>
            <p:nvPr/>
          </p:nvCxnSpPr>
          <p:spPr>
            <a:xfrm>
              <a:off x="6795198" y="4983956"/>
              <a:ext cx="9144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1A3879D0-D364-4EFF-934C-DD5947391E51}"/>
              </a:ext>
            </a:extLst>
          </p:cNvPr>
          <p:cNvGrpSpPr/>
          <p:nvPr/>
        </p:nvGrpSpPr>
        <p:grpSpPr>
          <a:xfrm>
            <a:off x="5562244" y="3689859"/>
            <a:ext cx="356259" cy="449101"/>
            <a:chOff x="4471713" y="4397646"/>
            <a:chExt cx="356259" cy="449101"/>
          </a:xfrm>
        </p:grpSpPr>
        <p:sp>
          <p:nvSpPr>
            <p:cNvPr id="88" name="Oval 87">
              <a:extLst>
                <a:ext uri="{FF2B5EF4-FFF2-40B4-BE49-F238E27FC236}">
                  <a16:creationId xmlns:a16="http://schemas.microsoft.com/office/drawing/2014/main" id="{032CEDCC-8940-4DE8-9218-87968977F4C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B4BBA95A-8A22-4FF8-B1FC-C786C1D0E9A8}"/>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92" name="Straight Arrow Connector 91">
            <a:extLst>
              <a:ext uri="{FF2B5EF4-FFF2-40B4-BE49-F238E27FC236}">
                <a16:creationId xmlns:a16="http://schemas.microsoft.com/office/drawing/2014/main" id="{2291C33A-9A77-4731-A761-C2C53F9DF3D7}"/>
              </a:ext>
            </a:extLst>
          </p:cNvPr>
          <p:cNvCxnSpPr>
            <a:cxnSpLocks/>
            <a:stCxn id="88" idx="6"/>
          </p:cNvCxnSpPr>
          <p:nvPr/>
        </p:nvCxnSpPr>
        <p:spPr>
          <a:xfrm>
            <a:off x="5918502" y="3848288"/>
            <a:ext cx="762700" cy="1055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A43990C-F407-435B-92E2-991B80EB5CA6}"/>
                  </a:ext>
                </a:extLst>
              </p:cNvPr>
              <p:cNvSpPr txBox="1"/>
              <p:nvPr/>
            </p:nvSpPr>
            <p:spPr>
              <a:xfrm>
                <a:off x="792129" y="1739308"/>
                <a:ext cx="1757425" cy="369332"/>
              </a:xfrm>
              <a:prstGeom prst="rect">
                <a:avLst/>
              </a:prstGeom>
              <a:noFill/>
            </p:spPr>
            <p:txBody>
              <a:bodyPr wrap="square" rtlCol="0">
                <a:spAutoFit/>
              </a:bodyPr>
              <a:lstStyle/>
              <a:p>
                <a:pPr algn="ctr"/>
                <a:r>
                  <a:rPr lang="en-US"/>
                  <a:t>Q</a:t>
                </a:r>
                <a:r>
                  <a:rPr lang="en-US" baseline="-25000" err="1"/>
                  <a:t>acid</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3" name="TextBox 62">
                <a:extLst>
                  <a:ext uri="{FF2B5EF4-FFF2-40B4-BE49-F238E27FC236}">
                    <a16:creationId xmlns:a16="http://schemas.microsoft.com/office/drawing/2014/main" id="{7A43990C-F407-435B-92E2-991B80EB5CA6}"/>
                  </a:ext>
                </a:extLst>
              </p:cNvPr>
              <p:cNvSpPr txBox="1">
                <a:spLocks noRot="1" noChangeAspect="1" noMove="1" noResize="1" noEditPoints="1" noAdjustHandles="1" noChangeArrowheads="1" noChangeShapeType="1" noTextEdit="1"/>
              </p:cNvSpPr>
              <p:nvPr/>
            </p:nvSpPr>
            <p:spPr>
              <a:xfrm>
                <a:off x="792129" y="1739308"/>
                <a:ext cx="1757425" cy="369332"/>
              </a:xfrm>
              <a:prstGeom prst="rect">
                <a:avLst/>
              </a:prstGeom>
              <a:blipFill>
                <a:blip r:embed="rId2"/>
                <a:stretch>
                  <a:fillRect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F9438AB-2866-40E3-878C-FC15A4DF3053}"/>
                  </a:ext>
                </a:extLst>
              </p:cNvPr>
              <p:cNvSpPr txBox="1"/>
              <p:nvPr/>
            </p:nvSpPr>
            <p:spPr>
              <a:xfrm>
                <a:off x="877427" y="2114559"/>
                <a:ext cx="1586829" cy="369332"/>
              </a:xfrm>
              <a:prstGeom prst="rect">
                <a:avLst/>
              </a:prstGeom>
              <a:noFill/>
            </p:spPr>
            <p:txBody>
              <a:bodyPr wrap="square" rtlCol="0">
                <a:spAutoFit/>
              </a:bodyPr>
              <a:lstStyle/>
              <a:p>
                <a:pPr algn="ctr"/>
                <a:r>
                  <a:rPr lang="en-US" err="1"/>
                  <a:t>Q</a:t>
                </a:r>
                <a:r>
                  <a:rPr lang="en-US" baseline="-25000" err="1"/>
                  <a:t>base</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endParaRPr lang="en-US"/>
              </a:p>
            </p:txBody>
          </p:sp>
        </mc:Choice>
        <mc:Fallback xmlns="">
          <p:sp>
            <p:nvSpPr>
              <p:cNvPr id="64" name="TextBox 63">
                <a:extLst>
                  <a:ext uri="{FF2B5EF4-FFF2-40B4-BE49-F238E27FC236}">
                    <a16:creationId xmlns:a16="http://schemas.microsoft.com/office/drawing/2014/main" id="{1F9438AB-2866-40E3-878C-FC15A4DF3053}"/>
                  </a:ext>
                </a:extLst>
              </p:cNvPr>
              <p:cNvSpPr txBox="1">
                <a:spLocks noRot="1" noChangeAspect="1" noMove="1" noResize="1" noEditPoints="1" noAdjustHandles="1" noChangeArrowheads="1" noChangeShapeType="1" noTextEdit="1"/>
              </p:cNvSpPr>
              <p:nvPr/>
            </p:nvSpPr>
            <p:spPr>
              <a:xfrm>
                <a:off x="877427" y="2114559"/>
                <a:ext cx="1586829" cy="369332"/>
              </a:xfrm>
              <a:prstGeom prst="rect">
                <a:avLst/>
              </a:prstGeom>
              <a:blipFill>
                <a:blip r:embed="rId3"/>
                <a:stretch>
                  <a:fillRect t="-6897"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44CA6C-ED79-4356-89B3-87D9D3914C62}"/>
                  </a:ext>
                </a:extLst>
              </p:cNvPr>
              <p:cNvSpPr txBox="1"/>
              <p:nvPr/>
            </p:nvSpPr>
            <p:spPr>
              <a:xfrm>
                <a:off x="-157723" y="3185268"/>
                <a:ext cx="3622292" cy="923330"/>
              </a:xfrm>
              <a:prstGeom prst="rect">
                <a:avLst/>
              </a:prstGeom>
              <a:noFill/>
            </p:spPr>
            <p:txBody>
              <a:bodyPr wrap="square" rtlCol="0">
                <a:spAutoFit/>
              </a:bodyPr>
              <a:lstStyle/>
              <a:p>
                <a:pPr algn="ctr"/>
                <a:r>
                  <a:rPr lang="en-US" err="1"/>
                  <a:t>Q</a:t>
                </a:r>
                <a:r>
                  <a:rPr lang="en-US" baseline="-25000" err="1"/>
                  <a:t>water</a:t>
                </a:r>
                <a:r>
                  <a:rPr lang="en-US" baseline="-25000"/>
                  <a:t> </a:t>
                </a:r>
                <a14:m>
                  <m:oMath xmlns:m="http://schemas.openxmlformats.org/officeDocument/2006/math">
                    <m:r>
                      <a:rPr lang="en-US" i="1">
                        <a:latin typeface="Cambria Math" panose="02040503050406030204" pitchFamily="18" charset="0"/>
                        <a:ea typeface="Cambria Math" panose="02040503050406030204" pitchFamily="18" charset="0"/>
                      </a:rPr>
                      <m:t>∝</m:t>
                    </m:r>
                    <m:r>
                      <m:rPr>
                        <m:nor/>
                      </m:rPr>
                      <a:rPr lang="en-US" dirty="0"/>
                      <m:t>UV</m:t>
                    </m:r>
                  </m:oMath>
                </a14:m>
                <a:r>
                  <a:rPr lang="en-US"/>
                  <a:t> </a:t>
                </a:r>
              </a:p>
              <a:p>
                <a:pPr algn="ctr"/>
                <a:r>
                  <a:rPr lang="en-US"/>
                  <a:t>(to maintain constant ionic strength)</a:t>
                </a:r>
              </a:p>
            </p:txBody>
          </p:sp>
        </mc:Choice>
        <mc:Fallback xmlns="">
          <p:sp>
            <p:nvSpPr>
              <p:cNvPr id="65" name="TextBox 64">
                <a:extLst>
                  <a:ext uri="{FF2B5EF4-FFF2-40B4-BE49-F238E27FC236}">
                    <a16:creationId xmlns:a16="http://schemas.microsoft.com/office/drawing/2014/main" id="{0444CA6C-ED79-4356-89B3-87D9D3914C62}"/>
                  </a:ext>
                </a:extLst>
              </p:cNvPr>
              <p:cNvSpPr txBox="1">
                <a:spLocks noRot="1" noChangeAspect="1" noMove="1" noResize="1" noEditPoints="1" noAdjustHandles="1" noChangeArrowheads="1" noChangeShapeType="1" noTextEdit="1"/>
              </p:cNvSpPr>
              <p:nvPr/>
            </p:nvSpPr>
            <p:spPr>
              <a:xfrm>
                <a:off x="-157723" y="3185268"/>
                <a:ext cx="3622292" cy="923330"/>
              </a:xfrm>
              <a:prstGeom prst="rect">
                <a:avLst/>
              </a:prstGeom>
              <a:blipFill>
                <a:blip r:embed="rId4"/>
                <a:stretch>
                  <a:fillRect t="-4167" b="-972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3B81B7-B5AE-42F2-B0E1-96A0DA7990A8}"/>
              </a:ext>
            </a:extLst>
          </p:cNvPr>
          <p:cNvCxnSpPr>
            <a:stCxn id="53" idx="6"/>
          </p:cNvCxnSpPr>
          <p:nvPr/>
        </p:nvCxnSpPr>
        <p:spPr>
          <a:xfrm flipV="1">
            <a:off x="5929238" y="3271355"/>
            <a:ext cx="670350" cy="25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CC2B8BE1-9F71-4BCA-939F-B3C0B13FC573}"/>
              </a:ext>
            </a:extLst>
          </p:cNvPr>
          <p:cNvGrpSpPr/>
          <p:nvPr/>
        </p:nvGrpSpPr>
        <p:grpSpPr>
          <a:xfrm>
            <a:off x="6686804" y="1820893"/>
            <a:ext cx="411250" cy="193657"/>
            <a:chOff x="6631843" y="3975912"/>
            <a:chExt cx="411250" cy="193657"/>
          </a:xfrm>
        </p:grpSpPr>
        <p:sp>
          <p:nvSpPr>
            <p:cNvPr id="56" name="Oval 55">
              <a:extLst>
                <a:ext uri="{FF2B5EF4-FFF2-40B4-BE49-F238E27FC236}">
                  <a16:creationId xmlns:a16="http://schemas.microsoft.com/office/drawing/2014/main" id="{1E196522-007C-48A2-8982-1828F60650C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3F15EBB-9366-4DB8-B16C-4172A72CD234}"/>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2DF6F89-D771-4003-AEC7-8E8F9D317DFC}"/>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3223AF8-7CF6-4F9D-9EF8-BFB4DCD772AF}"/>
              </a:ext>
            </a:extLst>
          </p:cNvPr>
          <p:cNvGrpSpPr/>
          <p:nvPr/>
        </p:nvGrpSpPr>
        <p:grpSpPr>
          <a:xfrm>
            <a:off x="7018895" y="4156922"/>
            <a:ext cx="411250" cy="193657"/>
            <a:chOff x="6631843" y="3975912"/>
            <a:chExt cx="411250" cy="193657"/>
          </a:xfrm>
        </p:grpSpPr>
        <p:sp>
          <p:nvSpPr>
            <p:cNvPr id="69" name="Oval 68">
              <a:extLst>
                <a:ext uri="{FF2B5EF4-FFF2-40B4-BE49-F238E27FC236}">
                  <a16:creationId xmlns:a16="http://schemas.microsoft.com/office/drawing/2014/main" id="{B467195E-BA0E-4B87-84BC-40C5626C2F21}"/>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CCA925E-B32B-4938-9BF4-81C1439929B9}"/>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D30D41-99BE-455C-821A-D145F4F2621A}"/>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9452BF51-F12A-48D9-B86D-5DB3196D2227}"/>
              </a:ext>
            </a:extLst>
          </p:cNvPr>
          <p:cNvGrpSpPr/>
          <p:nvPr/>
        </p:nvGrpSpPr>
        <p:grpSpPr>
          <a:xfrm>
            <a:off x="1607558" y="4636433"/>
            <a:ext cx="411250" cy="193657"/>
            <a:chOff x="6631843" y="3975912"/>
            <a:chExt cx="411250" cy="193657"/>
          </a:xfrm>
        </p:grpSpPr>
        <p:sp>
          <p:nvSpPr>
            <p:cNvPr id="74" name="Oval 73">
              <a:extLst>
                <a:ext uri="{FF2B5EF4-FFF2-40B4-BE49-F238E27FC236}">
                  <a16:creationId xmlns:a16="http://schemas.microsoft.com/office/drawing/2014/main" id="{F54F6FC2-F73B-495A-BD11-1E0AF9508593}"/>
                </a:ext>
              </a:extLst>
            </p:cNvPr>
            <p:cNvSpPr/>
            <p:nvPr/>
          </p:nvSpPr>
          <p:spPr>
            <a:xfrm>
              <a:off x="6631843" y="3975912"/>
              <a:ext cx="411250" cy="193657"/>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151613-CFD9-4909-BA32-A566C72C5916}"/>
                </a:ext>
              </a:extLst>
            </p:cNvPr>
            <p:cNvSpPr/>
            <p:nvPr/>
          </p:nvSpPr>
          <p:spPr>
            <a:xfrm>
              <a:off x="6752131" y="3989870"/>
              <a:ext cx="179766" cy="16541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679BFA0-DCDD-4672-9A76-80C1D2301395}"/>
                </a:ext>
              </a:extLst>
            </p:cNvPr>
            <p:cNvSpPr/>
            <p:nvPr/>
          </p:nvSpPr>
          <p:spPr>
            <a:xfrm>
              <a:off x="6807776" y="4037409"/>
              <a:ext cx="68476" cy="70335"/>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B0FAA2E9-F246-49E7-8DC0-519415ED528D}"/>
              </a:ext>
            </a:extLst>
          </p:cNvPr>
          <p:cNvSpPr txBox="1"/>
          <p:nvPr/>
        </p:nvSpPr>
        <p:spPr>
          <a:xfrm>
            <a:off x="2027970" y="4539722"/>
            <a:ext cx="710451" cy="369332"/>
          </a:xfrm>
          <a:prstGeom prst="rect">
            <a:avLst/>
          </a:prstGeom>
          <a:noFill/>
        </p:spPr>
        <p:txBody>
          <a:bodyPr wrap="square" rtlCol="0">
            <a:spAutoFit/>
          </a:bodyPr>
          <a:lstStyle/>
          <a:p>
            <a:r>
              <a:rPr lang="en-US"/>
              <a:t>pH</a:t>
            </a:r>
          </a:p>
        </p:txBody>
      </p:sp>
      <p:grpSp>
        <p:nvGrpSpPr>
          <p:cNvPr id="78" name="Group 77">
            <a:extLst>
              <a:ext uri="{FF2B5EF4-FFF2-40B4-BE49-F238E27FC236}">
                <a16:creationId xmlns:a16="http://schemas.microsoft.com/office/drawing/2014/main" id="{66B7166E-CD1D-B44A-B2C0-F12F64860B61}"/>
              </a:ext>
            </a:extLst>
          </p:cNvPr>
          <p:cNvGrpSpPr/>
          <p:nvPr/>
        </p:nvGrpSpPr>
        <p:grpSpPr>
          <a:xfrm>
            <a:off x="6993681" y="3164783"/>
            <a:ext cx="356259" cy="449101"/>
            <a:chOff x="4471713" y="4397646"/>
            <a:chExt cx="356259" cy="449101"/>
          </a:xfrm>
        </p:grpSpPr>
        <p:sp>
          <p:nvSpPr>
            <p:cNvPr id="96" name="Oval 95">
              <a:extLst>
                <a:ext uri="{FF2B5EF4-FFF2-40B4-BE49-F238E27FC236}">
                  <a16:creationId xmlns:a16="http://schemas.microsoft.com/office/drawing/2014/main" id="{4451EFA1-62C7-3A47-8453-81B9A0DD5091}"/>
                </a:ext>
              </a:extLst>
            </p:cNvPr>
            <p:cNvSpPr/>
            <p:nvPr/>
          </p:nvSpPr>
          <p:spPr>
            <a:xfrm>
              <a:off x="4471713" y="4397646"/>
              <a:ext cx="356259" cy="316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Isosceles Triangle 53">
              <a:extLst>
                <a:ext uri="{FF2B5EF4-FFF2-40B4-BE49-F238E27FC236}">
                  <a16:creationId xmlns:a16="http://schemas.microsoft.com/office/drawing/2014/main" id="{6AE6A946-342C-1A46-A079-E47B5745EA0C}"/>
                </a:ext>
              </a:extLst>
            </p:cNvPr>
            <p:cNvSpPr/>
            <p:nvPr/>
          </p:nvSpPr>
          <p:spPr>
            <a:xfrm>
              <a:off x="4471713" y="4553508"/>
              <a:ext cx="356259" cy="29323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3946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17</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p:txBody>
          <a:bodyPr/>
          <a:lstStyle/>
          <a:p>
            <a:r>
              <a:rPr lang="en-US" dirty="0"/>
              <a:t>Figure 5A</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112974" y="1614236"/>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88245" y="2470478"/>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33005" y="2592928"/>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341924" y="2134712"/>
            <a:ext cx="692558" cy="369332"/>
          </a:xfrm>
          <a:prstGeom prst="rect">
            <a:avLst/>
          </a:prstGeom>
          <a:noFill/>
        </p:spPr>
        <p:txBody>
          <a:bodyPr wrap="square" rtlCol="0">
            <a:spAutoFit/>
          </a:bodyPr>
          <a:lstStyle/>
          <a:p>
            <a:r>
              <a:rPr lang="en-US" dirty="0"/>
              <a:t>VRF</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a:endCxn id="69" idx="0"/>
          </p:cNvCxnSpPr>
          <p:nvPr/>
        </p:nvCxnSpPr>
        <p:spPr>
          <a:xfrm>
            <a:off x="3895998" y="3343852"/>
            <a:ext cx="506280" cy="321621"/>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66" name="TextBox 65">
            <a:extLst>
              <a:ext uri="{FF2B5EF4-FFF2-40B4-BE49-F238E27FC236}">
                <a16:creationId xmlns:a16="http://schemas.microsoft.com/office/drawing/2014/main" id="{621A2E61-7B35-3A4F-88B7-5CA0EC698188}"/>
              </a:ext>
            </a:extLst>
          </p:cNvPr>
          <p:cNvSpPr txBox="1"/>
          <p:nvPr/>
        </p:nvSpPr>
        <p:spPr>
          <a:xfrm>
            <a:off x="850470" y="2450316"/>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7" name="TextBox 66">
            <a:extLst>
              <a:ext uri="{FF2B5EF4-FFF2-40B4-BE49-F238E27FC236}">
                <a16:creationId xmlns:a16="http://schemas.microsoft.com/office/drawing/2014/main" id="{3B25FBFF-AC4F-3640-BC8A-BD670AD71B68}"/>
              </a:ext>
            </a:extLst>
          </p:cNvPr>
          <p:cNvSpPr txBox="1"/>
          <p:nvPr/>
        </p:nvSpPr>
        <p:spPr>
          <a:xfrm>
            <a:off x="720455" y="3127852"/>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68" name="TextBox 67">
            <a:extLst>
              <a:ext uri="{FF2B5EF4-FFF2-40B4-BE49-F238E27FC236}">
                <a16:creationId xmlns:a16="http://schemas.microsoft.com/office/drawing/2014/main" id="{ED959B48-2414-4C43-9ECF-306AD8817DF3}"/>
              </a:ext>
            </a:extLst>
          </p:cNvPr>
          <p:cNvSpPr txBox="1"/>
          <p:nvPr/>
        </p:nvSpPr>
        <p:spPr>
          <a:xfrm>
            <a:off x="-40095" y="3714328"/>
            <a:ext cx="565095" cy="707886"/>
          </a:xfrm>
          <a:prstGeom prst="rect">
            <a:avLst/>
          </a:prstGeom>
          <a:noFill/>
        </p:spPr>
        <p:txBody>
          <a:bodyPr wrap="square" rtlCol="0">
            <a:spAutoFit/>
          </a:bodyPr>
          <a:lstStyle/>
          <a:p>
            <a:pPr algn="ctr"/>
            <a:r>
              <a:rPr lang="en-US" sz="1000" dirty="0"/>
              <a:t>0.1-0.5L/min</a:t>
            </a:r>
          </a:p>
          <a:p>
            <a:pPr algn="ctr"/>
            <a:endParaRPr lang="en-US" sz="1000" dirty="0"/>
          </a:p>
        </p:txBody>
      </p:sp>
      <p:sp>
        <p:nvSpPr>
          <p:cNvPr id="69" name="TextBox 68">
            <a:extLst>
              <a:ext uri="{FF2B5EF4-FFF2-40B4-BE49-F238E27FC236}">
                <a16:creationId xmlns:a16="http://schemas.microsoft.com/office/drawing/2014/main" id="{C1D48C00-F4D4-5B4C-8340-58A68480D6F3}"/>
              </a:ext>
            </a:extLst>
          </p:cNvPr>
          <p:cNvSpPr txBox="1"/>
          <p:nvPr/>
        </p:nvSpPr>
        <p:spPr>
          <a:xfrm>
            <a:off x="4008580" y="366547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0" name="TextBox 69">
            <a:extLst>
              <a:ext uri="{FF2B5EF4-FFF2-40B4-BE49-F238E27FC236}">
                <a16:creationId xmlns:a16="http://schemas.microsoft.com/office/drawing/2014/main" id="{57B6535F-B689-B949-A6B6-63B8DD0AD53F}"/>
              </a:ext>
            </a:extLst>
          </p:cNvPr>
          <p:cNvSpPr txBox="1"/>
          <p:nvPr/>
        </p:nvSpPr>
        <p:spPr>
          <a:xfrm>
            <a:off x="2742156" y="3978866"/>
            <a:ext cx="752129" cy="400110"/>
          </a:xfrm>
          <a:prstGeom prst="rect">
            <a:avLst/>
          </a:prstGeom>
          <a:noFill/>
        </p:spPr>
        <p:txBody>
          <a:bodyPr wrap="none" rtlCol="0">
            <a:spAutoFit/>
          </a:bodyPr>
          <a:lstStyle/>
          <a:p>
            <a:pPr algn="ctr"/>
            <a:r>
              <a:rPr lang="en-US" sz="1000" dirty="0"/>
              <a:t>3-30L/min</a:t>
            </a:r>
          </a:p>
          <a:p>
            <a:pPr algn="ctr"/>
            <a:endParaRPr lang="en-US" sz="1000" dirty="0"/>
          </a:p>
        </p:txBody>
      </p:sp>
      <p:sp>
        <p:nvSpPr>
          <p:cNvPr id="71" name="TextBox 70">
            <a:extLst>
              <a:ext uri="{FF2B5EF4-FFF2-40B4-BE49-F238E27FC236}">
                <a16:creationId xmlns:a16="http://schemas.microsoft.com/office/drawing/2014/main" id="{72ACC6E5-B8BF-4744-A82C-C211305360D0}"/>
              </a:ext>
            </a:extLst>
          </p:cNvPr>
          <p:cNvSpPr txBox="1"/>
          <p:nvPr/>
        </p:nvSpPr>
        <p:spPr>
          <a:xfrm>
            <a:off x="6445774" y="3140186"/>
            <a:ext cx="787395" cy="400110"/>
          </a:xfrm>
          <a:prstGeom prst="rect">
            <a:avLst/>
          </a:prstGeom>
          <a:noFill/>
        </p:spPr>
        <p:txBody>
          <a:bodyPr wrap="none" rtlCol="0">
            <a:spAutoFit/>
          </a:bodyPr>
          <a:lstStyle/>
          <a:p>
            <a:pPr algn="ctr"/>
            <a:r>
              <a:rPr lang="en-US" sz="1000" dirty="0"/>
              <a:t>0.1-3L/min</a:t>
            </a:r>
          </a:p>
          <a:p>
            <a:pPr algn="ctr"/>
            <a:endParaRPr lang="en-US" sz="1000" dirty="0"/>
          </a:p>
        </p:txBody>
      </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5400000" flipH="1" flipV="1">
            <a:off x="6700405" y="2793778"/>
            <a:ext cx="188690" cy="2894"/>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18647" y="2592928"/>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5CD516F6-B925-AB4F-8478-821ADFBFFE2A}"/>
              </a:ext>
            </a:extLst>
          </p:cNvPr>
          <p:cNvSpPr txBox="1"/>
          <p:nvPr/>
        </p:nvSpPr>
        <p:spPr>
          <a:xfrm>
            <a:off x="2366804" y="2002395"/>
            <a:ext cx="787395" cy="246221"/>
          </a:xfrm>
          <a:prstGeom prst="rect">
            <a:avLst/>
          </a:prstGeom>
          <a:noFill/>
        </p:spPr>
        <p:txBody>
          <a:bodyPr wrap="none" rtlCol="0">
            <a:spAutoFit/>
          </a:bodyPr>
          <a:lstStyle/>
          <a:p>
            <a:pPr algn="ctr"/>
            <a:r>
              <a:rPr lang="en-US" sz="1000" dirty="0"/>
              <a:t>0.1-3L/min</a:t>
            </a:r>
          </a:p>
        </p:txBody>
      </p: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4A168ED7-3BB0-E941-8380-92C0E2BB1B03}"/>
              </a:ext>
            </a:extLst>
          </p:cNvPr>
          <p:cNvSpPr txBox="1"/>
          <p:nvPr/>
        </p:nvSpPr>
        <p:spPr>
          <a:xfrm>
            <a:off x="7268642" y="3688831"/>
            <a:ext cx="787395" cy="400110"/>
          </a:xfrm>
          <a:prstGeom prst="rect">
            <a:avLst/>
          </a:prstGeom>
          <a:noFill/>
        </p:spPr>
        <p:txBody>
          <a:bodyPr wrap="none" rtlCol="0">
            <a:spAutoFit/>
          </a:bodyPr>
          <a:lstStyle/>
          <a:p>
            <a:pPr algn="ctr"/>
            <a:r>
              <a:rPr lang="en-US" sz="1000" dirty="0"/>
              <a:t>0.3-3L/min</a:t>
            </a:r>
          </a:p>
          <a:p>
            <a:pPr algn="ctr"/>
            <a:endParaRPr lang="en-US" sz="1000" dirty="0"/>
          </a:p>
        </p:txBody>
      </p:sp>
      <p:sp>
        <p:nvSpPr>
          <p:cNvPr id="73" name="TextBox 72">
            <a:extLst>
              <a:ext uri="{FF2B5EF4-FFF2-40B4-BE49-F238E27FC236}">
                <a16:creationId xmlns:a16="http://schemas.microsoft.com/office/drawing/2014/main" id="{7725BA86-680E-244C-89B3-9DC01428C4E5}"/>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118659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18</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SPTFF, ILDF</a:t>
            </a:r>
          </a:p>
        </p:txBody>
      </p:sp>
      <p:sp>
        <p:nvSpPr>
          <p:cNvPr id="5" name="Rectangle 4">
            <a:extLst>
              <a:ext uri="{FF2B5EF4-FFF2-40B4-BE49-F238E27FC236}">
                <a16:creationId xmlns:a16="http://schemas.microsoft.com/office/drawing/2014/main" id="{ECDBB7A7-8A40-8C4A-81BE-A5FE5B9C2815}"/>
              </a:ext>
            </a:extLst>
          </p:cNvPr>
          <p:cNvSpPr/>
          <p:nvPr/>
        </p:nvSpPr>
        <p:spPr>
          <a:xfrm>
            <a:off x="1540332" y="3480002"/>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flipV="1">
            <a:off x="1533189" y="3487147"/>
            <a:ext cx="210796" cy="237755"/>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6798403" y="1938036"/>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208C0076-1141-944B-812D-7497EFD3D62B}"/>
              </a:ext>
            </a:extLst>
          </p:cNvPr>
          <p:cNvGrpSpPr/>
          <p:nvPr/>
        </p:nvGrpSpPr>
        <p:grpSpPr>
          <a:xfrm>
            <a:off x="2820494" y="3487146"/>
            <a:ext cx="230817" cy="244901"/>
            <a:chOff x="2820494" y="3487146"/>
            <a:chExt cx="230817" cy="244901"/>
          </a:xfrm>
        </p:grpSpPr>
        <p:sp>
          <p:nvSpPr>
            <p:cNvPr id="32" name="Rectangle 31">
              <a:extLst>
                <a:ext uri="{FF2B5EF4-FFF2-40B4-BE49-F238E27FC236}">
                  <a16:creationId xmlns:a16="http://schemas.microsoft.com/office/drawing/2014/main" id="{E3346678-BBB2-5F4B-AFE9-2D80E7809D48}"/>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F6A65596-8184-E540-ACB4-D6083534CD95}"/>
              </a:ext>
            </a:extLst>
          </p:cNvPr>
          <p:cNvCxnSpPr>
            <a:cxnSpLocks/>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3"/>
          </p:cNvCxnSpPr>
          <p:nvPr/>
        </p:nvCxnSpPr>
        <p:spPr>
          <a:xfrm rot="10800000">
            <a:off x="3709567" y="3853846"/>
            <a:ext cx="631822" cy="15519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538555" y="3762051"/>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734988" y="3262804"/>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cxnSpLocks/>
            <a:endCxn id="23" idx="0"/>
          </p:cNvCxnSpPr>
          <p:nvPr/>
        </p:nvCxnSpPr>
        <p:spPr>
          <a:xfrm flipH="1">
            <a:off x="4410501" y="3739898"/>
            <a:ext cx="6593" cy="17876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36D06BD-5B28-1C47-B460-22CD7D9E7C17}"/>
              </a:ext>
            </a:extLst>
          </p:cNvPr>
          <p:cNvSpPr txBox="1"/>
          <p:nvPr/>
        </p:nvSpPr>
        <p:spPr>
          <a:xfrm>
            <a:off x="4767735" y="2809994"/>
            <a:ext cx="893193" cy="553998"/>
          </a:xfrm>
          <a:prstGeom prst="rect">
            <a:avLst/>
          </a:prstGeom>
          <a:noFill/>
        </p:spPr>
        <p:txBody>
          <a:bodyPr wrap="none" rtlCol="0">
            <a:spAutoFit/>
          </a:bodyPr>
          <a:lstStyle/>
          <a:p>
            <a:pPr algn="ctr"/>
            <a:r>
              <a:rPr lang="en-US" sz="1000" dirty="0"/>
              <a:t>DF Solution </a:t>
            </a:r>
          </a:p>
          <a:p>
            <a:pPr algn="ctr"/>
            <a:r>
              <a:rPr lang="en-US" sz="1000" dirty="0"/>
              <a:t>0.1-3L/min</a:t>
            </a:r>
          </a:p>
          <a:p>
            <a:pPr algn="ctr"/>
            <a:endParaRPr lang="en-US" sz="1000" dirty="0"/>
          </a:p>
        </p:txBody>
      </p:sp>
      <p:cxnSp>
        <p:nvCxnSpPr>
          <p:cNvPr id="72" name="Straight Arrow Connector 71">
            <a:extLst>
              <a:ext uri="{FF2B5EF4-FFF2-40B4-BE49-F238E27FC236}">
                <a16:creationId xmlns:a16="http://schemas.microsoft.com/office/drawing/2014/main" id="{A18EC30A-6895-524D-8BBA-B34AE6237AA2}"/>
              </a:ext>
            </a:extLst>
          </p:cNvPr>
          <p:cNvCxnSpPr>
            <a:cxnSpLocks/>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cxnSpLocks/>
            <a:stCxn id="26" idx="2"/>
            <a:endCxn id="59" idx="0"/>
          </p:cNvCxnSpPr>
          <p:nvPr/>
        </p:nvCxnSpPr>
        <p:spPr>
          <a:xfrm rot="10800000" flipV="1">
            <a:off x="2820494" y="2982014"/>
            <a:ext cx="816342" cy="28078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5717730C-25E6-554D-BC0B-CA5FE72B0D9D}"/>
              </a:ext>
            </a:extLst>
          </p:cNvPr>
          <p:cNvSpPr txBox="1"/>
          <p:nvPr/>
        </p:nvSpPr>
        <p:spPr>
          <a:xfrm>
            <a:off x="3927441" y="4262483"/>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5" name="TextBox 74">
            <a:extLst>
              <a:ext uri="{FF2B5EF4-FFF2-40B4-BE49-F238E27FC236}">
                <a16:creationId xmlns:a16="http://schemas.microsoft.com/office/drawing/2014/main" id="{C6EF92B3-348D-E849-9973-10D61CEF8ACB}"/>
              </a:ext>
            </a:extLst>
          </p:cNvPr>
          <p:cNvSpPr txBox="1"/>
          <p:nvPr/>
        </p:nvSpPr>
        <p:spPr>
          <a:xfrm>
            <a:off x="3243138" y="2567468"/>
            <a:ext cx="787395" cy="400110"/>
          </a:xfrm>
          <a:prstGeom prst="rect">
            <a:avLst/>
          </a:prstGeom>
          <a:noFill/>
        </p:spPr>
        <p:txBody>
          <a:bodyPr wrap="none" rtlCol="0">
            <a:spAutoFit/>
          </a:bodyPr>
          <a:lstStyle/>
          <a:p>
            <a:pPr algn="ctr"/>
            <a:r>
              <a:rPr lang="en-US" sz="1000" dirty="0"/>
              <a:t>0.1-3L/min</a:t>
            </a:r>
          </a:p>
          <a:p>
            <a:pPr algn="ctr"/>
            <a:endParaRPr lang="en-US" sz="1000" dirty="0"/>
          </a:p>
        </p:txBody>
      </p:sp>
      <p:sp>
        <p:nvSpPr>
          <p:cNvPr id="77" name="TextBox 76">
            <a:extLst>
              <a:ext uri="{FF2B5EF4-FFF2-40B4-BE49-F238E27FC236}">
                <a16:creationId xmlns:a16="http://schemas.microsoft.com/office/drawing/2014/main" id="{7CC6FF13-866C-3144-8FCC-A99599A47126}"/>
              </a:ext>
            </a:extLst>
          </p:cNvPr>
          <p:cNvSpPr txBox="1"/>
          <p:nvPr/>
        </p:nvSpPr>
        <p:spPr>
          <a:xfrm>
            <a:off x="153149" y="3398698"/>
            <a:ext cx="1058303" cy="553998"/>
          </a:xfrm>
          <a:prstGeom prst="rect">
            <a:avLst/>
          </a:prstGeom>
          <a:noFill/>
        </p:spPr>
        <p:txBody>
          <a:bodyPr wrap="none" rtlCol="0">
            <a:spAutoFit/>
          </a:bodyPr>
          <a:lstStyle/>
          <a:p>
            <a:pPr algn="ctr"/>
            <a:r>
              <a:rPr lang="en-US" sz="1000" dirty="0"/>
              <a:t>Feed from VRF</a:t>
            </a:r>
          </a:p>
          <a:p>
            <a:pPr algn="ctr"/>
            <a:r>
              <a:rPr lang="en-US" sz="1000" dirty="0"/>
              <a:t>0.1-3L/min</a:t>
            </a:r>
          </a:p>
          <a:p>
            <a:pPr algn="ctr"/>
            <a:endParaRPr lang="en-US" sz="1000" dirty="0"/>
          </a:p>
        </p:txBody>
      </p:sp>
      <p:sp>
        <p:nvSpPr>
          <p:cNvPr id="92" name="TextBox 91">
            <a:extLst>
              <a:ext uri="{FF2B5EF4-FFF2-40B4-BE49-F238E27FC236}">
                <a16:creationId xmlns:a16="http://schemas.microsoft.com/office/drawing/2014/main" id="{371003A6-82D4-3F47-BE5F-373A7FA6D56E}"/>
              </a:ext>
            </a:extLst>
          </p:cNvPr>
          <p:cNvSpPr txBox="1"/>
          <p:nvPr/>
        </p:nvSpPr>
        <p:spPr>
          <a:xfrm>
            <a:off x="1736934" y="364642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sp>
        <p:nvSpPr>
          <p:cNvPr id="93" name="TextBox 92">
            <a:extLst>
              <a:ext uri="{FF2B5EF4-FFF2-40B4-BE49-F238E27FC236}">
                <a16:creationId xmlns:a16="http://schemas.microsoft.com/office/drawing/2014/main" id="{32089029-1565-2247-ABC8-1373B217D784}"/>
              </a:ext>
            </a:extLst>
          </p:cNvPr>
          <p:cNvSpPr txBox="1"/>
          <p:nvPr/>
        </p:nvSpPr>
        <p:spPr>
          <a:xfrm>
            <a:off x="4723177" y="3794785"/>
            <a:ext cx="1058302" cy="553998"/>
          </a:xfrm>
          <a:prstGeom prst="rect">
            <a:avLst/>
          </a:prstGeom>
          <a:noFill/>
        </p:spPr>
        <p:txBody>
          <a:bodyPr wrap="none" rtlCol="0">
            <a:spAutoFit/>
          </a:bodyPr>
          <a:lstStyle/>
          <a:p>
            <a:pPr algn="ctr"/>
            <a:r>
              <a:rPr lang="en-US" sz="1000" dirty="0"/>
              <a:t>Product Flow</a:t>
            </a:r>
          </a:p>
          <a:p>
            <a:pPr algn="ctr"/>
            <a:r>
              <a:rPr lang="en-US" sz="1000" dirty="0"/>
              <a:t>33-133 mL/min</a:t>
            </a:r>
          </a:p>
          <a:p>
            <a:pPr algn="ctr"/>
            <a:endParaRPr lang="en-US" sz="1000" dirty="0"/>
          </a:p>
        </p:txBody>
      </p:sp>
      <p:cxnSp>
        <p:nvCxnSpPr>
          <p:cNvPr id="12" name="Elbow Connector 11">
            <a:extLst>
              <a:ext uri="{FF2B5EF4-FFF2-40B4-BE49-F238E27FC236}">
                <a16:creationId xmlns:a16="http://schemas.microsoft.com/office/drawing/2014/main" id="{6AD3E0CB-C27D-844F-8CCF-E1E87EAAD95A}"/>
              </a:ext>
            </a:extLst>
          </p:cNvPr>
          <p:cNvCxnSpPr>
            <a:stCxn id="29" idx="6"/>
            <a:endCxn id="5" idx="0"/>
          </p:cNvCxnSpPr>
          <p:nvPr/>
        </p:nvCxnSpPr>
        <p:spPr>
          <a:xfrm flipV="1">
            <a:off x="1344355" y="3480002"/>
            <a:ext cx="303929" cy="122985"/>
          </a:xfrm>
          <a:prstGeom prst="bentConnector4">
            <a:avLst>
              <a:gd name="adj1" fmla="val 32240"/>
              <a:gd name="adj2" fmla="val 28587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7" name="Elbow Connector 36">
            <a:extLst>
              <a:ext uri="{FF2B5EF4-FFF2-40B4-BE49-F238E27FC236}">
                <a16:creationId xmlns:a16="http://schemas.microsoft.com/office/drawing/2014/main" id="{5B39733C-D0EC-044A-B37F-BA5CBB967F5A}"/>
              </a:ext>
            </a:extLst>
          </p:cNvPr>
          <p:cNvCxnSpPr>
            <a:cxnSpLocks/>
            <a:endCxn id="32" idx="0"/>
          </p:cNvCxnSpPr>
          <p:nvPr/>
        </p:nvCxnSpPr>
        <p:spPr>
          <a:xfrm flipV="1">
            <a:off x="1756236" y="3487146"/>
            <a:ext cx="1173241" cy="105208"/>
          </a:xfrm>
          <a:prstGeom prst="bentConnector4">
            <a:avLst>
              <a:gd name="adj1" fmla="val 45399"/>
              <a:gd name="adj2" fmla="val 31728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97" name="Group 96">
            <a:extLst>
              <a:ext uri="{FF2B5EF4-FFF2-40B4-BE49-F238E27FC236}">
                <a16:creationId xmlns:a16="http://schemas.microsoft.com/office/drawing/2014/main" id="{5C5E8093-B4D4-A347-A066-7C38FB98A631}"/>
              </a:ext>
            </a:extLst>
          </p:cNvPr>
          <p:cNvGrpSpPr/>
          <p:nvPr/>
        </p:nvGrpSpPr>
        <p:grpSpPr>
          <a:xfrm rot="5400000">
            <a:off x="3587708" y="3487373"/>
            <a:ext cx="230817" cy="244901"/>
            <a:chOff x="2820494" y="3487146"/>
            <a:chExt cx="230817" cy="244901"/>
          </a:xfrm>
        </p:grpSpPr>
        <p:sp>
          <p:nvSpPr>
            <p:cNvPr id="98" name="Rectangle 97">
              <a:extLst>
                <a:ext uri="{FF2B5EF4-FFF2-40B4-BE49-F238E27FC236}">
                  <a16:creationId xmlns:a16="http://schemas.microsoft.com/office/drawing/2014/main" id="{FE6A255D-9FF9-A94E-9D74-8AEF07DEA4B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CE74547-D755-9043-905D-CDCF37D2F756}"/>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0" name="Group 99">
            <a:extLst>
              <a:ext uri="{FF2B5EF4-FFF2-40B4-BE49-F238E27FC236}">
                <a16:creationId xmlns:a16="http://schemas.microsoft.com/office/drawing/2014/main" id="{2A008A1C-A630-D041-A9D1-44076597EAC5}"/>
              </a:ext>
            </a:extLst>
          </p:cNvPr>
          <p:cNvGrpSpPr/>
          <p:nvPr/>
        </p:nvGrpSpPr>
        <p:grpSpPr>
          <a:xfrm>
            <a:off x="4295317" y="3483908"/>
            <a:ext cx="230817" cy="244901"/>
            <a:chOff x="2820494" y="3487146"/>
            <a:chExt cx="230817" cy="244901"/>
          </a:xfrm>
        </p:grpSpPr>
        <p:sp>
          <p:nvSpPr>
            <p:cNvPr id="101" name="Rectangle 100">
              <a:extLst>
                <a:ext uri="{FF2B5EF4-FFF2-40B4-BE49-F238E27FC236}">
                  <a16:creationId xmlns:a16="http://schemas.microsoft.com/office/drawing/2014/main" id="{CA19CFA8-E06B-F840-93AC-28F8B5EEB0EC}"/>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04F088D7-BDDC-2D46-AA39-088C09D284D5}"/>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3" name="Group 102">
            <a:extLst>
              <a:ext uri="{FF2B5EF4-FFF2-40B4-BE49-F238E27FC236}">
                <a16:creationId xmlns:a16="http://schemas.microsoft.com/office/drawing/2014/main" id="{4D5BDDC4-2196-9542-A14E-71B3956CD008}"/>
              </a:ext>
            </a:extLst>
          </p:cNvPr>
          <p:cNvGrpSpPr/>
          <p:nvPr/>
        </p:nvGrpSpPr>
        <p:grpSpPr>
          <a:xfrm rot="5400000">
            <a:off x="5688319" y="3509209"/>
            <a:ext cx="230817" cy="244901"/>
            <a:chOff x="2820494" y="3487146"/>
            <a:chExt cx="230817" cy="244901"/>
          </a:xfrm>
        </p:grpSpPr>
        <p:sp>
          <p:nvSpPr>
            <p:cNvPr id="104" name="Rectangle 103">
              <a:extLst>
                <a:ext uri="{FF2B5EF4-FFF2-40B4-BE49-F238E27FC236}">
                  <a16:creationId xmlns:a16="http://schemas.microsoft.com/office/drawing/2014/main" id="{489BD01B-3EFC-4942-9F5F-A242C2D9732A}"/>
                </a:ext>
              </a:extLst>
            </p:cNvPr>
            <p:cNvSpPr/>
            <p:nvPr/>
          </p:nvSpPr>
          <p:spPr>
            <a:xfrm>
              <a:off x="2821525" y="3487146"/>
              <a:ext cx="215904" cy="2449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77A395A1-6790-0B46-B7D9-417CA7342490}"/>
                </a:ext>
              </a:extLst>
            </p:cNvPr>
            <p:cNvCxnSpPr>
              <a:cxnSpLocks/>
            </p:cNvCxnSpPr>
            <p:nvPr/>
          </p:nvCxnSpPr>
          <p:spPr>
            <a:xfrm flipH="1" flipV="1">
              <a:off x="2820494" y="3487147"/>
              <a:ext cx="230817" cy="2449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cxnSp>
        <p:nvCxnSpPr>
          <p:cNvPr id="62" name="Elbow Connector 61">
            <a:extLst>
              <a:ext uri="{FF2B5EF4-FFF2-40B4-BE49-F238E27FC236}">
                <a16:creationId xmlns:a16="http://schemas.microsoft.com/office/drawing/2014/main" id="{4F8007E6-2CC4-4440-B90A-688EC67FDC8D}"/>
              </a:ext>
            </a:extLst>
          </p:cNvPr>
          <p:cNvCxnSpPr>
            <a:stCxn id="32" idx="3"/>
            <a:endCxn id="98" idx="3"/>
          </p:cNvCxnSpPr>
          <p:nvPr/>
        </p:nvCxnSpPr>
        <p:spPr>
          <a:xfrm>
            <a:off x="3037429" y="3609596"/>
            <a:ext cx="665688" cy="101754"/>
          </a:xfrm>
          <a:prstGeom prst="bentConnector4">
            <a:avLst>
              <a:gd name="adj1" fmla="val 41892"/>
              <a:gd name="adj2" fmla="val 32465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Elbow Connector 105">
            <a:extLst>
              <a:ext uri="{FF2B5EF4-FFF2-40B4-BE49-F238E27FC236}">
                <a16:creationId xmlns:a16="http://schemas.microsoft.com/office/drawing/2014/main" id="{5CDC18D0-3A61-1C4F-AD10-CE9D4D821F42}"/>
              </a:ext>
            </a:extLst>
          </p:cNvPr>
          <p:cNvCxnSpPr>
            <a:stCxn id="98" idx="0"/>
            <a:endCxn id="101" idx="0"/>
          </p:cNvCxnSpPr>
          <p:nvPr/>
        </p:nvCxnSpPr>
        <p:spPr>
          <a:xfrm flipV="1">
            <a:off x="3825567" y="3483908"/>
            <a:ext cx="578733" cy="119490"/>
          </a:xfrm>
          <a:prstGeom prst="bentConnector4">
            <a:avLst>
              <a:gd name="adj1" fmla="val 41926"/>
              <a:gd name="adj2" fmla="val 29379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Elbow Connector 107">
            <a:extLst>
              <a:ext uri="{FF2B5EF4-FFF2-40B4-BE49-F238E27FC236}">
                <a16:creationId xmlns:a16="http://schemas.microsoft.com/office/drawing/2014/main" id="{AFA2ED4E-0EE0-F34A-9515-E3DCB40A3C6C}"/>
              </a:ext>
            </a:extLst>
          </p:cNvPr>
          <p:cNvCxnSpPr>
            <a:stCxn id="66" idx="3"/>
          </p:cNvCxnSpPr>
          <p:nvPr/>
        </p:nvCxnSpPr>
        <p:spPr>
          <a:xfrm rot="16200000" flipH="1">
            <a:off x="4094441" y="3175906"/>
            <a:ext cx="152434" cy="44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0" name="Elbow Connector 109">
            <a:extLst>
              <a:ext uri="{FF2B5EF4-FFF2-40B4-BE49-F238E27FC236}">
                <a16:creationId xmlns:a16="http://schemas.microsoft.com/office/drawing/2014/main" id="{476A2879-938B-6E4B-94CA-A68E6080D67D}"/>
              </a:ext>
            </a:extLst>
          </p:cNvPr>
          <p:cNvCxnSpPr>
            <a:stCxn id="104" idx="1"/>
          </p:cNvCxnSpPr>
          <p:nvPr/>
        </p:nvCxnSpPr>
        <p:spPr>
          <a:xfrm rot="5400000" flipH="1" flipV="1">
            <a:off x="5999372" y="3240532"/>
            <a:ext cx="81106" cy="47239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7EFC78D3-09DA-ED47-9CBA-7EEEF038D0B0}"/>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122799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nvGraphicFramePr>
        <p:xfrm>
          <a:off x="226997" y="736250"/>
          <a:ext cx="7886700" cy="202946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Bioreactor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a:effectLst/>
                        </a:rPr>
                        <a:t>Bioreactor Size (L)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 (2000)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bioreactors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1-4 </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50-150 (150)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20-60 (40)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36576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Batch Duration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14-30 (20)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concentrated media feeds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1-5 (3)</a:t>
                      </a: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a:effectLst/>
                        </a:rPr>
                        <a:t> Media Concentration Factor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1-20x (3x, 12x, 20x)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8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468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813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EEF213E7-6593-364D-BF30-6D1FDEF35DDC}"/>
              </a:ext>
            </a:extLst>
          </p:cNvPr>
          <p:cNvGraphicFramePr>
            <a:graphicFrameLocks noGrp="1"/>
          </p:cNvGraphicFramePr>
          <p:nvPr/>
        </p:nvGraphicFramePr>
        <p:xfrm>
          <a:off x="226997" y="2949931"/>
          <a:ext cx="7886700" cy="204470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330200">
                <a:tc>
                  <a:txBody>
                    <a:bodyPr/>
                    <a:lstStyle/>
                    <a:p>
                      <a:pPr marL="0" marR="0">
                        <a:spcBef>
                          <a:spcPts val="0"/>
                        </a:spcBef>
                        <a:spcAft>
                          <a:spcPts val="0"/>
                        </a:spcAft>
                      </a:pPr>
                      <a:r>
                        <a:rPr lang="en-US" sz="1200" dirty="0">
                          <a:effectLst/>
                        </a:rPr>
                        <a:t>Cell Retention Systems for 2000L bioreactors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7658199"/>
                  </a:ext>
                </a:extLst>
              </a:tr>
              <a:tr h="190500">
                <a:tc>
                  <a:txBody>
                    <a:bodyPr/>
                    <a:lstStyle/>
                    <a:p>
                      <a:pPr marL="0" marR="0">
                        <a:spcBef>
                          <a:spcPts val="0"/>
                        </a:spcBef>
                        <a:spcAft>
                          <a:spcPts val="0"/>
                        </a:spcAft>
                      </a:pPr>
                      <a:r>
                        <a:rPr lang="en-US" sz="1200" dirty="0">
                          <a:effectLst/>
                        </a:rPr>
                        <a:t>ATF 10 retentate flow rate (L/min)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85 </a:t>
                      </a: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ATF 10 for ATF setup</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 per bioreactor</a:t>
                      </a: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Number of TFF for TFF setup</a:t>
                      </a:r>
                    </a:p>
                  </a:txBody>
                  <a:tcPr marL="68580" marR="68580" marT="0" marB="0"/>
                </a:tc>
                <a:tc>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383988"/>
                  </a:ext>
                </a:extLst>
              </a:tr>
              <a:tr h="190500">
                <a:tc>
                  <a:txBody>
                    <a:bodyPr/>
                    <a:lstStyle/>
                    <a:p>
                      <a:pPr marL="0" marR="0">
                        <a:spcBef>
                          <a:spcPts val="0"/>
                        </a:spcBef>
                        <a:spcAft>
                          <a:spcPts val="0"/>
                        </a:spcAft>
                      </a:pPr>
                      <a:r>
                        <a:rPr lang="en-US" sz="1200" dirty="0">
                          <a:effectLst/>
                        </a:rPr>
                        <a:t>Filter changes per lot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 per bioreactor</a:t>
                      </a: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membrane capacity (L/m</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tc>
                <a:tc>
                  <a:txBody>
                    <a:bodyPr/>
                    <a:lstStyle/>
                    <a:p>
                      <a:pPr marL="0" marR="0">
                        <a:spcBef>
                          <a:spcPts val="0"/>
                        </a:spcBef>
                        <a:spcAft>
                          <a:spcPts val="0"/>
                        </a:spcAft>
                      </a:pPr>
                      <a:r>
                        <a:rPr lang="en-US" sz="1200" dirty="0">
                          <a:effectLst/>
                        </a:rPr>
                        <a:t>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length 41.5</a:t>
                      </a:r>
                    </a:p>
                  </a:txBody>
                  <a:tcPr marL="68580" marR="68580" marT="0" marB="0"/>
                </a:tc>
                <a:tc>
                  <a:txBody>
                    <a:bodyPr/>
                    <a:lstStyle/>
                    <a:p>
                      <a:pPr marL="0" marR="0">
                        <a:spcBef>
                          <a:spcPts val="0"/>
                        </a:spcBef>
                        <a:spcAft>
                          <a:spcPts val="0"/>
                        </a:spcAft>
                      </a:pPr>
                      <a:r>
                        <a:rPr lang="en-US" sz="1200" dirty="0">
                          <a:effectLst/>
                        </a:rPr>
                        <a:t>41.5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modules in series</a:t>
                      </a: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TFF Retentate Shear Rate (s</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-1</a:t>
                      </a:r>
                      <a:r>
                        <a:rPr lang="en-US" sz="1200" baseline="0" dirty="0">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2000</a:t>
                      </a:r>
                    </a:p>
                  </a:txBody>
                  <a:tcPr marL="68580" marR="68580" marT="0" marB="0"/>
                </a:tc>
                <a:extLst>
                  <a:ext uri="{0D108BD9-81ED-4DB2-BD59-A6C34878D82A}">
                    <a16:rowId xmlns:a16="http://schemas.microsoft.com/office/drawing/2014/main" val="415850645"/>
                  </a:ext>
                </a:extLst>
              </a:tr>
            </a:tbl>
          </a:graphicData>
        </a:graphic>
      </p:graphicFrame>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Bioreactor Assumptions</a:t>
            </a:r>
          </a:p>
        </p:txBody>
      </p:sp>
    </p:spTree>
    <p:extLst>
      <p:ext uri="{BB962C8B-B14F-4D97-AF65-F5344CB8AC3E}">
        <p14:creationId xmlns:p14="http://schemas.microsoft.com/office/powerpoint/2010/main" val="427601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A7629A-DBBC-FD42-BC66-F87FD1D46859}"/>
              </a:ext>
            </a:extLst>
          </p:cNvPr>
          <p:cNvSpPr>
            <a:spLocks noGrp="1"/>
          </p:cNvSpPr>
          <p:nvPr>
            <p:ph type="sldNum" sz="quarter" idx="4"/>
          </p:nvPr>
        </p:nvSpPr>
        <p:spPr/>
        <p:txBody>
          <a:bodyPr/>
          <a:lstStyle/>
          <a:p>
            <a:fld id="{3C4F54F3-C349-4609-AFEE-01462D5C7942}" type="slidenum">
              <a:rPr lang="en-GB" smtClean="0"/>
              <a:pPr/>
              <a:t>20</a:t>
            </a:fld>
            <a:endParaRPr lang="en-GB"/>
          </a:p>
        </p:txBody>
      </p:sp>
      <p:sp>
        <p:nvSpPr>
          <p:cNvPr id="3" name="Title 2">
            <a:extLst>
              <a:ext uri="{FF2B5EF4-FFF2-40B4-BE49-F238E27FC236}">
                <a16:creationId xmlns:a16="http://schemas.microsoft.com/office/drawing/2014/main" id="{5A5D694C-DEB2-374E-A74B-E6E4F973F53D}"/>
              </a:ext>
            </a:extLst>
          </p:cNvPr>
          <p:cNvSpPr>
            <a:spLocks noGrp="1"/>
          </p:cNvSpPr>
          <p:nvPr>
            <p:ph type="title"/>
          </p:nvPr>
        </p:nvSpPr>
        <p:spPr/>
        <p:txBody>
          <a:bodyPr/>
          <a:lstStyle/>
          <a:p>
            <a:r>
              <a:rPr lang="en-US" dirty="0"/>
              <a:t>Downstream Assumptions</a:t>
            </a:r>
          </a:p>
        </p:txBody>
      </p:sp>
      <p:graphicFrame>
        <p:nvGraphicFramePr>
          <p:cNvPr id="4" name="Table 3">
            <a:extLst>
              <a:ext uri="{FF2B5EF4-FFF2-40B4-BE49-F238E27FC236}">
                <a16:creationId xmlns:a16="http://schemas.microsoft.com/office/drawing/2014/main" id="{AC34A2BE-FDBE-ED42-BC45-EE8BFB65E88B}"/>
              </a:ext>
            </a:extLst>
          </p:cNvPr>
          <p:cNvGraphicFramePr>
            <a:graphicFrameLocks noGrp="1"/>
          </p:cNvGraphicFramePr>
          <p:nvPr/>
        </p:nvGraphicFramePr>
        <p:xfrm>
          <a:off x="134719" y="767888"/>
          <a:ext cx="7886700" cy="1480820"/>
        </p:xfrm>
        <a:graphic>
          <a:graphicData uri="http://schemas.openxmlformats.org/drawingml/2006/table">
            <a:tbl>
              <a:tblPr firstRow="1" firstCol="1" bandRow="1">
                <a:tableStyleId>{5C22544A-7EE6-4342-B048-85BDC9FD1C3A}</a:tableStyleId>
              </a:tblPr>
              <a:tblGrid>
                <a:gridCol w="1971675">
                  <a:extLst>
                    <a:ext uri="{9D8B030D-6E8A-4147-A177-3AD203B41FA5}">
                      <a16:colId xmlns:a16="http://schemas.microsoft.com/office/drawing/2014/main" val="2944500484"/>
                    </a:ext>
                  </a:extLst>
                </a:gridCol>
                <a:gridCol w="1971675">
                  <a:extLst>
                    <a:ext uri="{9D8B030D-6E8A-4147-A177-3AD203B41FA5}">
                      <a16:colId xmlns:a16="http://schemas.microsoft.com/office/drawing/2014/main" val="3981563227"/>
                    </a:ext>
                  </a:extLst>
                </a:gridCol>
                <a:gridCol w="1971675">
                  <a:extLst>
                    <a:ext uri="{9D8B030D-6E8A-4147-A177-3AD203B41FA5}">
                      <a16:colId xmlns:a16="http://schemas.microsoft.com/office/drawing/2014/main" val="404958995"/>
                    </a:ext>
                  </a:extLst>
                </a:gridCol>
                <a:gridCol w="1971675">
                  <a:extLst>
                    <a:ext uri="{9D8B030D-6E8A-4147-A177-3AD203B41FA5}">
                      <a16:colId xmlns:a16="http://schemas.microsoft.com/office/drawing/2014/main" val="2918544811"/>
                    </a:ext>
                  </a:extLst>
                </a:gridCol>
              </a:tblGrid>
              <a:tr h="368300">
                <a:tc>
                  <a:txBody>
                    <a:bodyPr/>
                    <a:lstStyle/>
                    <a:p>
                      <a:pPr marL="0" marR="0">
                        <a:spcBef>
                          <a:spcPts val="0"/>
                        </a:spcBef>
                        <a:spcAft>
                          <a:spcPts val="0"/>
                        </a:spcAft>
                      </a:pPr>
                      <a:r>
                        <a:rPr lang="en-US" sz="1200">
                          <a:effectLst/>
                        </a:rPr>
                        <a:t>Chromatography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Protein 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Flow Through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Bind/Elute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2968557"/>
                  </a:ext>
                </a:extLst>
              </a:tr>
              <a:tr h="190500">
                <a:tc>
                  <a:txBody>
                    <a:bodyPr/>
                    <a:lstStyle/>
                    <a:p>
                      <a:pPr marL="0" marR="0">
                        <a:spcBef>
                          <a:spcPts val="0"/>
                        </a:spcBef>
                        <a:spcAft>
                          <a:spcPts val="0"/>
                        </a:spcAft>
                      </a:pPr>
                      <a:r>
                        <a:rPr lang="en-US" sz="1200">
                          <a:effectLst/>
                        </a:rPr>
                        <a:t>Capacity (g/L)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(60)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50-150 (100)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9525458"/>
                  </a:ext>
                </a:extLst>
              </a:tr>
              <a:tr h="365760">
                <a:tc>
                  <a:txBody>
                    <a:bodyPr/>
                    <a:lstStyle/>
                    <a:p>
                      <a:pPr marL="0" marR="0">
                        <a:spcBef>
                          <a:spcPts val="0"/>
                        </a:spcBef>
                        <a:spcAft>
                          <a:spcPts val="0"/>
                        </a:spcAft>
                      </a:pPr>
                      <a:r>
                        <a:rPr lang="en-US" sz="1200" dirty="0">
                          <a:effectLst/>
                        </a:rPr>
                        <a:t>Buffer Volume (1x) used (Column Volume, CV)</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16-22 (22)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10-16 (16)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10-20 (16)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6386097"/>
                  </a:ext>
                </a:extLst>
              </a:tr>
              <a:tr h="365760">
                <a:tc>
                  <a:txBody>
                    <a:bodyPr/>
                    <a:lstStyle/>
                    <a:p>
                      <a:pPr marL="0" marR="0">
                        <a:spcBef>
                          <a:spcPts val="0"/>
                        </a:spcBef>
                        <a:spcAft>
                          <a:spcPts val="0"/>
                        </a:spcAft>
                      </a:pPr>
                      <a:r>
                        <a:rPr lang="en-US" sz="1200" dirty="0">
                          <a:effectLst/>
                        </a:rPr>
                        <a:t>Elution Volume collected (CV)</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1.5-3 (2)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0.2-0.5 (0.5)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1.0-1.5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0875114"/>
                  </a:ext>
                </a:extLst>
              </a:tr>
              <a:tr h="190500">
                <a:tc>
                  <a:txBody>
                    <a:bodyPr/>
                    <a:lstStyle/>
                    <a:p>
                      <a:pPr marL="0" marR="0">
                        <a:spcBef>
                          <a:spcPts val="0"/>
                        </a:spcBef>
                        <a:spcAft>
                          <a:spcPts val="0"/>
                        </a:spcAft>
                      </a:pPr>
                      <a:r>
                        <a:rPr lang="en-US" sz="1200" dirty="0">
                          <a:effectLst/>
                        </a:rPr>
                        <a:t>Yield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90%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a:effectLst/>
                        </a:rPr>
                        <a:t>95%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200" dirty="0">
                          <a:effectLst/>
                        </a:rPr>
                        <a:t>85%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1016"/>
                  </a:ext>
                </a:extLst>
              </a:tr>
            </a:tbl>
          </a:graphicData>
        </a:graphic>
      </p:graphicFrame>
      <p:graphicFrame>
        <p:nvGraphicFramePr>
          <p:cNvPr id="5" name="Table 4">
            <a:extLst>
              <a:ext uri="{FF2B5EF4-FFF2-40B4-BE49-F238E27FC236}">
                <a16:creationId xmlns:a16="http://schemas.microsoft.com/office/drawing/2014/main" id="{42903409-2EFF-8740-82A5-5D1D236E018B}"/>
              </a:ext>
            </a:extLst>
          </p:cNvPr>
          <p:cNvGraphicFramePr>
            <a:graphicFrameLocks noGrp="1"/>
          </p:cNvGraphicFramePr>
          <p:nvPr/>
        </p:nvGraphicFramePr>
        <p:xfrm>
          <a:off x="134719" y="2294495"/>
          <a:ext cx="7886700" cy="104140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3192870925"/>
                    </a:ext>
                  </a:extLst>
                </a:gridCol>
                <a:gridCol w="3943350">
                  <a:extLst>
                    <a:ext uri="{9D8B030D-6E8A-4147-A177-3AD203B41FA5}">
                      <a16:colId xmlns:a16="http://schemas.microsoft.com/office/drawing/2014/main" val="1921168094"/>
                    </a:ext>
                  </a:extLst>
                </a:gridCol>
              </a:tblGrid>
              <a:tr h="330200">
                <a:tc>
                  <a:txBody>
                    <a:bodyPr/>
                    <a:lstStyle/>
                    <a:p>
                      <a:pPr marL="0" marR="0">
                        <a:spcBef>
                          <a:spcPts val="0"/>
                        </a:spcBef>
                        <a:spcAft>
                          <a:spcPts val="0"/>
                        </a:spcAft>
                      </a:pPr>
                      <a:r>
                        <a:rPr lang="en-US" sz="1200" dirty="0">
                          <a:effectLst/>
                        </a:rPr>
                        <a:t>Virus Filtration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9964336"/>
                  </a:ext>
                </a:extLst>
              </a:tr>
              <a:tr h="190500">
                <a:tc>
                  <a:txBody>
                    <a:bodyPr/>
                    <a:lstStyle/>
                    <a:p>
                      <a:pPr marL="0" marR="0">
                        <a:spcBef>
                          <a:spcPts val="0"/>
                        </a:spcBef>
                        <a:spcAft>
                          <a:spcPts val="0"/>
                        </a:spcAft>
                      </a:pPr>
                      <a:r>
                        <a:rPr lang="en-US" sz="1200" dirty="0">
                          <a:effectLst/>
                        </a:rPr>
                        <a:t>Capacity (L/m2)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700-1400 (1000)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0353496"/>
                  </a:ext>
                </a:extLst>
              </a:tr>
              <a:tr h="190500">
                <a:tc>
                  <a:txBody>
                    <a:bodyPr/>
                    <a:lstStyle/>
                    <a:p>
                      <a:pPr marL="0" marR="0">
                        <a:spcBef>
                          <a:spcPts val="0"/>
                        </a:spcBef>
                        <a:spcAft>
                          <a:spcPts val="0"/>
                        </a:spcAft>
                      </a:pPr>
                      <a:r>
                        <a:rPr lang="en-US" sz="1200">
                          <a:effectLst/>
                        </a:rPr>
                        <a:t>Flux (LMH)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100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7534843"/>
                  </a:ext>
                </a:extLst>
              </a:tr>
              <a:tr h="330200">
                <a:tc>
                  <a:txBody>
                    <a:bodyPr/>
                    <a:lstStyle/>
                    <a:p>
                      <a:pPr marL="0" marR="0">
                        <a:spcBef>
                          <a:spcPts val="0"/>
                        </a:spcBef>
                        <a:spcAft>
                          <a:spcPts val="0"/>
                        </a:spcAft>
                      </a:pPr>
                      <a:r>
                        <a:rPr lang="en-US" sz="1200">
                          <a:effectLst/>
                        </a:rPr>
                        <a:t>Yield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2494660"/>
                  </a:ext>
                </a:extLst>
              </a:tr>
            </a:tbl>
          </a:graphicData>
        </a:graphic>
      </p:graphicFrame>
      <p:graphicFrame>
        <p:nvGraphicFramePr>
          <p:cNvPr id="6" name="Table 5">
            <a:extLst>
              <a:ext uri="{FF2B5EF4-FFF2-40B4-BE49-F238E27FC236}">
                <a16:creationId xmlns:a16="http://schemas.microsoft.com/office/drawing/2014/main" id="{F78EE5B2-CA02-1C4A-BDA6-32BC80A90E15}"/>
              </a:ext>
            </a:extLst>
          </p:cNvPr>
          <p:cNvGraphicFramePr>
            <a:graphicFrameLocks noGrp="1"/>
          </p:cNvGraphicFramePr>
          <p:nvPr/>
        </p:nvGraphicFramePr>
        <p:xfrm>
          <a:off x="96798" y="3447974"/>
          <a:ext cx="7886700" cy="1560780"/>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1754880186"/>
                    </a:ext>
                  </a:extLst>
                </a:gridCol>
                <a:gridCol w="3943350">
                  <a:extLst>
                    <a:ext uri="{9D8B030D-6E8A-4147-A177-3AD203B41FA5}">
                      <a16:colId xmlns:a16="http://schemas.microsoft.com/office/drawing/2014/main" val="3486141746"/>
                    </a:ext>
                  </a:extLst>
                </a:gridCol>
              </a:tblGrid>
              <a:tr h="330200">
                <a:tc>
                  <a:txBody>
                    <a:bodyPr/>
                    <a:lstStyle/>
                    <a:p>
                      <a:pPr marL="0" marR="0">
                        <a:spcBef>
                          <a:spcPts val="0"/>
                        </a:spcBef>
                        <a:spcAft>
                          <a:spcPts val="0"/>
                        </a:spcAft>
                      </a:pPr>
                      <a:r>
                        <a:rPr lang="en-US" sz="1200" dirty="0">
                          <a:effectLst/>
                        </a:rPr>
                        <a:t>UFDF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4471228"/>
                  </a:ext>
                </a:extLst>
              </a:tr>
              <a:tr h="190500">
                <a:tc>
                  <a:txBody>
                    <a:bodyPr/>
                    <a:lstStyle/>
                    <a:p>
                      <a:pPr marL="0" marR="0">
                        <a:spcBef>
                          <a:spcPts val="0"/>
                        </a:spcBef>
                        <a:spcAft>
                          <a:spcPts val="0"/>
                        </a:spcAft>
                      </a:pPr>
                      <a:r>
                        <a:rPr lang="en-US" sz="1200">
                          <a:effectLst/>
                        </a:rPr>
                        <a:t>Membrane Capacity (g/m2)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800-1500 (1000)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4884127"/>
                  </a:ext>
                </a:extLst>
              </a:tr>
              <a:tr h="266693">
                <a:tc>
                  <a:txBody>
                    <a:bodyPr/>
                    <a:lstStyle/>
                    <a:p>
                      <a:pPr marL="0" marR="0">
                        <a:spcBef>
                          <a:spcPts val="0"/>
                        </a:spcBef>
                        <a:spcAft>
                          <a:spcPts val="0"/>
                        </a:spcAft>
                      </a:pPr>
                      <a:r>
                        <a:rPr lang="en-US" sz="1200">
                          <a:effectLst/>
                        </a:rPr>
                        <a:t>Yield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95%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3220248"/>
                  </a:ext>
                </a:extLst>
              </a:tr>
              <a:tr h="190500">
                <a:tc>
                  <a:txBody>
                    <a:bodyPr/>
                    <a:lstStyle/>
                    <a:p>
                      <a:pPr marL="0" marR="0">
                        <a:spcBef>
                          <a:spcPts val="0"/>
                        </a:spcBef>
                        <a:spcAft>
                          <a:spcPts val="0"/>
                        </a:spcAft>
                      </a:pPr>
                      <a:r>
                        <a:rPr lang="en-US" sz="1200">
                          <a:effectLst/>
                        </a:rPr>
                        <a:t>Cross Flow (LMH)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300-500 (300)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6142893"/>
                  </a:ext>
                </a:extLst>
              </a:tr>
              <a:tr h="201887">
                <a:tc>
                  <a:txBody>
                    <a:bodyPr/>
                    <a:lstStyle/>
                    <a:p>
                      <a:pPr marL="0" marR="0">
                        <a:spcBef>
                          <a:spcPts val="0"/>
                        </a:spcBef>
                        <a:spcAft>
                          <a:spcPts val="0"/>
                        </a:spcAft>
                      </a:pPr>
                      <a:r>
                        <a:rPr lang="en-US" sz="1200" dirty="0">
                          <a:effectLst/>
                        </a:rPr>
                        <a:t>Concentration 1 Flux (LMH)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30-60 (50)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4956378"/>
                  </a:ext>
                </a:extLst>
              </a:tr>
              <a:tr h="190500">
                <a:tc>
                  <a:txBody>
                    <a:bodyPr/>
                    <a:lstStyle/>
                    <a:p>
                      <a:pPr marL="0" marR="0">
                        <a:spcBef>
                          <a:spcPts val="0"/>
                        </a:spcBef>
                        <a:spcAft>
                          <a:spcPts val="0"/>
                        </a:spcAft>
                      </a:pPr>
                      <a:r>
                        <a:rPr lang="en-US" sz="1200">
                          <a:effectLst/>
                        </a:rPr>
                        <a:t># Diavolumes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249131"/>
                  </a:ext>
                </a:extLst>
              </a:tr>
              <a:tr h="190500">
                <a:tc>
                  <a:txBody>
                    <a:bodyPr/>
                    <a:lstStyle/>
                    <a:p>
                      <a:pPr marL="0" marR="0">
                        <a:spcBef>
                          <a:spcPts val="0"/>
                        </a:spcBef>
                        <a:spcAft>
                          <a:spcPts val="0"/>
                        </a:spcAft>
                      </a:pPr>
                      <a:r>
                        <a:rPr lang="en-US" sz="1200">
                          <a:effectLst/>
                        </a:rPr>
                        <a:t>Final DS Conc Target (g/L)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0366201"/>
                  </a:ext>
                </a:extLst>
              </a:tr>
            </a:tbl>
          </a:graphicData>
        </a:graphic>
      </p:graphicFrame>
    </p:spTree>
    <p:extLst>
      <p:ext uri="{BB962C8B-B14F-4D97-AF65-F5344CB8AC3E}">
        <p14:creationId xmlns:p14="http://schemas.microsoft.com/office/powerpoint/2010/main" val="39414830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ags/tag2.xml><?xml version="1.0" encoding="utf-8"?>
<p:tagLst xmlns:a="http://schemas.openxmlformats.org/drawingml/2006/main" xmlns:r="http://schemas.openxmlformats.org/officeDocument/2006/relationships" xmlns:p="http://schemas.openxmlformats.org/presentationml/2006/main">
  <p:tag name="ASTRAZENECA" val="SMARTART"/>
</p:tagLst>
</file>

<file path=ppt/tags/tag3.xml><?xml version="1.0" encoding="utf-8"?>
<p:tagLst xmlns:a="http://schemas.openxmlformats.org/drawingml/2006/main" xmlns:r="http://schemas.openxmlformats.org/officeDocument/2006/relationships" xmlns:p="http://schemas.openxmlformats.org/presentationml/2006/main">
  <p:tag name="ASTRAZENECA" val="SMARTART"/>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1ee89e71-04cd-405e-9ca3-99e020c1694d" ContentTypeId="0x0101" PreviousValue="false"/>
</file>

<file path=customXml/item3.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2.xml><?xml version="1.0" encoding="utf-8"?>
<ds:datastoreItem xmlns:ds="http://schemas.openxmlformats.org/officeDocument/2006/customXml" ds:itemID="{0806EBE9-B777-486F-91C5-BDD76DC6B095}">
  <ds:schemaRefs>
    <ds:schemaRef ds:uri="Microsoft.SharePoint.Taxonomy.ContentTypeSync"/>
  </ds:schemaRefs>
</ds:datastoreItem>
</file>

<file path=customXml/itemProps3.xml><?xml version="1.0" encoding="utf-8"?>
<ds:datastoreItem xmlns:ds="http://schemas.openxmlformats.org/officeDocument/2006/customXml" ds:itemID="{36C4B194-6AED-4EB9-AAF8-3EA879A21719}">
  <ds:schemaRefs>
    <ds:schemaRef ds:uri="http://schemas.openxmlformats.org/package/2006/metadata/core-properties"/>
    <ds:schemaRef ds:uri="d300a0bd-4cfc-466d-8c27-3f3e3db5e0e2"/>
    <ds:schemaRef ds:uri="894b19df-7688-4a9a-9e07-15ee5fcc5493"/>
    <ds:schemaRef ds:uri="http://purl.org/dc/elements/1.1/"/>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44a56295-c29e-4898-8136-a54736c65b82"/>
  </ds:schemaRefs>
</ds:datastoreItem>
</file>

<file path=customXml/itemProps4.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22200</TotalTime>
  <Words>1490</Words>
  <Application>Microsoft Macintosh PowerPoint</Application>
  <PresentationFormat>On-screen Show (16:9)</PresentationFormat>
  <Paragraphs>587</Paragraphs>
  <Slides>20</Slides>
  <Notes>14</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20</vt:i4>
      </vt:variant>
    </vt:vector>
  </HeadingPairs>
  <TitlesOfParts>
    <vt:vector size="27" baseType="lpstr">
      <vt:lpstr>Arial</vt:lpstr>
      <vt:lpstr>Calibri</vt:lpstr>
      <vt:lpstr>Cambria Math</vt:lpstr>
      <vt:lpstr>AZ Cover Slide Options</vt:lpstr>
      <vt:lpstr>AZ Divider Slide Options</vt:lpstr>
      <vt:lpstr>AZ Divider Slide Options - Colours</vt:lpstr>
      <vt:lpstr>AZ General Master Slide Options</vt:lpstr>
      <vt:lpstr>Figures and tables for (high level) Common Framework article </vt:lpstr>
      <vt:lpstr>Table 1: Integrated and Continuous Bioprocessing Implementation</vt:lpstr>
      <vt:lpstr>Figure 1: Common Framework for Integrated and Continuous Processing</vt:lpstr>
      <vt:lpstr>Table 2: Bioreactor Assumptions</vt:lpstr>
      <vt:lpstr>Table 3: Productivity, capacity, yield, and solution use</vt:lpstr>
      <vt:lpstr>Figure 2: TFF Design</vt:lpstr>
      <vt:lpstr>Figure 3: Virus Inactivation Skid for Batch or Continuous</vt:lpstr>
      <vt:lpstr>Two Column Skid</vt:lpstr>
      <vt:lpstr>Figure 5A: Batch-wise UFDF</vt:lpstr>
      <vt:lpstr>Figure 5B: Single-Pass Tangential Flow Filtration and In-Line Diafiltration</vt:lpstr>
      <vt:lpstr>Figure 4</vt:lpstr>
      <vt:lpstr>Figures and tables for Design Basis for Common Framework</vt:lpstr>
      <vt:lpstr>Design basis for ICB for 0.5-20kg/day </vt:lpstr>
      <vt:lpstr>Design basis for ICB for 0.5-40kg/day </vt:lpstr>
      <vt:lpstr>Figure 2: Two Column Skid</vt:lpstr>
      <vt:lpstr>Virus Inactivation Skid for Batch or Continuous</vt:lpstr>
      <vt:lpstr>Figure 5A</vt:lpstr>
      <vt:lpstr>Figure 5B: SPTFF, ILDF</vt:lpstr>
      <vt:lpstr>Bioreactor Assumptions</vt:lpstr>
      <vt:lpstr>Downstream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199</cp:revision>
  <cp:lastPrinted>2018-03-07T14:46:57Z</cp:lastPrinted>
  <dcterms:created xsi:type="dcterms:W3CDTF">2020-02-25T13:25:27Z</dcterms:created>
  <dcterms:modified xsi:type="dcterms:W3CDTF">2020-09-16T16:27:28Z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