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60" r:id="rId4"/>
    <p:sldId id="267" r:id="rId5"/>
    <p:sldId id="268" r:id="rId6"/>
    <p:sldId id="262" r:id="rId7"/>
    <p:sldId id="261" r:id="rId8"/>
    <p:sldId id="263" r:id="rId9"/>
    <p:sldId id="264" r:id="rId10"/>
    <p:sldId id="266" r:id="rId11"/>
    <p:sldId id="258" r:id="rId12"/>
    <p:sldId id="270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am, Ashley" initials="ABB" lastIdx="2" clrIdx="0">
    <p:extLst>
      <p:ext uri="{19B8F6BF-5375-455C-9EA6-DF929625EA0E}">
        <p15:presenceInfo xmlns:p15="http://schemas.microsoft.com/office/powerpoint/2012/main" userId="Boam, Ashley" providerId="None"/>
      </p:ext>
    </p:extLst>
  </p:cmAuthor>
  <p:cmAuthor id="2" name="Kopcha, Michael" initials="KM" lastIdx="3" clrIdx="1">
    <p:extLst>
      <p:ext uri="{19B8F6BF-5375-455C-9EA6-DF929625EA0E}">
        <p15:presenceInfo xmlns:p15="http://schemas.microsoft.com/office/powerpoint/2012/main" userId="S::Michael.Kopcha@fda.gov::90ce1654-ffa4-4729-9641-229834ade28b" providerId="AD"/>
      </p:ext>
    </p:extLst>
  </p:cmAuthor>
  <p:cmAuthor id="3" name="Kozlowski, Steven" initials="KS" lastIdx="5" clrIdx="2">
    <p:extLst>
      <p:ext uri="{19B8F6BF-5375-455C-9EA6-DF929625EA0E}">
        <p15:presenceInfo xmlns:p15="http://schemas.microsoft.com/office/powerpoint/2012/main" userId="S::KOZLOWSKI@fda.gov::933d4631-235b-4064-aece-9f8db3f036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10" autoAdjust="0"/>
    <p:restoredTop sz="94101" autoAdjust="0"/>
  </p:normalViewPr>
  <p:slideViewPr>
    <p:cSldViewPr snapToGrid="0">
      <p:cViewPr varScale="1">
        <p:scale>
          <a:sx n="116" d="100"/>
          <a:sy n="116" d="100"/>
        </p:scale>
        <p:origin x="108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90FC4-5788-4E7A-834B-4B8B5D4B46BD}" type="datetimeFigureOut">
              <a:rPr lang="en-US" smtClean="0"/>
              <a:t>9/17/20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F60D7-ED03-4985-A346-1D1D7C8EF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74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F60D7-ED03-4985-A346-1D1D7C8EF48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962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Vertex (</a:t>
            </a:r>
            <a:r>
              <a:rPr lang="en-US" dirty="0" err="1"/>
              <a:t>Orkambi</a:t>
            </a:r>
            <a:r>
              <a:rPr lang="en-US" dirty="0"/>
              <a:t>, approved 2015): NDA, cystic fibrosis indication, orphan drug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Janssen (</a:t>
            </a:r>
            <a:r>
              <a:rPr lang="en-US" dirty="0" err="1"/>
              <a:t>Prezista</a:t>
            </a:r>
            <a:r>
              <a:rPr lang="en-US" dirty="0"/>
              <a:t>, approved 2016): </a:t>
            </a:r>
            <a:r>
              <a:rPr lang="en-US" dirty="0" err="1"/>
              <a:t>sNDA</a:t>
            </a:r>
            <a:r>
              <a:rPr lang="en-US" dirty="0"/>
              <a:t>, antiviral for HIV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Lilly (</a:t>
            </a:r>
            <a:r>
              <a:rPr lang="en-US" dirty="0" err="1"/>
              <a:t>Verzenio</a:t>
            </a:r>
            <a:r>
              <a:rPr lang="en-US" dirty="0"/>
              <a:t>, approved 2017): NDA, breast cancer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Vertex (</a:t>
            </a:r>
            <a:r>
              <a:rPr lang="en-US" dirty="0" err="1"/>
              <a:t>Symdeko</a:t>
            </a:r>
            <a:r>
              <a:rPr lang="en-US" dirty="0"/>
              <a:t>, approved 2018):NDA, cystic fibrosis (orphan)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Pfizer (</a:t>
            </a:r>
            <a:r>
              <a:rPr lang="en-US" dirty="0" err="1"/>
              <a:t>Daurismo</a:t>
            </a:r>
            <a:r>
              <a:rPr lang="en-US" dirty="0"/>
              <a:t>, approved 2018): NDA, leukemia (orphan)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Vertex (</a:t>
            </a:r>
            <a:r>
              <a:rPr lang="en-US" dirty="0" err="1"/>
              <a:t>Trikafta</a:t>
            </a:r>
            <a:r>
              <a:rPr lang="en-US" dirty="0"/>
              <a:t>, approved 2019): NDA, cystic fibrosis (orphan)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GSK (Flovent HFA, approved 2019): </a:t>
            </a:r>
            <a:r>
              <a:rPr lang="en-US" dirty="0" err="1"/>
              <a:t>sNDA</a:t>
            </a:r>
            <a:r>
              <a:rPr lang="en-US" dirty="0"/>
              <a:t>, asthma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r>
              <a:rPr lang="en-US" b="1" dirty="0"/>
              <a:t>3D printing technologies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Aprecia</a:t>
            </a:r>
            <a:r>
              <a:rPr lang="en-US" dirty="0"/>
              <a:t> (</a:t>
            </a:r>
            <a:r>
              <a:rPr lang="en-US" dirty="0" err="1"/>
              <a:t>Spritam</a:t>
            </a:r>
            <a:r>
              <a:rPr lang="en-US" dirty="0"/>
              <a:t>, approved 2015): NDA, seizures/epilepsy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F60D7-ED03-4985-A346-1D1D7C8EF48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37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F60D7-ED03-4985-A346-1D1D7C8EF48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73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RTRT Continuous biotechnology processes still largely rely on end-product testing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CM impacts resin reuse, protein concentration; Viral Clearance Model Study Design; Line Reuse</a:t>
            </a:r>
          </a:p>
          <a:p>
            <a:endParaRPr lang="en-US" dirty="0"/>
          </a:p>
          <a:p>
            <a:r>
              <a:rPr lang="en-US" dirty="0"/>
              <a:t>Out-Of-Specification lots should not be blended with other batches for the purpose of meeting specifications </a:t>
            </a:r>
          </a:p>
          <a:p>
            <a:r>
              <a:rPr lang="en-US" dirty="0"/>
              <a:t>Description should be provided for how diversion is performed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F60D7-ED03-4985-A346-1D1D7C8EF48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67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F60D7-ED03-4985-A346-1D1D7C8EF48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25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en-US" dirty="0"/>
              <a:t>Is COVID an opportunity </a:t>
            </a:r>
          </a:p>
          <a:p>
            <a:pPr lvl="3"/>
            <a:r>
              <a:rPr lang="en-US" dirty="0"/>
              <a:t>Need for new capacity balanced by no room for delay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F60D7-ED03-4985-A346-1D1D7C8EF48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318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7F36-0305-470A-B12E-A69A6782CDC2}" type="datetimeFigureOut">
              <a:rPr lang="en-US" smtClean="0"/>
              <a:t>9/17/20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B680-5C83-4671-8970-EC4FE28D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8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7F36-0305-470A-B12E-A69A6782CDC2}" type="datetimeFigureOut">
              <a:rPr lang="en-US" smtClean="0"/>
              <a:t>9/17/20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B680-5C83-4671-8970-EC4FE28D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59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7F36-0305-470A-B12E-A69A6782CDC2}" type="datetimeFigureOut">
              <a:rPr lang="en-US" smtClean="0"/>
              <a:t>9/17/20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B680-5C83-4671-8970-EC4FE28D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88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7F36-0305-470A-B12E-A69A6782CDC2}" type="datetimeFigureOut">
              <a:rPr lang="en-US" smtClean="0"/>
              <a:t>9/17/20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B680-5C83-4671-8970-EC4FE28D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62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7F36-0305-470A-B12E-A69A6782CDC2}" type="datetimeFigureOut">
              <a:rPr lang="en-US" smtClean="0"/>
              <a:t>9/17/20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B680-5C83-4671-8970-EC4FE28D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31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7F36-0305-470A-B12E-A69A6782CDC2}" type="datetimeFigureOut">
              <a:rPr lang="en-US" smtClean="0"/>
              <a:t>9/17/20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B680-5C83-4671-8970-EC4FE28D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3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7F36-0305-470A-B12E-A69A6782CDC2}" type="datetimeFigureOut">
              <a:rPr lang="en-US" smtClean="0"/>
              <a:t>9/17/20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B680-5C83-4671-8970-EC4FE28D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9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7F36-0305-470A-B12E-A69A6782CDC2}" type="datetimeFigureOut">
              <a:rPr lang="en-US" smtClean="0"/>
              <a:t>9/17/20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B680-5C83-4671-8970-EC4FE28D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5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7F36-0305-470A-B12E-A69A6782CDC2}" type="datetimeFigureOut">
              <a:rPr lang="en-US" smtClean="0"/>
              <a:t>9/17/20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B680-5C83-4671-8970-EC4FE28D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0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7F36-0305-470A-B12E-A69A6782CDC2}" type="datetimeFigureOut">
              <a:rPr lang="en-US" smtClean="0"/>
              <a:t>9/17/20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B680-5C83-4671-8970-EC4FE28D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80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7F36-0305-470A-B12E-A69A6782CDC2}" type="datetimeFigureOut">
              <a:rPr lang="en-US" smtClean="0"/>
              <a:t>9/17/20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4B680-5C83-4671-8970-EC4FE28D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4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D7F36-0305-470A-B12E-A69A6782CDC2}" type="datetimeFigureOut">
              <a:rPr lang="en-US" smtClean="0"/>
              <a:t>9/17/20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4B680-5C83-4671-8970-EC4FE28DE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159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image" Target="../media/image10.png"/><Relationship Id="rId10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freestockphotos.biz/stockphoto/15357" TargetMode="External"/><Relationship Id="rId5" Type="http://schemas.openxmlformats.org/officeDocument/2006/relationships/image" Target="../media/image25.png"/><Relationship Id="rId4" Type="http://schemas.openxmlformats.org/officeDocument/2006/relationships/hyperlink" Target="https://commons.wikimedia.org/wiki/Commons:GNU_Free_Documentation_License,_version_1.2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E760-645D-4AC8-8C17-1737B9E92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520134"/>
            <a:ext cx="7461251" cy="2678112"/>
          </a:xfrm>
        </p:spPr>
        <p:txBody>
          <a:bodyPr>
            <a:noAutofit/>
          </a:bodyPr>
          <a:lstStyle/>
          <a:p>
            <a:r>
              <a:rPr lang="en-US" sz="4800" dirty="0"/>
              <a:t>Integrated and Continuous Biologics Pharmaceutical and Vaccine Manufacturing Virtual Meeting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3CDF73-0995-4553-AAA9-8C080E17257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30619" y="3704800"/>
            <a:ext cx="868276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September </a:t>
            </a:r>
            <a:r>
              <a:rPr kumimoji="0" lang="en-US" altLang="en-US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22</a:t>
            </a:r>
            <a:r>
              <a:rPr lang="en-US" altLang="en-US" sz="3200" baseline="30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nd</a:t>
            </a:r>
            <a:r>
              <a:rPr lang="en-US" altLang="en-US" sz="32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2020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Advanced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Manufacturing of Recombinant Proteins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2A1D4-1B9B-4E2D-B8B4-EFE689F37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050" y="13580"/>
            <a:ext cx="863168" cy="1013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F1B2A1-3592-40CC-8D1B-6491E58812E6}"/>
              </a:ext>
            </a:extLst>
          </p:cNvPr>
          <p:cNvSpPr txBox="1"/>
          <p:nvPr/>
        </p:nvSpPr>
        <p:spPr>
          <a:xfrm>
            <a:off x="1983892" y="5610225"/>
            <a:ext cx="50174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Steven Kozlowski, Director OBP</a:t>
            </a:r>
          </a:p>
          <a:p>
            <a:pPr algn="ctr"/>
            <a:r>
              <a:rPr lang="en-US" sz="2400" dirty="0"/>
              <a:t>Office of Pharmaceutical Quality, CDER</a:t>
            </a:r>
          </a:p>
        </p:txBody>
      </p:sp>
    </p:spTree>
    <p:extLst>
      <p:ext uri="{BB962C8B-B14F-4D97-AF65-F5344CB8AC3E}">
        <p14:creationId xmlns:p14="http://schemas.microsoft.com/office/powerpoint/2010/main" val="3517288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36A5-130A-4B50-820C-B3C604117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7387" y="731044"/>
            <a:ext cx="4829175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Framing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44D02-EC7F-4179-8C58-7D0872A0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2470149"/>
            <a:ext cx="7886700" cy="2994025"/>
          </a:xfrm>
        </p:spPr>
        <p:txBody>
          <a:bodyPr/>
          <a:lstStyle/>
          <a:p>
            <a:pPr lvl="0"/>
            <a:r>
              <a:rPr lang="en-US" dirty="0"/>
              <a:t>What is the </a:t>
            </a:r>
            <a:r>
              <a:rPr lang="en-US" sz="3200" b="1" dirty="0"/>
              <a:t>current</a:t>
            </a:r>
            <a:r>
              <a:rPr lang="en-US" dirty="0"/>
              <a:t> technical status? What could a </a:t>
            </a:r>
            <a:r>
              <a:rPr lang="en-US" sz="3200" b="1" dirty="0"/>
              <a:t>horizon</a:t>
            </a:r>
            <a:r>
              <a:rPr lang="en-US" dirty="0"/>
              <a:t> goal process look like? </a:t>
            </a:r>
          </a:p>
          <a:p>
            <a:pPr lvl="0"/>
            <a:r>
              <a:rPr lang="en-US" dirty="0"/>
              <a:t>What are the </a:t>
            </a:r>
            <a:r>
              <a:rPr lang="en-US" sz="3200" b="1" dirty="0"/>
              <a:t>opportunities</a:t>
            </a:r>
            <a:r>
              <a:rPr lang="en-US" dirty="0"/>
              <a:t>, including business case, and </a:t>
            </a:r>
            <a:r>
              <a:rPr lang="en-US" sz="3200" b="1" dirty="0"/>
              <a:t>barriers</a:t>
            </a:r>
            <a:r>
              <a:rPr lang="en-US" dirty="0"/>
              <a:t>? </a:t>
            </a:r>
          </a:p>
          <a:p>
            <a:pPr lvl="0"/>
            <a:r>
              <a:rPr lang="en-US" dirty="0"/>
              <a:t>What </a:t>
            </a:r>
            <a:r>
              <a:rPr lang="en-US" sz="3200" b="1" dirty="0"/>
              <a:t>strategies</a:t>
            </a:r>
            <a:r>
              <a:rPr lang="en-US" dirty="0"/>
              <a:t> would help to reduce those barriers?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B28DEC-F569-48A0-AB3A-F7E12330B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050" y="13580"/>
            <a:ext cx="863168" cy="1013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37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F4C3E-C7B6-469B-9180-72E7CF9F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" y="-23179"/>
            <a:ext cx="9131474" cy="102263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Current</a:t>
            </a:r>
            <a:r>
              <a:rPr lang="en-US" sz="4000" dirty="0">
                <a:solidFill>
                  <a:srgbClr val="002060"/>
                </a:solidFill>
              </a:rPr>
              <a:t>: Emerging Technology Program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1D7CDEAD-C552-49CA-93F3-14F1B7AF4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769" y="1389687"/>
            <a:ext cx="10954599" cy="47967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56875A-3228-4B03-A33E-CE5B3A034004}"/>
              </a:ext>
            </a:extLst>
          </p:cNvPr>
          <p:cNvSpPr txBox="1"/>
          <p:nvPr/>
        </p:nvSpPr>
        <p:spPr>
          <a:xfrm>
            <a:off x="6567253" y="2987372"/>
            <a:ext cx="2338751" cy="3460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en-US" sz="2000" dirty="0"/>
              <a:t>A cross-functional </a:t>
            </a:r>
            <a:r>
              <a:rPr lang="en-US" altLang="en-US" sz="2000" b="1" dirty="0"/>
              <a:t>Emerging Technology Team (ETT)</a:t>
            </a:r>
            <a:r>
              <a:rPr lang="en-US" altLang="en-US" sz="2000" dirty="0"/>
              <a:t> with representation from all relevant FDA quality review and inspection programs (OPQ/CDER, OC/CDER, and ORA)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CABF24-E26C-4F80-9D06-AF7654A99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6" y="2954448"/>
            <a:ext cx="2435941" cy="31718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CD0640-8379-408A-8917-50D248BEA3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2395"/>
          <a:stretch/>
        </p:blipFill>
        <p:spPr>
          <a:xfrm>
            <a:off x="2440754" y="5254192"/>
            <a:ext cx="4118719" cy="13225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7785A9-3A6D-4EF4-B1DC-1CD51F429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63447"/>
            <a:ext cx="8830849" cy="15693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EC2B66-8061-4DDE-9785-1DE05832D76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1173" r="17242"/>
          <a:stretch/>
        </p:blipFill>
        <p:spPr>
          <a:xfrm>
            <a:off x="2770821" y="2987372"/>
            <a:ext cx="3751073" cy="20317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064664-73C5-47B2-9CBD-177C5CDF029A}"/>
              </a:ext>
            </a:extLst>
          </p:cNvPr>
          <p:cNvSpPr txBox="1"/>
          <p:nvPr/>
        </p:nvSpPr>
        <p:spPr>
          <a:xfrm>
            <a:off x="190330" y="6423423"/>
            <a:ext cx="239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Adapted from Larry Lee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531AE1-4236-403A-8753-352576AA2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050" y="13580"/>
            <a:ext cx="863168" cy="1013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766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46603-B36E-4AA1-861A-D49FED24E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25" y="59262"/>
            <a:ext cx="7677150" cy="908596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Current</a:t>
            </a:r>
            <a:r>
              <a:rPr lang="en-US" dirty="0">
                <a:solidFill>
                  <a:srgbClr val="002060"/>
                </a:solidFill>
              </a:rPr>
              <a:t>: ETT Technology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E4663-CC2D-4FC5-94D7-ED82D7B36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79" y="1089392"/>
            <a:ext cx="4108803" cy="3009422"/>
          </a:xfrm>
        </p:spPr>
        <p:txBody>
          <a:bodyPr>
            <a:normAutofit fontScale="92500"/>
          </a:bodyPr>
          <a:lstStyle/>
          <a:p>
            <a:r>
              <a:rPr lang="en-US" dirty="0"/>
              <a:t>Accepted over 60 proposals</a:t>
            </a:r>
          </a:p>
          <a:p>
            <a:r>
              <a:rPr lang="en-US" dirty="0"/>
              <a:t>Approval of 3D printing technology</a:t>
            </a:r>
          </a:p>
          <a:p>
            <a:r>
              <a:rPr lang="en-US" dirty="0"/>
              <a:t>Approval of 5 NDAs and 2 supplements using continuous manufacturing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1FC05-D12F-4009-B4B4-000D93A1FE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013" t="1722" r="32055" b="31004"/>
          <a:stretch/>
        </p:blipFill>
        <p:spPr>
          <a:xfrm>
            <a:off x="4370957" y="908417"/>
            <a:ext cx="4172967" cy="44741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97BA70-2280-4205-9360-9868AFEE75F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3" t="5482" r="16862" b="-1406"/>
          <a:stretch/>
        </p:blipFill>
        <p:spPr>
          <a:xfrm>
            <a:off x="1108748" y="4067843"/>
            <a:ext cx="2165281" cy="2081765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CC4C1E-6821-4482-9392-F4AADCC90F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430" t="10046" b="73667"/>
          <a:stretch/>
        </p:blipFill>
        <p:spPr>
          <a:xfrm>
            <a:off x="4572000" y="5515167"/>
            <a:ext cx="3619158" cy="11163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F16705-74F6-4C25-9298-2CDE063F1558}"/>
              </a:ext>
            </a:extLst>
          </p:cNvPr>
          <p:cNvSpPr txBox="1"/>
          <p:nvPr/>
        </p:nvSpPr>
        <p:spPr>
          <a:xfrm>
            <a:off x="190330" y="6423423"/>
            <a:ext cx="239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Adapted from Larry Lee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47798A-1A70-4E0C-97F7-D0F87046A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" y="37954"/>
            <a:ext cx="863168" cy="1013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959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4A1E-CB3B-4D04-8259-5EDD8734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-282770"/>
            <a:ext cx="9229725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Current</a:t>
            </a:r>
            <a:r>
              <a:rPr lang="en-US" sz="3600" dirty="0">
                <a:solidFill>
                  <a:srgbClr val="002060"/>
                </a:solidFill>
              </a:rPr>
              <a:t>: Advanced Manufacturing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CD743-9735-4944-9A41-1C26DC4D1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18" y="5776316"/>
            <a:ext cx="5194269" cy="1409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</a:rPr>
              <a:t>Primary Clarification of CHO Harvested Cell Culture Fluid using an Acoustic Separator.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</a:rPr>
              <a:t>J. Vis. Exp. (159), e61161, doi:10.3791/61161 (2020).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DCD12BB-C99C-484E-B49B-76615F989782}"/>
              </a:ext>
            </a:extLst>
          </p:cNvPr>
          <p:cNvGrpSpPr/>
          <p:nvPr/>
        </p:nvGrpSpPr>
        <p:grpSpPr>
          <a:xfrm>
            <a:off x="5288887" y="1378613"/>
            <a:ext cx="3727281" cy="4910280"/>
            <a:chOff x="5288887" y="845213"/>
            <a:chExt cx="3727281" cy="4910280"/>
          </a:xfrm>
        </p:grpSpPr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B739B9E1-7C9B-4476-AC2C-70F60D7DF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3382" y="4370498"/>
              <a:ext cx="1914712" cy="1384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/>
              <a:r>
                <a:rPr lang="en-US" altLang="en-US" sz="2800" dirty="0"/>
                <a:t>Continuous Perfusion </a:t>
              </a:r>
            </a:p>
            <a:p>
              <a:pPr algn="ctr"/>
              <a:r>
                <a:rPr lang="en-US" altLang="en-US" sz="2800" dirty="0"/>
                <a:t>Bioreactors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8670428-DD49-4DBA-B9C3-0F34D063B668}"/>
                </a:ext>
              </a:extLst>
            </p:cNvPr>
            <p:cNvGrpSpPr/>
            <p:nvPr/>
          </p:nvGrpSpPr>
          <p:grpSpPr>
            <a:xfrm>
              <a:off x="5288887" y="845213"/>
              <a:ext cx="3727281" cy="3387681"/>
              <a:chOff x="2514600" y="2971800"/>
              <a:chExt cx="3733800" cy="3403742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84D8864-1AB4-473A-84A3-962947494E4E}"/>
                  </a:ext>
                </a:extLst>
              </p:cNvPr>
              <p:cNvGrpSpPr/>
              <p:nvPr/>
            </p:nvGrpSpPr>
            <p:grpSpPr>
              <a:xfrm>
                <a:off x="2583517" y="3110056"/>
                <a:ext cx="3502266" cy="3265486"/>
                <a:chOff x="2757055" y="2640014"/>
                <a:chExt cx="3502266" cy="3265486"/>
              </a:xfrm>
            </p:grpSpPr>
            <p:pic>
              <p:nvPicPr>
                <p:cNvPr id="8" name="Picture 2" descr="C:\Users\MADHAVARAOC\Pictures\PBS Single use bioreactor 12 11 2015.jpg">
                  <a:extLst>
                    <a:ext uri="{FF2B5EF4-FFF2-40B4-BE49-F238E27FC236}">
                      <a16:creationId xmlns:a16="http://schemas.microsoft.com/office/drawing/2014/main" id="{6EC781FD-86C8-4E39-88F7-6DCCFBD51D3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9197" t="14849" b="9789"/>
                <a:stretch/>
              </p:blipFill>
              <p:spPr bwMode="auto">
                <a:xfrm>
                  <a:off x="2757055" y="2644170"/>
                  <a:ext cx="1371600" cy="202373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" name="Picture 3" descr="M:\DPQR\Critical Path\2017 Proposal\Continuous Mfg\Full Proposal\mAb-CM_Pic.png">
                  <a:extLst>
                    <a:ext uri="{FF2B5EF4-FFF2-40B4-BE49-F238E27FC236}">
                      <a16:creationId xmlns:a16="http://schemas.microsoft.com/office/drawing/2014/main" id="{BA8F1D43-12C1-4F47-B26F-6E253514542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9992"/>
                <a:stretch/>
              </p:blipFill>
              <p:spPr bwMode="auto">
                <a:xfrm>
                  <a:off x="4343400" y="2640014"/>
                  <a:ext cx="1915921" cy="202373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" name="Picture 8">
                  <a:extLst>
                    <a:ext uri="{FF2B5EF4-FFF2-40B4-BE49-F238E27FC236}">
                      <a16:creationId xmlns:a16="http://schemas.microsoft.com/office/drawing/2014/main" id="{45EFC50F-2C65-42B7-8FBF-59BD0692B74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800600" y="4742799"/>
                  <a:ext cx="1285183" cy="10392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" name="Picture 6">
                  <a:extLst>
                    <a:ext uri="{FF2B5EF4-FFF2-40B4-BE49-F238E27FC236}">
                      <a16:creationId xmlns:a16="http://schemas.microsoft.com/office/drawing/2014/main" id="{20C3C8AA-7125-4B8B-B813-D299CE2BCD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57055" y="4876800"/>
                  <a:ext cx="1600200" cy="1028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697C3E4-69F9-4DB0-B3B8-7D92949B52BE}"/>
                  </a:ext>
                </a:extLst>
              </p:cNvPr>
              <p:cNvSpPr/>
              <p:nvPr/>
            </p:nvSpPr>
            <p:spPr>
              <a:xfrm>
                <a:off x="2514600" y="2971800"/>
                <a:ext cx="3733800" cy="340374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6795AE2-97B2-472F-8C6F-B8D609BD6782}"/>
              </a:ext>
            </a:extLst>
          </p:cNvPr>
          <p:cNvSpPr txBox="1"/>
          <p:nvPr/>
        </p:nvSpPr>
        <p:spPr>
          <a:xfrm>
            <a:off x="463401" y="840449"/>
            <a:ext cx="42610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CDER/OPQ </a:t>
            </a:r>
          </a:p>
          <a:p>
            <a:pPr algn="ctr"/>
            <a:r>
              <a:rPr lang="en-US" sz="2800" b="1" dirty="0">
                <a:solidFill>
                  <a:srgbClr val="0070C0"/>
                </a:solidFill>
              </a:rPr>
              <a:t>Manufacturing Pilot Plant</a:t>
            </a:r>
          </a:p>
          <a:p>
            <a:pPr algn="ctr"/>
            <a:r>
              <a:rPr lang="en-US" sz="2000" i="1" dirty="0"/>
              <a:t>Increase FDA’s capability to generate knowledge and train FDA staff to support assessment, inspection, and policy and guidance development for advanced manufacturing</a:t>
            </a:r>
          </a:p>
          <a:p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C61CDCE-192E-4837-8D78-760E5E1F4806}"/>
              </a:ext>
            </a:extLst>
          </p:cNvPr>
          <p:cNvGrpSpPr/>
          <p:nvPr/>
        </p:nvGrpSpPr>
        <p:grpSpPr>
          <a:xfrm>
            <a:off x="78693" y="3509962"/>
            <a:ext cx="5261664" cy="2224109"/>
            <a:chOff x="78693" y="3509962"/>
            <a:chExt cx="5261664" cy="222410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76A18B6-EB53-43BD-8251-CAE5DF509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7832" y="3509962"/>
              <a:ext cx="4996554" cy="89415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28B107B-3C37-4B58-90F4-2317FFC25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8693" y="4440880"/>
              <a:ext cx="3139576" cy="86871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4CFE016-6727-4383-BB83-E962DDCBF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200781" y="4925392"/>
              <a:ext cx="3139576" cy="808679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E9217797-6CCD-4C1A-95D6-FB60798B3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5987" y="29685"/>
            <a:ext cx="863168" cy="1013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651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0155-BED0-47A8-81D2-32D6F49C2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64" y="199815"/>
            <a:ext cx="2893512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Horizon</a:t>
            </a:r>
            <a:r>
              <a:rPr lang="en-US" dirty="0">
                <a:solidFill>
                  <a:srgbClr val="002060"/>
                </a:solidFill>
              </a:rPr>
              <a:t>: 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1F631-DE01-4A7B-9058-F9F515086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14" y="3587938"/>
            <a:ext cx="3830356" cy="2177666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sz="2400" dirty="0"/>
              <a:t>Throughput (TH) = </a:t>
            </a:r>
            <a:r>
              <a:rPr lang="en-US" sz="2400" b="1" dirty="0">
                <a:solidFill>
                  <a:srgbClr val="00B0F0"/>
                </a:solidFill>
              </a:rPr>
              <a:t>7000</a:t>
            </a:r>
            <a:r>
              <a:rPr lang="en-US" sz="2400" dirty="0"/>
              <a:t> 100mg dose equivalents per day</a:t>
            </a:r>
          </a:p>
          <a:p>
            <a:pPr>
              <a:spcBef>
                <a:spcPts val="300"/>
              </a:spcBef>
            </a:pPr>
            <a:r>
              <a:rPr lang="en-US" sz="2400" dirty="0"/>
              <a:t>Cycle time (CT) = </a:t>
            </a:r>
            <a:r>
              <a:rPr lang="en-US" sz="2400" b="1" dirty="0">
                <a:solidFill>
                  <a:srgbClr val="00B0F0"/>
                </a:solidFill>
              </a:rPr>
              <a:t>50</a:t>
            </a:r>
            <a:r>
              <a:rPr lang="en-US" sz="2400" dirty="0"/>
              <a:t> days</a:t>
            </a:r>
          </a:p>
          <a:p>
            <a:pPr>
              <a:spcBef>
                <a:spcPts val="300"/>
              </a:spcBef>
            </a:pPr>
            <a:r>
              <a:rPr lang="en-US" sz="2400" dirty="0"/>
              <a:t>Work in Process (WIP) = </a:t>
            </a:r>
            <a:r>
              <a:rPr lang="en-US" sz="2400" b="1" dirty="0">
                <a:solidFill>
                  <a:srgbClr val="00B0F0"/>
                </a:solidFill>
              </a:rPr>
              <a:t>350,000 </a:t>
            </a:r>
            <a:r>
              <a:rPr lang="en-US" sz="2400" dirty="0"/>
              <a:t>dose equivalents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D7973565-F60F-4918-81B4-22A0219378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056"/>
          <a:stretch/>
        </p:blipFill>
        <p:spPr bwMode="auto">
          <a:xfrm>
            <a:off x="3132420" y="199815"/>
            <a:ext cx="5457825" cy="1416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7657E4-FC56-4A20-AB17-632D18EC7184}"/>
              </a:ext>
            </a:extLst>
          </p:cNvPr>
          <p:cNvSpPr txBox="1">
            <a:spLocks/>
          </p:cNvSpPr>
          <p:nvPr/>
        </p:nvSpPr>
        <p:spPr>
          <a:xfrm>
            <a:off x="268263" y="1205110"/>
            <a:ext cx="3704207" cy="25574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dirty="0"/>
              <a:t>Mock Batch Process</a:t>
            </a:r>
          </a:p>
          <a:p>
            <a:pPr>
              <a:spcBef>
                <a:spcPts val="200"/>
              </a:spcBef>
            </a:pPr>
            <a:r>
              <a:rPr lang="en-US" sz="2400" dirty="0"/>
              <a:t>Seed Train</a:t>
            </a:r>
          </a:p>
          <a:p>
            <a:pPr>
              <a:spcBef>
                <a:spcPts val="200"/>
              </a:spcBef>
            </a:pPr>
            <a:r>
              <a:rPr lang="en-US" sz="2400" dirty="0"/>
              <a:t>10K Liter Batch Bioreactor</a:t>
            </a:r>
          </a:p>
          <a:p>
            <a:pPr>
              <a:spcBef>
                <a:spcPts val="200"/>
              </a:spcBef>
            </a:pPr>
            <a:r>
              <a:rPr lang="en-US" sz="2400" dirty="0"/>
              <a:t>Harvest Centrifuge</a:t>
            </a:r>
          </a:p>
          <a:p>
            <a:pPr>
              <a:spcBef>
                <a:spcPts val="200"/>
              </a:spcBef>
            </a:pPr>
            <a:r>
              <a:rPr lang="en-US" sz="2400" dirty="0"/>
              <a:t>3-Column Purification</a:t>
            </a:r>
          </a:p>
          <a:p>
            <a:pPr>
              <a:spcBef>
                <a:spcPts val="200"/>
              </a:spcBef>
            </a:pPr>
            <a:r>
              <a:rPr lang="en-US" sz="2400" dirty="0" err="1"/>
              <a:t>Diafiltration</a:t>
            </a:r>
            <a:r>
              <a:rPr lang="en-US" sz="2400" dirty="0"/>
              <a:t> &amp; Fill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20E87AE-BCB4-48C0-B7EC-2F9397385548}"/>
              </a:ext>
            </a:extLst>
          </p:cNvPr>
          <p:cNvSpPr txBox="1">
            <a:spLocks/>
          </p:cNvSpPr>
          <p:nvPr/>
        </p:nvSpPr>
        <p:spPr>
          <a:xfrm>
            <a:off x="177973" y="5936640"/>
            <a:ext cx="3830356" cy="1117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</a:pPr>
            <a:r>
              <a:rPr lang="en-US" sz="2400" dirty="0"/>
              <a:t>6 Holds/Transfers</a:t>
            </a:r>
          </a:p>
          <a:p>
            <a:pPr>
              <a:spcBef>
                <a:spcPts val="200"/>
              </a:spcBef>
            </a:pPr>
            <a:r>
              <a:rPr lang="en-US" sz="2400" dirty="0"/>
              <a:t>Can serve as WIP buffers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5926F1-6DC3-4940-ACC7-3E8051884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494" y="2863415"/>
            <a:ext cx="2658089" cy="20225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0E651AD-2D82-42CA-B778-9C8CF6ADD6E8}"/>
              </a:ext>
            </a:extLst>
          </p:cNvPr>
          <p:cNvSpPr txBox="1"/>
          <p:nvPr/>
        </p:nvSpPr>
        <p:spPr>
          <a:xfrm>
            <a:off x="4572000" y="4874193"/>
            <a:ext cx="35253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7000 X 2 = 14,000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BB79A2F-4488-4942-B2A4-1A6B06ED2413}"/>
              </a:ext>
            </a:extLst>
          </p:cNvPr>
          <p:cNvSpPr txBox="1">
            <a:spLocks/>
          </p:cNvSpPr>
          <p:nvPr/>
        </p:nvSpPr>
        <p:spPr>
          <a:xfrm>
            <a:off x="3820646" y="5652890"/>
            <a:ext cx="5457825" cy="11174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</a:pPr>
            <a:r>
              <a:rPr lang="en-US" sz="2400" dirty="0"/>
              <a:t>May avoid queue time increases due to variability &amp; high utilization</a:t>
            </a:r>
          </a:p>
          <a:p>
            <a:pPr>
              <a:spcBef>
                <a:spcPts val="200"/>
              </a:spcBef>
            </a:pPr>
            <a:r>
              <a:rPr lang="en-US" sz="2400" dirty="0"/>
              <a:t>Need a highly integrated process (PAT)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B85519E-1423-415A-A01C-27C583B77D3A}"/>
              </a:ext>
            </a:extLst>
          </p:cNvPr>
          <p:cNvGrpSpPr/>
          <p:nvPr/>
        </p:nvGrpSpPr>
        <p:grpSpPr>
          <a:xfrm>
            <a:off x="6917695" y="1698446"/>
            <a:ext cx="1898483" cy="928477"/>
            <a:chOff x="6851195" y="1698446"/>
            <a:chExt cx="1898483" cy="928477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638892-A6F2-4578-AC42-AE28493B5962}"/>
                </a:ext>
              </a:extLst>
            </p:cNvPr>
            <p:cNvSpPr/>
            <p:nvPr/>
          </p:nvSpPr>
          <p:spPr>
            <a:xfrm>
              <a:off x="6851195" y="1853714"/>
              <a:ext cx="1614775" cy="6864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b="1" dirty="0" err="1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ToF</a:t>
              </a:r>
              <a:r>
                <a:rPr lang="en-US" b="1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-MS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b="1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Analysis</a:t>
              </a:r>
            </a:p>
          </p:txBody>
        </p:sp>
        <p:pic>
          <p:nvPicPr>
            <p:cNvPr id="19" name="Picture 8" descr="http://mms.businesswire.com/media/20140616005646/en/420311/5/Xevo_G2-XS.jpg">
              <a:extLst>
                <a:ext uri="{FF2B5EF4-FFF2-40B4-BE49-F238E27FC236}">
                  <a16:creationId xmlns:a16="http://schemas.microsoft.com/office/drawing/2014/main" id="{14C1AEAC-106C-4252-8769-031F0320DE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6729" y="1698446"/>
              <a:ext cx="662949" cy="928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24A64F2-2B12-4584-8D2A-2BBA5643FB6E}"/>
              </a:ext>
            </a:extLst>
          </p:cNvPr>
          <p:cNvGrpSpPr/>
          <p:nvPr/>
        </p:nvGrpSpPr>
        <p:grpSpPr>
          <a:xfrm>
            <a:off x="5429649" y="1698446"/>
            <a:ext cx="1817412" cy="991169"/>
            <a:chOff x="5413024" y="1698446"/>
            <a:chExt cx="1817412" cy="99116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DE8D76D-0072-4181-93C2-4A5F9800970F}"/>
                </a:ext>
              </a:extLst>
            </p:cNvPr>
            <p:cNvSpPr/>
            <p:nvPr/>
          </p:nvSpPr>
          <p:spPr>
            <a:xfrm>
              <a:off x="5413024" y="1698446"/>
              <a:ext cx="1614775" cy="9911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b="1" u="sng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 </a:t>
              </a:r>
              <a:r>
                <a:rPr lang="en-US" b="1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HPLC 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b="1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UPLC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b="1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Analysis</a:t>
              </a:r>
            </a:p>
          </p:txBody>
        </p:sp>
        <p:pic>
          <p:nvPicPr>
            <p:cNvPr id="21" name="Picture 6" descr="http://www.waters.com/webassets/cms/category/media/content_blocks/wg_patrol_uplc_pilot_system_monitor.jpg">
              <a:extLst>
                <a:ext uri="{FF2B5EF4-FFF2-40B4-BE49-F238E27FC236}">
                  <a16:creationId xmlns:a16="http://schemas.microsoft.com/office/drawing/2014/main" id="{5C8D6C80-01D8-42C2-AD00-BDBB81BCEE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7487" y="1771305"/>
              <a:ext cx="662949" cy="851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6D77AE-D18B-42AD-8AB3-AEA3C94B1C34}"/>
              </a:ext>
            </a:extLst>
          </p:cNvPr>
          <p:cNvGrpSpPr/>
          <p:nvPr/>
        </p:nvGrpSpPr>
        <p:grpSpPr>
          <a:xfrm>
            <a:off x="3804212" y="1680996"/>
            <a:ext cx="2084765" cy="991169"/>
            <a:chOff x="3737712" y="1680996"/>
            <a:chExt cx="2084765" cy="991169"/>
          </a:xfrm>
        </p:grpSpPr>
        <p:pic>
          <p:nvPicPr>
            <p:cNvPr id="22" name="Picture 4" descr="http://www.sartorius.com/typo3temp/pics/FeT_BioPAT---_3315_RGB_2bc2ce832b.jpg">
              <a:extLst>
                <a:ext uri="{FF2B5EF4-FFF2-40B4-BE49-F238E27FC236}">
                  <a16:creationId xmlns:a16="http://schemas.microsoft.com/office/drawing/2014/main" id="{4428911B-32F3-4F4A-8CC4-FC2FBD8B22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43" r="24843"/>
            <a:stretch>
              <a:fillRect/>
            </a:stretch>
          </p:blipFill>
          <p:spPr bwMode="auto">
            <a:xfrm>
              <a:off x="5066994" y="1778806"/>
              <a:ext cx="755483" cy="813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663B8B6-F730-4B93-8E9C-8B1B2CEA4D54}"/>
                </a:ext>
              </a:extLst>
            </p:cNvPr>
            <p:cNvSpPr/>
            <p:nvPr/>
          </p:nvSpPr>
          <p:spPr>
            <a:xfrm>
              <a:off x="3737712" y="1680996"/>
              <a:ext cx="1614775" cy="9911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b="1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O</a:t>
              </a:r>
              <a:r>
                <a:rPr lang="en-US" b="1" baseline="-25000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2</a:t>
              </a:r>
              <a:r>
                <a:rPr lang="en-US" b="1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/CO</a:t>
              </a:r>
              <a:r>
                <a:rPr lang="en-US" b="1" baseline="-25000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2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b="1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Metabolites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b="1" dirty="0">
                  <a:solidFill>
                    <a:srgbClr val="000000"/>
                  </a:solidFill>
                  <a:ea typeface="ＭＳ Ｐゴシック" charset="0"/>
                  <a:cs typeface="Arial" charset="0"/>
                </a:rPr>
                <a:t>Biomass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79E5A37A-2C6C-4FDB-A751-64592A2E5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886" y="3368121"/>
            <a:ext cx="863168" cy="1013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172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14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CA158-C818-4126-B133-8CAA15C0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61" y="-31402"/>
            <a:ext cx="8618127" cy="93627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Barriers &amp; Opportunities</a:t>
            </a:r>
            <a:r>
              <a:rPr lang="en-US" sz="4000" dirty="0">
                <a:solidFill>
                  <a:srgbClr val="002060"/>
                </a:solidFill>
              </a:rPr>
              <a:t>: Regulatory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341D0-765C-477D-B884-1D341B34F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75" y="796925"/>
            <a:ext cx="8477250" cy="2689225"/>
          </a:xfrm>
        </p:spPr>
        <p:txBody>
          <a:bodyPr>
            <a:normAutofit/>
          </a:bodyPr>
          <a:lstStyle/>
          <a:p>
            <a:r>
              <a:rPr lang="en-US" altLang="en-US" sz="3000" dirty="0"/>
              <a:t>OPQ Definition of Pharmaceutical Quality</a:t>
            </a:r>
            <a:endParaRPr lang="en-US" altLang="en-US" sz="3000" i="1" dirty="0">
              <a:solidFill>
                <a:prstClr val="white"/>
              </a:solidFill>
            </a:endParaRPr>
          </a:p>
          <a:p>
            <a:pPr lvl="1"/>
            <a:r>
              <a:rPr lang="en-US" altLang="en-US" sz="3000" dirty="0"/>
              <a:t>Assuring </a:t>
            </a:r>
            <a:r>
              <a:rPr lang="en-US" altLang="en-US" sz="3000" i="1" dirty="0"/>
              <a:t>every </a:t>
            </a:r>
            <a:r>
              <a:rPr lang="en-US" altLang="en-US" sz="3000" dirty="0"/>
              <a:t>dose is safe and effective, free of contamination and defects.</a:t>
            </a:r>
            <a:endParaRPr lang="en-US" altLang="en-US" dirty="0"/>
          </a:p>
          <a:p>
            <a:r>
              <a:rPr lang="en-US" altLang="en-US" dirty="0"/>
              <a:t>A control strategy is a planned set of controls, derived from current product and process  understanding, that assures process performance and product quality.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92105-0110-4870-BBA7-43DE07CB57BC}"/>
              </a:ext>
            </a:extLst>
          </p:cNvPr>
          <p:cNvSpPr txBox="1"/>
          <p:nvPr/>
        </p:nvSpPr>
        <p:spPr>
          <a:xfrm>
            <a:off x="6350696" y="6450904"/>
            <a:ext cx="2543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Adapted from Joel Welch</a:t>
            </a:r>
          </a:p>
        </p:txBody>
      </p:sp>
      <p:pic>
        <p:nvPicPr>
          <p:cNvPr id="5" name="Picture 8" descr="C:\Users\Sarah.Johnson1\AppData\Local\Microsoft\Windows\Temporary Internet Files\Content.IE5\PDUAR8XX\101036_Clock[1].jpg">
            <a:extLst>
              <a:ext uri="{FF2B5EF4-FFF2-40B4-BE49-F238E27FC236}">
                <a16:creationId xmlns:a16="http://schemas.microsoft.com/office/drawing/2014/main" id="{739304D2-E880-4EB8-98B5-6ABD0C710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633644"/>
            <a:ext cx="163830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B18635-38FD-484E-A7C7-ABD2EC339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553" y="130480"/>
            <a:ext cx="863168" cy="1013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E76DF7-10D6-4FFB-94FF-9F5AED7B5884}"/>
              </a:ext>
            </a:extLst>
          </p:cNvPr>
          <p:cNvSpPr txBox="1">
            <a:spLocks/>
          </p:cNvSpPr>
          <p:nvPr/>
        </p:nvSpPr>
        <p:spPr>
          <a:xfrm>
            <a:off x="307450" y="4991967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1000"/>
              </a:spcBef>
            </a:pPr>
            <a:r>
              <a:rPr lang="en-US" altLang="en-US" sz="2800" dirty="0"/>
              <a:t>Real time release testing </a:t>
            </a:r>
          </a:p>
          <a:p>
            <a:pPr lvl="1">
              <a:spcBef>
                <a:spcPts val="800"/>
              </a:spcBef>
            </a:pPr>
            <a:r>
              <a:rPr lang="en-US" altLang="en-US" sz="2800" dirty="0"/>
              <a:t>Evaluation of viral clearance performance</a:t>
            </a:r>
          </a:p>
          <a:p>
            <a:pPr lvl="1">
              <a:spcBef>
                <a:spcPts val="800"/>
              </a:spcBef>
            </a:pPr>
            <a:r>
              <a:rPr lang="en-US" altLang="en-US" sz="2800" dirty="0"/>
              <a:t>Diversions of non-conforming material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248FA8-E70F-43ED-9AA4-8954AA6A4B70}"/>
              </a:ext>
            </a:extLst>
          </p:cNvPr>
          <p:cNvSpPr txBox="1">
            <a:spLocks/>
          </p:cNvSpPr>
          <p:nvPr/>
        </p:nvSpPr>
        <p:spPr>
          <a:xfrm>
            <a:off x="335855" y="3492283"/>
            <a:ext cx="5086350" cy="12168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Continuous Manufacturing Control Strategy</a:t>
            </a:r>
          </a:p>
          <a:p>
            <a:pPr lvl="1">
              <a:spcBef>
                <a:spcPts val="2000"/>
              </a:spcBef>
            </a:pPr>
            <a:r>
              <a:rPr lang="en-US" altLang="en-US" sz="2800" dirty="0"/>
              <a:t>Definition of Batch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01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 bldLvl="2"/>
      <p:bldP spid="8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B5A2F-D97F-43D6-BA62-6D6A53B67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56" y="82414"/>
            <a:ext cx="8655485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Opportunities</a:t>
            </a:r>
            <a:r>
              <a:rPr lang="en-US" sz="4000" dirty="0">
                <a:solidFill>
                  <a:srgbClr val="002060"/>
                </a:solidFill>
              </a:rPr>
              <a:t>: Regulatory Flexibility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D39C5-B8E0-48FC-BFAE-159DA7483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349" y="1505352"/>
            <a:ext cx="3694409" cy="27072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ICH Q12 Established Conditions</a:t>
            </a:r>
          </a:p>
          <a:p>
            <a:r>
              <a:rPr lang="en-US" dirty="0"/>
              <a:t>Parameter-based</a:t>
            </a:r>
          </a:p>
          <a:p>
            <a:pPr lvl="1"/>
            <a:r>
              <a:rPr lang="en-US" dirty="0"/>
              <a:t>A minimal approach</a:t>
            </a:r>
          </a:p>
          <a:p>
            <a:pPr lvl="1"/>
            <a:r>
              <a:rPr lang="en-US" dirty="0"/>
              <a:t>An enhanced approach </a:t>
            </a:r>
          </a:p>
          <a:p>
            <a:r>
              <a:rPr lang="en-US" dirty="0"/>
              <a:t>A performance-based approach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2E645B-DB91-47B0-81F4-7E0C7F404943}"/>
              </a:ext>
            </a:extLst>
          </p:cNvPr>
          <p:cNvSpPr txBox="1">
            <a:spLocks/>
          </p:cNvSpPr>
          <p:nvPr/>
        </p:nvSpPr>
        <p:spPr>
          <a:xfrm>
            <a:off x="129317" y="3795097"/>
            <a:ext cx="4997626" cy="3842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0" indent="0">
              <a:buNone/>
            </a:pPr>
            <a:r>
              <a:rPr lang="en-US" sz="2600" dirty="0"/>
              <a:t>ICH Q13: Continuous Manufacturing</a:t>
            </a:r>
          </a:p>
          <a:p>
            <a:pPr lvl="1">
              <a:spcBef>
                <a:spcPts val="800"/>
              </a:spcBef>
            </a:pPr>
            <a:r>
              <a:rPr lang="en-US" dirty="0"/>
              <a:t>CM-related definitions</a:t>
            </a:r>
          </a:p>
          <a:p>
            <a:pPr lvl="1"/>
            <a:r>
              <a:rPr lang="en-US" dirty="0"/>
              <a:t>Key scientific approaches for CM</a:t>
            </a:r>
          </a:p>
          <a:p>
            <a:pPr lvl="1"/>
            <a:r>
              <a:rPr lang="en-US" dirty="0"/>
              <a:t>Regulatory concepts and expectations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82CCE3-F575-437B-8149-03F3CE570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553" y="130480"/>
            <a:ext cx="863168" cy="1013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FB24909-BFB7-4881-ABF9-681F47C05E67}"/>
              </a:ext>
            </a:extLst>
          </p:cNvPr>
          <p:cNvSpPr txBox="1">
            <a:spLocks/>
          </p:cNvSpPr>
          <p:nvPr/>
        </p:nvSpPr>
        <p:spPr>
          <a:xfrm>
            <a:off x="3694445" y="1865752"/>
            <a:ext cx="3085594" cy="18806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ICH Q14: Analytical Procedure Development </a:t>
            </a:r>
          </a:p>
          <a:p>
            <a:pPr lvl="1"/>
            <a:r>
              <a:rPr lang="en-US" dirty="0"/>
              <a:t>multivariate models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28F71C-FDF5-4E07-BC06-5063266B6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242" y="4031292"/>
            <a:ext cx="3694409" cy="270727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86AFA70-D986-4B3D-9877-4A680FD30048}"/>
              </a:ext>
            </a:extLst>
          </p:cNvPr>
          <p:cNvSpPr txBox="1">
            <a:spLocks/>
          </p:cNvSpPr>
          <p:nvPr/>
        </p:nvSpPr>
        <p:spPr>
          <a:xfrm>
            <a:off x="6058406" y="1393808"/>
            <a:ext cx="3085594" cy="18806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ICH Q5A Viral Safety</a:t>
            </a:r>
          </a:p>
          <a:p>
            <a:pPr lvl="1"/>
            <a:r>
              <a:rPr lang="en-US" dirty="0"/>
              <a:t>Validation strategies for CM and platforms</a:t>
            </a:r>
          </a:p>
          <a:p>
            <a:pPr lvl="1"/>
            <a:r>
              <a:rPr lang="en-US" dirty="0"/>
              <a:t>Alternative assay formats (NGS)</a:t>
            </a:r>
          </a:p>
        </p:txBody>
      </p:sp>
    </p:spTree>
    <p:extLst>
      <p:ext uri="{BB962C8B-B14F-4D97-AF65-F5344CB8AC3E}">
        <p14:creationId xmlns:p14="http://schemas.microsoft.com/office/powerpoint/2010/main" val="263118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B5A2F-D97F-43D6-BA62-6D6A53B67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79" y="18255"/>
            <a:ext cx="8655485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Barriers &amp; Opportunities</a:t>
            </a:r>
            <a:r>
              <a:rPr lang="en-US" dirty="0">
                <a:solidFill>
                  <a:srgbClr val="002060"/>
                </a:solidFill>
              </a:rPr>
              <a:t>: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D39C5-B8E0-48FC-BFAE-159DA7483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685" y="3180557"/>
            <a:ext cx="4032807" cy="284652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Technology, Equipment</a:t>
            </a:r>
          </a:p>
          <a:p>
            <a:pPr>
              <a:spcBef>
                <a:spcPts val="600"/>
              </a:spcBef>
            </a:pPr>
            <a:r>
              <a:rPr lang="en-US" dirty="0"/>
              <a:t>Process Characteristics</a:t>
            </a:r>
          </a:p>
          <a:p>
            <a:pPr>
              <a:spcBef>
                <a:spcPts val="600"/>
              </a:spcBef>
            </a:pPr>
            <a:r>
              <a:rPr lang="en-US" dirty="0"/>
              <a:t>Inspectional Outcomes</a:t>
            </a:r>
          </a:p>
          <a:p>
            <a:pPr>
              <a:spcBef>
                <a:spcPts val="600"/>
              </a:spcBef>
            </a:pPr>
            <a:r>
              <a:rPr lang="en-US" dirty="0"/>
              <a:t>BPDRs, Recalls</a:t>
            </a:r>
          </a:p>
          <a:p>
            <a:pPr>
              <a:spcBef>
                <a:spcPts val="600"/>
              </a:spcBef>
            </a:pPr>
            <a:r>
              <a:rPr lang="en-US" dirty="0"/>
              <a:t>Shortages</a:t>
            </a:r>
          </a:p>
          <a:p>
            <a:pPr>
              <a:spcBef>
                <a:spcPts val="600"/>
              </a:spcBef>
            </a:pPr>
            <a:r>
              <a:rPr lang="en-US" dirty="0"/>
              <a:t>Quality Metrics</a:t>
            </a:r>
          </a:p>
          <a:p>
            <a:pPr>
              <a:spcBef>
                <a:spcPts val="600"/>
              </a:spcBef>
            </a:pPr>
            <a:r>
              <a:rPr lang="en-US" dirty="0"/>
              <a:t>Process Modeling</a:t>
            </a:r>
          </a:p>
          <a:p>
            <a:pPr>
              <a:spcBef>
                <a:spcPts val="600"/>
              </a:spcBef>
            </a:pPr>
            <a:r>
              <a:rPr lang="en-US" dirty="0"/>
              <a:t>Predictive Analytics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7A4CA-9F71-4D87-B384-43D364DAE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953" y="65574"/>
            <a:ext cx="863168" cy="1013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30E761D-58E0-4CC9-AFAA-037330F8D941}"/>
              </a:ext>
            </a:extLst>
          </p:cNvPr>
          <p:cNvSpPr txBox="1">
            <a:spLocks/>
          </p:cNvSpPr>
          <p:nvPr/>
        </p:nvSpPr>
        <p:spPr>
          <a:xfrm>
            <a:off x="39495" y="1022367"/>
            <a:ext cx="8917520" cy="2219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Basic quality management systems are generally reactive and focused on CGMP</a:t>
            </a:r>
          </a:p>
          <a:p>
            <a:r>
              <a:rPr lang="en-US" dirty="0"/>
              <a:t>More mature quality management systems are ones that proactively focus on performance and patient-centric  events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9C8E03-AE37-4F30-A4C3-5128216A70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088" t="9878" r="16823" b="22397"/>
          <a:stretch/>
        </p:blipFill>
        <p:spPr>
          <a:xfrm>
            <a:off x="3994895" y="2906340"/>
            <a:ext cx="5149105" cy="311206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D832786-B451-4C7D-B582-05FBD900571E}"/>
              </a:ext>
            </a:extLst>
          </p:cNvPr>
          <p:cNvGrpSpPr/>
          <p:nvPr/>
        </p:nvGrpSpPr>
        <p:grpSpPr>
          <a:xfrm>
            <a:off x="6522977" y="5237548"/>
            <a:ext cx="1272610" cy="1208630"/>
            <a:chOff x="6346844" y="5444360"/>
            <a:chExt cx="1272610" cy="1208630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92B35BE1-1AB4-4761-9566-EA66202394D2}"/>
                </a:ext>
              </a:extLst>
            </p:cNvPr>
            <p:cNvSpPr/>
            <p:nvPr/>
          </p:nvSpPr>
          <p:spPr>
            <a:xfrm rot="16200000">
              <a:off x="6812915" y="5846451"/>
              <a:ext cx="340468" cy="1272610"/>
            </a:xfrm>
            <a:prstGeom prst="rightBrac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906CAAB9-F65F-4266-8E13-979058CEFA90}"/>
                </a:ext>
              </a:extLst>
            </p:cNvPr>
            <p:cNvSpPr/>
            <p:nvPr/>
          </p:nvSpPr>
          <p:spPr>
            <a:xfrm rot="16200000">
              <a:off x="6469720" y="5709486"/>
              <a:ext cx="1053441" cy="52318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C0B16E-1B04-4397-A3AC-E608FF989C9A}"/>
              </a:ext>
            </a:extLst>
          </p:cNvPr>
          <p:cNvGrpSpPr/>
          <p:nvPr/>
        </p:nvGrpSpPr>
        <p:grpSpPr>
          <a:xfrm>
            <a:off x="3922493" y="3886200"/>
            <a:ext cx="2203219" cy="2846520"/>
            <a:chOff x="3922493" y="3886200"/>
            <a:chExt cx="2203219" cy="2846520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F92EB156-5CAF-435B-B60D-653AF132A5A4}"/>
                </a:ext>
              </a:extLst>
            </p:cNvPr>
            <p:cNvSpPr/>
            <p:nvPr/>
          </p:nvSpPr>
          <p:spPr>
            <a:xfrm>
              <a:off x="3922493" y="3886200"/>
              <a:ext cx="333999" cy="2846520"/>
            </a:xfrm>
            <a:prstGeom prst="rightBrace">
              <a:avLst>
                <a:gd name="adj1" fmla="val 0"/>
                <a:gd name="adj2" fmla="val 50000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C3FDDBF-3734-4B9D-92F3-AB35B2C12D5C}"/>
                </a:ext>
              </a:extLst>
            </p:cNvPr>
            <p:cNvGrpSpPr/>
            <p:nvPr/>
          </p:nvGrpSpPr>
          <p:grpSpPr>
            <a:xfrm>
              <a:off x="4125176" y="4818664"/>
              <a:ext cx="2000536" cy="659261"/>
              <a:chOff x="3843937" y="5380785"/>
              <a:chExt cx="2000536" cy="659261"/>
            </a:xfrm>
          </p:grpSpPr>
          <p:sp>
            <p:nvSpPr>
              <p:cNvPr id="15" name="Arrow: Right 14">
                <a:extLst>
                  <a:ext uri="{FF2B5EF4-FFF2-40B4-BE49-F238E27FC236}">
                    <a16:creationId xmlns:a16="http://schemas.microsoft.com/office/drawing/2014/main" id="{15C075BF-8A00-474D-BE0C-8DECA3C963F3}"/>
                  </a:ext>
                </a:extLst>
              </p:cNvPr>
              <p:cNvSpPr/>
              <p:nvPr/>
            </p:nvSpPr>
            <p:spPr>
              <a:xfrm rot="19545140">
                <a:off x="4791032" y="5380785"/>
                <a:ext cx="1053441" cy="523189"/>
              </a:xfrm>
              <a:prstGeom prst="right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22253C-2459-4F81-8824-3EFAEFD000A6}"/>
                  </a:ext>
                </a:extLst>
              </p:cNvPr>
              <p:cNvSpPr/>
              <p:nvPr/>
            </p:nvSpPr>
            <p:spPr>
              <a:xfrm>
                <a:off x="3843937" y="5781128"/>
                <a:ext cx="1136625" cy="25891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662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FF5F-B21A-4213-A9C2-E08C5481F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947"/>
            <a:ext cx="6726470" cy="927897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Strategies</a:t>
            </a:r>
            <a:r>
              <a:rPr lang="en-US" dirty="0">
                <a:solidFill>
                  <a:srgbClr val="002060"/>
                </a:solidFill>
              </a:rPr>
              <a:t>: Activation Energy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F3E59-7130-4E22-A8DF-F7F654577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83" y="3876427"/>
            <a:ext cx="4376068" cy="247744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Current Drivers</a:t>
            </a:r>
          </a:p>
          <a:p>
            <a:pPr lvl="1"/>
            <a:r>
              <a:rPr lang="en-US" dirty="0"/>
              <a:t>Capacity for Investment</a:t>
            </a:r>
          </a:p>
          <a:p>
            <a:pPr lvl="1"/>
            <a:r>
              <a:rPr lang="en-US" dirty="0"/>
              <a:t>Brand Impact</a:t>
            </a:r>
          </a:p>
          <a:p>
            <a:pPr lvl="2"/>
            <a:r>
              <a:rPr lang="en-US" sz="2400" dirty="0"/>
              <a:t>Leading Edge</a:t>
            </a:r>
          </a:p>
          <a:p>
            <a:pPr lvl="2"/>
            <a:r>
              <a:rPr lang="en-US" sz="2400" dirty="0"/>
              <a:t>Risk of Shortage</a:t>
            </a:r>
          </a:p>
          <a:p>
            <a:pPr lvl="1"/>
            <a:r>
              <a:rPr lang="en-US" dirty="0"/>
              <a:t>COG not yet a key driver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What fits in the sweet spot?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BCBC7A-6255-458A-AE2D-11910AA4AF08}"/>
              </a:ext>
            </a:extLst>
          </p:cNvPr>
          <p:cNvSpPr txBox="1"/>
          <p:nvPr/>
        </p:nvSpPr>
        <p:spPr>
          <a:xfrm>
            <a:off x="5902108" y="6353869"/>
            <a:ext cx="2646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CC License Provenzano15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A714AC-C32C-4D27-B61C-2D3696A79667}"/>
              </a:ext>
            </a:extLst>
          </p:cNvPr>
          <p:cNvGrpSpPr/>
          <p:nvPr/>
        </p:nvGrpSpPr>
        <p:grpSpPr>
          <a:xfrm>
            <a:off x="87685" y="1139870"/>
            <a:ext cx="3650770" cy="2716041"/>
            <a:chOff x="4650030" y="4001294"/>
            <a:chExt cx="3738455" cy="273361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F529D97-F388-491F-8EBC-3282124C5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13008" y="4001294"/>
              <a:ext cx="3275477" cy="234026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2CC23D-ADCD-4BE7-A13C-0EB4F3193462}"/>
                </a:ext>
              </a:extLst>
            </p:cNvPr>
            <p:cNvSpPr txBox="1"/>
            <p:nvPr/>
          </p:nvSpPr>
          <p:spPr>
            <a:xfrm rot="16200000">
              <a:off x="4500726" y="4909814"/>
              <a:ext cx="8218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Cost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A2198F4-DC4E-4313-B665-966DDFDC59E7}"/>
                </a:ext>
              </a:extLst>
            </p:cNvPr>
            <p:cNvSpPr txBox="1"/>
            <p:nvPr/>
          </p:nvSpPr>
          <p:spPr>
            <a:xfrm>
              <a:off x="6515603" y="6211691"/>
              <a:ext cx="9060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Time</a:t>
              </a:r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49B657F6-8D2B-4470-AEB4-84067556928D}"/>
              </a:ext>
            </a:extLst>
          </p:cNvPr>
          <p:cNvSpPr/>
          <p:nvPr/>
        </p:nvSpPr>
        <p:spPr>
          <a:xfrm>
            <a:off x="6967661" y="3500556"/>
            <a:ext cx="1857959" cy="17411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Typical</a:t>
            </a:r>
          </a:p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Generics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B33DFF8-1B1D-4EFC-8710-8ABE6585ECC8}"/>
              </a:ext>
            </a:extLst>
          </p:cNvPr>
          <p:cNvSpPr/>
          <p:nvPr/>
        </p:nvSpPr>
        <p:spPr>
          <a:xfrm>
            <a:off x="4518247" y="1305172"/>
            <a:ext cx="1857959" cy="17411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Typical</a:t>
            </a:r>
          </a:p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 Drugs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B145395-E18E-4DB9-B73A-01F40063701E}"/>
              </a:ext>
            </a:extLst>
          </p:cNvPr>
          <p:cNvGrpSpPr/>
          <p:nvPr/>
        </p:nvGrpSpPr>
        <p:grpSpPr>
          <a:xfrm>
            <a:off x="4030364" y="1139870"/>
            <a:ext cx="4839929" cy="4850332"/>
            <a:chOff x="4030364" y="1139870"/>
            <a:chExt cx="4839929" cy="4850332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2A5783-E167-4A36-AE47-07BAF1F08229}"/>
                </a:ext>
              </a:extLst>
            </p:cNvPr>
            <p:cNvCxnSpPr/>
            <p:nvPr/>
          </p:nvCxnSpPr>
          <p:spPr>
            <a:xfrm>
              <a:off x="6726476" y="1139870"/>
              <a:ext cx="0" cy="426710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B7BA88-59C7-48D0-B1F2-33DBD132C67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26475" y="1139870"/>
              <a:ext cx="0" cy="4267103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B873D6F-79E3-4559-A7A2-CF89197CF5EB}"/>
                </a:ext>
              </a:extLst>
            </p:cNvPr>
            <p:cNvSpPr txBox="1"/>
            <p:nvPr/>
          </p:nvSpPr>
          <p:spPr>
            <a:xfrm>
              <a:off x="4494223" y="5528537"/>
              <a:ext cx="43760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002060"/>
                  </a:solidFill>
                </a:rPr>
                <a:t>Importance of COG (Commodity)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B624F5F-4F4A-460D-9F7B-EFD4BEB3257A}"/>
                </a:ext>
              </a:extLst>
            </p:cNvPr>
            <p:cNvSpPr txBox="1"/>
            <p:nvPr/>
          </p:nvSpPr>
          <p:spPr>
            <a:xfrm rot="16200000">
              <a:off x="2170945" y="3083974"/>
              <a:ext cx="4180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002060"/>
                  </a:solidFill>
                </a:rPr>
                <a:t>Capacity for Capital Investment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229BB79-78B5-497B-8F34-9F143BBA2283}"/>
                </a:ext>
              </a:extLst>
            </p:cNvPr>
            <p:cNvSpPr txBox="1"/>
            <p:nvPr/>
          </p:nvSpPr>
          <p:spPr>
            <a:xfrm>
              <a:off x="7085071" y="1735168"/>
              <a:ext cx="16231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</a:rPr>
                <a:t>Sweet Spot</a:t>
              </a: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1382DB57-A4ED-48C1-AB80-4288D7B673BE}"/>
              </a:ext>
            </a:extLst>
          </p:cNvPr>
          <p:cNvSpPr/>
          <p:nvPr/>
        </p:nvSpPr>
        <p:spPr>
          <a:xfrm rot="19379629">
            <a:off x="5809004" y="2587035"/>
            <a:ext cx="2076130" cy="976598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Biosimilars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66C78D0-2E30-4828-AECE-3246F914E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177514"/>
            <a:ext cx="863168" cy="1013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CDE020-AE5F-4096-9A7F-0F651D39D1AA}"/>
              </a:ext>
            </a:extLst>
          </p:cNvPr>
          <p:cNvSpPr txBox="1"/>
          <p:nvPr/>
        </p:nvSpPr>
        <p:spPr>
          <a:xfrm>
            <a:off x="777214" y="6216091"/>
            <a:ext cx="35269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2060"/>
                </a:solidFill>
              </a:rPr>
              <a:t>What is the “Tipping Point”?</a:t>
            </a:r>
          </a:p>
        </p:txBody>
      </p:sp>
    </p:spTree>
    <p:extLst>
      <p:ext uri="{BB962C8B-B14F-4D97-AF65-F5344CB8AC3E}">
        <p14:creationId xmlns:p14="http://schemas.microsoft.com/office/powerpoint/2010/main" val="233356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20" grpId="0" animBg="1"/>
      <p:bldP spid="21" grpId="0" animBg="1"/>
      <p:bldP spid="24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D9F25-8EE6-48F5-AB7A-366DA33CF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5" y="184152"/>
            <a:ext cx="5948362" cy="61277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Strategies</a:t>
            </a:r>
            <a:r>
              <a:rPr lang="en-US" dirty="0">
                <a:solidFill>
                  <a:srgbClr val="002060"/>
                </a:solidFill>
              </a:rPr>
              <a:t>: Sunk Cost Fallacy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D711B-85B5-481F-B59F-E5AA370E0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7626" y="2655569"/>
            <a:ext cx="9144001" cy="4137983"/>
          </a:xfrm>
        </p:spPr>
        <p:txBody>
          <a:bodyPr>
            <a:normAutofit fontScale="92500"/>
          </a:bodyPr>
          <a:lstStyle/>
          <a:p>
            <a:r>
              <a:rPr lang="en-US" sz="3000" dirty="0"/>
              <a:t>Low marginal cost of existing manufacturing technologies. </a:t>
            </a:r>
            <a:r>
              <a:rPr lang="en-US" sz="1800" dirty="0"/>
              <a:t>2018 Bates White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Continuous manufacturing in pharmaceuticals: Economic and policy issues</a:t>
            </a:r>
          </a:p>
          <a:p>
            <a:pPr lvl="1"/>
            <a:r>
              <a:rPr lang="en-US" sz="2600" dirty="0"/>
              <a:t>Physical capital of publicly traded pharma companies &gt; $200 billion</a:t>
            </a:r>
          </a:p>
          <a:p>
            <a:pPr lvl="1"/>
            <a:r>
              <a:rPr lang="en-US" sz="2600" dirty="0"/>
              <a:t>Existing manufacturing capacity is long-lived; Utilization not high</a:t>
            </a:r>
          </a:p>
          <a:p>
            <a:pPr lvl="1"/>
            <a:r>
              <a:rPr lang="en-US" sz="2600" b="1" dirty="0">
                <a:solidFill>
                  <a:srgbClr val="002060"/>
                </a:solidFill>
              </a:rPr>
              <a:t>New capacity</a:t>
            </a:r>
          </a:p>
          <a:p>
            <a:pPr>
              <a:lnSpc>
                <a:spcPct val="80000"/>
              </a:lnSpc>
            </a:pPr>
            <a:r>
              <a:rPr lang="en-US" dirty="0"/>
              <a:t>HBR Stop Doubling Down on Your Failing Strategy</a:t>
            </a:r>
          </a:p>
          <a:p>
            <a:pPr marL="228600" lvl="2" indent="0">
              <a:lnSpc>
                <a:spcPct val="80000"/>
              </a:lnSpc>
              <a:buNone/>
            </a:pPr>
            <a:r>
              <a:rPr lang="en-US" sz="1800" dirty="0"/>
              <a:t>by </a:t>
            </a:r>
            <a:r>
              <a:rPr lang="en-US" sz="1800" dirty="0" err="1"/>
              <a:t>Freek</a:t>
            </a:r>
            <a:r>
              <a:rPr lang="en-US" sz="1800" dirty="0"/>
              <a:t> Vermeulen and Niro </a:t>
            </a:r>
            <a:r>
              <a:rPr lang="en-US" sz="1800" dirty="0" err="1"/>
              <a:t>Sivanathan</a:t>
            </a:r>
            <a:r>
              <a:rPr lang="en-US" sz="1800" dirty="0"/>
              <a:t>; HBR Nov–Dec 2017 </a:t>
            </a:r>
          </a:p>
          <a:p>
            <a:pPr lvl="1"/>
            <a:r>
              <a:rPr lang="en-US" sz="2600" dirty="0"/>
              <a:t>Escalation of commitment is deeply rooted in the human brain; </a:t>
            </a:r>
          </a:p>
          <a:p>
            <a:pPr lvl="1"/>
            <a:r>
              <a:rPr lang="en-US" sz="2600" dirty="0"/>
              <a:t>More to this than the Sunk Cost Fallacy: Loss Aversion, Personal Identification, Illusion of Control</a:t>
            </a:r>
          </a:p>
          <a:p>
            <a:pPr lvl="1"/>
            <a:r>
              <a:rPr lang="en-US" sz="2600" b="1" dirty="0">
                <a:solidFill>
                  <a:srgbClr val="002060"/>
                </a:solidFill>
              </a:rPr>
              <a:t>Regulatory Affairs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450F42-D6FA-4315-925C-E630A633ED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3" t="1295" r="1361" b="1577"/>
          <a:stretch/>
        </p:blipFill>
        <p:spPr>
          <a:xfrm>
            <a:off x="6062662" y="241302"/>
            <a:ext cx="1909763" cy="138825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C3D66F5-5E6A-4C4E-8DB1-9A7BD7D41DC0}"/>
              </a:ext>
            </a:extLst>
          </p:cNvPr>
          <p:cNvSpPr txBox="1">
            <a:spLocks/>
          </p:cNvSpPr>
          <p:nvPr/>
        </p:nvSpPr>
        <p:spPr>
          <a:xfrm>
            <a:off x="381000" y="817963"/>
            <a:ext cx="6265069" cy="919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 </a:t>
            </a:r>
            <a:r>
              <a:rPr lang="en-US" b="1" dirty="0"/>
              <a:t>sunk cost</a:t>
            </a:r>
            <a:r>
              <a:rPr lang="en-US" dirty="0"/>
              <a:t> is a </a:t>
            </a:r>
            <a:r>
              <a:rPr lang="en-US" b="1" dirty="0"/>
              <a:t>cost</a:t>
            </a:r>
            <a:r>
              <a:rPr lang="en-US" dirty="0"/>
              <a:t> that has been incurred and </a:t>
            </a:r>
            <a:r>
              <a:rPr lang="en-US" u="sng" dirty="0"/>
              <a:t>cannot</a:t>
            </a:r>
            <a:r>
              <a:rPr lang="en-US" dirty="0"/>
              <a:t> be recovered.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390DE-3D45-42DB-A2E5-7A3C05EC2CA5}"/>
              </a:ext>
            </a:extLst>
          </p:cNvPr>
          <p:cNvSpPr/>
          <p:nvPr/>
        </p:nvSpPr>
        <p:spPr>
          <a:xfrm>
            <a:off x="3808253" y="6452796"/>
            <a:ext cx="3236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rgbClr val="0B0080"/>
                </a:solidFill>
                <a:latin typeface="Arial" panose="020B0604020202020204" pitchFamily="34" charset="0"/>
                <a:hlinkClick r:id="rId4" tooltip="Commons:GNU Free Documentation License, version 1.2"/>
              </a:rPr>
              <a:t>GNU Free Documentation License</a:t>
            </a:r>
            <a:r>
              <a:rPr lang="en-US" sz="1200" dirty="0">
                <a:solidFill>
                  <a:srgbClr val="202122"/>
                </a:solidFill>
                <a:latin typeface="Arial" panose="020B0604020202020204" pitchFamily="34" charset="0"/>
              </a:rPr>
              <a:t>.</a:t>
            </a:r>
            <a:r>
              <a:rPr lang="en-US" dirty="0"/>
              <a:t> </a:t>
            </a:r>
            <a:r>
              <a:rPr lang="en-US" sz="1200" dirty="0" err="1"/>
              <a:t>Finereach</a:t>
            </a:r>
            <a:endParaRPr lang="en-US" sz="12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31A44C-73BD-4E97-A5CF-FE77EF3687C8}"/>
              </a:ext>
            </a:extLst>
          </p:cNvPr>
          <p:cNvGrpSpPr/>
          <p:nvPr/>
        </p:nvGrpSpPr>
        <p:grpSpPr>
          <a:xfrm>
            <a:off x="142875" y="1749266"/>
            <a:ext cx="8953500" cy="919949"/>
            <a:chOff x="142875" y="1749266"/>
            <a:chExt cx="8953500" cy="919949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ADE85F65-56BB-4BB6-A240-CD554805D9BF}"/>
                </a:ext>
              </a:extLst>
            </p:cNvPr>
            <p:cNvSpPr txBox="1">
              <a:spLocks/>
            </p:cNvSpPr>
            <p:nvPr/>
          </p:nvSpPr>
          <p:spPr>
            <a:xfrm>
              <a:off x="1364096" y="1749266"/>
              <a:ext cx="7732279" cy="91994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Existing capacity is not a sunk cost as long as it can still manufacture competitively; It has future value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0ECA41B-3CD9-4CFA-A6ED-FB8E64AFD910}"/>
                </a:ext>
              </a:extLst>
            </p:cNvPr>
            <p:cNvGrpSpPr/>
            <p:nvPr/>
          </p:nvGrpSpPr>
          <p:grpSpPr>
            <a:xfrm>
              <a:off x="142875" y="1802370"/>
              <a:ext cx="1333789" cy="751753"/>
              <a:chOff x="209550" y="1945245"/>
              <a:chExt cx="1333789" cy="751753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B50222E-EC5F-4B05-8410-4F7F45309A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6"/>
                  </a:ext>
                </a:extLst>
              </a:blip>
              <a:stretch>
                <a:fillRect/>
              </a:stretch>
            </p:blipFill>
            <p:spPr>
              <a:xfrm>
                <a:off x="209550" y="1945245"/>
                <a:ext cx="751753" cy="751753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56D6F15-C38D-45FF-9FD6-6F6A7513D9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6"/>
                  </a:ext>
                </a:extLst>
              </a:blip>
              <a:stretch>
                <a:fillRect/>
              </a:stretch>
            </p:blipFill>
            <p:spPr>
              <a:xfrm>
                <a:off x="791586" y="1945245"/>
                <a:ext cx="751753" cy="751753"/>
              </a:xfrm>
              <a:prstGeom prst="rect">
                <a:avLst/>
              </a:prstGeom>
            </p:spPr>
          </p:pic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259C607-1449-406D-8D30-749DE3C82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177514"/>
            <a:ext cx="863168" cy="1013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6814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5" y="147209"/>
            <a:ext cx="7886700" cy="70057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Strategy</a:t>
            </a:r>
            <a:r>
              <a:rPr lang="en-US" dirty="0">
                <a:solidFill>
                  <a:srgbClr val="002060"/>
                </a:solidFill>
              </a:rPr>
              <a:t>: Business Model 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42B41-723F-4DCA-8E2F-223DFE1A0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483" y="847784"/>
            <a:ext cx="5429500" cy="663326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5100" b="1" i="1" dirty="0"/>
              <a:t>What</a:t>
            </a:r>
            <a:r>
              <a:rPr lang="en-US" sz="5100" i="1" dirty="0"/>
              <a:t> </a:t>
            </a:r>
            <a:r>
              <a:rPr lang="en-US" sz="5100" dirty="0"/>
              <a:t>your [focus] will be</a:t>
            </a:r>
          </a:p>
          <a:p>
            <a:pPr marL="457200" lvl="1" indent="0">
              <a:buNone/>
            </a:pPr>
            <a:r>
              <a:rPr lang="en-US" sz="4600" dirty="0"/>
              <a:t>Focus on areas near the </a:t>
            </a:r>
            <a:r>
              <a:rPr lang="en-US" sz="4600" b="1" dirty="0">
                <a:solidFill>
                  <a:srgbClr val="002060"/>
                </a:solidFill>
              </a:rPr>
              <a:t>sweet spot</a:t>
            </a:r>
            <a:endParaRPr lang="en-US" sz="4600" dirty="0"/>
          </a:p>
          <a:p>
            <a:pPr marL="457200" lvl="1" indent="0">
              <a:buNone/>
            </a:pPr>
            <a:r>
              <a:rPr lang="en-US" sz="4600" dirty="0"/>
              <a:t>Contract manufacturing may be a </a:t>
            </a:r>
            <a:r>
              <a:rPr lang="en-US" sz="4600" b="1" dirty="0">
                <a:solidFill>
                  <a:srgbClr val="002060"/>
                </a:solidFill>
              </a:rPr>
              <a:t>tipping point</a:t>
            </a:r>
          </a:p>
          <a:p>
            <a:pPr marL="0" indent="0">
              <a:buNone/>
            </a:pPr>
            <a:r>
              <a:rPr lang="en-US" sz="5100" b="1" i="1" dirty="0"/>
              <a:t>When</a:t>
            </a:r>
            <a:r>
              <a:rPr lang="en-US" sz="5100" i="1" dirty="0"/>
              <a:t> </a:t>
            </a:r>
            <a:r>
              <a:rPr lang="en-US" sz="5100" dirty="0"/>
              <a:t>decisions are made</a:t>
            </a:r>
          </a:p>
          <a:p>
            <a:pPr marL="457200" lvl="1" indent="0">
              <a:buNone/>
            </a:pPr>
            <a:r>
              <a:rPr lang="en-US" sz="4600" dirty="0"/>
              <a:t>Decisions on </a:t>
            </a:r>
            <a:r>
              <a:rPr lang="en-US" sz="4600" b="1" dirty="0">
                <a:solidFill>
                  <a:srgbClr val="002060"/>
                </a:solidFill>
              </a:rPr>
              <a:t>new capacity </a:t>
            </a:r>
            <a:r>
              <a:rPr lang="en-US" sz="4600" dirty="0"/>
              <a:t>should always consider</a:t>
            </a:r>
            <a:r>
              <a:rPr lang="en-US" sz="4600" b="1" dirty="0"/>
              <a:t> </a:t>
            </a:r>
            <a:r>
              <a:rPr lang="en-US" sz="4600" dirty="0"/>
              <a:t>Advanced Manufacturing</a:t>
            </a:r>
          </a:p>
          <a:p>
            <a:pPr marL="0" indent="0">
              <a:buNone/>
            </a:pPr>
            <a:r>
              <a:rPr lang="en-US" sz="5100" b="1" i="1" dirty="0"/>
              <a:t>Who</a:t>
            </a:r>
            <a:r>
              <a:rPr lang="en-US" sz="5100" i="1" dirty="0"/>
              <a:t> </a:t>
            </a:r>
            <a:r>
              <a:rPr lang="en-US" sz="5100" dirty="0"/>
              <a:t>makes them, and</a:t>
            </a:r>
          </a:p>
          <a:p>
            <a:pPr marL="457200" lvl="1" indent="0">
              <a:buNone/>
            </a:pPr>
            <a:r>
              <a:rPr lang="en-US" sz="4600" dirty="0"/>
              <a:t>Decisions should be made by those who are not biased by </a:t>
            </a:r>
            <a:r>
              <a:rPr lang="en-US" sz="4600" b="1" dirty="0">
                <a:solidFill>
                  <a:srgbClr val="002060"/>
                </a:solidFill>
              </a:rPr>
              <a:t>“escalation of commitment”</a:t>
            </a:r>
            <a:endParaRPr lang="en-US" sz="4600" dirty="0"/>
          </a:p>
          <a:p>
            <a:pPr marL="0" indent="0">
              <a:buNone/>
            </a:pPr>
            <a:r>
              <a:rPr lang="en-US" sz="5100" b="1" i="1" dirty="0"/>
              <a:t>Why</a:t>
            </a:r>
            <a:r>
              <a:rPr lang="en-US" sz="5100" i="1" dirty="0"/>
              <a:t> </a:t>
            </a:r>
            <a:r>
              <a:rPr lang="en-US" sz="5100" dirty="0"/>
              <a:t>they are made</a:t>
            </a:r>
            <a:r>
              <a:rPr lang="en-US" sz="5100" i="1" dirty="0"/>
              <a:t>.</a:t>
            </a:r>
          </a:p>
          <a:p>
            <a:pPr marL="457200" lvl="1" indent="0">
              <a:buNone/>
            </a:pPr>
            <a:r>
              <a:rPr lang="en-US" sz="4600" dirty="0"/>
              <a:t>Company incentives should consider long term cost and quality </a:t>
            </a:r>
          </a:p>
          <a:p>
            <a:pPr marL="457200" lvl="1" indent="0">
              <a:buNone/>
            </a:pPr>
            <a:r>
              <a:rPr lang="en-US" sz="4600" b="1" dirty="0">
                <a:solidFill>
                  <a:srgbClr val="002060"/>
                </a:solidFill>
              </a:rPr>
              <a:t>Quality Maturity Models </a:t>
            </a:r>
            <a:r>
              <a:rPr lang="en-US" sz="4600" dirty="0"/>
              <a:t>should be sensitive to CM advantages</a:t>
            </a:r>
          </a:p>
          <a:p>
            <a:pPr marL="800100" lvl="1" indent="-342900"/>
            <a:endParaRPr lang="en-US" sz="2900" dirty="0"/>
          </a:p>
          <a:p>
            <a:pPr marL="342900" indent="-342900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4BCCBD-F01C-4FAB-9301-77852FD74FDF}"/>
              </a:ext>
            </a:extLst>
          </p:cNvPr>
          <p:cNvSpPr txBox="1"/>
          <p:nvPr/>
        </p:nvSpPr>
        <p:spPr>
          <a:xfrm>
            <a:off x="5568983" y="707742"/>
            <a:ext cx="2651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500" i="1" dirty="0">
                <a:solidFill>
                  <a:prstClr val="black"/>
                </a:solidFill>
                <a:latin typeface="Calibri" panose="020F0502020204030204"/>
              </a:rPr>
              <a:t>Four Paths to Business Model Innovation by Karan </a:t>
            </a:r>
            <a:r>
              <a:rPr lang="en-US" sz="1500" i="1" dirty="0" err="1">
                <a:solidFill>
                  <a:prstClr val="black"/>
                </a:solidFill>
                <a:latin typeface="Calibri" panose="020F0502020204030204"/>
              </a:rPr>
              <a:t>Girotra</a:t>
            </a:r>
            <a:r>
              <a:rPr lang="en-US" sz="1500" i="1" dirty="0">
                <a:solidFill>
                  <a:prstClr val="black"/>
                </a:solidFill>
                <a:latin typeface="Calibri" panose="020F0502020204030204"/>
              </a:rPr>
              <a:t> and </a:t>
            </a:r>
            <a:r>
              <a:rPr lang="en-US" sz="1500" i="1" dirty="0" err="1">
                <a:solidFill>
                  <a:prstClr val="black"/>
                </a:solidFill>
                <a:latin typeface="Calibri" panose="020F0502020204030204"/>
              </a:rPr>
              <a:t>Serguei</a:t>
            </a:r>
            <a:r>
              <a:rPr lang="en-US" sz="15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500" i="1" dirty="0" err="1">
                <a:solidFill>
                  <a:prstClr val="black"/>
                </a:solidFill>
                <a:latin typeface="Calibri" panose="020F0502020204030204"/>
              </a:rPr>
              <a:t>Netessine</a:t>
            </a:r>
            <a:endParaRPr lang="en-US" sz="1500" i="1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1500" i="1" dirty="0">
                <a:solidFill>
                  <a:prstClr val="black"/>
                </a:solidFill>
                <a:latin typeface="Calibri" panose="020F0502020204030204"/>
              </a:rPr>
              <a:t>July–August 2014 issue of Harvard Business Review.</a:t>
            </a:r>
          </a:p>
          <a:p>
            <a:pPr defTabSz="685800"/>
            <a:endParaRPr lang="en-US" sz="1500" i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F7ABA4-008E-44D3-A7BD-4F1FFBB00BAB}"/>
              </a:ext>
            </a:extLst>
          </p:cNvPr>
          <p:cNvSpPr txBox="1"/>
          <p:nvPr/>
        </p:nvSpPr>
        <p:spPr>
          <a:xfrm>
            <a:off x="615531" y="6560750"/>
            <a:ext cx="788690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By Alinaderi158 [CC BY-SA 4.0  (https://creativecommons.org/licenses/by-sa/4.0)], from Wikimedia Commons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44EBCA-D9E4-4DA8-A747-87D3955952A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983" y="2001635"/>
            <a:ext cx="3314889" cy="27536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850" y="177514"/>
            <a:ext cx="863168" cy="1013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1235F7-B50B-400F-8443-D2B4A41E3D35}"/>
              </a:ext>
            </a:extLst>
          </p:cNvPr>
          <p:cNvSpPr txBox="1"/>
          <p:nvPr/>
        </p:nvSpPr>
        <p:spPr>
          <a:xfrm>
            <a:off x="5516474" y="4806424"/>
            <a:ext cx="34199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Incentives should focus on moving towards a </a:t>
            </a:r>
            <a:r>
              <a:rPr lang="en-US" sz="2400" b="1" dirty="0">
                <a:solidFill>
                  <a:srgbClr val="002060"/>
                </a:solidFill>
              </a:rPr>
              <a:t>tipping point </a:t>
            </a:r>
            <a:r>
              <a:rPr lang="en-US" sz="2400" dirty="0"/>
              <a:t>where  market forces drive Advanced Manufacturing</a:t>
            </a:r>
          </a:p>
        </p:txBody>
      </p:sp>
    </p:spTree>
    <p:extLst>
      <p:ext uri="{BB962C8B-B14F-4D97-AF65-F5344CB8AC3E}">
        <p14:creationId xmlns:p14="http://schemas.microsoft.com/office/powerpoint/2010/main" val="307197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36A5-130A-4B50-820C-B3C604117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412" y="4541044"/>
            <a:ext cx="2889717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44D02-EC7F-4179-8C58-7D0872A0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30" y="1403349"/>
            <a:ext cx="7886700" cy="2994025"/>
          </a:xfrm>
        </p:spPr>
        <p:txBody>
          <a:bodyPr/>
          <a:lstStyle/>
          <a:p>
            <a:pPr lvl="0"/>
            <a:r>
              <a:rPr lang="en-US" dirty="0"/>
              <a:t>What is the </a:t>
            </a:r>
            <a:r>
              <a:rPr lang="en-US" sz="3200" b="1" dirty="0"/>
              <a:t>current</a:t>
            </a:r>
            <a:r>
              <a:rPr lang="en-US" dirty="0"/>
              <a:t> technical status? What could a </a:t>
            </a:r>
            <a:r>
              <a:rPr lang="en-US" sz="3200" b="1" dirty="0"/>
              <a:t>horizon</a:t>
            </a:r>
            <a:r>
              <a:rPr lang="en-US" dirty="0"/>
              <a:t> goal process look like? </a:t>
            </a:r>
          </a:p>
          <a:p>
            <a:pPr lvl="0"/>
            <a:r>
              <a:rPr lang="en-US" dirty="0"/>
              <a:t>What are the </a:t>
            </a:r>
            <a:r>
              <a:rPr lang="en-US" sz="3200" b="1" dirty="0"/>
              <a:t>opportunities</a:t>
            </a:r>
            <a:r>
              <a:rPr lang="en-US" dirty="0"/>
              <a:t>, including business case, and </a:t>
            </a:r>
            <a:r>
              <a:rPr lang="en-US" sz="3200" b="1" dirty="0"/>
              <a:t>barriers</a:t>
            </a:r>
            <a:r>
              <a:rPr lang="en-US" dirty="0"/>
              <a:t>? </a:t>
            </a:r>
          </a:p>
          <a:p>
            <a:pPr lvl="0"/>
            <a:r>
              <a:rPr lang="en-US" dirty="0"/>
              <a:t>What </a:t>
            </a:r>
            <a:r>
              <a:rPr lang="en-US" sz="3200" b="1" dirty="0"/>
              <a:t>strategies</a:t>
            </a:r>
            <a:r>
              <a:rPr lang="en-US" dirty="0"/>
              <a:t> would help to reduce those barriers?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B28DEC-F569-48A0-AB3A-F7E12330B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050" y="13580"/>
            <a:ext cx="863168" cy="1013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5291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1027</TotalTime>
  <Words>1033</Words>
  <Application>Microsoft Macintosh PowerPoint</Application>
  <PresentationFormat>On-screen Show (4:3)</PresentationFormat>
  <Paragraphs>164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Integrated and Continuous Biologics Pharmaceutical and Vaccine Manufacturing Virtual Meeting </vt:lpstr>
      <vt:lpstr>Framing Questions</vt:lpstr>
      <vt:lpstr>Current: Emerging Technology Program</vt:lpstr>
      <vt:lpstr>Current: ETT Technology Pipeline</vt:lpstr>
      <vt:lpstr>Current: Advanced Manufacturing Research</vt:lpstr>
      <vt:lpstr>Horizon: DS</vt:lpstr>
      <vt:lpstr>Barriers &amp; Opportunities: Regulatory</vt:lpstr>
      <vt:lpstr>Opportunities: Regulatory Flexibility</vt:lpstr>
      <vt:lpstr>Barriers &amp; Opportunities: Metrics</vt:lpstr>
      <vt:lpstr>Strategies: Activation Energy</vt:lpstr>
      <vt:lpstr>Strategies: Sunk Cost Fallacy</vt:lpstr>
      <vt:lpstr>Strategy: Business Model Innovation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Kozlowski, Steven</dc:creator>
  <cp:lastModifiedBy>Coffman, Jon</cp:lastModifiedBy>
  <cp:revision>93</cp:revision>
  <dcterms:created xsi:type="dcterms:W3CDTF">2020-08-28T23:12:55Z</dcterms:created>
  <dcterms:modified xsi:type="dcterms:W3CDTF">2020-09-17T15:31:22Z</dcterms:modified>
</cp:coreProperties>
</file>