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5"/>
  </p:sldMasterIdLst>
  <p:notesMasterIdLst>
    <p:notesMasterId r:id="rId7"/>
  </p:notesMasterIdLst>
  <p:sldIdLst>
    <p:sldId id="259" r:id="rId6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rrent version" id="{A7F53A43-DDB6-4A70-9F67-EE6E91A74C9E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6475"/>
    <a:srgbClr val="FF9BB3"/>
    <a:srgbClr val="A00026"/>
    <a:srgbClr val="80185D"/>
    <a:srgbClr val="EB95CE"/>
    <a:srgbClr val="1480D1"/>
    <a:srgbClr val="6FB9F1"/>
    <a:srgbClr val="C5AFD1"/>
    <a:srgbClr val="E2D8E8"/>
    <a:srgbClr val="BF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355CE-07AF-417E-B396-5C39DFEF79ED}" v="3611" dt="2024-09-06T10:39:20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9" autoAdjust="0"/>
    <p:restoredTop sz="94598" autoAdjust="0"/>
  </p:normalViewPr>
  <p:slideViewPr>
    <p:cSldViewPr snapToGrid="0" showGuides="1">
      <p:cViewPr>
        <p:scale>
          <a:sx n="57" d="100"/>
          <a:sy n="57" d="100"/>
        </p:scale>
        <p:origin x="960" y="42"/>
      </p:cViewPr>
      <p:guideLst>
        <p:guide orient="horz" pos="13482"/>
        <p:guide pos="95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5C27B-9174-4A3D-9C0B-70D4166873E4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13495-DA17-4A50-BCA1-90C88785AF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7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D13495-DA17-4A50-BCA1-90C88785AF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85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2 column gu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Poster title"/>
          <p:cNvSpPr>
            <a:spLocks noGrp="1"/>
          </p:cNvSpPr>
          <p:nvPr>
            <p:ph type="title" hasCustomPrompt="1"/>
          </p:nvPr>
        </p:nvSpPr>
        <p:spPr>
          <a:xfrm>
            <a:off x="1045390" y="997061"/>
            <a:ext cx="28150323" cy="1203827"/>
          </a:xfrm>
          <a:prstGeom prst="rect">
            <a:avLst/>
          </a:prstGeom>
        </p:spPr>
        <p:txBody>
          <a:bodyPr/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5" name="Text Placeholder 4" descr="Authors"/>
          <p:cNvSpPr>
            <a:spLocks noGrp="1"/>
          </p:cNvSpPr>
          <p:nvPr>
            <p:ph type="body" sz="quarter" idx="17" hasCustomPrompt="1"/>
          </p:nvPr>
        </p:nvSpPr>
        <p:spPr>
          <a:xfrm>
            <a:off x="1077913" y="2957513"/>
            <a:ext cx="22983825" cy="96996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>
                <a:solidFill>
                  <a:schemeClr val="bg1"/>
                </a:solidFill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Arial bold 48pt</a:t>
            </a:r>
          </a:p>
          <a:p>
            <a:pPr lvl="0"/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1077913" y="4508500"/>
            <a:ext cx="22983825" cy="5100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 – Arial bold 28pt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0" hasCustomPrompt="1"/>
          </p:nvPr>
        </p:nvSpPr>
        <p:spPr>
          <a:xfrm>
            <a:off x="1077912" y="40955913"/>
            <a:ext cx="13552487" cy="184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 hasCustomPrompt="1"/>
          </p:nvPr>
        </p:nvSpPr>
        <p:spPr>
          <a:xfrm>
            <a:off x="15642771" y="40955913"/>
            <a:ext cx="13552942" cy="184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288014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9535" userDrawn="1">
          <p15:clr>
            <a:srgbClr val="000000"/>
          </p15:clr>
        </p15:guide>
        <p15:guide id="6" orient="horz" pos="13481" userDrawn="1">
          <p15:clr>
            <a:srgbClr val="000000"/>
          </p15:clr>
        </p15:guide>
        <p15:guide id="7" pos="9751" userDrawn="1">
          <p15:clr>
            <a:srgbClr val="FBAE40"/>
          </p15:clr>
        </p15:guide>
        <p15:guide id="8" pos="93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79446" y="1046644"/>
            <a:ext cx="28129871" cy="1037708"/>
          </a:xfrm>
          <a:prstGeom prst="rect">
            <a:avLst/>
          </a:prstGeom>
        </p:spPr>
        <p:txBody>
          <a:bodyPr/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077920" y="2980169"/>
            <a:ext cx="22983818" cy="8160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1091128" y="4540125"/>
            <a:ext cx="22970610" cy="4461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051" y="6280150"/>
            <a:ext cx="13650987" cy="33447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1077913" y="6280150"/>
            <a:ext cx="13700125" cy="33462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5510779" y="6273467"/>
            <a:ext cx="13650987" cy="33447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15510779" y="6257592"/>
            <a:ext cx="13698538" cy="33462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2" hasCustomPrompt="1"/>
          </p:nvPr>
        </p:nvSpPr>
        <p:spPr>
          <a:xfrm>
            <a:off x="1091128" y="40943213"/>
            <a:ext cx="13686910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3" hasCustomPrompt="1"/>
          </p:nvPr>
        </p:nvSpPr>
        <p:spPr>
          <a:xfrm>
            <a:off x="15510779" y="40943213"/>
            <a:ext cx="13699221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928277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9535" userDrawn="1">
          <p15:clr>
            <a:srgbClr val="000000"/>
          </p15:clr>
        </p15:guide>
        <p15:guide id="4" orient="horz" pos="13481" userDrawn="1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2 columns with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77913" y="1009640"/>
            <a:ext cx="28117800" cy="967268"/>
          </a:xfrm>
          <a:prstGeom prst="rect">
            <a:avLst/>
          </a:prstGeom>
        </p:spPr>
        <p:txBody>
          <a:bodyPr/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077913" y="2957513"/>
            <a:ext cx="22972712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1" hasCustomPrompt="1"/>
          </p:nvPr>
        </p:nvSpPr>
        <p:spPr>
          <a:xfrm>
            <a:off x="1077913" y="4508500"/>
            <a:ext cx="22972712" cy="50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7913" y="6280150"/>
            <a:ext cx="13700125" cy="16130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 hasCustomPrompt="1"/>
          </p:nvPr>
        </p:nvSpPr>
        <p:spPr>
          <a:xfrm>
            <a:off x="1077913" y="6280150"/>
            <a:ext cx="13700125" cy="16130588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077913" y="23527883"/>
            <a:ext cx="13700125" cy="1619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1077913" y="23490238"/>
            <a:ext cx="13700125" cy="16198850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15497175" y="6280150"/>
            <a:ext cx="13700125" cy="16130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15497175" y="6280150"/>
            <a:ext cx="13700125" cy="16130588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5497175" y="23490238"/>
            <a:ext cx="13700125" cy="1619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 hasCustomPrompt="1"/>
          </p:nvPr>
        </p:nvSpPr>
        <p:spPr>
          <a:xfrm>
            <a:off x="15497175" y="23528338"/>
            <a:ext cx="13698538" cy="16160750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 hasCustomPrompt="1"/>
          </p:nvPr>
        </p:nvSpPr>
        <p:spPr>
          <a:xfrm>
            <a:off x="1077912" y="40943213"/>
            <a:ext cx="13700125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15497175" y="40943213"/>
            <a:ext cx="13698538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473869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9535" userDrawn="1">
          <p15:clr>
            <a:srgbClr val="000000"/>
          </p15:clr>
        </p15:guide>
        <p15:guide id="6" orient="horz" pos="13481" userDrawn="1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1077914" y="1018104"/>
            <a:ext cx="28119092" cy="935518"/>
          </a:xfrm>
          <a:prstGeom prst="rect">
            <a:avLst/>
          </a:prstGeom>
        </p:spPr>
        <p:txBody>
          <a:bodyPr/>
          <a:lstStyle>
            <a:lvl1pPr>
              <a:defRPr sz="72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077913" y="2957513"/>
            <a:ext cx="22983825" cy="7525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7913" y="4498015"/>
            <a:ext cx="22983825" cy="538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7687" y="6280150"/>
            <a:ext cx="28118026" cy="6840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5" hasCustomPrompt="1"/>
          </p:nvPr>
        </p:nvSpPr>
        <p:spPr>
          <a:xfrm>
            <a:off x="1077913" y="6280149"/>
            <a:ext cx="28117800" cy="6840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</a:lstStyle>
          <a:p>
            <a:pPr lvl="0"/>
            <a:r>
              <a:rPr lang="en-GB" dirty="0"/>
              <a:t>Click here to add text or choose graphic icon below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687" y="13876338"/>
            <a:ext cx="13700351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1077687" y="13873276"/>
            <a:ext cx="13700352" cy="10693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1077687" y="25253950"/>
            <a:ext cx="13700351" cy="10669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077913" y="25253950"/>
            <a:ext cx="13700125" cy="106695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1" name="Rectangle 20"/>
          <p:cNvSpPr/>
          <p:nvPr/>
        </p:nvSpPr>
        <p:spPr>
          <a:xfrm>
            <a:off x="15497175" y="13876338"/>
            <a:ext cx="13698538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5529832" y="13908768"/>
            <a:ext cx="13698538" cy="10693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3" name="Rectangle 22"/>
          <p:cNvSpPr/>
          <p:nvPr/>
        </p:nvSpPr>
        <p:spPr>
          <a:xfrm>
            <a:off x="15497175" y="25253950"/>
            <a:ext cx="13698538" cy="10669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 hasCustomPrompt="1"/>
          </p:nvPr>
        </p:nvSpPr>
        <p:spPr>
          <a:xfrm>
            <a:off x="15529832" y="25253950"/>
            <a:ext cx="13698538" cy="106695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4" name="Rectangle 23"/>
          <p:cNvSpPr/>
          <p:nvPr/>
        </p:nvSpPr>
        <p:spPr>
          <a:xfrm>
            <a:off x="1077687" y="36542663"/>
            <a:ext cx="28150683" cy="3184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6" hasCustomPrompt="1"/>
          </p:nvPr>
        </p:nvSpPr>
        <p:spPr>
          <a:xfrm>
            <a:off x="1077913" y="36542663"/>
            <a:ext cx="28117800" cy="3184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</a:lstStyle>
          <a:p>
            <a:pPr lvl="0"/>
            <a:r>
              <a:rPr lang="en-GB" dirty="0"/>
              <a:t>Click here to add text or choose graphic icon below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7912" y="40943213"/>
            <a:ext cx="13700125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24" hasCustomPrompt="1"/>
          </p:nvPr>
        </p:nvSpPr>
        <p:spPr>
          <a:xfrm>
            <a:off x="15497175" y="40943213"/>
            <a:ext cx="13731875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263290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9535" userDrawn="1">
          <p15:clr>
            <a:srgbClr val="000000"/>
          </p15:clr>
        </p15:guide>
        <p15:guide id="7" orient="horz" pos="13481" userDrawn="1">
          <p15:clr>
            <a:srgbClr val="000000"/>
          </p15:clr>
        </p15:guide>
        <p15:guide id="8" orient="horz" pos="8719" userDrawn="1">
          <p15:clr>
            <a:srgbClr val="FBAE40"/>
          </p15:clr>
        </p15:guide>
        <p15:guide id="9" orient="horz" pos="15908" userDrawn="1">
          <p15:clr>
            <a:srgbClr val="FBAE40"/>
          </p15:clr>
        </p15:guide>
        <p15:guide id="10" orient="horz" pos="2300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5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77913" y="1005645"/>
            <a:ext cx="28117800" cy="967268"/>
          </a:xfrm>
          <a:prstGeom prst="rect">
            <a:avLst/>
          </a:prstGeom>
        </p:spPr>
        <p:txBody>
          <a:bodyPr/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089025" y="2957513"/>
            <a:ext cx="22972713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111250" y="4508500"/>
            <a:ext cx="22950488" cy="50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7913" y="6280150"/>
            <a:ext cx="28117800" cy="6840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5" hasCustomPrompt="1"/>
          </p:nvPr>
        </p:nvSpPr>
        <p:spPr>
          <a:xfrm>
            <a:off x="1111250" y="6280150"/>
            <a:ext cx="28084463" cy="6840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</a:lstStyle>
          <a:p>
            <a:pPr lvl="0"/>
            <a:r>
              <a:rPr lang="en-GB" dirty="0"/>
              <a:t>Click here to add text or choose graphic icon below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0797" y="13876338"/>
            <a:ext cx="13667241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1077912" y="13876338"/>
            <a:ext cx="13700125" cy="10693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1110797" y="25253950"/>
            <a:ext cx="13667241" cy="14473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2" hasCustomPrompt="1"/>
          </p:nvPr>
        </p:nvSpPr>
        <p:spPr>
          <a:xfrm>
            <a:off x="1089532" y="25253950"/>
            <a:ext cx="13700125" cy="144732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1" name="Rectangle 20"/>
          <p:cNvSpPr/>
          <p:nvPr/>
        </p:nvSpPr>
        <p:spPr>
          <a:xfrm>
            <a:off x="15511462" y="13888244"/>
            <a:ext cx="13717135" cy="22035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 hasCustomPrompt="1"/>
          </p:nvPr>
        </p:nvSpPr>
        <p:spPr>
          <a:xfrm>
            <a:off x="15528926" y="13888244"/>
            <a:ext cx="13683570" cy="2204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3" name="Rectangle 22"/>
          <p:cNvSpPr/>
          <p:nvPr/>
        </p:nvSpPr>
        <p:spPr>
          <a:xfrm>
            <a:off x="15523081" y="36542663"/>
            <a:ext cx="13672632" cy="3184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6" hasCustomPrompt="1"/>
          </p:nvPr>
        </p:nvSpPr>
        <p:spPr>
          <a:xfrm>
            <a:off x="15522575" y="36542663"/>
            <a:ext cx="13673138" cy="3184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</a:lstStyle>
          <a:p>
            <a:pPr lvl="0"/>
            <a:r>
              <a:rPr lang="en-GB" dirty="0"/>
              <a:t>Click here to add text or choose graphic icon below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077913" y="40943213"/>
            <a:ext cx="13700124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4" hasCustomPrompt="1"/>
          </p:nvPr>
        </p:nvSpPr>
        <p:spPr>
          <a:xfrm>
            <a:off x="15528926" y="40943213"/>
            <a:ext cx="13666787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1118900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9535" userDrawn="1">
          <p15:clr>
            <a:srgbClr val="000000"/>
          </p15:clr>
        </p15:guide>
        <p15:guide id="4" orient="horz" pos="13481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0 Portrait Poster - 6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77913" y="999837"/>
            <a:ext cx="28111043" cy="979288"/>
          </a:xfrm>
          <a:prstGeom prst="rect">
            <a:avLst/>
          </a:prstGeom>
        </p:spPr>
        <p:txBody>
          <a:bodyPr/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077913" y="2957513"/>
            <a:ext cx="22983825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1077913" y="4508500"/>
            <a:ext cx="22983825" cy="50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7913" y="6280151"/>
            <a:ext cx="10350500" cy="14489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6" hasCustomPrompt="1"/>
          </p:nvPr>
        </p:nvSpPr>
        <p:spPr>
          <a:xfrm>
            <a:off x="1077913" y="6268130"/>
            <a:ext cx="10350500" cy="14489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0" name="Rectangle 29"/>
          <p:cNvSpPr/>
          <p:nvPr/>
        </p:nvSpPr>
        <p:spPr>
          <a:xfrm>
            <a:off x="12142381" y="6268130"/>
            <a:ext cx="17053106" cy="18301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2" hasCustomPrompt="1"/>
          </p:nvPr>
        </p:nvSpPr>
        <p:spPr>
          <a:xfrm>
            <a:off x="12149138" y="6280151"/>
            <a:ext cx="17046575" cy="182895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1" name="Rectangle 30"/>
          <p:cNvSpPr/>
          <p:nvPr/>
        </p:nvSpPr>
        <p:spPr>
          <a:xfrm>
            <a:off x="1077687" y="21390429"/>
            <a:ext cx="10350726" cy="10740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3" hasCustomPrompt="1"/>
          </p:nvPr>
        </p:nvSpPr>
        <p:spPr>
          <a:xfrm>
            <a:off x="1077913" y="21390429"/>
            <a:ext cx="10350500" cy="107525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2" name="Rectangle 31"/>
          <p:cNvSpPr/>
          <p:nvPr/>
        </p:nvSpPr>
        <p:spPr>
          <a:xfrm>
            <a:off x="12149138" y="25253950"/>
            <a:ext cx="17046575" cy="6877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4" hasCustomPrompt="1"/>
          </p:nvPr>
        </p:nvSpPr>
        <p:spPr>
          <a:xfrm>
            <a:off x="12142381" y="25265970"/>
            <a:ext cx="17046575" cy="68770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3" name="Rectangle 32"/>
          <p:cNvSpPr/>
          <p:nvPr/>
        </p:nvSpPr>
        <p:spPr>
          <a:xfrm>
            <a:off x="1077913" y="32839251"/>
            <a:ext cx="14058900" cy="6913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7" hasCustomPrompt="1"/>
          </p:nvPr>
        </p:nvSpPr>
        <p:spPr>
          <a:xfrm>
            <a:off x="1077913" y="32815211"/>
            <a:ext cx="14058900" cy="691197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4" name="Rectangle 33"/>
          <p:cNvSpPr/>
          <p:nvPr/>
        </p:nvSpPr>
        <p:spPr>
          <a:xfrm>
            <a:off x="16099971" y="32815211"/>
            <a:ext cx="13079073" cy="6937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16099971" y="32815212"/>
            <a:ext cx="13079073" cy="691197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077912" y="40943213"/>
            <a:ext cx="13487173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15708086" y="40943213"/>
            <a:ext cx="13481277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288048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9535" userDrawn="1">
          <p15:clr>
            <a:srgbClr val="000000"/>
          </p15:clr>
        </p15:guide>
        <p15:guide id="6" orient="horz" pos="13481" userDrawn="1">
          <p15:clr>
            <a:srgbClr val="00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3 column gu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77913" y="1032569"/>
            <a:ext cx="28117800" cy="1110677"/>
          </a:xfrm>
          <a:prstGeom prst="rect">
            <a:avLst/>
          </a:prstGeom>
        </p:spPr>
        <p:txBody>
          <a:bodyPr/>
          <a:lstStyle>
            <a:lvl1pPr>
              <a:defRPr sz="72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77913" y="2968625"/>
            <a:ext cx="22983825" cy="7315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1077913" y="4516438"/>
            <a:ext cx="22983825" cy="565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5" hasCustomPrompt="1"/>
          </p:nvPr>
        </p:nvSpPr>
        <p:spPr>
          <a:xfrm>
            <a:off x="1077913" y="40943214"/>
            <a:ext cx="13487400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6" hasCustomPrompt="1"/>
          </p:nvPr>
        </p:nvSpPr>
        <p:spPr>
          <a:xfrm>
            <a:off x="15708313" y="40892820"/>
            <a:ext cx="13487400" cy="19109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4227065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2363">
          <p15:clr>
            <a:srgbClr val="FBAE40"/>
          </p15:clr>
        </p15:guide>
        <p15:guide id="10" pos="6270" userDrawn="1">
          <p15:clr>
            <a:srgbClr val="FBAE40"/>
          </p15:clr>
        </p15:guide>
        <p15:guide id="11" pos="6768" userDrawn="1">
          <p15:clr>
            <a:srgbClr val="FBAE40"/>
          </p15:clr>
        </p15:guide>
        <p15:guide id="12" pos="12348" userDrawn="1">
          <p15:clr>
            <a:srgbClr val="FBAE40"/>
          </p15:clr>
        </p15:guide>
        <p15:guide id="13" pos="12775" userDrawn="1">
          <p15:clr>
            <a:srgbClr val="FBAE40"/>
          </p15:clr>
        </p15:guide>
        <p15:guide id="14" pos="9535" userDrawn="1">
          <p15:clr>
            <a:srgbClr val="000000"/>
          </p15:clr>
        </p15:guide>
        <p15:guide id="15" orient="horz" pos="13481" userDrawn="1">
          <p15:clr>
            <a:srgbClr val="000000"/>
          </p15:clr>
        </p15:guide>
        <p15:guide id="16" orient="horz" pos="25774" userDrawn="1">
          <p15:clr>
            <a:srgbClr val="FBAE40"/>
          </p15:clr>
        </p15:guide>
        <p15:guide id="17" orient="horz" pos="64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0 Portrait Poster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9663" y="1010019"/>
            <a:ext cx="28086050" cy="967268"/>
          </a:xfrm>
          <a:prstGeom prst="rect">
            <a:avLst/>
          </a:prstGeom>
        </p:spPr>
        <p:txBody>
          <a:bodyPr/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– Arial bold 72pt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077913" y="2957513"/>
            <a:ext cx="22983825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authors – Arial bold 48pt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077913" y="4508500"/>
            <a:ext cx="22983825" cy="50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affiliations – Arial bold 28pt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4061738" y="2959555"/>
            <a:ext cx="6218918" cy="244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Keep this area clear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343" y="6280150"/>
            <a:ext cx="8849632" cy="33447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1109663" y="6280150"/>
            <a:ext cx="8850312" cy="33447038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0744881" y="6280150"/>
            <a:ext cx="8849632" cy="33447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10744200" y="6280150"/>
            <a:ext cx="8850313" cy="33430936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0346081" y="6280150"/>
            <a:ext cx="8849632" cy="33447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20280313" y="6280150"/>
            <a:ext cx="8915400" cy="33430936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/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2" hasCustomPrompt="1"/>
          </p:nvPr>
        </p:nvSpPr>
        <p:spPr>
          <a:xfrm>
            <a:off x="1077912" y="40943213"/>
            <a:ext cx="13552487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3" hasCustomPrompt="1"/>
          </p:nvPr>
        </p:nvSpPr>
        <p:spPr>
          <a:xfrm>
            <a:off x="15642771" y="40943213"/>
            <a:ext cx="13552942" cy="186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                                                                                       Add collaborator logos here</a:t>
            </a:r>
          </a:p>
        </p:txBody>
      </p:sp>
    </p:spTree>
    <p:extLst>
      <p:ext uri="{BB962C8B-B14F-4D97-AF65-F5344CB8AC3E}">
        <p14:creationId xmlns:p14="http://schemas.microsoft.com/office/powerpoint/2010/main" val="1576855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9535" userDrawn="1">
          <p15:clr>
            <a:srgbClr val="000000"/>
          </p15:clr>
        </p15:guide>
        <p15:guide id="4" orient="horz" pos="13481" userDrawn="1">
          <p15:clr>
            <a:srgbClr val="00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Colour Pa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58785" y="1358839"/>
            <a:ext cx="27440169" cy="1569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0" lang="en-US" sz="9599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UCL Colour palette – colour values and tints</a:t>
            </a:r>
            <a:endParaRPr lang="en-GB" sz="1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22"/>
          <a:stretch/>
        </p:blipFill>
        <p:spPr>
          <a:xfrm>
            <a:off x="2188251" y="6280149"/>
            <a:ext cx="26092830" cy="3343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7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864">
              <a:srgbClr val="5192A2"/>
            </a:gs>
            <a:gs pos="0">
              <a:srgbClr val="003D4C"/>
            </a:gs>
            <a:gs pos="14000">
              <a:schemeClr val="tx2">
                <a:lumMod val="5000"/>
                <a:lumOff val="95000"/>
              </a:schemeClr>
            </a:gs>
            <a:gs pos="52000">
              <a:srgbClr val="A8EEFF"/>
            </a:gs>
            <a:gs pos="100000">
              <a:srgbClr val="003D4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CL Banner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7" y="0"/>
            <a:ext cx="30276000" cy="5608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2" name="Rectangle 41"/>
          <p:cNvSpPr/>
          <p:nvPr/>
        </p:nvSpPr>
        <p:spPr>
          <a:xfrm>
            <a:off x="-1" y="40625486"/>
            <a:ext cx="30276000" cy="2500170"/>
          </a:xfrm>
          <a:prstGeom prst="rect">
            <a:avLst/>
          </a:prstGeom>
          <a:solidFill>
            <a:srgbClr val="003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00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7" pos="679" userDrawn="1">
          <p15:clr>
            <a:srgbClr val="F26B43"/>
          </p15:clr>
        </p15:guide>
        <p15:guide id="38" pos="18391" userDrawn="1">
          <p15:clr>
            <a:srgbClr val="F26B43"/>
          </p15:clr>
        </p15:guide>
        <p15:guide id="39" orient="horz" pos="3956" userDrawn="1">
          <p15:clr>
            <a:srgbClr val="F26B43"/>
          </p15:clr>
        </p15:guide>
        <p15:guide id="40" orient="horz" pos="250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emf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5" Type="http://schemas.openxmlformats.org/officeDocument/2006/relationships/image" Target="../media/image15.emf"/><Relationship Id="rId10" Type="http://schemas.openxmlformats.org/officeDocument/2006/relationships/image" Target="../media/image10.emf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4000">
              <a:schemeClr val="tx2">
                <a:lumMod val="5000"/>
                <a:lumOff val="95000"/>
              </a:schemeClr>
            </a:gs>
            <a:gs pos="52000">
              <a:schemeClr val="tx2">
                <a:lumMod val="20000"/>
                <a:lumOff val="80000"/>
              </a:schemeClr>
            </a:gs>
            <a:gs pos="95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E0A5291-A4DC-4A43-A807-2661480B5967}"/>
              </a:ext>
            </a:extLst>
          </p:cNvPr>
          <p:cNvSpPr/>
          <p:nvPr/>
        </p:nvSpPr>
        <p:spPr>
          <a:xfrm>
            <a:off x="1025586" y="14163744"/>
            <a:ext cx="28434269" cy="20193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effectLst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DF2181-757B-4CFF-858F-B750544D05D9}"/>
              </a:ext>
            </a:extLst>
          </p:cNvPr>
          <p:cNvSpPr/>
          <p:nvPr/>
        </p:nvSpPr>
        <p:spPr>
          <a:xfrm>
            <a:off x="1025586" y="6767230"/>
            <a:ext cx="13381829" cy="605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effectLst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4C226-4F19-4D59-BBF2-28898A4C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912" y="490719"/>
            <a:ext cx="28375111" cy="3093112"/>
          </a:xfrm>
        </p:spPr>
        <p:txBody>
          <a:bodyPr/>
          <a:lstStyle/>
          <a:p>
            <a:pPr algn="just"/>
            <a:r>
              <a:rPr lang="en-GB" sz="8800" cap="all" dirty="0">
                <a:latin typeface="Calibri" panose="020F0502020204030204" pitchFamily="34" charset="0"/>
                <a:cs typeface="Calibri" panose="020F0502020204030204" pitchFamily="34" charset="0"/>
              </a:rPr>
              <a:t>Early Manufacturing Insights and Clone Selection for perfusion processes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2C740-2609-4E75-8E71-1617F2FA3F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77912" y="3038637"/>
            <a:ext cx="22983825" cy="969962"/>
          </a:xfrm>
        </p:spPr>
        <p:txBody>
          <a:bodyPr/>
          <a:lstStyle/>
          <a:p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Marie Dorn</a:t>
            </a:r>
            <a:r>
              <a:rPr lang="en-GB" u="sng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Kerensa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Klottrup-Rees</a:t>
            </a:r>
            <a:r>
              <a:rPr lang="en-GB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Kenneth Lee</a:t>
            </a:r>
            <a:r>
              <a:rPr lang="en-GB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Martina Micheletti</a:t>
            </a:r>
            <a:r>
              <a:rPr lang="en-GB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83A51-A96F-4836-86A1-52671F5776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7913" y="4008599"/>
            <a:ext cx="22983824" cy="133918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b="0" baseline="30000" dirty="0">
                <a:latin typeface="+mj-lt"/>
                <a:cs typeface="Calibri" panose="020F0502020204030204" pitchFamily="34" charset="0"/>
              </a:rPr>
              <a:t>1</a:t>
            </a:r>
            <a:r>
              <a:rPr lang="en-GB" b="0" dirty="0">
                <a:latin typeface="+mj-lt"/>
                <a:cs typeface="Calibri" panose="020F0502020204030204" pitchFamily="34" charset="0"/>
              </a:rPr>
              <a:t>Department of Biochemical Engineering, University College London, UK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b="0" baseline="30000" dirty="0">
                <a:latin typeface="+mj-lt"/>
                <a:cs typeface="Calibri" panose="020F0502020204030204" pitchFamily="34" charset="0"/>
              </a:rPr>
              <a:t>2</a:t>
            </a:r>
            <a:r>
              <a:rPr lang="en-GB" b="0" dirty="0">
                <a:latin typeface="+mj-lt"/>
                <a:cs typeface="Calibri" panose="020F0502020204030204" pitchFamily="34" charset="0"/>
              </a:rPr>
              <a:t>Cell Culture and Fermentation Sciences, Biopharmaceutical Development, R&amp;D, AstraZeneca, Cambridge, UK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b="0" baseline="30000" dirty="0">
                <a:latin typeface="+mj-lt"/>
                <a:cs typeface="Calibri" panose="020F0502020204030204" pitchFamily="34" charset="0"/>
              </a:rPr>
              <a:t>3</a:t>
            </a:r>
            <a:r>
              <a:rPr lang="en-GB" b="0" dirty="0">
                <a:latin typeface="+mj-lt"/>
                <a:cs typeface="Calibri" panose="020F0502020204030204" pitchFamily="34" charset="0"/>
              </a:rPr>
              <a:t>Bioprocess Technologies and Engineering, Biopharmaceutical Development, R&amp;D, AstraZeneca, Gaithersburg, Maryland, USA	</a:t>
            </a:r>
            <a:endParaRPr lang="en-GB" b="0" baseline="300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6F6A4A7A-F0E7-471B-9146-5A4636F46431}"/>
              </a:ext>
            </a:extLst>
          </p:cNvPr>
          <p:cNvSpPr/>
          <p:nvPr/>
        </p:nvSpPr>
        <p:spPr>
          <a:xfrm>
            <a:off x="1025586" y="13292225"/>
            <a:ext cx="28434269" cy="969962"/>
          </a:xfrm>
          <a:prstGeom prst="round2Same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8E8D58-F037-49E6-AFDD-B85E3BED51D8}"/>
              </a:ext>
            </a:extLst>
          </p:cNvPr>
          <p:cNvSpPr/>
          <p:nvPr/>
        </p:nvSpPr>
        <p:spPr>
          <a:xfrm>
            <a:off x="1025586" y="35794590"/>
            <a:ext cx="13342959" cy="525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effectLst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77" name="Picture 7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F8A1EBB-9251-44F7-9345-422358CA07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6" r="4582" b="12098"/>
          <a:stretch/>
        </p:blipFill>
        <p:spPr>
          <a:xfrm>
            <a:off x="19149739" y="41435763"/>
            <a:ext cx="4427404" cy="1368000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B56833BE-B3E2-415B-B488-05A249B9357E}"/>
              </a:ext>
            </a:extLst>
          </p:cNvPr>
          <p:cNvSpPr/>
          <p:nvPr/>
        </p:nvSpPr>
        <p:spPr>
          <a:xfrm>
            <a:off x="23980656" y="41435763"/>
            <a:ext cx="5472000" cy="136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effectLst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79" name="Picture 7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C776E438-E177-490B-9FFB-97A847D86BC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3036" y="41441242"/>
            <a:ext cx="5472000" cy="1368000"/>
          </a:xfrm>
          <a:prstGeom prst="rect">
            <a:avLst/>
          </a:prstGeom>
        </p:spPr>
      </p:pic>
      <p:sp>
        <p:nvSpPr>
          <p:cNvPr id="83" name="Rectangle: Top Corners Rounded 82">
            <a:extLst>
              <a:ext uri="{FF2B5EF4-FFF2-40B4-BE49-F238E27FC236}">
                <a16:creationId xmlns:a16="http://schemas.microsoft.com/office/drawing/2014/main" id="{2C4C1303-D2D2-4045-8123-366C79C46BDF}"/>
              </a:ext>
            </a:extLst>
          </p:cNvPr>
          <p:cNvSpPr/>
          <p:nvPr/>
        </p:nvSpPr>
        <p:spPr>
          <a:xfrm>
            <a:off x="1025586" y="5858474"/>
            <a:ext cx="13382207" cy="969962"/>
          </a:xfrm>
          <a:prstGeom prst="round2Same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FF0630F-560A-441A-BF90-5DF0DDB95F1B}"/>
              </a:ext>
            </a:extLst>
          </p:cNvPr>
          <p:cNvSpPr/>
          <p:nvPr/>
        </p:nvSpPr>
        <p:spPr>
          <a:xfrm>
            <a:off x="14778636" y="35794590"/>
            <a:ext cx="14666400" cy="5254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effectLst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02" name="Rectangle: Top Corners Rounded 101">
            <a:extLst>
              <a:ext uri="{FF2B5EF4-FFF2-40B4-BE49-F238E27FC236}">
                <a16:creationId xmlns:a16="http://schemas.microsoft.com/office/drawing/2014/main" id="{AFC3A467-64FD-424B-BDEB-9435CD39AC95}"/>
              </a:ext>
            </a:extLst>
          </p:cNvPr>
          <p:cNvSpPr/>
          <p:nvPr/>
        </p:nvSpPr>
        <p:spPr>
          <a:xfrm>
            <a:off x="14786256" y="34976726"/>
            <a:ext cx="14666400" cy="969962"/>
          </a:xfrm>
          <a:prstGeom prst="round2Same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chemeClr val="bg1"/>
                </a:solidFill>
              </a:rPr>
              <a:t>Impact and Outlook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B8DEB93-4B18-4CA9-AFAF-E90F6AAD78E6}"/>
              </a:ext>
            </a:extLst>
          </p:cNvPr>
          <p:cNvSpPr/>
          <p:nvPr/>
        </p:nvSpPr>
        <p:spPr>
          <a:xfrm>
            <a:off x="14786256" y="6787516"/>
            <a:ext cx="14666767" cy="6035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2800" dirty="0"/>
              <a:t>(1) bioreactor, (2) cell and product removal, (3) cell retention device, (4) cell recirculation, (5) medium feed, (6) product removal</a:t>
            </a:r>
          </a:p>
        </p:txBody>
      </p:sp>
      <p:sp>
        <p:nvSpPr>
          <p:cNvPr id="85" name="Rectangle: Top Corners Rounded 84">
            <a:extLst>
              <a:ext uri="{FF2B5EF4-FFF2-40B4-BE49-F238E27FC236}">
                <a16:creationId xmlns:a16="http://schemas.microsoft.com/office/drawing/2014/main" id="{72C691E8-2136-4BDC-8253-C615284A41D8}"/>
              </a:ext>
            </a:extLst>
          </p:cNvPr>
          <p:cNvSpPr/>
          <p:nvPr/>
        </p:nvSpPr>
        <p:spPr>
          <a:xfrm>
            <a:off x="14786256" y="5852596"/>
            <a:ext cx="14666767" cy="969962"/>
          </a:xfrm>
          <a:prstGeom prst="round2Same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chemeClr val="bg1"/>
                </a:solidFill>
              </a:rPr>
              <a:t>Knowledge gap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258D8E0-3B44-AC4C-07FC-1B5051231D62}"/>
              </a:ext>
            </a:extLst>
          </p:cNvPr>
          <p:cNvSpPr/>
          <p:nvPr/>
        </p:nvSpPr>
        <p:spPr>
          <a:xfrm>
            <a:off x="1277603" y="14462128"/>
            <a:ext cx="13860000" cy="9828000"/>
          </a:xfrm>
          <a:prstGeom prst="roundRect">
            <a:avLst>
              <a:gd name="adj" fmla="val 11395"/>
            </a:avLst>
          </a:prstGeom>
          <a:solidFill>
            <a:schemeClr val="bg1"/>
          </a:solidFill>
          <a:ln w="57150">
            <a:solidFill>
              <a:srgbClr val="2958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D69BFB-BB93-96C1-F517-EE61CD3605E5}"/>
              </a:ext>
            </a:extLst>
          </p:cNvPr>
          <p:cNvSpPr/>
          <p:nvPr/>
        </p:nvSpPr>
        <p:spPr>
          <a:xfrm>
            <a:off x="15389627" y="14454975"/>
            <a:ext cx="13860000" cy="9828000"/>
          </a:xfrm>
          <a:prstGeom prst="roundRect">
            <a:avLst>
              <a:gd name="adj" fmla="val 11705"/>
            </a:avLst>
          </a:prstGeom>
          <a:solidFill>
            <a:schemeClr val="bg1"/>
          </a:solidFill>
          <a:ln w="57150">
            <a:solidFill>
              <a:srgbClr val="1480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27BD802-034D-87BA-7D56-111BABEB400E}"/>
              </a:ext>
            </a:extLst>
          </p:cNvPr>
          <p:cNvSpPr/>
          <p:nvPr/>
        </p:nvSpPr>
        <p:spPr>
          <a:xfrm>
            <a:off x="1227827" y="24395669"/>
            <a:ext cx="13858388" cy="9828000"/>
          </a:xfrm>
          <a:prstGeom prst="roundRect">
            <a:avLst>
              <a:gd name="adj" fmla="val 11203"/>
            </a:avLst>
          </a:prstGeom>
          <a:solidFill>
            <a:schemeClr val="bg1"/>
          </a:solidFill>
          <a:ln w="57150">
            <a:solidFill>
              <a:srgbClr val="801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582AF3B-9A29-E9E3-2765-796BA3679481}"/>
              </a:ext>
            </a:extLst>
          </p:cNvPr>
          <p:cNvSpPr/>
          <p:nvPr/>
        </p:nvSpPr>
        <p:spPr>
          <a:xfrm>
            <a:off x="15303696" y="24408374"/>
            <a:ext cx="13860000" cy="9828000"/>
          </a:xfrm>
          <a:prstGeom prst="roundRect">
            <a:avLst>
              <a:gd name="adj" fmla="val 11642"/>
            </a:avLst>
          </a:prstGeom>
          <a:solidFill>
            <a:schemeClr val="bg1"/>
          </a:solidFill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: Top Corners Rounded 109">
            <a:extLst>
              <a:ext uri="{FF2B5EF4-FFF2-40B4-BE49-F238E27FC236}">
                <a16:creationId xmlns:a16="http://schemas.microsoft.com/office/drawing/2014/main" id="{DB74A54B-1C3C-16B9-F787-A142853DA119}"/>
              </a:ext>
            </a:extLst>
          </p:cNvPr>
          <p:cNvSpPr/>
          <p:nvPr/>
        </p:nvSpPr>
        <p:spPr>
          <a:xfrm>
            <a:off x="1025586" y="34974779"/>
            <a:ext cx="13342959" cy="969962"/>
          </a:xfrm>
          <a:prstGeom prst="round2Same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chemeClr val="bg1"/>
                </a:solidFill>
              </a:rPr>
              <a:t>Validation studies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933B85D-FE56-E7F5-BFE1-E02FEF6D133F}"/>
              </a:ext>
            </a:extLst>
          </p:cNvPr>
          <p:cNvSpPr/>
          <p:nvPr/>
        </p:nvSpPr>
        <p:spPr>
          <a:xfrm>
            <a:off x="18056543" y="24595138"/>
            <a:ext cx="9000000" cy="720000"/>
          </a:xfrm>
          <a:prstGeom prst="roundRect">
            <a:avLst/>
          </a:prstGeom>
          <a:solidFill>
            <a:srgbClr val="FF9BB3"/>
          </a:solidFill>
          <a:ln w="19050" cap="flat" cmpd="sng" algn="ctr">
            <a:solidFill>
              <a:srgbClr val="A0002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reproducible are the rankings?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675AE1-581D-3CA8-7DCB-D7C5D103CF70}"/>
              </a:ext>
            </a:extLst>
          </p:cNvPr>
          <p:cNvSpPr/>
          <p:nvPr/>
        </p:nvSpPr>
        <p:spPr>
          <a:xfrm>
            <a:off x="17516543" y="33386554"/>
            <a:ext cx="10080000" cy="720000"/>
          </a:xfrm>
          <a:prstGeom prst="roundRect">
            <a:avLst/>
          </a:prstGeom>
          <a:solidFill>
            <a:srgbClr val="FF9BB3"/>
          </a:solidFill>
          <a:ln w="19050" cap="flat" cmpd="sng" algn="ctr">
            <a:solidFill>
              <a:schemeClr val="accent3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Reproducible;</a:t>
            </a:r>
            <a:r>
              <a:rPr kumimoji="0" lang="en-GB" sz="32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increased consistency with MI</a:t>
            </a:r>
            <a:r>
              <a:rPr kumimoji="0" lang="en-GB" sz="3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CL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 strategy</a:t>
            </a:r>
            <a:endParaRPr kumimoji="0" lang="en-GB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88CF92-09D2-1F24-64DB-C90A3010BD4E}"/>
              </a:ext>
            </a:extLst>
          </p:cNvPr>
          <p:cNvSpPr txBox="1"/>
          <p:nvPr/>
        </p:nvSpPr>
        <p:spPr>
          <a:xfrm>
            <a:off x="1077912" y="6841365"/>
            <a:ext cx="13224425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u="sng" dirty="0"/>
              <a:t>Perfusion processes: Goals &amp; parameters</a:t>
            </a:r>
          </a:p>
          <a:p>
            <a:endParaRPr lang="en-GB" sz="3000" dirty="0">
              <a:sym typeface="Wingdings" panose="05000000000000000000" pitchFamily="2" charset="2"/>
            </a:endParaRPr>
          </a:p>
          <a:p>
            <a:endParaRPr lang="en-GB" sz="3000" dirty="0">
              <a:sym typeface="Wingdings" panose="05000000000000000000" pitchFamily="2" charset="2"/>
            </a:endParaRPr>
          </a:p>
          <a:p>
            <a:endParaRPr lang="en-GB" sz="3000" dirty="0">
              <a:sym typeface="Wingdings" panose="05000000000000000000" pitchFamily="2" charset="2"/>
            </a:endParaRPr>
          </a:p>
          <a:p>
            <a:endParaRPr lang="en-GB" sz="3000" dirty="0">
              <a:sym typeface="Wingdings" panose="05000000000000000000" pitchFamily="2" charset="2"/>
            </a:endParaRPr>
          </a:p>
          <a:p>
            <a:endParaRPr lang="en-GB" sz="2000" dirty="0">
              <a:sym typeface="Wingdings" panose="05000000000000000000" pitchFamily="2" charset="2"/>
            </a:endParaRPr>
          </a:p>
          <a:p>
            <a:endParaRPr lang="en-GB" sz="1500" dirty="0">
              <a:sym typeface="Wingdings" panose="05000000000000000000" pitchFamily="2" charset="2"/>
            </a:endParaRPr>
          </a:p>
          <a:p>
            <a:pPr algn="just"/>
            <a:r>
              <a:rPr lang="en-GB" sz="3000" b="1" u="sng" dirty="0"/>
              <a:t>Challenge: Process development &amp; optimisation</a:t>
            </a:r>
          </a:p>
          <a:p>
            <a:pPr algn="just"/>
            <a:r>
              <a:rPr lang="en-GB" sz="3000" dirty="0"/>
              <a:t>Complex processes due to several parameters including various process flow rates</a:t>
            </a:r>
          </a:p>
          <a:p>
            <a:pPr algn="just"/>
            <a:endParaRPr lang="en-GB" sz="1500" dirty="0"/>
          </a:p>
          <a:p>
            <a:pPr algn="just"/>
            <a:r>
              <a:rPr lang="en-GB" sz="3000" b="1" u="sng" dirty="0"/>
              <a:t>Solution: Scale down models</a:t>
            </a:r>
          </a:p>
          <a:p>
            <a:pPr algn="just">
              <a:spcAft>
                <a:spcPts val="600"/>
              </a:spcAft>
            </a:pPr>
            <a:r>
              <a:rPr lang="en-GB" sz="3000" dirty="0"/>
              <a:t>SDMs are utilised for high-throughput parameter screenings</a:t>
            </a:r>
          </a:p>
          <a:p>
            <a:pPr algn="just">
              <a:spcAft>
                <a:spcPts val="600"/>
              </a:spcAft>
            </a:pPr>
            <a:r>
              <a:rPr lang="en-GB" sz="3000" dirty="0"/>
              <a:t>Microwell plates (MWP) operated in semi-perfusion mode showed good representation of growth &amp; titre to 5L perfusion bioreactor (Tregidgo et. al., 2023)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C8A1BDC-27FA-DE1A-946A-81ED0722739B}"/>
              </a:ext>
            </a:extLst>
          </p:cNvPr>
          <p:cNvSpPr/>
          <p:nvPr/>
        </p:nvSpPr>
        <p:spPr>
          <a:xfrm>
            <a:off x="15244931" y="7064342"/>
            <a:ext cx="3348000" cy="10800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Screening in MWP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F0F3925-F5E3-5E2E-3721-85117ED2C6A5}"/>
              </a:ext>
            </a:extLst>
          </p:cNvPr>
          <p:cNvSpPr/>
          <p:nvPr/>
        </p:nvSpPr>
        <p:spPr>
          <a:xfrm>
            <a:off x="16587403" y="8537258"/>
            <a:ext cx="3348000" cy="10800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Screening in  mini-bioreactor (MBR)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27E259D-1BCB-0944-354F-A22AF6662E05}"/>
              </a:ext>
            </a:extLst>
          </p:cNvPr>
          <p:cNvSpPr/>
          <p:nvPr/>
        </p:nvSpPr>
        <p:spPr>
          <a:xfrm>
            <a:off x="17953744" y="9999698"/>
            <a:ext cx="3312000" cy="10800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Bench scale optimisation</a:t>
            </a:r>
          </a:p>
        </p:txBody>
      </p:sp>
      <p:sp>
        <p:nvSpPr>
          <p:cNvPr id="43" name="Arrow: Bent-Up 42">
            <a:extLst>
              <a:ext uri="{FF2B5EF4-FFF2-40B4-BE49-F238E27FC236}">
                <a16:creationId xmlns:a16="http://schemas.microsoft.com/office/drawing/2014/main" id="{696E8AE4-C08A-E80E-64A1-86B10A2966FD}"/>
              </a:ext>
            </a:extLst>
          </p:cNvPr>
          <p:cNvSpPr/>
          <p:nvPr/>
        </p:nvSpPr>
        <p:spPr>
          <a:xfrm rot="5400000">
            <a:off x="15411025" y="8314691"/>
            <a:ext cx="936000" cy="972000"/>
          </a:xfrm>
          <a:prstGeom prst="bent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CC047A19-C4CD-740F-7243-B094C63AD0A2}"/>
              </a:ext>
            </a:extLst>
          </p:cNvPr>
          <p:cNvSpPr/>
          <p:nvPr/>
        </p:nvSpPr>
        <p:spPr>
          <a:xfrm rot="5400000">
            <a:off x="16794503" y="9823172"/>
            <a:ext cx="972000" cy="936000"/>
          </a:xfrm>
          <a:prstGeom prst="bent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1138D87-6F36-B3A7-ADB2-C071CD0DEE70}"/>
              </a:ext>
            </a:extLst>
          </p:cNvPr>
          <p:cNvSpPr/>
          <p:nvPr/>
        </p:nvSpPr>
        <p:spPr>
          <a:xfrm>
            <a:off x="18746834" y="7193368"/>
            <a:ext cx="3456000" cy="86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ysClr val="windowText" lastClr="000000"/>
                </a:solidFill>
              </a:rPr>
              <a:t>Fed-Batch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FE2B624-605E-488C-45C9-8C76C23F203D}"/>
              </a:ext>
            </a:extLst>
          </p:cNvPr>
          <p:cNvSpPr/>
          <p:nvPr/>
        </p:nvSpPr>
        <p:spPr>
          <a:xfrm>
            <a:off x="20125981" y="8636221"/>
            <a:ext cx="3456000" cy="86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ysClr val="windowText" lastClr="000000"/>
                </a:solidFill>
              </a:rPr>
              <a:t>Semi-perfusion/retro-fitted perfusion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801AF73-D0EC-C617-5B5E-B0CBCEE2299B}"/>
              </a:ext>
            </a:extLst>
          </p:cNvPr>
          <p:cNvSpPr/>
          <p:nvPr/>
        </p:nvSpPr>
        <p:spPr>
          <a:xfrm>
            <a:off x="21472852" y="10087241"/>
            <a:ext cx="3456000" cy="86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ysClr val="windowText" lastClr="000000"/>
                </a:solidFill>
              </a:rPr>
              <a:t>Perfusion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9C1123-92CC-0FFC-E023-E141775AA6A1}"/>
              </a:ext>
            </a:extLst>
          </p:cNvPr>
          <p:cNvSpPr txBox="1"/>
          <p:nvPr/>
        </p:nvSpPr>
        <p:spPr>
          <a:xfrm>
            <a:off x="23079030" y="7184293"/>
            <a:ext cx="68002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Shift of operation mode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3000" dirty="0"/>
              <a:t>Different physiological conditions experienced by the cell culture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sz="3000" dirty="0"/>
              <a:t>FB to (quasi-)perfusion – changing to (quasi-)constant environment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174ECBF-E26F-5A7B-E82D-106CD0717EA5}"/>
              </a:ext>
            </a:extLst>
          </p:cNvPr>
          <p:cNvSpPr/>
          <p:nvPr/>
        </p:nvSpPr>
        <p:spPr>
          <a:xfrm>
            <a:off x="15278663" y="11640899"/>
            <a:ext cx="13860000" cy="900000"/>
          </a:xfrm>
          <a:prstGeom prst="roundRect">
            <a:avLst/>
          </a:prstGeom>
          <a:ln w="19050">
            <a:solidFill>
              <a:srgbClr val="36647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What impact does operation mode have on early-stage clone selection? 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9A1BE2B-FA19-C546-690E-DEEEBB5C879E}"/>
              </a:ext>
            </a:extLst>
          </p:cNvPr>
          <p:cNvCxnSpPr>
            <a:cxnSpLocks/>
          </p:cNvCxnSpPr>
          <p:nvPr/>
        </p:nvCxnSpPr>
        <p:spPr>
          <a:xfrm>
            <a:off x="22388537" y="7850871"/>
            <a:ext cx="624018" cy="5600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A blue and white logo&#10;&#10;Description automatically generated">
            <a:extLst>
              <a:ext uri="{FF2B5EF4-FFF2-40B4-BE49-F238E27FC236}">
                <a16:creationId xmlns:a16="http://schemas.microsoft.com/office/drawing/2014/main" id="{220E1011-7A16-1002-7E7F-98878D34DC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5846" y="41435763"/>
            <a:ext cx="1368000" cy="1368000"/>
          </a:xfrm>
          <a:prstGeom prst="rect">
            <a:avLst/>
          </a:prstGeom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C76BC21-EAF2-B25A-38B2-32BA5028D4F6}"/>
              </a:ext>
            </a:extLst>
          </p:cNvPr>
          <p:cNvSpPr/>
          <p:nvPr/>
        </p:nvSpPr>
        <p:spPr>
          <a:xfrm>
            <a:off x="3651407" y="24591062"/>
            <a:ext cx="9000000" cy="720000"/>
          </a:xfrm>
          <a:prstGeom prst="roundRect">
            <a:avLst/>
          </a:prstGeom>
          <a:solidFill>
            <a:srgbClr val="EB95CE"/>
          </a:solidFill>
          <a:ln w="19050" cap="flat" cmpd="sng" algn="ctr">
            <a:solidFill>
              <a:srgbClr val="80185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improve the ranking procedure?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E7DBDE-22B6-BA5C-E031-93ACA940A2B4}"/>
              </a:ext>
            </a:extLst>
          </p:cNvPr>
          <p:cNvSpPr txBox="1"/>
          <p:nvPr/>
        </p:nvSpPr>
        <p:spPr>
          <a:xfrm>
            <a:off x="17080409" y="2537957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mAb1_C4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52EBCA-A464-0BBB-1757-6638E1ABDF99}"/>
              </a:ext>
            </a:extLst>
          </p:cNvPr>
          <p:cNvSpPr txBox="1"/>
          <p:nvPr/>
        </p:nvSpPr>
        <p:spPr>
          <a:xfrm>
            <a:off x="21680537" y="2537389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mAb1_C5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D6724D4-F9CC-77F7-AA20-4107FA7968E2}"/>
              </a:ext>
            </a:extLst>
          </p:cNvPr>
          <p:cNvSpPr txBox="1"/>
          <p:nvPr/>
        </p:nvSpPr>
        <p:spPr>
          <a:xfrm>
            <a:off x="26260905" y="2537957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mAb1_C7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0BFB353-A252-D29A-D73D-E63485E2EF42}"/>
              </a:ext>
            </a:extLst>
          </p:cNvPr>
          <p:cNvSpPr txBox="1"/>
          <p:nvPr/>
        </p:nvSpPr>
        <p:spPr>
          <a:xfrm>
            <a:off x="15510375" y="28663720"/>
            <a:ext cx="13529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Fig 3: Growth for mAb1 CHO cell clones in MWP using semi-perfusion methodologies. A total of 8 clones were investigated and 3 clones are displayed as examples. Cells were cultivated in HIP medium with a perfusion rate of 0.75 RV d</a:t>
            </a:r>
            <a:r>
              <a:rPr kumimoji="0" lang="en-GB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-1</a:t>
            </a:r>
            <a:r>
              <a:rPr kumimoji="0" lang="en-GB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. </a:t>
            </a:r>
            <a:endParaRPr kumimoji="0" lang="en-GB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13BCA63C-1D57-BEE9-E21C-56124EDD5001}"/>
              </a:ext>
            </a:extLst>
          </p:cNvPr>
          <p:cNvSpPr/>
          <p:nvPr/>
        </p:nvSpPr>
        <p:spPr>
          <a:xfrm>
            <a:off x="3757189" y="14636882"/>
            <a:ext cx="9000000" cy="720000"/>
          </a:xfrm>
          <a:prstGeom prst="roundRect">
            <a:avLst/>
          </a:prstGeom>
          <a:solidFill>
            <a:srgbClr val="BDCDF1"/>
          </a:solidFill>
          <a:ln w="19050" cap="flat" cmpd="sng" algn="ctr">
            <a:solidFill>
              <a:srgbClr val="2958BE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of Fed-batch and Semi-perfusion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73C530F-3215-9C7F-D66A-D90A17D835F1}"/>
              </a:ext>
            </a:extLst>
          </p:cNvPr>
          <p:cNvSpPr txBox="1"/>
          <p:nvPr/>
        </p:nvSpPr>
        <p:spPr>
          <a:xfrm>
            <a:off x="3040186" y="15449063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2000" b="1" dirty="0"/>
              <a:t>mAb1_C4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6F97F29-273E-5E83-7261-1DBE6B83D507}"/>
              </a:ext>
            </a:extLst>
          </p:cNvPr>
          <p:cNvSpPr txBox="1"/>
          <p:nvPr/>
        </p:nvSpPr>
        <p:spPr>
          <a:xfrm>
            <a:off x="7667306" y="15444786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2000" b="1" dirty="0"/>
              <a:t>mAb1_C5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F2B5E33-C925-E7E4-E322-CB11A92D0BAF}"/>
              </a:ext>
            </a:extLst>
          </p:cNvPr>
          <p:cNvSpPr txBox="1"/>
          <p:nvPr/>
        </p:nvSpPr>
        <p:spPr>
          <a:xfrm>
            <a:off x="12046113" y="15444786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2000" b="1" dirty="0"/>
              <a:t>mAb1_C7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94D7BEB-49C7-410E-6EC0-4ED73CC24CD0}"/>
              </a:ext>
            </a:extLst>
          </p:cNvPr>
          <p:cNvSpPr txBox="1"/>
          <p:nvPr/>
        </p:nvSpPr>
        <p:spPr>
          <a:xfrm>
            <a:off x="1256563" y="18934693"/>
            <a:ext cx="13900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Fig 1: Growth for mAb1 CHO cell clones in MWP using fed-batch and semi-perfusion methodologies. A total of 8 clones were investigated and 3 clones are displayed as examples.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fed-batch cultures, cells were cultivated in CD CHO with a feed step from day 3 to day 7 (</a:t>
            </a:r>
            <a:r>
              <a:rPr lang="en-GB" sz="180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●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For semi-perfusion cultures, a perfusion rate of 1 RVd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CD CHO (</a:t>
            </a:r>
            <a:r>
              <a:rPr lang="en-GB" sz="1800" dirty="0">
                <a:solidFill>
                  <a:srgbClr val="006DDB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▲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HIP media (</a:t>
            </a:r>
            <a:r>
              <a:rPr lang="en-GB" sz="1800" dirty="0">
                <a:solidFill>
                  <a:srgbClr val="92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▼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or 0.75 RVd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HIP medium (</a:t>
            </a:r>
            <a:r>
              <a:rPr lang="en-GB" sz="1800" dirty="0">
                <a:solidFill>
                  <a:srgbClr val="FF595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▼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was used from days 3 to 10. </a:t>
            </a:r>
            <a:endParaRPr kumimoji="0" lang="en-GB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270FBDF-0C46-E568-089A-1148637B0B68}"/>
              </a:ext>
            </a:extLst>
          </p:cNvPr>
          <p:cNvSpPr txBox="1"/>
          <p:nvPr/>
        </p:nvSpPr>
        <p:spPr>
          <a:xfrm>
            <a:off x="17961652" y="36060871"/>
            <a:ext cx="11365467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000" dirty="0">
                <a:latin typeface="Calibri" panose="020F0502020204030204" pitchFamily="34" charset="0"/>
                <a:ea typeface="MS Mincho" panose="02020609040205080304" pitchFamily="49" charset="-128"/>
              </a:rPr>
              <a:t>Highlights the importance of considering the operation mode during early cell clones screening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000" dirty="0">
                <a:latin typeface="Calibri" panose="020F0502020204030204" pitchFamily="34" charset="0"/>
                <a:ea typeface="MS Mincho" panose="02020609040205080304" pitchFamily="49" charset="-128"/>
              </a:rPr>
              <a:t>Further scale down to deep well plates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000" dirty="0">
                <a:latin typeface="Calibri" panose="020F0502020204030204" pitchFamily="34" charset="0"/>
                <a:ea typeface="MS Mincho" panose="02020609040205080304" pitchFamily="49" charset="-128"/>
              </a:rPr>
              <a:t>Automation of industrially relevant, methodological workflow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000" dirty="0">
                <a:latin typeface="Calibri" panose="020F0502020204030204" pitchFamily="34" charset="0"/>
                <a:ea typeface="MS Mincho" panose="02020609040205080304" pitchFamily="49" charset="-128"/>
              </a:rPr>
              <a:t>Validation studies in 250mL perfusion bioreactors</a:t>
            </a:r>
          </a:p>
        </p:txBody>
      </p:sp>
      <p:pic>
        <p:nvPicPr>
          <p:cNvPr id="133" name="Picture 132" descr="Engineering drawing&#10;&#10;Description automatically generated with medium confidence">
            <a:extLst>
              <a:ext uri="{FF2B5EF4-FFF2-40B4-BE49-F238E27FC236}">
                <a16:creationId xmlns:a16="http://schemas.microsoft.com/office/drawing/2014/main" id="{E2B28A94-4756-EC7C-93D4-A4C252ACA7C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6" t="6830" r="25321" b="50931"/>
          <a:stretch/>
        </p:blipFill>
        <p:spPr>
          <a:xfrm>
            <a:off x="18382003" y="38974815"/>
            <a:ext cx="2910973" cy="2016000"/>
          </a:xfrm>
          <a:prstGeom prst="rect">
            <a:avLst/>
          </a:prstGeom>
        </p:spPr>
      </p:pic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7A0D2EC-DDEA-25E6-F2FE-F3E37AEE2F95}"/>
              </a:ext>
            </a:extLst>
          </p:cNvPr>
          <p:cNvCxnSpPr>
            <a:cxnSpLocks/>
          </p:cNvCxnSpPr>
          <p:nvPr/>
        </p:nvCxnSpPr>
        <p:spPr>
          <a:xfrm>
            <a:off x="21785116" y="39974506"/>
            <a:ext cx="1216124" cy="0"/>
          </a:xfrm>
          <a:prstGeom prst="straightConnector1">
            <a:avLst/>
          </a:prstGeom>
          <a:ln w="50800">
            <a:solidFill>
              <a:srgbClr val="003D4C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5" name="Picture 134" descr="Engineering drawing&#10;&#10;Description automatically generated with medium confidence">
            <a:extLst>
              <a:ext uri="{FF2B5EF4-FFF2-40B4-BE49-F238E27FC236}">
                <a16:creationId xmlns:a16="http://schemas.microsoft.com/office/drawing/2014/main" id="{21C10A70-6C12-B543-6388-DA67D010303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45" t="4349" r="2978" b="54768"/>
          <a:stretch/>
        </p:blipFill>
        <p:spPr>
          <a:xfrm>
            <a:off x="23644386" y="39009097"/>
            <a:ext cx="1291642" cy="1968562"/>
          </a:xfrm>
          <a:prstGeom prst="rect">
            <a:avLst/>
          </a:prstGeom>
        </p:spPr>
      </p:pic>
      <p:pic>
        <p:nvPicPr>
          <p:cNvPr id="136" name="Picture 135" descr="A picture containing kitchen appliance&#10;&#10;Description automatically generated">
            <a:extLst>
              <a:ext uri="{FF2B5EF4-FFF2-40B4-BE49-F238E27FC236}">
                <a16:creationId xmlns:a16="http://schemas.microsoft.com/office/drawing/2014/main" id="{EA8452C2-86FD-5EC8-2410-D590A768A4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2299" y="38855404"/>
            <a:ext cx="2548099" cy="2146005"/>
          </a:xfrm>
          <a:prstGeom prst="rect">
            <a:avLst/>
          </a:prstGeom>
        </p:spPr>
      </p:pic>
      <p:sp>
        <p:nvSpPr>
          <p:cNvPr id="137" name="Callout: Right Arrow 136">
            <a:extLst>
              <a:ext uri="{FF2B5EF4-FFF2-40B4-BE49-F238E27FC236}">
                <a16:creationId xmlns:a16="http://schemas.microsoft.com/office/drawing/2014/main" id="{F1F6FAFD-F4A8-3160-870B-476CD09B86F4}"/>
              </a:ext>
            </a:extLst>
          </p:cNvPr>
          <p:cNvSpPr/>
          <p:nvPr/>
        </p:nvSpPr>
        <p:spPr>
          <a:xfrm rot="5400000">
            <a:off x="15187598" y="36297060"/>
            <a:ext cx="2448110" cy="2548099"/>
          </a:xfrm>
          <a:prstGeom prst="rightArrowCallout">
            <a:avLst>
              <a:gd name="adj1" fmla="val 29383"/>
              <a:gd name="adj2" fmla="val 37171"/>
              <a:gd name="adj3" fmla="val 23972"/>
              <a:gd name="adj4" fmla="val 68139"/>
            </a:avLst>
          </a:prstGeom>
          <a:noFill/>
          <a:ln w="38100" cap="flat" cmpd="sng" algn="ctr">
            <a:solidFill>
              <a:srgbClr val="003D4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8" name="Picture 137" descr="A picture containing diagram&#10;&#10;Description automatically generated">
            <a:extLst>
              <a:ext uri="{FF2B5EF4-FFF2-40B4-BE49-F238E27FC236}">
                <a16:creationId xmlns:a16="http://schemas.microsoft.com/office/drawing/2014/main" id="{6BAE046A-1799-6983-0EC6-8423D035F1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0375" y="36565663"/>
            <a:ext cx="1870448" cy="1276306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7BD8240-CE43-100A-C6D2-8369C938B5C8}"/>
              </a:ext>
            </a:extLst>
          </p:cNvPr>
          <p:cNvCxnSpPr>
            <a:cxnSpLocks/>
          </p:cNvCxnSpPr>
          <p:nvPr/>
        </p:nvCxnSpPr>
        <p:spPr>
          <a:xfrm flipV="1">
            <a:off x="25279898" y="40048439"/>
            <a:ext cx="736517" cy="0"/>
          </a:xfrm>
          <a:prstGeom prst="straightConnector1">
            <a:avLst/>
          </a:prstGeom>
          <a:ln w="50800">
            <a:solidFill>
              <a:srgbClr val="003D4C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41" name="Picture 140" descr="Several machines with different types of equipment&#10;&#10;Description automatically generated with medium confidence">
            <a:extLst>
              <a:ext uri="{FF2B5EF4-FFF2-40B4-BE49-F238E27FC236}">
                <a16:creationId xmlns:a16="http://schemas.microsoft.com/office/drawing/2014/main" id="{39287569-547B-CA80-669A-F0622F2798CF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48" t="9923" r="4880" b="62934"/>
          <a:stretch/>
        </p:blipFill>
        <p:spPr>
          <a:xfrm>
            <a:off x="15525710" y="39210424"/>
            <a:ext cx="1872000" cy="152180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86290C-5D0C-B2EE-73B2-2197A3EAB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50494"/>
              </p:ext>
            </p:extLst>
          </p:nvPr>
        </p:nvGraphicFramePr>
        <p:xfrm>
          <a:off x="1814181" y="29046772"/>
          <a:ext cx="12593233" cy="409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6015">
                  <a:extLst>
                    <a:ext uri="{9D8B030D-6E8A-4147-A177-3AD203B41FA5}">
                      <a16:colId xmlns:a16="http://schemas.microsoft.com/office/drawing/2014/main" val="3194510282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295260295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1870772857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742531366"/>
                    </a:ext>
                  </a:extLst>
                </a:gridCol>
                <a:gridCol w="545113">
                  <a:extLst>
                    <a:ext uri="{9D8B030D-6E8A-4147-A177-3AD203B41FA5}">
                      <a16:colId xmlns:a16="http://schemas.microsoft.com/office/drawing/2014/main" val="3460886148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2994771958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1584892157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3307871406"/>
                    </a:ext>
                  </a:extLst>
                </a:gridCol>
                <a:gridCol w="1506015">
                  <a:extLst>
                    <a:ext uri="{9D8B030D-6E8A-4147-A177-3AD203B41FA5}">
                      <a16:colId xmlns:a16="http://schemas.microsoft.com/office/drawing/2014/main" val="1731257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FB CD CHO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SP CD CHO</a:t>
                      </a:r>
                    </a:p>
                    <a:p>
                      <a:pPr marL="0" marR="0" lvl="0" indent="0" algn="ctr" defTabSz="302748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dirty="0"/>
                        <a:t>1 RV/d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SP HIP</a:t>
                      </a:r>
                    </a:p>
                    <a:p>
                      <a:pPr marL="0" marR="0" lvl="0" indent="0" algn="ctr" defTabSz="302748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dirty="0"/>
                        <a:t>1 RV/d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SP HIP</a:t>
                      </a:r>
                    </a:p>
                    <a:p>
                      <a:pPr marL="0" marR="0" lvl="0" indent="0" algn="ctr" defTabSz="302748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dirty="0"/>
                        <a:t>0.75 RV/d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0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FB CD CHO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SP CD CHO</a:t>
                      </a:r>
                    </a:p>
                    <a:p>
                      <a:pPr marL="0" marR="0" lvl="0" indent="0" algn="ctr" defTabSz="302748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dirty="0"/>
                        <a:t>1 RV/d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SP HIP</a:t>
                      </a:r>
                    </a:p>
                    <a:p>
                      <a:pPr marL="0" marR="0" lvl="0" indent="0" algn="ctr" defTabSz="302748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dirty="0"/>
                        <a:t>1 RV/d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0" dirty="0"/>
                        <a:t>SP HIP</a:t>
                      </a:r>
                    </a:p>
                    <a:p>
                      <a:pPr marL="0" marR="0" lvl="0" indent="0" algn="ctr" defTabSz="302748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dirty="0"/>
                        <a:t>0.75 RV/d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0145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33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33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33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40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8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A5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1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1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557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40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9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9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33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1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8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6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8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0112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5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82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82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6E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22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6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8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68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3112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6E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40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40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82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28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1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4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2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05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82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6E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6E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5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4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4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28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4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61532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9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C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B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9B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6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7E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7E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7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00603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B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B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5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B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7E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28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A5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2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8724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C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5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C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C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A5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22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22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A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33201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533859-1235-2E8F-7D24-19513B04C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022797"/>
              </p:ext>
            </p:extLst>
          </p:nvPr>
        </p:nvGraphicFramePr>
        <p:xfrm>
          <a:off x="25264110" y="29303990"/>
          <a:ext cx="3619214" cy="3986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548">
                  <a:extLst>
                    <a:ext uri="{9D8B030D-6E8A-4147-A177-3AD203B41FA5}">
                      <a16:colId xmlns:a16="http://schemas.microsoft.com/office/drawing/2014/main" val="2646465448"/>
                    </a:ext>
                  </a:extLst>
                </a:gridCol>
                <a:gridCol w="808548">
                  <a:extLst>
                    <a:ext uri="{9D8B030D-6E8A-4147-A177-3AD203B41FA5}">
                      <a16:colId xmlns:a16="http://schemas.microsoft.com/office/drawing/2014/main" val="2530858514"/>
                    </a:ext>
                  </a:extLst>
                </a:gridCol>
                <a:gridCol w="385022">
                  <a:extLst>
                    <a:ext uri="{9D8B030D-6E8A-4147-A177-3AD203B41FA5}">
                      <a16:colId xmlns:a16="http://schemas.microsoft.com/office/drawing/2014/main" val="4203796281"/>
                    </a:ext>
                  </a:extLst>
                </a:gridCol>
                <a:gridCol w="808548">
                  <a:extLst>
                    <a:ext uri="{9D8B030D-6E8A-4147-A177-3AD203B41FA5}">
                      <a16:colId xmlns:a16="http://schemas.microsoft.com/office/drawing/2014/main" val="2121759947"/>
                    </a:ext>
                  </a:extLst>
                </a:gridCol>
                <a:gridCol w="808548">
                  <a:extLst>
                    <a:ext uri="{9D8B030D-6E8A-4147-A177-3AD203B41FA5}">
                      <a16:colId xmlns:a16="http://schemas.microsoft.com/office/drawing/2014/main" val="330787140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b="1" dirty="0"/>
                        <a:t>q</a:t>
                      </a:r>
                      <a:r>
                        <a:rPr lang="en-GB" sz="2400" b="1" baseline="-25000" dirty="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B2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b="1" dirty="0"/>
                        <a:t>MI</a:t>
                      </a:r>
                      <a:r>
                        <a:rPr lang="en-GB" sz="2400" b="1" baseline="-25000" dirty="0"/>
                        <a:t>CL</a:t>
                      </a:r>
                      <a:endParaRPr lang="en-GB" sz="2000" b="1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01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Run 1</a:t>
                      </a:r>
                      <a:endParaRPr lang="en-GB" sz="2000" b="1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baseline="0" dirty="0"/>
                        <a:t>Run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1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Run 1</a:t>
                      </a:r>
                      <a:endParaRPr lang="en-GB" sz="2000" b="1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Run 2</a:t>
                      </a:r>
                      <a:endParaRPr lang="en-GB" sz="2000" b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098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00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0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5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32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32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0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01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63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51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5D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31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7A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9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0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5D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0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51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63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B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1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61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9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1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006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AF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7A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5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872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AF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332015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4FF50B-2A9C-2E9E-F282-F4DC5990B7D4}"/>
              </a:ext>
            </a:extLst>
          </p:cNvPr>
          <p:cNvSpPr/>
          <p:nvPr/>
        </p:nvSpPr>
        <p:spPr>
          <a:xfrm>
            <a:off x="20094734" y="17882448"/>
            <a:ext cx="4140000" cy="450000"/>
          </a:xfrm>
          <a:prstGeom prst="roundRect">
            <a:avLst/>
          </a:prstGeom>
          <a:solidFill>
            <a:srgbClr val="8FC9F4"/>
          </a:solidFill>
          <a:ln w="9525" cap="flat" cmpd="sng" algn="ctr">
            <a:solidFill>
              <a:srgbClr val="1480D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medium exchange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E657520-384E-2F1C-B7B0-624C1F440D46}"/>
              </a:ext>
            </a:extLst>
          </p:cNvPr>
          <p:cNvSpPr/>
          <p:nvPr/>
        </p:nvSpPr>
        <p:spPr>
          <a:xfrm>
            <a:off x="24594734" y="17883924"/>
            <a:ext cx="4140000" cy="450000"/>
          </a:xfrm>
          <a:prstGeom prst="roundRect">
            <a:avLst/>
          </a:prstGeom>
          <a:solidFill>
            <a:srgbClr val="BADDF8"/>
          </a:solidFill>
          <a:ln w="9525" cap="flat" cmpd="sng" algn="ctr">
            <a:solidFill>
              <a:srgbClr val="1480D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Partial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medium exchange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6EEF12C-3CA8-0022-13E3-2FFB8F84B45A}"/>
              </a:ext>
            </a:extLst>
          </p:cNvPr>
          <p:cNvSpPr/>
          <p:nvPr/>
        </p:nvSpPr>
        <p:spPr>
          <a:xfrm>
            <a:off x="15904519" y="17128742"/>
            <a:ext cx="3960000" cy="63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MWP in </a:t>
            </a:r>
            <a:r>
              <a:rPr kumimoji="0" lang="en-GB" sz="28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Fed-Batch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E8A5DD4-5A6D-165F-04AC-DDBC695AB10F}"/>
              </a:ext>
            </a:extLst>
          </p:cNvPr>
          <p:cNvSpPr/>
          <p:nvPr/>
        </p:nvSpPr>
        <p:spPr>
          <a:xfrm>
            <a:off x="20094734" y="17128742"/>
            <a:ext cx="8640000" cy="630000"/>
          </a:xfrm>
          <a:prstGeom prst="roundRect">
            <a:avLst/>
          </a:prstGeom>
          <a:solidFill>
            <a:srgbClr val="99CEF5"/>
          </a:solidFill>
          <a:ln>
            <a:solidFill>
              <a:srgbClr val="1480D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MWP in </a:t>
            </a:r>
            <a:r>
              <a:rPr kumimoji="0" lang="en-GB" sz="28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Semi-perfusion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05CDF06-BC41-C29B-ACD1-0EF1A9A34369}"/>
              </a:ext>
            </a:extLst>
          </p:cNvPr>
          <p:cNvSpPr/>
          <p:nvPr/>
        </p:nvSpPr>
        <p:spPr>
          <a:xfrm>
            <a:off x="17710588" y="14623553"/>
            <a:ext cx="9000000" cy="720000"/>
          </a:xfrm>
          <a:prstGeom prst="roundRect">
            <a:avLst/>
          </a:prstGeom>
          <a:solidFill>
            <a:srgbClr val="6FB9F1"/>
          </a:solidFill>
          <a:ln>
            <a:solidFill>
              <a:srgbClr val="1480D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Ranking of cell clones by q</a:t>
            </a:r>
            <a:r>
              <a:rPr kumimoji="0" lang="en-GB" sz="36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68BD1CAF-41BD-BEC3-EF55-E1BF91E459D6}"/>
              </a:ext>
            </a:extLst>
          </p:cNvPr>
          <p:cNvGraphicFramePr>
            <a:graphicFrameLocks noGrp="1"/>
          </p:cNvGraphicFramePr>
          <p:nvPr/>
        </p:nvGraphicFramePr>
        <p:xfrm>
          <a:off x="15904519" y="18683870"/>
          <a:ext cx="12830217" cy="42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5645">
                  <a:extLst>
                    <a:ext uri="{9D8B030D-6E8A-4147-A177-3AD203B41FA5}">
                      <a16:colId xmlns:a16="http://schemas.microsoft.com/office/drawing/2014/main" val="3194510282"/>
                    </a:ext>
                  </a:extLst>
                </a:gridCol>
                <a:gridCol w="1420642">
                  <a:extLst>
                    <a:ext uri="{9D8B030D-6E8A-4147-A177-3AD203B41FA5}">
                      <a16:colId xmlns:a16="http://schemas.microsoft.com/office/drawing/2014/main" val="210729265"/>
                    </a:ext>
                  </a:extLst>
                </a:gridCol>
                <a:gridCol w="2355645">
                  <a:extLst>
                    <a:ext uri="{9D8B030D-6E8A-4147-A177-3AD203B41FA5}">
                      <a16:colId xmlns:a16="http://schemas.microsoft.com/office/drawing/2014/main" val="2646465448"/>
                    </a:ext>
                  </a:extLst>
                </a:gridCol>
                <a:gridCol w="382218">
                  <a:extLst>
                    <a:ext uri="{9D8B030D-6E8A-4147-A177-3AD203B41FA5}">
                      <a16:colId xmlns:a16="http://schemas.microsoft.com/office/drawing/2014/main" val="4203796281"/>
                    </a:ext>
                  </a:extLst>
                </a:gridCol>
                <a:gridCol w="2355645">
                  <a:extLst>
                    <a:ext uri="{9D8B030D-6E8A-4147-A177-3AD203B41FA5}">
                      <a16:colId xmlns:a16="http://schemas.microsoft.com/office/drawing/2014/main" val="2121759947"/>
                    </a:ext>
                  </a:extLst>
                </a:gridCol>
                <a:gridCol w="1604777">
                  <a:extLst>
                    <a:ext uri="{9D8B030D-6E8A-4147-A177-3AD203B41FA5}">
                      <a16:colId xmlns:a16="http://schemas.microsoft.com/office/drawing/2014/main" val="1105330643"/>
                    </a:ext>
                  </a:extLst>
                </a:gridCol>
                <a:gridCol w="2355645">
                  <a:extLst>
                    <a:ext uri="{9D8B030D-6E8A-4147-A177-3AD203B41FA5}">
                      <a16:colId xmlns:a16="http://schemas.microsoft.com/office/drawing/2014/main" val="4190329295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FB CD CHO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SP CD CHO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1 RV/d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C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SP HIP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1 RV/d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C9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SP HIP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000" b="1" dirty="0"/>
                        <a:t>0.75 RV/d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D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0145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56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56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56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6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557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6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56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0112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C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A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A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8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3112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8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6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6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A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05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A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8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8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C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61532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D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00603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C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8724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D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C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D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332015"/>
                  </a:ext>
                </a:extLst>
              </a:tr>
            </a:tbl>
          </a:graphicData>
        </a:graphic>
      </p:graphicFrame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331B1F7-E547-34FB-9223-0418B46B3CEB}"/>
              </a:ext>
            </a:extLst>
          </p:cNvPr>
          <p:cNvSpPr/>
          <p:nvPr/>
        </p:nvSpPr>
        <p:spPr>
          <a:xfrm>
            <a:off x="22522841" y="23261328"/>
            <a:ext cx="6012000" cy="720000"/>
          </a:xfrm>
          <a:prstGeom prst="roundRect">
            <a:avLst/>
          </a:prstGeom>
          <a:solidFill>
            <a:srgbClr val="BADDF8"/>
          </a:solidFill>
          <a:ln w="25400" cap="flat" cmpd="sng" algn="ctr">
            <a:solidFill>
              <a:srgbClr val="1167A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Perfusion rate impacts ranking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4FD77FB-6F11-6BCE-864D-169CA8D37A5D}"/>
              </a:ext>
            </a:extLst>
          </p:cNvPr>
          <p:cNvSpPr/>
          <p:nvPr/>
        </p:nvSpPr>
        <p:spPr>
          <a:xfrm>
            <a:off x="16143739" y="23260642"/>
            <a:ext cx="6012000" cy="720000"/>
          </a:xfrm>
          <a:prstGeom prst="roundRect">
            <a:avLst/>
          </a:prstGeom>
          <a:solidFill>
            <a:srgbClr val="8FC9F4"/>
          </a:solidFill>
          <a:ln w="25400" cap="flat" cmpd="sng" algn="ctr">
            <a:solidFill>
              <a:srgbClr val="1167A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Methodology impacts ranking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10A0663-BA8A-C63B-60A8-0D8EC63DA212}"/>
              </a:ext>
            </a:extLst>
          </p:cNvPr>
          <p:cNvSpPr/>
          <p:nvPr/>
        </p:nvSpPr>
        <p:spPr>
          <a:xfrm>
            <a:off x="2651738" y="33386554"/>
            <a:ext cx="10800000" cy="720000"/>
          </a:xfrm>
          <a:prstGeom prst="roundRect">
            <a:avLst/>
          </a:prstGeom>
          <a:solidFill>
            <a:srgbClr val="EB95CE"/>
          </a:solidFill>
          <a:ln w="19050" cap="flat" cmpd="sng" algn="ctr">
            <a:solidFill>
              <a:srgbClr val="80185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MI</a:t>
            </a:r>
            <a:r>
              <a:rPr kumimoji="0" lang="en-GB" sz="3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CL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 strategy confirm</a:t>
            </a:r>
            <a:r>
              <a:rPr kumimoji="0" lang="en-GB" sz="32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 differences between operation modes</a:t>
            </a:r>
            <a:endParaRPr kumimoji="0" lang="en-GB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21B097-55DF-B1C0-CC0B-AB02A1957725}"/>
              </a:ext>
            </a:extLst>
          </p:cNvPr>
          <p:cNvSpPr txBox="1"/>
          <p:nvPr/>
        </p:nvSpPr>
        <p:spPr>
          <a:xfrm>
            <a:off x="1816761" y="25504004"/>
            <a:ext cx="6012000" cy="540000"/>
          </a:xfrm>
          <a:prstGeom prst="rect">
            <a:avLst/>
          </a:prstGeom>
          <a:noFill/>
          <a:ln w="28575">
            <a:solidFill>
              <a:srgbClr val="80185D"/>
            </a:solidFill>
          </a:ln>
        </p:spPr>
        <p:txBody>
          <a:bodyPr wrap="square" rtlCol="0">
            <a:spAutoFit/>
          </a:bodyPr>
          <a:lstStyle/>
          <a:p>
            <a:r>
              <a:rPr lang="en-GB" sz="3000" b="1" dirty="0"/>
              <a:t>Problem: </a:t>
            </a:r>
            <a:r>
              <a:rPr lang="en-GB" sz="3000" dirty="0"/>
              <a:t>Ranking only based on q</a:t>
            </a:r>
            <a:r>
              <a:rPr lang="en-GB" sz="3000" baseline="-25000" dirty="0"/>
              <a:t>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442CD8-02C4-5465-9B3A-37570CD78924}"/>
              </a:ext>
            </a:extLst>
          </p:cNvPr>
          <p:cNvSpPr txBox="1"/>
          <p:nvPr/>
        </p:nvSpPr>
        <p:spPr>
          <a:xfrm>
            <a:off x="8395412" y="25504004"/>
            <a:ext cx="6012000" cy="540000"/>
          </a:xfrm>
          <a:prstGeom prst="rect">
            <a:avLst/>
          </a:prstGeom>
          <a:noFill/>
          <a:ln w="28575">
            <a:solidFill>
              <a:srgbClr val="80185D"/>
            </a:solidFill>
          </a:ln>
        </p:spPr>
        <p:txBody>
          <a:bodyPr wrap="square" rtlCol="0">
            <a:spAutoFit/>
          </a:bodyPr>
          <a:lstStyle/>
          <a:p>
            <a:r>
              <a:rPr lang="en-GB" sz="3000" b="1" dirty="0"/>
              <a:t>Solution: </a:t>
            </a:r>
            <a:r>
              <a:rPr lang="en-GB" sz="3000" dirty="0"/>
              <a:t>Leverage more data</a:t>
            </a:r>
            <a:endParaRPr lang="en-GB" sz="3000" baseline="-25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50A88C-42B0-BE08-70EF-12F5EF0BEDEC}"/>
              </a:ext>
            </a:extLst>
          </p:cNvPr>
          <p:cNvSpPr txBox="1"/>
          <p:nvPr/>
        </p:nvSpPr>
        <p:spPr>
          <a:xfrm>
            <a:off x="1814179" y="26548969"/>
            <a:ext cx="6014658" cy="129266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600" dirty="0"/>
              <a:t>Other parameter such as growth, metabolites and process flow rates are </a:t>
            </a:r>
            <a:r>
              <a:rPr lang="en-GB" sz="2600" u="sng" dirty="0"/>
              <a:t>not</a:t>
            </a:r>
            <a:r>
              <a:rPr lang="en-GB" sz="2600" dirty="0"/>
              <a:t> accounted for.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5DDB9E-6BD3-AAA8-E3AA-CCC7C3281669}"/>
              </a:ext>
            </a:extLst>
          </p:cNvPr>
          <p:cNvSpPr txBox="1"/>
          <p:nvPr/>
        </p:nvSpPr>
        <p:spPr>
          <a:xfrm>
            <a:off x="8395411" y="26348152"/>
            <a:ext cx="601200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dirty="0"/>
              <a:t>Combine parameter into a single metric - manufacturability index (MI</a:t>
            </a:r>
            <a:r>
              <a:rPr lang="en-GB" sz="2600" baseline="-25000" dirty="0"/>
              <a:t>CL</a:t>
            </a:r>
            <a:r>
              <a:rPr lang="en-GB" sz="2600" dirty="0"/>
              <a:t>; Goldrick et. al., 2023), while accounting for different feeding and medium exchange protocols.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0936C0-F5DC-DB87-C719-4A4BCC1DA0A6}"/>
              </a:ext>
            </a:extLst>
          </p:cNvPr>
          <p:cNvSpPr txBox="1"/>
          <p:nvPr/>
        </p:nvSpPr>
        <p:spPr>
          <a:xfrm>
            <a:off x="16143740" y="15513054"/>
            <a:ext cx="1239110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dirty="0"/>
              <a:t>Initial rankings at MWP scale are typically performed based on measured titre as single productivity value. To account for different feed and medium exchange protocols, the cell specific productivity (q</a:t>
            </a:r>
            <a:r>
              <a:rPr lang="en-GB" sz="2600" baseline="-25000" dirty="0"/>
              <a:t>P</a:t>
            </a:r>
            <a:r>
              <a:rPr lang="en-GB" sz="2600" dirty="0"/>
              <a:t>) was used for ranking of the clones.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02D988-FEC4-780F-312A-9AB29FD53E3E}"/>
              </a:ext>
            </a:extLst>
          </p:cNvPr>
          <p:cNvSpPr txBox="1"/>
          <p:nvPr/>
        </p:nvSpPr>
        <p:spPr>
          <a:xfrm>
            <a:off x="1552958" y="23509710"/>
            <a:ext cx="5914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Fig 2: Cell specific productivity for mAb1 CHO cell clones in MWP using fed-batch and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  <a:cs typeface="Calibri Light" panose="020F0302020204030204" pitchFamily="34" charset="0"/>
              </a:rPr>
              <a:t>semi-perfusion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 methodologies.</a:t>
            </a:r>
            <a:endParaRPr kumimoji="0" lang="en-GB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AF5271-AF1D-0208-8C77-7E038A6E453B}"/>
              </a:ext>
            </a:extLst>
          </p:cNvPr>
          <p:cNvSpPr/>
          <p:nvPr/>
        </p:nvSpPr>
        <p:spPr>
          <a:xfrm>
            <a:off x="1814179" y="28398832"/>
            <a:ext cx="6012001" cy="450000"/>
          </a:xfrm>
          <a:prstGeom prst="roundRect">
            <a:avLst/>
          </a:prstGeom>
          <a:solidFill>
            <a:srgbClr val="C2B2E2"/>
          </a:solidFill>
          <a:ln w="9525" cap="flat" cmpd="sng" algn="ctr">
            <a:solidFill>
              <a:srgbClr val="6340AA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GB" sz="2400" b="1" dirty="0"/>
              <a:t>Single parameter - q</a:t>
            </a:r>
            <a:r>
              <a:rPr lang="en-GB" sz="2400" b="1" baseline="-25000" dirty="0"/>
              <a:t>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821141-A117-DCC9-272E-2608F96F2C92}"/>
              </a:ext>
            </a:extLst>
          </p:cNvPr>
          <p:cNvSpPr/>
          <p:nvPr/>
        </p:nvSpPr>
        <p:spPr>
          <a:xfrm>
            <a:off x="8395412" y="28398832"/>
            <a:ext cx="6012001" cy="450000"/>
          </a:xfrm>
          <a:prstGeom prst="roundRect">
            <a:avLst/>
          </a:prstGeom>
          <a:solidFill>
            <a:srgbClr val="EB95CE"/>
          </a:solidFill>
          <a:ln w="9525" cap="flat" cmpd="sng" algn="ctr">
            <a:solidFill>
              <a:srgbClr val="80185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GB" sz="2400" b="1" dirty="0"/>
              <a:t>Multiple parameter - MI</a:t>
            </a:r>
            <a:r>
              <a:rPr lang="en-GB" sz="2400" b="1" baseline="-25000" dirty="0"/>
              <a:t>CL</a:t>
            </a:r>
          </a:p>
        </p:txBody>
      </p:sp>
      <p:pic>
        <p:nvPicPr>
          <p:cNvPr id="65" name="Picture 64" descr="Project Path: C:\Users\Marie\OneDrive - University College London\O_Origin\Projects\AZ cell lines.opju&#10;PE Folder: /AZ cell lines/mAb/&#10;Short Name: Graph1">
            <a:extLst>
              <a:ext uri="{FF2B5EF4-FFF2-40B4-BE49-F238E27FC236}">
                <a16:creationId xmlns:a16="http://schemas.microsoft.com/office/drawing/2014/main" id="{239BA1F3-3925-64F7-AE9E-8EA6E7B60107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" t="3472" r="1617" b="2460"/>
          <a:stretch/>
        </p:blipFill>
        <p:spPr bwMode="auto">
          <a:xfrm>
            <a:off x="1423102" y="19958173"/>
            <a:ext cx="4735424" cy="36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37D6284-EC80-288E-7D08-82B404F3FA5E}"/>
              </a:ext>
            </a:extLst>
          </p:cNvPr>
          <p:cNvSpPr/>
          <p:nvPr/>
        </p:nvSpPr>
        <p:spPr>
          <a:xfrm>
            <a:off x="7398398" y="23265044"/>
            <a:ext cx="7272000" cy="720000"/>
          </a:xfrm>
          <a:prstGeom prst="roundRect">
            <a:avLst/>
          </a:prstGeom>
          <a:solidFill>
            <a:srgbClr val="BDCDF1"/>
          </a:solidFill>
          <a:ln w="19050" cap="flat" cmpd="sng" algn="ctr">
            <a:solidFill>
              <a:srgbClr val="2958BE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 Semi-perfusion outperforms </a:t>
            </a:r>
            <a:r>
              <a:rPr lang="en-GB" sz="3200" b="1" kern="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f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ed-batch</a:t>
            </a:r>
            <a:endParaRPr kumimoji="0" lang="en-GB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F93F4-FB2E-BA92-1CC9-796E7A3131BB}"/>
              </a:ext>
            </a:extLst>
          </p:cNvPr>
          <p:cNvSpPr txBox="1"/>
          <p:nvPr/>
        </p:nvSpPr>
        <p:spPr>
          <a:xfrm>
            <a:off x="6313404" y="20134972"/>
            <a:ext cx="8818777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2600" dirty="0"/>
              <a:t>Fed-batch methods serves as base case scenario. Semi-perfusion methods were performed with (</a:t>
            </a:r>
            <a:r>
              <a:rPr lang="en-GB" sz="2600" dirty="0" err="1"/>
              <a:t>i</a:t>
            </a:r>
            <a:r>
              <a:rPr lang="en-GB" sz="2600" dirty="0"/>
              <a:t>) total medium exchange (1 RVd</a:t>
            </a:r>
            <a:r>
              <a:rPr lang="en-GB" sz="2600" baseline="30000" dirty="0"/>
              <a:t>-1</a:t>
            </a:r>
            <a:r>
              <a:rPr lang="en-GB" sz="2600" dirty="0"/>
              <a:t>), typical for manual operation, and (ii) with a partial medium exchange (0.75 RVd</a:t>
            </a:r>
            <a:r>
              <a:rPr lang="en-GB" sz="2600" baseline="30000" dirty="0"/>
              <a:t>-1</a:t>
            </a:r>
            <a:r>
              <a:rPr lang="en-GB" sz="2600" dirty="0"/>
              <a:t>) to represent automated workflows in industry. Different media were used in semi-perfusion mode to understand their influence on clone performance independent of operation mode.</a:t>
            </a:r>
          </a:p>
        </p:txBody>
      </p:sp>
      <p:pic>
        <p:nvPicPr>
          <p:cNvPr id="19" name="Picture 18" descr="Project Path: C:\Users\Marie\OneDrive - University College London\O_Origin\Projects\AZ cell lines.opju&#10;PE Folder: /AZ cell lines/Reproducibility study/mAb1/&#10;Short Name: mAb-1-2_qmAb">
            <a:extLst>
              <a:ext uri="{FF2B5EF4-FFF2-40B4-BE49-F238E27FC236}">
                <a16:creationId xmlns:a16="http://schemas.microsoft.com/office/drawing/2014/main" id="{BAF7EB9D-1681-3143-24E2-0BC214AE8E8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4" t="3475" r="10481" b="2418"/>
          <a:stretch/>
        </p:blipFill>
        <p:spPr bwMode="auto">
          <a:xfrm>
            <a:off x="15635507" y="29264943"/>
            <a:ext cx="4019658" cy="342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21916F-4AB1-58AB-7A2A-6DDFD8C70D76}"/>
              </a:ext>
            </a:extLst>
          </p:cNvPr>
          <p:cNvSpPr txBox="1"/>
          <p:nvPr/>
        </p:nvSpPr>
        <p:spPr>
          <a:xfrm>
            <a:off x="15573990" y="32590641"/>
            <a:ext cx="43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Mincho" panose="02020609040205080304" pitchFamily="49" charset="-128"/>
              </a:rPr>
              <a:t>Fig 4: Cell specific productivity for mAb1 CHO cell clones in MWP using semi-perfusion.</a:t>
            </a:r>
            <a:endParaRPr kumimoji="0" lang="en-GB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A105B5-D8ED-7185-4AB1-B44D9A124543}"/>
              </a:ext>
            </a:extLst>
          </p:cNvPr>
          <p:cNvCxnSpPr>
            <a:cxnSpLocks/>
          </p:cNvCxnSpPr>
          <p:nvPr/>
        </p:nvCxnSpPr>
        <p:spPr>
          <a:xfrm>
            <a:off x="4382884" y="20145826"/>
            <a:ext cx="0" cy="2879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268146-3867-3A7E-EC08-2608C41E187F}"/>
              </a:ext>
            </a:extLst>
          </p:cNvPr>
          <p:cNvCxnSpPr>
            <a:cxnSpLocks/>
          </p:cNvCxnSpPr>
          <p:nvPr/>
        </p:nvCxnSpPr>
        <p:spPr>
          <a:xfrm>
            <a:off x="5330826" y="20145826"/>
            <a:ext cx="0" cy="3023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735A5C-21EB-7388-70FB-ED11DF34BEA4}"/>
              </a:ext>
            </a:extLst>
          </p:cNvPr>
          <p:cNvCxnSpPr>
            <a:cxnSpLocks/>
          </p:cNvCxnSpPr>
          <p:nvPr/>
        </p:nvCxnSpPr>
        <p:spPr>
          <a:xfrm>
            <a:off x="3917996" y="20145826"/>
            <a:ext cx="0" cy="3023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Project Path: C:\Users\Marie\OneDrive - University College London\O_Origin\Projects\AZ cell lines.opju&#10;PE Folder: /AZ cell lines/mAb/&#10;Short Name: C12-growth">
            <a:extLst>
              <a:ext uri="{FF2B5EF4-FFF2-40B4-BE49-F238E27FC236}">
                <a16:creationId xmlns:a16="http://schemas.microsoft.com/office/drawing/2014/main" id="{4D6ADC07-5F52-AF51-4DEB-6A5A2E520343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9" t="3080" r="1762" b="2155"/>
          <a:stretch/>
        </p:blipFill>
        <p:spPr bwMode="auto">
          <a:xfrm>
            <a:off x="1635941" y="15515218"/>
            <a:ext cx="4309745" cy="34194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82F0D1-BEC8-56A4-932D-7D763BCEF8E2}"/>
              </a:ext>
            </a:extLst>
          </p:cNvPr>
          <p:cNvSpPr txBox="1"/>
          <p:nvPr/>
        </p:nvSpPr>
        <p:spPr>
          <a:xfrm>
            <a:off x="2256982" y="20141214"/>
            <a:ext cx="1336551" cy="738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36000" tIns="0" rIns="0" bIns="0">
            <a:spAutoFit/>
          </a:bodyPr>
          <a:lstStyle/>
          <a:p>
            <a:r>
              <a:rPr lang="en-GB" sz="12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FB CD CHO </a:t>
            </a:r>
          </a:p>
          <a:p>
            <a:r>
              <a:rPr lang="en-GB" sz="1200" dirty="0">
                <a:solidFill>
                  <a:srgbClr val="006DD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 1 RVd</a:t>
            </a:r>
            <a:r>
              <a:rPr lang="en-GB" sz="1200" baseline="30000" dirty="0">
                <a:solidFill>
                  <a:srgbClr val="006DD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200" dirty="0">
                <a:solidFill>
                  <a:srgbClr val="006DD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CD CHO </a:t>
            </a:r>
          </a:p>
          <a:p>
            <a:r>
              <a:rPr lang="en-GB" sz="1200" dirty="0">
                <a:solidFill>
                  <a:srgbClr val="92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 1 RVd</a:t>
            </a:r>
            <a:r>
              <a:rPr lang="en-GB" sz="1200" baseline="30000" dirty="0">
                <a:solidFill>
                  <a:srgbClr val="92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200" dirty="0">
                <a:solidFill>
                  <a:srgbClr val="92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HIP</a:t>
            </a:r>
          </a:p>
          <a:p>
            <a:r>
              <a:rPr lang="en-GB" sz="1200" dirty="0">
                <a:solidFill>
                  <a:srgbClr val="FF595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 0.75 RVd</a:t>
            </a:r>
            <a:r>
              <a:rPr lang="en-GB" sz="1200" baseline="30000" dirty="0">
                <a:solidFill>
                  <a:srgbClr val="FF595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200" dirty="0">
                <a:solidFill>
                  <a:srgbClr val="FF595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HIP</a:t>
            </a:r>
            <a:endParaRPr lang="en-GB" sz="1200" dirty="0">
              <a:solidFill>
                <a:srgbClr val="FF5959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BACBC0-E99C-DF16-91CB-87ABC7F374DA}"/>
              </a:ext>
            </a:extLst>
          </p:cNvPr>
          <p:cNvSpPr txBox="1"/>
          <p:nvPr/>
        </p:nvSpPr>
        <p:spPr>
          <a:xfrm>
            <a:off x="20068417" y="29617735"/>
            <a:ext cx="4909958" cy="32932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2600" dirty="0"/>
              <a:t>Semi-perfusion mode with  partial medium exchange (0.75 RVd</a:t>
            </a:r>
            <a:r>
              <a:rPr lang="en-GB" sz="2600" baseline="30000" dirty="0"/>
              <a:t>-1</a:t>
            </a:r>
            <a:r>
              <a:rPr lang="en-GB" sz="2600" dirty="0"/>
              <a:t>) was selected to investigate industrially relevant settings of prospective automated workflows . Two biologically independent runs with triplicate measurements per sample were performed.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32CC8BC-2A44-9743-E15B-C605405EE24F}"/>
              </a:ext>
            </a:extLst>
          </p:cNvPr>
          <p:cNvCxnSpPr>
            <a:cxnSpLocks/>
          </p:cNvCxnSpPr>
          <p:nvPr/>
        </p:nvCxnSpPr>
        <p:spPr>
          <a:xfrm>
            <a:off x="18164924" y="29413548"/>
            <a:ext cx="0" cy="21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75580E1-EE37-26A8-3ED5-BB844E7C717F}"/>
              </a:ext>
            </a:extLst>
          </p:cNvPr>
          <p:cNvCxnSpPr>
            <a:cxnSpLocks/>
          </p:cNvCxnSpPr>
          <p:nvPr/>
        </p:nvCxnSpPr>
        <p:spPr>
          <a:xfrm>
            <a:off x="18998566" y="29413548"/>
            <a:ext cx="0" cy="21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C0E43FA-C148-DAD8-D067-A912FCF088F4}"/>
              </a:ext>
            </a:extLst>
          </p:cNvPr>
          <p:cNvCxnSpPr>
            <a:cxnSpLocks/>
          </p:cNvCxnSpPr>
          <p:nvPr/>
        </p:nvCxnSpPr>
        <p:spPr>
          <a:xfrm>
            <a:off x="17753376" y="29413548"/>
            <a:ext cx="0" cy="21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1AC03F-65A8-5B6F-1976-1F0D34D4DACA}"/>
              </a:ext>
            </a:extLst>
          </p:cNvPr>
          <p:cNvSpPr txBox="1"/>
          <p:nvPr/>
        </p:nvSpPr>
        <p:spPr>
          <a:xfrm>
            <a:off x="1077912" y="35944741"/>
            <a:ext cx="1322442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u="sng" dirty="0"/>
              <a:t>Validation studies in MWP: Second CHO cell line</a:t>
            </a:r>
          </a:p>
          <a:p>
            <a:r>
              <a:rPr lang="en-GB" sz="3000" dirty="0"/>
              <a:t>Comparison studies of fed-batch vs semi-perfusion methodologies with various clones of a bspAb1 producing CHO cell line.</a:t>
            </a:r>
          </a:p>
          <a:p>
            <a:endParaRPr lang="en-GB" sz="3000" dirty="0"/>
          </a:p>
          <a:p>
            <a:r>
              <a:rPr lang="en-GB" sz="3000" b="1" u="sng" dirty="0"/>
              <a:t>Aim:</a:t>
            </a:r>
            <a:r>
              <a:rPr lang="en-GB" sz="3000" b="1" dirty="0"/>
              <a:t> </a:t>
            </a:r>
          </a:p>
          <a:p>
            <a:r>
              <a:rPr lang="en-GB" sz="3000" dirty="0"/>
              <a:t>Showing applicability across different CHO cell lines and types of protein product</a:t>
            </a:r>
          </a:p>
          <a:p>
            <a:endParaRPr lang="en-GB" sz="3000" dirty="0"/>
          </a:p>
          <a:p>
            <a:r>
              <a:rPr lang="en-GB" sz="3000" b="1" u="sng" dirty="0"/>
              <a:t>Results: Similar outcome as for mAb1 producing CHO cell line</a:t>
            </a:r>
          </a:p>
          <a:p>
            <a:r>
              <a:rPr lang="en-GB" sz="3000" dirty="0"/>
              <a:t>Semi-perfusion outperformed fed-batch</a:t>
            </a:r>
          </a:p>
          <a:p>
            <a:r>
              <a:rPr lang="en-GB" sz="3000" dirty="0"/>
              <a:t>Rankings differ between different operation modes and perfusion rate strategies</a:t>
            </a:r>
          </a:p>
          <a:p>
            <a:r>
              <a:rPr lang="en-GB" sz="3000" dirty="0"/>
              <a:t>Utilising multiple parameter (i.e. MI</a:t>
            </a:r>
            <a:r>
              <a:rPr lang="en-GB" sz="3000" baseline="-25000" dirty="0"/>
              <a:t>CL</a:t>
            </a:r>
            <a:r>
              <a:rPr lang="en-GB" sz="3000" dirty="0"/>
              <a:t>) for ranking resulted in greater consistency </a:t>
            </a:r>
          </a:p>
        </p:txBody>
      </p:sp>
      <p:pic>
        <p:nvPicPr>
          <p:cNvPr id="11" name="Picture 10" descr="Project Path: C:\Users\Marie\OneDrive - University College London\O_Origin\Projects\AZ cell lines.opju&#10;PE Folder: /AZ cell lines/Reproducibility study/mAb1/&#10;Short Name: C12_1-2_growthViab">
            <a:extLst>
              <a:ext uri="{FF2B5EF4-FFF2-40B4-BE49-F238E27FC236}">
                <a16:creationId xmlns:a16="http://schemas.microsoft.com/office/drawing/2014/main" id="{0A0BB0F9-3370-8C75-202C-3E83B6AA2FB8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1"/>
          <a:stretch/>
        </p:blipFill>
        <p:spPr bwMode="auto">
          <a:xfrm>
            <a:off x="15726417" y="25325814"/>
            <a:ext cx="4225290" cy="34194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3" name="Picture 62" descr="Project Path: C:\Users\Marie\OneDrive - University College London\O_Origin\Projects\AZ cell lines.opju&#10;PE Folder: /AZ cell lines/Reproducibility study/mAb1/&#10;Short Name: C16_1-2_growthViab">
            <a:extLst>
              <a:ext uri="{FF2B5EF4-FFF2-40B4-BE49-F238E27FC236}">
                <a16:creationId xmlns:a16="http://schemas.microsoft.com/office/drawing/2014/main" id="{3D712D63-D32D-1D4F-EC50-E1A3B53E837D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9"/>
          <a:stretch/>
        </p:blipFill>
        <p:spPr bwMode="auto">
          <a:xfrm>
            <a:off x="20283708" y="25287049"/>
            <a:ext cx="4218940" cy="34194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1" name="Picture 70" descr="Project Path: C:\Users\Marie\OneDrive - University College London\O_Origin\Projects\AZ cell lines.opju&#10;PE Folder: /AZ cell lines/Reproducibility study/mAb1/&#10;Short Name: C24_1-2_growthViab">
            <a:extLst>
              <a:ext uri="{FF2B5EF4-FFF2-40B4-BE49-F238E27FC236}">
                <a16:creationId xmlns:a16="http://schemas.microsoft.com/office/drawing/2014/main" id="{A3D5EF9F-D66E-3A9F-0D99-CE016A8029C5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9"/>
          <a:stretch/>
        </p:blipFill>
        <p:spPr bwMode="auto">
          <a:xfrm>
            <a:off x="24756729" y="25326741"/>
            <a:ext cx="4218940" cy="34194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3" name="Picture 72" descr="Project Path: C:\Users\Marie\OneDrive - University College London\O_Origin\Projects\AZ cell lines.opju&#10;PE Folder: /AZ cell lines/mAb/&#10;Short Name: C16-growth">
            <a:extLst>
              <a:ext uri="{FF2B5EF4-FFF2-40B4-BE49-F238E27FC236}">
                <a16:creationId xmlns:a16="http://schemas.microsoft.com/office/drawing/2014/main" id="{94EF8CB3-8A37-8CB0-CEEE-10AE13C58FC5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6" t="3624" r="1753" b="1964"/>
          <a:stretch/>
        </p:blipFill>
        <p:spPr bwMode="auto">
          <a:xfrm>
            <a:off x="6238951" y="15516181"/>
            <a:ext cx="4312920" cy="34194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4" name="Picture 73" descr="Project Path: C:\Users\Marie\OneDrive - University College London\O_Origin\Projects\AZ cell lines.opju&#10;PE Folder: /AZ cell lines/mAb/&#10;Short Name: C24-growth">
            <a:extLst>
              <a:ext uri="{FF2B5EF4-FFF2-40B4-BE49-F238E27FC236}">
                <a16:creationId xmlns:a16="http://schemas.microsoft.com/office/drawing/2014/main" id="{AA5E153A-796D-C617-08B6-9A58E0ED35B9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7" t="3625" r="1342" b="2329"/>
          <a:stretch/>
        </p:blipFill>
        <p:spPr bwMode="auto">
          <a:xfrm>
            <a:off x="10672083" y="15516181"/>
            <a:ext cx="4356100" cy="34194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84A8DE5E-4089-2904-4644-60310B689A70}"/>
              </a:ext>
            </a:extLst>
          </p:cNvPr>
          <p:cNvSpPr/>
          <p:nvPr/>
        </p:nvSpPr>
        <p:spPr>
          <a:xfrm>
            <a:off x="6493492" y="7401182"/>
            <a:ext cx="4296912" cy="960140"/>
          </a:xfrm>
          <a:prstGeom prst="rightArrow">
            <a:avLst>
              <a:gd name="adj1" fmla="val 63968"/>
              <a:gd name="adj2" fmla="val 81745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solidFill>
                  <a:schemeClr val="tx1"/>
                </a:solidFill>
              </a:rPr>
              <a:t>Cell retention /bleed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6F09D87F-592A-D5E4-E11E-37E29C7787DD}"/>
              </a:ext>
            </a:extLst>
          </p:cNvPr>
          <p:cNvSpPr/>
          <p:nvPr/>
        </p:nvSpPr>
        <p:spPr>
          <a:xfrm>
            <a:off x="6493492" y="8508970"/>
            <a:ext cx="4282554" cy="960140"/>
          </a:xfrm>
          <a:prstGeom prst="rightArrow">
            <a:avLst>
              <a:gd name="adj1" fmla="val 63968"/>
              <a:gd name="adj2" fmla="val 81110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solidFill>
                  <a:schemeClr val="tx1"/>
                </a:solidFill>
              </a:rPr>
              <a:t>Perfusion rate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BDBC91-049F-6D6B-6697-75563AE531D4}"/>
              </a:ext>
            </a:extLst>
          </p:cNvPr>
          <p:cNvSpPr/>
          <p:nvPr/>
        </p:nvSpPr>
        <p:spPr>
          <a:xfrm>
            <a:off x="1288211" y="7407317"/>
            <a:ext cx="5004000" cy="961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solidFill>
                  <a:schemeClr val="tx1"/>
                </a:solidFill>
              </a:rPr>
              <a:t>High cell density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332EDA4-F624-8E01-A106-CB95F1FD3B4A}"/>
              </a:ext>
            </a:extLst>
          </p:cNvPr>
          <p:cNvSpPr/>
          <p:nvPr/>
        </p:nvSpPr>
        <p:spPr>
          <a:xfrm>
            <a:off x="1288211" y="8512257"/>
            <a:ext cx="5004000" cy="961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solidFill>
                  <a:schemeClr val="tx1"/>
                </a:solidFill>
              </a:rPr>
              <a:t>Continuous medium exchange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B378B7B-54E2-401B-469C-2E1048CA3238}"/>
              </a:ext>
            </a:extLst>
          </p:cNvPr>
          <p:cNvSpPr/>
          <p:nvPr/>
        </p:nvSpPr>
        <p:spPr>
          <a:xfrm>
            <a:off x="10959390" y="7410427"/>
            <a:ext cx="3125561" cy="2078616"/>
          </a:xfrm>
          <a:prstGeom prst="rect">
            <a:avLst/>
          </a:prstGeom>
          <a:ln w="28575">
            <a:solidFill>
              <a:srgbClr val="36647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000" dirty="0">
                <a:solidFill>
                  <a:schemeClr val="tx1"/>
                </a:solidFill>
              </a:rPr>
              <a:t>Stable &amp; controlled environment for cells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78E55C-FC11-C014-C63C-2D63F0A8460B}"/>
              </a:ext>
            </a:extLst>
          </p:cNvPr>
          <p:cNvCxnSpPr>
            <a:cxnSpLocks/>
          </p:cNvCxnSpPr>
          <p:nvPr/>
        </p:nvCxnSpPr>
        <p:spPr>
          <a:xfrm>
            <a:off x="23910359" y="9337447"/>
            <a:ext cx="624018" cy="5600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8E25A4F-A647-3F08-5E1E-175B81DAA5C1}"/>
              </a:ext>
            </a:extLst>
          </p:cNvPr>
          <p:cNvSpPr txBox="1">
            <a:spLocks/>
          </p:cNvSpPr>
          <p:nvPr/>
        </p:nvSpPr>
        <p:spPr>
          <a:xfrm>
            <a:off x="18656701" y="4008599"/>
            <a:ext cx="5413479" cy="634005"/>
          </a:xfrm>
          <a:prstGeom prst="rect">
            <a:avLst/>
          </a:prstGeom>
        </p:spPr>
        <p:txBody>
          <a:bodyPr/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dirty="0">
                <a:latin typeface="+mj-lt"/>
              </a:rPr>
              <a:t>Contact: marie.dorn.21@ucl.ac.uk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b="0" baseline="30000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52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7" grpId="0"/>
      <p:bldP spid="46" grpId="0" animBg="1"/>
      <p:bldP spid="48" grpId="0" animBg="1"/>
      <p:bldP spid="49" grpId="0" animBg="1"/>
      <p:bldP spid="51" grpId="0"/>
      <p:bldP spid="53" grpId="0" animBg="1"/>
      <p:bldP spid="97" grpId="0"/>
      <p:bldP spid="98" grpId="0"/>
      <p:bldP spid="99" grpId="0"/>
      <p:bldP spid="115" grpId="0"/>
      <p:bldP spid="116" grpId="0"/>
      <p:bldP spid="117" grpId="0"/>
      <p:bldP spid="132" grpId="0"/>
      <p:bldP spid="137" grpId="0" animBg="1"/>
      <p:bldP spid="38" grpId="0" animBg="1"/>
      <p:bldP spid="50" grpId="0" animBg="1"/>
      <p:bldP spid="52" grpId="0" animBg="1"/>
      <p:bldP spid="57" grpId="0"/>
      <p:bldP spid="58" grpId="0"/>
      <p:bldP spid="8" grpId="0"/>
    </p:bldLst>
  </p:timing>
</p:sld>
</file>

<file path=ppt/theme/theme1.xml><?xml version="1.0" encoding="utf-8"?>
<a:theme xmlns:a="http://schemas.openxmlformats.org/drawingml/2006/main" name="UCL_Dark_Blue_A0_Portrait_Poster_Theme">
  <a:themeElements>
    <a:clrScheme name="UCL Dark Blue Theme">
      <a:dk1>
        <a:srgbClr val="000000"/>
      </a:dk1>
      <a:lt1>
        <a:srgbClr val="FFFFFF"/>
      </a:lt1>
      <a:dk2>
        <a:srgbClr val="003D4C"/>
      </a:dk2>
      <a:lt2>
        <a:srgbClr val="CCD8DB"/>
      </a:lt2>
      <a:accent1>
        <a:srgbClr val="EA7600"/>
      </a:accent1>
      <a:accent2>
        <a:srgbClr val="B5BD00"/>
      </a:accent2>
      <a:accent3>
        <a:srgbClr val="D50032"/>
      </a:accent3>
      <a:accent4>
        <a:srgbClr val="0097A9"/>
      </a:accent4>
      <a:accent5>
        <a:srgbClr val="F6BE00"/>
      </a:accent5>
      <a:accent6>
        <a:srgbClr val="8DB9CA"/>
      </a:accent6>
      <a:hlink>
        <a:srgbClr val="0097A9"/>
      </a:hlink>
      <a:folHlink>
        <a:srgbClr val="0097A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L_Dark_Blue_A0_Portrait_Poster_Theme" id="{62546128-29E5-4703-B961-4DBBE2C66B9C}" vid="{161FDB0F-C8D2-46F1-966B-D8E056341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588F8A9E3F834993FE7121E63CD4E6" ma:contentTypeVersion="18" ma:contentTypeDescription="Create a new document." ma:contentTypeScope="" ma:versionID="1e450a6bae8dd8a81acd90b9e6f6c54d">
  <xsd:schema xmlns:xsd="http://www.w3.org/2001/XMLSchema" xmlns:xs="http://www.w3.org/2001/XMLSchema" xmlns:p="http://schemas.microsoft.com/office/2006/metadata/properties" xmlns:ns3="44a56295-c29e-4898-8136-a54736c65b82" xmlns:ns4="6804b9a2-d5d7-482f-88a4-0d0a3ba1b34a" xmlns:ns5="e9918bc8-da7f-45f7-a309-d743a3d9e4de" targetNamespace="http://schemas.microsoft.com/office/2006/metadata/properties" ma:root="true" ma:fieldsID="9e103df890a55fc29ada110aa2fe93f2" ns3:_="" ns4:_="" ns5:_="">
    <xsd:import namespace="44a56295-c29e-4898-8136-a54736c65b82"/>
    <xsd:import namespace="6804b9a2-d5d7-482f-88a4-0d0a3ba1b34a"/>
    <xsd:import namespace="e9918bc8-da7f-45f7-a309-d743a3d9e4de"/>
    <xsd:element name="properties">
      <xsd:complexType>
        <xsd:sequence>
          <xsd:element name="documentManagement">
            <xsd:complexType>
              <xsd:all>
                <xsd:element ref="ns3:Descriptions" minOccurs="0"/>
                <xsd:element ref="ns3:Keyword" minOccurs="0"/>
                <xsd:element ref="ns4:MediaServiceDateTaken" minOccurs="0"/>
                <xsd:element ref="ns5:SharedWithUsers" minOccurs="0"/>
                <xsd:element ref="ns5:SharedWithDetails" minOccurs="0"/>
                <xsd:element ref="ns5:SharingHintHash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04b9a2-d5d7-482f-88a4-0d0a3ba1b34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7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18bc8-da7f-45f7-a309-d743a3d9e4d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1ee89e71-04cd-405e-9ca3-99e020c1694d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_activity xmlns="6804b9a2-d5d7-482f-88a4-0d0a3ba1b34a" xsi:nil="true"/>
    <Descriptions xmlns="44a56295-c29e-4898-8136-a54736c65b82" xsi:nil="true"/>
  </documentManagement>
</p:properties>
</file>

<file path=customXml/itemProps1.xml><?xml version="1.0" encoding="utf-8"?>
<ds:datastoreItem xmlns:ds="http://schemas.openxmlformats.org/officeDocument/2006/customXml" ds:itemID="{4EDD537A-4801-459D-92D6-2C333C71B7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a56295-c29e-4898-8136-a54736c65b82"/>
    <ds:schemaRef ds:uri="6804b9a2-d5d7-482f-88a4-0d0a3ba1b34a"/>
    <ds:schemaRef ds:uri="e9918bc8-da7f-45f7-a309-d743a3d9e4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D5FBE7-C0CC-4279-A34D-D970F9297238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69E8C281-83B0-4562-86CD-0AD96209020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1899FB2-D94E-43EC-95F8-368C270B9548}">
  <ds:schemaRefs>
    <ds:schemaRef ds:uri="http://purl.org/dc/elements/1.1/"/>
    <ds:schemaRef ds:uri="http://schemas.microsoft.com/office/2006/metadata/properties"/>
    <ds:schemaRef ds:uri="44a56295-c29e-4898-8136-a54736c65b82"/>
    <ds:schemaRef ds:uri="http://schemas.openxmlformats.org/package/2006/metadata/core-properties"/>
    <ds:schemaRef ds:uri="http://purl.org/dc/dcmitype/"/>
    <ds:schemaRef ds:uri="e9918bc8-da7f-45f7-a309-d743a3d9e4de"/>
    <ds:schemaRef ds:uri="6804b9a2-d5d7-482f-88a4-0d0a3ba1b34a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UCL_Dark_Blue_A0_Portrait_Poster_Theme</Template>
  <TotalTime>9495</TotalTime>
  <Words>1061</Words>
  <Application>Microsoft Office PowerPoint</Application>
  <PresentationFormat>Custom</PresentationFormat>
  <Paragraphs>246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Mincho</vt:lpstr>
      <vt:lpstr>Aptos</vt:lpstr>
      <vt:lpstr>Arial</vt:lpstr>
      <vt:lpstr>Calibri</vt:lpstr>
      <vt:lpstr>Wingdings</vt:lpstr>
      <vt:lpstr>UCL_Dark_Blue_A0_Portrait_Poster_Theme</vt:lpstr>
      <vt:lpstr>Early Manufacturing Insights and Clone Selection for perfusion processes</vt:lpstr>
    </vt:vector>
  </TitlesOfParts>
  <Company>University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UCL A0 Portrait Poster Template</dc:subject>
  <dc:creator>Andaya, Tess</dc:creator>
  <cp:keywords>UCL A0 Portrait Poster</cp:keywords>
  <cp:lastModifiedBy>Lee, Ken</cp:lastModifiedBy>
  <cp:revision>28</cp:revision>
  <dcterms:created xsi:type="dcterms:W3CDTF">2020-11-04T16:23:33Z</dcterms:created>
  <dcterms:modified xsi:type="dcterms:W3CDTF">2024-09-09T11:19:43Z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0x010100A3588F8A9E3F834993FE7121E63CD4E6</vt:lpwstr>
  </property>
</Properties>
</file>