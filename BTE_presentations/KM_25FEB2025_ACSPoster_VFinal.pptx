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340" r:id="rId8"/>
  </p:sldIdLst>
  <p:sldSz cx="15124113" cy="10688638"/>
  <p:notesSz cx="6670675" cy="9875838"/>
  <p:defaultTextStyle>
    <a:defPPr>
      <a:defRPr lang="en-US"/>
    </a:defPPr>
    <a:lvl1pPr marL="0" algn="l" defTabSz="715015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715015" algn="l" defTabSz="715015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1430030" algn="l" defTabSz="715015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2145045" algn="l" defTabSz="715015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2860060" algn="l" defTabSz="715015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3575075" algn="l" defTabSz="715015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4290090" algn="l" defTabSz="715015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5005106" algn="l" defTabSz="715015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5720121" algn="l" defTabSz="715015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1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339C12-DCBD-9A9C-1696-4953DC63FD48}" name="Morgan, Keith" initials="MK" userId="S::kmpw453@astrazeneca.net::2edea8ab-f79e-4e42-a2a2-97a3169dc75b" providerId="AD"/>
  <p188:author id="{1903AD20-8978-6771-8D84-CD43AD54A089}" name="Patil, Ujwal" initials="" userId="S::khnr832@astrazeneca.net::ae525e60-0bf1-4d27-946a-cbd1639d1ef1" providerId="AD"/>
  <p188:author id="{7638F738-91D3-F8EB-4141-CEFF15487693}" name="Fakhfakh, Kareem" initials="FK" userId="S::kxtp952@astrazeneca.net::c32b3ae8-6535-4061-8c8a-9fdc6c1d2764" providerId="AD"/>
  <p188:author id="{9E70248C-9A64-9B6B-04DF-80BD6F5C6396}" name="Ramos, Irina" initials="RI" userId="S::klrp961@astrazeneca.net::7b7439c8-8a89-4a36-badd-3ea66a09fed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AD4D85"/>
    <a:srgbClr val="534D53"/>
    <a:srgbClr val="FFFFFF"/>
    <a:srgbClr val="EBEFEE"/>
    <a:srgbClr val="C184A7"/>
    <a:srgbClr val="DBC5D2"/>
    <a:srgbClr val="DFC3D5"/>
    <a:srgbClr val="DDC7D5"/>
    <a:srgbClr val="E4CCDB"/>
    <a:srgbClr val="473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04" autoAdjust="0"/>
  </p:normalViewPr>
  <p:slideViewPr>
    <p:cSldViewPr snapToGrid="0">
      <p:cViewPr>
        <p:scale>
          <a:sx n="66" d="100"/>
          <a:sy n="66" d="100"/>
        </p:scale>
        <p:origin x="36" y="-2216"/>
      </p:cViewPr>
      <p:guideLst>
        <p:guide orient="horz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11"/>
        <p:guide pos="210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626" cy="4937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8505" y="0"/>
            <a:ext cx="2890626" cy="4937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ED7E8-0829-F34C-B479-A757805E6C1B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80332"/>
            <a:ext cx="2890626" cy="4937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8505" y="9380332"/>
            <a:ext cx="2890626" cy="4937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334D3-7666-C24C-995B-669B029DD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3147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626" cy="4937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8505" y="0"/>
            <a:ext cx="2890626" cy="4937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E4F11-7667-5045-A00B-01970EA44BB5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741363"/>
            <a:ext cx="52387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7068" y="4691023"/>
            <a:ext cx="5336540" cy="444412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80332"/>
            <a:ext cx="2890626" cy="4937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8505" y="9380332"/>
            <a:ext cx="2890626" cy="4937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D751AE-7ABC-314D-AFAD-47B860ED6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454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1501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715015" algn="l" defTabSz="71501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1430030" algn="l" defTabSz="71501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2145045" algn="l" defTabSz="71501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2860060" algn="l" defTabSz="71501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3575075" algn="l" defTabSz="71501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4290090" algn="l" defTabSz="71501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5005106" algn="l" defTabSz="71501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5720121" algn="l" defTabSz="71501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000" dirty="0">
                <a:solidFill>
                  <a:schemeClr val="tx1"/>
                </a:solidFill>
                <a:cs typeface="Arial"/>
              </a:rPr>
              <a:t>Highlight the parts of the GUI for user understanding of the sections #DONE</a:t>
            </a:r>
          </a:p>
          <a:p>
            <a:r>
              <a:rPr lang="en-GB" sz="2000" dirty="0">
                <a:solidFill>
                  <a:schemeClr val="tx1"/>
                </a:solidFill>
                <a:cs typeface="Arial"/>
              </a:rPr>
              <a:t>Try to make the graph larger and the legends larger #DONE</a:t>
            </a:r>
          </a:p>
          <a:p>
            <a:r>
              <a:rPr lang="en-US" sz="2000" dirty="0">
                <a:solidFill>
                  <a:schemeClr val="tx1"/>
                </a:solidFill>
                <a:cs typeface="Arial"/>
              </a:rPr>
              <a:t>Make a 3</a:t>
            </a:r>
            <a:r>
              <a:rPr lang="en-US" sz="2000" baseline="30000" dirty="0">
                <a:solidFill>
                  <a:schemeClr val="tx1"/>
                </a:solidFill>
                <a:cs typeface="Arial"/>
              </a:rPr>
              <a:t>rd</a:t>
            </a:r>
            <a:r>
              <a:rPr lang="en-US" sz="2000" dirty="0">
                <a:solidFill>
                  <a:schemeClr val="tx1"/>
                </a:solidFill>
                <a:cs typeface="Arial"/>
              </a:rPr>
              <a:t> line under figure 9 which explains accuracy of sampling vs accuracy of run #DONE</a:t>
            </a:r>
          </a:p>
          <a:p>
            <a:r>
              <a:rPr lang="en-US" sz="2000" dirty="0">
                <a:solidFill>
                  <a:schemeClr val="tx1"/>
                </a:solidFill>
                <a:cs typeface="Arial"/>
              </a:rPr>
              <a:t>Figure 7 spell out permeate, retentate, feed #DONE </a:t>
            </a:r>
          </a:p>
          <a:p>
            <a:r>
              <a:rPr lang="en-US" sz="2000" dirty="0">
                <a:solidFill>
                  <a:schemeClr val="tx1"/>
                </a:solidFill>
                <a:cs typeface="Arial"/>
              </a:rPr>
              <a:t>Find a way to spell out CC-dialysis to countercurrent dialysis #DONE</a:t>
            </a:r>
          </a:p>
          <a:p>
            <a:r>
              <a:rPr lang="en-US" sz="2000" dirty="0">
                <a:solidFill>
                  <a:schemeClr val="tx1"/>
                </a:solidFill>
                <a:cs typeface="Arial"/>
              </a:rPr>
              <a:t>Acknowledgments this work was possible with collaboration with an automation/electrical engineering company root3labs </a:t>
            </a:r>
            <a:r>
              <a:rPr lang="en-US" sz="2000" dirty="0" err="1">
                <a:solidFill>
                  <a:schemeClr val="tx1"/>
                </a:solidFill>
                <a:cs typeface="Arial"/>
              </a:rPr>
              <a:t>inc</a:t>
            </a:r>
            <a:r>
              <a:rPr lang="en-US" sz="2000" dirty="0">
                <a:solidFill>
                  <a:schemeClr val="tx1"/>
                </a:solidFill>
                <a:cs typeface="Arial"/>
              </a:rPr>
              <a:t>/cc/r #DONE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D751AE-7ABC-314D-AFAD-47B860ED6FF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417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1" Type="http://schemas.openxmlformats.org/officeDocument/2006/relationships/customXml" Target="../../customXml/item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Mas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1625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econdary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106" y="2316502"/>
            <a:ext cx="6432081" cy="4128849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962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107" y="6746922"/>
            <a:ext cx="6431687" cy="187614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977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subtitle / presenter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506106" y="9176313"/>
            <a:ext cx="1587037" cy="481823"/>
          </a:xfrm>
        </p:spPr>
        <p:txBody>
          <a:bodyPr lIns="0"/>
          <a:lstStyle>
            <a:lvl1pPr algn="l"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F0B1B31-3000-4CD8-BB26-CDF0CF4ED3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6107" y="10053479"/>
            <a:ext cx="6431687" cy="273207"/>
          </a:xfrm>
        </p:spPr>
        <p:txBody>
          <a:bodyPr lIns="0" tIns="36000" rIns="0" bIns="36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303"/>
            </a:lvl1pPr>
            <a:lvl2pPr marL="535896" indent="0">
              <a:buNone/>
              <a:defRPr sz="1303"/>
            </a:lvl2pPr>
            <a:lvl3pPr marL="848502" indent="0">
              <a:buNone/>
              <a:defRPr sz="1303"/>
            </a:lvl3pPr>
            <a:lvl4pPr marL="1027134" indent="0">
              <a:buNone/>
              <a:defRPr sz="1303"/>
            </a:lvl4pPr>
            <a:lvl5pPr marL="1190136" indent="0">
              <a:buNone/>
              <a:defRPr sz="1303"/>
            </a:lvl5pPr>
          </a:lstStyle>
          <a:p>
            <a:pPr lvl="0"/>
            <a:r>
              <a:rPr lang="en-US"/>
              <a:t>Click to add confidentiality statement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676772" y="0"/>
            <a:ext cx="7448875" cy="10699860"/>
          </a:xfrm>
          <a:custGeom>
            <a:avLst/>
            <a:gdLst>
              <a:gd name="connsiteX0" fmla="*/ 1547827 w 6004761"/>
              <a:gd name="connsiteY0" fmla="*/ 0 h 6864096"/>
              <a:gd name="connsiteX1" fmla="*/ 6004760 w 6004761"/>
              <a:gd name="connsiteY1" fmla="*/ 0 h 6864096"/>
              <a:gd name="connsiteX2" fmla="*/ 6004761 w 6004761"/>
              <a:gd name="connsiteY2" fmla="*/ 6864096 h 6864096"/>
              <a:gd name="connsiteX3" fmla="*/ 1554450 w 6004761"/>
              <a:gd name="connsiteY3" fmla="*/ 6864096 h 6864096"/>
              <a:gd name="connsiteX4" fmla="*/ 1379124 w 6004761"/>
              <a:gd name="connsiteY4" fmla="*/ 6702826 h 6864096"/>
              <a:gd name="connsiteX5" fmla="*/ 0 w 6004761"/>
              <a:gd name="connsiteY5" fmla="*/ 3429001 h 6864096"/>
              <a:gd name="connsiteX6" fmla="*/ 1379124 w 6004761"/>
              <a:gd name="connsiteY6" fmla="*/ 155178 h 686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4761" h="6864096">
                <a:moveTo>
                  <a:pt x="1547827" y="0"/>
                </a:moveTo>
                <a:lnTo>
                  <a:pt x="6004760" y="0"/>
                </a:lnTo>
                <a:lnTo>
                  <a:pt x="6004761" y="6864096"/>
                </a:lnTo>
                <a:lnTo>
                  <a:pt x="1554450" y="6864096"/>
                </a:lnTo>
                <a:lnTo>
                  <a:pt x="1379124" y="6702826"/>
                </a:lnTo>
                <a:cubicBezTo>
                  <a:pt x="528239" y="5871990"/>
                  <a:pt x="0" y="4712184"/>
                  <a:pt x="0" y="3429001"/>
                </a:cubicBezTo>
                <a:cubicBezTo>
                  <a:pt x="0" y="2145819"/>
                  <a:pt x="528239" y="986013"/>
                  <a:pt x="1379124" y="15517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32000" rIns="91440" bIns="731520" rtlCol="0" anchor="ctr">
            <a:noAutofit/>
          </a:bodyPr>
          <a:lstStyle>
            <a:lvl1pPr marL="0" indent="0" algn="ctr" defTabSz="113431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985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3578" lvl="0" indent="-283578" algn="ctr"/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Brand Pictures, </a:t>
            </a:r>
            <a:br>
              <a:rPr lang="en-US"/>
            </a:br>
            <a:r>
              <a:rPr lang="en-US"/>
              <a:t>or insert a 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94F9465-82DF-4370-9E47-56C71396E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379691" y="969894"/>
            <a:ext cx="2558496" cy="98969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737"/>
            </a:lvl1pPr>
          </a:lstStyle>
          <a:p>
            <a:r>
              <a:rPr lang="en-US"/>
              <a:t>Use this placeholder for a secondary logo if needed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ED72C3C-E918-420F-9374-6F1CBE394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27" y="898930"/>
            <a:ext cx="2984614" cy="1016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231862-37A9-4364-9D96-47810B118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5365" y="630927"/>
            <a:ext cx="3465943" cy="143464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744"/>
              </a:spcAft>
            </a:pPr>
            <a:endParaRPr lang="en-US" sz="2977" err="1">
              <a:latin typeface="+mj-lt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8C86533-B59D-4640-AA9B-D75189B4B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590097" y="2"/>
            <a:ext cx="2560581" cy="10688638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8631" rIns="178631" bIns="267947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744"/>
              </a:spcAft>
            </a:pPr>
            <a:r>
              <a:rPr lang="en-GB" sz="1737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744"/>
              </a:spcAft>
            </a:pPr>
            <a:r>
              <a:rPr lang="en-GB" sz="1737">
                <a:solidFill>
                  <a:schemeClr val="tx1"/>
                </a:solidFill>
              </a:rPr>
              <a:t>Type the correct statement: </a:t>
            </a:r>
            <a:br>
              <a:rPr lang="en-GB" sz="1737">
                <a:solidFill>
                  <a:schemeClr val="accent1"/>
                </a:solidFill>
              </a:rPr>
            </a:br>
            <a:r>
              <a:rPr lang="en-GB" sz="1737">
                <a:solidFill>
                  <a:schemeClr val="accent1"/>
                </a:solidFill>
              </a:rPr>
              <a:t>‘</a:t>
            </a:r>
            <a:r>
              <a:rPr lang="en-GB" sz="1737" b="1" i="1">
                <a:solidFill>
                  <a:schemeClr val="accent1"/>
                </a:solidFill>
              </a:rPr>
              <a:t>Company Restricted’ </a:t>
            </a:r>
            <a:r>
              <a:rPr lang="en-GB" sz="1737" b="0">
                <a:solidFill>
                  <a:schemeClr val="tx1"/>
                </a:solidFill>
              </a:rPr>
              <a:t>or</a:t>
            </a:r>
            <a:r>
              <a:rPr lang="en-GB" sz="1737" b="1">
                <a:solidFill>
                  <a:schemeClr val="accent1"/>
                </a:solidFill>
              </a:rPr>
              <a:t> ‘</a:t>
            </a:r>
            <a:r>
              <a:rPr lang="en-GB" sz="1737" b="1" i="1">
                <a:solidFill>
                  <a:schemeClr val="accent1"/>
                </a:solidFill>
              </a:rPr>
              <a:t>Strictly Confidential’ </a:t>
            </a:r>
            <a:r>
              <a:rPr lang="en-GB" sz="1737" b="0" i="1">
                <a:solidFill>
                  <a:schemeClr val="tx1"/>
                </a:solidFill>
              </a:rPr>
              <a:t>.</a:t>
            </a:r>
            <a:r>
              <a:rPr lang="en-GB" sz="1737" b="1" i="1">
                <a:solidFill>
                  <a:schemeClr val="accent1"/>
                </a:solidFill>
              </a:rPr>
              <a:t> </a:t>
            </a:r>
            <a:r>
              <a:rPr lang="en-GB" sz="1737" b="0" i="0">
                <a:solidFill>
                  <a:schemeClr val="tx1"/>
                </a:solidFill>
              </a:rPr>
              <a:t>No statement is needed </a:t>
            </a:r>
            <a:br>
              <a:rPr lang="en-GB" sz="1737" b="0" i="0">
                <a:solidFill>
                  <a:schemeClr val="tx1"/>
                </a:solidFill>
              </a:rPr>
            </a:br>
            <a:r>
              <a:rPr lang="en-GB" sz="1737" b="0" i="0">
                <a:solidFill>
                  <a:schemeClr val="tx1"/>
                </a:solidFill>
              </a:rPr>
              <a:t>for public information. </a:t>
            </a:r>
            <a:endParaRPr lang="en-GB" sz="1737" b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3181C7-2372-4ADB-A7E1-372907919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12383" y="6044634"/>
            <a:ext cx="520968" cy="6545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744"/>
              </a:spcAft>
            </a:pPr>
            <a:r>
              <a:rPr lang="en-US" sz="2977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8283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22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106" y="2316502"/>
            <a:ext cx="6432081" cy="4128849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962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107" y="6746922"/>
            <a:ext cx="6431687" cy="187614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977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subtitle / presenter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506106" y="9176313"/>
            <a:ext cx="1587037" cy="481823"/>
          </a:xfrm>
        </p:spPr>
        <p:txBody>
          <a:bodyPr lIns="0"/>
          <a:lstStyle>
            <a:lvl1pPr algn="l"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F0B1B31-3000-4CD8-BB26-CDF0CF4ED3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6107" y="10053479"/>
            <a:ext cx="6431687" cy="273207"/>
          </a:xfrm>
        </p:spPr>
        <p:txBody>
          <a:bodyPr lIns="0" tIns="36000" rIns="0" bIns="36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303"/>
            </a:lvl1pPr>
            <a:lvl2pPr marL="535896" indent="0">
              <a:buNone/>
              <a:defRPr sz="1303"/>
            </a:lvl2pPr>
            <a:lvl3pPr marL="848502" indent="0">
              <a:buNone/>
              <a:defRPr sz="1303"/>
            </a:lvl3pPr>
            <a:lvl4pPr marL="1027134" indent="0">
              <a:buNone/>
              <a:defRPr sz="1303"/>
            </a:lvl4pPr>
            <a:lvl5pPr marL="1190136" indent="0">
              <a:buNone/>
              <a:defRPr sz="1303"/>
            </a:lvl5pPr>
          </a:lstStyle>
          <a:p>
            <a:pPr lvl="0"/>
            <a:r>
              <a:rPr lang="en-US"/>
              <a:t>Click to add confidentiality statement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676772" y="0"/>
            <a:ext cx="7448875" cy="10699860"/>
          </a:xfrm>
          <a:custGeom>
            <a:avLst/>
            <a:gdLst>
              <a:gd name="connsiteX0" fmla="*/ 1547827 w 6004761"/>
              <a:gd name="connsiteY0" fmla="*/ 0 h 6864096"/>
              <a:gd name="connsiteX1" fmla="*/ 6004760 w 6004761"/>
              <a:gd name="connsiteY1" fmla="*/ 0 h 6864096"/>
              <a:gd name="connsiteX2" fmla="*/ 6004761 w 6004761"/>
              <a:gd name="connsiteY2" fmla="*/ 6864096 h 6864096"/>
              <a:gd name="connsiteX3" fmla="*/ 1554450 w 6004761"/>
              <a:gd name="connsiteY3" fmla="*/ 6864096 h 6864096"/>
              <a:gd name="connsiteX4" fmla="*/ 1379124 w 6004761"/>
              <a:gd name="connsiteY4" fmla="*/ 6702826 h 6864096"/>
              <a:gd name="connsiteX5" fmla="*/ 0 w 6004761"/>
              <a:gd name="connsiteY5" fmla="*/ 3429001 h 6864096"/>
              <a:gd name="connsiteX6" fmla="*/ 1379124 w 6004761"/>
              <a:gd name="connsiteY6" fmla="*/ 155178 h 686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4761" h="6864096">
                <a:moveTo>
                  <a:pt x="1547827" y="0"/>
                </a:moveTo>
                <a:lnTo>
                  <a:pt x="6004760" y="0"/>
                </a:lnTo>
                <a:lnTo>
                  <a:pt x="6004761" y="6864096"/>
                </a:lnTo>
                <a:lnTo>
                  <a:pt x="1554450" y="6864096"/>
                </a:lnTo>
                <a:lnTo>
                  <a:pt x="1379124" y="6702826"/>
                </a:lnTo>
                <a:cubicBezTo>
                  <a:pt x="528239" y="5871990"/>
                  <a:pt x="0" y="4712184"/>
                  <a:pt x="0" y="3429001"/>
                </a:cubicBezTo>
                <a:cubicBezTo>
                  <a:pt x="0" y="2145819"/>
                  <a:pt x="528239" y="986013"/>
                  <a:pt x="1379124" y="15517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32000" rIns="91440" bIns="731520" rtlCol="0" anchor="ctr">
            <a:noAutofit/>
          </a:bodyPr>
          <a:lstStyle>
            <a:lvl1pPr marL="0" indent="0" algn="ctr" defTabSz="113431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985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3578" lvl="0" indent="-283578" algn="ctr"/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Brand Pictures, </a:t>
            </a:r>
            <a:br>
              <a:rPr lang="en-US"/>
            </a:br>
            <a:r>
              <a:rPr lang="en-US"/>
              <a:t>or insert a 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ED72C3C-E918-420F-9374-6F1CBE394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8253" y="898930"/>
            <a:ext cx="2984614" cy="1016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231862-37A9-4364-9D96-47810B118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3186" y="630927"/>
            <a:ext cx="3465943" cy="143464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744"/>
              </a:spcAft>
            </a:pPr>
            <a:endParaRPr lang="en-US" sz="2977" err="1">
              <a:latin typeface="+mj-lt"/>
            </a:endParaRP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94F9465-82DF-4370-9E47-56C71396E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1426" y="969894"/>
            <a:ext cx="2558496" cy="98969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737"/>
            </a:lvl1pPr>
          </a:lstStyle>
          <a:p>
            <a:r>
              <a:rPr lang="en-US"/>
              <a:t>Use this placeholder for a secondary logo if needed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8C86533-B59D-4640-AA9B-D75189B4B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590097" y="2"/>
            <a:ext cx="2560581" cy="10688638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8631" rIns="178631" bIns="267947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744"/>
              </a:spcAft>
            </a:pPr>
            <a:r>
              <a:rPr lang="en-GB" sz="1737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744"/>
              </a:spcAft>
            </a:pPr>
            <a:r>
              <a:rPr lang="en-GB" sz="1737">
                <a:solidFill>
                  <a:schemeClr val="tx1"/>
                </a:solidFill>
              </a:rPr>
              <a:t>Type the correct statement: </a:t>
            </a:r>
            <a:br>
              <a:rPr lang="en-GB" sz="1737">
                <a:solidFill>
                  <a:schemeClr val="accent1"/>
                </a:solidFill>
              </a:rPr>
            </a:br>
            <a:r>
              <a:rPr lang="en-GB" sz="1737">
                <a:solidFill>
                  <a:schemeClr val="accent1"/>
                </a:solidFill>
              </a:rPr>
              <a:t>‘</a:t>
            </a:r>
            <a:r>
              <a:rPr lang="en-GB" sz="1737" b="1" i="1">
                <a:solidFill>
                  <a:schemeClr val="accent1"/>
                </a:solidFill>
              </a:rPr>
              <a:t>Company Restricted’ </a:t>
            </a:r>
            <a:r>
              <a:rPr lang="en-GB" sz="1737" b="0">
                <a:solidFill>
                  <a:schemeClr val="tx1"/>
                </a:solidFill>
              </a:rPr>
              <a:t>or</a:t>
            </a:r>
            <a:r>
              <a:rPr lang="en-GB" sz="1737" b="1">
                <a:solidFill>
                  <a:schemeClr val="accent1"/>
                </a:solidFill>
              </a:rPr>
              <a:t> ‘</a:t>
            </a:r>
            <a:r>
              <a:rPr lang="en-GB" sz="1737" b="1" i="1">
                <a:solidFill>
                  <a:schemeClr val="accent1"/>
                </a:solidFill>
              </a:rPr>
              <a:t>Strictly Confidential’ </a:t>
            </a:r>
            <a:r>
              <a:rPr lang="en-GB" sz="1737" b="0" i="1">
                <a:solidFill>
                  <a:schemeClr val="tx1"/>
                </a:solidFill>
              </a:rPr>
              <a:t>.</a:t>
            </a:r>
            <a:r>
              <a:rPr lang="en-GB" sz="1737" b="1" i="1">
                <a:solidFill>
                  <a:schemeClr val="accent1"/>
                </a:solidFill>
              </a:rPr>
              <a:t> </a:t>
            </a:r>
            <a:r>
              <a:rPr lang="en-GB" sz="1737" b="0" i="0">
                <a:solidFill>
                  <a:schemeClr val="tx1"/>
                </a:solidFill>
              </a:rPr>
              <a:t>No statement is needed </a:t>
            </a:r>
            <a:br>
              <a:rPr lang="en-GB" sz="1737" b="0" i="0">
                <a:solidFill>
                  <a:schemeClr val="tx1"/>
                </a:solidFill>
              </a:rPr>
            </a:br>
            <a:r>
              <a:rPr lang="en-GB" sz="1737" b="0" i="0">
                <a:solidFill>
                  <a:schemeClr val="tx1"/>
                </a:solidFill>
              </a:rPr>
              <a:t>for public information. </a:t>
            </a:r>
            <a:endParaRPr lang="en-GB" sz="1737" b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3181C7-2372-4ADB-A7E1-372907919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12383" y="6044634"/>
            <a:ext cx="520968" cy="6545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744"/>
              </a:spcAft>
            </a:pPr>
            <a:r>
              <a:rPr lang="en-US" sz="2977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8556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22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105" y="3349282"/>
            <a:ext cx="5403721" cy="3096069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962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enter 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106" y="6746922"/>
            <a:ext cx="5403391" cy="187614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977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subtitle /</a:t>
            </a:r>
            <a:br>
              <a:rPr lang="en-US"/>
            </a:br>
            <a:r>
              <a:rPr lang="en-US"/>
              <a:t>presenter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506106" y="9176313"/>
            <a:ext cx="1587037" cy="481823"/>
          </a:xfrm>
        </p:spPr>
        <p:txBody>
          <a:bodyPr lIns="0"/>
          <a:lstStyle>
            <a:lvl1pPr algn="l"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92EBB4F1-3A58-475F-9EBB-925156182B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6108" y="10053479"/>
            <a:ext cx="5403390" cy="273207"/>
          </a:xfrm>
        </p:spPr>
        <p:txBody>
          <a:bodyPr wrap="square" lIns="0" tIns="36000" rIns="0" bIns="36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303"/>
            </a:lvl1pPr>
            <a:lvl2pPr marL="535896" indent="0">
              <a:buNone/>
              <a:defRPr sz="1303"/>
            </a:lvl2pPr>
            <a:lvl3pPr marL="848502" indent="0">
              <a:buNone/>
              <a:defRPr sz="1303"/>
            </a:lvl3pPr>
            <a:lvl4pPr marL="1027134" indent="0">
              <a:buNone/>
              <a:defRPr sz="1303"/>
            </a:lvl4pPr>
            <a:lvl5pPr marL="1190136" indent="0">
              <a:buNone/>
              <a:defRPr sz="1303"/>
            </a:lvl5pPr>
          </a:lstStyle>
          <a:p>
            <a:pPr lvl="0"/>
            <a:r>
              <a:rPr lang="en-US"/>
              <a:t>Click to add confidentiality statement 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B1523F-CCFB-4B58-AB3F-DEC8A49B7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225325" y="7679986"/>
            <a:ext cx="2898788" cy="3008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744"/>
              </a:spcAft>
            </a:pPr>
            <a:endParaRPr lang="en-US" sz="3473" err="1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ED72C3C-E918-420F-9374-6F1CBE394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27" y="898930"/>
            <a:ext cx="2984614" cy="1016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231862-37A9-4364-9D96-47810B118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5365" y="630927"/>
            <a:ext cx="3465943" cy="143464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744"/>
              </a:spcAft>
            </a:pPr>
            <a:endParaRPr lang="en-US" sz="2977" err="1">
              <a:latin typeface="+mj-lt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32A73A7-F1E1-4085-B3F6-999828C7F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06361" y="0"/>
            <a:ext cx="9017752" cy="10688638"/>
          </a:xfrm>
          <a:custGeom>
            <a:avLst/>
            <a:gdLst>
              <a:gd name="connsiteX0" fmla="*/ 2049352 w 7269480"/>
              <a:gd name="connsiteY0" fmla="*/ 0 h 6858000"/>
              <a:gd name="connsiteX1" fmla="*/ 3164301 w 7269480"/>
              <a:gd name="connsiteY1" fmla="*/ 0 h 6858000"/>
              <a:gd name="connsiteX2" fmla="*/ 5735747 w 7269480"/>
              <a:gd name="connsiteY2" fmla="*/ 0 h 6858000"/>
              <a:gd name="connsiteX3" fmla="*/ 5735748 w 7269480"/>
              <a:gd name="connsiteY3" fmla="*/ 0 h 6858000"/>
              <a:gd name="connsiteX4" fmla="*/ 5747970 w 7269480"/>
              <a:gd name="connsiteY4" fmla="*/ 6260 h 6858000"/>
              <a:gd name="connsiteX5" fmla="*/ 7120314 w 7269480"/>
              <a:gd name="connsiteY5" fmla="*/ 1252638 h 6858000"/>
              <a:gd name="connsiteX6" fmla="*/ 7269480 w 7269480"/>
              <a:gd name="connsiteY6" fmla="*/ 1498173 h 6858000"/>
              <a:gd name="connsiteX7" fmla="*/ 7269480 w 7269480"/>
              <a:gd name="connsiteY7" fmla="*/ 5359828 h 6858000"/>
              <a:gd name="connsiteX8" fmla="*/ 7120314 w 7269480"/>
              <a:gd name="connsiteY8" fmla="*/ 5605362 h 6858000"/>
              <a:gd name="connsiteX9" fmla="*/ 5747970 w 7269480"/>
              <a:gd name="connsiteY9" fmla="*/ 6851740 h 6858000"/>
              <a:gd name="connsiteX10" fmla="*/ 5735748 w 7269480"/>
              <a:gd name="connsiteY10" fmla="*/ 6858000 h 6858000"/>
              <a:gd name="connsiteX11" fmla="*/ 3163098 w 7269480"/>
              <a:gd name="connsiteY11" fmla="*/ 6858000 h 6858000"/>
              <a:gd name="connsiteX12" fmla="*/ 2049352 w 7269480"/>
              <a:gd name="connsiteY12" fmla="*/ 6858000 h 6858000"/>
              <a:gd name="connsiteX13" fmla="*/ 2037130 w 7269480"/>
              <a:gd name="connsiteY13" fmla="*/ 6851740 h 6858000"/>
              <a:gd name="connsiteX14" fmla="*/ 0 w 7269480"/>
              <a:gd name="connsiteY14" fmla="*/ 3429000 h 6858000"/>
              <a:gd name="connsiteX15" fmla="*/ 2037130 w 7269480"/>
              <a:gd name="connsiteY15" fmla="*/ 626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269480" h="6858000">
                <a:moveTo>
                  <a:pt x="2049352" y="0"/>
                </a:moveTo>
                <a:lnTo>
                  <a:pt x="3164301" y="0"/>
                </a:lnTo>
                <a:lnTo>
                  <a:pt x="5735747" y="0"/>
                </a:lnTo>
                <a:lnTo>
                  <a:pt x="5735748" y="0"/>
                </a:lnTo>
                <a:lnTo>
                  <a:pt x="5747970" y="6260"/>
                </a:lnTo>
                <a:cubicBezTo>
                  <a:pt x="6299519" y="305879"/>
                  <a:pt x="6770554" y="734926"/>
                  <a:pt x="7120314" y="1252638"/>
                </a:cubicBezTo>
                <a:lnTo>
                  <a:pt x="7269480" y="1498173"/>
                </a:lnTo>
                <a:lnTo>
                  <a:pt x="7269480" y="5359828"/>
                </a:lnTo>
                <a:lnTo>
                  <a:pt x="7120314" y="5605362"/>
                </a:lnTo>
                <a:cubicBezTo>
                  <a:pt x="6770554" y="6123075"/>
                  <a:pt x="6299519" y="6552122"/>
                  <a:pt x="5747970" y="6851740"/>
                </a:cubicBezTo>
                <a:lnTo>
                  <a:pt x="5735748" y="6858000"/>
                </a:lnTo>
                <a:lnTo>
                  <a:pt x="3163098" y="6858000"/>
                </a:lnTo>
                <a:lnTo>
                  <a:pt x="2049352" y="6858000"/>
                </a:lnTo>
                <a:lnTo>
                  <a:pt x="2037130" y="6851740"/>
                </a:lnTo>
                <a:cubicBezTo>
                  <a:pt x="823724" y="6192579"/>
                  <a:pt x="0" y="4906985"/>
                  <a:pt x="0" y="3429000"/>
                </a:cubicBezTo>
                <a:cubicBezTo>
                  <a:pt x="0" y="1951015"/>
                  <a:pt x="823724" y="665422"/>
                  <a:pt x="2037130" y="626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32000" rIns="91440" bIns="7315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985" b="1" dirty="0">
                <a:solidFill>
                  <a:schemeClr val="bg1"/>
                </a:solidFill>
              </a:defRPr>
            </a:lvl1pPr>
          </a:lstStyle>
          <a:p>
            <a:pPr marL="283578" lvl="0" indent="-283578" algn="ctr"/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Brand Pictures, </a:t>
            </a:r>
            <a:br>
              <a:rPr lang="en-US"/>
            </a:br>
            <a:r>
              <a:rPr lang="en-US"/>
              <a:t>or insert a 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75B7FBB-299C-44B5-9400-EB5D056A8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590097" y="2"/>
            <a:ext cx="2560581" cy="10688638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8631" rIns="178631" bIns="267947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744"/>
              </a:spcAft>
            </a:pPr>
            <a:r>
              <a:rPr lang="en-GB" sz="1737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744"/>
              </a:spcAft>
            </a:pPr>
            <a:r>
              <a:rPr lang="en-GB" sz="1737">
                <a:solidFill>
                  <a:schemeClr val="tx1"/>
                </a:solidFill>
              </a:rPr>
              <a:t>Type the correct statement: </a:t>
            </a:r>
            <a:br>
              <a:rPr lang="en-GB" sz="1737">
                <a:solidFill>
                  <a:schemeClr val="accent1"/>
                </a:solidFill>
              </a:rPr>
            </a:br>
            <a:r>
              <a:rPr lang="en-GB" sz="1737">
                <a:solidFill>
                  <a:schemeClr val="accent1"/>
                </a:solidFill>
              </a:rPr>
              <a:t>‘</a:t>
            </a:r>
            <a:r>
              <a:rPr lang="en-GB" sz="1737" b="1" i="1">
                <a:solidFill>
                  <a:schemeClr val="accent1"/>
                </a:solidFill>
              </a:rPr>
              <a:t>Company Restricted’ </a:t>
            </a:r>
            <a:r>
              <a:rPr lang="en-GB" sz="1737" b="0">
                <a:solidFill>
                  <a:schemeClr val="tx1"/>
                </a:solidFill>
              </a:rPr>
              <a:t>or</a:t>
            </a:r>
            <a:r>
              <a:rPr lang="en-GB" sz="1737" b="1">
                <a:solidFill>
                  <a:schemeClr val="accent1"/>
                </a:solidFill>
              </a:rPr>
              <a:t> ‘</a:t>
            </a:r>
            <a:r>
              <a:rPr lang="en-GB" sz="1737" b="1" i="1">
                <a:solidFill>
                  <a:schemeClr val="accent1"/>
                </a:solidFill>
              </a:rPr>
              <a:t>Strictly Confidential’ </a:t>
            </a:r>
            <a:r>
              <a:rPr lang="en-GB" sz="1737" b="0" i="1">
                <a:solidFill>
                  <a:schemeClr val="tx1"/>
                </a:solidFill>
              </a:rPr>
              <a:t>.</a:t>
            </a:r>
            <a:r>
              <a:rPr lang="en-GB" sz="1737" b="1" i="1">
                <a:solidFill>
                  <a:schemeClr val="accent1"/>
                </a:solidFill>
              </a:rPr>
              <a:t> </a:t>
            </a:r>
            <a:r>
              <a:rPr lang="en-GB" sz="1737" b="0" i="0">
                <a:solidFill>
                  <a:schemeClr val="tx1"/>
                </a:solidFill>
              </a:rPr>
              <a:t>No statement is needed </a:t>
            </a:r>
            <a:br>
              <a:rPr lang="en-GB" sz="1737" b="0" i="0">
                <a:solidFill>
                  <a:schemeClr val="tx1"/>
                </a:solidFill>
              </a:rPr>
            </a:br>
            <a:r>
              <a:rPr lang="en-GB" sz="1737" b="0" i="0">
                <a:solidFill>
                  <a:schemeClr val="tx1"/>
                </a:solidFill>
              </a:rPr>
              <a:t>for public information. </a:t>
            </a:r>
            <a:endParaRPr lang="en-GB" sz="1737" b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ED5B82E-36BE-4555-8CA2-58A989EDD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12383" y="6044634"/>
            <a:ext cx="520968" cy="65454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744"/>
              </a:spcAft>
            </a:pPr>
            <a:r>
              <a:rPr lang="en-US" sz="2977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8519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1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107" y="1669767"/>
            <a:ext cx="3782998" cy="1527213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4962"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52EAD-E21A-4A83-A364-65FFC805340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14036" y="1670099"/>
            <a:ext cx="10003972" cy="7787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 marL="571622" indent="-285811">
              <a:lnSpc>
                <a:spcPct val="100000"/>
              </a:lnSpc>
              <a:defRPr lang="en-US" sz="297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34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245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add text here. </a:t>
            </a:r>
            <a:br>
              <a:rPr lang="en-GB"/>
            </a:br>
            <a:r>
              <a:rPr lang="en-US"/>
              <a:t>When pasting copy from other slides, be sure to right-click and choose ‘Keep text only’.</a:t>
            </a:r>
            <a:br>
              <a:rPr lang="en-GB"/>
            </a:br>
            <a:r>
              <a:rPr lang="en-GB"/>
              <a:t>To increase bullet level, select your text and press Tab.</a:t>
            </a:r>
            <a:br>
              <a:rPr lang="en-GB"/>
            </a:br>
            <a:r>
              <a:rPr lang="en-GB"/>
              <a:t>To decrease bullet level, select your bullet text and press  Shift + Tab.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04BC3F-3250-41AA-B3F3-B5D6A729D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5E3BF5D9-8E40-4082-9AAD-60F44214B9D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17123" y="9741267"/>
            <a:ext cx="11847718" cy="874430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72"/>
              </a:spcAft>
              <a:buNone/>
              <a:defRPr sz="992"/>
            </a:lvl1pPr>
          </a:lstStyle>
          <a:p>
            <a:pPr lvl="0"/>
            <a:r>
              <a:rPr lang="en-US"/>
              <a:t>Footnotes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91507" y="1669768"/>
            <a:ext cx="0" cy="77860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86DE4FB-795F-484C-AD8A-2137F4F32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6060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30">
          <p15:clr>
            <a:srgbClr val="C35EA4"/>
          </p15:clr>
        </p15:guide>
        <p15:guide id="2" pos="2343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67DB2-7332-41D7-A67F-6D389C8181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0" name="Heading 1">
            <a:extLst>
              <a:ext uri="{FF2B5EF4-FFF2-40B4-BE49-F238E27FC236}">
                <a16:creationId xmlns:a16="http://schemas.microsoft.com/office/drawing/2014/main" id="{070D82D0-2159-463E-AB3F-9F2BE51F89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6106" y="3246180"/>
            <a:ext cx="6833421" cy="660618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6" name="Body 1">
            <a:extLst>
              <a:ext uri="{FF2B5EF4-FFF2-40B4-BE49-F238E27FC236}">
                <a16:creationId xmlns:a16="http://schemas.microsoft.com/office/drawing/2014/main" id="{8C2190C6-D818-4BFE-8D40-1D7A2A8ADF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6106" y="4005766"/>
            <a:ext cx="6833421" cy="534712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Heading 2">
            <a:extLst>
              <a:ext uri="{FF2B5EF4-FFF2-40B4-BE49-F238E27FC236}">
                <a16:creationId xmlns:a16="http://schemas.microsoft.com/office/drawing/2014/main" id="{24B2D424-3A88-43FD-9D45-46AC196CAD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84586" y="3246180"/>
            <a:ext cx="6833421" cy="660618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8" name="Body 2">
            <a:extLst>
              <a:ext uri="{FF2B5EF4-FFF2-40B4-BE49-F238E27FC236}">
                <a16:creationId xmlns:a16="http://schemas.microsoft.com/office/drawing/2014/main" id="{FB60ED6F-5297-42F6-9D9B-F6FF319D69C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784587" y="4005766"/>
            <a:ext cx="6833421" cy="534712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0693F-359E-4A4C-B3F0-F900FA65C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013D0F1F-6026-4F9D-886A-D6CB164FDC0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17123" y="9741267"/>
            <a:ext cx="11847718" cy="874430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72"/>
              </a:spcAft>
              <a:buNone/>
              <a:defRPr sz="992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9DB923-50C2-4A46-BF6E-A2E97DBB2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49127B-3E4D-4AFD-8464-39A987162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62057" y="2714574"/>
            <a:ext cx="0" cy="66379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0224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C35EA4"/>
          </p15:clr>
        </p15:guide>
        <p15:guide id="2" orient="horz" pos="981">
          <p15:clr>
            <a:srgbClr val="C35EA4"/>
          </p15:clr>
        </p15:guide>
        <p15:guide id="3" pos="3727">
          <p15:clr>
            <a:srgbClr val="C35EA4"/>
          </p15:clr>
        </p15:guide>
        <p15:guide id="4" pos="3953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1A257A5E-3450-4EAA-9676-01FE18D22A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6107" y="3246180"/>
            <a:ext cx="4375754" cy="660618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2" name="Content Placeholder 15">
            <a:extLst>
              <a:ext uri="{FF2B5EF4-FFF2-40B4-BE49-F238E27FC236}">
                <a16:creationId xmlns:a16="http://schemas.microsoft.com/office/drawing/2014/main" id="{AC128DA7-A1CD-4D7E-A165-98C85505473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6107" y="4005766"/>
            <a:ext cx="4375754" cy="534712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A7B7E24-E7D3-48A2-A374-DF6A8A555D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28888" y="3246180"/>
            <a:ext cx="4466333" cy="660618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4DFF8E89-1B64-4E2A-9B30-3844550AD3D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28889" y="4005766"/>
            <a:ext cx="4466333" cy="534712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6AAFFFBD-15E8-4574-972E-8DDFA341B65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42255" y="3246180"/>
            <a:ext cx="4375750" cy="660618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8" name="Content Placeholder 15">
            <a:extLst>
              <a:ext uri="{FF2B5EF4-FFF2-40B4-BE49-F238E27FC236}">
                <a16:creationId xmlns:a16="http://schemas.microsoft.com/office/drawing/2014/main" id="{CF570F45-2E05-4895-9F02-11DAFD1730B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242257" y="4005766"/>
            <a:ext cx="4375750" cy="534712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DE8D6-BF8D-46B6-A107-F9199421C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12B9530D-EF7B-47C9-A997-FA875C956E8F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17123" y="9741267"/>
            <a:ext cx="11847718" cy="874430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72"/>
              </a:spcAft>
              <a:buNone/>
              <a:defRPr sz="992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24A62-EC53-4EC3-A57F-B48D78D67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8AB9BA-443A-4985-908B-268C192E8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08530" y="2714574"/>
            <a:ext cx="0" cy="66379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7A7995C-40F8-42EE-BD46-96F566801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018739" y="2714574"/>
            <a:ext cx="0" cy="66379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76216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2479">
          <p15:clr>
            <a:srgbClr val="A4A3A4"/>
          </p15:clr>
        </p15:guide>
        <p15:guide id="6" pos="2706">
          <p15:clr>
            <a:srgbClr val="A4A3A4"/>
          </p15:clr>
        </p15:guide>
        <p15:guide id="11" orient="horz" pos="890">
          <p15:clr>
            <a:srgbClr val="C35EA4"/>
          </p15:clr>
        </p15:guide>
        <p15:guide id="12" orient="horz" pos="981">
          <p15:clr>
            <a:srgbClr val="C35EA4"/>
          </p15:clr>
        </p15:guide>
        <p15:guide id="13" pos="5201">
          <p15:clr>
            <a:srgbClr val="A4A3A4"/>
          </p15:clr>
        </p15:guide>
        <p15:guide id="14" pos="4974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106" y="3245177"/>
            <a:ext cx="3393080" cy="661972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6C5F394-5808-40FF-B6FD-65F71690691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06104" y="4005766"/>
            <a:ext cx="3393994" cy="5661331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/>
            </a:lvl1pPr>
            <a:lvl2pPr marL="571622" indent="-285811">
              <a:lnSpc>
                <a:spcPct val="100000"/>
              </a:lnSpc>
              <a:defRPr lang="en-US" sz="297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34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245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</a:t>
            </a:r>
            <a:r>
              <a:rPr lang="en-GB"/>
              <a:t>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A1E51E90-FD4F-4EA7-9FD6-A88EC3FEED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76423" y="3245177"/>
            <a:ext cx="3393080" cy="661972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0106C56-60ED-41EC-BD2A-FDB9B53E1C1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074454" y="4005766"/>
            <a:ext cx="3393994" cy="5661331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/>
            </a:lvl1pPr>
            <a:lvl2pPr marL="571622" indent="-285811">
              <a:lnSpc>
                <a:spcPct val="100000"/>
              </a:lnSpc>
              <a:defRPr lang="en-US" sz="297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34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245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</a:t>
            </a:r>
            <a:r>
              <a:rPr lang="en-GB"/>
              <a:t>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217A7646-8B12-4AE5-9EDC-1F06A8CF8C4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48634" y="3245177"/>
            <a:ext cx="3393080" cy="661972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3B9981B-E175-45D6-A51D-F0A0368267C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646664" y="4005766"/>
            <a:ext cx="3393994" cy="5661331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/>
            </a:lvl1pPr>
            <a:lvl2pPr marL="571622" indent="-285811">
              <a:lnSpc>
                <a:spcPct val="100000"/>
              </a:lnSpc>
              <a:defRPr lang="en-US" sz="297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34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245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</a:t>
            </a:r>
            <a:r>
              <a:rPr lang="en-GB"/>
              <a:t>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DE8D6-BF8D-46B6-A107-F9199421C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83A3A7A-40FD-44D2-97D9-301EB15E763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220844" y="3245177"/>
            <a:ext cx="3393080" cy="661972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1AD7E49F-D41B-42DC-925D-998AFB2BB412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11218875" y="4005766"/>
            <a:ext cx="3393994" cy="5661331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/>
            </a:lvl1pPr>
            <a:lvl2pPr marL="571622" indent="-285811">
              <a:lnSpc>
                <a:spcPct val="100000"/>
              </a:lnSpc>
              <a:defRPr lang="en-US" sz="297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34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245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</a:t>
            </a:r>
            <a:r>
              <a:rPr lang="en-GB"/>
              <a:t>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D3E73C55-1C0C-4880-A0D4-FC480D06253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17123" y="9741267"/>
            <a:ext cx="11847718" cy="874430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72"/>
              </a:spcAft>
              <a:buNone/>
              <a:defRPr sz="992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24A62-EC53-4EC3-A57F-B48D78D67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8AB9BA-443A-4985-908B-268C192E8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88788" y="2714574"/>
            <a:ext cx="0" cy="66379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7A7995C-40F8-42EE-BD46-96F566801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63113" y="2714574"/>
            <a:ext cx="0" cy="66379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A9C47E-839A-46E7-B955-073295D84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135325" y="2714574"/>
            <a:ext cx="0" cy="66379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32642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1980">
          <p15:clr>
            <a:srgbClr val="A4A3A4"/>
          </p15:clr>
        </p15:guide>
        <p15:guide id="6" pos="2071">
          <p15:clr>
            <a:srgbClr val="A4A3A4"/>
          </p15:clr>
        </p15:guide>
        <p15:guide id="11" orient="horz" pos="890">
          <p15:clr>
            <a:srgbClr val="C35EA4"/>
          </p15:clr>
        </p15:guide>
        <p15:guide id="12" orient="horz" pos="981">
          <p15:clr>
            <a:srgbClr val="C35EA4"/>
          </p15:clr>
        </p15:guide>
        <p15:guide id="13" pos="5700">
          <p15:clr>
            <a:srgbClr val="A4A3A4"/>
          </p15:clr>
        </p15:guide>
        <p15:guide id="14" pos="5609">
          <p15:clr>
            <a:srgbClr val="A4A3A4"/>
          </p15:clr>
        </p15:guide>
        <p15:guide id="15" pos="3795">
          <p15:clr>
            <a:srgbClr val="A4A3A4"/>
          </p15:clr>
        </p15:guide>
        <p15:guide id="16" pos="3885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105" y="3245177"/>
            <a:ext cx="9200503" cy="661972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F450BB10-EDA8-4244-8CBF-7F1645357D50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06104" y="4005764"/>
            <a:ext cx="9200505" cy="5358346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/>
            </a:lvl1pPr>
            <a:lvl2pPr marL="571622" indent="-285811">
              <a:lnSpc>
                <a:spcPct val="100000"/>
              </a:lnSpc>
              <a:defRPr lang="en-US" sz="297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34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245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</a:t>
            </a:r>
            <a:r>
              <a:rPr lang="en-GB"/>
              <a:t>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4A51F37-EAE8-4722-A437-30D09A72A9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61513" y="3245177"/>
            <a:ext cx="4446644" cy="661972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358968C-3784-44E4-B50E-21ED78D9EB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161513" y="4006120"/>
            <a:ext cx="4446644" cy="550472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/>
              <a:t>Click to add text. 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E4F4DDF-A4CE-45BB-8E5D-A5AB679089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136648" y="6227823"/>
            <a:ext cx="2496372" cy="3136456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96">
            <a:extLst>
              <a:ext uri="{FF2B5EF4-FFF2-40B4-BE49-F238E27FC236}">
                <a16:creationId xmlns:a16="http://schemas.microsoft.com/office/drawing/2014/main" id="{C07CECA8-840E-4BBC-A94E-0D507EF6B6B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17123" y="9741267"/>
            <a:ext cx="11847718" cy="874430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72"/>
              </a:spcAft>
              <a:buNone/>
              <a:defRPr sz="992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8AB9BA-443A-4985-908B-268C192E8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925199" y="2714574"/>
            <a:ext cx="0" cy="66497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951883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pos="4929">
          <p15:clr>
            <a:srgbClr val="A4A3A4"/>
          </p15:clr>
        </p15:guide>
        <p15:guide id="8" pos="5155">
          <p15:clr>
            <a:srgbClr val="A4A3A4"/>
          </p15:clr>
        </p15:guide>
        <p15:guide id="11" orient="horz" pos="890">
          <p15:clr>
            <a:srgbClr val="C35EA4"/>
          </p15:clr>
        </p15:guide>
        <p15:guide id="12" orient="horz" pos="981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107" y="630927"/>
            <a:ext cx="14111900" cy="157014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4A51F37-EAE8-4722-A437-30D09A72A9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6107" y="3245177"/>
            <a:ext cx="4421047" cy="661972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D4EF0D-A9CE-4E45-B1B3-BB585A7CD1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6107" y="4006120"/>
            <a:ext cx="4421047" cy="55047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/>
              <a:t>Click to add text.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B389EFA-BE5F-4B72-ACD5-3C006758495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81241" y="6227823"/>
            <a:ext cx="2496372" cy="3136456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78115" y="3245177"/>
            <a:ext cx="9230042" cy="661972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9D64AEF-AC5B-4ACA-95B3-7DD2AC9A9709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78127" y="4005764"/>
            <a:ext cx="9230030" cy="5358346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  <a:lvl2pPr marL="571622" indent="-285811">
              <a:lnSpc>
                <a:spcPct val="100000"/>
              </a:lnSpc>
              <a:defRPr lang="en-US" sz="297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34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245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</a:t>
            </a:r>
            <a:r>
              <a:rPr lang="en-GB"/>
              <a:t>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778D2AE8-C71F-4A8C-8D51-3B3AAAF70E5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17123" y="9741267"/>
            <a:ext cx="11847718" cy="874430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72"/>
              </a:spcAft>
              <a:buNone/>
              <a:defRPr sz="992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8AB9BA-443A-4985-908B-268C192E8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49682" y="2726297"/>
            <a:ext cx="0" cy="66379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774929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502">
          <p15:clr>
            <a:srgbClr val="A4A3A4"/>
          </p15:clr>
        </p15:guide>
        <p15:guide id="4" pos="2729">
          <p15:clr>
            <a:srgbClr val="A4A3A4"/>
          </p15:clr>
        </p15:guide>
        <p15:guide id="11" orient="horz" pos="890">
          <p15:clr>
            <a:srgbClr val="C35EA4"/>
          </p15:clr>
        </p15:guide>
        <p15:guide id="12" orient="horz" pos="981">
          <p15:clr>
            <a:srgbClr val="C35E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9400-E757-4904-B6B0-89D77599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038" y="2714573"/>
            <a:ext cx="14111901" cy="1273659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6106" y="3988445"/>
            <a:ext cx="14111901" cy="448329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571622" indent="-285811">
              <a:lnSpc>
                <a:spcPct val="100000"/>
              </a:lnSpc>
              <a:defRPr lang="en-US" sz="297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34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245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62F3963-DA4D-4494-BBE3-B9E276AB4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ADE2FC00-C8CB-4E19-BA1A-C2DF3D5D8C1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17123" y="9741267"/>
            <a:ext cx="11847718" cy="874430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72"/>
              </a:spcAft>
              <a:buNone/>
              <a:defRPr sz="992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013136D-000F-468E-82F7-78627545D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4289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C35EA4"/>
          </p15:clr>
        </p15:guide>
        <p15:guide id="2" orient="horz" pos="981">
          <p15:clr>
            <a:srgbClr val="C35E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9400-E757-4904-B6B0-89D77599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038" y="2714573"/>
            <a:ext cx="6921106" cy="1273659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6107" y="3988445"/>
            <a:ext cx="6921106" cy="448329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571622" indent="-285811">
              <a:lnSpc>
                <a:spcPct val="100000"/>
              </a:lnSpc>
              <a:defRPr lang="en-US" sz="297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34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245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95969" y="2714573"/>
            <a:ext cx="6922309" cy="1273659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95037" y="3988445"/>
            <a:ext cx="6922309" cy="4483290"/>
          </a:xfrm>
          <a:noFill/>
          <a:ln>
            <a:solidFill>
              <a:schemeClr val="tx2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571622" indent="-285811">
              <a:lnSpc>
                <a:spcPct val="100000"/>
              </a:lnSpc>
              <a:defRPr lang="en-US" sz="297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34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245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2FB9-7D18-4174-9B0A-336A77C9A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2637D735-30A5-485A-99EE-308975B4856D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17123" y="9741267"/>
            <a:ext cx="11847718" cy="874430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72"/>
              </a:spcAft>
              <a:buNone/>
              <a:defRPr sz="992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461D-2D14-40AF-A11E-E32A29AD5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4089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C35EA4"/>
          </p15:clr>
        </p15:guide>
        <p15:guide id="2" orient="horz" pos="981">
          <p15:clr>
            <a:srgbClr val="C35EA4"/>
          </p15:clr>
        </p15:guide>
        <p15:guide id="3" pos="3772">
          <p15:clr>
            <a:srgbClr val="A4A3A4"/>
          </p15:clr>
        </p15:guide>
        <p15:guide id="4" pos="390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9400-E757-4904-B6B0-89D77599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038" y="2714573"/>
            <a:ext cx="4599319" cy="1273659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6107" y="3988445"/>
            <a:ext cx="4599319" cy="448329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571622" indent="-285811">
              <a:lnSpc>
                <a:spcPct val="100000"/>
              </a:lnSpc>
              <a:defRPr lang="en-US" sz="297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34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245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0269" y="2714573"/>
            <a:ext cx="4643575" cy="1273659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39337" y="3988445"/>
            <a:ext cx="4643575" cy="4483290"/>
          </a:xfrm>
          <a:noFill/>
          <a:ln>
            <a:solidFill>
              <a:schemeClr val="tx2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571622" indent="-285811">
              <a:lnSpc>
                <a:spcPct val="100000"/>
              </a:lnSpc>
              <a:defRPr lang="en-US" sz="297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34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245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89FFBF6-0D3D-4034-B412-EABCE72280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017757" y="2714573"/>
            <a:ext cx="4601180" cy="1273659"/>
          </a:xfr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016825" y="3988445"/>
            <a:ext cx="4601180" cy="4483290"/>
          </a:xfrm>
          <a:noFill/>
          <a:ln>
            <a:solidFill>
              <a:schemeClr val="accent6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571622" indent="-285811">
              <a:lnSpc>
                <a:spcPct val="100000"/>
              </a:lnSpc>
              <a:defRPr lang="en-US" sz="297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34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245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9911E2-3D79-4D57-A4A5-99B310315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96">
            <a:extLst>
              <a:ext uri="{FF2B5EF4-FFF2-40B4-BE49-F238E27FC236}">
                <a16:creationId xmlns:a16="http://schemas.microsoft.com/office/drawing/2014/main" id="{3693997A-5C93-43A3-8084-D3D97075252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17123" y="9741267"/>
            <a:ext cx="11847718" cy="874430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72"/>
              </a:spcAft>
              <a:buNone/>
              <a:defRPr sz="992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04B821-BCFE-4694-8F07-82AA247F7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0382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C35EA4"/>
          </p15:clr>
        </p15:guide>
        <p15:guide id="2" orient="horz" pos="981">
          <p15:clr>
            <a:srgbClr val="C35EA4"/>
          </p15:clr>
        </p15:guide>
        <p15:guide id="3" pos="2593">
          <p15:clr>
            <a:srgbClr val="A4A3A4"/>
          </p15:clr>
        </p15:guide>
        <p15:guide id="4" pos="2661">
          <p15:clr>
            <a:srgbClr val="A4A3A4"/>
          </p15:clr>
        </p15:guide>
        <p15:guide id="5" pos="5019">
          <p15:clr>
            <a:srgbClr val="A4A3A4"/>
          </p15:clr>
        </p15:guide>
        <p15:guide id="6" pos="5087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9400-E757-4904-B6B0-89D77599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039" y="2714573"/>
            <a:ext cx="3437441" cy="1273659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6107" y="3988445"/>
            <a:ext cx="3437441" cy="448329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571622" indent="-285811">
              <a:lnSpc>
                <a:spcPct val="100000"/>
              </a:lnSpc>
              <a:defRPr lang="en-US" sz="297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34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245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8390" y="2714573"/>
            <a:ext cx="3437441" cy="1273659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7458" y="3988445"/>
            <a:ext cx="3437441" cy="4483290"/>
          </a:xfrm>
          <a:noFill/>
          <a:ln>
            <a:solidFill>
              <a:schemeClr val="tx2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571622" indent="-285811">
              <a:lnSpc>
                <a:spcPct val="100000"/>
              </a:lnSpc>
              <a:defRPr lang="en-US" sz="297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34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245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89FFBF6-0D3D-4034-B412-EABCE72280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08286" y="2714573"/>
            <a:ext cx="3437438" cy="1273659"/>
          </a:xfr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607355" y="3988445"/>
            <a:ext cx="3437438" cy="4483290"/>
          </a:xfrm>
          <a:noFill/>
          <a:ln>
            <a:solidFill>
              <a:schemeClr val="accent6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571622" indent="-285811">
              <a:lnSpc>
                <a:spcPct val="100000"/>
              </a:lnSpc>
              <a:defRPr lang="en-US" sz="297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34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245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94F06B4-05CB-4425-B43C-90CDB77D4D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179634" y="2714573"/>
            <a:ext cx="3437440" cy="1273659"/>
          </a:xfr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07483DBB-6AB3-44E8-B476-D691A6DD77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178702" y="3988445"/>
            <a:ext cx="3437440" cy="4483290"/>
          </a:xfrm>
          <a:noFill/>
          <a:ln>
            <a:solidFill>
              <a:schemeClr val="accent5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571622" indent="-285811">
              <a:lnSpc>
                <a:spcPct val="100000"/>
              </a:lnSpc>
              <a:defRPr lang="en-US" sz="297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434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245" indent="-285811">
              <a:lnSpc>
                <a:spcPct val="100000"/>
              </a:lnSpc>
              <a:defRPr lang="en-US" sz="248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07ABD0A-0B79-498A-8135-71083AB52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C19B5F97-DA6F-4D23-91EB-F783A1590A4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17123" y="9741267"/>
            <a:ext cx="11847718" cy="874430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72"/>
              </a:spcAft>
              <a:buNone/>
              <a:defRPr sz="992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F1C59-75D3-4D44-AA6A-CE8463447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6500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C35EA4"/>
          </p15:clr>
        </p15:guide>
        <p15:guide id="2" orient="horz" pos="981">
          <p15:clr>
            <a:srgbClr val="C35EA4"/>
          </p15:clr>
        </p15:guide>
        <p15:guide id="3" pos="2003">
          <p15:clr>
            <a:srgbClr val="A4A3A4"/>
          </p15:clr>
        </p15:guide>
        <p15:guide id="4" pos="2071">
          <p15:clr>
            <a:srgbClr val="A4A3A4"/>
          </p15:clr>
        </p15:guide>
        <p15:guide id="5" pos="5677">
          <p15:clr>
            <a:srgbClr val="A4A3A4"/>
          </p15:clr>
        </p15:guide>
        <p15:guide id="6" pos="5609">
          <p15:clr>
            <a:srgbClr val="A4A3A4"/>
          </p15:clr>
        </p15:guide>
        <p15:guide id="7" pos="3817">
          <p15:clr>
            <a:srgbClr val="A4A3A4"/>
          </p15:clr>
        </p15:guide>
        <p15:guide id="8" pos="3863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E4B5EC-9E53-45C3-B765-C1C483A070D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6107" y="2443540"/>
            <a:ext cx="14111899" cy="722431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744"/>
              </a:spcBef>
              <a:spcAft>
                <a:spcPts val="744"/>
              </a:spcAft>
              <a:defRPr/>
            </a:lvl1pPr>
            <a:lvl2pPr marL="571622" indent="-283578"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right-click and choose ‘Keep text only’.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17123" y="9741267"/>
            <a:ext cx="11847718" cy="874430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72"/>
              </a:spcAft>
              <a:buNone/>
              <a:defRPr sz="992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7036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391">
          <p15:clr>
            <a:srgbClr val="A4A3A4"/>
          </p15:clr>
        </p15:guide>
        <p15:guide id="2" pos="1463">
          <p15:clr>
            <a:srgbClr val="A4A3A4"/>
          </p15:clr>
        </p15:guide>
        <p15:guide id="3" pos="2598">
          <p15:clr>
            <a:srgbClr val="A4A3A4"/>
          </p15:clr>
        </p15:guide>
        <p15:guide id="4" pos="2669">
          <p15:clr>
            <a:srgbClr val="A4A3A4"/>
          </p15:clr>
        </p15:guide>
        <p15:guide id="5" pos="3804">
          <p15:clr>
            <a:srgbClr val="A4A3A4"/>
          </p15:clr>
        </p15:guide>
        <p15:guide id="6" pos="3876">
          <p15:clr>
            <a:srgbClr val="A4A3A4"/>
          </p15:clr>
        </p15:guide>
        <p15:guide id="7" pos="5009">
          <p15:clr>
            <a:srgbClr val="A4A3A4"/>
          </p15:clr>
        </p15:guide>
        <p15:guide id="8" pos="5082">
          <p15:clr>
            <a:srgbClr val="A4A3A4"/>
          </p15:clr>
        </p15:guide>
        <p15:guide id="9" pos="6215">
          <p15:clr>
            <a:srgbClr val="A4A3A4"/>
          </p15:clr>
        </p15:guide>
        <p15:guide id="10" pos="6288">
          <p15:clr>
            <a:srgbClr val="A4A3A4"/>
          </p15:clr>
        </p15:guide>
        <p15:guide id="11" orient="horz" pos="890">
          <p15:clr>
            <a:srgbClr val="C35EA4"/>
          </p15:clr>
        </p15:guide>
        <p15:guide id="12" orient="horz" pos="981">
          <p15:clr>
            <a:srgbClr val="C35E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BF9FC5-73CA-47D5-891A-42CBDE799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96">
            <a:extLst>
              <a:ext uri="{FF2B5EF4-FFF2-40B4-BE49-F238E27FC236}">
                <a16:creationId xmlns:a16="http://schemas.microsoft.com/office/drawing/2014/main" id="{462FAF15-0CB5-418E-A59C-EA8FADE526A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17123" y="9741267"/>
            <a:ext cx="11847718" cy="874430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72"/>
              </a:spcAft>
              <a:buNone/>
              <a:defRPr sz="992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1075AA4-1FA9-4704-A587-D8E88C1D1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96052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391">
          <p15:clr>
            <a:srgbClr val="A4A3A4"/>
          </p15:clr>
        </p15:guide>
        <p15:guide id="2" pos="1463">
          <p15:clr>
            <a:srgbClr val="A4A3A4"/>
          </p15:clr>
        </p15:guide>
        <p15:guide id="3" pos="2598">
          <p15:clr>
            <a:srgbClr val="A4A3A4"/>
          </p15:clr>
        </p15:guide>
        <p15:guide id="4" pos="2669">
          <p15:clr>
            <a:srgbClr val="A4A3A4"/>
          </p15:clr>
        </p15:guide>
        <p15:guide id="5" pos="3804">
          <p15:clr>
            <a:srgbClr val="A4A3A4"/>
          </p15:clr>
        </p15:guide>
        <p15:guide id="6" pos="3876">
          <p15:clr>
            <a:srgbClr val="A4A3A4"/>
          </p15:clr>
        </p15:guide>
        <p15:guide id="7" pos="5009">
          <p15:clr>
            <a:srgbClr val="A4A3A4"/>
          </p15:clr>
        </p15:guide>
        <p15:guide id="8" pos="5082">
          <p15:clr>
            <a:srgbClr val="A4A3A4"/>
          </p15:clr>
        </p15:guide>
        <p15:guide id="9" pos="6215">
          <p15:clr>
            <a:srgbClr val="A4A3A4"/>
          </p15:clr>
        </p15:guide>
        <p15:guide id="10" pos="6288">
          <p15:clr>
            <a:srgbClr val="A4A3A4"/>
          </p15:clr>
        </p15:guide>
        <p15:guide id="11" orient="horz" pos="890">
          <p15:clr>
            <a:srgbClr val="C35EA4"/>
          </p15:clr>
        </p15:guide>
        <p15:guide id="12" orient="horz" pos="981">
          <p15:clr>
            <a:srgbClr val="C35E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Mulberry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E4B5EC-9E53-45C3-B765-C1C483A070D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6107" y="2443540"/>
            <a:ext cx="14111899" cy="722431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744"/>
              </a:spcBef>
              <a:spcAft>
                <a:spcPts val="744"/>
              </a:spcAft>
              <a:defRPr/>
            </a:lvl1pPr>
            <a:lvl2pPr marL="571622" indent="-283578"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right-click and choose ‘Keep text only’.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17123" y="9741267"/>
            <a:ext cx="11847718" cy="874430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72"/>
              </a:spcAft>
              <a:buNone/>
              <a:defRPr sz="992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554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391">
          <p15:clr>
            <a:srgbClr val="A4A3A4"/>
          </p15:clr>
        </p15:guide>
        <p15:guide id="2" pos="1463">
          <p15:clr>
            <a:srgbClr val="A4A3A4"/>
          </p15:clr>
        </p15:guide>
        <p15:guide id="3" pos="2598">
          <p15:clr>
            <a:srgbClr val="A4A3A4"/>
          </p15:clr>
        </p15:guide>
        <p15:guide id="4" pos="2669">
          <p15:clr>
            <a:srgbClr val="A4A3A4"/>
          </p15:clr>
        </p15:guide>
        <p15:guide id="5" pos="3804">
          <p15:clr>
            <a:srgbClr val="A4A3A4"/>
          </p15:clr>
        </p15:guide>
        <p15:guide id="6" pos="3876">
          <p15:clr>
            <a:srgbClr val="A4A3A4"/>
          </p15:clr>
        </p15:guide>
        <p15:guide id="7" pos="5009">
          <p15:clr>
            <a:srgbClr val="A4A3A4"/>
          </p15:clr>
        </p15:guide>
        <p15:guide id="8" pos="5082">
          <p15:clr>
            <a:srgbClr val="A4A3A4"/>
          </p15:clr>
        </p15:guide>
        <p15:guide id="9" pos="6215">
          <p15:clr>
            <a:srgbClr val="A4A3A4"/>
          </p15:clr>
        </p15:guide>
        <p15:guide id="10" pos="6288">
          <p15:clr>
            <a:srgbClr val="A4A3A4"/>
          </p15:clr>
        </p15:guide>
        <p15:guide id="11" orient="horz" pos="890">
          <p15:clr>
            <a:srgbClr val="C35EA4"/>
          </p15:clr>
        </p15:guide>
        <p15:guide id="12" orient="horz" pos="981">
          <p15:clr>
            <a:srgbClr val="C35E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Mulberry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BF9FC5-73CA-47D5-891A-42CBDE799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96">
            <a:extLst>
              <a:ext uri="{FF2B5EF4-FFF2-40B4-BE49-F238E27FC236}">
                <a16:creationId xmlns:a16="http://schemas.microsoft.com/office/drawing/2014/main" id="{462FAF15-0CB5-418E-A59C-EA8FADE526A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17123" y="9741267"/>
            <a:ext cx="11847718" cy="874430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72"/>
              </a:spcAft>
              <a:buNone/>
              <a:defRPr sz="992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1075AA4-1FA9-4704-A587-D8E88C1D1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7105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391">
          <p15:clr>
            <a:srgbClr val="A4A3A4"/>
          </p15:clr>
        </p15:guide>
        <p15:guide id="2" pos="1463">
          <p15:clr>
            <a:srgbClr val="A4A3A4"/>
          </p15:clr>
        </p15:guide>
        <p15:guide id="3" pos="2598">
          <p15:clr>
            <a:srgbClr val="A4A3A4"/>
          </p15:clr>
        </p15:guide>
        <p15:guide id="4" pos="2669">
          <p15:clr>
            <a:srgbClr val="A4A3A4"/>
          </p15:clr>
        </p15:guide>
        <p15:guide id="5" pos="3804">
          <p15:clr>
            <a:srgbClr val="A4A3A4"/>
          </p15:clr>
        </p15:guide>
        <p15:guide id="6" pos="3876">
          <p15:clr>
            <a:srgbClr val="A4A3A4"/>
          </p15:clr>
        </p15:guide>
        <p15:guide id="7" pos="5009">
          <p15:clr>
            <a:srgbClr val="A4A3A4"/>
          </p15:clr>
        </p15:guide>
        <p15:guide id="8" pos="5082">
          <p15:clr>
            <a:srgbClr val="A4A3A4"/>
          </p15:clr>
        </p15:guide>
        <p15:guide id="9" pos="6215">
          <p15:clr>
            <a:srgbClr val="A4A3A4"/>
          </p15:clr>
        </p15:guide>
        <p15:guide id="10" pos="6288">
          <p15:clr>
            <a:srgbClr val="A4A3A4"/>
          </p15:clr>
        </p15:guide>
        <p15:guide id="11" orient="horz" pos="890">
          <p15:clr>
            <a:srgbClr val="C35EA4"/>
          </p15:clr>
        </p15:guide>
        <p15:guide id="12" orient="horz" pos="981">
          <p15:clr>
            <a:srgbClr val="C35E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908774E5-6317-0685-60C2-4C482EE1C82E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1413542" y="2917589"/>
            <a:ext cx="2794416" cy="3508446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7E1E7FE7-76AF-85F1-4FBC-8E527FBEC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6108" y="6566585"/>
            <a:ext cx="4421044" cy="26932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3C3D6D1C-EA2A-BC93-1142-0AF07D344827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163864" y="2917589"/>
            <a:ext cx="2794416" cy="3508446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CAE97067-E054-F240-2C74-3C276BE7E5A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51535" y="6566585"/>
            <a:ext cx="4421044" cy="26932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7FE1B641-0CB5-ADC0-4697-B06992037923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10915750" y="2917589"/>
            <a:ext cx="2794416" cy="3508446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57559BB0-B9E5-D570-8CCA-20334B1AC50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96961" y="6566585"/>
            <a:ext cx="4421044" cy="26932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3F930-38D6-455D-84C2-DD9D1E30F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AA42A745-9907-45EF-9B18-E061ED71F0D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17123" y="9741267"/>
            <a:ext cx="11847718" cy="874430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72"/>
              </a:spcAft>
              <a:buNone/>
              <a:defRPr sz="992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5BA28-9268-48CE-8962-39F56ADB8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9888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502">
          <p15:clr>
            <a:srgbClr val="A4A3A4"/>
          </p15:clr>
        </p15:guide>
        <p15:guide id="4" pos="2706">
          <p15:clr>
            <a:srgbClr val="A4A3A4"/>
          </p15:clr>
        </p15:guide>
        <p15:guide id="7" pos="4974">
          <p15:clr>
            <a:srgbClr val="A4A3A4"/>
          </p15:clr>
        </p15:guide>
        <p15:guide id="8" pos="5178">
          <p15:clr>
            <a:srgbClr val="A4A3A4"/>
          </p15:clr>
        </p15:guide>
        <p15:guide id="11" orient="horz" pos="890">
          <p15:clr>
            <a:srgbClr val="C35EA4"/>
          </p15:clr>
        </p15:guide>
        <p15:guide id="12" orient="horz" pos="981">
          <p15:clr>
            <a:srgbClr val="C35E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1A29A185-838B-41FF-C98E-2BFDAEBD8434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705417" y="2917589"/>
            <a:ext cx="2794416" cy="3508446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8CC9D214-CAF4-F003-7DEA-8CB09B222F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6108" y="6566585"/>
            <a:ext cx="3215841" cy="2734231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81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ACD01662-D7D4-E679-4DA0-FAC63A1FDBFA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4345039" y="2917589"/>
            <a:ext cx="2794416" cy="3508446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5E7F3C01-9811-E089-2F05-62240D09F64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41929" y="6566585"/>
            <a:ext cx="3215841" cy="2734231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81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AE29663C-8BFD-0CD5-3803-048743082A1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7984661" y="2917589"/>
            <a:ext cx="2794416" cy="3508446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BF905CDA-C0A2-1E33-ABD8-291F764868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77750" y="6566585"/>
            <a:ext cx="3215841" cy="2734231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81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CE640007-E9BE-2277-AD9A-AE01C100C4CA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11624282" y="2917589"/>
            <a:ext cx="2794416" cy="3508446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FEAAFD62-B4F1-9834-F672-1BB07FEDBD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413570" y="6566585"/>
            <a:ext cx="3215841" cy="2734231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81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6F65E95C-9C1A-45B9-A2D2-B58B0FB5236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17123" y="9741267"/>
            <a:ext cx="11847718" cy="874430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72"/>
              </a:spcAft>
              <a:buNone/>
              <a:defRPr sz="992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7853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1890">
          <p15:clr>
            <a:srgbClr val="A4A3A4"/>
          </p15:clr>
        </p15:guide>
        <p15:guide id="4" pos="2094">
          <p15:clr>
            <a:srgbClr val="A4A3A4"/>
          </p15:clr>
        </p15:guide>
        <p15:guide id="5" pos="3727">
          <p15:clr>
            <a:srgbClr val="A4A3A4"/>
          </p15:clr>
        </p15:guide>
        <p15:guide id="6" pos="3953">
          <p15:clr>
            <a:srgbClr val="A4A3A4"/>
          </p15:clr>
        </p15:guide>
        <p15:guide id="9" pos="5586">
          <p15:clr>
            <a:srgbClr val="A4A3A4"/>
          </p15:clr>
        </p15:guide>
        <p15:guide id="10" pos="5790">
          <p15:clr>
            <a:srgbClr val="A4A3A4"/>
          </p15:clr>
        </p15:guide>
        <p15:guide id="11" orient="horz" pos="890">
          <p15:clr>
            <a:srgbClr val="C35EA4"/>
          </p15:clr>
        </p15:guide>
        <p15:guide id="12" orient="horz" pos="981">
          <p15:clr>
            <a:srgbClr val="C35E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FA36CDD2-8C9C-EA14-5271-A8D9555989E5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684281" y="2917588"/>
            <a:ext cx="2251061" cy="282625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48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0E0FE2D6-35F4-8E1A-31AA-6F312886C7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6108" y="6121535"/>
            <a:ext cx="2634903" cy="3254283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81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A330BAED-E9CF-2E69-A2F4-772911766C6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3560403" y="2917588"/>
            <a:ext cx="2251061" cy="282625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48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5B9BE5D8-0413-0ACA-741E-13DEE93FF74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63540" y="6121535"/>
            <a:ext cx="2634903" cy="3254283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81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6B2F2730-F6F9-0FE9-1E9E-8DF9F5395AE5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6436525" y="2917588"/>
            <a:ext cx="2251061" cy="282625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48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A28559BD-35F7-45E2-9625-26A01CA6276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22943" y="6121535"/>
            <a:ext cx="2678227" cy="3254283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81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FF5D1043-80F8-B0C9-61D2-7DBB499435FB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9317590" y="2917588"/>
            <a:ext cx="2251061" cy="282625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48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40" name="Text Placeholder 9">
            <a:extLst>
              <a:ext uri="{FF2B5EF4-FFF2-40B4-BE49-F238E27FC236}">
                <a16:creationId xmlns:a16="http://schemas.microsoft.com/office/drawing/2014/main" id="{3EC2CEFC-763B-BBF7-0BB9-E9FD3626F38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25669" y="6121535"/>
            <a:ext cx="2634903" cy="3254283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81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6D7A5137-A4E7-91D5-97A1-83F3228C8EA2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12175023" y="2917588"/>
            <a:ext cx="2251061" cy="282625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48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95A1032C-67B8-5D48-FBF7-47CA8F6DF40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983102" y="6121535"/>
            <a:ext cx="2634903" cy="3254283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81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96">
            <a:extLst>
              <a:ext uri="{FF2B5EF4-FFF2-40B4-BE49-F238E27FC236}">
                <a16:creationId xmlns:a16="http://schemas.microsoft.com/office/drawing/2014/main" id="{E55FEA9E-88F1-4D2F-9402-729ADDB70C5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17123" y="9741267"/>
            <a:ext cx="11847718" cy="874430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72"/>
              </a:spcAft>
              <a:buNone/>
              <a:defRPr sz="992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8676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95">
          <p15:clr>
            <a:srgbClr val="A4A3A4"/>
          </p15:clr>
        </p15:guide>
        <p15:guide id="2" pos="1708">
          <p15:clr>
            <a:srgbClr val="A4A3A4"/>
          </p15:clr>
        </p15:guide>
        <p15:guide id="3" pos="3046">
          <p15:clr>
            <a:srgbClr val="A4A3A4"/>
          </p15:clr>
        </p15:guide>
        <p15:guide id="4" pos="3160">
          <p15:clr>
            <a:srgbClr val="A4A3A4"/>
          </p15:clr>
        </p15:guide>
        <p15:guide id="5" pos="4520">
          <p15:clr>
            <a:srgbClr val="A4A3A4"/>
          </p15:clr>
        </p15:guide>
        <p15:guide id="6" pos="4634">
          <p15:clr>
            <a:srgbClr val="A4A3A4"/>
          </p15:clr>
        </p15:guide>
        <p15:guide id="9" pos="5972">
          <p15:clr>
            <a:srgbClr val="A4A3A4"/>
          </p15:clr>
        </p15:guide>
        <p15:guide id="10" pos="6085">
          <p15:clr>
            <a:srgbClr val="A4A3A4"/>
          </p15:clr>
        </p15:guide>
        <p15:guide id="11" orient="horz" pos="890">
          <p15:clr>
            <a:srgbClr val="C35EA4"/>
          </p15:clr>
        </p15:guide>
        <p15:guide id="12" orient="horz" pos="981">
          <p15:clr>
            <a:srgbClr val="C35E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559679" y="1199801"/>
            <a:ext cx="12004757" cy="659770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11909"/>
              <a:t>Do not use layouts</a:t>
            </a:r>
            <a:br>
              <a:rPr lang="en-US" sz="11909"/>
            </a:br>
            <a:r>
              <a:rPr lang="en-US" sz="11909"/>
              <a:t>in this section appearing after this point. </a:t>
            </a:r>
          </a:p>
        </p:txBody>
      </p:sp>
      <p:sp>
        <p:nvSpPr>
          <p:cNvPr id="4" name="DO NOT DELETE (BRANDIN)">
            <a:extLst>
              <a:ext uri="{FF2B5EF4-FFF2-40B4-BE49-F238E27FC236}">
                <a16:creationId xmlns:a16="http://schemas.microsoft.com/office/drawing/2014/main" id="{4FE5B898-DD8A-1B42-B5C8-50EEAD84123B}"/>
              </a:ext>
            </a:extLst>
          </p:cNvPr>
          <p:cNvSpPr/>
          <p:nvPr userDrawn="1"/>
        </p:nvSpPr>
        <p:spPr>
          <a:xfrm>
            <a:off x="189051" y="237525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744"/>
              </a:spcAft>
            </a:pPr>
            <a:endParaRPr lang="en-US" sz="3473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3726321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24" Type="http://schemas.openxmlformats.org/officeDocument/2006/relationships/tags" Target="../tags/tag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tags" Target="../tags/tag1.xml"/><Relationship Id="rId28" Type="http://schemas.openxmlformats.org/officeDocument/2006/relationships/image" Target="../media/image3.svg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theme" Target="../theme/theme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533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hf hdr="0" ftr="0" dt="0"/>
  <p:txStyles>
    <p:titleStyle>
      <a:lvl1pPr algn="ctr" defTabSz="715015" rtl="0" eaLnBrk="1" latinLnBrk="0" hangingPunct="1">
        <a:spcBef>
          <a:spcPct val="0"/>
        </a:spcBef>
        <a:buNone/>
        <a:defRPr sz="6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6261" indent="-536261" algn="l" defTabSz="715015" rtl="0" eaLnBrk="1" latinLnBrk="0" hangingPunct="1">
        <a:spcBef>
          <a:spcPct val="20000"/>
        </a:spcBef>
        <a:buFont typeface="Arial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1pPr>
      <a:lvl2pPr marL="1161900" indent="-446884" algn="l" defTabSz="715015" rtl="0" eaLnBrk="1" latinLnBrk="0" hangingPunct="1">
        <a:spcBef>
          <a:spcPct val="20000"/>
        </a:spcBef>
        <a:buFont typeface="Arial"/>
        <a:buChar char="–"/>
        <a:defRPr sz="4400" kern="1200">
          <a:solidFill>
            <a:schemeClr val="tx1"/>
          </a:solidFill>
          <a:latin typeface="+mn-lt"/>
          <a:ea typeface="+mn-ea"/>
          <a:cs typeface="+mn-cs"/>
        </a:defRPr>
      </a:lvl2pPr>
      <a:lvl3pPr marL="1787538" indent="-357508" algn="l" defTabSz="715015" rtl="0" eaLnBrk="1" latinLnBrk="0" hangingPunct="1">
        <a:spcBef>
          <a:spcPct val="20000"/>
        </a:spcBef>
        <a:buFont typeface="Arial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3pPr>
      <a:lvl4pPr marL="2502553" indent="-357508" algn="l" defTabSz="715015" rtl="0" eaLnBrk="1" latinLnBrk="0" hangingPunct="1">
        <a:spcBef>
          <a:spcPct val="20000"/>
        </a:spcBef>
        <a:buFont typeface="Arial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217568" indent="-357508" algn="l" defTabSz="715015" rtl="0" eaLnBrk="1" latinLnBrk="0" hangingPunct="1">
        <a:spcBef>
          <a:spcPct val="20000"/>
        </a:spcBef>
        <a:buFont typeface="Arial"/>
        <a:buChar char="»"/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32583" indent="-357508" algn="l" defTabSz="715015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47598" indent="-357508" algn="l" defTabSz="715015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362613" indent="-357508" algn="l" defTabSz="715015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077628" indent="-357508" algn="l" defTabSz="715015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5015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15015" algn="l" defTabSz="715015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430030" algn="l" defTabSz="715015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145045" algn="l" defTabSz="715015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60060" algn="l" defTabSz="715015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5075" algn="l" defTabSz="715015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290090" algn="l" defTabSz="715015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5005106" algn="l" defTabSz="715015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720121" algn="l" defTabSz="715015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CFC7A38-C020-17B6-17CB-E1C4D5842B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282370500"/>
              </p:ext>
            </p:extLst>
          </p:nvPr>
        </p:nvGraphicFramePr>
        <p:xfrm>
          <a:off x="1970" y="2475"/>
          <a:ext cx="1970" cy="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395" imgH="396" progId="TCLayout.ActiveDocument.1">
                  <p:embed/>
                </p:oleObj>
              </mc:Choice>
              <mc:Fallback>
                <p:oleObj name="think-cell Slide" r:id="rId25" imgW="395" imgH="39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CFC7A38-C020-17B6-17CB-E1C4D5842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970" y="2475"/>
                        <a:ext cx="1970" cy="2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107" y="630927"/>
            <a:ext cx="14111900" cy="157014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5719" y="10060225"/>
            <a:ext cx="1587037" cy="481823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3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" y="10060225"/>
            <a:ext cx="506106" cy="481823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3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4386206" y="9825192"/>
            <a:ext cx="365713" cy="553443"/>
          </a:xfrm>
          <a:prstGeom prst="rect">
            <a:avLst/>
          </a:pr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985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6107" y="2443538"/>
            <a:ext cx="14111900" cy="72267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use the Paste and Match Formatting shortcut (</a:t>
            </a:r>
            <a:r>
              <a:rPr lang="en-US" err="1"/>
              <a:t>Cmd</a:t>
            </a:r>
            <a:r>
              <a:rPr lang="en-US"/>
              <a:t> + Option + Shift + V).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23"/>
    </p:custDataLst>
    <p:extLst>
      <p:ext uri="{BB962C8B-B14F-4D97-AF65-F5344CB8AC3E}">
        <p14:creationId xmlns:p14="http://schemas.microsoft.com/office/powerpoint/2010/main" val="804953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</p:sldLayoutIdLst>
  <p:hf hdr="0" ftr="0"/>
  <p:txStyles>
    <p:titleStyle>
      <a:lvl1pPr algn="l" defTabSz="1134313" rtl="0" eaLnBrk="1" latinLnBrk="0" hangingPunct="1">
        <a:lnSpc>
          <a:spcPct val="100000"/>
        </a:lnSpc>
        <a:spcBef>
          <a:spcPct val="0"/>
        </a:spcBef>
        <a:buNone/>
        <a:defRPr sz="4466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83578" indent="-283578" algn="l" defTabSz="1134313" rtl="0" eaLnBrk="1" latinLnBrk="0" hangingPunct="1">
        <a:lnSpc>
          <a:spcPct val="100000"/>
        </a:lnSpc>
        <a:spcBef>
          <a:spcPts val="744"/>
        </a:spcBef>
        <a:spcAft>
          <a:spcPts val="744"/>
        </a:spcAft>
        <a:buFont typeface="Arial" panose="020B0604020202020204" pitchFamily="34" charset="0"/>
        <a:buChar char="•"/>
        <a:defRPr sz="2977" kern="1200">
          <a:solidFill>
            <a:schemeClr val="tx1"/>
          </a:solidFill>
          <a:latin typeface="+mn-lt"/>
          <a:ea typeface="+mn-ea"/>
          <a:cs typeface="+mn-cs"/>
        </a:defRPr>
      </a:lvl1pPr>
      <a:lvl2pPr marL="571622" marR="0" indent="-285811" algn="l" defTabSz="1134313" rtl="0" eaLnBrk="1" fontAlgn="auto" latinLnBrk="0" hangingPunct="1">
        <a:lnSpc>
          <a:spcPct val="100000"/>
        </a:lnSpc>
        <a:spcBef>
          <a:spcPts val="0"/>
        </a:spcBef>
        <a:spcAft>
          <a:spcPts val="992"/>
        </a:spcAft>
        <a:buClrTx/>
        <a:buSzPct val="100000"/>
        <a:buFont typeface="Arial" panose="020B0604020202020204" pitchFamily="34" charset="0"/>
        <a:buChar char="•"/>
        <a:tabLst/>
        <a:defRPr lang="en-US" sz="2977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857434" indent="-285811" algn="l" defTabSz="1134313" rtl="0" eaLnBrk="1" latinLnBrk="0" hangingPunct="1">
        <a:lnSpc>
          <a:spcPct val="100000"/>
        </a:lnSpc>
        <a:spcBef>
          <a:spcPts val="0"/>
        </a:spcBef>
        <a:spcAft>
          <a:spcPts val="992"/>
        </a:spcAft>
        <a:buClrTx/>
        <a:buSzPct val="100000"/>
        <a:buFont typeface="Arial" panose="020B0604020202020204" pitchFamily="34" charset="0"/>
        <a:buChar char="•"/>
        <a:defRPr lang="en-US" sz="2481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245" indent="-285811" algn="l" defTabSz="1134313" rtl="0" eaLnBrk="1" latinLnBrk="0" hangingPunct="1">
        <a:lnSpc>
          <a:spcPct val="100000"/>
        </a:lnSpc>
        <a:spcBef>
          <a:spcPts val="0"/>
        </a:spcBef>
        <a:spcAft>
          <a:spcPts val="992"/>
        </a:spcAft>
        <a:buClrTx/>
        <a:buSzPct val="100000"/>
        <a:buFont typeface="Arial" panose="020B0604020202020204" pitchFamily="34" charset="0"/>
        <a:buChar char="•"/>
        <a:defRPr lang="en-US" sz="2481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429056" indent="-283578" algn="l" defTabSz="1134313" rtl="0" eaLnBrk="1" latinLnBrk="0" hangingPunct="1">
        <a:lnSpc>
          <a:spcPct val="100000"/>
        </a:lnSpc>
        <a:spcBef>
          <a:spcPts val="0"/>
        </a:spcBef>
        <a:spcAft>
          <a:spcPts val="992"/>
        </a:spcAft>
        <a:buClrTx/>
        <a:buSzPct val="100000"/>
        <a:buFont typeface="Arial" panose="020B0604020202020204" pitchFamily="34" charset="0"/>
        <a:buChar char="•"/>
        <a:defRPr sz="2481" kern="1200">
          <a:solidFill>
            <a:schemeClr val="tx1"/>
          </a:solidFill>
          <a:latin typeface="+mn-lt"/>
          <a:ea typeface="+mn-ea"/>
          <a:cs typeface="+mn-cs"/>
        </a:defRPr>
      </a:lvl5pPr>
      <a:lvl6pPr marL="3119361" indent="-283578" algn="l" defTabSz="1134313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3" kern="1200">
          <a:solidFill>
            <a:schemeClr val="tx1"/>
          </a:solidFill>
          <a:latin typeface="+mn-lt"/>
          <a:ea typeface="+mn-ea"/>
          <a:cs typeface="+mn-cs"/>
        </a:defRPr>
      </a:lvl6pPr>
      <a:lvl7pPr marL="3686518" indent="-283578" algn="l" defTabSz="1134313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3" kern="1200">
          <a:solidFill>
            <a:schemeClr val="tx1"/>
          </a:solidFill>
          <a:latin typeface="+mn-lt"/>
          <a:ea typeface="+mn-ea"/>
          <a:cs typeface="+mn-cs"/>
        </a:defRPr>
      </a:lvl7pPr>
      <a:lvl8pPr marL="4253675" indent="-283578" algn="l" defTabSz="1134313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3" kern="1200">
          <a:solidFill>
            <a:schemeClr val="tx1"/>
          </a:solidFill>
          <a:latin typeface="+mn-lt"/>
          <a:ea typeface="+mn-ea"/>
          <a:cs typeface="+mn-cs"/>
        </a:defRPr>
      </a:lvl8pPr>
      <a:lvl9pPr marL="4820831" indent="-283578" algn="l" defTabSz="1134313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34313" rtl="0" eaLnBrk="1" latinLnBrk="0" hangingPunct="1">
        <a:defRPr sz="2233" kern="1200">
          <a:solidFill>
            <a:schemeClr val="tx1"/>
          </a:solidFill>
          <a:latin typeface="+mn-lt"/>
          <a:ea typeface="+mn-ea"/>
          <a:cs typeface="+mn-cs"/>
        </a:defRPr>
      </a:lvl1pPr>
      <a:lvl2pPr marL="567157" algn="l" defTabSz="1134313" rtl="0" eaLnBrk="1" latinLnBrk="0" hangingPunct="1">
        <a:defRPr sz="2233" kern="1200">
          <a:solidFill>
            <a:schemeClr val="tx1"/>
          </a:solidFill>
          <a:latin typeface="+mn-lt"/>
          <a:ea typeface="+mn-ea"/>
          <a:cs typeface="+mn-cs"/>
        </a:defRPr>
      </a:lvl2pPr>
      <a:lvl3pPr marL="1134313" algn="l" defTabSz="1134313" rtl="0" eaLnBrk="1" latinLnBrk="0" hangingPunct="1">
        <a:defRPr sz="2233" kern="1200">
          <a:solidFill>
            <a:schemeClr val="tx1"/>
          </a:solidFill>
          <a:latin typeface="+mn-lt"/>
          <a:ea typeface="+mn-ea"/>
          <a:cs typeface="+mn-cs"/>
        </a:defRPr>
      </a:lvl3pPr>
      <a:lvl4pPr marL="1701470" algn="l" defTabSz="1134313" rtl="0" eaLnBrk="1" latinLnBrk="0" hangingPunct="1">
        <a:defRPr sz="2233" kern="1200">
          <a:solidFill>
            <a:schemeClr val="tx1"/>
          </a:solidFill>
          <a:latin typeface="+mn-lt"/>
          <a:ea typeface="+mn-ea"/>
          <a:cs typeface="+mn-cs"/>
        </a:defRPr>
      </a:lvl4pPr>
      <a:lvl5pPr marL="2268626" algn="l" defTabSz="1134313" rtl="0" eaLnBrk="1" latinLnBrk="0" hangingPunct="1">
        <a:defRPr sz="2233" kern="1200">
          <a:solidFill>
            <a:schemeClr val="tx1"/>
          </a:solidFill>
          <a:latin typeface="+mn-lt"/>
          <a:ea typeface="+mn-ea"/>
          <a:cs typeface="+mn-cs"/>
        </a:defRPr>
      </a:lvl5pPr>
      <a:lvl6pPr marL="2835783" algn="l" defTabSz="1134313" rtl="0" eaLnBrk="1" latinLnBrk="0" hangingPunct="1">
        <a:defRPr sz="2233" kern="1200">
          <a:solidFill>
            <a:schemeClr val="tx1"/>
          </a:solidFill>
          <a:latin typeface="+mn-lt"/>
          <a:ea typeface="+mn-ea"/>
          <a:cs typeface="+mn-cs"/>
        </a:defRPr>
      </a:lvl6pPr>
      <a:lvl7pPr marL="3402940" algn="l" defTabSz="1134313" rtl="0" eaLnBrk="1" latinLnBrk="0" hangingPunct="1">
        <a:defRPr sz="2233" kern="1200">
          <a:solidFill>
            <a:schemeClr val="tx1"/>
          </a:solidFill>
          <a:latin typeface="+mn-lt"/>
          <a:ea typeface="+mn-ea"/>
          <a:cs typeface="+mn-cs"/>
        </a:defRPr>
      </a:lvl7pPr>
      <a:lvl8pPr marL="3970096" algn="l" defTabSz="1134313" rtl="0" eaLnBrk="1" latinLnBrk="0" hangingPunct="1">
        <a:defRPr sz="2233" kern="1200">
          <a:solidFill>
            <a:schemeClr val="tx1"/>
          </a:solidFill>
          <a:latin typeface="+mn-lt"/>
          <a:ea typeface="+mn-ea"/>
          <a:cs typeface="+mn-cs"/>
        </a:defRPr>
      </a:lvl8pPr>
      <a:lvl9pPr marL="4537253" algn="l" defTabSz="1134313" rtl="0" eaLnBrk="1" latinLnBrk="0" hangingPunct="1">
        <a:defRPr sz="22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C35EA4"/>
          </p15:clr>
        </p15:guide>
        <p15:guide id="2" pos="7423">
          <p15:clr>
            <a:srgbClr val="C35EA4"/>
          </p15:clr>
        </p15:guide>
        <p15:guide id="3" orient="horz" pos="3906">
          <p15:clr>
            <a:srgbClr val="C35EA4"/>
          </p15:clr>
        </p15:guide>
        <p15:guide id="4" orient="horz" pos="255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emf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jp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EA4E3F4-CF45-FADC-BABF-128132E39C32}"/>
              </a:ext>
            </a:extLst>
          </p:cNvPr>
          <p:cNvSpPr/>
          <p:nvPr/>
        </p:nvSpPr>
        <p:spPr>
          <a:xfrm>
            <a:off x="501650" y="5238487"/>
            <a:ext cx="4463912" cy="1089098"/>
          </a:xfrm>
          <a:prstGeom prst="rect">
            <a:avLst/>
          </a:prstGeom>
          <a:solidFill>
            <a:srgbClr val="DDC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  <a:latin typeface="+mj-lt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01105" y="2041245"/>
            <a:ext cx="4443138" cy="43659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just"/>
            <a:r>
              <a:rPr lang="en-US" sz="1000" dirty="0">
                <a:solidFill>
                  <a:srgbClr val="202123"/>
                </a:solidFill>
                <a:latin typeface="+mj-lt"/>
              </a:rPr>
              <a:t>I</a:t>
            </a:r>
            <a:r>
              <a:rPr lang="en-US" sz="1000" b="0" i="0" dirty="0">
                <a:solidFill>
                  <a:srgbClr val="202123"/>
                </a:solidFill>
                <a:effectLst/>
                <a:latin typeface="+mj-lt"/>
              </a:rPr>
              <a:t>n a related work, nanoparticles are designed and developed to serve as vehicle to purify mAb molecules in TFF ultrafiltration operation. This method facilitated continuous downstream mAb purification, enhancing productivity and sustainability. </a:t>
            </a:r>
            <a:endParaRPr lang="en-US" sz="1000" dirty="0">
              <a:solidFill>
                <a:srgbClr val="202123"/>
              </a:solidFill>
              <a:latin typeface="+mj-lt"/>
            </a:endParaRPr>
          </a:p>
          <a:p>
            <a:pPr algn="just"/>
            <a:endParaRPr lang="en-US" sz="1000" b="0" i="0" dirty="0">
              <a:solidFill>
                <a:srgbClr val="202123"/>
              </a:solidFill>
              <a:effectLst/>
              <a:latin typeface="+mj-lt"/>
            </a:endParaRPr>
          </a:p>
          <a:p>
            <a:pPr algn="just"/>
            <a:endParaRPr lang="en-US" sz="1000" dirty="0">
              <a:solidFill>
                <a:srgbClr val="202123"/>
              </a:solidFill>
              <a:latin typeface="+mj-lt"/>
            </a:endParaRPr>
          </a:p>
          <a:p>
            <a:pPr algn="just"/>
            <a:endParaRPr lang="en-US" sz="1000" b="0" i="0" dirty="0">
              <a:solidFill>
                <a:srgbClr val="202123"/>
              </a:solidFill>
              <a:effectLst/>
              <a:latin typeface="+mj-lt"/>
            </a:endParaRPr>
          </a:p>
          <a:p>
            <a:pPr algn="just"/>
            <a:endParaRPr lang="en-US" sz="1000" dirty="0">
              <a:solidFill>
                <a:srgbClr val="202123"/>
              </a:solidFill>
              <a:latin typeface="+mj-lt"/>
            </a:endParaRPr>
          </a:p>
          <a:p>
            <a:pPr algn="just"/>
            <a:endParaRPr lang="en-US" sz="1000" b="0" i="0" dirty="0">
              <a:solidFill>
                <a:srgbClr val="202123"/>
              </a:solidFill>
              <a:effectLst/>
              <a:latin typeface="+mj-lt"/>
            </a:endParaRPr>
          </a:p>
          <a:p>
            <a:pPr algn="just"/>
            <a:endParaRPr lang="en-US" sz="1000" dirty="0">
              <a:solidFill>
                <a:srgbClr val="202123"/>
              </a:solidFill>
              <a:latin typeface="+mj-lt"/>
            </a:endParaRPr>
          </a:p>
          <a:p>
            <a:pPr algn="just"/>
            <a:endParaRPr lang="en-US" sz="1000" b="0" i="0" dirty="0">
              <a:solidFill>
                <a:srgbClr val="202123"/>
              </a:solidFill>
              <a:effectLst/>
              <a:latin typeface="+mj-lt"/>
            </a:endParaRPr>
          </a:p>
          <a:p>
            <a:pPr algn="just"/>
            <a:endParaRPr lang="en-US" sz="1000" b="0" i="0" dirty="0">
              <a:solidFill>
                <a:srgbClr val="202123"/>
              </a:solidFill>
              <a:effectLst/>
              <a:latin typeface="+mj-lt"/>
            </a:endParaRPr>
          </a:p>
          <a:p>
            <a:pPr algn="just"/>
            <a:endParaRPr lang="en-US" sz="1000" dirty="0">
              <a:solidFill>
                <a:srgbClr val="202123"/>
              </a:solidFill>
              <a:latin typeface="+mj-lt"/>
            </a:endParaRPr>
          </a:p>
          <a:p>
            <a:pPr algn="just"/>
            <a:endParaRPr lang="en-US" sz="1000" b="0" i="0" dirty="0">
              <a:solidFill>
                <a:srgbClr val="202123"/>
              </a:solidFill>
              <a:effectLst/>
              <a:latin typeface="+mj-lt"/>
            </a:endParaRPr>
          </a:p>
          <a:p>
            <a:pPr algn="just"/>
            <a:endParaRPr lang="en-US" sz="1000" dirty="0">
              <a:solidFill>
                <a:srgbClr val="202123"/>
              </a:solidFill>
              <a:latin typeface="+mj-lt"/>
            </a:endParaRPr>
          </a:p>
          <a:p>
            <a:pPr algn="just"/>
            <a:endParaRPr lang="en-US" sz="1000" b="0" i="0" dirty="0">
              <a:solidFill>
                <a:srgbClr val="202123"/>
              </a:solidFill>
              <a:effectLst/>
              <a:latin typeface="+mj-lt"/>
            </a:endParaRPr>
          </a:p>
          <a:p>
            <a:pPr algn="just"/>
            <a:endParaRPr lang="en-US" sz="1000" dirty="0">
              <a:solidFill>
                <a:srgbClr val="202123"/>
              </a:solidFill>
              <a:latin typeface="+mj-lt"/>
            </a:endParaRPr>
          </a:p>
          <a:p>
            <a:pPr algn="just"/>
            <a:endParaRPr lang="en-US" sz="1000" b="0" i="0" dirty="0">
              <a:solidFill>
                <a:srgbClr val="202123"/>
              </a:solidFill>
              <a:effectLst/>
              <a:latin typeface="+mj-lt"/>
            </a:endParaRPr>
          </a:p>
          <a:p>
            <a:pPr algn="just"/>
            <a:endParaRPr lang="en-US" sz="1000" dirty="0">
              <a:solidFill>
                <a:srgbClr val="202123"/>
              </a:solidFill>
              <a:latin typeface="+mj-lt"/>
            </a:endParaRPr>
          </a:p>
          <a:p>
            <a:pPr algn="just"/>
            <a:endParaRPr lang="en-US" sz="1000" b="0" i="0" dirty="0">
              <a:solidFill>
                <a:srgbClr val="202123"/>
              </a:solidFill>
              <a:effectLst/>
              <a:latin typeface="+mj-lt"/>
            </a:endParaRPr>
          </a:p>
          <a:p>
            <a:pPr algn="just"/>
            <a:endParaRPr lang="en-US" sz="1000" dirty="0">
              <a:solidFill>
                <a:srgbClr val="202123"/>
              </a:solidFill>
              <a:latin typeface="+mj-lt"/>
            </a:endParaRPr>
          </a:p>
          <a:p>
            <a:pPr algn="just"/>
            <a:r>
              <a:rPr lang="en-US" sz="1000" b="0" i="0" dirty="0">
                <a:solidFill>
                  <a:srgbClr val="202123"/>
                </a:solidFill>
                <a:effectLst/>
                <a:latin typeface="+mj-lt"/>
              </a:rPr>
              <a:t>In this work, a bench-scale proof-of-concept SKID was developed to monitor and operate automatically to control over 25 </a:t>
            </a:r>
            <a:r>
              <a:rPr lang="en-US" sz="1000" b="1" i="0" dirty="0">
                <a:solidFill>
                  <a:srgbClr val="202123"/>
                </a:solidFill>
                <a:effectLst/>
                <a:latin typeface="+mj-lt"/>
              </a:rPr>
              <a:t>filtration parameters. We successfully demonstrated mAb concentration and purification</a:t>
            </a:r>
            <a:r>
              <a:rPr lang="en-US" sz="1000" b="0" i="0" dirty="0">
                <a:solidFill>
                  <a:srgbClr val="202123"/>
                </a:solidFill>
                <a:effectLst/>
                <a:latin typeface="+mj-lt"/>
              </a:rPr>
              <a:t> using single-stage and 3-stage membranes, maintaining consistent transmembrane pressure and providing real-time parameter measurements. This system was capable of monitor/operate/control traditional UF/DF. </a:t>
            </a:r>
            <a:r>
              <a:rPr lang="en-US" sz="1000" dirty="0">
                <a:solidFill>
                  <a:srgbClr val="202123"/>
                </a:solidFill>
                <a:latin typeface="+mj-lt"/>
              </a:rPr>
              <a:t>CAAMP is </a:t>
            </a:r>
            <a:r>
              <a:rPr lang="en-US" sz="1000" b="0" i="0" dirty="0">
                <a:solidFill>
                  <a:srgbClr val="202123"/>
                </a:solidFill>
                <a:effectLst/>
                <a:latin typeface="+mj-lt"/>
              </a:rPr>
              <a:t>designed to monitor/operate C3D Dialysis with experiments </a:t>
            </a:r>
            <a:r>
              <a:rPr lang="en-US" sz="1000" dirty="0">
                <a:solidFill>
                  <a:srgbClr val="202123"/>
                </a:solidFill>
                <a:latin typeface="+mj-lt"/>
              </a:rPr>
              <a:t>currently in progress</a:t>
            </a:r>
            <a:r>
              <a:rPr lang="en-US" sz="1000" b="0" i="0" dirty="0">
                <a:solidFill>
                  <a:srgbClr val="202123"/>
                </a:solidFill>
                <a:effectLst/>
                <a:latin typeface="+mj-lt"/>
              </a:rPr>
              <a:t> .  </a:t>
            </a:r>
            <a:endParaRPr lang="en-US" sz="1000" b="1" dirty="0">
              <a:ln>
                <a:noFill/>
              </a:ln>
              <a:solidFill>
                <a:schemeClr val="tx1"/>
              </a:solidFill>
              <a:latin typeface="+mj-lt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0938AE-7C6F-DD4C-7992-B9BCD99EE6B1}"/>
              </a:ext>
            </a:extLst>
          </p:cNvPr>
          <p:cNvSpPr/>
          <p:nvPr/>
        </p:nvSpPr>
        <p:spPr>
          <a:xfrm>
            <a:off x="11211577" y="5825523"/>
            <a:ext cx="3657600" cy="2999955"/>
          </a:xfrm>
          <a:prstGeom prst="rect">
            <a:avLst/>
          </a:prstGeom>
          <a:solidFill>
            <a:srgbClr val="E4C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108000" indent="-10800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rPr lang="en-US" sz="900" dirty="0">
                <a:solidFill>
                  <a:schemeClr val="tx1"/>
                </a:solidFill>
                <a:latin typeface="+mj-lt"/>
                <a:cs typeface="Arial"/>
              </a:rPr>
              <a:t>Operates in user-operated and user-written method modes, and autonomously adjust pump flow rates to maintain desired parameters or parameter rates with a defined response sensor, demonstrating its capacity for process automation</a:t>
            </a:r>
          </a:p>
          <a:p>
            <a:pPr marL="108000" indent="-10800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rPr lang="en-US" sz="900" dirty="0">
                <a:solidFill>
                  <a:schemeClr val="tx1"/>
                </a:solidFill>
                <a:latin typeface="+mj-lt"/>
                <a:cs typeface="Arial"/>
              </a:rPr>
              <a:t>To demonstrate PID and safety control we underwent rigorous testing through multiple single stage 7-day experiments, a subsequent 6-day and 14-day 3-stage run</a:t>
            </a:r>
          </a:p>
          <a:p>
            <a:pPr marL="108000" indent="-10800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rPr lang="en-US" sz="900" dirty="0">
                <a:solidFill>
                  <a:schemeClr val="tx1"/>
                </a:solidFill>
                <a:latin typeface="+mj-lt"/>
                <a:cs typeface="Arial"/>
              </a:rPr>
              <a:t>Achieves a 5x or 10x volumetric concentration factor (VCF) 3-stage membrane process with anticipated &gt;99% removal</a:t>
            </a:r>
          </a:p>
          <a:p>
            <a:pPr marL="108000" indent="-10800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rPr lang="en-US" sz="900" dirty="0">
                <a:solidFill>
                  <a:schemeClr val="tx1"/>
                </a:solidFill>
                <a:latin typeface="+mj-lt"/>
                <a:cs typeface="Arial"/>
              </a:rPr>
              <a:t>Provides a system that will achieve the objectives of a truly continuous counter current downstream and shorten process development time on several membrane processes </a:t>
            </a:r>
          </a:p>
          <a:p>
            <a:pPr marL="108000" indent="-10800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rPr lang="en-US" sz="900" dirty="0">
                <a:solidFill>
                  <a:schemeClr val="tx1"/>
                </a:solidFill>
                <a:latin typeface="+mj-lt"/>
                <a:cs typeface="Arial"/>
              </a:rPr>
              <a:t>Effectively tracks all 25+ parameters and estimates anticipated concentration factor with a 5% error rate except for flow meter.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A048E2F-0EFA-C8A6-6C33-366BE53679B4}"/>
              </a:ext>
            </a:extLst>
          </p:cNvPr>
          <p:cNvSpPr/>
          <p:nvPr/>
        </p:nvSpPr>
        <p:spPr>
          <a:xfrm>
            <a:off x="5143118" y="7966994"/>
            <a:ext cx="1460668" cy="19785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53796B-E07B-4AA9-82F0-03B82CAAEF08}"/>
              </a:ext>
            </a:extLst>
          </p:cNvPr>
          <p:cNvSpPr/>
          <p:nvPr/>
        </p:nvSpPr>
        <p:spPr>
          <a:xfrm>
            <a:off x="5143118" y="1977554"/>
            <a:ext cx="3473482" cy="31491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  <a:latin typeface="+mj-lt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E5DC138-7A10-D5B8-BE24-2F3A97C02D3E}"/>
              </a:ext>
            </a:extLst>
          </p:cNvPr>
          <p:cNvSpPr/>
          <p:nvPr/>
        </p:nvSpPr>
        <p:spPr>
          <a:xfrm>
            <a:off x="6672799" y="8062733"/>
            <a:ext cx="1759420" cy="18827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171450" indent="-171450">
              <a:lnSpc>
                <a:spcPct val="80000"/>
              </a:lnSpc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900" dirty="0">
                <a:solidFill>
                  <a:schemeClr val="tx1"/>
                </a:solidFill>
                <a:latin typeface="+mj-lt"/>
                <a:cs typeface="Arial"/>
              </a:rPr>
              <a:t>Feed Flux of 200-250 LMH</a:t>
            </a:r>
          </a:p>
          <a:p>
            <a:pPr marL="171450" indent="-171450">
              <a:lnSpc>
                <a:spcPct val="80000"/>
              </a:lnSpc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900" dirty="0">
                <a:solidFill>
                  <a:schemeClr val="tx1"/>
                </a:solidFill>
                <a:latin typeface="+mj-lt"/>
                <a:cs typeface="Arial"/>
              </a:rPr>
              <a:t>TMP Under 15 psi </a:t>
            </a:r>
          </a:p>
          <a:p>
            <a:pPr marL="171450" indent="-171450">
              <a:lnSpc>
                <a:spcPct val="80000"/>
              </a:lnSpc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900" dirty="0">
                <a:solidFill>
                  <a:schemeClr val="tx1"/>
                </a:solidFill>
                <a:latin typeface="+mj-lt"/>
                <a:cs typeface="Arial"/>
              </a:rPr>
              <a:t> Concentrated to 75 g/L with UF1</a:t>
            </a:r>
          </a:p>
          <a:p>
            <a:pPr marL="171450" indent="-171450">
              <a:lnSpc>
                <a:spcPct val="80000"/>
              </a:lnSpc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900" dirty="0">
                <a:solidFill>
                  <a:schemeClr val="tx1"/>
                </a:solidFill>
                <a:latin typeface="+mj-lt"/>
                <a:cs typeface="Arial"/>
              </a:rPr>
              <a:t>7 DV of Buffer Exchange</a:t>
            </a:r>
            <a:endParaRPr lang="en-US" sz="900" dirty="0">
              <a:solidFill>
                <a:schemeClr val="tx1"/>
              </a:solidFill>
              <a:latin typeface="+mj-lt"/>
              <a:cs typeface="Arial"/>
            </a:endParaRPr>
          </a:p>
          <a:p>
            <a:pPr marL="171450" indent="-171450">
              <a:lnSpc>
                <a:spcPct val="80000"/>
              </a:lnSpc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900" dirty="0">
                <a:solidFill>
                  <a:schemeClr val="tx1"/>
                </a:solidFill>
                <a:latin typeface="+mj-lt"/>
                <a:cs typeface="Arial"/>
              </a:rPr>
              <a:t>Concentrated to 120 g/L with UF2</a:t>
            </a:r>
          </a:p>
          <a:p>
            <a:pPr marL="171450" indent="-171450">
              <a:lnSpc>
                <a:spcPct val="80000"/>
              </a:lnSpc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900" dirty="0">
                <a:solidFill>
                  <a:schemeClr val="tx1"/>
                </a:solidFill>
                <a:latin typeface="+mj-lt"/>
                <a:cs typeface="Arial"/>
              </a:rPr>
              <a:t>Yield of  90 % </a:t>
            </a:r>
          </a:p>
          <a:p>
            <a:pPr marL="171450" indent="-171450">
              <a:lnSpc>
                <a:spcPct val="80000"/>
              </a:lnSpc>
              <a:spcAft>
                <a:spcPts val="1200"/>
              </a:spcAft>
              <a:buFont typeface="Wingdings" pitchFamily="2" charset="2"/>
              <a:buChar char="Ø"/>
            </a:pPr>
            <a:r>
              <a:rPr lang="en-GB" sz="900" dirty="0">
                <a:solidFill>
                  <a:schemeClr val="tx1"/>
                </a:solidFill>
                <a:latin typeface="+mj-lt"/>
                <a:cs typeface="Arial"/>
              </a:rPr>
              <a:t>1.5 kg/m2</a:t>
            </a:r>
          </a:p>
        </p:txBody>
      </p:sp>
      <p:sp>
        <p:nvSpPr>
          <p:cNvPr id="1815" name="Rectangle 1814">
            <a:extLst>
              <a:ext uri="{FF2B5EF4-FFF2-40B4-BE49-F238E27FC236}">
                <a16:creationId xmlns:a16="http://schemas.microsoft.com/office/drawing/2014/main" id="{03280A70-5AF1-C034-9056-7A58E2FB029A}"/>
              </a:ext>
            </a:extLst>
          </p:cNvPr>
          <p:cNvSpPr/>
          <p:nvPr/>
        </p:nvSpPr>
        <p:spPr>
          <a:xfrm>
            <a:off x="5143118" y="9990618"/>
            <a:ext cx="1660690" cy="124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800" b="1" dirty="0">
                <a:solidFill>
                  <a:schemeClr val="tx1"/>
                </a:solidFill>
                <a:latin typeface="+mj-lt"/>
                <a:cs typeface="Arial"/>
              </a:rPr>
              <a:t>Figure 6. </a:t>
            </a:r>
            <a:r>
              <a:rPr lang="en-US" sz="800" dirty="0">
                <a:solidFill>
                  <a:schemeClr val="tx1"/>
                </a:solidFill>
                <a:latin typeface="+mj-lt"/>
                <a:cs typeface="Arial"/>
              </a:rPr>
              <a:t>CAAMP  for UF/DF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5301" y="1423880"/>
            <a:ext cx="14354976" cy="209343"/>
          </a:xfrm>
          <a:prstGeom prst="rect">
            <a:avLst/>
          </a:prstGeom>
          <a:solidFill>
            <a:srgbClr val="AD4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>
                <a:noFill/>
              </a:ln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79299" y="413641"/>
            <a:ext cx="14266328" cy="4154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GB" sz="3000" b="1" dirty="0">
                <a:latin typeface="+mj-lt"/>
                <a:cs typeface="Arial"/>
              </a:rPr>
              <a:t>CAAMP: Continuous Automated Affinity Membrane Purification SKID/Software</a:t>
            </a:r>
            <a:endParaRPr lang="en-US" sz="3000" b="1" dirty="0">
              <a:latin typeface="+mj-lt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0696" y="950843"/>
            <a:ext cx="13247459" cy="2077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sz="1500" b="1" u="sng" dirty="0">
                <a:latin typeface="+mj-lt"/>
                <a:cs typeface="Arial"/>
              </a:rPr>
              <a:t>Keith Morgan</a:t>
            </a:r>
            <a:r>
              <a:rPr lang="en-US" sz="1500" b="1" baseline="30000" dirty="0">
                <a:latin typeface="+mj-lt"/>
                <a:cs typeface="Arial"/>
              </a:rPr>
              <a:t>1</a:t>
            </a:r>
            <a:r>
              <a:rPr lang="en-US" sz="1500" b="1" dirty="0">
                <a:latin typeface="+mj-lt"/>
                <a:cs typeface="Arial"/>
              </a:rPr>
              <a:t>, Ujwal Patil</a:t>
            </a:r>
            <a:r>
              <a:rPr lang="en-US" sz="1500" b="1" baseline="30000" dirty="0">
                <a:latin typeface="+mj-lt"/>
                <a:cs typeface="Arial"/>
              </a:rPr>
              <a:t>1</a:t>
            </a:r>
            <a:r>
              <a:rPr lang="en-US" sz="1500" b="1" dirty="0">
                <a:latin typeface="+mj-lt"/>
                <a:cs typeface="Arial"/>
              </a:rPr>
              <a:t>, Irina Ramos</a:t>
            </a:r>
            <a:r>
              <a:rPr lang="en-US" sz="1500" b="1" baseline="30000" dirty="0">
                <a:latin typeface="+mj-lt"/>
                <a:cs typeface="Arial"/>
              </a:rPr>
              <a:t>1</a:t>
            </a:r>
            <a:r>
              <a:rPr lang="en-US" sz="1500" b="1" dirty="0">
                <a:latin typeface="+mj-lt"/>
                <a:cs typeface="Arial"/>
              </a:rPr>
              <a:t>, Jon Coffman</a:t>
            </a:r>
            <a:r>
              <a:rPr lang="en-US" sz="1500" b="1" baseline="30000" dirty="0">
                <a:latin typeface="+mj-lt"/>
                <a:cs typeface="Arial"/>
              </a:rPr>
              <a:t>1</a:t>
            </a:r>
            <a:r>
              <a:rPr lang="en-US" sz="1500" b="1" dirty="0">
                <a:latin typeface="+mj-lt"/>
                <a:cs typeface="Arial"/>
              </a:rPr>
              <a:t> </a:t>
            </a:r>
            <a:endParaRPr lang="en-US" sz="1500" b="1" baseline="30000" dirty="0">
              <a:latin typeface="+mj-lt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0019" y="1219565"/>
            <a:ext cx="10548000" cy="1523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sz="1100" baseline="30000">
                <a:latin typeface="+mj-lt"/>
                <a:cs typeface="Arial"/>
              </a:rPr>
              <a:t>1 </a:t>
            </a:r>
            <a:r>
              <a:rPr lang="en-US" sz="1100">
                <a:latin typeface="+mj-lt"/>
                <a:cs typeface="Arial"/>
              </a:rPr>
              <a:t>Bioprocess Technologies and Engineering,  Biopharmaceutical Development, AstraZeneca, Gaithersburg, MD, USA</a:t>
            </a:r>
            <a:endParaRPr lang="en-US" sz="1100" baseline="30000">
              <a:latin typeface="+mj-lt"/>
              <a:cs typeface="Arial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95301" y="1722934"/>
            <a:ext cx="4470261" cy="228600"/>
          </a:xfrm>
          <a:prstGeom prst="rect">
            <a:avLst/>
          </a:prstGeom>
          <a:solidFill>
            <a:srgbClr val="AD4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0" rIns="72000" bIns="18000" rtlCol="0" anchor="ctr"/>
          <a:lstStyle/>
          <a:p>
            <a:r>
              <a:rPr lang="en-US" sz="1200" b="1">
                <a:ln>
                  <a:noFill/>
                </a:ln>
                <a:solidFill>
                  <a:schemeClr val="bg1"/>
                </a:solidFill>
                <a:latin typeface="+mj-lt"/>
                <a:cs typeface="Arial"/>
              </a:rPr>
              <a:t>Introduction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62168" y="1722934"/>
            <a:ext cx="9680261" cy="228600"/>
          </a:xfrm>
          <a:prstGeom prst="rect">
            <a:avLst/>
          </a:prstGeom>
          <a:solidFill>
            <a:srgbClr val="AD4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0" rIns="72000" bIns="18000" rtlCol="0" anchor="ctr"/>
          <a:lstStyle/>
          <a:p>
            <a:r>
              <a:rPr lang="en-GB" sz="1200" b="1">
                <a:solidFill>
                  <a:schemeClr val="bg1"/>
                </a:solidFill>
                <a:latin typeface="+mj-lt"/>
                <a:cs typeface="Arial"/>
              </a:rPr>
              <a:t>3 Stage CAAMP Summarized Results </a:t>
            </a:r>
            <a:endParaRPr lang="en-US" sz="1200" b="1">
              <a:ln>
                <a:noFill/>
              </a:ln>
              <a:solidFill>
                <a:schemeClr val="bg1"/>
              </a:solidFill>
              <a:latin typeface="+mj-lt"/>
              <a:cs typeface="Arial"/>
            </a:endParaRPr>
          </a:p>
        </p:txBody>
      </p:sp>
      <p:cxnSp>
        <p:nvCxnSpPr>
          <p:cNvPr id="66" name="Straight Connector 65"/>
          <p:cNvCxnSpPr>
            <a:cxnSpLocks/>
          </p:cNvCxnSpPr>
          <p:nvPr/>
        </p:nvCxnSpPr>
        <p:spPr>
          <a:xfrm>
            <a:off x="503999" y="10190720"/>
            <a:ext cx="14330276" cy="46992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11211577" y="9278773"/>
            <a:ext cx="3657600" cy="9119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800" b="1" dirty="0">
                <a:solidFill>
                  <a:schemeClr val="tx1"/>
                </a:solidFill>
                <a:latin typeface="+mj-lt"/>
                <a:cs typeface="Arial"/>
              </a:rPr>
              <a:t>References</a:t>
            </a:r>
          </a:p>
          <a:p>
            <a:pPr marL="144000" indent="-144000">
              <a:buFontTx/>
              <a:buAutoNum type="arabicPeriod"/>
            </a:pPr>
            <a:r>
              <a:rPr lang="en-US" sz="800" dirty="0">
                <a:solidFill>
                  <a:schemeClr val="tx1"/>
                </a:solidFill>
                <a:latin typeface="+mj-lt"/>
                <a:cs typeface="Arial"/>
              </a:rPr>
              <a:t>Systems and methods for end-to-end continuous downstream processing, Jon Coffman </a:t>
            </a:r>
            <a:r>
              <a:rPr lang="en-US" sz="800" i="1" dirty="0">
                <a:solidFill>
                  <a:schemeClr val="tx1"/>
                </a:solidFill>
                <a:latin typeface="+mj-lt"/>
                <a:cs typeface="Arial"/>
              </a:rPr>
              <a:t>et al. </a:t>
            </a:r>
            <a:r>
              <a:rPr lang="en-US" sz="800" dirty="0">
                <a:solidFill>
                  <a:schemeClr val="tx1"/>
                </a:solidFill>
                <a:latin typeface="+mj-lt"/>
                <a:cs typeface="Arial"/>
              </a:rPr>
              <a:t>June 2023, Patent Filed</a:t>
            </a:r>
          </a:p>
          <a:p>
            <a:pPr marL="144000" indent="-144000">
              <a:buFontTx/>
              <a:buAutoNum type="arabicPeriod"/>
            </a:pPr>
            <a:r>
              <a:rPr lang="en-US" sz="800" dirty="0">
                <a:solidFill>
                  <a:schemeClr val="tx1"/>
                </a:solidFill>
                <a:latin typeface="+mj-lt"/>
                <a:cs typeface="Arial"/>
              </a:rPr>
              <a:t>Jabra, M. Lipinski, S. </a:t>
            </a:r>
            <a:r>
              <a:rPr lang="en-US" sz="800" dirty="0" err="1">
                <a:solidFill>
                  <a:schemeClr val="tx1"/>
                </a:solidFill>
                <a:latin typeface="+mj-lt"/>
                <a:cs typeface="Arial"/>
              </a:rPr>
              <a:t>Zydney</a:t>
            </a:r>
            <a:r>
              <a:rPr lang="en-US" sz="800" dirty="0">
                <a:solidFill>
                  <a:schemeClr val="tx1"/>
                </a:solidFill>
                <a:latin typeface="+mj-lt"/>
                <a:cs typeface="Arial"/>
              </a:rPr>
              <a:t>, A. (2021). Journal of Membrane Science, 637, 119606.</a:t>
            </a:r>
          </a:p>
          <a:p>
            <a:pPr marL="144000" indent="-144000">
              <a:buFontTx/>
              <a:buAutoNum type="arabicPeriod"/>
            </a:pPr>
            <a:r>
              <a:rPr lang="en-US" sz="800" dirty="0">
                <a:solidFill>
                  <a:schemeClr val="tx1"/>
                </a:solidFill>
                <a:latin typeface="+mj-lt"/>
                <a:cs typeface="Arial"/>
              </a:rPr>
              <a:t>Pires, I. S., &amp; Palmer, A. F. (2021). Journal of Membrane Science, 618, 118712.</a:t>
            </a:r>
          </a:p>
          <a:p>
            <a:endParaRPr lang="en-US" sz="800" dirty="0">
              <a:solidFill>
                <a:schemeClr val="tx1"/>
              </a:solidFill>
              <a:latin typeface="+mj-lt"/>
              <a:cs typeface="Arial"/>
            </a:endParaRPr>
          </a:p>
          <a:p>
            <a:pPr marL="144000" indent="-144000">
              <a:buAutoNum type="arabicPeriod"/>
            </a:pPr>
            <a:endParaRPr lang="en-US" sz="800" dirty="0">
              <a:solidFill>
                <a:schemeClr val="tx1"/>
              </a:solidFill>
              <a:latin typeface="+mj-lt"/>
              <a:cs typeface="Arial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5936205-87ED-A9B9-7A68-D26E47998621}"/>
              </a:ext>
            </a:extLst>
          </p:cNvPr>
          <p:cNvGrpSpPr/>
          <p:nvPr/>
        </p:nvGrpSpPr>
        <p:grpSpPr>
          <a:xfrm>
            <a:off x="11211577" y="8911017"/>
            <a:ext cx="3625591" cy="638849"/>
            <a:chOff x="11225102" y="8352252"/>
            <a:chExt cx="3625591" cy="776431"/>
          </a:xfrm>
        </p:grpSpPr>
        <p:sp>
          <p:nvSpPr>
            <p:cNvPr id="76" name="Rectangle 75"/>
            <p:cNvSpPr/>
            <p:nvPr/>
          </p:nvSpPr>
          <p:spPr>
            <a:xfrm>
              <a:off x="11257110" y="8352252"/>
              <a:ext cx="3593583" cy="77643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700" b="1" dirty="0">
                  <a:solidFill>
                    <a:schemeClr val="tx1"/>
                  </a:solidFill>
                  <a:latin typeface="+mj-lt"/>
                  <a:cs typeface="Arial"/>
                </a:rPr>
                <a:t>Acknowledgments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Arial"/>
                </a:rPr>
                <a:t> </a:t>
              </a:r>
              <a:endParaRPr lang="en-US" sz="700" i="1" dirty="0">
                <a:solidFill>
                  <a:schemeClr val="tx1"/>
                </a:solidFill>
                <a:latin typeface="+mj-lt"/>
                <a:cs typeface="Arial"/>
              </a:endParaRPr>
            </a:p>
            <a:p>
              <a:r>
                <a:rPr lang="en-US" sz="700" i="1" dirty="0">
                  <a:solidFill>
                    <a:schemeClr val="tx1"/>
                  </a:solidFill>
                  <a:latin typeface="+mj-lt"/>
                  <a:cs typeface="Arial"/>
                </a:rPr>
                <a:t>External Collaborators : Root3 </a:t>
              </a:r>
              <a:r>
                <a:rPr lang="en-US" sz="700" i="1" dirty="0" err="1">
                  <a:solidFill>
                    <a:schemeClr val="tx1"/>
                  </a:solidFill>
                  <a:latin typeface="+mj-lt"/>
                  <a:cs typeface="Arial"/>
                </a:rPr>
                <a:t>Labs</a:t>
              </a:r>
              <a:r>
                <a:rPr lang="en-US" sz="700" i="1" baseline="30000" dirty="0" err="1">
                  <a:solidFill>
                    <a:schemeClr val="tx1"/>
                  </a:solidFill>
                  <a:latin typeface="+mj-lt"/>
                  <a:cs typeface="Arial"/>
                </a:rPr>
                <a:t>SM</a:t>
              </a:r>
              <a:r>
                <a:rPr lang="en-US" sz="700" i="1" dirty="0">
                  <a:solidFill>
                    <a:schemeClr val="tx1"/>
                  </a:solidFill>
                  <a:latin typeface="+mj-lt"/>
                  <a:cs typeface="Arial"/>
                </a:rPr>
                <a:t> is a product engineering company who provided services on the automation and data acquisition software</a:t>
              </a:r>
              <a:endParaRPr lang="en-US" sz="700" dirty="0">
                <a:solidFill>
                  <a:schemeClr val="tx1"/>
                </a:solidFill>
                <a:latin typeface="+mj-lt"/>
                <a:cs typeface="Arial"/>
              </a:endParaRPr>
            </a:p>
          </p:txBody>
        </p:sp>
        <p:cxnSp>
          <p:nvCxnSpPr>
            <p:cNvPr id="77" name="Straight Connector 76"/>
            <p:cNvCxnSpPr>
              <a:cxnSpLocks/>
            </p:cNvCxnSpPr>
            <p:nvPr/>
          </p:nvCxnSpPr>
          <p:spPr>
            <a:xfrm>
              <a:off x="11240692" y="8352252"/>
              <a:ext cx="3603239" cy="0"/>
            </a:xfrm>
            <a:prstGeom prst="line">
              <a:avLst/>
            </a:prstGeom>
            <a:ln w="3175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cxnSpLocks/>
            </p:cNvCxnSpPr>
            <p:nvPr/>
          </p:nvCxnSpPr>
          <p:spPr>
            <a:xfrm flipV="1">
              <a:off x="11225102" y="8740467"/>
              <a:ext cx="3593583" cy="2643"/>
            </a:xfrm>
            <a:prstGeom prst="line">
              <a:avLst/>
            </a:prstGeom>
            <a:ln w="3175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ectangle 39"/>
          <p:cNvSpPr/>
          <p:nvPr/>
        </p:nvSpPr>
        <p:spPr>
          <a:xfrm>
            <a:off x="501650" y="10378310"/>
            <a:ext cx="720000" cy="25762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700" i="1">
                <a:solidFill>
                  <a:schemeClr val="tx1"/>
                </a:solidFill>
                <a:latin typeface="+mj-lt"/>
                <a:cs typeface="Arial"/>
              </a:rPr>
              <a:t>Supported by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77757" y="10378310"/>
            <a:ext cx="6965541" cy="25762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700" i="1" dirty="0">
                <a:solidFill>
                  <a:schemeClr val="tx1"/>
                </a:solidFill>
                <a:latin typeface="+mj-lt"/>
                <a:cs typeface="Arial"/>
              </a:rPr>
              <a:t>Presented at the ACS Spring 2025 Meeting ​</a:t>
            </a:r>
          </a:p>
          <a:p>
            <a:pPr algn="ctr"/>
            <a:r>
              <a:rPr lang="en-US" sz="700" i="1" dirty="0">
                <a:solidFill>
                  <a:schemeClr val="tx1"/>
                </a:solidFill>
                <a:latin typeface="+mj-lt"/>
                <a:cs typeface="Arial"/>
              </a:rPr>
              <a:t>March 23-27, 2025, at the San Diego Convention Center, San Diego, CA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154" y="10283060"/>
            <a:ext cx="774700" cy="1905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46DDDDE-C339-6692-E635-325C5D9100A6}"/>
              </a:ext>
            </a:extLst>
          </p:cNvPr>
          <p:cNvSpPr/>
          <p:nvPr/>
        </p:nvSpPr>
        <p:spPr>
          <a:xfrm>
            <a:off x="528122" y="6468127"/>
            <a:ext cx="4486262" cy="228600"/>
          </a:xfrm>
          <a:prstGeom prst="rect">
            <a:avLst/>
          </a:prstGeom>
          <a:solidFill>
            <a:srgbClr val="AD4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0" rIns="72000" bIns="18000" rtlCol="0" anchor="ctr"/>
          <a:lstStyle/>
          <a:p>
            <a:r>
              <a:rPr lang="en-US" sz="1200" b="1">
                <a:ln>
                  <a:noFill/>
                </a:ln>
                <a:solidFill>
                  <a:schemeClr val="bg1"/>
                </a:solidFill>
                <a:latin typeface="+mj-lt"/>
                <a:cs typeface="Arial"/>
              </a:rPr>
              <a:t>Process Analytical Technology/User Interface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B1BEDFC-C007-1FD2-AFCB-FAB82CC7D568}"/>
              </a:ext>
            </a:extLst>
          </p:cNvPr>
          <p:cNvSpPr/>
          <p:nvPr/>
        </p:nvSpPr>
        <p:spPr>
          <a:xfrm>
            <a:off x="479299" y="9986179"/>
            <a:ext cx="1696227" cy="16059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800" b="1">
                <a:solidFill>
                  <a:schemeClr val="tx1"/>
                </a:solidFill>
                <a:latin typeface="+mj-lt"/>
                <a:cs typeface="Arial"/>
              </a:rPr>
              <a:t>Figure 2. </a:t>
            </a:r>
            <a:r>
              <a:rPr lang="en-US" sz="800">
                <a:solidFill>
                  <a:schemeClr val="tx1"/>
                </a:solidFill>
                <a:latin typeface="+mj-lt"/>
                <a:cs typeface="Arial"/>
              </a:rPr>
              <a:t>CAAMP Single-Stage TFF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E1F0BF2-BF39-1E49-A2FD-51ABE82DCE30}"/>
              </a:ext>
            </a:extLst>
          </p:cNvPr>
          <p:cNvGrpSpPr/>
          <p:nvPr/>
        </p:nvGrpSpPr>
        <p:grpSpPr>
          <a:xfrm>
            <a:off x="772726" y="2749762"/>
            <a:ext cx="3997054" cy="2472402"/>
            <a:chOff x="495483" y="2689069"/>
            <a:chExt cx="4247671" cy="262742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F6E3FC7-231C-FCAF-8DD0-3E8188B42032}"/>
                </a:ext>
              </a:extLst>
            </p:cNvPr>
            <p:cNvGrpSpPr/>
            <p:nvPr/>
          </p:nvGrpSpPr>
          <p:grpSpPr>
            <a:xfrm>
              <a:off x="495483" y="2689069"/>
              <a:ext cx="4247671" cy="2503592"/>
              <a:chOff x="500696" y="2079670"/>
              <a:chExt cx="4434840" cy="261391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1AAC9CAD-7BAA-93FF-14FE-DBDFAEB0F1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0537" y="2079670"/>
                <a:ext cx="4343400" cy="1522980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D8107899-73F0-A214-6C73-2BC65FA598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0696" y="3606575"/>
                <a:ext cx="4434840" cy="1087005"/>
              </a:xfrm>
              <a:prstGeom prst="rect">
                <a:avLst/>
              </a:prstGeom>
            </p:spPr>
          </p:pic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A3E0A7-6EE4-4A45-3A9D-464B2C8ED88F}"/>
                </a:ext>
              </a:extLst>
            </p:cNvPr>
            <p:cNvSpPr/>
            <p:nvPr/>
          </p:nvSpPr>
          <p:spPr>
            <a:xfrm>
              <a:off x="510537" y="5177314"/>
              <a:ext cx="3473482" cy="13917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en-US" sz="900" b="1">
                  <a:solidFill>
                    <a:schemeClr val="tx1"/>
                  </a:solidFill>
                  <a:latin typeface="+mj-lt"/>
                  <a:cs typeface="Arial"/>
                </a:rPr>
                <a:t>Figure 1.  Truly Continuous Counter Current Downstream</a:t>
              </a:r>
            </a:p>
            <a:p>
              <a:r>
                <a:rPr lang="en-US" sz="900" b="1">
                  <a:solidFill>
                    <a:schemeClr val="tx1"/>
                  </a:solidFill>
                  <a:latin typeface="+mj-lt"/>
                  <a:cs typeface="Arial"/>
                </a:rPr>
                <a:t> </a:t>
              </a:r>
            </a:p>
          </p:txBody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F03DA5EB-F158-85DB-7CF9-77862836EC4C}"/>
              </a:ext>
            </a:extLst>
          </p:cNvPr>
          <p:cNvSpPr/>
          <p:nvPr/>
        </p:nvSpPr>
        <p:spPr>
          <a:xfrm>
            <a:off x="5143118" y="4895743"/>
            <a:ext cx="3362652" cy="2885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457200" indent="-457200"/>
            <a:r>
              <a:rPr lang="en-US" sz="800" b="1" dirty="0">
                <a:solidFill>
                  <a:schemeClr val="tx1"/>
                </a:solidFill>
                <a:latin typeface="+mj-lt"/>
                <a:cs typeface="Arial"/>
              </a:rPr>
              <a:t>Figure 4.  </a:t>
            </a:r>
            <a:r>
              <a:rPr lang="en-US" sz="800" dirty="0">
                <a:solidFill>
                  <a:schemeClr val="tx1"/>
                </a:solidFill>
                <a:latin typeface="+mj-lt"/>
                <a:cs typeface="Arial"/>
              </a:rPr>
              <a:t>Truly Continuous Counter Current Downstream 3-Stage Capture with </a:t>
            </a:r>
            <a:r>
              <a:rPr lang="en-US" sz="800" dirty="0" err="1">
                <a:solidFill>
                  <a:schemeClr val="tx1"/>
                </a:solidFill>
                <a:latin typeface="+mj-lt"/>
                <a:cs typeface="Arial"/>
              </a:rPr>
              <a:t>mAb</a:t>
            </a:r>
            <a:r>
              <a:rPr lang="en-US" sz="800" dirty="0">
                <a:solidFill>
                  <a:schemeClr val="tx1"/>
                </a:solidFill>
                <a:latin typeface="+mj-lt"/>
                <a:cs typeface="Arial"/>
              </a:rPr>
              <a:t> with Vitamin B12 Impurity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36E5195-0AE9-C87B-4857-CE25A77880D0}"/>
              </a:ext>
            </a:extLst>
          </p:cNvPr>
          <p:cNvSpPr/>
          <p:nvPr/>
        </p:nvSpPr>
        <p:spPr>
          <a:xfrm>
            <a:off x="11211577" y="5569095"/>
            <a:ext cx="3657600" cy="228600"/>
          </a:xfrm>
          <a:prstGeom prst="rect">
            <a:avLst/>
          </a:prstGeom>
          <a:solidFill>
            <a:srgbClr val="AD4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0" rIns="72000" bIns="18000" rtlCol="0" anchor="ctr"/>
          <a:lstStyle/>
          <a:p>
            <a:r>
              <a:rPr lang="en-GB" sz="1200" b="1">
                <a:solidFill>
                  <a:schemeClr val="bg1"/>
                </a:solidFill>
                <a:latin typeface="+mj-lt"/>
                <a:cs typeface="Arial"/>
              </a:rPr>
              <a:t>C</a:t>
            </a:r>
            <a:r>
              <a:rPr lang="en-US" sz="1200" b="1">
                <a:solidFill>
                  <a:schemeClr val="bg1"/>
                </a:solidFill>
                <a:latin typeface="+mj-lt"/>
                <a:cs typeface="Arial"/>
              </a:rPr>
              <a:t>onclusions</a:t>
            </a:r>
            <a:endParaRPr lang="en-US" sz="1200" b="1">
              <a:ln>
                <a:noFill/>
              </a:ln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CF310B-800C-D339-FECE-F44150AD3819}"/>
              </a:ext>
            </a:extLst>
          </p:cNvPr>
          <p:cNvSpPr/>
          <p:nvPr/>
        </p:nvSpPr>
        <p:spPr>
          <a:xfrm>
            <a:off x="5143118" y="7688681"/>
            <a:ext cx="3291840" cy="228600"/>
          </a:xfrm>
          <a:prstGeom prst="rect">
            <a:avLst/>
          </a:prstGeom>
          <a:solidFill>
            <a:srgbClr val="AD4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0" rIns="72000" bIns="18000" rtlCol="0" anchor="ctr"/>
          <a:lstStyle/>
          <a:p>
            <a:r>
              <a:rPr lang="en-GB" sz="1200" b="1">
                <a:ln>
                  <a:noFill/>
                </a:ln>
                <a:solidFill>
                  <a:schemeClr val="bg1"/>
                </a:solidFill>
                <a:latin typeface="+mj-lt"/>
                <a:cs typeface="Arial"/>
              </a:rPr>
              <a:t>Platform Work: UF/DF</a:t>
            </a:r>
            <a:endParaRPr lang="en-US" sz="1200" b="1">
              <a:ln>
                <a:noFill/>
              </a:ln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A6AE6C1-4203-E02A-6847-CB417C2189DC}"/>
              </a:ext>
            </a:extLst>
          </p:cNvPr>
          <p:cNvSpPr/>
          <p:nvPr/>
        </p:nvSpPr>
        <p:spPr>
          <a:xfrm>
            <a:off x="8609775" y="6862457"/>
            <a:ext cx="2269489" cy="712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457200" indent="-457200"/>
            <a:r>
              <a:rPr lang="en-US" sz="800" b="1" dirty="0">
                <a:solidFill>
                  <a:schemeClr val="tx1"/>
                </a:solidFill>
                <a:latin typeface="+mj-lt"/>
                <a:cs typeface="Arial"/>
              </a:rPr>
              <a:t>Figure 7. </a:t>
            </a:r>
            <a:r>
              <a:rPr lang="en-US" sz="800" dirty="0">
                <a:solidFill>
                  <a:schemeClr val="tx1"/>
                </a:solidFill>
                <a:latin typeface="+mj-lt"/>
                <a:cs typeface="Arial"/>
              </a:rPr>
              <a:t>B12 removal with 3-stage 5X concentration factor CAAMP for 48 </a:t>
            </a:r>
            <a:r>
              <a:rPr lang="en-US" sz="800" dirty="0" err="1">
                <a:solidFill>
                  <a:schemeClr val="tx1"/>
                </a:solidFill>
                <a:latin typeface="+mj-lt"/>
                <a:cs typeface="Arial"/>
              </a:rPr>
              <a:t>hrs</a:t>
            </a:r>
            <a:endParaRPr lang="en-US" sz="800" dirty="0">
              <a:solidFill>
                <a:schemeClr val="tx1"/>
              </a:solidFill>
              <a:latin typeface="+mj-lt"/>
              <a:cs typeface="Arial"/>
            </a:endParaRPr>
          </a:p>
          <a:p>
            <a:pPr marL="457200" indent="-457200"/>
            <a:r>
              <a:rPr lang="en-US" sz="800" dirty="0">
                <a:solidFill>
                  <a:schemeClr val="tx1"/>
                </a:solidFill>
                <a:latin typeface="+mj-lt"/>
                <a:cs typeface="Arial"/>
              </a:rPr>
              <a:t>From Left : Feed, Permeate 1, Retentate 1, Permeate 2, Retentate 2, Permeate 3 Retentate 3 (Product), and Fresh Buffer </a:t>
            </a:r>
          </a:p>
          <a:p>
            <a:r>
              <a:rPr lang="en-US" sz="800" b="1" dirty="0">
                <a:solidFill>
                  <a:schemeClr val="tx1"/>
                </a:solidFill>
                <a:latin typeface="+mj-lt"/>
                <a:cs typeface="Arial"/>
              </a:rPr>
              <a:t>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7EB2D8B-9FDE-CA6F-2410-0A97B09002B6}"/>
              </a:ext>
            </a:extLst>
          </p:cNvPr>
          <p:cNvSpPr/>
          <p:nvPr/>
        </p:nvSpPr>
        <p:spPr>
          <a:xfrm>
            <a:off x="8905734" y="4899988"/>
            <a:ext cx="2726348" cy="65040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398463" indent="-398463"/>
            <a:r>
              <a:rPr lang="en-US" sz="800" b="1" dirty="0">
                <a:solidFill>
                  <a:schemeClr val="tx1"/>
                </a:solidFill>
                <a:latin typeface="+mj-lt"/>
                <a:cs typeface="Arial"/>
              </a:rPr>
              <a:t>Figure 9.  </a:t>
            </a:r>
            <a:r>
              <a:rPr lang="en-US" sz="800" dirty="0">
                <a:solidFill>
                  <a:schemeClr val="tx1"/>
                </a:solidFill>
                <a:latin typeface="+mj-lt"/>
                <a:cs typeface="Arial"/>
              </a:rPr>
              <a:t>Concentration factor over time using 3-stage membrane process are monitored within ±20 % of actual value. Concentration measured offline by UV280 nm confirmed 10X VCF achieved within ±5% target.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9BD87C9-FBE0-0E0E-381B-BAB52752286B}"/>
              </a:ext>
            </a:extLst>
          </p:cNvPr>
          <p:cNvSpPr/>
          <p:nvPr/>
        </p:nvSpPr>
        <p:spPr>
          <a:xfrm>
            <a:off x="11698222" y="4899988"/>
            <a:ext cx="3087145" cy="6504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457200" indent="-457200"/>
            <a:r>
              <a:rPr lang="en-US" sz="800" b="1" dirty="0">
                <a:solidFill>
                  <a:schemeClr val="tx1"/>
                </a:solidFill>
                <a:latin typeface="+mj-lt"/>
                <a:cs typeface="Arial"/>
              </a:rPr>
              <a:t>Figure 10</a:t>
            </a:r>
            <a:r>
              <a:rPr lang="en-US" sz="800" dirty="0">
                <a:solidFill>
                  <a:schemeClr val="tx1"/>
                </a:solidFill>
                <a:latin typeface="+mj-lt"/>
                <a:cs typeface="Arial"/>
              </a:rPr>
              <a:t>. 14-Day 3-stage membrane process flux data demonstrated average of 8.5 LMH and matched 6-day flux projections. 3.0 kg/m</a:t>
            </a:r>
            <a:r>
              <a:rPr lang="en-US" sz="800" baseline="30000" dirty="0">
                <a:solidFill>
                  <a:schemeClr val="tx1"/>
                </a:solidFill>
                <a:latin typeface="+mj-lt"/>
                <a:cs typeface="Arial"/>
              </a:rPr>
              <a:t>2</a:t>
            </a:r>
            <a:r>
              <a:rPr lang="en-US" sz="800" dirty="0">
                <a:solidFill>
                  <a:schemeClr val="tx1"/>
                </a:solidFill>
                <a:latin typeface="+mj-lt"/>
                <a:cs typeface="Arial"/>
              </a:rPr>
              <a:t> membrane loading, and anticipated impurity removal of &gt;99%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0655C5-8E2A-4D56-D0D5-878FDC58CF79}"/>
              </a:ext>
            </a:extLst>
          </p:cNvPr>
          <p:cNvSpPr/>
          <p:nvPr/>
        </p:nvSpPr>
        <p:spPr>
          <a:xfrm>
            <a:off x="8620055" y="7688681"/>
            <a:ext cx="2377440" cy="228600"/>
          </a:xfrm>
          <a:prstGeom prst="rect">
            <a:avLst/>
          </a:prstGeom>
          <a:solidFill>
            <a:srgbClr val="AD4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0" rIns="72000" bIns="18000" rtlCol="0" anchor="ctr"/>
          <a:lstStyle/>
          <a:p>
            <a:r>
              <a:rPr lang="en-GB" sz="1200" b="1" dirty="0">
                <a:solidFill>
                  <a:schemeClr val="bg1"/>
                </a:solidFill>
                <a:latin typeface="+mj-lt"/>
                <a:cs typeface="Arial"/>
              </a:rPr>
              <a:t>On-Going Work</a:t>
            </a:r>
            <a:r>
              <a:rPr lang="en-GB" sz="1200" b="1" dirty="0">
                <a:ln>
                  <a:noFill/>
                </a:ln>
                <a:solidFill>
                  <a:schemeClr val="bg1"/>
                </a:solidFill>
                <a:latin typeface="+mj-lt"/>
                <a:cs typeface="Arial"/>
              </a:rPr>
              <a:t> : CC-Dialysis</a:t>
            </a:r>
            <a:endParaRPr lang="en-US" sz="1200" b="1" dirty="0">
              <a:ln>
                <a:noFill/>
              </a:ln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1848" name="Rectangle 1847">
            <a:extLst>
              <a:ext uri="{FF2B5EF4-FFF2-40B4-BE49-F238E27FC236}">
                <a16:creationId xmlns:a16="http://schemas.microsoft.com/office/drawing/2014/main" id="{BB73558B-E0F7-B21B-9327-5EB9B9C467FF}"/>
              </a:ext>
            </a:extLst>
          </p:cNvPr>
          <p:cNvSpPr/>
          <p:nvPr/>
        </p:nvSpPr>
        <p:spPr>
          <a:xfrm>
            <a:off x="2247278" y="9986179"/>
            <a:ext cx="2145182" cy="16059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800" b="1">
                <a:solidFill>
                  <a:schemeClr val="tx1"/>
                </a:solidFill>
                <a:latin typeface="+mj-lt"/>
                <a:cs typeface="Arial"/>
              </a:rPr>
              <a:t>Table 2. </a:t>
            </a:r>
            <a:r>
              <a:rPr lang="en-US" sz="800">
                <a:solidFill>
                  <a:schemeClr val="tx1"/>
                </a:solidFill>
                <a:latin typeface="+mj-lt"/>
                <a:cs typeface="Arial"/>
              </a:rPr>
              <a:t>CAAMP Sensor Accuracy</a:t>
            </a:r>
          </a:p>
        </p:txBody>
      </p:sp>
      <p:sp>
        <p:nvSpPr>
          <p:cNvPr id="1849" name="Rectangle 1848">
            <a:extLst>
              <a:ext uri="{FF2B5EF4-FFF2-40B4-BE49-F238E27FC236}">
                <a16:creationId xmlns:a16="http://schemas.microsoft.com/office/drawing/2014/main" id="{C235C1E8-BF17-769D-8BDD-5B52D2A68F05}"/>
              </a:ext>
            </a:extLst>
          </p:cNvPr>
          <p:cNvSpPr/>
          <p:nvPr/>
        </p:nvSpPr>
        <p:spPr>
          <a:xfrm>
            <a:off x="2247278" y="8092458"/>
            <a:ext cx="2818262" cy="2855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800" b="1" dirty="0">
                <a:solidFill>
                  <a:schemeClr val="tx1"/>
                </a:solidFill>
                <a:latin typeface="+mj-lt"/>
                <a:cs typeface="Arial"/>
              </a:rPr>
              <a:t>Table 1. </a:t>
            </a:r>
            <a:r>
              <a:rPr lang="en-US" sz="800" dirty="0">
                <a:solidFill>
                  <a:schemeClr val="tx1"/>
                </a:solidFill>
                <a:latin typeface="+mj-lt"/>
                <a:cs typeface="Arial"/>
              </a:rPr>
              <a:t>CAAMP Equipment Schematic Legend </a:t>
            </a:r>
          </a:p>
        </p:txBody>
      </p:sp>
      <p:sp>
        <p:nvSpPr>
          <p:cNvPr id="1850" name="Rectangle 1849">
            <a:extLst>
              <a:ext uri="{FF2B5EF4-FFF2-40B4-BE49-F238E27FC236}">
                <a16:creationId xmlns:a16="http://schemas.microsoft.com/office/drawing/2014/main" id="{03360EB3-421E-13C2-6FD0-BEF262FD2E88}"/>
              </a:ext>
            </a:extLst>
          </p:cNvPr>
          <p:cNvSpPr/>
          <p:nvPr/>
        </p:nvSpPr>
        <p:spPr>
          <a:xfrm>
            <a:off x="8620055" y="5577653"/>
            <a:ext cx="2377440" cy="228600"/>
          </a:xfrm>
          <a:prstGeom prst="rect">
            <a:avLst/>
          </a:prstGeom>
          <a:solidFill>
            <a:srgbClr val="AD4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0" rIns="72000" bIns="18000" rtlCol="0" anchor="ctr"/>
          <a:lstStyle/>
          <a:p>
            <a:r>
              <a:rPr lang="en-GB" sz="1200" b="1">
                <a:ln>
                  <a:noFill/>
                </a:ln>
                <a:solidFill>
                  <a:schemeClr val="bg1"/>
                </a:solidFill>
                <a:latin typeface="+mj-lt"/>
                <a:cs typeface="Arial"/>
              </a:rPr>
              <a:t>B12 Tracer Removal</a:t>
            </a:r>
            <a:endParaRPr lang="en-US" sz="1200" b="1" dirty="0">
              <a:ln>
                <a:noFill/>
              </a:ln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1851" name="Rectangle 1850">
            <a:extLst>
              <a:ext uri="{FF2B5EF4-FFF2-40B4-BE49-F238E27FC236}">
                <a16:creationId xmlns:a16="http://schemas.microsoft.com/office/drawing/2014/main" id="{E9780458-69C0-6223-EEFA-C927D46C5B25}"/>
              </a:ext>
            </a:extLst>
          </p:cNvPr>
          <p:cNvSpPr/>
          <p:nvPr/>
        </p:nvSpPr>
        <p:spPr>
          <a:xfrm>
            <a:off x="5143118" y="6862457"/>
            <a:ext cx="3289101" cy="712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900" b="1" dirty="0">
                <a:solidFill>
                  <a:schemeClr val="tx1"/>
                </a:solidFill>
                <a:latin typeface="+mj-lt"/>
                <a:cs typeface="Arial"/>
              </a:rPr>
              <a:t>Figure 5 : CAAMP User Interface. </a:t>
            </a:r>
          </a:p>
          <a:p>
            <a:pPr indent="457200"/>
            <a:r>
              <a:rPr lang="en-US" sz="800" b="1" dirty="0">
                <a:solidFill>
                  <a:schemeClr val="tx1"/>
                </a:solidFill>
                <a:latin typeface="+mj-lt"/>
                <a:cs typeface="Arial"/>
              </a:rPr>
              <a:t>A)</a:t>
            </a:r>
            <a:r>
              <a:rPr lang="en-US" sz="800" dirty="0">
                <a:solidFill>
                  <a:schemeClr val="tx1"/>
                </a:solidFill>
                <a:latin typeface="+mj-lt"/>
                <a:cs typeface="Arial"/>
              </a:rPr>
              <a:t> Pump calibration panel, data export, and experimental start </a:t>
            </a:r>
          </a:p>
          <a:p>
            <a:pPr indent="457200"/>
            <a:r>
              <a:rPr lang="en-US" sz="800" b="1" dirty="0">
                <a:solidFill>
                  <a:schemeClr val="tx1"/>
                </a:solidFill>
                <a:latin typeface="+mj-lt"/>
                <a:cs typeface="Arial"/>
              </a:rPr>
              <a:t>B) </a:t>
            </a:r>
            <a:r>
              <a:rPr lang="en-US" sz="800" dirty="0">
                <a:solidFill>
                  <a:schemeClr val="tx1"/>
                </a:solidFill>
                <a:latin typeface="+mj-lt"/>
                <a:cs typeface="Arial"/>
              </a:rPr>
              <a:t>Alarms and run notes</a:t>
            </a:r>
          </a:p>
          <a:p>
            <a:pPr indent="457200"/>
            <a:r>
              <a:rPr lang="en-US" sz="800" b="1" dirty="0">
                <a:solidFill>
                  <a:schemeClr val="tx1"/>
                </a:solidFill>
                <a:latin typeface="+mj-lt"/>
                <a:cs typeface="Arial"/>
              </a:rPr>
              <a:t>C) </a:t>
            </a:r>
            <a:r>
              <a:rPr lang="en-US" sz="800" dirty="0">
                <a:solidFill>
                  <a:schemeClr val="tx1"/>
                </a:solidFill>
                <a:latin typeface="+mj-lt"/>
                <a:cs typeface="Arial"/>
              </a:rPr>
              <a:t>data profiles ex. Balances and conductivity</a:t>
            </a:r>
            <a:endParaRPr lang="en-US" sz="800" b="1" dirty="0">
              <a:solidFill>
                <a:schemeClr val="tx1"/>
              </a:solidFill>
              <a:latin typeface="+mj-lt"/>
              <a:cs typeface="Arial"/>
            </a:endParaRPr>
          </a:p>
          <a:p>
            <a:pPr indent="457200"/>
            <a:r>
              <a:rPr lang="en-US" sz="800" b="1" dirty="0">
                <a:solidFill>
                  <a:schemeClr val="tx1"/>
                </a:solidFill>
                <a:latin typeface="+mj-lt"/>
                <a:cs typeface="Arial"/>
              </a:rPr>
              <a:t>D) </a:t>
            </a:r>
            <a:r>
              <a:rPr lang="en-US" sz="800" dirty="0">
                <a:solidFill>
                  <a:schemeClr val="tx1"/>
                </a:solidFill>
                <a:latin typeface="+mj-lt"/>
                <a:cs typeface="Arial"/>
              </a:rPr>
              <a:t>3- stage schematic with associated values </a:t>
            </a:r>
          </a:p>
        </p:txBody>
      </p:sp>
      <p:sp>
        <p:nvSpPr>
          <p:cNvPr id="1839" name="Rectangle 1838">
            <a:extLst>
              <a:ext uri="{FF2B5EF4-FFF2-40B4-BE49-F238E27FC236}">
                <a16:creationId xmlns:a16="http://schemas.microsoft.com/office/drawing/2014/main" id="{B8556C83-8E2D-57D1-638E-ECD0BDB62FFE}"/>
              </a:ext>
            </a:extLst>
          </p:cNvPr>
          <p:cNvSpPr/>
          <p:nvPr/>
        </p:nvSpPr>
        <p:spPr>
          <a:xfrm>
            <a:off x="8620055" y="8808959"/>
            <a:ext cx="2525460" cy="16059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sz="800" b="1" dirty="0">
                <a:solidFill>
                  <a:schemeClr val="tx1"/>
                </a:solidFill>
                <a:latin typeface="+mj-lt"/>
                <a:cs typeface="Arial"/>
              </a:rPr>
              <a:t>Figure 8.  </a:t>
            </a:r>
            <a:r>
              <a:rPr lang="en-US" sz="800" dirty="0">
                <a:solidFill>
                  <a:schemeClr val="tx1"/>
                </a:solidFill>
                <a:latin typeface="+mj-lt"/>
                <a:cs typeface="Arial"/>
              </a:rPr>
              <a:t>Asymmetric Counter Current Dialysis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758C19D-A2D1-DF09-F8E8-ACC4A27415C7}"/>
              </a:ext>
            </a:extLst>
          </p:cNvPr>
          <p:cNvSpPr/>
          <p:nvPr/>
        </p:nvSpPr>
        <p:spPr>
          <a:xfrm>
            <a:off x="8620055" y="8986770"/>
            <a:ext cx="2375250" cy="112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171450" indent="-171450">
              <a:lnSpc>
                <a:spcPct val="13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US" sz="1000" dirty="0">
                <a:solidFill>
                  <a:schemeClr val="tx1"/>
                </a:solidFill>
                <a:latin typeface="+mj-lt"/>
                <a:cs typeface="Arial"/>
              </a:rPr>
              <a:t>Integrates UF and Buffer Exchange </a:t>
            </a:r>
            <a:endParaRPr lang="en-GB" sz="1000" dirty="0">
              <a:solidFill>
                <a:schemeClr val="tx1"/>
              </a:solidFill>
              <a:latin typeface="+mj-lt"/>
              <a:cs typeface="Arial"/>
            </a:endParaRPr>
          </a:p>
          <a:p>
            <a:pPr marL="171450" indent="-171450">
              <a:lnSpc>
                <a:spcPct val="13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GB" sz="1000" dirty="0">
                <a:solidFill>
                  <a:schemeClr val="tx1"/>
                </a:solidFill>
                <a:latin typeface="+mj-lt"/>
                <a:cs typeface="Arial"/>
              </a:rPr>
              <a:t>80% Less Buffer for Diafiltration </a:t>
            </a:r>
          </a:p>
          <a:p>
            <a:pPr marL="171450" indent="-171450">
              <a:lnSpc>
                <a:spcPct val="13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GB" sz="1000" dirty="0">
                <a:solidFill>
                  <a:schemeClr val="tx1"/>
                </a:solidFill>
                <a:latin typeface="+mj-lt"/>
                <a:cs typeface="Arial"/>
              </a:rPr>
              <a:t>Lower Pressures</a:t>
            </a:r>
          </a:p>
          <a:p>
            <a:pPr marL="171450" indent="-171450">
              <a:lnSpc>
                <a:spcPct val="13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GB" sz="1000" dirty="0">
                <a:solidFill>
                  <a:schemeClr val="tx1"/>
                </a:solidFill>
                <a:latin typeface="+mj-lt"/>
                <a:cs typeface="Arial"/>
              </a:rPr>
              <a:t>Continuous Operation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endParaRPr lang="en-GB" sz="1000" dirty="0">
              <a:solidFill>
                <a:schemeClr val="tx1"/>
              </a:solidFill>
              <a:latin typeface="+mj-lt"/>
              <a:cs typeface="Arial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620CA51-5F49-71D7-26B7-146858F38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699460"/>
              </p:ext>
            </p:extLst>
          </p:nvPr>
        </p:nvGraphicFramePr>
        <p:xfrm>
          <a:off x="2247278" y="8364041"/>
          <a:ext cx="2743200" cy="15765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0927">
                  <a:extLst>
                    <a:ext uri="{9D8B030D-6E8A-4147-A177-3AD203B41FA5}">
                      <a16:colId xmlns:a16="http://schemas.microsoft.com/office/drawing/2014/main" val="2529467255"/>
                    </a:ext>
                  </a:extLst>
                </a:gridCol>
                <a:gridCol w="1326882">
                  <a:extLst>
                    <a:ext uri="{9D8B030D-6E8A-4147-A177-3AD203B41FA5}">
                      <a16:colId xmlns:a16="http://schemas.microsoft.com/office/drawing/2014/main" val="3139889908"/>
                    </a:ext>
                  </a:extLst>
                </a:gridCol>
                <a:gridCol w="555391">
                  <a:extLst>
                    <a:ext uri="{9D8B030D-6E8A-4147-A177-3AD203B41FA5}">
                      <a16:colId xmlns:a16="http://schemas.microsoft.com/office/drawing/2014/main" val="183457604"/>
                    </a:ext>
                  </a:extLst>
                </a:gridCol>
              </a:tblGrid>
              <a:tr h="2461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Current PAT*</a:t>
                      </a:r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8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84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Measured</a:t>
                      </a:r>
                    </a:p>
                    <a:p>
                      <a:pPr algn="ctr" fontAlgn="b"/>
                      <a:r>
                        <a:rPr lang="en-US" sz="7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Values </a:t>
                      </a:r>
                      <a:endParaRPr lang="en-US" sz="7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18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8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84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Error (+-%)</a:t>
                      </a:r>
                      <a:endParaRPr lang="en-US" sz="7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18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84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287411"/>
                  </a:ext>
                </a:extLst>
              </a:tr>
              <a:tr h="2461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+mj-lt"/>
                        </a:rPr>
                        <a:t>Flow Meters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105698" marR="105698" marT="52849" marB="52849" anchor="b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 Calibration Ranges </a:t>
                      </a:r>
                    </a:p>
                    <a:p>
                      <a:pPr algn="ctr" fontAlgn="b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0.01 – 20 mL/min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251525"/>
                  </a:ext>
                </a:extLst>
              </a:tr>
              <a:tr h="1323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+mj-lt"/>
                        </a:rPr>
                        <a:t>4 Channel Pump **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+mj-lt"/>
                        </a:rPr>
                        <a:t>0.01-20 mL/min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+mj-lt"/>
                        </a:rPr>
                        <a:t>5%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741239"/>
                  </a:ext>
                </a:extLst>
              </a:tr>
              <a:tr h="158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+mj-lt"/>
                        </a:rPr>
                        <a:t>pH 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+mj-lt"/>
                        </a:rPr>
                        <a:t>1 - 14 pH units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+mj-lt"/>
                        </a:rPr>
                        <a:t>3%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809171"/>
                  </a:ext>
                </a:extLst>
              </a:tr>
              <a:tr h="1538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+mj-lt"/>
                        </a:rPr>
                        <a:t>Conductivity 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+mj-lt"/>
                        </a:rPr>
                        <a:t>0 - 40 mS/cm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091981"/>
                  </a:ext>
                </a:extLst>
              </a:tr>
              <a:tr h="1492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+mj-lt"/>
                        </a:rPr>
                        <a:t>Balances 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+mj-lt"/>
                        </a:rPr>
                        <a:t>0.00 - 6200.00 mg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F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+mj-lt"/>
                        </a:rPr>
                        <a:t>  N/A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54725"/>
                  </a:ext>
                </a:extLst>
              </a:tr>
              <a:tr h="245058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+mj-lt"/>
                        </a:rPr>
                        <a:t>*Higher Capacity Balances, and Flow Meters Available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105698" marR="105698" marT="52849" marB="52849" anchor="b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44738058"/>
                  </a:ext>
                </a:extLst>
              </a:tr>
              <a:tr h="245058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+mj-lt"/>
                        </a:rPr>
                        <a:t>** Error based on current tubing and peristaltic pumps 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105698" marR="105698" marT="52849" marB="52849" anchor="b">
                    <a:lnL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14850477"/>
                  </a:ext>
                </a:extLst>
              </a:tr>
            </a:tbl>
          </a:graphicData>
        </a:graphic>
      </p:graphicFrame>
      <p:grpSp>
        <p:nvGrpSpPr>
          <p:cNvPr id="1809" name="Group 1808">
            <a:extLst>
              <a:ext uri="{FF2B5EF4-FFF2-40B4-BE49-F238E27FC236}">
                <a16:creationId xmlns:a16="http://schemas.microsoft.com/office/drawing/2014/main" id="{CCFE2E03-BF14-7D04-8C13-DF7EC218CDB1}"/>
              </a:ext>
            </a:extLst>
          </p:cNvPr>
          <p:cNvGrpSpPr/>
          <p:nvPr/>
        </p:nvGrpSpPr>
        <p:grpSpPr>
          <a:xfrm>
            <a:off x="5143118" y="5222164"/>
            <a:ext cx="3289101" cy="1538389"/>
            <a:chOff x="5143118" y="5740673"/>
            <a:chExt cx="3289101" cy="1538389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CEF0C664-6B68-1950-0D0B-4E59E17D8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43118" y="5740673"/>
              <a:ext cx="3289101" cy="1538389"/>
            </a:xfrm>
            <a:prstGeom prst="rect">
              <a:avLst/>
            </a:prstGeom>
          </p:spPr>
        </p:pic>
        <p:sp>
          <p:nvSpPr>
            <p:cNvPr id="1805" name="Rectangle 1804">
              <a:extLst>
                <a:ext uri="{FF2B5EF4-FFF2-40B4-BE49-F238E27FC236}">
                  <a16:creationId xmlns:a16="http://schemas.microsoft.com/office/drawing/2014/main" id="{6A009659-1115-DBBD-4231-43A9A4DBC8B2}"/>
                </a:ext>
              </a:extLst>
            </p:cNvPr>
            <p:cNvSpPr/>
            <p:nvPr/>
          </p:nvSpPr>
          <p:spPr>
            <a:xfrm>
              <a:off x="6120650" y="6624936"/>
              <a:ext cx="172694" cy="1450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>
                  <a:solidFill>
                    <a:schemeClr val="tx1"/>
                  </a:solidFill>
                </a:rPr>
                <a:t>C</a:t>
              </a:r>
              <a:endParaRPr lang="en-US" sz="1000">
                <a:ln>
                  <a:noFill/>
                </a:ln>
                <a:solidFill>
                  <a:schemeClr val="tx1"/>
                </a:solidFill>
              </a:endParaRPr>
            </a:p>
          </p:txBody>
        </p:sp>
        <p:sp>
          <p:nvSpPr>
            <p:cNvPr id="1806" name="Rectangle 1805">
              <a:extLst>
                <a:ext uri="{FF2B5EF4-FFF2-40B4-BE49-F238E27FC236}">
                  <a16:creationId xmlns:a16="http://schemas.microsoft.com/office/drawing/2014/main" id="{7A5ACD76-CDC9-DCBA-6E5B-D0AECDE38AD7}"/>
                </a:ext>
              </a:extLst>
            </p:cNvPr>
            <p:cNvSpPr/>
            <p:nvPr/>
          </p:nvSpPr>
          <p:spPr>
            <a:xfrm>
              <a:off x="8233890" y="7107349"/>
              <a:ext cx="172694" cy="1450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>
                  <a:ln>
                    <a:noFill/>
                  </a:ln>
                  <a:solidFill>
                    <a:schemeClr val="tx1"/>
                  </a:solidFill>
                </a:rPr>
                <a:t>D</a:t>
              </a:r>
              <a:endParaRPr lang="en-US" sz="1000" dirty="0">
                <a:ln>
                  <a:noFill/>
                </a:ln>
                <a:solidFill>
                  <a:schemeClr val="tx1"/>
                </a:solidFill>
              </a:endParaRPr>
            </a:p>
          </p:txBody>
        </p:sp>
        <p:sp>
          <p:nvSpPr>
            <p:cNvPr id="1807" name="Rectangle 1806">
              <a:extLst>
                <a:ext uri="{FF2B5EF4-FFF2-40B4-BE49-F238E27FC236}">
                  <a16:creationId xmlns:a16="http://schemas.microsoft.com/office/drawing/2014/main" id="{11FEAD81-9D42-B029-83C9-2F7A9AA0DE04}"/>
                </a:ext>
              </a:extLst>
            </p:cNvPr>
            <p:cNvSpPr/>
            <p:nvPr/>
          </p:nvSpPr>
          <p:spPr>
            <a:xfrm>
              <a:off x="6219185" y="5795587"/>
              <a:ext cx="172694" cy="1450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>
                  <a:ln>
                    <a:noFill/>
                  </a:ln>
                  <a:solidFill>
                    <a:schemeClr val="tx1"/>
                  </a:solidFill>
                </a:rPr>
                <a:t>A</a:t>
              </a:r>
              <a:endParaRPr lang="en-US" sz="1000">
                <a:ln>
                  <a:noFill/>
                </a:ln>
                <a:solidFill>
                  <a:schemeClr val="tx1"/>
                </a:solidFill>
              </a:endParaRPr>
            </a:p>
          </p:txBody>
        </p:sp>
        <p:sp>
          <p:nvSpPr>
            <p:cNvPr id="1808" name="Rectangle 1807">
              <a:extLst>
                <a:ext uri="{FF2B5EF4-FFF2-40B4-BE49-F238E27FC236}">
                  <a16:creationId xmlns:a16="http://schemas.microsoft.com/office/drawing/2014/main" id="{D535763B-E67E-6663-C956-18C2736C0AC1}"/>
                </a:ext>
              </a:extLst>
            </p:cNvPr>
            <p:cNvSpPr/>
            <p:nvPr/>
          </p:nvSpPr>
          <p:spPr>
            <a:xfrm>
              <a:off x="7616943" y="6014153"/>
              <a:ext cx="172694" cy="1450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>
                  <a:ln>
                    <a:noFill/>
                  </a:ln>
                  <a:solidFill>
                    <a:schemeClr val="tx1"/>
                  </a:solidFill>
                </a:rPr>
                <a:t>B</a:t>
              </a:r>
              <a:endParaRPr lang="en-US" sz="1000">
                <a:ln>
                  <a:noFill/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62" name="Picture 61">
            <a:extLst>
              <a:ext uri="{FF2B5EF4-FFF2-40B4-BE49-F238E27FC236}">
                <a16:creationId xmlns:a16="http://schemas.microsoft.com/office/drawing/2014/main" id="{32E61E72-69EB-A511-A581-AD983253BE2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8442" b="6324"/>
          <a:stretch/>
        </p:blipFill>
        <p:spPr>
          <a:xfrm>
            <a:off x="8846233" y="5820678"/>
            <a:ext cx="1922894" cy="93531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CC98A01-551A-A5DD-0DDC-E37D134CE5A9}"/>
              </a:ext>
            </a:extLst>
          </p:cNvPr>
          <p:cNvSpPr txBox="1"/>
          <p:nvPr/>
        </p:nvSpPr>
        <p:spPr>
          <a:xfrm>
            <a:off x="495781" y="131568"/>
            <a:ext cx="14266328" cy="2492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GB" sz="1800" b="1" dirty="0">
                <a:solidFill>
                  <a:schemeClr val="tx2"/>
                </a:solidFill>
                <a:latin typeface="+mj-lt"/>
                <a:cs typeface="Arial"/>
              </a:rPr>
              <a:t>NEXT GENERATION MANUFACTURING</a:t>
            </a:r>
            <a:endParaRPr lang="en-US" sz="1800" b="1" dirty="0">
              <a:solidFill>
                <a:schemeClr val="tx2"/>
              </a:solidFill>
              <a:latin typeface="+mj-lt"/>
              <a:cs typeface="Arial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3AD29D1C-3EEC-865D-6E5E-68EF58C339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278" y="6696727"/>
            <a:ext cx="2680568" cy="1368238"/>
          </a:xfrm>
          <a:prstGeom prst="rect">
            <a:avLst/>
          </a:prstGeom>
        </p:spPr>
      </p:pic>
      <p:pic>
        <p:nvPicPr>
          <p:cNvPr id="1795" name="Picture 1794">
            <a:extLst>
              <a:ext uri="{FF2B5EF4-FFF2-40B4-BE49-F238E27FC236}">
                <a16:creationId xmlns:a16="http://schemas.microsoft.com/office/drawing/2014/main" id="{C7FC35A6-DB05-C5BE-ED15-CFC46742FA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2168" y="2251197"/>
            <a:ext cx="3717773" cy="2342219"/>
          </a:xfrm>
          <a:prstGeom prst="rect">
            <a:avLst/>
          </a:prstGeom>
        </p:spPr>
      </p:pic>
      <p:pic>
        <p:nvPicPr>
          <p:cNvPr id="1814" name="Picture 1813">
            <a:extLst>
              <a:ext uri="{FF2B5EF4-FFF2-40B4-BE49-F238E27FC236}">
                <a16:creationId xmlns:a16="http://schemas.microsoft.com/office/drawing/2014/main" id="{FC3E067A-9CA1-97B8-731A-758631624B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123" y="6990373"/>
            <a:ext cx="1603596" cy="2782484"/>
          </a:xfrm>
          <a:prstGeom prst="rect">
            <a:avLst/>
          </a:prstGeom>
        </p:spPr>
      </p:pic>
      <p:pic>
        <p:nvPicPr>
          <p:cNvPr id="1824" name="Picture 1823" descr="A graph of a number of measurement indicators&#10;&#10;AI-generated content may be incorrect.">
            <a:extLst>
              <a:ext uri="{FF2B5EF4-FFF2-40B4-BE49-F238E27FC236}">
                <a16:creationId xmlns:a16="http://schemas.microsoft.com/office/drawing/2014/main" id="{B8CF43B9-36C5-08B8-AAEB-8ECF15F21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05734" y="2025869"/>
            <a:ext cx="2911179" cy="2807208"/>
          </a:xfrm>
          <a:prstGeom prst="rect">
            <a:avLst/>
          </a:prstGeom>
        </p:spPr>
      </p:pic>
      <p:pic>
        <p:nvPicPr>
          <p:cNvPr id="1828" name="Picture 1827" descr="A graph of a graph showing the time and time&#10;&#10;AI-generated content may be incorrect.">
            <a:extLst>
              <a:ext uri="{FF2B5EF4-FFF2-40B4-BE49-F238E27FC236}">
                <a16:creationId xmlns:a16="http://schemas.microsoft.com/office/drawing/2014/main" id="{524F310C-9543-89D3-72D5-1243AA8DDBD3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4677" r="5484"/>
          <a:stretch/>
        </p:blipFill>
        <p:spPr>
          <a:xfrm>
            <a:off x="11654415" y="2037073"/>
            <a:ext cx="3170955" cy="2807208"/>
          </a:xfrm>
          <a:prstGeom prst="rect">
            <a:avLst/>
          </a:prstGeom>
        </p:spPr>
      </p:pic>
      <p:pic>
        <p:nvPicPr>
          <p:cNvPr id="1829" name="Picture 1828">
            <a:extLst>
              <a:ext uri="{FF2B5EF4-FFF2-40B4-BE49-F238E27FC236}">
                <a16:creationId xmlns:a16="http://schemas.microsoft.com/office/drawing/2014/main" id="{67425C85-A482-81AF-D1FC-2107CBE5363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43118" y="7970338"/>
            <a:ext cx="1309427" cy="1959471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514B3CD9-BABC-264B-7ED5-2463D5E6376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20055" y="7967159"/>
            <a:ext cx="2376834" cy="78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1790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AZ IMED Example Presentation Template">
  <a:themeElements>
    <a:clrScheme name="Custom 274">
      <a:dk1>
        <a:srgbClr val="000000"/>
      </a:dk1>
      <a:lt1>
        <a:srgbClr val="FFFFFF"/>
      </a:lt1>
      <a:dk2>
        <a:srgbClr val="830051"/>
      </a:dk2>
      <a:lt2>
        <a:srgbClr val="003865"/>
      </a:lt2>
      <a:accent1>
        <a:srgbClr val="830051"/>
      </a:accent1>
      <a:accent2>
        <a:srgbClr val="C4D600"/>
      </a:accent2>
      <a:accent3>
        <a:srgbClr val="3F4444"/>
      </a:accent3>
      <a:accent4>
        <a:srgbClr val="68D2DF"/>
      </a:accent4>
      <a:accent5>
        <a:srgbClr val="3C1053"/>
      </a:accent5>
      <a:accent6>
        <a:srgbClr val="F0AB00"/>
      </a:accent6>
      <a:hlink>
        <a:srgbClr val="003865"/>
      </a:hlink>
      <a:folHlink>
        <a:srgbClr val="9DB0A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>
            <a:ln>
              <a:noFill/>
            </a:ln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/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lternative Content Layout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A8A2B839-B926-47C5-8DA5-FE68E2B7180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SharedContentType xmlns="Microsoft.SharePoint.Taxonomy.ContentTypeSync" SourceId="1ee89e71-04cd-405e-9ca3-99e020c1694d" ContentTypeId="0x0101" PreviousValue="false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eyword xmlns="44a56295-c29e-4898-8136-a54736c65b82" xsi:nil="true"/>
    <lcf76f155ced4ddcb4097134ff3c332f xmlns="e804b205-e059-4f2e-b4bc-ae0403a53ed4">
      <Terms xmlns="http://schemas.microsoft.com/office/infopath/2007/PartnerControls"/>
    </lcf76f155ced4ddcb4097134ff3c332f>
    <TaxCatchAll xmlns="44a56295-c29e-4898-8136-a54736c65b82" xsi:nil="true"/>
    <Descriptions xmlns="44a56295-c29e-4898-8136-a54736c65b82" xsi:nil="true"/>
    <Number xmlns="e804b205-e059-4f2e-b4bc-ae0403a53ed4" xsi:nil="true"/>
  </documentManagement>
</p:properties>
</file>

<file path=customXml/item4.xml><?xml version="1.0" encoding="utf-8"?>
<BrandIn lastLayout="1"/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7D3AA5DD244D4D9BB73C8A8DD0F666" ma:contentTypeVersion="13" ma:contentTypeDescription="Create a new document." ma:contentTypeScope="" ma:versionID="1dae6718cddbbfc876e46ef9c875daae">
  <xsd:schema xmlns:xsd="http://www.w3.org/2001/XMLSchema" xmlns:xs="http://www.w3.org/2001/XMLSchema" xmlns:p="http://schemas.microsoft.com/office/2006/metadata/properties" xmlns:ns2="44a56295-c29e-4898-8136-a54736c65b82" xmlns:ns3="e804b205-e059-4f2e-b4bc-ae0403a53ed4" xmlns:ns4="064534d3-dcfc-4079-aa54-12c7adad5c57" targetNamespace="http://schemas.microsoft.com/office/2006/metadata/properties" ma:root="true" ma:fieldsID="0f9ee0b7a7a7345c5c1b590e8b2d7e3c" ns2:_="" ns3:_="" ns4:_="">
    <xsd:import namespace="44a56295-c29e-4898-8136-a54736c65b82"/>
    <xsd:import namespace="e804b205-e059-4f2e-b4bc-ae0403a53ed4"/>
    <xsd:import namespace="064534d3-dcfc-4079-aa54-12c7adad5c57"/>
    <xsd:element name="properties">
      <xsd:complexType>
        <xsd:sequence>
          <xsd:element name="documentManagement">
            <xsd:complexType>
              <xsd:all>
                <xsd:element ref="ns2:Descriptions" minOccurs="0"/>
                <xsd:element ref="ns2:Keyword" minOccurs="0"/>
                <xsd:element ref="ns3:MediaServiceAutoKeyPoints" minOccurs="0"/>
                <xsd:element ref="ns3:MediaServiceKeyPoints" minOccurs="0"/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3:Number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a56295-c29e-4898-8136-a54736c65b82" elementFormDefault="qualified">
    <xsd:import namespace="http://schemas.microsoft.com/office/2006/documentManagement/types"/>
    <xsd:import namespace="http://schemas.microsoft.com/office/infopath/2007/PartnerControls"/>
    <xsd:element name="Descriptions" ma:index="8" nillable="true" ma:displayName="Descriptions" ma:description="Describe your document to make it appear at the top of search results" ma:internalName="Descriptions">
      <xsd:simpleType>
        <xsd:restriction base="dms:Note">
          <xsd:maxLength value="255"/>
        </xsd:restriction>
      </xsd:simpleType>
    </xsd:element>
    <xsd:element name="Keyword" ma:index="9" nillable="true" ma:displayName="Keyword" ma:description="Enter list of terms separated by semi-colon(;)" ma:internalName="Keyword">
      <xsd:simpleType>
        <xsd:restriction base="dms:Text">
          <xsd:maxLength value="255"/>
        </xsd:restriction>
      </xsd:simpleType>
    </xsd:element>
    <xsd:element name="TaxCatchAll" ma:index="19" nillable="true" ma:displayName="Taxonomy Catch All Column" ma:hidden="true" ma:list="{924490cf-d1cc-420b-920c-b53d6f4c18e0}" ma:internalName="TaxCatchAll" ma:showField="CatchAllData" ma:web="064534d3-dcfc-4079-aa54-12c7adad5c5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04b205-e059-4f2e-b4bc-ae0403a53ed4" elementFormDefault="qualified">
    <xsd:import namespace="http://schemas.microsoft.com/office/2006/documentManagement/types"/>
    <xsd:import namespace="http://schemas.microsoft.com/office/infopath/2007/PartnerControls"/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Number" ma:index="16" nillable="true" ma:displayName="Number" ma:format="Dropdown" ma:internalName="Number" ma:percentage="FALSE">
      <xsd:simpleType>
        <xsd:restriction base="dms:Number">
          <xsd:maxInclusive value="100"/>
          <xsd:minInclusive value="1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1ee89e71-04cd-405e-9ca3-99e020c169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4534d3-dcfc-4079-aa54-12c7adad5c5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1320F8-BEE9-456D-9DAB-B4F5A27A640D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B184A09A-0AC0-48F1-A272-7C4CC7F55D2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B34BD8-2006-4217-8FD1-C7289BFA8058}">
  <ds:schemaRefs>
    <ds:schemaRef ds:uri="http://www.w3.org/XML/1998/namespace"/>
    <ds:schemaRef ds:uri="e804b205-e059-4f2e-b4bc-ae0403a53ed4"/>
    <ds:schemaRef ds:uri="http://purl.org/dc/elements/1.1/"/>
    <ds:schemaRef ds:uri="http://purl.org/dc/terms/"/>
    <ds:schemaRef ds:uri="44a56295-c29e-4898-8136-a54736c65b82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064534d3-dcfc-4079-aa54-12c7adad5c57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8B6B0787-9734-4296-B5D3-EC4759041B1D}">
  <ds:schemaRefs/>
</ds:datastoreItem>
</file>

<file path=customXml/itemProps5.xml><?xml version="1.0" encoding="utf-8"?>
<ds:datastoreItem xmlns:ds="http://schemas.openxmlformats.org/officeDocument/2006/customXml" ds:itemID="{6C423CB2-CAA0-4C16-BB83-0EF42CF6D74F}">
  <ds:schemaRefs>
    <ds:schemaRef ds:uri="064534d3-dcfc-4079-aa54-12c7adad5c57"/>
    <ds:schemaRef ds:uri="44a56295-c29e-4898-8136-a54736c65b82"/>
    <ds:schemaRef ds:uri="e804b205-e059-4f2e-b4bc-ae0403a53ed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AZ A3_Scientific_Poster_Landscape</Template>
  <TotalTime>8869</TotalTime>
  <Words>855</Words>
  <Application>Microsoft Office PowerPoint</Application>
  <PresentationFormat>Custom</PresentationFormat>
  <Paragraphs>106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Calisto MT</vt:lpstr>
      <vt:lpstr>Wingdings</vt:lpstr>
      <vt:lpstr>AZ IMED Example Presentation Template</vt:lpstr>
      <vt:lpstr>Alternative Content Layouts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Morgan, Keith</dc:creator>
  <cp:lastModifiedBy>Morgan, Keith</cp:lastModifiedBy>
  <cp:revision>4</cp:revision>
  <cp:lastPrinted>2023-07-07T09:53:25Z</cp:lastPrinted>
  <dcterms:created xsi:type="dcterms:W3CDTF">2022-06-23T17:12:18Z</dcterms:created>
  <dcterms:modified xsi:type="dcterms:W3CDTF">2025-02-28T23:31:42Z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0x0101001D7D3AA5DD244D4D9BB73C8A8DD0F666</vt:lpwstr>
  </property>
  <property fmtid="{D5CDD505-2E9C-101B-9397-08002B2CF9AE}" pid="3" name="MediaServiceImageTags">
    <vt:lpwstr/>
  </property>
</Properties>
</file>