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5"/>
  </p:sldMasterIdLst>
  <p:notesMasterIdLst>
    <p:notesMasterId r:id="rId7"/>
  </p:notesMasterIdLst>
  <p:handoutMasterIdLst>
    <p:handoutMasterId r:id="rId8"/>
  </p:handoutMasterIdLst>
  <p:sldIdLst>
    <p:sldId id="314" r:id="rId6"/>
  </p:sldIdLst>
  <p:sldSz cx="35661600" cy="51206400"/>
  <p:notesSz cx="6670675" cy="9875838"/>
  <p:defaultTextStyle>
    <a:defPPr>
      <a:defRPr lang="en-US"/>
    </a:defPPr>
    <a:lvl1pPr marL="0" algn="l" defTabSz="712076" rtl="0" eaLnBrk="1" latinLnBrk="0" hangingPunct="1">
      <a:defRPr sz="2789" kern="1200">
        <a:solidFill>
          <a:schemeClr val="tx1"/>
        </a:solidFill>
        <a:latin typeface="+mn-lt"/>
        <a:ea typeface="+mn-ea"/>
        <a:cs typeface="+mn-cs"/>
      </a:defRPr>
    </a:lvl1pPr>
    <a:lvl2pPr marL="712076" algn="l" defTabSz="712076" rtl="0" eaLnBrk="1" latinLnBrk="0" hangingPunct="1">
      <a:defRPr sz="2789" kern="1200">
        <a:solidFill>
          <a:schemeClr val="tx1"/>
        </a:solidFill>
        <a:latin typeface="+mn-lt"/>
        <a:ea typeface="+mn-ea"/>
        <a:cs typeface="+mn-cs"/>
      </a:defRPr>
    </a:lvl2pPr>
    <a:lvl3pPr marL="1424150" algn="l" defTabSz="712076" rtl="0" eaLnBrk="1" latinLnBrk="0" hangingPunct="1">
      <a:defRPr sz="2789" kern="1200">
        <a:solidFill>
          <a:schemeClr val="tx1"/>
        </a:solidFill>
        <a:latin typeface="+mn-lt"/>
        <a:ea typeface="+mn-ea"/>
        <a:cs typeface="+mn-cs"/>
      </a:defRPr>
    </a:lvl3pPr>
    <a:lvl4pPr marL="2136224" algn="l" defTabSz="712076" rtl="0" eaLnBrk="1" latinLnBrk="0" hangingPunct="1">
      <a:defRPr sz="2789" kern="1200">
        <a:solidFill>
          <a:schemeClr val="tx1"/>
        </a:solidFill>
        <a:latin typeface="+mn-lt"/>
        <a:ea typeface="+mn-ea"/>
        <a:cs typeface="+mn-cs"/>
      </a:defRPr>
    </a:lvl4pPr>
    <a:lvl5pPr marL="2848302" algn="l" defTabSz="712076" rtl="0" eaLnBrk="1" latinLnBrk="0" hangingPunct="1">
      <a:defRPr sz="2789" kern="1200">
        <a:solidFill>
          <a:schemeClr val="tx1"/>
        </a:solidFill>
        <a:latin typeface="+mn-lt"/>
        <a:ea typeface="+mn-ea"/>
        <a:cs typeface="+mn-cs"/>
      </a:defRPr>
    </a:lvl5pPr>
    <a:lvl6pPr marL="3560376" algn="l" defTabSz="712076" rtl="0" eaLnBrk="1" latinLnBrk="0" hangingPunct="1">
      <a:defRPr sz="2789" kern="1200">
        <a:solidFill>
          <a:schemeClr val="tx1"/>
        </a:solidFill>
        <a:latin typeface="+mn-lt"/>
        <a:ea typeface="+mn-ea"/>
        <a:cs typeface="+mn-cs"/>
      </a:defRPr>
    </a:lvl6pPr>
    <a:lvl7pPr marL="4272449" algn="l" defTabSz="712076" rtl="0" eaLnBrk="1" latinLnBrk="0" hangingPunct="1">
      <a:defRPr sz="2789" kern="1200">
        <a:solidFill>
          <a:schemeClr val="tx1"/>
        </a:solidFill>
        <a:latin typeface="+mn-lt"/>
        <a:ea typeface="+mn-ea"/>
        <a:cs typeface="+mn-cs"/>
      </a:defRPr>
    </a:lvl7pPr>
    <a:lvl8pPr marL="4984527" algn="l" defTabSz="712076" rtl="0" eaLnBrk="1" latinLnBrk="0" hangingPunct="1">
      <a:defRPr sz="2789" kern="1200">
        <a:solidFill>
          <a:schemeClr val="tx1"/>
        </a:solidFill>
        <a:latin typeface="+mn-lt"/>
        <a:ea typeface="+mn-ea"/>
        <a:cs typeface="+mn-cs"/>
      </a:defRPr>
    </a:lvl8pPr>
    <a:lvl9pPr marL="5696601" algn="l" defTabSz="712076" rtl="0" eaLnBrk="1" latinLnBrk="0" hangingPunct="1">
      <a:defRPr sz="278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E093"/>
    <a:srgbClr val="FFD05D"/>
    <a:srgbClr val="9DB0A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812760-B8CA-4030-82EA-CBEAE63D848F}" v="1" dt="2024-10-07T20:03:14.189"/>
  </p1510:revLst>
</p1510:revInfo>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40" d="100"/>
          <a:sy n="40" d="100"/>
        </p:scale>
        <p:origin x="20" y="20"/>
      </p:cViewPr>
      <p:guideLst>
        <p:guide orient="horz"/>
        <p:guide/>
      </p:guideLst>
    </p:cSldViewPr>
  </p:slideViewPr>
  <p:notesTextViewPr>
    <p:cViewPr>
      <p:scale>
        <a:sx n="1" d="1"/>
        <a:sy n="1" d="1"/>
      </p:scale>
      <p:origin x="0" y="0"/>
    </p:cViewPr>
  </p:notesTextViewPr>
  <p:notesViewPr>
    <p:cSldViewPr snapToGrid="0">
      <p:cViewPr>
        <p:scale>
          <a:sx n="1" d="2"/>
          <a:sy n="1" d="2"/>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ktqj180\Desktop\TFF%20Product%20Retention\Stuff%20for%20Paper\PressureProfil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azcollaboration-my.sharepoint.com/personal/kkfp455_astrazeneca_net/Documents/Rotation%20BTE/Paper%20-%20HF%20Evaluation/LengthoverRadius%20against%20Effective%20Capacity.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800721509481696"/>
          <c:y val="3.4266096314447117E-2"/>
          <c:w val="0.79870808771097301"/>
          <c:h val="0.7007282068294044"/>
        </c:manualLayout>
      </c:layout>
      <c:scatterChart>
        <c:scatterStyle val="smoothMarker"/>
        <c:varyColors val="0"/>
        <c:ser>
          <c:idx val="0"/>
          <c:order val="0"/>
          <c:tx>
            <c:v>Futile Flow Ratio = 1</c:v>
          </c:tx>
          <c:spPr>
            <a:ln w="38100" cap="rnd">
              <a:solidFill>
                <a:schemeClr val="accent1"/>
              </a:solidFill>
              <a:round/>
            </a:ln>
            <a:effectLst/>
          </c:spPr>
          <c:marker>
            <c:symbol val="square"/>
            <c:size val="7"/>
            <c:spPr>
              <a:solidFill>
                <a:schemeClr val="accent1"/>
              </a:solidFill>
              <a:ln w="9525">
                <a:solidFill>
                  <a:schemeClr val="accent1"/>
                </a:solidFill>
              </a:ln>
              <a:effectLst/>
            </c:spPr>
          </c:marker>
          <c:xVal>
            <c:numRef>
              <c:f>Sheet1!$B$3:$B$23</c:f>
              <c:numCache>
                <c:formatCode>General</c:formatCode>
                <c:ptCount val="2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numCache>
            </c:numRef>
          </c:xVal>
          <c:yVal>
            <c:numRef>
              <c:f>Sheet1!$F$3:$F$23</c:f>
              <c:numCache>
                <c:formatCode>General</c:formatCode>
                <c:ptCount val="21"/>
                <c:pt idx="0">
                  <c:v>1.0238851775187375E-2</c:v>
                </c:pt>
                <c:pt idx="1">
                  <c:v>9.6059495626189921E-3</c:v>
                </c:pt>
                <c:pt idx="2">
                  <c:v>8.9734773598678652E-3</c:v>
                </c:pt>
                <c:pt idx="3">
                  <c:v>8.3414068544031359E-3</c:v>
                </c:pt>
                <c:pt idx="4">
                  <c:v>7.7097097515471339E-3</c:v>
                </c:pt>
                <c:pt idx="5">
                  <c:v>7.0783577734859432E-3</c:v>
                </c:pt>
                <c:pt idx="6">
                  <c:v>6.4473226577068622E-3</c:v>
                </c:pt>
                <c:pt idx="7">
                  <c:v>5.8165761560296418E-3</c:v>
                </c:pt>
                <c:pt idx="8">
                  <c:v>5.1860900330458082E-3</c:v>
                </c:pt>
                <c:pt idx="9">
                  <c:v>4.5558360651506971E-3</c:v>
                </c:pt>
                <c:pt idx="10">
                  <c:v>3.9257860389841272E-3</c:v>
                </c:pt>
                <c:pt idx="11">
                  <c:v>3.2959117504632227E-3</c:v>
                </c:pt>
                <c:pt idx="12">
                  <c:v>2.6661850032241937E-3</c:v>
                </c:pt>
                <c:pt idx="13">
                  <c:v>2.0365776076556692E-3</c:v>
                </c:pt>
                <c:pt idx="14">
                  <c:v>1.407061379341368E-3</c:v>
                </c:pt>
                <c:pt idx="15">
                  <c:v>7.7760813809374613E-4</c:v>
                </c:pt>
                <c:pt idx="16">
                  <c:v>1.4818970639725903E-4</c:v>
                </c:pt>
                <c:pt idx="17">
                  <c:v>-4.8122209155782708E-4</c:v>
                </c:pt>
                <c:pt idx="18">
                  <c:v>-1.1106554314317793E-3</c:v>
                </c:pt>
                <c:pt idx="19">
                  <c:v>-1.7401384897007802E-3</c:v>
                </c:pt>
                <c:pt idx="20">
                  <c:v>-2.3696994451983802E-3</c:v>
                </c:pt>
              </c:numCache>
            </c:numRef>
          </c:yVal>
          <c:smooth val="1"/>
          <c:extLst>
            <c:ext xmlns:c16="http://schemas.microsoft.com/office/drawing/2014/chart" uri="{C3380CC4-5D6E-409C-BE32-E72D297353CC}">
              <c16:uniqueId val="{00000000-42FA-450B-9A79-FC60C107827F}"/>
            </c:ext>
          </c:extLst>
        </c:ser>
        <c:ser>
          <c:idx val="1"/>
          <c:order val="1"/>
          <c:tx>
            <c:v>Futile Flow Ratio = 10</c:v>
          </c:tx>
          <c:spPr>
            <a:ln w="38100" cap="rnd">
              <a:solidFill>
                <a:schemeClr val="accent2"/>
              </a:solidFill>
              <a:prstDash val="dash"/>
              <a:round/>
            </a:ln>
            <a:effectLst/>
          </c:spPr>
          <c:marker>
            <c:symbol val="none"/>
          </c:marker>
          <c:xVal>
            <c:numRef>
              <c:f>Sheet1!$I$3:$I$97</c:f>
              <c:numCache>
                <c:formatCode>General</c:formatCode>
                <c:ptCount val="95"/>
                <c:pt idx="0">
                  <c:v>0</c:v>
                </c:pt>
                <c:pt idx="1">
                  <c:v>1.0638297872340425E-2</c:v>
                </c:pt>
                <c:pt idx="2">
                  <c:v>2.1276595744680851E-2</c:v>
                </c:pt>
                <c:pt idx="3">
                  <c:v>3.1914893617021274E-2</c:v>
                </c:pt>
                <c:pt idx="4">
                  <c:v>4.2553191489361701E-2</c:v>
                </c:pt>
                <c:pt idx="5">
                  <c:v>5.3191489361702128E-2</c:v>
                </c:pt>
                <c:pt idx="6">
                  <c:v>6.3829787234042548E-2</c:v>
                </c:pt>
                <c:pt idx="7">
                  <c:v>7.4468085106382975E-2</c:v>
                </c:pt>
                <c:pt idx="8">
                  <c:v>8.5106382978723402E-2</c:v>
                </c:pt>
                <c:pt idx="9">
                  <c:v>9.5744680851063829E-2</c:v>
                </c:pt>
                <c:pt idx="10">
                  <c:v>0.10638297872340426</c:v>
                </c:pt>
                <c:pt idx="11">
                  <c:v>0.11702127659574468</c:v>
                </c:pt>
                <c:pt idx="12">
                  <c:v>0.1276595744680851</c:v>
                </c:pt>
                <c:pt idx="13">
                  <c:v>0.13829787234042554</c:v>
                </c:pt>
                <c:pt idx="14">
                  <c:v>0.14893617021276595</c:v>
                </c:pt>
                <c:pt idx="15">
                  <c:v>0.15957446808510639</c:v>
                </c:pt>
                <c:pt idx="16">
                  <c:v>0.1702127659574468</c:v>
                </c:pt>
                <c:pt idx="17">
                  <c:v>0.18085106382978725</c:v>
                </c:pt>
                <c:pt idx="18">
                  <c:v>0.19148936170212766</c:v>
                </c:pt>
                <c:pt idx="19">
                  <c:v>0.20212765957446807</c:v>
                </c:pt>
                <c:pt idx="20">
                  <c:v>0.21276595744680851</c:v>
                </c:pt>
                <c:pt idx="21">
                  <c:v>0.22340425531914893</c:v>
                </c:pt>
                <c:pt idx="22">
                  <c:v>0.23404255319148937</c:v>
                </c:pt>
                <c:pt idx="23">
                  <c:v>0.24468085106382978</c:v>
                </c:pt>
                <c:pt idx="24">
                  <c:v>0.25531914893617019</c:v>
                </c:pt>
                <c:pt idx="25">
                  <c:v>0.26595744680851063</c:v>
                </c:pt>
                <c:pt idx="26">
                  <c:v>0.27659574468085107</c:v>
                </c:pt>
                <c:pt idx="27">
                  <c:v>0.28723404255319152</c:v>
                </c:pt>
                <c:pt idx="28">
                  <c:v>0.2978723404255319</c:v>
                </c:pt>
                <c:pt idx="29">
                  <c:v>0.30851063829787234</c:v>
                </c:pt>
                <c:pt idx="30">
                  <c:v>0.31914893617021278</c:v>
                </c:pt>
                <c:pt idx="31">
                  <c:v>0.32978723404255317</c:v>
                </c:pt>
                <c:pt idx="32">
                  <c:v>0.34042553191489361</c:v>
                </c:pt>
                <c:pt idx="33">
                  <c:v>0.35106382978723405</c:v>
                </c:pt>
                <c:pt idx="34">
                  <c:v>0.36170212765957449</c:v>
                </c:pt>
                <c:pt idx="35">
                  <c:v>0.37234042553191488</c:v>
                </c:pt>
                <c:pt idx="36">
                  <c:v>0.38297872340425532</c:v>
                </c:pt>
                <c:pt idx="37">
                  <c:v>0.39361702127659576</c:v>
                </c:pt>
                <c:pt idx="38">
                  <c:v>0.40425531914893614</c:v>
                </c:pt>
                <c:pt idx="39">
                  <c:v>0.41489361702127658</c:v>
                </c:pt>
                <c:pt idx="40">
                  <c:v>0.42553191489361702</c:v>
                </c:pt>
                <c:pt idx="41">
                  <c:v>0.43617021276595747</c:v>
                </c:pt>
                <c:pt idx="42">
                  <c:v>0.44680851063829785</c:v>
                </c:pt>
                <c:pt idx="43">
                  <c:v>0.45744680851063829</c:v>
                </c:pt>
                <c:pt idx="44">
                  <c:v>0.46808510638297873</c:v>
                </c:pt>
                <c:pt idx="45">
                  <c:v>0.47872340425531917</c:v>
                </c:pt>
                <c:pt idx="46">
                  <c:v>0.48936170212765956</c:v>
                </c:pt>
                <c:pt idx="47">
                  <c:v>0.5</c:v>
                </c:pt>
                <c:pt idx="48">
                  <c:v>0.51063829787234039</c:v>
                </c:pt>
                <c:pt idx="49">
                  <c:v>0.52127659574468088</c:v>
                </c:pt>
                <c:pt idx="50">
                  <c:v>0.53191489361702127</c:v>
                </c:pt>
                <c:pt idx="51">
                  <c:v>0.54255319148936165</c:v>
                </c:pt>
                <c:pt idx="52">
                  <c:v>0.55319148936170215</c:v>
                </c:pt>
                <c:pt idx="53">
                  <c:v>0.56382978723404253</c:v>
                </c:pt>
                <c:pt idx="54">
                  <c:v>0.57446808510638303</c:v>
                </c:pt>
                <c:pt idx="55">
                  <c:v>0.58510638297872342</c:v>
                </c:pt>
                <c:pt idx="56">
                  <c:v>0.5957446808510638</c:v>
                </c:pt>
                <c:pt idx="57">
                  <c:v>0.6063829787234043</c:v>
                </c:pt>
                <c:pt idx="58">
                  <c:v>0.61702127659574468</c:v>
                </c:pt>
                <c:pt idx="59">
                  <c:v>0.62765957446808507</c:v>
                </c:pt>
                <c:pt idx="60">
                  <c:v>0.63829787234042556</c:v>
                </c:pt>
                <c:pt idx="61">
                  <c:v>0.64893617021276595</c:v>
                </c:pt>
                <c:pt idx="62">
                  <c:v>0.65957446808510634</c:v>
                </c:pt>
                <c:pt idx="63">
                  <c:v>0.67021276595744683</c:v>
                </c:pt>
                <c:pt idx="64">
                  <c:v>0.68085106382978722</c:v>
                </c:pt>
                <c:pt idx="65">
                  <c:v>0.69148936170212771</c:v>
                </c:pt>
                <c:pt idx="66">
                  <c:v>0.7021276595744681</c:v>
                </c:pt>
                <c:pt idx="67">
                  <c:v>0.71276595744680848</c:v>
                </c:pt>
                <c:pt idx="68">
                  <c:v>0.72340425531914898</c:v>
                </c:pt>
                <c:pt idx="69">
                  <c:v>0.73404255319148937</c:v>
                </c:pt>
                <c:pt idx="70">
                  <c:v>0.74468085106382975</c:v>
                </c:pt>
                <c:pt idx="71">
                  <c:v>0.75531914893617025</c:v>
                </c:pt>
                <c:pt idx="72">
                  <c:v>0.76595744680851063</c:v>
                </c:pt>
                <c:pt idx="73">
                  <c:v>0.77659574468085102</c:v>
                </c:pt>
                <c:pt idx="74">
                  <c:v>0.78723404255319152</c:v>
                </c:pt>
                <c:pt idx="75">
                  <c:v>0.7978723404255319</c:v>
                </c:pt>
                <c:pt idx="76">
                  <c:v>0.80851063829787229</c:v>
                </c:pt>
                <c:pt idx="77">
                  <c:v>0.81914893617021278</c:v>
                </c:pt>
                <c:pt idx="78">
                  <c:v>0.82978723404255317</c:v>
                </c:pt>
                <c:pt idx="79">
                  <c:v>0.84042553191489366</c:v>
                </c:pt>
                <c:pt idx="80">
                  <c:v>0.85106382978723405</c:v>
                </c:pt>
                <c:pt idx="81">
                  <c:v>0.86170212765957444</c:v>
                </c:pt>
                <c:pt idx="82">
                  <c:v>0.87234042553191493</c:v>
                </c:pt>
                <c:pt idx="83">
                  <c:v>0.88297872340425532</c:v>
                </c:pt>
                <c:pt idx="84">
                  <c:v>0.8936170212765957</c:v>
                </c:pt>
                <c:pt idx="85">
                  <c:v>0.9042553191489362</c:v>
                </c:pt>
                <c:pt idx="86">
                  <c:v>0.91489361702127658</c:v>
                </c:pt>
                <c:pt idx="87">
                  <c:v>0.92553191489361697</c:v>
                </c:pt>
                <c:pt idx="88">
                  <c:v>0.93617021276595747</c:v>
                </c:pt>
                <c:pt idx="89">
                  <c:v>0.94680851063829785</c:v>
                </c:pt>
                <c:pt idx="90">
                  <c:v>0.95744680851063835</c:v>
                </c:pt>
                <c:pt idx="91">
                  <c:v>0.96808510638297873</c:v>
                </c:pt>
                <c:pt idx="92">
                  <c:v>0.97872340425531912</c:v>
                </c:pt>
                <c:pt idx="93">
                  <c:v>0.98936170212765961</c:v>
                </c:pt>
                <c:pt idx="94">
                  <c:v>1</c:v>
                </c:pt>
              </c:numCache>
            </c:numRef>
          </c:xVal>
          <c:yVal>
            <c:numRef>
              <c:f>Sheet1!$M$3:$M$97</c:f>
              <c:numCache>
                <c:formatCode>General</c:formatCode>
                <c:ptCount val="95"/>
                <c:pt idx="0">
                  <c:v>2.9837730825241826E-2</c:v>
                </c:pt>
                <c:pt idx="1">
                  <c:v>2.9205267284070385E-2</c:v>
                </c:pt>
                <c:pt idx="2">
                  <c:v>2.8574111114846625E-2</c:v>
                </c:pt>
                <c:pt idx="3">
                  <c:v>2.7944234064562586E-2</c:v>
                </c:pt>
                <c:pt idx="4">
                  <c:v>2.7315607936759231E-2</c:v>
                </c:pt>
                <c:pt idx="5">
                  <c:v>2.6688204587583454E-2</c:v>
                </c:pt>
                <c:pt idx="6">
                  <c:v>2.6061995921386867E-2</c:v>
                </c:pt>
                <c:pt idx="7">
                  <c:v>2.5436953917173794E-2</c:v>
                </c:pt>
                <c:pt idx="8">
                  <c:v>2.481305060340637E-2</c:v>
                </c:pt>
                <c:pt idx="9">
                  <c:v>2.419025805436345E-2</c:v>
                </c:pt>
                <c:pt idx="10">
                  <c:v>2.3568548390140599E-2</c:v>
                </c:pt>
                <c:pt idx="11">
                  <c:v>2.2947893776650123E-2</c:v>
                </c:pt>
                <c:pt idx="12">
                  <c:v>2.2328266425621003E-2</c:v>
                </c:pt>
                <c:pt idx="13">
                  <c:v>2.1709638594598971E-2</c:v>
                </c:pt>
                <c:pt idx="14">
                  <c:v>2.1091982586857603E-2</c:v>
                </c:pt>
                <c:pt idx="15">
                  <c:v>2.0475270745960977E-2</c:v>
                </c:pt>
                <c:pt idx="16">
                  <c:v>1.9859475472623855E-2</c:v>
                </c:pt>
                <c:pt idx="17">
                  <c:v>1.9244569211450863E-2</c:v>
                </c:pt>
                <c:pt idx="18">
                  <c:v>1.8630524441282707E-2</c:v>
                </c:pt>
                <c:pt idx="19">
                  <c:v>1.8017313675196146E-2</c:v>
                </c:pt>
                <c:pt idx="20">
                  <c:v>1.7404909460503982E-2</c:v>
                </c:pt>
                <c:pt idx="21">
                  <c:v>1.6793284378755078E-2</c:v>
                </c:pt>
                <c:pt idx="22">
                  <c:v>1.6182411045734375E-2</c:v>
                </c:pt>
                <c:pt idx="23">
                  <c:v>1.5572262111462823E-2</c:v>
                </c:pt>
                <c:pt idx="24">
                  <c:v>1.4962810257243738E-2</c:v>
                </c:pt>
                <c:pt idx="25">
                  <c:v>1.4354028200495687E-2</c:v>
                </c:pt>
                <c:pt idx="26">
                  <c:v>1.3745888701332393E-2</c:v>
                </c:pt>
                <c:pt idx="27">
                  <c:v>1.3138364543473382E-2</c:v>
                </c:pt>
                <c:pt idx="28">
                  <c:v>1.253142853342885E-2</c:v>
                </c:pt>
                <c:pt idx="29">
                  <c:v>1.1925053500499806E-2</c:v>
                </c:pt>
                <c:pt idx="30">
                  <c:v>1.1319212296778207E-2</c:v>
                </c:pt>
                <c:pt idx="31">
                  <c:v>1.0713877797146965E-2</c:v>
                </c:pt>
                <c:pt idx="32">
                  <c:v>1.0109022899279521E-2</c:v>
                </c:pt>
                <c:pt idx="33">
                  <c:v>9.5046205229690588E-3</c:v>
                </c:pt>
                <c:pt idx="34">
                  <c:v>8.9006436060970733E-3</c:v>
                </c:pt>
                <c:pt idx="35">
                  <c:v>8.2970651219611731E-3</c:v>
                </c:pt>
                <c:pt idx="36">
                  <c:v>7.6938580605923979E-3</c:v>
                </c:pt>
                <c:pt idx="37">
                  <c:v>7.090995423457357E-3</c:v>
                </c:pt>
                <c:pt idx="38">
                  <c:v>6.4884502234588111E-3</c:v>
                </c:pt>
                <c:pt idx="39">
                  <c:v>5.8861954849350915E-3</c:v>
                </c:pt>
                <c:pt idx="40">
                  <c:v>5.2842042436603877E-3</c:v>
                </c:pt>
                <c:pt idx="41">
                  <c:v>4.682449546845038E-3</c:v>
                </c:pt>
                <c:pt idx="42">
                  <c:v>4.0809044531346624E-3</c:v>
                </c:pt>
                <c:pt idx="43">
                  <c:v>3.479542028187808E-3</c:v>
                </c:pt>
                <c:pt idx="44">
                  <c:v>2.8783353553979651E-3</c:v>
                </c:pt>
                <c:pt idx="45">
                  <c:v>2.2772575332263125E-3</c:v>
                </c:pt>
                <c:pt idx="46">
                  <c:v>1.67628166033643E-3</c:v>
                </c:pt>
                <c:pt idx="47">
                  <c:v>1.0753808355177781E-3</c:v>
                </c:pt>
                <c:pt idx="48">
                  <c:v>4.7452815768623792E-4</c:v>
                </c:pt>
                <c:pt idx="49">
                  <c:v>-1.2630327411658186E-4</c:v>
                </c:pt>
                <c:pt idx="50">
                  <c:v>-7.2714036072278393E-4</c:v>
                </c:pt>
                <c:pt idx="51">
                  <c:v>-1.3280100028386027E-3</c:v>
                </c:pt>
                <c:pt idx="52">
                  <c:v>-1.9289391027320767E-3</c:v>
                </c:pt>
                <c:pt idx="53">
                  <c:v>-2.5299545648429082E-3</c:v>
                </c:pt>
                <c:pt idx="54">
                  <c:v>-3.1310832820028189E-3</c:v>
                </c:pt>
                <c:pt idx="55">
                  <c:v>-3.7323521557448367E-3</c:v>
                </c:pt>
                <c:pt idx="56">
                  <c:v>-4.333788098785268E-3</c:v>
                </c:pt>
                <c:pt idx="57">
                  <c:v>-4.9354180350235323E-3</c:v>
                </c:pt>
                <c:pt idx="58">
                  <c:v>-5.5372688995424741E-3</c:v>
                </c:pt>
                <c:pt idx="59">
                  <c:v>-6.1393676386077645E-3</c:v>
                </c:pt>
                <c:pt idx="60">
                  <c:v>-6.741741209668784E-3</c:v>
                </c:pt>
                <c:pt idx="61">
                  <c:v>-7.3444165814466307E-3</c:v>
                </c:pt>
                <c:pt idx="62">
                  <c:v>-7.9474207396018921E-3</c:v>
                </c:pt>
                <c:pt idx="63">
                  <c:v>-8.5507806702236205E-3</c:v>
                </c:pt>
                <c:pt idx="64">
                  <c:v>-9.1545233724182398E-3</c:v>
                </c:pt>
                <c:pt idx="65">
                  <c:v>-9.7586758678289524E-3</c:v>
                </c:pt>
                <c:pt idx="66">
                  <c:v>-1.0363265200635446E-2</c:v>
                </c:pt>
                <c:pt idx="67">
                  <c:v>-1.0968318437554589E-2</c:v>
                </c:pt>
                <c:pt idx="68">
                  <c:v>-1.1573862667839626E-2</c:v>
                </c:pt>
                <c:pt idx="69">
                  <c:v>-1.217992500328067E-2</c:v>
                </c:pt>
                <c:pt idx="70">
                  <c:v>-1.27865325782042E-2</c:v>
                </c:pt>
                <c:pt idx="71">
                  <c:v>-1.3393712552548178E-2</c:v>
                </c:pt>
                <c:pt idx="72">
                  <c:v>-1.4001492107445803E-2</c:v>
                </c:pt>
                <c:pt idx="73">
                  <c:v>-1.4609898438112378E-2</c:v>
                </c:pt>
                <c:pt idx="74">
                  <c:v>-1.5218958772916442E-2</c:v>
                </c:pt>
                <c:pt idx="75">
                  <c:v>-1.5828700374206271E-2</c:v>
                </c:pt>
                <c:pt idx="76">
                  <c:v>-1.6439150538309008E-2</c:v>
                </c:pt>
                <c:pt idx="77">
                  <c:v>-1.7050336595531672E-2</c:v>
                </c:pt>
                <c:pt idx="78">
                  <c:v>-1.7662285910160429E-2</c:v>
                </c:pt>
                <c:pt idx="79">
                  <c:v>-1.8275025880461197E-2</c:v>
                </c:pt>
                <c:pt idx="80">
                  <c:v>-1.8888583939382433E-2</c:v>
                </c:pt>
                <c:pt idx="81">
                  <c:v>-1.9502987559100331E-2</c:v>
                </c:pt>
                <c:pt idx="82">
                  <c:v>-2.0118264233124607E-2</c:v>
                </c:pt>
                <c:pt idx="83">
                  <c:v>-2.0734441495076805E-2</c:v>
                </c:pt>
                <c:pt idx="84">
                  <c:v>-2.1351546924134251E-2</c:v>
                </c:pt>
                <c:pt idx="85">
                  <c:v>-2.196960814503154E-2</c:v>
                </c:pt>
                <c:pt idx="86">
                  <c:v>-2.2588652828059223E-2</c:v>
                </c:pt>
                <c:pt idx="87">
                  <c:v>-2.3208708689064966E-2</c:v>
                </c:pt>
                <c:pt idx="88">
                  <c:v>-2.3829803489452541E-2</c:v>
                </c:pt>
                <c:pt idx="89">
                  <c:v>-2.4451965036182667E-2</c:v>
                </c:pt>
                <c:pt idx="90">
                  <c:v>-2.5075221179426524E-2</c:v>
                </c:pt>
                <c:pt idx="91">
                  <c:v>-2.5699599813773285E-2</c:v>
                </c:pt>
                <c:pt idx="92">
                  <c:v>-2.6325128888120691E-2</c:v>
                </c:pt>
                <c:pt idx="93">
                  <c:v>-2.6951836404783627E-2</c:v>
                </c:pt>
                <c:pt idx="94">
                  <c:v>-2.7579750419474545E-2</c:v>
                </c:pt>
              </c:numCache>
            </c:numRef>
          </c:yVal>
          <c:smooth val="1"/>
          <c:extLst>
            <c:ext xmlns:c16="http://schemas.microsoft.com/office/drawing/2014/chart" uri="{C3380CC4-5D6E-409C-BE32-E72D297353CC}">
              <c16:uniqueId val="{00000001-42FA-450B-9A79-FC60C107827F}"/>
            </c:ext>
          </c:extLst>
        </c:ser>
        <c:ser>
          <c:idx val="2"/>
          <c:order val="2"/>
          <c:tx>
            <c:v>Futile Flow Ratio = 100</c:v>
          </c:tx>
          <c:spPr>
            <a:ln w="38100" cap="rnd">
              <a:solidFill>
                <a:schemeClr val="accent3"/>
              </a:solidFill>
              <a:round/>
            </a:ln>
            <a:effectLst/>
          </c:spPr>
          <c:marker>
            <c:symbol val="none"/>
          </c:marker>
          <c:xVal>
            <c:numRef>
              <c:f>Sheet1!$P$3:$P$423</c:f>
              <c:numCache>
                <c:formatCode>General</c:formatCode>
                <c:ptCount val="421"/>
                <c:pt idx="0">
                  <c:v>0</c:v>
                </c:pt>
                <c:pt idx="1">
                  <c:v>2.3809523809523812E-3</c:v>
                </c:pt>
                <c:pt idx="2">
                  <c:v>4.7619047619047623E-3</c:v>
                </c:pt>
                <c:pt idx="3">
                  <c:v>7.1428571428571426E-3</c:v>
                </c:pt>
                <c:pt idx="4">
                  <c:v>9.5238095238095247E-3</c:v>
                </c:pt>
                <c:pt idx="5">
                  <c:v>1.1904761904761904E-2</c:v>
                </c:pt>
                <c:pt idx="6">
                  <c:v>1.4285714285714285E-2</c:v>
                </c:pt>
                <c:pt idx="7">
                  <c:v>1.6666666666666666E-2</c:v>
                </c:pt>
                <c:pt idx="8">
                  <c:v>1.9047619047619049E-2</c:v>
                </c:pt>
                <c:pt idx="9">
                  <c:v>2.1428571428571429E-2</c:v>
                </c:pt>
                <c:pt idx="10">
                  <c:v>2.3809523809523808E-2</c:v>
                </c:pt>
                <c:pt idx="11">
                  <c:v>2.6190476190476191E-2</c:v>
                </c:pt>
                <c:pt idx="12">
                  <c:v>2.8571428571428571E-2</c:v>
                </c:pt>
                <c:pt idx="13">
                  <c:v>3.0952380952380953E-2</c:v>
                </c:pt>
                <c:pt idx="14">
                  <c:v>3.3333333333333333E-2</c:v>
                </c:pt>
                <c:pt idx="15">
                  <c:v>3.5714285714285712E-2</c:v>
                </c:pt>
                <c:pt idx="16">
                  <c:v>3.8095238095238099E-2</c:v>
                </c:pt>
                <c:pt idx="17">
                  <c:v>4.0476190476190478E-2</c:v>
                </c:pt>
                <c:pt idx="18">
                  <c:v>4.2857142857142858E-2</c:v>
                </c:pt>
                <c:pt idx="19">
                  <c:v>4.5238095238095237E-2</c:v>
                </c:pt>
                <c:pt idx="20">
                  <c:v>4.7619047619047616E-2</c:v>
                </c:pt>
                <c:pt idx="21">
                  <c:v>0.05</c:v>
                </c:pt>
                <c:pt idx="22">
                  <c:v>5.2380952380952382E-2</c:v>
                </c:pt>
                <c:pt idx="23">
                  <c:v>5.4761904761904762E-2</c:v>
                </c:pt>
                <c:pt idx="24">
                  <c:v>5.7142857142857141E-2</c:v>
                </c:pt>
                <c:pt idx="25">
                  <c:v>5.9523809523809521E-2</c:v>
                </c:pt>
                <c:pt idx="26">
                  <c:v>6.1904761904761907E-2</c:v>
                </c:pt>
                <c:pt idx="27">
                  <c:v>6.4285714285714279E-2</c:v>
                </c:pt>
                <c:pt idx="28">
                  <c:v>6.6666666666666666E-2</c:v>
                </c:pt>
                <c:pt idx="29">
                  <c:v>6.9047619047619052E-2</c:v>
                </c:pt>
                <c:pt idx="30">
                  <c:v>7.1428571428571425E-2</c:v>
                </c:pt>
                <c:pt idx="31">
                  <c:v>7.3809523809523811E-2</c:v>
                </c:pt>
                <c:pt idx="32">
                  <c:v>7.6190476190476197E-2</c:v>
                </c:pt>
                <c:pt idx="33">
                  <c:v>7.857142857142857E-2</c:v>
                </c:pt>
                <c:pt idx="34">
                  <c:v>8.0952380952380956E-2</c:v>
                </c:pt>
                <c:pt idx="35">
                  <c:v>8.3333333333333329E-2</c:v>
                </c:pt>
                <c:pt idx="36">
                  <c:v>8.5714285714285715E-2</c:v>
                </c:pt>
                <c:pt idx="37">
                  <c:v>8.8095238095238101E-2</c:v>
                </c:pt>
                <c:pt idx="38">
                  <c:v>9.0476190476190474E-2</c:v>
                </c:pt>
                <c:pt idx="39">
                  <c:v>9.285714285714286E-2</c:v>
                </c:pt>
                <c:pt idx="40">
                  <c:v>9.5238095238095233E-2</c:v>
                </c:pt>
                <c:pt idx="41">
                  <c:v>9.7619047619047619E-2</c:v>
                </c:pt>
                <c:pt idx="42">
                  <c:v>0.1</c:v>
                </c:pt>
                <c:pt idx="43">
                  <c:v>0.10238095238095238</c:v>
                </c:pt>
                <c:pt idx="44">
                  <c:v>0.10476190476190476</c:v>
                </c:pt>
                <c:pt idx="45">
                  <c:v>0.10714285714285714</c:v>
                </c:pt>
                <c:pt idx="46">
                  <c:v>0.10952380952380952</c:v>
                </c:pt>
                <c:pt idx="47">
                  <c:v>0.11190476190476191</c:v>
                </c:pt>
                <c:pt idx="48">
                  <c:v>0.11428571428571428</c:v>
                </c:pt>
                <c:pt idx="49">
                  <c:v>0.11666666666666667</c:v>
                </c:pt>
                <c:pt idx="50">
                  <c:v>0.11904761904761904</c:v>
                </c:pt>
                <c:pt idx="51">
                  <c:v>0.12142857142857143</c:v>
                </c:pt>
                <c:pt idx="52">
                  <c:v>0.12380952380952381</c:v>
                </c:pt>
                <c:pt idx="53">
                  <c:v>0.12619047619047619</c:v>
                </c:pt>
                <c:pt idx="54">
                  <c:v>0.12857142857142856</c:v>
                </c:pt>
                <c:pt idx="55">
                  <c:v>0.13095238095238096</c:v>
                </c:pt>
                <c:pt idx="56">
                  <c:v>0.13333333333333333</c:v>
                </c:pt>
                <c:pt idx="57">
                  <c:v>0.1357142857142857</c:v>
                </c:pt>
                <c:pt idx="58">
                  <c:v>0.1380952380952381</c:v>
                </c:pt>
                <c:pt idx="59">
                  <c:v>0.14047619047619048</c:v>
                </c:pt>
                <c:pt idx="60">
                  <c:v>0.14285714285714285</c:v>
                </c:pt>
                <c:pt idx="61">
                  <c:v>0.14523809523809525</c:v>
                </c:pt>
                <c:pt idx="62">
                  <c:v>0.14761904761904762</c:v>
                </c:pt>
                <c:pt idx="63">
                  <c:v>0.15</c:v>
                </c:pt>
                <c:pt idx="64">
                  <c:v>0.15238095238095239</c:v>
                </c:pt>
                <c:pt idx="65">
                  <c:v>0.15476190476190477</c:v>
                </c:pt>
                <c:pt idx="66">
                  <c:v>0.15714285714285714</c:v>
                </c:pt>
                <c:pt idx="67">
                  <c:v>0.15952380952380951</c:v>
                </c:pt>
                <c:pt idx="68">
                  <c:v>0.16190476190476191</c:v>
                </c:pt>
                <c:pt idx="69">
                  <c:v>0.16428571428571428</c:v>
                </c:pt>
                <c:pt idx="70">
                  <c:v>0.16666666666666666</c:v>
                </c:pt>
                <c:pt idx="71">
                  <c:v>0.16904761904761906</c:v>
                </c:pt>
                <c:pt idx="72">
                  <c:v>0.17142857142857143</c:v>
                </c:pt>
                <c:pt idx="73">
                  <c:v>0.1738095238095238</c:v>
                </c:pt>
                <c:pt idx="74">
                  <c:v>0.1761904761904762</c:v>
                </c:pt>
                <c:pt idx="75">
                  <c:v>0.17857142857142858</c:v>
                </c:pt>
                <c:pt idx="76">
                  <c:v>0.18095238095238095</c:v>
                </c:pt>
                <c:pt idx="77">
                  <c:v>0.18333333333333332</c:v>
                </c:pt>
                <c:pt idx="78">
                  <c:v>0.18571428571428572</c:v>
                </c:pt>
                <c:pt idx="79">
                  <c:v>0.18809523809523809</c:v>
                </c:pt>
                <c:pt idx="80">
                  <c:v>0.19047619047619047</c:v>
                </c:pt>
                <c:pt idx="81">
                  <c:v>0.19285714285714287</c:v>
                </c:pt>
                <c:pt idx="82">
                  <c:v>0.19523809523809524</c:v>
                </c:pt>
                <c:pt idx="83">
                  <c:v>0.19761904761904761</c:v>
                </c:pt>
                <c:pt idx="84">
                  <c:v>0.2</c:v>
                </c:pt>
                <c:pt idx="85">
                  <c:v>0.20238095238095238</c:v>
                </c:pt>
                <c:pt idx="86">
                  <c:v>0.20476190476190476</c:v>
                </c:pt>
                <c:pt idx="87">
                  <c:v>0.20714285714285716</c:v>
                </c:pt>
                <c:pt idx="88">
                  <c:v>0.20952380952380953</c:v>
                </c:pt>
                <c:pt idx="89">
                  <c:v>0.2119047619047619</c:v>
                </c:pt>
                <c:pt idx="90">
                  <c:v>0.21428571428571427</c:v>
                </c:pt>
                <c:pt idx="91">
                  <c:v>0.21666666666666667</c:v>
                </c:pt>
                <c:pt idx="92">
                  <c:v>0.21904761904761905</c:v>
                </c:pt>
                <c:pt idx="93">
                  <c:v>0.22142857142857142</c:v>
                </c:pt>
                <c:pt idx="94">
                  <c:v>0.22380952380952382</c:v>
                </c:pt>
                <c:pt idx="95">
                  <c:v>0.22619047619047619</c:v>
                </c:pt>
                <c:pt idx="96">
                  <c:v>0.22857142857142856</c:v>
                </c:pt>
                <c:pt idx="97">
                  <c:v>0.23095238095238096</c:v>
                </c:pt>
                <c:pt idx="98">
                  <c:v>0.23333333333333334</c:v>
                </c:pt>
                <c:pt idx="99">
                  <c:v>0.23571428571428571</c:v>
                </c:pt>
                <c:pt idx="100">
                  <c:v>0.23809523809523808</c:v>
                </c:pt>
                <c:pt idx="101">
                  <c:v>0.24047619047619048</c:v>
                </c:pt>
                <c:pt idx="102">
                  <c:v>0.24285714285714285</c:v>
                </c:pt>
                <c:pt idx="103">
                  <c:v>0.24523809523809523</c:v>
                </c:pt>
                <c:pt idx="104">
                  <c:v>0.24761904761904763</c:v>
                </c:pt>
                <c:pt idx="105">
                  <c:v>0.25</c:v>
                </c:pt>
                <c:pt idx="106">
                  <c:v>0.25238095238095237</c:v>
                </c:pt>
                <c:pt idx="107">
                  <c:v>0.25476190476190474</c:v>
                </c:pt>
                <c:pt idx="108">
                  <c:v>0.25714285714285712</c:v>
                </c:pt>
                <c:pt idx="109">
                  <c:v>0.25952380952380955</c:v>
                </c:pt>
                <c:pt idx="110">
                  <c:v>0.26190476190476192</c:v>
                </c:pt>
                <c:pt idx="111">
                  <c:v>0.26428571428571429</c:v>
                </c:pt>
                <c:pt idx="112">
                  <c:v>0.26666666666666666</c:v>
                </c:pt>
                <c:pt idx="113">
                  <c:v>0.26904761904761904</c:v>
                </c:pt>
                <c:pt idx="114">
                  <c:v>0.27142857142857141</c:v>
                </c:pt>
                <c:pt idx="115">
                  <c:v>0.27380952380952384</c:v>
                </c:pt>
                <c:pt idx="116">
                  <c:v>0.27619047619047621</c:v>
                </c:pt>
                <c:pt idx="117">
                  <c:v>0.27857142857142858</c:v>
                </c:pt>
                <c:pt idx="118">
                  <c:v>0.28095238095238095</c:v>
                </c:pt>
                <c:pt idx="119">
                  <c:v>0.28333333333333333</c:v>
                </c:pt>
                <c:pt idx="120">
                  <c:v>0.2857142857142857</c:v>
                </c:pt>
                <c:pt idx="121">
                  <c:v>0.28809523809523807</c:v>
                </c:pt>
                <c:pt idx="122">
                  <c:v>0.2904761904761905</c:v>
                </c:pt>
                <c:pt idx="123">
                  <c:v>0.29285714285714287</c:v>
                </c:pt>
                <c:pt idx="124">
                  <c:v>0.29523809523809524</c:v>
                </c:pt>
                <c:pt idx="125">
                  <c:v>0.29761904761904762</c:v>
                </c:pt>
                <c:pt idx="126">
                  <c:v>0.3</c:v>
                </c:pt>
                <c:pt idx="127">
                  <c:v>0.30238095238095236</c:v>
                </c:pt>
                <c:pt idx="128">
                  <c:v>0.30476190476190479</c:v>
                </c:pt>
                <c:pt idx="129">
                  <c:v>0.30714285714285716</c:v>
                </c:pt>
                <c:pt idx="130">
                  <c:v>0.30952380952380953</c:v>
                </c:pt>
                <c:pt idx="131">
                  <c:v>0.31190476190476191</c:v>
                </c:pt>
                <c:pt idx="132">
                  <c:v>0.31428571428571428</c:v>
                </c:pt>
                <c:pt idx="133">
                  <c:v>0.31666666666666665</c:v>
                </c:pt>
                <c:pt idx="134">
                  <c:v>0.31904761904761902</c:v>
                </c:pt>
                <c:pt idx="135">
                  <c:v>0.32142857142857145</c:v>
                </c:pt>
                <c:pt idx="136">
                  <c:v>0.32380952380952382</c:v>
                </c:pt>
                <c:pt idx="137">
                  <c:v>0.3261904761904762</c:v>
                </c:pt>
                <c:pt idx="138">
                  <c:v>0.32857142857142857</c:v>
                </c:pt>
                <c:pt idx="139">
                  <c:v>0.33095238095238094</c:v>
                </c:pt>
                <c:pt idx="140">
                  <c:v>0.33333333333333331</c:v>
                </c:pt>
                <c:pt idx="141">
                  <c:v>0.33571428571428569</c:v>
                </c:pt>
                <c:pt idx="142">
                  <c:v>0.33809523809523812</c:v>
                </c:pt>
                <c:pt idx="143">
                  <c:v>0.34047619047619049</c:v>
                </c:pt>
                <c:pt idx="144">
                  <c:v>0.34285714285714286</c:v>
                </c:pt>
                <c:pt idx="145">
                  <c:v>0.34523809523809523</c:v>
                </c:pt>
                <c:pt idx="146">
                  <c:v>0.34761904761904761</c:v>
                </c:pt>
                <c:pt idx="147">
                  <c:v>0.35</c:v>
                </c:pt>
                <c:pt idx="148">
                  <c:v>0.35238095238095241</c:v>
                </c:pt>
                <c:pt idx="149">
                  <c:v>0.35476190476190478</c:v>
                </c:pt>
                <c:pt idx="150">
                  <c:v>0.35714285714285715</c:v>
                </c:pt>
                <c:pt idx="151">
                  <c:v>0.35952380952380952</c:v>
                </c:pt>
                <c:pt idx="152">
                  <c:v>0.3619047619047619</c:v>
                </c:pt>
                <c:pt idx="153">
                  <c:v>0.36428571428571427</c:v>
                </c:pt>
                <c:pt idx="154">
                  <c:v>0.36666666666666664</c:v>
                </c:pt>
                <c:pt idx="155">
                  <c:v>0.36904761904761907</c:v>
                </c:pt>
                <c:pt idx="156">
                  <c:v>0.37142857142857144</c:v>
                </c:pt>
                <c:pt idx="157">
                  <c:v>0.37380952380952381</c:v>
                </c:pt>
                <c:pt idx="158">
                  <c:v>0.37619047619047619</c:v>
                </c:pt>
                <c:pt idx="159">
                  <c:v>0.37857142857142856</c:v>
                </c:pt>
                <c:pt idx="160">
                  <c:v>0.38095238095238093</c:v>
                </c:pt>
                <c:pt idx="161">
                  <c:v>0.38333333333333336</c:v>
                </c:pt>
                <c:pt idx="162">
                  <c:v>0.38571428571428573</c:v>
                </c:pt>
                <c:pt idx="163">
                  <c:v>0.3880952380952381</c:v>
                </c:pt>
                <c:pt idx="164">
                  <c:v>0.39047619047619048</c:v>
                </c:pt>
                <c:pt idx="165">
                  <c:v>0.39285714285714285</c:v>
                </c:pt>
                <c:pt idx="166">
                  <c:v>0.39523809523809522</c:v>
                </c:pt>
                <c:pt idx="167">
                  <c:v>0.39761904761904759</c:v>
                </c:pt>
                <c:pt idx="168">
                  <c:v>0.4</c:v>
                </c:pt>
                <c:pt idx="169">
                  <c:v>0.40238095238095239</c:v>
                </c:pt>
                <c:pt idx="170">
                  <c:v>0.40476190476190477</c:v>
                </c:pt>
                <c:pt idx="171">
                  <c:v>0.40714285714285714</c:v>
                </c:pt>
                <c:pt idx="172">
                  <c:v>0.40952380952380951</c:v>
                </c:pt>
                <c:pt idx="173">
                  <c:v>0.41190476190476188</c:v>
                </c:pt>
                <c:pt idx="174">
                  <c:v>0.41428571428571431</c:v>
                </c:pt>
                <c:pt idx="175">
                  <c:v>0.41666666666666669</c:v>
                </c:pt>
                <c:pt idx="176">
                  <c:v>0.41904761904761906</c:v>
                </c:pt>
                <c:pt idx="177">
                  <c:v>0.42142857142857143</c:v>
                </c:pt>
                <c:pt idx="178">
                  <c:v>0.4238095238095238</c:v>
                </c:pt>
                <c:pt idx="179">
                  <c:v>0.42619047619047618</c:v>
                </c:pt>
                <c:pt idx="180">
                  <c:v>0.42857142857142855</c:v>
                </c:pt>
                <c:pt idx="181">
                  <c:v>0.43095238095238098</c:v>
                </c:pt>
                <c:pt idx="182">
                  <c:v>0.43333333333333335</c:v>
                </c:pt>
                <c:pt idx="183">
                  <c:v>0.43571428571428572</c:v>
                </c:pt>
                <c:pt idx="184">
                  <c:v>0.43809523809523809</c:v>
                </c:pt>
                <c:pt idx="185">
                  <c:v>0.44047619047619047</c:v>
                </c:pt>
                <c:pt idx="186">
                  <c:v>0.44285714285714284</c:v>
                </c:pt>
                <c:pt idx="187">
                  <c:v>0.44523809523809521</c:v>
                </c:pt>
                <c:pt idx="188">
                  <c:v>0.44761904761904764</c:v>
                </c:pt>
                <c:pt idx="189">
                  <c:v>0.45</c:v>
                </c:pt>
                <c:pt idx="190">
                  <c:v>0.45238095238095238</c:v>
                </c:pt>
                <c:pt idx="191">
                  <c:v>0.45476190476190476</c:v>
                </c:pt>
                <c:pt idx="192">
                  <c:v>0.45714285714285713</c:v>
                </c:pt>
                <c:pt idx="193">
                  <c:v>0.4595238095238095</c:v>
                </c:pt>
                <c:pt idx="194">
                  <c:v>0.46190476190476193</c:v>
                </c:pt>
                <c:pt idx="195">
                  <c:v>0.4642857142857143</c:v>
                </c:pt>
                <c:pt idx="196">
                  <c:v>0.46666666666666667</c:v>
                </c:pt>
                <c:pt idx="197">
                  <c:v>0.46904761904761905</c:v>
                </c:pt>
                <c:pt idx="198">
                  <c:v>0.47142857142857142</c:v>
                </c:pt>
                <c:pt idx="199">
                  <c:v>0.47380952380952379</c:v>
                </c:pt>
                <c:pt idx="200">
                  <c:v>0.47619047619047616</c:v>
                </c:pt>
                <c:pt idx="201">
                  <c:v>0.47857142857142859</c:v>
                </c:pt>
                <c:pt idx="202">
                  <c:v>0.48095238095238096</c:v>
                </c:pt>
                <c:pt idx="203">
                  <c:v>0.48333333333333334</c:v>
                </c:pt>
                <c:pt idx="204">
                  <c:v>0.48571428571428571</c:v>
                </c:pt>
                <c:pt idx="205">
                  <c:v>0.48809523809523808</c:v>
                </c:pt>
                <c:pt idx="206">
                  <c:v>0.49047619047619045</c:v>
                </c:pt>
                <c:pt idx="207">
                  <c:v>0.49285714285714288</c:v>
                </c:pt>
                <c:pt idx="208">
                  <c:v>0.49523809523809526</c:v>
                </c:pt>
                <c:pt idx="209">
                  <c:v>0.49761904761904763</c:v>
                </c:pt>
                <c:pt idx="210">
                  <c:v>0.5</c:v>
                </c:pt>
                <c:pt idx="211">
                  <c:v>0.50238095238095237</c:v>
                </c:pt>
                <c:pt idx="212">
                  <c:v>0.50476190476190474</c:v>
                </c:pt>
                <c:pt idx="213">
                  <c:v>0.50714285714285712</c:v>
                </c:pt>
                <c:pt idx="214">
                  <c:v>0.50952380952380949</c:v>
                </c:pt>
                <c:pt idx="215">
                  <c:v>0.51190476190476186</c:v>
                </c:pt>
                <c:pt idx="216">
                  <c:v>0.51428571428571423</c:v>
                </c:pt>
                <c:pt idx="217">
                  <c:v>0.51666666666666672</c:v>
                </c:pt>
                <c:pt idx="218">
                  <c:v>0.51904761904761909</c:v>
                </c:pt>
                <c:pt idx="219">
                  <c:v>0.52142857142857146</c:v>
                </c:pt>
                <c:pt idx="220">
                  <c:v>0.52380952380952384</c:v>
                </c:pt>
                <c:pt idx="221">
                  <c:v>0.52619047619047621</c:v>
                </c:pt>
                <c:pt idx="222">
                  <c:v>0.52857142857142858</c:v>
                </c:pt>
                <c:pt idx="223">
                  <c:v>0.53095238095238095</c:v>
                </c:pt>
                <c:pt idx="224">
                  <c:v>0.53333333333333333</c:v>
                </c:pt>
                <c:pt idx="225">
                  <c:v>0.5357142857142857</c:v>
                </c:pt>
                <c:pt idx="226">
                  <c:v>0.53809523809523807</c:v>
                </c:pt>
                <c:pt idx="227">
                  <c:v>0.54047619047619044</c:v>
                </c:pt>
                <c:pt idx="228">
                  <c:v>0.54285714285714282</c:v>
                </c:pt>
                <c:pt idx="229">
                  <c:v>0.54523809523809519</c:v>
                </c:pt>
                <c:pt idx="230">
                  <c:v>0.54761904761904767</c:v>
                </c:pt>
                <c:pt idx="231">
                  <c:v>0.55000000000000004</c:v>
                </c:pt>
                <c:pt idx="232">
                  <c:v>0.55238095238095242</c:v>
                </c:pt>
                <c:pt idx="233">
                  <c:v>0.55476190476190479</c:v>
                </c:pt>
                <c:pt idx="234">
                  <c:v>0.55714285714285716</c:v>
                </c:pt>
                <c:pt idx="235">
                  <c:v>0.55952380952380953</c:v>
                </c:pt>
                <c:pt idx="236">
                  <c:v>0.56190476190476191</c:v>
                </c:pt>
                <c:pt idx="237">
                  <c:v>0.56428571428571428</c:v>
                </c:pt>
                <c:pt idx="238">
                  <c:v>0.56666666666666665</c:v>
                </c:pt>
                <c:pt idx="239">
                  <c:v>0.56904761904761902</c:v>
                </c:pt>
                <c:pt idx="240">
                  <c:v>0.5714285714285714</c:v>
                </c:pt>
                <c:pt idx="241">
                  <c:v>0.57380952380952377</c:v>
                </c:pt>
                <c:pt idx="242">
                  <c:v>0.57619047619047614</c:v>
                </c:pt>
                <c:pt idx="243">
                  <c:v>0.57857142857142863</c:v>
                </c:pt>
                <c:pt idx="244">
                  <c:v>0.580952380952381</c:v>
                </c:pt>
                <c:pt idx="245">
                  <c:v>0.58333333333333337</c:v>
                </c:pt>
                <c:pt idx="246">
                  <c:v>0.58571428571428574</c:v>
                </c:pt>
                <c:pt idx="247">
                  <c:v>0.58809523809523812</c:v>
                </c:pt>
                <c:pt idx="248">
                  <c:v>0.59047619047619049</c:v>
                </c:pt>
                <c:pt idx="249">
                  <c:v>0.59285714285714286</c:v>
                </c:pt>
                <c:pt idx="250">
                  <c:v>0.59523809523809523</c:v>
                </c:pt>
                <c:pt idx="251">
                  <c:v>0.59761904761904761</c:v>
                </c:pt>
                <c:pt idx="252">
                  <c:v>0.6</c:v>
                </c:pt>
                <c:pt idx="253">
                  <c:v>0.60238095238095235</c:v>
                </c:pt>
                <c:pt idx="254">
                  <c:v>0.60476190476190472</c:v>
                </c:pt>
                <c:pt idx="255">
                  <c:v>0.6071428571428571</c:v>
                </c:pt>
                <c:pt idx="256">
                  <c:v>0.60952380952380958</c:v>
                </c:pt>
                <c:pt idx="257">
                  <c:v>0.61190476190476195</c:v>
                </c:pt>
                <c:pt idx="258">
                  <c:v>0.61428571428571432</c:v>
                </c:pt>
                <c:pt idx="259">
                  <c:v>0.6166666666666667</c:v>
                </c:pt>
                <c:pt idx="260">
                  <c:v>0.61904761904761907</c:v>
                </c:pt>
                <c:pt idx="261">
                  <c:v>0.62142857142857144</c:v>
                </c:pt>
                <c:pt idx="262">
                  <c:v>0.62380952380952381</c:v>
                </c:pt>
                <c:pt idx="263">
                  <c:v>0.62619047619047619</c:v>
                </c:pt>
                <c:pt idx="264">
                  <c:v>0.62857142857142856</c:v>
                </c:pt>
                <c:pt idx="265">
                  <c:v>0.63095238095238093</c:v>
                </c:pt>
                <c:pt idx="266">
                  <c:v>0.6333333333333333</c:v>
                </c:pt>
                <c:pt idx="267">
                  <c:v>0.63571428571428568</c:v>
                </c:pt>
                <c:pt idx="268">
                  <c:v>0.63809523809523805</c:v>
                </c:pt>
                <c:pt idx="269">
                  <c:v>0.64047619047619042</c:v>
                </c:pt>
                <c:pt idx="270">
                  <c:v>0.6428571428571429</c:v>
                </c:pt>
                <c:pt idx="271">
                  <c:v>0.64523809523809528</c:v>
                </c:pt>
                <c:pt idx="272">
                  <c:v>0.64761904761904765</c:v>
                </c:pt>
                <c:pt idx="273">
                  <c:v>0.65</c:v>
                </c:pt>
                <c:pt idx="274">
                  <c:v>0.65238095238095239</c:v>
                </c:pt>
                <c:pt idx="275">
                  <c:v>0.65476190476190477</c:v>
                </c:pt>
                <c:pt idx="276">
                  <c:v>0.65714285714285714</c:v>
                </c:pt>
                <c:pt idx="277">
                  <c:v>0.65952380952380951</c:v>
                </c:pt>
                <c:pt idx="278">
                  <c:v>0.66190476190476188</c:v>
                </c:pt>
                <c:pt idx="279">
                  <c:v>0.66428571428571426</c:v>
                </c:pt>
                <c:pt idx="280">
                  <c:v>0.66666666666666663</c:v>
                </c:pt>
                <c:pt idx="281">
                  <c:v>0.669047619047619</c:v>
                </c:pt>
                <c:pt idx="282">
                  <c:v>0.67142857142857137</c:v>
                </c:pt>
                <c:pt idx="283">
                  <c:v>0.67380952380952386</c:v>
                </c:pt>
                <c:pt idx="284">
                  <c:v>0.67619047619047623</c:v>
                </c:pt>
                <c:pt idx="285">
                  <c:v>0.6785714285714286</c:v>
                </c:pt>
                <c:pt idx="286">
                  <c:v>0.68095238095238098</c:v>
                </c:pt>
                <c:pt idx="287">
                  <c:v>0.68333333333333335</c:v>
                </c:pt>
                <c:pt idx="288">
                  <c:v>0.68571428571428572</c:v>
                </c:pt>
                <c:pt idx="289">
                  <c:v>0.68809523809523809</c:v>
                </c:pt>
                <c:pt idx="290">
                  <c:v>0.69047619047619047</c:v>
                </c:pt>
                <c:pt idx="291">
                  <c:v>0.69285714285714284</c:v>
                </c:pt>
                <c:pt idx="292">
                  <c:v>0.69523809523809521</c:v>
                </c:pt>
                <c:pt idx="293">
                  <c:v>0.69761904761904758</c:v>
                </c:pt>
                <c:pt idx="294">
                  <c:v>0.7</c:v>
                </c:pt>
                <c:pt idx="295">
                  <c:v>0.70238095238095233</c:v>
                </c:pt>
                <c:pt idx="296">
                  <c:v>0.70476190476190481</c:v>
                </c:pt>
                <c:pt idx="297">
                  <c:v>0.70714285714285718</c:v>
                </c:pt>
                <c:pt idx="298">
                  <c:v>0.70952380952380956</c:v>
                </c:pt>
                <c:pt idx="299">
                  <c:v>0.71190476190476193</c:v>
                </c:pt>
                <c:pt idx="300">
                  <c:v>0.7142857142857143</c:v>
                </c:pt>
                <c:pt idx="301">
                  <c:v>0.71666666666666667</c:v>
                </c:pt>
                <c:pt idx="302">
                  <c:v>0.71904761904761905</c:v>
                </c:pt>
                <c:pt idx="303">
                  <c:v>0.72142857142857142</c:v>
                </c:pt>
                <c:pt idx="304">
                  <c:v>0.72380952380952379</c:v>
                </c:pt>
                <c:pt idx="305">
                  <c:v>0.72619047619047616</c:v>
                </c:pt>
                <c:pt idx="306">
                  <c:v>0.72857142857142854</c:v>
                </c:pt>
                <c:pt idx="307">
                  <c:v>0.73095238095238091</c:v>
                </c:pt>
                <c:pt idx="308">
                  <c:v>0.73333333333333328</c:v>
                </c:pt>
                <c:pt idx="309">
                  <c:v>0.73571428571428577</c:v>
                </c:pt>
                <c:pt idx="310">
                  <c:v>0.73809523809523814</c:v>
                </c:pt>
                <c:pt idx="311">
                  <c:v>0.74047619047619051</c:v>
                </c:pt>
                <c:pt idx="312">
                  <c:v>0.74285714285714288</c:v>
                </c:pt>
                <c:pt idx="313">
                  <c:v>0.74523809523809526</c:v>
                </c:pt>
                <c:pt idx="314">
                  <c:v>0.74761904761904763</c:v>
                </c:pt>
                <c:pt idx="315">
                  <c:v>0.75</c:v>
                </c:pt>
                <c:pt idx="316">
                  <c:v>0.75238095238095237</c:v>
                </c:pt>
                <c:pt idx="317">
                  <c:v>0.75476190476190474</c:v>
                </c:pt>
                <c:pt idx="318">
                  <c:v>0.75714285714285712</c:v>
                </c:pt>
                <c:pt idx="319">
                  <c:v>0.75952380952380949</c:v>
                </c:pt>
                <c:pt idx="320">
                  <c:v>0.76190476190476186</c:v>
                </c:pt>
                <c:pt idx="321">
                  <c:v>0.76428571428571423</c:v>
                </c:pt>
                <c:pt idx="322">
                  <c:v>0.76666666666666672</c:v>
                </c:pt>
                <c:pt idx="323">
                  <c:v>0.76904761904761909</c:v>
                </c:pt>
                <c:pt idx="324">
                  <c:v>0.77142857142857146</c:v>
                </c:pt>
                <c:pt idx="325">
                  <c:v>0.77380952380952384</c:v>
                </c:pt>
                <c:pt idx="326">
                  <c:v>0.77619047619047621</c:v>
                </c:pt>
                <c:pt idx="327">
                  <c:v>0.77857142857142858</c:v>
                </c:pt>
                <c:pt idx="328">
                  <c:v>0.78095238095238095</c:v>
                </c:pt>
                <c:pt idx="329">
                  <c:v>0.78333333333333333</c:v>
                </c:pt>
                <c:pt idx="330">
                  <c:v>0.7857142857142857</c:v>
                </c:pt>
                <c:pt idx="331">
                  <c:v>0.78809523809523807</c:v>
                </c:pt>
                <c:pt idx="332">
                  <c:v>0.79047619047619044</c:v>
                </c:pt>
                <c:pt idx="333">
                  <c:v>0.79285714285714282</c:v>
                </c:pt>
                <c:pt idx="334">
                  <c:v>0.79523809523809519</c:v>
                </c:pt>
                <c:pt idx="335">
                  <c:v>0.79761904761904767</c:v>
                </c:pt>
                <c:pt idx="336">
                  <c:v>0.8</c:v>
                </c:pt>
                <c:pt idx="337">
                  <c:v>0.80238095238095242</c:v>
                </c:pt>
                <c:pt idx="338">
                  <c:v>0.80476190476190479</c:v>
                </c:pt>
                <c:pt idx="339">
                  <c:v>0.80714285714285716</c:v>
                </c:pt>
                <c:pt idx="340">
                  <c:v>0.80952380952380953</c:v>
                </c:pt>
                <c:pt idx="341">
                  <c:v>0.81190476190476191</c:v>
                </c:pt>
                <c:pt idx="342">
                  <c:v>0.81428571428571428</c:v>
                </c:pt>
                <c:pt idx="343">
                  <c:v>0.81666666666666665</c:v>
                </c:pt>
                <c:pt idx="344">
                  <c:v>0.81904761904761902</c:v>
                </c:pt>
                <c:pt idx="345">
                  <c:v>0.8214285714285714</c:v>
                </c:pt>
                <c:pt idx="346">
                  <c:v>0.82380952380952377</c:v>
                </c:pt>
                <c:pt idx="347">
                  <c:v>0.82619047619047614</c:v>
                </c:pt>
                <c:pt idx="348">
                  <c:v>0.82857142857142863</c:v>
                </c:pt>
                <c:pt idx="349">
                  <c:v>0.830952380952381</c:v>
                </c:pt>
                <c:pt idx="350">
                  <c:v>0.83333333333333337</c:v>
                </c:pt>
                <c:pt idx="351">
                  <c:v>0.83571428571428574</c:v>
                </c:pt>
                <c:pt idx="352">
                  <c:v>0.83809523809523812</c:v>
                </c:pt>
                <c:pt idx="353">
                  <c:v>0.84047619047619049</c:v>
                </c:pt>
                <c:pt idx="354">
                  <c:v>0.84285714285714286</c:v>
                </c:pt>
                <c:pt idx="355">
                  <c:v>0.84523809523809523</c:v>
                </c:pt>
                <c:pt idx="356">
                  <c:v>0.84761904761904761</c:v>
                </c:pt>
                <c:pt idx="357">
                  <c:v>0.85</c:v>
                </c:pt>
                <c:pt idx="358">
                  <c:v>0.85238095238095235</c:v>
                </c:pt>
                <c:pt idx="359">
                  <c:v>0.85476190476190472</c:v>
                </c:pt>
                <c:pt idx="360">
                  <c:v>0.8571428571428571</c:v>
                </c:pt>
                <c:pt idx="361">
                  <c:v>0.85952380952380958</c:v>
                </c:pt>
                <c:pt idx="362">
                  <c:v>0.86190476190476195</c:v>
                </c:pt>
                <c:pt idx="363">
                  <c:v>0.86428571428571432</c:v>
                </c:pt>
                <c:pt idx="364">
                  <c:v>0.8666666666666667</c:v>
                </c:pt>
                <c:pt idx="365">
                  <c:v>0.86904761904761907</c:v>
                </c:pt>
                <c:pt idx="366">
                  <c:v>0.87142857142857144</c:v>
                </c:pt>
                <c:pt idx="367">
                  <c:v>0.87380952380952381</c:v>
                </c:pt>
                <c:pt idx="368">
                  <c:v>0.87619047619047619</c:v>
                </c:pt>
                <c:pt idx="369">
                  <c:v>0.87857142857142856</c:v>
                </c:pt>
                <c:pt idx="370">
                  <c:v>0.88095238095238093</c:v>
                </c:pt>
                <c:pt idx="371">
                  <c:v>0.8833333333333333</c:v>
                </c:pt>
                <c:pt idx="372">
                  <c:v>0.88571428571428568</c:v>
                </c:pt>
                <c:pt idx="373">
                  <c:v>0.88809523809523805</c:v>
                </c:pt>
                <c:pt idx="374">
                  <c:v>0.89047619047619042</c:v>
                </c:pt>
                <c:pt idx="375">
                  <c:v>0.8928571428571429</c:v>
                </c:pt>
                <c:pt idx="376">
                  <c:v>0.89523809523809528</c:v>
                </c:pt>
                <c:pt idx="377">
                  <c:v>0.89761904761904765</c:v>
                </c:pt>
                <c:pt idx="378">
                  <c:v>0.9</c:v>
                </c:pt>
                <c:pt idx="379">
                  <c:v>0.90238095238095239</c:v>
                </c:pt>
                <c:pt idx="380">
                  <c:v>0.90476190476190477</c:v>
                </c:pt>
                <c:pt idx="381">
                  <c:v>0.90714285714285714</c:v>
                </c:pt>
                <c:pt idx="382">
                  <c:v>0.90952380952380951</c:v>
                </c:pt>
                <c:pt idx="383">
                  <c:v>0.91190476190476188</c:v>
                </c:pt>
                <c:pt idx="384">
                  <c:v>0.91428571428571426</c:v>
                </c:pt>
                <c:pt idx="385">
                  <c:v>0.91666666666666663</c:v>
                </c:pt>
                <c:pt idx="386">
                  <c:v>0.919047619047619</c:v>
                </c:pt>
                <c:pt idx="387">
                  <c:v>0.92142857142857137</c:v>
                </c:pt>
                <c:pt idx="388">
                  <c:v>0.92380952380952386</c:v>
                </c:pt>
                <c:pt idx="389">
                  <c:v>0.92619047619047623</c:v>
                </c:pt>
                <c:pt idx="390">
                  <c:v>0.9285714285714286</c:v>
                </c:pt>
                <c:pt idx="391">
                  <c:v>0.93095238095238098</c:v>
                </c:pt>
                <c:pt idx="392">
                  <c:v>0.93333333333333335</c:v>
                </c:pt>
                <c:pt idx="393">
                  <c:v>0.93571428571428572</c:v>
                </c:pt>
                <c:pt idx="394">
                  <c:v>0.93809523809523809</c:v>
                </c:pt>
                <c:pt idx="395">
                  <c:v>0.94047619047619047</c:v>
                </c:pt>
                <c:pt idx="396">
                  <c:v>0.94285714285714284</c:v>
                </c:pt>
                <c:pt idx="397">
                  <c:v>0.94523809523809521</c:v>
                </c:pt>
                <c:pt idx="398">
                  <c:v>0.94761904761904758</c:v>
                </c:pt>
                <c:pt idx="399">
                  <c:v>0.95</c:v>
                </c:pt>
                <c:pt idx="400">
                  <c:v>0.95238095238095233</c:v>
                </c:pt>
                <c:pt idx="401">
                  <c:v>0.95476190476190481</c:v>
                </c:pt>
                <c:pt idx="402">
                  <c:v>0.95714285714285718</c:v>
                </c:pt>
                <c:pt idx="403">
                  <c:v>0.95952380952380956</c:v>
                </c:pt>
                <c:pt idx="404">
                  <c:v>0.96190476190476193</c:v>
                </c:pt>
                <c:pt idx="405">
                  <c:v>0.9642857142857143</c:v>
                </c:pt>
                <c:pt idx="406">
                  <c:v>0.96666666666666667</c:v>
                </c:pt>
                <c:pt idx="407">
                  <c:v>0.96904761904761905</c:v>
                </c:pt>
                <c:pt idx="408">
                  <c:v>0.97142857142857142</c:v>
                </c:pt>
                <c:pt idx="409">
                  <c:v>0.97380952380952379</c:v>
                </c:pt>
                <c:pt idx="410">
                  <c:v>0.97619047619047616</c:v>
                </c:pt>
                <c:pt idx="411">
                  <c:v>0.97857142857142854</c:v>
                </c:pt>
                <c:pt idx="412">
                  <c:v>0.98095238095238091</c:v>
                </c:pt>
                <c:pt idx="413">
                  <c:v>0.98333333333333328</c:v>
                </c:pt>
                <c:pt idx="414">
                  <c:v>0.98571428571428577</c:v>
                </c:pt>
                <c:pt idx="415">
                  <c:v>0.98809523809523814</c:v>
                </c:pt>
                <c:pt idx="416">
                  <c:v>0.99047619047619051</c:v>
                </c:pt>
                <c:pt idx="417">
                  <c:v>0.99285714285714288</c:v>
                </c:pt>
                <c:pt idx="418">
                  <c:v>0.99523809523809526</c:v>
                </c:pt>
                <c:pt idx="419">
                  <c:v>0.99761904761904763</c:v>
                </c:pt>
                <c:pt idx="420">
                  <c:v>1</c:v>
                </c:pt>
              </c:numCache>
            </c:numRef>
          </c:xVal>
          <c:yVal>
            <c:numRef>
              <c:f>Sheet1!$T$3:$T$423</c:f>
              <c:numCache>
                <c:formatCode>General</c:formatCode>
                <c:ptCount val="421"/>
                <c:pt idx="0">
                  <c:v>8.3945668281056637E-2</c:v>
                </c:pt>
                <c:pt idx="1">
                  <c:v>8.3314415809394124E-2</c:v>
                </c:pt>
                <c:pt idx="2">
                  <c:v>8.2686892902908191E-2</c:v>
                </c:pt>
                <c:pt idx="3">
                  <c:v>8.2063071471237869E-2</c:v>
                </c:pt>
                <c:pt idx="4">
                  <c:v>8.144292358900744E-2</c:v>
                </c:pt>
                <c:pt idx="5">
                  <c:v>8.0826421472089668E-2</c:v>
                </c:pt>
                <c:pt idx="6">
                  <c:v>8.0213537418361555E-2</c:v>
                </c:pt>
                <c:pt idx="7">
                  <c:v>7.9604244035405752E-2</c:v>
                </c:pt>
                <c:pt idx="8">
                  <c:v>7.8998514102625358E-2</c:v>
                </c:pt>
                <c:pt idx="9">
                  <c:v>7.8396320546199855E-2</c:v>
                </c:pt>
                <c:pt idx="10">
                  <c:v>7.779763643908498E-2</c:v>
                </c:pt>
                <c:pt idx="11">
                  <c:v>7.7202435001012815E-2</c:v>
                </c:pt>
                <c:pt idx="12">
                  <c:v>7.6610689598491793E-2</c:v>
                </c:pt>
                <c:pt idx="13">
                  <c:v>7.6022373744806651E-2</c:v>
                </c:pt>
                <c:pt idx="14">
                  <c:v>7.5437461100018435E-2</c:v>
                </c:pt>
                <c:pt idx="15">
                  <c:v>7.4855925470964493E-2</c:v>
                </c:pt>
                <c:pt idx="16">
                  <c:v>7.4277740811258569E-2</c:v>
                </c:pt>
                <c:pt idx="17">
                  <c:v>7.3702881221290692E-2</c:v>
                </c:pt>
                <c:pt idx="18">
                  <c:v>7.3131320948227177E-2</c:v>
                </c:pt>
                <c:pt idx="19">
                  <c:v>7.2563034386010763E-2</c:v>
                </c:pt>
                <c:pt idx="20">
                  <c:v>7.1997996075360352E-2</c:v>
                </c:pt>
                <c:pt idx="21">
                  <c:v>7.1436180703771321E-2</c:v>
                </c:pt>
                <c:pt idx="22">
                  <c:v>7.0877563105515323E-2</c:v>
                </c:pt>
                <c:pt idx="23">
                  <c:v>7.032211795024311E-2</c:v>
                </c:pt>
                <c:pt idx="24">
                  <c:v>6.9769818858681831E-2</c:v>
                </c:pt>
                <c:pt idx="25">
                  <c:v>6.9220641244479741E-2</c:v>
                </c:pt>
                <c:pt idx="26">
                  <c:v>6.8674560893422026E-2</c:v>
                </c:pt>
                <c:pt idx="27">
                  <c:v>6.8131553698583203E-2</c:v>
                </c:pt>
                <c:pt idx="28">
                  <c:v>6.7591595660326687E-2</c:v>
                </c:pt>
                <c:pt idx="29">
                  <c:v>6.7054662886305655E-2</c:v>
                </c:pt>
                <c:pt idx="30">
                  <c:v>6.6520731591462018E-2</c:v>
                </c:pt>
                <c:pt idx="31">
                  <c:v>6.5989778098027349E-2</c:v>
                </c:pt>
                <c:pt idx="32">
                  <c:v>6.5461778835522108E-2</c:v>
                </c:pt>
                <c:pt idx="33">
                  <c:v>6.4936710340756112E-2</c:v>
                </c:pt>
                <c:pt idx="34">
                  <c:v>6.4414549257828663E-2</c:v>
                </c:pt>
                <c:pt idx="35">
                  <c:v>6.3895272338127945E-2</c:v>
                </c:pt>
                <c:pt idx="36">
                  <c:v>6.3378856440331546E-2</c:v>
                </c:pt>
                <c:pt idx="37">
                  <c:v>6.2865278530406313E-2</c:v>
                </c:pt>
                <c:pt idx="38">
                  <c:v>6.2354515681608241E-2</c:v>
                </c:pt>
                <c:pt idx="39">
                  <c:v>6.1846545074482701E-2</c:v>
                </c:pt>
                <c:pt idx="40">
                  <c:v>6.134134399686423E-2</c:v>
                </c:pt>
                <c:pt idx="41">
                  <c:v>6.0838889843876615E-2</c:v>
                </c:pt>
                <c:pt idx="42">
                  <c:v>6.0339160117932771E-2</c:v>
                </c:pt>
                <c:pt idx="43">
                  <c:v>5.9842132428735026E-2</c:v>
                </c:pt>
                <c:pt idx="44">
                  <c:v>5.9347784493274838E-2</c:v>
                </c:pt>
                <c:pt idx="45">
                  <c:v>5.8856094135832933E-2</c:v>
                </c:pt>
                <c:pt idx="46">
                  <c:v>5.8367039287979296E-2</c:v>
                </c:pt>
                <c:pt idx="47">
                  <c:v>5.7880597988573201E-2</c:v>
                </c:pt>
                <c:pt idx="48">
                  <c:v>5.7396748383763178E-2</c:v>
                </c:pt>
                <c:pt idx="49">
                  <c:v>5.6915468726986607E-2</c:v>
                </c:pt>
                <c:pt idx="50">
                  <c:v>5.6436737378970696E-2</c:v>
                </c:pt>
                <c:pt idx="51">
                  <c:v>5.5960532807731646E-2</c:v>
                </c:pt>
                <c:pt idx="52">
                  <c:v>5.5486833588574647E-2</c:v>
                </c:pt>
                <c:pt idx="53">
                  <c:v>5.5015618404094573E-2</c:v>
                </c:pt>
                <c:pt idx="54">
                  <c:v>5.4546866044175163E-2</c:v>
                </c:pt>
                <c:pt idx="55">
                  <c:v>5.4080555405989668E-2</c:v>
                </c:pt>
                <c:pt idx="56">
                  <c:v>5.3616665494000369E-2</c:v>
                </c:pt>
                <c:pt idx="57">
                  <c:v>5.3155175419958928E-2</c:v>
                </c:pt>
                <c:pt idx="58">
                  <c:v>5.2696064402906161E-2</c:v>
                </c:pt>
                <c:pt idx="59">
                  <c:v>5.2239311769172271E-2</c:v>
                </c:pt>
                <c:pt idx="60">
                  <c:v>5.1784896952376452E-2</c:v>
                </c:pt>
                <c:pt idx="61">
                  <c:v>5.1332799493427325E-2</c:v>
                </c:pt>
                <c:pt idx="62">
                  <c:v>5.0882999040522757E-2</c:v>
                </c:pt>
                <c:pt idx="63">
                  <c:v>5.0435475349149765E-2</c:v>
                </c:pt>
                <c:pt idx="64">
                  <c:v>4.9990208282084628E-2</c:v>
                </c:pt>
                <c:pt idx="65">
                  <c:v>4.9547177733470282E-2</c:v>
                </c:pt>
                <c:pt idx="66">
                  <c:v>4.9106363535486863E-2</c:v>
                </c:pt>
                <c:pt idx="67">
                  <c:v>4.8667746195789598E-2</c:v>
                </c:pt>
                <c:pt idx="68">
                  <c:v>4.8231306371293067E-2</c:v>
                </c:pt>
                <c:pt idx="69">
                  <c:v>4.7797024791480451E-2</c:v>
                </c:pt>
                <c:pt idx="70">
                  <c:v>4.7364882258403671E-2</c:v>
                </c:pt>
                <c:pt idx="71">
                  <c:v>4.6934859646683362E-2</c:v>
                </c:pt>
                <c:pt idx="72">
                  <c:v>4.6506937903508606E-2</c:v>
                </c:pt>
                <c:pt idx="73">
                  <c:v>4.6081098048637206E-2</c:v>
                </c:pt>
                <c:pt idx="74">
                  <c:v>4.5657321174395415E-2</c:v>
                </c:pt>
                <c:pt idx="75">
                  <c:v>4.5235588445678508E-2</c:v>
                </c:pt>
                <c:pt idx="76">
                  <c:v>4.481588109994989E-2</c:v>
                </c:pt>
                <c:pt idx="77">
                  <c:v>4.4398180447241878E-2</c:v>
                </c:pt>
                <c:pt idx="78">
                  <c:v>4.3982467870155341E-2</c:v>
                </c:pt>
                <c:pt idx="79">
                  <c:v>4.3568724823860032E-2</c:v>
                </c:pt>
                <c:pt idx="80">
                  <c:v>4.3156932836093856E-2</c:v>
                </c:pt>
                <c:pt idx="81">
                  <c:v>4.2747073507163592E-2</c:v>
                </c:pt>
                <c:pt idx="82">
                  <c:v>4.2339128509944757E-2</c:v>
                </c:pt>
                <c:pt idx="83">
                  <c:v>4.193307958988144E-2</c:v>
                </c:pt>
                <c:pt idx="84">
                  <c:v>4.152890856498604E-2</c:v>
                </c:pt>
                <c:pt idx="85">
                  <c:v>4.112659732583996E-2</c:v>
                </c:pt>
                <c:pt idx="86">
                  <c:v>4.072612783559304E-2</c:v>
                </c:pt>
                <c:pt idx="87">
                  <c:v>4.0327482129963871E-2</c:v>
                </c:pt>
                <c:pt idx="88">
                  <c:v>3.9930642317239626E-2</c:v>
                </c:pt>
                <c:pt idx="89">
                  <c:v>3.9535590578275895E-2</c:v>
                </c:pt>
                <c:pt idx="90">
                  <c:v>3.9142309166497309E-2</c:v>
                </c:pt>
                <c:pt idx="91">
                  <c:v>3.8750780407896791E-2</c:v>
                </c:pt>
                <c:pt idx="92">
                  <c:v>3.836098670103584E-2</c:v>
                </c:pt>
                <c:pt idx="93">
                  <c:v>3.7972910517044982E-2</c:v>
                </c:pt>
                <c:pt idx="94">
                  <c:v>3.7586534399623041E-2</c:v>
                </c:pt>
                <c:pt idx="95">
                  <c:v>3.7201840965037425E-2</c:v>
                </c:pt>
                <c:pt idx="96">
                  <c:v>3.6818812902124402E-2</c:v>
                </c:pt>
                <c:pt idx="97">
                  <c:v>3.6437432972288561E-2</c:v>
                </c:pt>
                <c:pt idx="98">
                  <c:v>3.6057684009503627E-2</c:v>
                </c:pt>
                <c:pt idx="99">
                  <c:v>3.567954892031136E-2</c:v>
                </c:pt>
                <c:pt idx="100">
                  <c:v>3.530301068382237E-2</c:v>
                </c:pt>
                <c:pt idx="101">
                  <c:v>3.4928052351716157E-2</c:v>
                </c:pt>
                <c:pt idx="102">
                  <c:v>3.4554657048240359E-2</c:v>
                </c:pt>
                <c:pt idx="103">
                  <c:v>3.4182807970211795E-2</c:v>
                </c:pt>
                <c:pt idx="104">
                  <c:v>3.3812488387015269E-2</c:v>
                </c:pt>
                <c:pt idx="105">
                  <c:v>3.3443681640604926E-2</c:v>
                </c:pt>
                <c:pt idx="106">
                  <c:v>3.3076371145502867E-2</c:v>
                </c:pt>
                <c:pt idx="107">
                  <c:v>3.2710540318762804E-2</c:v>
                </c:pt>
                <c:pt idx="108">
                  <c:v>3.2346172472230039E-2</c:v>
                </c:pt>
                <c:pt idx="109">
                  <c:v>3.1983251484202092E-2</c:v>
                </c:pt>
                <c:pt idx="110">
                  <c:v>3.1621761345219247E-2</c:v>
                </c:pt>
                <c:pt idx="111">
                  <c:v>3.1261686089438079E-2</c:v>
                </c:pt>
                <c:pt idx="112">
                  <c:v>3.0903009794631314E-2</c:v>
                </c:pt>
                <c:pt idx="113">
                  <c:v>3.0545716582187674E-2</c:v>
                </c:pt>
                <c:pt idx="114">
                  <c:v>3.0189790617112154E-2</c:v>
                </c:pt>
                <c:pt idx="115">
                  <c:v>2.9835216108026214E-2</c:v>
                </c:pt>
                <c:pt idx="116">
                  <c:v>2.9481977307167295E-2</c:v>
                </c:pt>
                <c:pt idx="117">
                  <c:v>2.9130058510388988E-2</c:v>
                </c:pt>
                <c:pt idx="118">
                  <c:v>2.877944405716102E-2</c:v>
                </c:pt>
                <c:pt idx="119">
                  <c:v>2.8430118330569427E-2</c:v>
                </c:pt>
                <c:pt idx="120">
                  <c:v>2.8082065757316515E-2</c:v>
                </c:pt>
                <c:pt idx="121">
                  <c:v>2.7735270807720751E-2</c:v>
                </c:pt>
                <c:pt idx="122">
                  <c:v>2.738971799571659E-2</c:v>
                </c:pt>
                <c:pt idx="123">
                  <c:v>2.7045391878854932E-2</c:v>
                </c:pt>
                <c:pt idx="124">
                  <c:v>2.6702277058302668E-2</c:v>
                </c:pt>
                <c:pt idx="125">
                  <c:v>2.6360358178843128E-2</c:v>
                </c:pt>
                <c:pt idx="126">
                  <c:v>2.6019619928875495E-2</c:v>
                </c:pt>
                <c:pt idx="127">
                  <c:v>2.5680047040415543E-2</c:v>
                </c:pt>
                <c:pt idx="128">
                  <c:v>2.5341624289094738E-2</c:v>
                </c:pt>
                <c:pt idx="129">
                  <c:v>2.5004336494161426E-2</c:v>
                </c:pt>
                <c:pt idx="130">
                  <c:v>2.4668168518479371E-2</c:v>
                </c:pt>
                <c:pt idx="131">
                  <c:v>2.4333105268529071E-2</c:v>
                </c:pt>
                <c:pt idx="132">
                  <c:v>2.3999131694407157E-2</c:v>
                </c:pt>
                <c:pt idx="133">
                  <c:v>2.3666232789826123E-2</c:v>
                </c:pt>
                <c:pt idx="134">
                  <c:v>2.3334393592115022E-2</c:v>
                </c:pt>
                <c:pt idx="135">
                  <c:v>2.300359918221909E-2</c:v>
                </c:pt>
                <c:pt idx="136">
                  <c:v>2.2673834684699381E-2</c:v>
                </c:pt>
                <c:pt idx="137">
                  <c:v>2.2345085267733409E-2</c:v>
                </c:pt>
                <c:pt idx="138">
                  <c:v>2.2017336143114977E-2</c:v>
                </c:pt>
                <c:pt idx="139">
                  <c:v>2.1690572566254007E-2</c:v>
                </c:pt>
                <c:pt idx="140">
                  <c:v>2.1364779836176299E-2</c:v>
                </c:pt>
                <c:pt idx="141">
                  <c:v>2.1039943295524523E-2</c:v>
                </c:pt>
                <c:pt idx="142">
                  <c:v>2.0716048330556767E-2</c:v>
                </c:pt>
                <c:pt idx="143">
                  <c:v>2.0393080371147832E-2</c:v>
                </c:pt>
                <c:pt idx="144">
                  <c:v>2.0071024890788526E-2</c:v>
                </c:pt>
                <c:pt idx="145">
                  <c:v>1.9749867406585814E-2</c:v>
                </c:pt>
                <c:pt idx="146">
                  <c:v>1.9429593479263093E-2</c:v>
                </c:pt>
                <c:pt idx="147">
                  <c:v>1.9110188713159726E-2</c:v>
                </c:pt>
                <c:pt idx="148">
                  <c:v>1.8791638756231275E-2</c:v>
                </c:pt>
                <c:pt idx="149">
                  <c:v>1.8473929230330068E-2</c:v>
                </c:pt>
                <c:pt idx="150">
                  <c:v>1.8157045600492694E-2</c:v>
                </c:pt>
                <c:pt idx="151">
                  <c:v>1.7840973834209461E-2</c:v>
                </c:pt>
                <c:pt idx="152">
                  <c:v>1.7525699983119071E-2</c:v>
                </c:pt>
                <c:pt idx="153">
                  <c:v>1.7211210116990491E-2</c:v>
                </c:pt>
                <c:pt idx="154">
                  <c:v>1.6897490323723015E-2</c:v>
                </c:pt>
                <c:pt idx="155">
                  <c:v>1.6584526709347191E-2</c:v>
                </c:pt>
                <c:pt idx="156">
                  <c:v>1.6272305398023941E-2</c:v>
                </c:pt>
                <c:pt idx="157">
                  <c:v>1.596081253204467E-2</c:v>
                </c:pt>
                <c:pt idx="158">
                  <c:v>1.5650034271831315E-2</c:v>
                </c:pt>
                <c:pt idx="159">
                  <c:v>1.5339956795937037E-2</c:v>
                </c:pt>
                <c:pt idx="160">
                  <c:v>1.5030566301045087E-2</c:v>
                </c:pt>
                <c:pt idx="161">
                  <c:v>1.4721849001969343E-2</c:v>
                </c:pt>
                <c:pt idx="162">
                  <c:v>1.4413791131654658E-2</c:v>
                </c:pt>
                <c:pt idx="163">
                  <c:v>1.4106378941176233E-2</c:v>
                </c:pt>
                <c:pt idx="164">
                  <c:v>1.3799598699739925E-2</c:v>
                </c:pt>
                <c:pt idx="165">
                  <c:v>1.3493436694682552E-2</c:v>
                </c:pt>
                <c:pt idx="166">
                  <c:v>1.3187879231470974E-2</c:v>
                </c:pt>
                <c:pt idx="167">
                  <c:v>1.2882912633703171E-2</c:v>
                </c:pt>
                <c:pt idx="168">
                  <c:v>1.2578523243107625E-2</c:v>
                </c:pt>
                <c:pt idx="169">
                  <c:v>1.2274697419543332E-2</c:v>
                </c:pt>
                <c:pt idx="170">
                  <c:v>1.197142154099992E-2</c:v>
                </c:pt>
                <c:pt idx="171">
                  <c:v>1.1668682003597842E-2</c:v>
                </c:pt>
                <c:pt idx="172">
                  <c:v>1.1366465221588058E-2</c:v>
                </c:pt>
                <c:pt idx="173">
                  <c:v>1.1064757627352031E-2</c:v>
                </c:pt>
                <c:pt idx="174">
                  <c:v>1.0763545671402162E-2</c:v>
                </c:pt>
                <c:pt idx="175">
                  <c:v>1.0462815822381238E-2</c:v>
                </c:pt>
                <c:pt idx="176">
                  <c:v>1.0162554567062682E-2</c:v>
                </c:pt>
                <c:pt idx="177">
                  <c:v>9.8627484103505809E-3</c:v>
                </c:pt>
                <c:pt idx="178">
                  <c:v>9.5633838752798173E-3</c:v>
                </c:pt>
                <c:pt idx="179">
                  <c:v>9.2644475030156572E-3</c:v>
                </c:pt>
                <c:pt idx="180">
                  <c:v>8.9659258528541272E-3</c:v>
                </c:pt>
                <c:pt idx="181">
                  <c:v>8.6678055022217995E-3</c:v>
                </c:pt>
                <c:pt idx="182">
                  <c:v>8.3700730466760229E-3</c:v>
                </c:pt>
                <c:pt idx="183">
                  <c:v>8.0727150999046898E-3</c:v>
                </c:pt>
                <c:pt idx="184">
                  <c:v>7.7757182937263029E-3</c:v>
                </c:pt>
                <c:pt idx="185">
                  <c:v>7.4790692780899119E-3</c:v>
                </c:pt>
                <c:pt idx="186">
                  <c:v>7.1827547210753396E-3</c:v>
                </c:pt>
                <c:pt idx="187">
                  <c:v>6.8867613088932208E-3</c:v>
                </c:pt>
                <c:pt idx="188">
                  <c:v>6.5910757458842867E-3</c:v>
                </c:pt>
                <c:pt idx="189">
                  <c:v>6.295684754520311E-3</c:v>
                </c:pt>
                <c:pt idx="190">
                  <c:v>6.0005750754036271E-3</c:v>
                </c:pt>
                <c:pt idx="191">
                  <c:v>5.7057333923243702E-3</c:v>
                </c:pt>
                <c:pt idx="192">
                  <c:v>5.4111461681833018E-3</c:v>
                </c:pt>
                <c:pt idx="193">
                  <c:v>5.1168003442765416E-3</c:v>
                </c:pt>
                <c:pt idx="194">
                  <c:v>4.8226829246409272E-3</c:v>
                </c:pt>
                <c:pt idx="195">
                  <c:v>4.5287809073999265E-3</c:v>
                </c:pt>
                <c:pt idx="196">
                  <c:v>4.2350812847626318E-3</c:v>
                </c:pt>
                <c:pt idx="197">
                  <c:v>3.9415710430246685E-3</c:v>
                </c:pt>
                <c:pt idx="198">
                  <c:v>3.6482371625680787E-3</c:v>
                </c:pt>
                <c:pt idx="199">
                  <c:v>3.3550666178605785E-3</c:v>
                </c:pt>
                <c:pt idx="200">
                  <c:v>3.0620463774563506E-3</c:v>
                </c:pt>
                <c:pt idx="201">
                  <c:v>2.7691634039956644E-3</c:v>
                </c:pt>
                <c:pt idx="202">
                  <c:v>2.4764046542053208E-3</c:v>
                </c:pt>
                <c:pt idx="203">
                  <c:v>2.1837570788977956E-3</c:v>
                </c:pt>
                <c:pt idx="204">
                  <c:v>1.8912076229722294E-3</c:v>
                </c:pt>
                <c:pt idx="205">
                  <c:v>1.5987432254136013E-3</c:v>
                </c:pt>
                <c:pt idx="206">
                  <c:v>1.3063508192931261E-3</c:v>
                </c:pt>
                <c:pt idx="207">
                  <c:v>1.0140173317685173E-3</c:v>
                </c:pt>
                <c:pt idx="208">
                  <c:v>7.2172968408326253E-4</c:v>
                </c:pt>
                <c:pt idx="209">
                  <c:v>4.2947479156739746E-4</c:v>
                </c:pt>
                <c:pt idx="210">
                  <c:v>1.3723956363689637E-4</c:v>
                </c:pt>
                <c:pt idx="211">
                  <c:v>-1.5498909620584981E-4</c:v>
                </c:pt>
                <c:pt idx="212">
                  <c:v>-4.4722429037252824E-4</c:v>
                </c:pt>
                <c:pt idx="213">
                  <c:v>-7.3947912718837639E-4</c:v>
                </c:pt>
                <c:pt idx="214">
                  <c:v>-1.0317667208927595E-3</c:v>
                </c:pt>
                <c:pt idx="215">
                  <c:v>-1.3241001916383783E-3</c:v>
                </c:pt>
                <c:pt idx="216">
                  <c:v>-1.6164926654921277E-3</c:v>
                </c:pt>
                <c:pt idx="217">
                  <c:v>-1.9089572744346668E-3</c:v>
                </c:pt>
                <c:pt idx="218">
                  <c:v>-2.201507156360354E-3</c:v>
                </c:pt>
                <c:pt idx="219">
                  <c:v>-2.4941554550772459E-3</c:v>
                </c:pt>
                <c:pt idx="220">
                  <c:v>-2.7869153203076424E-3</c:v>
                </c:pt>
                <c:pt idx="221">
                  <c:v>-3.0797999076870638E-3</c:v>
                </c:pt>
                <c:pt idx="222">
                  <c:v>-3.3728223787653235E-3</c:v>
                </c:pt>
                <c:pt idx="223">
                  <c:v>-3.6659959010057843E-3</c:v>
                </c:pt>
                <c:pt idx="224">
                  <c:v>-3.9593336477855914E-3</c:v>
                </c:pt>
                <c:pt idx="225">
                  <c:v>-4.2528487983960325E-3</c:v>
                </c:pt>
                <c:pt idx="226">
                  <c:v>-4.5465545380417652E-3</c:v>
                </c:pt>
                <c:pt idx="227">
                  <c:v>-4.8404640578417228E-3</c:v>
                </c:pt>
                <c:pt idx="228">
                  <c:v>-5.1345905548279454E-3</c:v>
                </c:pt>
                <c:pt idx="229">
                  <c:v>-5.4289472319471576E-3</c:v>
                </c:pt>
                <c:pt idx="230">
                  <c:v>-5.723547298059177E-3</c:v>
                </c:pt>
                <c:pt idx="231">
                  <c:v>-6.0184039679380928E-3</c:v>
                </c:pt>
                <c:pt idx="232">
                  <c:v>-6.3135304622715322E-3</c:v>
                </c:pt>
                <c:pt idx="233">
                  <c:v>-6.6089400937842536E-3</c:v>
                </c:pt>
                <c:pt idx="234">
                  <c:v>-6.9046464777209144E-3</c:v>
                </c:pt>
                <c:pt idx="235">
                  <c:v>-7.2006627369644591E-3</c:v>
                </c:pt>
                <c:pt idx="236">
                  <c:v>-7.4970019480767418E-3</c:v>
                </c:pt>
                <c:pt idx="237">
                  <c:v>-7.7936772180477966E-3</c:v>
                </c:pt>
                <c:pt idx="238">
                  <c:v>-8.0907016842959728E-3</c:v>
                </c:pt>
                <c:pt idx="239">
                  <c:v>-8.3880885146679837E-3</c:v>
                </c:pt>
                <c:pt idx="240">
                  <c:v>-8.6858509074387875E-3</c:v>
                </c:pt>
                <c:pt idx="241">
                  <c:v>-8.9840020913116297E-3</c:v>
                </c:pt>
                <c:pt idx="242">
                  <c:v>-9.2825553254182597E-3</c:v>
                </c:pt>
                <c:pt idx="243">
                  <c:v>-9.5815238993185309E-3</c:v>
                </c:pt>
                <c:pt idx="244">
                  <c:v>-9.8809211330007276E-3</c:v>
                </c:pt>
                <c:pt idx="245">
                  <c:v>-1.0180760376881329E-2</c:v>
                </c:pt>
                <c:pt idx="246">
                  <c:v>-1.0481055011805542E-2</c:v>
                </c:pt>
                <c:pt idx="247">
                  <c:v>-1.0781818449046245E-2</c:v>
                </c:pt>
                <c:pt idx="248">
                  <c:v>-1.1083064130305124E-2</c:v>
                </c:pt>
                <c:pt idx="249">
                  <c:v>-1.1384805527712113E-2</c:v>
                </c:pt>
                <c:pt idx="250">
                  <c:v>-1.1687056143825279E-2</c:v>
                </c:pt>
                <c:pt idx="251">
                  <c:v>-1.1989829511631203E-2</c:v>
                </c:pt>
                <c:pt idx="252">
                  <c:v>-1.2293139194544594E-2</c:v>
                </c:pt>
                <c:pt idx="253">
                  <c:v>-1.2596998786408659E-2</c:v>
                </c:pt>
                <c:pt idx="254">
                  <c:v>-1.29014219114949E-2</c:v>
                </c:pt>
                <c:pt idx="255">
                  <c:v>-1.320642222450291E-2</c:v>
                </c:pt>
                <c:pt idx="256">
                  <c:v>-1.3512013410561113E-2</c:v>
                </c:pt>
                <c:pt idx="257">
                  <c:v>-1.3818209185225576E-2</c:v>
                </c:pt>
                <c:pt idx="258">
                  <c:v>-1.4125023294481094E-2</c:v>
                </c:pt>
                <c:pt idx="259">
                  <c:v>-1.4432469514740988E-2</c:v>
                </c:pt>
                <c:pt idx="260">
                  <c:v>-1.4740561652846216E-2</c:v>
                </c:pt>
                <c:pt idx="261">
                  <c:v>-1.5049313546066759E-2</c:v>
                </c:pt>
                <c:pt idx="262">
                  <c:v>-1.5358739062100684E-2</c:v>
                </c:pt>
                <c:pt idx="263">
                  <c:v>-1.5668852099074006E-2</c:v>
                </c:pt>
                <c:pt idx="264">
                  <c:v>-1.597966658554157E-2</c:v>
                </c:pt>
                <c:pt idx="265">
                  <c:v>-1.6291196480486363E-2</c:v>
                </c:pt>
                <c:pt idx="266">
                  <c:v>-1.6603455773319575E-2</c:v>
                </c:pt>
                <c:pt idx="267">
                  <c:v>-1.6916458483880972E-2</c:v>
                </c:pt>
                <c:pt idx="268">
                  <c:v>-1.7230218662438238E-2</c:v>
                </c:pt>
                <c:pt idx="269">
                  <c:v>-1.7544750389687655E-2</c:v>
                </c:pt>
                <c:pt idx="270">
                  <c:v>-1.7860067776753998E-2</c:v>
                </c:pt>
                <c:pt idx="271">
                  <c:v>-1.817618496518986E-2</c:v>
                </c:pt>
                <c:pt idx="272">
                  <c:v>-1.8493116126976693E-2</c:v>
                </c:pt>
                <c:pt idx="273">
                  <c:v>-1.8810875464523882E-2</c:v>
                </c:pt>
                <c:pt idx="274">
                  <c:v>-1.912947721066921E-2</c:v>
                </c:pt>
                <c:pt idx="275">
                  <c:v>-1.9448935732828476E-2</c:v>
                </c:pt>
                <c:pt idx="276">
                  <c:v>-1.9769265806613014E-2</c:v>
                </c:pt>
                <c:pt idx="277">
                  <c:v>-2.009048166217146E-2</c:v>
                </c:pt>
                <c:pt idx="278">
                  <c:v>-2.0412597496068524E-2</c:v>
                </c:pt>
                <c:pt idx="279">
                  <c:v>-2.0735627562229967E-2</c:v>
                </c:pt>
                <c:pt idx="280">
                  <c:v>-2.1059586171943614E-2</c:v>
                </c:pt>
                <c:pt idx="281">
                  <c:v>-2.138448769385819E-2</c:v>
                </c:pt>
                <c:pt idx="282">
                  <c:v>-2.17103465539841E-2</c:v>
                </c:pt>
                <c:pt idx="283">
                  <c:v>-2.2037177235693487E-2</c:v>
                </c:pt>
                <c:pt idx="284">
                  <c:v>-2.236499427971959E-2</c:v>
                </c:pt>
                <c:pt idx="285">
                  <c:v>-2.2693812284157081E-2</c:v>
                </c:pt>
                <c:pt idx="286">
                  <c:v>-2.3023645904462344E-2</c:v>
                </c:pt>
                <c:pt idx="287">
                  <c:v>-2.3354509853453203E-2</c:v>
                </c:pt>
                <c:pt idx="288">
                  <c:v>-2.368641890130873E-2</c:v>
                </c:pt>
                <c:pt idx="289">
                  <c:v>-2.4019387875569721E-2</c:v>
                </c:pt>
                <c:pt idx="290">
                  <c:v>-2.4353431661138365E-2</c:v>
                </c:pt>
                <c:pt idx="291">
                  <c:v>-2.4688565200278016E-2</c:v>
                </c:pt>
                <c:pt idx="292">
                  <c:v>-2.5024803492613865E-2</c:v>
                </c:pt>
                <c:pt idx="293">
                  <c:v>-2.5362161595132535E-2</c:v>
                </c:pt>
                <c:pt idx="294">
                  <c:v>-2.5700654622181889E-2</c:v>
                </c:pt>
                <c:pt idx="295">
                  <c:v>-2.6040297745471574E-2</c:v>
                </c:pt>
                <c:pt idx="296">
                  <c:v>-2.6381106194072291E-2</c:v>
                </c:pt>
                <c:pt idx="297">
                  <c:v>-2.6723095254416462E-2</c:v>
                </c:pt>
                <c:pt idx="298">
                  <c:v>-2.7066280270297994E-2</c:v>
                </c:pt>
                <c:pt idx="299">
                  <c:v>-2.7410676642872122E-2</c:v>
                </c:pt>
                <c:pt idx="300">
                  <c:v>-2.7756299830655713E-2</c:v>
                </c:pt>
                <c:pt idx="301">
                  <c:v>-2.8103165349526889E-2</c:v>
                </c:pt>
                <c:pt idx="302">
                  <c:v>-2.8451288772725479E-2</c:v>
                </c:pt>
                <c:pt idx="303">
                  <c:v>-2.8800685730852576E-2</c:v>
                </c:pt>
                <c:pt idx="304">
                  <c:v>-2.9151371911870866E-2</c:v>
                </c:pt>
                <c:pt idx="305">
                  <c:v>-2.9503363061104279E-2</c:v>
                </c:pt>
                <c:pt idx="306">
                  <c:v>-2.9856674981238618E-2</c:v>
                </c:pt>
                <c:pt idx="307">
                  <c:v>-3.0211323532320689E-2</c:v>
                </c:pt>
                <c:pt idx="308">
                  <c:v>-3.0567324631758951E-2</c:v>
                </c:pt>
                <c:pt idx="309">
                  <c:v>-3.0924694254323485E-2</c:v>
                </c:pt>
                <c:pt idx="310">
                  <c:v>-3.1283448432145783E-2</c:v>
                </c:pt>
                <c:pt idx="311">
                  <c:v>-3.1643603254718572E-2</c:v>
                </c:pt>
                <c:pt idx="312">
                  <c:v>-3.2005174868896202E-2</c:v>
                </c:pt>
                <c:pt idx="313">
                  <c:v>-3.2368179478894386E-2</c:v>
                </c:pt>
                <c:pt idx="314">
                  <c:v>-3.2732633346290584E-2</c:v>
                </c:pt>
                <c:pt idx="315">
                  <c:v>-3.3098552790023231E-2</c:v>
                </c:pt>
                <c:pt idx="316">
                  <c:v>-3.3465954186392914E-2</c:v>
                </c:pt>
                <c:pt idx="317">
                  <c:v>-3.3834854099515081E-2</c:v>
                </c:pt>
                <c:pt idx="318">
                  <c:v>-3.4205269639823566E-2</c:v>
                </c:pt>
                <c:pt idx="319">
                  <c:v>-3.4577217275830845E-2</c:v>
                </c:pt>
                <c:pt idx="320">
                  <c:v>-3.4950713452533408E-2</c:v>
                </c:pt>
                <c:pt idx="321">
                  <c:v>-3.5325774703781593E-2</c:v>
                </c:pt>
                <c:pt idx="322">
                  <c:v>-3.5702417652280431E-2</c:v>
                </c:pt>
                <c:pt idx="323">
                  <c:v>-3.6080659009588026E-2</c:v>
                </c:pt>
                <c:pt idx="324">
                  <c:v>-3.6460515576117354E-2</c:v>
                </c:pt>
                <c:pt idx="325">
                  <c:v>-3.6842004241135221E-2</c:v>
                </c:pt>
                <c:pt idx="326">
                  <c:v>-3.7225141982762222E-2</c:v>
                </c:pt>
                <c:pt idx="327">
                  <c:v>-3.7609945867973366E-2</c:v>
                </c:pt>
                <c:pt idx="328">
                  <c:v>-3.7996433052597395E-2</c:v>
                </c:pt>
                <c:pt idx="329">
                  <c:v>-3.8384620781317373E-2</c:v>
                </c:pt>
                <c:pt idx="330">
                  <c:v>-3.8774526387670261E-2</c:v>
                </c:pt>
                <c:pt idx="331">
                  <c:v>-3.9166167294047233E-2</c:v>
                </c:pt>
                <c:pt idx="332">
                  <c:v>-3.9559561011693153E-2</c:v>
                </c:pt>
                <c:pt idx="333">
                  <c:v>-3.9954725140707151E-2</c:v>
                </c:pt>
                <c:pt idx="334">
                  <c:v>-4.035167737004277E-2</c:v>
                </c:pt>
                <c:pt idx="335">
                  <c:v>-4.0750435477507091E-2</c:v>
                </c:pt>
                <c:pt idx="336">
                  <c:v>-4.1151017329761279E-2</c:v>
                </c:pt>
                <c:pt idx="337">
                  <c:v>-4.1553440882320929E-2</c:v>
                </c:pt>
                <c:pt idx="338">
                  <c:v>-4.1957724179555331E-2</c:v>
                </c:pt>
                <c:pt idx="339">
                  <c:v>-4.2363885354687839E-2</c:v>
                </c:pt>
                <c:pt idx="340">
                  <c:v>-4.2771942629796257E-2</c:v>
                </c:pt>
                <c:pt idx="341">
                  <c:v>-4.3181914315811913E-2</c:v>
                </c:pt>
                <c:pt idx="342">
                  <c:v>-4.3593818812520682E-2</c:v>
                </c:pt>
                <c:pt idx="343">
                  <c:v>-4.4007674608561816E-2</c:v>
                </c:pt>
                <c:pt idx="344">
                  <c:v>-4.442350028142944E-2</c:v>
                </c:pt>
                <c:pt idx="345">
                  <c:v>-4.4841314497471182E-2</c:v>
                </c:pt>
                <c:pt idx="346">
                  <c:v>-4.5261136011888942E-2</c:v>
                </c:pt>
                <c:pt idx="347">
                  <c:v>-4.5682983668738297E-2</c:v>
                </c:pt>
                <c:pt idx="348">
                  <c:v>-4.6106876400929676E-2</c:v>
                </c:pt>
                <c:pt idx="349">
                  <c:v>-4.653283323022659E-2</c:v>
                </c:pt>
                <c:pt idx="350">
                  <c:v>-4.6960873267247419E-2</c:v>
                </c:pt>
                <c:pt idx="351">
                  <c:v>-4.7391015711464028E-2</c:v>
                </c:pt>
                <c:pt idx="352">
                  <c:v>-4.7823279851202743E-2</c:v>
                </c:pt>
                <c:pt idx="353">
                  <c:v>-4.8257685063643523E-2</c:v>
                </c:pt>
                <c:pt idx="354">
                  <c:v>-4.8694250814820768E-2</c:v>
                </c:pt>
                <c:pt idx="355">
                  <c:v>-4.9132996659622827E-2</c:v>
                </c:pt>
                <c:pt idx="356">
                  <c:v>-4.9573942241791895E-2</c:v>
                </c:pt>
                <c:pt idx="357">
                  <c:v>-5.0017107293924529E-2</c:v>
                </c:pt>
                <c:pt idx="358">
                  <c:v>-5.0462511637470994E-2</c:v>
                </c:pt>
                <c:pt idx="359">
                  <c:v>-5.091017534986373E-2</c:v>
                </c:pt>
                <c:pt idx="360">
                  <c:v>-5.1360119236400416E-2</c:v>
                </c:pt>
                <c:pt idx="361">
                  <c:v>-5.1812363312974771E-2</c:v>
                </c:pt>
                <c:pt idx="362">
                  <c:v>-5.2266927580163221E-2</c:v>
                </c:pt>
                <c:pt idx="363">
                  <c:v>-5.2723832165952125E-2</c:v>
                </c:pt>
                <c:pt idx="364">
                  <c:v>-5.3183097325736735E-2</c:v>
                </c:pt>
                <c:pt idx="365">
                  <c:v>-5.3644743442321612E-2</c:v>
                </c:pt>
                <c:pt idx="366">
                  <c:v>-5.4108791025920644E-2</c:v>
                </c:pt>
                <c:pt idx="367">
                  <c:v>-5.4575260714157213E-2</c:v>
                </c:pt>
                <c:pt idx="368">
                  <c:v>-5.5044173272063859E-2</c:v>
                </c:pt>
                <c:pt idx="369">
                  <c:v>-5.551554959208245E-2</c:v>
                </c:pt>
                <c:pt idx="370">
                  <c:v>-5.5989410694064046E-2</c:v>
                </c:pt>
                <c:pt idx="371">
                  <c:v>-5.6465777725269291E-2</c:v>
                </c:pt>
                <c:pt idx="372">
                  <c:v>-5.6944671960367892E-2</c:v>
                </c:pt>
                <c:pt idx="373">
                  <c:v>-5.7426114801438874E-2</c:v>
                </c:pt>
                <c:pt idx="374">
                  <c:v>-5.7910127777970749E-2</c:v>
                </c:pt>
                <c:pt idx="375">
                  <c:v>-5.8396732546861022E-2</c:v>
                </c:pt>
                <c:pt idx="376">
                  <c:v>-5.8885950892417001E-2</c:v>
                </c:pt>
                <c:pt idx="377">
                  <c:v>-5.9377804726354726E-2</c:v>
                </c:pt>
                <c:pt idx="378">
                  <c:v>-5.9872316087799957E-2</c:v>
                </c:pt>
                <c:pt idx="379">
                  <c:v>-6.0369507143287718E-2</c:v>
                </c:pt>
                <c:pt idx="380">
                  <c:v>-6.0869400186761985E-2</c:v>
                </c:pt>
                <c:pt idx="381">
                  <c:v>-6.1372017639576962E-2</c:v>
                </c:pt>
                <c:pt idx="382">
                  <c:v>-6.1877382050494319E-2</c:v>
                </c:pt>
                <c:pt idx="383">
                  <c:v>-6.2385516095686024E-2</c:v>
                </c:pt>
                <c:pt idx="384">
                  <c:v>-6.2896442578736556E-2</c:v>
                </c:pt>
                <c:pt idx="385">
                  <c:v>-6.341018443063326E-2</c:v>
                </c:pt>
                <c:pt idx="386">
                  <c:v>-6.3926764709776374E-2</c:v>
                </c:pt>
                <c:pt idx="387">
                  <c:v>-6.4446206601977626E-2</c:v>
                </c:pt>
                <c:pt idx="388">
                  <c:v>-6.4968533420454458E-2</c:v>
                </c:pt>
                <c:pt idx="389">
                  <c:v>-6.5493768605834404E-2</c:v>
                </c:pt>
                <c:pt idx="390">
                  <c:v>-6.6021935726155015E-2</c:v>
                </c:pt>
                <c:pt idx="391">
                  <c:v>-6.655305847686388E-2</c:v>
                </c:pt>
                <c:pt idx="392">
                  <c:v>-6.708716068081573E-2</c:v>
                </c:pt>
                <c:pt idx="393">
                  <c:v>-6.762426628827535E-2</c:v>
                </c:pt>
                <c:pt idx="394">
                  <c:v>-6.8164399376919121E-2</c:v>
                </c:pt>
                <c:pt idx="395">
                  <c:v>-6.8707584151828968E-2</c:v>
                </c:pt>
                <c:pt idx="396">
                  <c:v>-6.9253844945499868E-2</c:v>
                </c:pt>
                <c:pt idx="397">
                  <c:v>-6.9803206217832467E-2</c:v>
                </c:pt>
                <c:pt idx="398">
                  <c:v>-7.035569255613891E-2</c:v>
                </c:pt>
                <c:pt idx="399">
                  <c:v>-7.0911328675141425E-2</c:v>
                </c:pt>
                <c:pt idx="400">
                  <c:v>-7.1470139416967865E-2</c:v>
                </c:pt>
                <c:pt idx="401">
                  <c:v>-7.203214974886811E-2</c:v>
                </c:pt>
                <c:pt idx="402">
                  <c:v>-7.2597384753396013E-2</c:v>
                </c:pt>
                <c:pt idx="403">
                  <c:v>-7.3165869664747848E-2</c:v>
                </c:pt>
                <c:pt idx="404">
                  <c:v>-7.3737629877099906E-2</c:v>
                </c:pt>
                <c:pt idx="405">
                  <c:v>-7.4312690943560009E-2</c:v>
                </c:pt>
                <c:pt idx="406">
                  <c:v>-7.4891078576170528E-2</c:v>
                </c:pt>
                <c:pt idx="407">
                  <c:v>-7.5472818645903911E-2</c:v>
                </c:pt>
                <c:pt idx="408">
                  <c:v>-7.6057937182670121E-2</c:v>
                </c:pt>
                <c:pt idx="409">
                  <c:v>-7.6646460375309186E-2</c:v>
                </c:pt>
                <c:pt idx="410">
                  <c:v>-7.7238414571595609E-2</c:v>
                </c:pt>
                <c:pt idx="411">
                  <c:v>-7.7833826278234153E-2</c:v>
                </c:pt>
                <c:pt idx="412">
                  <c:v>-7.84327221608669E-2</c:v>
                </c:pt>
                <c:pt idx="413">
                  <c:v>-7.9035129044066108E-2</c:v>
                </c:pt>
                <c:pt idx="414">
                  <c:v>-7.9641073911338511E-2</c:v>
                </c:pt>
                <c:pt idx="415">
                  <c:v>-8.0250583905122477E-2</c:v>
                </c:pt>
                <c:pt idx="416">
                  <c:v>-8.0863686326790807E-2</c:v>
                </c:pt>
                <c:pt idx="417">
                  <c:v>-8.1480408636648016E-2</c:v>
                </c:pt>
                <c:pt idx="418">
                  <c:v>-8.2100778453934459E-2</c:v>
                </c:pt>
                <c:pt idx="419">
                  <c:v>-8.272482355681926E-2</c:v>
                </c:pt>
                <c:pt idx="420">
                  <c:v>-8.3352571882407481E-2</c:v>
                </c:pt>
              </c:numCache>
            </c:numRef>
          </c:yVal>
          <c:smooth val="1"/>
          <c:extLst>
            <c:ext xmlns:c16="http://schemas.microsoft.com/office/drawing/2014/chart" uri="{C3380CC4-5D6E-409C-BE32-E72D297353CC}">
              <c16:uniqueId val="{00000002-42FA-450B-9A79-FC60C107827F}"/>
            </c:ext>
          </c:extLst>
        </c:ser>
        <c:dLbls>
          <c:showLegendKey val="0"/>
          <c:showVal val="0"/>
          <c:showCatName val="0"/>
          <c:showSerName val="0"/>
          <c:showPercent val="0"/>
          <c:showBubbleSize val="0"/>
        </c:dLbls>
        <c:axId val="1911900847"/>
        <c:axId val="341291744"/>
      </c:scatterChart>
      <c:valAx>
        <c:axId val="1911900847"/>
        <c:scaling>
          <c:orientation val="minMax"/>
          <c:max val="1"/>
        </c:scaling>
        <c:delete val="0"/>
        <c:axPos val="b"/>
        <c:title>
          <c:tx>
            <c:rich>
              <a:bodyPr rot="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r>
                  <a:rPr lang="en-US"/>
                  <a:t>Fractional Axial Distance from Fiber Entry</a:t>
                </a:r>
              </a:p>
            </c:rich>
          </c:tx>
          <c:overlay val="0"/>
          <c:spPr>
            <a:noFill/>
            <a:ln>
              <a:noFill/>
            </a:ln>
            <a:effectLst/>
          </c:spPr>
          <c:txPr>
            <a:bodyPr rot="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endParaRPr lang="en-US"/>
          </a:p>
        </c:txPr>
        <c:crossAx val="341291744"/>
        <c:crosses val="autoZero"/>
        <c:crossBetween val="midCat"/>
      </c:valAx>
      <c:valAx>
        <c:axId val="341291744"/>
        <c:scaling>
          <c:orientation val="minMax"/>
        </c:scaling>
        <c:delete val="0"/>
        <c:axPos val="l"/>
        <c:title>
          <c:tx>
            <c:rich>
              <a:bodyPr rot="-540000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r>
                  <a:rPr lang="en-US" dirty="0" err="1"/>
                  <a:t>P</a:t>
                </a:r>
                <a:r>
                  <a:rPr lang="en-US" baseline="-25000" dirty="0" err="1"/>
                  <a:t>lumen</a:t>
                </a:r>
                <a:r>
                  <a:rPr lang="en-US" dirty="0"/>
                  <a:t>(z) - </a:t>
                </a:r>
                <a:r>
                  <a:rPr lang="en-US" dirty="0" err="1"/>
                  <a:t>P</a:t>
                </a:r>
                <a:r>
                  <a:rPr lang="en-US" baseline="-25000" dirty="0" err="1"/>
                  <a:t>permeate</a:t>
                </a:r>
                <a:r>
                  <a:rPr lang="en-US" dirty="0"/>
                  <a:t> (psi)</a:t>
                </a:r>
              </a:p>
            </c:rich>
          </c:tx>
          <c:layout>
            <c:manualLayout>
              <c:xMode val="edge"/>
              <c:yMode val="edge"/>
              <c:x val="7.4372358780847693E-3"/>
              <c:y val="0.14161794897232427"/>
            </c:manualLayout>
          </c:layout>
          <c:overlay val="0"/>
          <c:spPr>
            <a:noFill/>
            <a:ln>
              <a:noFill/>
            </a:ln>
            <a:effectLst/>
          </c:spPr>
          <c:txPr>
            <a:bodyPr rot="-540000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endParaRPr lang="en-US"/>
          </a:p>
        </c:txPr>
        <c:crossAx val="1911900847"/>
        <c:crosses val="autoZero"/>
        <c:crossBetween val="midCat"/>
      </c:valAx>
      <c:spPr>
        <a:noFill/>
        <a:ln>
          <a:noFill/>
        </a:ln>
        <a:effectLst/>
      </c:spPr>
    </c:plotArea>
    <c:legend>
      <c:legendPos val="b"/>
      <c:layout>
        <c:manualLayout>
          <c:xMode val="edge"/>
          <c:yMode val="edge"/>
          <c:x val="9.5141571981804729E-2"/>
          <c:y val="0.83773246695633907"/>
          <c:w val="0.80723777741036218"/>
          <c:h val="0.1455027086781287"/>
        </c:manualLayout>
      </c:layout>
      <c:overlay val="0"/>
      <c:spPr>
        <a:noFill/>
        <a:ln>
          <a:noFill/>
        </a:ln>
        <a:effectLst/>
      </c:spPr>
      <c:txPr>
        <a:bodyPr rot="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800">
          <a:solidFill>
            <a:sysClr val="windowText" lastClr="00000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3L Scale</c:v>
          </c:tx>
          <c:spPr>
            <a:ln w="25400" cap="rnd">
              <a:noFill/>
              <a:round/>
            </a:ln>
            <a:effectLst/>
          </c:spPr>
          <c:marker>
            <c:symbol val="circle"/>
            <c:size val="15"/>
            <c:spPr>
              <a:solidFill>
                <a:schemeClr val="accent4">
                  <a:lumMod val="40000"/>
                  <a:lumOff val="60000"/>
                </a:schemeClr>
              </a:solidFill>
              <a:ln w="9525">
                <a:solidFill>
                  <a:schemeClr val="tx1">
                    <a:lumMod val="50000"/>
                  </a:schemeClr>
                </a:solidFill>
              </a:ln>
              <a:effectLst/>
            </c:spPr>
          </c:marker>
          <c:xVal>
            <c:numRef>
              <c:f>'[LengthoverRadius against Effective Capacity.xlsx]Graph - AD'!$Q$2:$Q$33</c:f>
              <c:numCache>
                <c:formatCode>General</c:formatCode>
                <c:ptCount val="32"/>
                <c:pt idx="0">
                  <c:v>1.7651933234224111</c:v>
                </c:pt>
                <c:pt idx="1">
                  <c:v>1.7651933234224111</c:v>
                </c:pt>
                <c:pt idx="2">
                  <c:v>0.11486666081018042</c:v>
                </c:pt>
                <c:pt idx="3">
                  <c:v>0.11486666081018042</c:v>
                </c:pt>
                <c:pt idx="4">
                  <c:v>3.4140138115317926</c:v>
                </c:pt>
                <c:pt idx="5">
                  <c:v>3.4140138115317926</c:v>
                </c:pt>
                <c:pt idx="6">
                  <c:v>1.1797447875557492</c:v>
                </c:pt>
                <c:pt idx="7">
                  <c:v>1.1797447875557492</c:v>
                </c:pt>
                <c:pt idx="8">
                  <c:v>0.54350516427788653</c:v>
                </c:pt>
                <c:pt idx="9">
                  <c:v>0.54350516427788653</c:v>
                </c:pt>
                <c:pt idx="10">
                  <c:v>0.11486666081018042</c:v>
                </c:pt>
                <c:pt idx="11">
                  <c:v>0.11486666081018042</c:v>
                </c:pt>
                <c:pt idx="12">
                  <c:v>3.4661030241680058</c:v>
                </c:pt>
                <c:pt idx="13">
                  <c:v>3.4661030241680058</c:v>
                </c:pt>
                <c:pt idx="14">
                  <c:v>3.4140138115317926</c:v>
                </c:pt>
                <c:pt idx="15">
                  <c:v>3.4140138115317926</c:v>
                </c:pt>
                <c:pt idx="20">
                  <c:v>2.9986198985394021</c:v>
                </c:pt>
                <c:pt idx="21">
                  <c:v>2.9986198985394021</c:v>
                </c:pt>
                <c:pt idx="22">
                  <c:v>9.4614362135441237</c:v>
                </c:pt>
                <c:pt idx="23">
                  <c:v>9.4614362135441237</c:v>
                </c:pt>
                <c:pt idx="24">
                  <c:v>21.182319881068931</c:v>
                </c:pt>
                <c:pt idx="25">
                  <c:v>21.182319881068931</c:v>
                </c:pt>
                <c:pt idx="26">
                  <c:v>21.182319881068931</c:v>
                </c:pt>
                <c:pt idx="27">
                  <c:v>4.7307181067720618</c:v>
                </c:pt>
                <c:pt idx="28">
                  <c:v>4.7307181067720618</c:v>
                </c:pt>
                <c:pt idx="29">
                  <c:v>4.7307181067720618</c:v>
                </c:pt>
                <c:pt idx="30">
                  <c:v>4.7307181067720618</c:v>
                </c:pt>
                <c:pt idx="31">
                  <c:v>4.7307181067720618</c:v>
                </c:pt>
              </c:numCache>
            </c:numRef>
          </c:xVal>
          <c:yVal>
            <c:numRef>
              <c:f>'[LengthoverRadius against Effective Capacity.xlsx]Graph - AD'!$G$2:$G$33</c:f>
              <c:numCache>
                <c:formatCode>General</c:formatCode>
                <c:ptCount val="32"/>
                <c:pt idx="0">
                  <c:v>657.92919149302202</c:v>
                </c:pt>
                <c:pt idx="1">
                  <c:v>707.37213813243341</c:v>
                </c:pt>
                <c:pt idx="2">
                  <c:v>1045.747179090127</c:v>
                </c:pt>
                <c:pt idx="3">
                  <c:v>879.97074846821988</c:v>
                </c:pt>
                <c:pt idx="4">
                  <c:v>713.2595472008793</c:v>
                </c:pt>
                <c:pt idx="5">
                  <c:v>691.30549424836022</c:v>
                </c:pt>
                <c:pt idx="6">
                  <c:v>840.80653407270665</c:v>
                </c:pt>
                <c:pt idx="7">
                  <c:v>827.6002041241087</c:v>
                </c:pt>
                <c:pt idx="8">
                  <c:v>1061.8208749805503</c:v>
                </c:pt>
                <c:pt idx="9">
                  <c:v>1085.8013882953928</c:v>
                </c:pt>
                <c:pt idx="10">
                  <c:v>927.22309315062512</c:v>
                </c:pt>
                <c:pt idx="11">
                  <c:v>1015.0797737150671</c:v>
                </c:pt>
                <c:pt idx="12">
                  <c:v>837.12721635455603</c:v>
                </c:pt>
                <c:pt idx="13">
                  <c:v>830.87606709765237</c:v>
                </c:pt>
                <c:pt idx="14">
                  <c:v>832.80802716978133</c:v>
                </c:pt>
                <c:pt idx="15">
                  <c:v>767.01415744769076</c:v>
                </c:pt>
                <c:pt idx="16">
                  <c:v>0</c:v>
                </c:pt>
                <c:pt idx="17">
                  <c:v>0</c:v>
                </c:pt>
                <c:pt idx="18">
                  <c:v>0</c:v>
                </c:pt>
                <c:pt idx="19">
                  <c:v>0</c:v>
                </c:pt>
                <c:pt idx="22">
                  <c:v>212.22506668840961</c:v>
                </c:pt>
                <c:pt idx="23">
                  <c:v>219.43556767437363</c:v>
                </c:pt>
                <c:pt idx="24">
                  <c:v>136.08858102325172</c:v>
                </c:pt>
                <c:pt idx="25">
                  <c:v>148.11848933876001</c:v>
                </c:pt>
                <c:pt idx="26">
                  <c:v>137.31532811536425</c:v>
                </c:pt>
                <c:pt idx="27">
                  <c:v>351.89623603337952</c:v>
                </c:pt>
                <c:pt idx="28">
                  <c:v>612.19450801826065</c:v>
                </c:pt>
                <c:pt idx="29">
                  <c:v>456.66920318583914</c:v>
                </c:pt>
                <c:pt idx="30">
                  <c:v>443.71697818922473</c:v>
                </c:pt>
                <c:pt idx="31">
                  <c:v>480.92331010668249</c:v>
                </c:pt>
              </c:numCache>
            </c:numRef>
          </c:yVal>
          <c:smooth val="0"/>
          <c:extLst>
            <c:ext xmlns:c16="http://schemas.microsoft.com/office/drawing/2014/chart" uri="{C3380CC4-5D6E-409C-BE32-E72D297353CC}">
              <c16:uniqueId val="{00000000-0CD0-436A-BDEC-D72899D36F72}"/>
            </c:ext>
          </c:extLst>
        </c:ser>
        <c:ser>
          <c:idx val="1"/>
          <c:order val="1"/>
          <c:tx>
            <c:v>50L Scale</c:v>
          </c:tx>
          <c:spPr>
            <a:ln w="25400" cap="rnd">
              <a:noFill/>
              <a:round/>
            </a:ln>
            <a:effectLst/>
          </c:spPr>
          <c:marker>
            <c:symbol val="triangle"/>
            <c:size val="15"/>
            <c:spPr>
              <a:solidFill>
                <a:schemeClr val="accent1">
                  <a:lumMod val="40000"/>
                  <a:lumOff val="60000"/>
                </a:schemeClr>
              </a:solidFill>
              <a:ln w="9525">
                <a:solidFill>
                  <a:schemeClr val="tx1">
                    <a:lumMod val="50000"/>
                  </a:schemeClr>
                </a:solidFill>
              </a:ln>
              <a:effectLst/>
            </c:spPr>
          </c:marker>
          <c:dPt>
            <c:idx val="0"/>
            <c:marker>
              <c:symbol val="triangle"/>
              <c:size val="15"/>
              <c:spPr>
                <a:solidFill>
                  <a:schemeClr val="accent1">
                    <a:lumMod val="40000"/>
                    <a:lumOff val="60000"/>
                  </a:schemeClr>
                </a:solidFill>
                <a:ln w="9525">
                  <a:solidFill>
                    <a:schemeClr val="tx1">
                      <a:lumMod val="50000"/>
                    </a:schemeClr>
                  </a:solidFill>
                </a:ln>
                <a:effectLst/>
              </c:spPr>
            </c:marker>
            <c:bubble3D val="0"/>
            <c:extLst>
              <c:ext xmlns:c16="http://schemas.microsoft.com/office/drawing/2014/chart" uri="{C3380CC4-5D6E-409C-BE32-E72D297353CC}">
                <c16:uniqueId val="{00000001-0CD0-436A-BDEC-D72899D36F72}"/>
              </c:ext>
            </c:extLst>
          </c:dPt>
          <c:xVal>
            <c:numRef>
              <c:f>'[LengthoverRadius against Effective Capacity.xlsx]Graph - AD'!$Q$34</c:f>
              <c:numCache>
                <c:formatCode>General</c:formatCode>
                <c:ptCount val="1"/>
                <c:pt idx="0">
                  <c:v>19.486565865332324</c:v>
                </c:pt>
              </c:numCache>
            </c:numRef>
          </c:xVal>
          <c:yVal>
            <c:numRef>
              <c:f>'[LengthoverRadius against Effective Capacity.xlsx]Graph - AD'!$G$34</c:f>
              <c:numCache>
                <c:formatCode>General</c:formatCode>
                <c:ptCount val="1"/>
                <c:pt idx="0">
                  <c:v>143.8192941176471</c:v>
                </c:pt>
              </c:numCache>
            </c:numRef>
          </c:yVal>
          <c:smooth val="0"/>
          <c:extLst>
            <c:ext xmlns:c16="http://schemas.microsoft.com/office/drawing/2014/chart" uri="{C3380CC4-5D6E-409C-BE32-E72D297353CC}">
              <c16:uniqueId val="{00000002-0CD0-436A-BDEC-D72899D36F72}"/>
            </c:ext>
          </c:extLst>
        </c:ser>
        <c:ser>
          <c:idx val="2"/>
          <c:order val="2"/>
          <c:tx>
            <c:v>220L Scale</c:v>
          </c:tx>
          <c:spPr>
            <a:ln w="25400" cap="rnd">
              <a:noFill/>
              <a:round/>
            </a:ln>
            <a:effectLst/>
          </c:spPr>
          <c:marker>
            <c:symbol val="square"/>
            <c:size val="15"/>
            <c:spPr>
              <a:solidFill>
                <a:schemeClr val="accent2">
                  <a:lumMod val="40000"/>
                  <a:lumOff val="60000"/>
                </a:schemeClr>
              </a:solidFill>
              <a:ln w="9525">
                <a:solidFill>
                  <a:schemeClr val="tx1">
                    <a:lumMod val="50000"/>
                  </a:schemeClr>
                </a:solidFill>
              </a:ln>
              <a:effectLst/>
            </c:spPr>
          </c:marker>
          <c:dPt>
            <c:idx val="0"/>
            <c:marker>
              <c:symbol val="square"/>
              <c:size val="15"/>
              <c:spPr>
                <a:solidFill>
                  <a:schemeClr val="accent2">
                    <a:lumMod val="40000"/>
                    <a:lumOff val="60000"/>
                  </a:schemeClr>
                </a:solidFill>
                <a:ln w="9525">
                  <a:solidFill>
                    <a:schemeClr val="tx1">
                      <a:lumMod val="50000"/>
                    </a:schemeClr>
                  </a:solidFill>
                </a:ln>
                <a:effectLst/>
              </c:spPr>
            </c:marker>
            <c:bubble3D val="0"/>
            <c:extLst>
              <c:ext xmlns:c16="http://schemas.microsoft.com/office/drawing/2014/chart" uri="{C3380CC4-5D6E-409C-BE32-E72D297353CC}">
                <c16:uniqueId val="{00000003-0CD0-436A-BDEC-D72899D36F72}"/>
              </c:ext>
            </c:extLst>
          </c:dPt>
          <c:xVal>
            <c:numRef>
              <c:f>'[LengthoverRadius against Effective Capacity.xlsx]Graph - AD'!$Q$35</c:f>
              <c:numCache>
                <c:formatCode>General</c:formatCode>
                <c:ptCount val="1"/>
                <c:pt idx="0">
                  <c:v>12.925354930793857</c:v>
                </c:pt>
              </c:numCache>
            </c:numRef>
          </c:xVal>
          <c:yVal>
            <c:numRef>
              <c:f>'[LengthoverRadius against Effective Capacity.xlsx]Graph - AD'!$G$35</c:f>
              <c:numCache>
                <c:formatCode>General</c:formatCode>
                <c:ptCount val="1"/>
                <c:pt idx="0">
                  <c:v>286.22056771375128</c:v>
                </c:pt>
              </c:numCache>
            </c:numRef>
          </c:yVal>
          <c:smooth val="0"/>
          <c:extLst>
            <c:ext xmlns:c16="http://schemas.microsoft.com/office/drawing/2014/chart" uri="{C3380CC4-5D6E-409C-BE32-E72D297353CC}">
              <c16:uniqueId val="{00000004-0CD0-436A-BDEC-D72899D36F72}"/>
            </c:ext>
          </c:extLst>
        </c:ser>
        <c:dLbls>
          <c:showLegendKey val="0"/>
          <c:showVal val="0"/>
          <c:showCatName val="0"/>
          <c:showSerName val="0"/>
          <c:showPercent val="0"/>
          <c:showBubbleSize val="0"/>
        </c:dLbls>
        <c:axId val="1928686880"/>
        <c:axId val="1928705600"/>
      </c:scatterChart>
      <c:valAx>
        <c:axId val="1928686880"/>
        <c:scaling>
          <c:orientation val="minMax"/>
        </c:scaling>
        <c:delete val="0"/>
        <c:axPos val="b"/>
        <c:title>
          <c:tx>
            <c:rich>
              <a:bodyPr rot="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r>
                  <a:rPr lang="en-US"/>
                  <a:t>Calculated Futile Flow Ratio</a:t>
                </a:r>
              </a:p>
            </c:rich>
          </c:tx>
          <c:overlay val="0"/>
          <c:spPr>
            <a:noFill/>
            <a:ln>
              <a:noFill/>
            </a:ln>
            <a:effectLst/>
          </c:spPr>
          <c:txPr>
            <a:bodyPr rot="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endParaRPr lang="en-US"/>
          </a:p>
        </c:txPr>
        <c:crossAx val="1928705600"/>
        <c:crosses val="autoZero"/>
        <c:crossBetween val="midCat"/>
      </c:valAx>
      <c:valAx>
        <c:axId val="1928705600"/>
        <c:scaling>
          <c:orientation val="minMax"/>
        </c:scaling>
        <c:delete val="0"/>
        <c:axPos val="l"/>
        <c:title>
          <c:tx>
            <c:rich>
              <a:bodyPr rot="-540000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r>
                  <a:rPr lang="en-US" dirty="0"/>
                  <a:t>Permeate Throughput at 50% Sieving (L/m</a:t>
                </a:r>
                <a:r>
                  <a:rPr lang="en-US" baseline="30000" dirty="0"/>
                  <a:t>2</a:t>
                </a:r>
                <a:r>
                  <a:rPr lang="en-US" dirty="0"/>
                  <a:t>)</a:t>
                </a:r>
              </a:p>
            </c:rich>
          </c:tx>
          <c:overlay val="0"/>
          <c:spPr>
            <a:noFill/>
            <a:ln>
              <a:noFill/>
            </a:ln>
            <a:effectLst/>
          </c:spPr>
          <c:txPr>
            <a:bodyPr rot="-540000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endParaRPr lang="en-US"/>
          </a:p>
        </c:txPr>
        <c:crossAx val="1928686880"/>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28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800">
          <a:solidFill>
            <a:sysClr val="windowText" lastClr="000000"/>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t>10/2/2024</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t>10/2/2024</a:t>
            </a:fld>
            <a:endParaRPr lang="en-US"/>
          </a:p>
        </p:txBody>
      </p:sp>
      <p:sp>
        <p:nvSpPr>
          <p:cNvPr id="4" name="Slide Image Placeholder 3"/>
          <p:cNvSpPr>
            <a:spLocks noGrp="1" noRot="1" noChangeAspect="1"/>
          </p:cNvSpPr>
          <p:nvPr>
            <p:ph type="sldImg" idx="2"/>
          </p:nvPr>
        </p:nvSpPr>
        <p:spPr>
          <a:xfrm>
            <a:off x="2046288" y="741363"/>
            <a:ext cx="25781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712076" rtl="0" eaLnBrk="1" latinLnBrk="0" hangingPunct="1">
      <a:defRPr sz="1892" kern="1200">
        <a:solidFill>
          <a:schemeClr val="tx1"/>
        </a:solidFill>
        <a:latin typeface="+mn-lt"/>
        <a:ea typeface="+mn-ea"/>
        <a:cs typeface="+mn-cs"/>
      </a:defRPr>
    </a:lvl1pPr>
    <a:lvl2pPr marL="712076" algn="l" defTabSz="712076" rtl="0" eaLnBrk="1" latinLnBrk="0" hangingPunct="1">
      <a:defRPr sz="1892" kern="1200">
        <a:solidFill>
          <a:schemeClr val="tx1"/>
        </a:solidFill>
        <a:latin typeface="+mn-lt"/>
        <a:ea typeface="+mn-ea"/>
        <a:cs typeface="+mn-cs"/>
      </a:defRPr>
    </a:lvl2pPr>
    <a:lvl3pPr marL="1424150" algn="l" defTabSz="712076" rtl="0" eaLnBrk="1" latinLnBrk="0" hangingPunct="1">
      <a:defRPr sz="1892" kern="1200">
        <a:solidFill>
          <a:schemeClr val="tx1"/>
        </a:solidFill>
        <a:latin typeface="+mn-lt"/>
        <a:ea typeface="+mn-ea"/>
        <a:cs typeface="+mn-cs"/>
      </a:defRPr>
    </a:lvl3pPr>
    <a:lvl4pPr marL="2136224" algn="l" defTabSz="712076" rtl="0" eaLnBrk="1" latinLnBrk="0" hangingPunct="1">
      <a:defRPr sz="1892" kern="1200">
        <a:solidFill>
          <a:schemeClr val="tx1"/>
        </a:solidFill>
        <a:latin typeface="+mn-lt"/>
        <a:ea typeface="+mn-ea"/>
        <a:cs typeface="+mn-cs"/>
      </a:defRPr>
    </a:lvl4pPr>
    <a:lvl5pPr marL="2848302" algn="l" defTabSz="712076" rtl="0" eaLnBrk="1" latinLnBrk="0" hangingPunct="1">
      <a:defRPr sz="1892" kern="1200">
        <a:solidFill>
          <a:schemeClr val="tx1"/>
        </a:solidFill>
        <a:latin typeface="+mn-lt"/>
        <a:ea typeface="+mn-ea"/>
        <a:cs typeface="+mn-cs"/>
      </a:defRPr>
    </a:lvl5pPr>
    <a:lvl6pPr marL="3560376" algn="l" defTabSz="712076" rtl="0" eaLnBrk="1" latinLnBrk="0" hangingPunct="1">
      <a:defRPr sz="1892" kern="1200">
        <a:solidFill>
          <a:schemeClr val="tx1"/>
        </a:solidFill>
        <a:latin typeface="+mn-lt"/>
        <a:ea typeface="+mn-ea"/>
        <a:cs typeface="+mn-cs"/>
      </a:defRPr>
    </a:lvl6pPr>
    <a:lvl7pPr marL="4272449" algn="l" defTabSz="712076" rtl="0" eaLnBrk="1" latinLnBrk="0" hangingPunct="1">
      <a:defRPr sz="1892" kern="1200">
        <a:solidFill>
          <a:schemeClr val="tx1"/>
        </a:solidFill>
        <a:latin typeface="+mn-lt"/>
        <a:ea typeface="+mn-ea"/>
        <a:cs typeface="+mn-cs"/>
      </a:defRPr>
    </a:lvl7pPr>
    <a:lvl8pPr marL="4984527" algn="l" defTabSz="712076" rtl="0" eaLnBrk="1" latinLnBrk="0" hangingPunct="1">
      <a:defRPr sz="1892" kern="1200">
        <a:solidFill>
          <a:schemeClr val="tx1"/>
        </a:solidFill>
        <a:latin typeface="+mn-lt"/>
        <a:ea typeface="+mn-ea"/>
        <a:cs typeface="+mn-cs"/>
      </a:defRPr>
    </a:lvl8pPr>
    <a:lvl9pPr marL="5696601" algn="l" defTabSz="712076" rtl="0" eaLnBrk="1" latinLnBrk="0" hangingPunct="1">
      <a:defRPr sz="1892"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Mast Hea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162500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707" r:id="rId1"/>
  </p:sldLayoutIdLst>
  <p:hf hdr="0" ftr="0" dt="0"/>
  <p:txStyles>
    <p:titleStyle>
      <a:lvl1pPr algn="ctr" defTabSz="2128904" rtl="0" eaLnBrk="1" latinLnBrk="0" hangingPunct="1">
        <a:spcBef>
          <a:spcPct val="0"/>
        </a:spcBef>
        <a:buNone/>
        <a:defRPr sz="20546" kern="1200">
          <a:solidFill>
            <a:schemeClr val="tx1"/>
          </a:solidFill>
          <a:latin typeface="+mj-lt"/>
          <a:ea typeface="+mj-ea"/>
          <a:cs typeface="+mj-cs"/>
        </a:defRPr>
      </a:lvl1pPr>
    </p:titleStyle>
    <p:bodyStyle>
      <a:lvl1pPr marL="1596680" indent="-1596680" algn="l" defTabSz="2128904" rtl="0" eaLnBrk="1" latinLnBrk="0" hangingPunct="1">
        <a:spcBef>
          <a:spcPct val="20000"/>
        </a:spcBef>
        <a:buFont typeface="Arial"/>
        <a:buChar char="•"/>
        <a:defRPr sz="14892" kern="1200">
          <a:solidFill>
            <a:schemeClr val="tx1"/>
          </a:solidFill>
          <a:latin typeface="+mn-lt"/>
          <a:ea typeface="+mn-ea"/>
          <a:cs typeface="+mn-cs"/>
        </a:defRPr>
      </a:lvl1pPr>
      <a:lvl2pPr marL="3459468" indent="-1330565" algn="l" defTabSz="2128904" rtl="0" eaLnBrk="1" latinLnBrk="0" hangingPunct="1">
        <a:spcBef>
          <a:spcPct val="20000"/>
        </a:spcBef>
        <a:buFont typeface="Arial"/>
        <a:buChar char="–"/>
        <a:defRPr sz="13100" kern="1200">
          <a:solidFill>
            <a:schemeClr val="tx1"/>
          </a:solidFill>
          <a:latin typeface="+mn-lt"/>
          <a:ea typeface="+mn-ea"/>
          <a:cs typeface="+mn-cs"/>
        </a:defRPr>
      </a:lvl2pPr>
      <a:lvl3pPr marL="4335864" indent="-1064457" algn="l" defTabSz="2128904" rtl="0" eaLnBrk="1" latinLnBrk="0" hangingPunct="1">
        <a:spcBef>
          <a:spcPct val="20000"/>
        </a:spcBef>
        <a:buFont typeface="Arial"/>
        <a:buChar char="•"/>
        <a:defRPr sz="11318" kern="1200">
          <a:solidFill>
            <a:schemeClr val="tx1"/>
          </a:solidFill>
          <a:latin typeface="+mn-lt"/>
          <a:ea typeface="+mn-ea"/>
          <a:cs typeface="+mn-cs"/>
        </a:defRPr>
      </a:lvl3pPr>
      <a:lvl4pPr marL="4335864" indent="-1064457" algn="l" defTabSz="2128904" rtl="0" eaLnBrk="1" latinLnBrk="0" hangingPunct="1">
        <a:spcBef>
          <a:spcPct val="20000"/>
        </a:spcBef>
        <a:buFont typeface="Arial"/>
        <a:buChar char="–"/>
        <a:defRPr sz="9230" kern="1200">
          <a:solidFill>
            <a:schemeClr val="tx1"/>
          </a:solidFill>
          <a:latin typeface="+mn-lt"/>
          <a:ea typeface="+mn-ea"/>
          <a:cs typeface="+mn-cs"/>
        </a:defRPr>
      </a:lvl4pPr>
      <a:lvl5pPr marL="4335864" indent="-1064457" algn="l" defTabSz="2128904" rtl="0" eaLnBrk="1" latinLnBrk="0" hangingPunct="1">
        <a:spcBef>
          <a:spcPct val="20000"/>
        </a:spcBef>
        <a:buFont typeface="Arial"/>
        <a:buChar char="»"/>
        <a:defRPr sz="9230" kern="1200">
          <a:solidFill>
            <a:schemeClr val="tx1"/>
          </a:solidFill>
          <a:latin typeface="+mn-lt"/>
          <a:ea typeface="+mn-ea"/>
          <a:cs typeface="+mn-cs"/>
        </a:defRPr>
      </a:lvl5pPr>
      <a:lvl6pPr marL="4335864" indent="-1064457" algn="l" defTabSz="2128904" rtl="0" eaLnBrk="1" latinLnBrk="0" hangingPunct="1">
        <a:spcBef>
          <a:spcPct val="20000"/>
        </a:spcBef>
        <a:buFont typeface="Arial"/>
        <a:buChar char="•"/>
        <a:defRPr sz="9230" kern="1200">
          <a:solidFill>
            <a:schemeClr val="tx1"/>
          </a:solidFill>
          <a:latin typeface="+mn-lt"/>
          <a:ea typeface="+mn-ea"/>
          <a:cs typeface="+mn-cs"/>
        </a:defRPr>
      </a:lvl6pPr>
      <a:lvl7pPr marL="4335864" indent="-1064457" algn="l" defTabSz="2128904" rtl="0" eaLnBrk="1" latinLnBrk="0" hangingPunct="1">
        <a:spcBef>
          <a:spcPct val="20000"/>
        </a:spcBef>
        <a:buFont typeface="Arial"/>
        <a:buChar char="•"/>
        <a:defRPr sz="9230" kern="1200">
          <a:solidFill>
            <a:schemeClr val="tx1"/>
          </a:solidFill>
          <a:latin typeface="+mn-lt"/>
          <a:ea typeface="+mn-ea"/>
          <a:cs typeface="+mn-cs"/>
        </a:defRPr>
      </a:lvl7pPr>
      <a:lvl8pPr marL="4335864" indent="-1064457" algn="l" defTabSz="2128904" rtl="0" eaLnBrk="1" latinLnBrk="0" hangingPunct="1">
        <a:spcBef>
          <a:spcPct val="20000"/>
        </a:spcBef>
        <a:buFont typeface="Arial"/>
        <a:buChar char="•"/>
        <a:defRPr sz="9230" kern="1200">
          <a:solidFill>
            <a:schemeClr val="tx1"/>
          </a:solidFill>
          <a:latin typeface="+mn-lt"/>
          <a:ea typeface="+mn-ea"/>
          <a:cs typeface="+mn-cs"/>
        </a:defRPr>
      </a:lvl8pPr>
      <a:lvl9pPr marL="4335864" indent="-1064457" algn="l" defTabSz="2128904" rtl="0" eaLnBrk="1" latinLnBrk="0" hangingPunct="1">
        <a:spcBef>
          <a:spcPct val="20000"/>
        </a:spcBef>
        <a:buFont typeface="Arial"/>
        <a:buChar char="•"/>
        <a:defRPr sz="9230" kern="1200">
          <a:solidFill>
            <a:schemeClr val="tx1"/>
          </a:solidFill>
          <a:latin typeface="+mn-lt"/>
          <a:ea typeface="+mn-ea"/>
          <a:cs typeface="+mn-cs"/>
        </a:defRPr>
      </a:lvl9pPr>
    </p:bodyStyle>
    <p:otherStyle>
      <a:defPPr>
        <a:defRPr lang="en-US"/>
      </a:defPPr>
      <a:lvl1pPr marL="0" algn="l" defTabSz="2128904" rtl="0" eaLnBrk="1" latinLnBrk="0" hangingPunct="1">
        <a:defRPr sz="8333" kern="1200">
          <a:solidFill>
            <a:schemeClr val="tx1"/>
          </a:solidFill>
          <a:latin typeface="+mn-lt"/>
          <a:ea typeface="+mn-ea"/>
          <a:cs typeface="+mn-cs"/>
        </a:defRPr>
      </a:lvl1pPr>
      <a:lvl2pPr marL="2128904" algn="l" defTabSz="2128904" rtl="0" eaLnBrk="1" latinLnBrk="0" hangingPunct="1">
        <a:defRPr sz="8333" kern="1200">
          <a:solidFill>
            <a:schemeClr val="tx1"/>
          </a:solidFill>
          <a:latin typeface="+mn-lt"/>
          <a:ea typeface="+mn-ea"/>
          <a:cs typeface="+mn-cs"/>
        </a:defRPr>
      </a:lvl2pPr>
      <a:lvl3pPr marL="4257807" algn="l" defTabSz="2128904" rtl="0" eaLnBrk="1" latinLnBrk="0" hangingPunct="1">
        <a:defRPr sz="8333" kern="1200">
          <a:solidFill>
            <a:schemeClr val="tx1"/>
          </a:solidFill>
          <a:latin typeface="+mn-lt"/>
          <a:ea typeface="+mn-ea"/>
          <a:cs typeface="+mn-cs"/>
        </a:defRPr>
      </a:lvl3pPr>
      <a:lvl4pPr marL="4335864" algn="l" defTabSz="2128904" rtl="0" eaLnBrk="1" latinLnBrk="0" hangingPunct="1">
        <a:defRPr sz="8333" kern="1200">
          <a:solidFill>
            <a:schemeClr val="tx1"/>
          </a:solidFill>
          <a:latin typeface="+mn-lt"/>
          <a:ea typeface="+mn-ea"/>
          <a:cs typeface="+mn-cs"/>
        </a:defRPr>
      </a:lvl4pPr>
      <a:lvl5pPr marL="4335864" algn="l" defTabSz="2128904" rtl="0" eaLnBrk="1" latinLnBrk="0" hangingPunct="1">
        <a:defRPr sz="8333" kern="1200">
          <a:solidFill>
            <a:schemeClr val="tx1"/>
          </a:solidFill>
          <a:latin typeface="+mn-lt"/>
          <a:ea typeface="+mn-ea"/>
          <a:cs typeface="+mn-cs"/>
        </a:defRPr>
      </a:lvl5pPr>
      <a:lvl6pPr marL="4335864" algn="l" defTabSz="2128904" rtl="0" eaLnBrk="1" latinLnBrk="0" hangingPunct="1">
        <a:defRPr sz="8333" kern="1200">
          <a:solidFill>
            <a:schemeClr val="tx1"/>
          </a:solidFill>
          <a:latin typeface="+mn-lt"/>
          <a:ea typeface="+mn-ea"/>
          <a:cs typeface="+mn-cs"/>
        </a:defRPr>
      </a:lvl6pPr>
      <a:lvl7pPr marL="4335864" algn="l" defTabSz="2128904" rtl="0" eaLnBrk="1" latinLnBrk="0" hangingPunct="1">
        <a:defRPr sz="8333" kern="1200">
          <a:solidFill>
            <a:schemeClr val="tx1"/>
          </a:solidFill>
          <a:latin typeface="+mn-lt"/>
          <a:ea typeface="+mn-ea"/>
          <a:cs typeface="+mn-cs"/>
        </a:defRPr>
      </a:lvl7pPr>
      <a:lvl8pPr marL="4335864" algn="l" defTabSz="2128904" rtl="0" eaLnBrk="1" latinLnBrk="0" hangingPunct="1">
        <a:defRPr sz="8333" kern="1200">
          <a:solidFill>
            <a:schemeClr val="tx1"/>
          </a:solidFill>
          <a:latin typeface="+mn-lt"/>
          <a:ea typeface="+mn-ea"/>
          <a:cs typeface="+mn-cs"/>
        </a:defRPr>
      </a:lvl8pPr>
      <a:lvl9pPr marL="4335864" algn="l" defTabSz="2128904" rtl="0" eaLnBrk="1" latinLnBrk="0" hangingPunct="1">
        <a:defRPr sz="83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6" Type="http://schemas.openxmlformats.org/officeDocument/2006/relationships/chart" Target="../charts/chart2.xml"/><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371599" y="4572000"/>
            <a:ext cx="32918400" cy="641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333" dirty="0"/>
          </a:p>
        </p:txBody>
      </p:sp>
      <p:sp>
        <p:nvSpPr>
          <p:cNvPr id="14" name="Rectangle 13"/>
          <p:cNvSpPr/>
          <p:nvPr/>
        </p:nvSpPr>
        <p:spPr>
          <a:xfrm>
            <a:off x="1371598" y="36348974"/>
            <a:ext cx="10360152" cy="643042"/>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214351" tIns="0" rIns="214351" bIns="53583" rtlCol="0" anchor="ctr"/>
          <a:lstStyle/>
          <a:p>
            <a:r>
              <a:rPr lang="en-US" sz="3600" b="1" dirty="0">
                <a:latin typeface="Arial"/>
                <a:cs typeface="Arial"/>
              </a:rPr>
              <a:t>Fluid Flow Model </a:t>
            </a:r>
          </a:p>
        </p:txBody>
      </p:sp>
      <p:sp>
        <p:nvSpPr>
          <p:cNvPr id="15" name="Rectangle 14"/>
          <p:cNvSpPr/>
          <p:nvPr/>
        </p:nvSpPr>
        <p:spPr>
          <a:xfrm>
            <a:off x="1371598" y="29649193"/>
            <a:ext cx="10360152" cy="643042"/>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214351" tIns="0" rIns="214351" bIns="53583" rtlCol="0" anchor="ctr"/>
          <a:lstStyle/>
          <a:p>
            <a:r>
              <a:rPr lang="en-US" sz="3600" b="1" dirty="0">
                <a:latin typeface="Arial"/>
                <a:cs typeface="Arial"/>
              </a:rPr>
              <a:t>Introduction</a:t>
            </a:r>
          </a:p>
        </p:txBody>
      </p:sp>
      <p:sp>
        <p:nvSpPr>
          <p:cNvPr id="16" name="Rectangle 15"/>
          <p:cNvSpPr/>
          <p:nvPr/>
        </p:nvSpPr>
        <p:spPr>
          <a:xfrm>
            <a:off x="1371600" y="5486400"/>
            <a:ext cx="10360152" cy="64304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214351" tIns="0" rIns="214351" bIns="53583" rtlCol="0" anchor="ctr"/>
          <a:lstStyle/>
          <a:p>
            <a:r>
              <a:rPr lang="en-US" sz="3600" b="1" dirty="0">
                <a:latin typeface="Arial"/>
                <a:cs typeface="Arial"/>
              </a:rPr>
              <a:t>Abstract</a:t>
            </a:r>
          </a:p>
        </p:txBody>
      </p:sp>
      <p:sp>
        <p:nvSpPr>
          <p:cNvPr id="17" name="Rectangle 16"/>
          <p:cNvSpPr/>
          <p:nvPr/>
        </p:nvSpPr>
        <p:spPr>
          <a:xfrm>
            <a:off x="2304624" y="8527553"/>
            <a:ext cx="9249029" cy="871317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endParaRPr lang="en-US" sz="3281" dirty="0">
              <a:solidFill>
                <a:schemeClr val="tx1"/>
              </a:solidFill>
              <a:latin typeface="Arial"/>
              <a:cs typeface="Arial"/>
            </a:endParaRPr>
          </a:p>
        </p:txBody>
      </p:sp>
      <p:sp>
        <p:nvSpPr>
          <p:cNvPr id="22" name="TextBox 21"/>
          <p:cNvSpPr txBox="1"/>
          <p:nvPr/>
        </p:nvSpPr>
        <p:spPr>
          <a:xfrm>
            <a:off x="1371600" y="1371600"/>
            <a:ext cx="31754829" cy="1828193"/>
          </a:xfrm>
          <a:prstGeom prst="rect">
            <a:avLst/>
          </a:prstGeom>
          <a:noFill/>
        </p:spPr>
        <p:txBody>
          <a:bodyPr wrap="square" lIns="0" tIns="0" rIns="0" bIns="0" rtlCol="0" anchor="t">
            <a:spAutoFit/>
          </a:bodyPr>
          <a:lstStyle/>
          <a:p>
            <a:pPr>
              <a:lnSpc>
                <a:spcPct val="90000"/>
              </a:lnSpc>
            </a:pPr>
            <a:r>
              <a:rPr lang="en-US" sz="6600" b="1" dirty="0">
                <a:solidFill>
                  <a:schemeClr val="tx2"/>
                </a:solidFill>
                <a:latin typeface="Arial"/>
                <a:cs typeface="Arial"/>
              </a:rPr>
              <a:t>Mechanistic Modeling to Quantify Starling Flow in Hollow Fiber Membranes Used for Tangential Flow Filtration (TFF) in Perfusion Processes</a:t>
            </a:r>
          </a:p>
        </p:txBody>
      </p:sp>
      <p:sp>
        <p:nvSpPr>
          <p:cNvPr id="23" name="TextBox 22"/>
          <p:cNvSpPr txBox="1"/>
          <p:nvPr/>
        </p:nvSpPr>
        <p:spPr>
          <a:xfrm>
            <a:off x="1371598" y="3239142"/>
            <a:ext cx="32918400" cy="553998"/>
          </a:xfrm>
          <a:prstGeom prst="rect">
            <a:avLst/>
          </a:prstGeom>
          <a:noFill/>
        </p:spPr>
        <p:txBody>
          <a:bodyPr wrap="square" lIns="0" tIns="0" rIns="0" bIns="0" rtlCol="0" anchor="t">
            <a:spAutoFit/>
          </a:bodyPr>
          <a:lstStyle/>
          <a:p>
            <a:pPr>
              <a:lnSpc>
                <a:spcPct val="90000"/>
              </a:lnSpc>
            </a:pPr>
            <a:r>
              <a:rPr lang="en-US" sz="4000" dirty="0">
                <a:solidFill>
                  <a:schemeClr val="tx2"/>
                </a:solidFill>
                <a:latin typeface="Arial"/>
                <a:cs typeface="Arial"/>
              </a:rPr>
              <a:t>Ashna Dhingra, Michael Mollet, Ken Lee, Jon Coffman </a:t>
            </a:r>
            <a:endParaRPr lang="en-US" sz="4000" baseline="30000" dirty="0">
              <a:solidFill>
                <a:schemeClr val="tx2"/>
              </a:solidFill>
              <a:latin typeface="Arial"/>
              <a:cs typeface="Arial"/>
            </a:endParaRPr>
          </a:p>
        </p:txBody>
      </p:sp>
      <p:sp>
        <p:nvSpPr>
          <p:cNvPr id="24" name="TextBox 23"/>
          <p:cNvSpPr txBox="1"/>
          <p:nvPr/>
        </p:nvSpPr>
        <p:spPr>
          <a:xfrm>
            <a:off x="1371598" y="3867954"/>
            <a:ext cx="27407937" cy="498598"/>
          </a:xfrm>
          <a:prstGeom prst="rect">
            <a:avLst/>
          </a:prstGeom>
          <a:noFill/>
        </p:spPr>
        <p:txBody>
          <a:bodyPr wrap="square" lIns="0" tIns="0" rIns="0" bIns="0" rtlCol="0" anchor="t">
            <a:spAutoFit/>
          </a:bodyPr>
          <a:lstStyle/>
          <a:p>
            <a:pPr>
              <a:lnSpc>
                <a:spcPct val="90000"/>
              </a:lnSpc>
            </a:pPr>
            <a:r>
              <a:rPr lang="en-US" sz="3600" dirty="0">
                <a:solidFill>
                  <a:schemeClr val="tx2"/>
                </a:solidFill>
                <a:cs typeface="Arial"/>
              </a:rPr>
              <a:t>Bioprocess Technologies &amp; Engineering -</a:t>
            </a:r>
            <a:r>
              <a:rPr lang="en-US" sz="3600" baseline="30000" dirty="0">
                <a:solidFill>
                  <a:schemeClr val="tx2"/>
                </a:solidFill>
                <a:cs typeface="Arial"/>
              </a:rPr>
              <a:t> </a:t>
            </a:r>
            <a:r>
              <a:rPr lang="en-US" sz="3600" dirty="0">
                <a:solidFill>
                  <a:schemeClr val="tx2"/>
                </a:solidFill>
                <a:cs typeface="Arial"/>
              </a:rPr>
              <a:t>Biopharmaceutical Development, AstraZeneca, Gaithersburg, USA</a:t>
            </a:r>
            <a:endParaRPr lang="en-US" sz="3600" baseline="30000" dirty="0">
              <a:solidFill>
                <a:schemeClr val="tx2"/>
              </a:solidFill>
              <a:cs typeface="Arial"/>
            </a:endParaRPr>
          </a:p>
        </p:txBody>
      </p:sp>
      <p:sp>
        <p:nvSpPr>
          <p:cNvPr id="26" name="Rectangle 25"/>
          <p:cNvSpPr/>
          <p:nvPr/>
        </p:nvSpPr>
        <p:spPr>
          <a:xfrm>
            <a:off x="1371598" y="30651966"/>
            <a:ext cx="10360152" cy="5508873"/>
          </a:xfrm>
          <a:prstGeom prst="rect">
            <a:avLst/>
          </a:prstGeom>
          <a:solidFill>
            <a:schemeClr val="accent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214351" tIns="214351" rIns="214351" bIns="214351" rtlCol="0" anchor="t"/>
          <a:lstStyle/>
          <a:p>
            <a:pPr marL="321559" indent="-321559">
              <a:buFont typeface="Arial"/>
              <a:buChar char="•"/>
            </a:pPr>
            <a:r>
              <a:rPr lang="en-US" sz="2800" dirty="0">
                <a:solidFill>
                  <a:schemeClr val="tx1"/>
                </a:solidFill>
                <a:latin typeface="Arial"/>
                <a:cs typeface="Arial"/>
              </a:rPr>
              <a:t>AstraZeneca’s upstream continuous manufacturing platform uses TFF as a cell retention device for dynamic perfusion (figure 1).</a:t>
            </a:r>
          </a:p>
          <a:p>
            <a:endParaRPr lang="en-US" sz="2800" dirty="0">
              <a:solidFill>
                <a:schemeClr val="tx1"/>
              </a:solidFill>
              <a:latin typeface="Arial"/>
              <a:cs typeface="Arial"/>
            </a:endParaRPr>
          </a:p>
          <a:p>
            <a:pPr marL="321559" indent="-321559">
              <a:buFont typeface="Arial"/>
              <a:buChar char="•"/>
            </a:pPr>
            <a:r>
              <a:rPr lang="en-US" sz="2800" dirty="0">
                <a:solidFill>
                  <a:schemeClr val="tx1"/>
                </a:solidFill>
                <a:latin typeface="Arial"/>
                <a:cs typeface="Arial"/>
              </a:rPr>
              <a:t>In perfusion, the main evidence of filter fouling is seen by the drop in sieving, which is defined as the concentration of antibody or titer in the permeate stream relative to the concentration of titer in the bioreactor. </a:t>
            </a:r>
          </a:p>
          <a:p>
            <a:endParaRPr lang="en-US" sz="2800" dirty="0">
              <a:solidFill>
                <a:schemeClr val="tx1"/>
              </a:solidFill>
              <a:latin typeface="Arial"/>
              <a:cs typeface="Arial"/>
            </a:endParaRPr>
          </a:p>
          <a:p>
            <a:pPr marL="321559" indent="-321559">
              <a:buFont typeface="Arial"/>
              <a:buChar char="•"/>
            </a:pPr>
            <a:r>
              <a:rPr lang="en-US" sz="2800" dirty="0">
                <a:solidFill>
                  <a:schemeClr val="tx1"/>
                </a:solidFill>
                <a:latin typeface="Arial"/>
                <a:cs typeface="Arial"/>
              </a:rPr>
              <a:t>Experimentation at the bench scale has shown that running TFF at higher permeate fluxes results in greater throughput capacities before filter failure.</a:t>
            </a:r>
            <a:endParaRPr lang="en-US" sz="3281" dirty="0">
              <a:solidFill>
                <a:schemeClr val="tx1"/>
              </a:solidFill>
              <a:latin typeface="Arial"/>
              <a:cs typeface="Arial"/>
            </a:endParaRPr>
          </a:p>
          <a:p>
            <a:endParaRPr lang="en-US" sz="3281" dirty="0">
              <a:solidFill>
                <a:schemeClr val="tx1"/>
              </a:solidFill>
              <a:latin typeface="Arial"/>
              <a:cs typeface="Arial"/>
            </a:endParaRPr>
          </a:p>
        </p:txBody>
      </p:sp>
      <p:sp>
        <p:nvSpPr>
          <p:cNvPr id="42" name="Rectangle 41"/>
          <p:cNvSpPr/>
          <p:nvPr/>
        </p:nvSpPr>
        <p:spPr>
          <a:xfrm>
            <a:off x="23019909" y="29070927"/>
            <a:ext cx="9249029" cy="46788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endParaRPr lang="en-US" sz="3281">
              <a:solidFill>
                <a:schemeClr val="tx1"/>
              </a:solidFill>
              <a:cs typeface="Arial"/>
            </a:endParaRPr>
          </a:p>
        </p:txBody>
      </p:sp>
      <p:sp>
        <p:nvSpPr>
          <p:cNvPr id="46" name="Rectangle 45"/>
          <p:cNvSpPr/>
          <p:nvPr/>
        </p:nvSpPr>
        <p:spPr>
          <a:xfrm>
            <a:off x="24288353" y="33767197"/>
            <a:ext cx="9999048" cy="674376"/>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214351" tIns="0" rIns="214351" bIns="53583" rtlCol="0" anchor="ctr"/>
          <a:lstStyle/>
          <a:p>
            <a:r>
              <a:rPr lang="en-US" sz="3577" b="1" dirty="0">
                <a:latin typeface="Arial"/>
                <a:cs typeface="Arial"/>
              </a:rPr>
              <a:t>Conclusions and Next Steps</a:t>
            </a:r>
          </a:p>
        </p:txBody>
      </p:sp>
      <p:sp>
        <p:nvSpPr>
          <p:cNvPr id="47" name="Rectangle 46"/>
          <p:cNvSpPr/>
          <p:nvPr/>
        </p:nvSpPr>
        <p:spPr>
          <a:xfrm>
            <a:off x="24288353" y="34706711"/>
            <a:ext cx="10043214" cy="7599340"/>
          </a:xfrm>
          <a:prstGeom prst="rect">
            <a:avLst/>
          </a:prstGeom>
          <a:solidFill>
            <a:schemeClr val="accent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214351" tIns="214351" rIns="214351" bIns="214351" rtlCol="0" anchor="t"/>
          <a:lstStyle/>
          <a:p>
            <a:pPr marL="321559" indent="-321559">
              <a:buFont typeface="Arial"/>
              <a:buChar char="•"/>
            </a:pPr>
            <a:r>
              <a:rPr lang="en-US" sz="2800" dirty="0">
                <a:solidFill>
                  <a:schemeClr val="tx1"/>
                </a:solidFill>
                <a:latin typeface="Arial"/>
                <a:cs typeface="Arial"/>
              </a:rPr>
              <a:t>A fluid flow model was developed from first principles to better understand how Starling flow results in non-uniform flux profiles and TFF performance during perfusion cell culture experiments.</a:t>
            </a:r>
          </a:p>
          <a:p>
            <a:pPr marL="321559" indent="-321559">
              <a:buFont typeface="Arial"/>
              <a:buChar char="•"/>
            </a:pPr>
            <a:endParaRPr lang="en-US" sz="2800" dirty="0">
              <a:solidFill>
                <a:schemeClr val="tx1"/>
              </a:solidFill>
              <a:latin typeface="Arial"/>
              <a:cs typeface="Arial"/>
            </a:endParaRPr>
          </a:p>
          <a:p>
            <a:pPr marL="321559" indent="-321559">
              <a:buFont typeface="Arial"/>
              <a:buChar char="•"/>
            </a:pPr>
            <a:r>
              <a:rPr lang="en-US" sz="2800" dirty="0">
                <a:solidFill>
                  <a:schemeClr val="tx1"/>
                </a:solidFill>
                <a:latin typeface="Arial"/>
                <a:cs typeface="Arial"/>
              </a:rPr>
              <a:t>The futile flow ratio was derived as a scaling tool to estimate the ratio between flow rate exiting the fibers into the permeate shell and the actual net permeate flow rate. High values (&gt;&gt;1) signify high Starling flow and poor membrane usage efficiency. This ratio was shown to be very well-correlated with filter throughput for different scales, fluxes, and fiber types. Experiments with higher ratios generally showed lower throughputs.</a:t>
            </a:r>
          </a:p>
          <a:p>
            <a:pPr marL="321559" indent="-321559">
              <a:buFont typeface="Arial"/>
              <a:buChar char="•"/>
            </a:pPr>
            <a:endParaRPr lang="en-US" sz="2800" dirty="0">
              <a:solidFill>
                <a:schemeClr val="tx1"/>
              </a:solidFill>
              <a:latin typeface="Arial"/>
              <a:cs typeface="Arial"/>
            </a:endParaRPr>
          </a:p>
          <a:p>
            <a:pPr marL="321559" indent="-321559">
              <a:buFont typeface="Arial"/>
              <a:buChar char="•"/>
            </a:pPr>
            <a:r>
              <a:rPr lang="en-US" sz="2800" dirty="0">
                <a:solidFill>
                  <a:schemeClr val="tx1"/>
                </a:solidFill>
                <a:latin typeface="Arial"/>
                <a:cs typeface="Arial"/>
              </a:rPr>
              <a:t>Future work at AstraZeneca aims to utilize these tools to help accurately the design the TFF system for larger-scale perfusion processes  </a:t>
            </a:r>
          </a:p>
          <a:p>
            <a:pPr marL="321559" indent="-321559">
              <a:buFont typeface="Arial"/>
              <a:buChar char="•"/>
            </a:pPr>
            <a:endParaRPr lang="en-US" sz="2800" dirty="0">
              <a:solidFill>
                <a:schemeClr val="tx1"/>
              </a:solidFill>
              <a:latin typeface="Arial"/>
              <a:cs typeface="Arial"/>
            </a:endParaRPr>
          </a:p>
        </p:txBody>
      </p:sp>
      <p:sp>
        <p:nvSpPr>
          <p:cNvPr id="50" name="Rectangle 49"/>
          <p:cNvSpPr/>
          <p:nvPr/>
        </p:nvSpPr>
        <p:spPr>
          <a:xfrm>
            <a:off x="24288353" y="42790679"/>
            <a:ext cx="10145542" cy="22345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2678" b="1" dirty="0">
                <a:solidFill>
                  <a:schemeClr val="tx1"/>
                </a:solidFill>
                <a:cs typeface="Arial"/>
              </a:rPr>
              <a:t>References</a:t>
            </a:r>
          </a:p>
          <a:p>
            <a:pPr marL="428748" indent="-428748">
              <a:buAutoNum type="arabicPeriod"/>
            </a:pPr>
            <a:r>
              <a:rPr lang="en-US" sz="2678" dirty="0">
                <a:solidFill>
                  <a:schemeClr val="tx1"/>
                </a:solidFill>
                <a:cs typeface="Arial"/>
              </a:rPr>
              <a:t>WuDunn, D., Squeri, A., Vu, J., Dhingra, A., Coffman, J., &amp; Lee, K. (2024). Biotechnology Progress.</a:t>
            </a:r>
          </a:p>
          <a:p>
            <a:pPr marL="428748" indent="-428748">
              <a:buAutoNum type="arabicPeriod"/>
            </a:pPr>
            <a:r>
              <a:rPr lang="en-US" sz="2678" dirty="0">
                <a:solidFill>
                  <a:schemeClr val="tx1"/>
                </a:solidFill>
                <a:cs typeface="Arial"/>
              </a:rPr>
              <a:t>Pinto, N. D. S. &amp; Brower, M. </a:t>
            </a:r>
            <a:r>
              <a:rPr lang="en-US" sz="2678" dirty="0" err="1">
                <a:solidFill>
                  <a:schemeClr val="tx1"/>
                </a:solidFill>
                <a:cs typeface="Arial"/>
              </a:rPr>
              <a:t>Biotechnol</a:t>
            </a:r>
            <a:r>
              <a:rPr lang="en-US" sz="2678" dirty="0">
                <a:solidFill>
                  <a:schemeClr val="tx1"/>
                </a:solidFill>
                <a:cs typeface="Arial"/>
              </a:rPr>
              <a:t> </a:t>
            </a:r>
            <a:r>
              <a:rPr lang="en-US" sz="2678" dirty="0" err="1">
                <a:solidFill>
                  <a:schemeClr val="tx1"/>
                </a:solidFill>
                <a:cs typeface="Arial"/>
              </a:rPr>
              <a:t>Bioeng</a:t>
            </a:r>
            <a:r>
              <a:rPr lang="en-US" sz="2678" dirty="0">
                <a:solidFill>
                  <a:schemeClr val="tx1"/>
                </a:solidFill>
                <a:cs typeface="Arial"/>
              </a:rPr>
              <a:t> 117, 3336–3344 (2020).</a:t>
            </a:r>
          </a:p>
          <a:p>
            <a:pPr marL="428748" indent="-428748">
              <a:buAutoNum type="arabicPeriod"/>
            </a:pPr>
            <a:endParaRPr lang="en-US" sz="2678" dirty="0">
              <a:solidFill>
                <a:schemeClr val="tx1"/>
              </a:solidFill>
              <a:cs typeface="Arial"/>
            </a:endParaRPr>
          </a:p>
        </p:txBody>
      </p:sp>
      <p:sp>
        <p:nvSpPr>
          <p:cNvPr id="51" name="Rectangle 50"/>
          <p:cNvSpPr/>
          <p:nvPr/>
        </p:nvSpPr>
        <p:spPr>
          <a:xfrm>
            <a:off x="24278648" y="45463254"/>
            <a:ext cx="10043213" cy="38171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2678" b="1" dirty="0">
                <a:solidFill>
                  <a:schemeClr val="tx1"/>
                </a:solidFill>
                <a:cs typeface="Arial"/>
              </a:rPr>
              <a:t>Acknowledgements</a:t>
            </a:r>
          </a:p>
          <a:p>
            <a:r>
              <a:rPr lang="en-US" sz="2678" dirty="0">
                <a:solidFill>
                  <a:schemeClr val="tx1"/>
                </a:solidFill>
                <a:cs typeface="Arial"/>
              </a:rPr>
              <a:t>This project began as a collaboration between the Massachusetts Institute of Technology (MIT) and AstraZeneca. The authors would like to thank:</a:t>
            </a:r>
          </a:p>
          <a:p>
            <a:pPr marL="457200" indent="-457200">
              <a:buFont typeface="Arial" panose="020B0604020202020204" pitchFamily="34" charset="0"/>
              <a:buChar char="•"/>
            </a:pPr>
            <a:r>
              <a:rPr lang="en-US" sz="2678" dirty="0">
                <a:solidFill>
                  <a:schemeClr val="tx1"/>
                </a:solidFill>
                <a:cs typeface="Arial"/>
              </a:rPr>
              <a:t>Devashish Gokhale and </a:t>
            </a:r>
            <a:r>
              <a:rPr lang="en-US" sz="2678" dirty="0" err="1">
                <a:solidFill>
                  <a:schemeClr val="tx1"/>
                </a:solidFill>
                <a:cs typeface="Arial"/>
              </a:rPr>
              <a:t>Sungyun</a:t>
            </a:r>
            <a:r>
              <a:rPr lang="en-US" sz="2678" dirty="0">
                <a:solidFill>
                  <a:schemeClr val="tx1"/>
                </a:solidFill>
                <a:cs typeface="Arial"/>
              </a:rPr>
              <a:t> Yang for their theoretical contributions to the model </a:t>
            </a:r>
          </a:p>
          <a:p>
            <a:pPr marL="457200" indent="-457200">
              <a:buFont typeface="Arial" panose="020B0604020202020204" pitchFamily="34" charset="0"/>
              <a:buChar char="•"/>
            </a:pPr>
            <a:r>
              <a:rPr lang="en-US" sz="2678" dirty="0">
                <a:solidFill>
                  <a:schemeClr val="tx1"/>
                </a:solidFill>
                <a:cs typeface="Arial"/>
              </a:rPr>
              <a:t>Dominique WuDunn, Jimmy Vu, Andrea Squeri, Sam Preza, J. Alex Gadberry, and the Development &amp; Scale-Up Center for their experimental contributions</a:t>
            </a:r>
          </a:p>
        </p:txBody>
      </p:sp>
      <p:cxnSp>
        <p:nvCxnSpPr>
          <p:cNvPr id="3" name="Straight Connector 2"/>
          <p:cNvCxnSpPr>
            <a:cxnSpLocks/>
          </p:cNvCxnSpPr>
          <p:nvPr/>
        </p:nvCxnSpPr>
        <p:spPr>
          <a:xfrm>
            <a:off x="1371599" y="49377600"/>
            <a:ext cx="32918400" cy="0"/>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a:off x="24288352" y="42542979"/>
            <a:ext cx="9249029" cy="0"/>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cxnSpLocks/>
          </p:cNvCxnSpPr>
          <p:nvPr/>
        </p:nvCxnSpPr>
        <p:spPr>
          <a:xfrm>
            <a:off x="24288352" y="45117915"/>
            <a:ext cx="9611175" cy="0"/>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3292811" y="50331159"/>
            <a:ext cx="9324051" cy="7669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ctr"/>
            <a:r>
              <a:rPr lang="en-US" sz="2088" i="1" dirty="0">
                <a:solidFill>
                  <a:schemeClr val="tx1"/>
                </a:solidFill>
                <a:cs typeface="Arial"/>
              </a:rPr>
              <a:t>Presented at ICB VI, 20Oct24</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06EAC4E-A462-CA06-DF04-83CA700C606E}"/>
                  </a:ext>
                </a:extLst>
              </p:cNvPr>
              <p:cNvSpPr txBox="1"/>
              <p:nvPr/>
            </p:nvSpPr>
            <p:spPr>
              <a:xfrm>
                <a:off x="1371600" y="6155037"/>
                <a:ext cx="10360152" cy="24199573"/>
              </a:xfrm>
              <a:prstGeom prst="rect">
                <a:avLst/>
              </a:prstGeom>
              <a:noFill/>
            </p:spPr>
            <p:txBody>
              <a:bodyPr wrap="square">
                <a:spAutoFit/>
              </a:bodyPr>
              <a:lstStyle/>
              <a:p>
                <a:pPr algn="just"/>
                <a:r>
                  <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rPr>
                  <a:t>Understanding fluid mechanical phenomena is important in assessing the efficiency of hollow fiber membranes used for TFF due to nonuniform flux profiles and nonuniform fouling. Here we introduce a mechanistic model that can be used to predict how TFF operating parameters and certain membrane properties will affect filter performance. This flow model was developed by axially discretizing the fiber to numerically solve for pressure and fluid flux profiles. </a:t>
                </a:r>
              </a:p>
              <a:p>
                <a:pPr algn="just"/>
                <a:r>
                  <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rPr>
                  <a:t>Analysis via the model demonstrated a variation in transmembrane pressure (TMP) along the length of the hollow fiber lumen under AstraZeneca’s platform perfusion process conditions. This variation also causes fouling to vary axially. Moreover, modeling results show that at target permeate flow rates, the TMP drops below zero at some spatial point along the fiber length. In the filter region with positive TMP, the fluid flows from the fiber lumen into the permeate. In the region with negative TMP, the fluid flows from the permeate shell back into the lumen. This phenomenon is referred to as Starling flow. The extent of Starling flow exacerbates fouling and minimizes filter area utilization since larger fluxes cause higher levels of fouling. The model presented here can quantify Starling flow and provides mechanistic context for experimental observations.</a:t>
                </a:r>
              </a:p>
              <a:p>
                <a:pPr algn="just"/>
                <a:r>
                  <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rPr>
                  <a:t>Because of Starling flow, the flux distribution is variable along the fiber length and can be much higher than the target permeate flux. If a fiber is prone to Starling flow, filter capacity will not scale with increasing permeate flow rates. Rather, model results show that doubling or tripling the platform permeate flow will result in higher filter capacity (measured in volume of permeate filtered per filter area – L/m</a:t>
                </a:r>
                <a:r>
                  <a:rPr lang="en-US" sz="2800" baseline="30000" dirty="0">
                    <a:solidFill>
                      <a:srgbClr val="000000"/>
                    </a:solidFill>
                    <a:latin typeface="Arial" panose="020B0604020202020204" pitchFamily="34" charset="0"/>
                    <a:ea typeface="MS Mincho" panose="02020609040205080304" pitchFamily="49" charset="-128"/>
                    <a:cs typeface="Arial" panose="020B0604020202020204" pitchFamily="34" charset="0"/>
                  </a:rPr>
                  <a:t>2</a:t>
                </a:r>
                <a:r>
                  <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rPr>
                  <a:t>). This is because while the net permeate flux is much higher, the flux that the fibers experience at any axial point only increases marginally. </a:t>
                </a:r>
              </a:p>
              <a:p>
                <a:pPr algn="just"/>
                <a:r>
                  <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rPr>
                  <a:t>This phenomenon and subsequent model analysis suggest that target permeate flux (LMH) and filter capacity (L/m</a:t>
                </a:r>
                <a:r>
                  <a:rPr lang="en-US" sz="2800" baseline="30000" dirty="0">
                    <a:solidFill>
                      <a:srgbClr val="000000"/>
                    </a:solidFill>
                    <a:latin typeface="Arial" panose="020B0604020202020204" pitchFamily="34" charset="0"/>
                    <a:ea typeface="MS Mincho" panose="02020609040205080304" pitchFamily="49" charset="-128"/>
                    <a:cs typeface="Arial" panose="020B0604020202020204" pitchFamily="34" charset="0"/>
                  </a:rPr>
                  <a:t>2</a:t>
                </a:r>
                <a:r>
                  <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rPr>
                  <a:t>) are not accurate scaling parameters since they assume that the whole membrane experiences flow equivalently. This also suggests that for larger scale  bioreactors which require multiple filter modules, running these filters in series one at a time will result in more capacity than running them in parallel at lower net permeate fluxes. A simplified dimensionless number derived from the full numerical model is presented here. </a:t>
                </a:r>
              </a:p>
              <a:p>
                <a:pPr algn="just"/>
                <a:endPar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f>
                        <m:fPr>
                          <m:ctrlPr>
                            <a:rPr lang="en-US" sz="2800" i="1" kern="100" smtClean="0">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𝑄</m:t>
                              </m:r>
                            </m:e>
                            <m:sub>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𝑠𝑡𝑎𝑟𝑙𝑖𝑛𝑔</m:t>
                              </m:r>
                            </m:sub>
                          </m:sSub>
                        </m:num>
                        <m:den>
                          <m:sSub>
                            <m:sSub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𝑄</m:t>
                              </m:r>
                            </m:e>
                            <m:sub>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𝑝𝑒𝑟𝑚𝑒𝑎𝑡𝑒</m:t>
                              </m:r>
                            </m:sub>
                          </m:sSub>
                        </m:den>
                      </m:f>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2</m:t>
                          </m:r>
                          <m:sSub>
                            <m:sSub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𝑐𝑢𝑙𝑡𝑢𝑟𝑒</m:t>
                              </m:r>
                            </m:sub>
                          </m:sSub>
                          <m:sSubSup>
                            <m:sSubSup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𝑓𝑖𝑏𝑒𝑟</m:t>
                              </m:r>
                            </m:sub>
                            <m:sup>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𝑄</m:t>
                              </m:r>
                            </m:e>
                            <m:sub>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𝑟𝑒𝑐𝑖𝑟𝑐</m:t>
                              </m:r>
                            </m:sub>
                          </m:sSub>
                          <m:sSub>
                            <m:sSub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𝜅</m:t>
                              </m:r>
                            </m:e>
                            <m:sub>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𝑚𝑒𝑚𝑏𝑟𝑎𝑛𝑒</m:t>
                              </m:r>
                            </m:sub>
                          </m:sSub>
                        </m:num>
                        <m:den>
                          <m:sSubSup>
                            <m:sSubSup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2800" b="0" i="1" kern="100" smtClean="0">
                                  <a:effectLst/>
                                  <a:latin typeface="Cambria Math" panose="02040503050406030204" pitchFamily="18" charset="0"/>
                                  <a:ea typeface="Calibri" panose="020F0502020204030204" pitchFamily="34" charset="0"/>
                                  <a:cs typeface="Times New Roman" panose="02020603050405020304" pitchFamily="18" charset="0"/>
                                </a:rPr>
                                <m:t>𝑙𝑢𝑚𝑒𝑛</m:t>
                              </m:r>
                            </m:sub>
                            <m:sup>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3</m:t>
                              </m:r>
                            </m:sup>
                          </m:sSubSup>
                          <m:sSub>
                            <m:sSubPr>
                              <m:ctrlPr>
                                <a:rPr lang="en-US" sz="2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𝑄</m:t>
                              </m:r>
                            </m:e>
                            <m:sub>
                              <m:r>
                                <a:rPr lang="en-US" sz="2800" i="1" kern="100">
                                  <a:effectLst/>
                                  <a:latin typeface="Cambria Math" panose="02040503050406030204" pitchFamily="18" charset="0"/>
                                  <a:ea typeface="Calibri" panose="020F0502020204030204" pitchFamily="34" charset="0"/>
                                  <a:cs typeface="Times New Roman" panose="02020603050405020304" pitchFamily="18" charset="0"/>
                                </a:rPr>
                                <m:t>𝑝𝑒𝑟𝑚𝑒𝑎𝑡𝑒</m:t>
                              </m:r>
                            </m:sub>
                          </m:sSub>
                        </m:den>
                      </m:f>
                    </m:oMath>
                  </m:oMathPara>
                </a14:m>
                <a:endPar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endParaRPr>
              </a:p>
              <a:p>
                <a:pPr algn="just"/>
                <a:endPar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endParaRPr>
              </a:p>
              <a:p>
                <a:pPr algn="just"/>
                <a:r>
                  <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rPr>
                  <a:t>This dimensionless ratio can provide an estimate for the extent of Starling flow that a particular membrane is prone to experience as ratio of flow rate exiting the fibers to the net permeate flow rate. This ratio can be used as a simplistic hollow fiber screening tool and a more accurate scaling parameter in lieu of experimentation. A higher ratio suggests a lower filter capacity (L/m</a:t>
                </a:r>
                <a:r>
                  <a:rPr lang="en-US" sz="2800" baseline="30000" dirty="0">
                    <a:solidFill>
                      <a:srgbClr val="000000"/>
                    </a:solidFill>
                    <a:latin typeface="Arial" panose="020B0604020202020204" pitchFamily="34" charset="0"/>
                    <a:ea typeface="MS Mincho" panose="02020609040205080304" pitchFamily="49" charset="-128"/>
                    <a:cs typeface="Arial" panose="020B0604020202020204" pitchFamily="34" charset="0"/>
                  </a:rPr>
                  <a:t>2</a:t>
                </a:r>
                <a:r>
                  <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rPr>
                  <a:t>). Therefore, shorter fiber length, lower recirculation rate through the fibers, larger lumen diameter, and lower membrane permeability will result in lower TMPs, minimize Starling flow, and improve filter performance.</a:t>
                </a:r>
              </a:p>
              <a:p>
                <a:pPr algn="just"/>
                <a:r>
                  <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rPr>
                  <a:t>     </a:t>
                </a:r>
                <a:endParaRPr lang="en-US" sz="3034" dirty="0">
                  <a:latin typeface="Calibri" panose="020F0502020204030204" pitchFamily="34" charset="0"/>
                  <a:ea typeface="MS Mincho" panose="02020609040205080304" pitchFamily="49" charset="-128"/>
                  <a:cs typeface="Arial" panose="020B0604020202020204" pitchFamily="34" charset="0"/>
                </a:endParaRPr>
              </a:p>
            </p:txBody>
          </p:sp>
        </mc:Choice>
        <mc:Fallback xmlns="">
          <p:sp>
            <p:nvSpPr>
              <p:cNvPr id="4" name="TextBox 3">
                <a:extLst>
                  <a:ext uri="{FF2B5EF4-FFF2-40B4-BE49-F238E27FC236}">
                    <a16:creationId xmlns:a16="http://schemas.microsoft.com/office/drawing/2014/main" id="{E06EAC4E-A462-CA06-DF04-83CA700C606E}"/>
                  </a:ext>
                </a:extLst>
              </p:cNvPr>
              <p:cNvSpPr txBox="1">
                <a:spLocks noRot="1" noChangeAspect="1" noMove="1" noResize="1" noEditPoints="1" noAdjustHandles="1" noChangeArrowheads="1" noChangeShapeType="1" noTextEdit="1"/>
              </p:cNvSpPr>
              <p:nvPr/>
            </p:nvSpPr>
            <p:spPr>
              <a:xfrm>
                <a:off x="1371600" y="6155037"/>
                <a:ext cx="10360152" cy="24199573"/>
              </a:xfrm>
              <a:prstGeom prst="rect">
                <a:avLst/>
              </a:prstGeom>
              <a:blipFill>
                <a:blip r:embed="rId2"/>
                <a:stretch>
                  <a:fillRect l="-1176" t="-277" r="-1118"/>
                </a:stretch>
              </a:blipFill>
            </p:spPr>
            <p:txBody>
              <a:bodyPr/>
              <a:lstStyle/>
              <a:p>
                <a:r>
                  <a:rPr lang="en-US">
                    <a:noFill/>
                  </a:rPr>
                  <a:t> </a:t>
                </a:r>
              </a:p>
            </p:txBody>
          </p:sp>
        </mc:Fallback>
      </mc:AlternateContent>
      <p:pic>
        <p:nvPicPr>
          <p:cNvPr id="5" name="AstraZeneca logo colour">
            <a:extLst>
              <a:ext uri="{FF2B5EF4-FFF2-40B4-BE49-F238E27FC236}">
                <a16:creationId xmlns:a16="http://schemas.microsoft.com/office/drawing/2014/main" id="{0235B89A-440E-D436-DF2A-FE55938C45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232395" y="49483965"/>
            <a:ext cx="5201500" cy="1295812"/>
          </a:xfrm>
          <a:prstGeom prst="rect">
            <a:avLst/>
          </a:prstGeom>
        </p:spPr>
      </p:pic>
      <p:pic>
        <p:nvPicPr>
          <p:cNvPr id="7" name="AstraZeneca symbol gold">
            <a:extLst>
              <a:ext uri="{FF2B5EF4-FFF2-40B4-BE49-F238E27FC236}">
                <a16:creationId xmlns:a16="http://schemas.microsoft.com/office/drawing/2014/main" id="{B41C20CD-5CC1-78CD-5BC1-BD2260DF3C0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268938" y="1703173"/>
            <a:ext cx="1101860" cy="1318620"/>
          </a:xfrm>
          <a:prstGeom prst="rect">
            <a:avLst/>
          </a:prstGeom>
        </p:spPr>
      </p:pic>
      <p:sp>
        <p:nvSpPr>
          <p:cNvPr id="344" name="TextBox 343">
            <a:extLst>
              <a:ext uri="{FF2B5EF4-FFF2-40B4-BE49-F238E27FC236}">
                <a16:creationId xmlns:a16="http://schemas.microsoft.com/office/drawing/2014/main" id="{8C42251E-DF55-F6BD-B354-D2DF2AC2D7D5}"/>
              </a:ext>
            </a:extLst>
          </p:cNvPr>
          <p:cNvSpPr txBox="1"/>
          <p:nvPr/>
        </p:nvSpPr>
        <p:spPr>
          <a:xfrm>
            <a:off x="24177919" y="12625671"/>
            <a:ext cx="10058303" cy="1569660"/>
          </a:xfrm>
          <a:prstGeom prst="rect">
            <a:avLst/>
          </a:prstGeom>
          <a:noFill/>
        </p:spPr>
        <p:txBody>
          <a:bodyPr wrap="square" rtlCol="0">
            <a:spAutoFit/>
          </a:bodyPr>
          <a:lstStyle/>
          <a:p>
            <a:pPr algn="just"/>
            <a:r>
              <a:rPr lang="en-US" sz="2400" b="1" dirty="0"/>
              <a:t>Figure 1B. </a:t>
            </a:r>
            <a:r>
              <a:rPr lang="en-US" sz="2400" dirty="0"/>
              <a:t>Visualization of Starling flow in a Hollow Fiber Membrane. Each axial point along the fiber is experiencing a different TMP and therefore different flux. Larger pressure drops along the fiber length cause unnecessarily high fluxes which leads to more filter fouling.   </a:t>
            </a:r>
          </a:p>
        </p:txBody>
      </p:sp>
      <p:sp>
        <p:nvSpPr>
          <p:cNvPr id="6" name="TextBox 5">
            <a:extLst>
              <a:ext uri="{FF2B5EF4-FFF2-40B4-BE49-F238E27FC236}">
                <a16:creationId xmlns:a16="http://schemas.microsoft.com/office/drawing/2014/main" id="{9902B3FC-4E17-7D85-0107-083790CE9027}"/>
              </a:ext>
            </a:extLst>
          </p:cNvPr>
          <p:cNvSpPr txBox="1"/>
          <p:nvPr/>
        </p:nvSpPr>
        <p:spPr>
          <a:xfrm>
            <a:off x="12724978" y="12583491"/>
            <a:ext cx="10459715" cy="1569660"/>
          </a:xfrm>
          <a:prstGeom prst="rect">
            <a:avLst/>
          </a:prstGeom>
          <a:noFill/>
        </p:spPr>
        <p:txBody>
          <a:bodyPr wrap="square" rtlCol="0">
            <a:spAutoFit/>
          </a:bodyPr>
          <a:lstStyle/>
          <a:p>
            <a:pPr algn="just"/>
            <a:r>
              <a:rPr lang="en-US" sz="2400" b="1" dirty="0"/>
              <a:t>Figure 1A. </a:t>
            </a:r>
            <a:r>
              <a:rPr lang="en-US" sz="2400" dirty="0"/>
              <a:t>Schematic of AstraZeneca’s Perfusion Bioreactor Set Up. Feeds and media are exchanged at a constant rate of 1.2 vessel volumes per day (VVD)  . Bleed is employed to maintain peak CHO cell densities at the desired target, so permeate and bleed flow rates combined equal 1.2 VVD.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CBEC75C-08D1-BC58-3F6F-FACD41B39A44}"/>
                  </a:ext>
                </a:extLst>
              </p:cNvPr>
              <p:cNvSpPr txBox="1"/>
              <p:nvPr/>
            </p:nvSpPr>
            <p:spPr>
              <a:xfrm>
                <a:off x="1320419" y="37180151"/>
                <a:ext cx="10411331" cy="13163091"/>
              </a:xfrm>
              <a:prstGeom prst="rect">
                <a:avLst/>
              </a:prstGeom>
              <a:noFill/>
            </p:spPr>
            <p:txBody>
              <a:bodyPr wrap="square">
                <a:spAutoFit/>
              </a:bodyPr>
              <a:lstStyle/>
              <a:p>
                <a:pPr algn="just"/>
                <a:r>
                  <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rPr>
                  <a:t>If the fluid flow in the fibers can be assumed to be Poiseuille flow, then the axial pressure drop can be expressed as: </a:t>
                </a:r>
              </a:p>
              <a:p>
                <a:pPr algn="just"/>
                <a:endParaRPr lang="en-US" sz="2800" dirty="0">
                  <a:solidFill>
                    <a:srgbClr val="000000"/>
                  </a:solidFill>
                  <a:latin typeface="Arial" panose="020B0604020202020204" pitchFamily="34" charset="0"/>
                  <a:ea typeface="MS Mincho" panose="02020609040205080304" pitchFamily="49" charset="-128"/>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eqArr>
                        <m:eqArrPr>
                          <m:ctrlPr>
                            <a:rPr lang="en-US" sz="2800" i="1" smtClean="0">
                              <a:effectLst/>
                              <a:latin typeface="Cambria Math" panose="02040503050406030204" pitchFamily="18" charset="0"/>
                              <a:ea typeface="Times New Roman" panose="02020603050405020304" pitchFamily="18" charset="0"/>
                              <a:cs typeface="Times New Roman" panose="02020603050405020304" pitchFamily="18" charset="0"/>
                            </a:rPr>
                          </m:ctrlPr>
                        </m:eqArrPr>
                        <m:e>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𝑙𝑢𝑚𝑒𝑛</m:t>
                                  </m:r>
                                </m:sub>
                              </m:sSub>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𝑑𝑧</m:t>
                              </m:r>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8</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𝜇</m:t>
                              </m:r>
                              <m:r>
                                <a:rPr lang="en-US" sz="2800" i="1" smtClean="0">
                                  <a:effectLst/>
                                  <a:latin typeface="Cambria Math" panose="02040503050406030204" pitchFamily="18" charset="0"/>
                                  <a:ea typeface="Times New Roman" panose="02020603050405020304" pitchFamily="18" charset="0"/>
                                  <a:cs typeface="Times New Roman" panose="02020603050405020304" pitchFamily="18" charset="0"/>
                                </a:rPr>
                                <m:t>𝑢</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e>
                              </m:d>
                            </m:num>
                            <m:den>
                              <m:sSubSup>
                                <m:sSubSup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SupPr>
                                <m:e>
                                  <m:r>
                                    <m:rPr>
                                      <m:sty m:val="p"/>
                                    </m:rPr>
                                    <a:rPr lang="el-GR" sz="2800" b="0" i="1" smtClean="0">
                                      <a:effectLst/>
                                      <a:latin typeface="Cambria Math" panose="02040503050406030204" pitchFamily="18" charset="0"/>
                                      <a:ea typeface="Times New Roman" panose="02020603050405020304" pitchFamily="18" charset="0"/>
                                      <a:cs typeface="Times New Roman" panose="02020603050405020304" pitchFamily="18" charset="0"/>
                                    </a:rPr>
                                    <m:t>π</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𝑙𝑢𝑚𝑒𝑛</m:t>
                                  </m:r>
                                </m:sub>
                                <m:sup>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2</m:t>
                                  </m:r>
                                </m:sup>
                              </m:sSubSup>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 #</m:t>
                          </m:r>
                        </m:e>
                      </m:eqArr>
                    </m:oMath>
                  </m:oMathPara>
                </a14:m>
                <a:endParaRPr lang="en-US" sz="2800" dirty="0">
                  <a:effectLst/>
                  <a:latin typeface="Times" panose="02020603050405020304" pitchFamily="18" charset="0"/>
                  <a:ea typeface="Times New Roman" panose="02020603050405020304" pitchFamily="18" charset="0"/>
                  <a:cs typeface="Times New Roman" panose="02020603050405020304" pitchFamily="18" charset="0"/>
                </a:endParaRPr>
              </a:p>
              <a:p>
                <a:pPr algn="just"/>
                <a:endParaRPr lang="en-US" sz="2800" dirty="0">
                  <a:latin typeface="Times" panose="02020603050405020304" pitchFamily="18" charset="0"/>
                  <a:ea typeface="Times New Roman" panose="02020603050405020304" pitchFamily="18" charset="0"/>
                  <a:cs typeface="Times New Roman" panose="02020603050405020304" pitchFamily="18" charset="0"/>
                </a:endParaRPr>
              </a:p>
              <a:p>
                <a:pPr algn="just"/>
                <a:r>
                  <a:rPr lang="en-US" sz="2800" dirty="0">
                    <a:effectLst/>
                    <a:ea typeface="Times New Roman" panose="02020603050405020304" pitchFamily="18" charset="0"/>
                    <a:cs typeface="Times New Roman" panose="02020603050405020304" pitchFamily="18" charset="0"/>
                  </a:rPr>
                  <a:t>Using continuity and Darcy’s Law, it can be shown that</a:t>
                </a:r>
                <a:r>
                  <a:rPr lang="en-US" sz="2800" dirty="0">
                    <a:ea typeface="Times New Roman" panose="02020603050405020304" pitchFamily="18" charset="0"/>
                    <a:cs typeface="Times New Roman" panose="02020603050405020304" pitchFamily="18" charset="0"/>
                  </a:rPr>
                  <a:t>: </a:t>
                </a:r>
              </a:p>
              <a:p>
                <a:pPr algn="just"/>
                <a:endParaRPr lang="en-US" sz="2800" dirty="0">
                  <a:ea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n-US" sz="2800" i="1" smtClean="0">
                          <a:effectLst/>
                          <a:latin typeface="Cambria Math" panose="02040503050406030204" pitchFamily="18" charset="0"/>
                          <a:ea typeface="Times New Roman" panose="02020603050405020304" pitchFamily="18" charset="0"/>
                          <a:cs typeface="Times New Roman" panose="02020603050405020304" pitchFamily="18" charset="0"/>
                        </a:rPr>
                        <m:t>𝐽</m:t>
                      </m:r>
                      <m:d>
                        <m:dPr>
                          <m:ctrlPr>
                            <a:rPr lang="en-US" sz="2800" i="1">
                              <a:effectLst/>
                              <a:latin typeface="Cambria Math" panose="020405030504060302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𝜅</m:t>
                      </m:r>
                      <m:d>
                        <m:dPr>
                          <m:ctrlPr>
                            <a:rPr lang="en-US" sz="2800" i="1">
                              <a:effectLst/>
                              <a:latin typeface="Cambria Math" panose="020405030504060302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800" i="1">
                              <a:effectLst/>
                              <a:latin typeface="Cambria Math" panose="02040503050406030204" pitchFamily="18" charset="0"/>
                            </a:rPr>
                          </m:ctrlPr>
                        </m:dPr>
                        <m:e>
                          <m:sSub>
                            <m:sSub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𝑙𝑢𝑚𝑒𝑛</m:t>
                              </m:r>
                            </m:sub>
                          </m:sSub>
                          <m:d>
                            <m:dPr>
                              <m:ctrlPr>
                                <a:rPr lang="en-US" sz="2800" i="1">
                                  <a:effectLst/>
                                  <a:latin typeface="Cambria Math" panose="020405030504060302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𝑝𝑒𝑟𝑚𝑒𝑎𝑡𝑒</m:t>
                              </m:r>
                            </m:sub>
                          </m:sSub>
                          <m:d>
                            <m:dPr>
                              <m:ctrlPr>
                                <a:rPr lang="en-US" sz="2800" i="1">
                                  <a:effectLst/>
                                  <a:latin typeface="Cambria Math" panose="020405030504060302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oMath>
                  </m:oMathPara>
                </a14:m>
                <a:endParaRPr lang="en-US" sz="2800" dirty="0">
                  <a:ea typeface="Times New Roman" panose="02020603050405020304" pitchFamily="18" charset="0"/>
                  <a:cs typeface="Times New Roman" panose="02020603050405020304" pitchFamily="18" charset="0"/>
                </a:endParaRPr>
              </a:p>
              <a:p>
                <a:pPr algn="just"/>
                <a:endParaRPr lang="en-US" sz="2800" dirty="0">
                  <a:effectLst/>
                  <a:ea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f>
                        <m:fPr>
                          <m:ctrlPr>
                            <a:rPr lang="en-US" sz="2800" i="1" smtClean="0">
                              <a:effectLst/>
                              <a:latin typeface="Cambria Math" panose="020405030504060302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𝑑𝑢</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𝑑𝑧</m:t>
                          </m:r>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𝜅</m:t>
                          </m:r>
                          <m:d>
                            <m:dPr>
                              <m:ctrlPr>
                                <a:rPr lang="en-US" sz="2800" i="1">
                                  <a:effectLst/>
                                  <a:latin typeface="Cambria Math" panose="02040503050406030204" pitchFamily="18" charset="0"/>
                                </a:rPr>
                              </m:ctrlPr>
                            </m:dPr>
                            <m:e>
                              <m:r>
                                <a:rPr lang="en-US" sz="2800" b="0" i="1" smtClean="0">
                                  <a:effectLst/>
                                  <a:latin typeface="Cambria Math" panose="02040503050406030204" pitchFamily="18" charset="0"/>
                                </a:rPr>
                                <m:t>𝑡</m:t>
                              </m:r>
                              <m:r>
                                <a:rPr lang="en-US" sz="2800" b="0" i="1" smtClean="0">
                                  <a:effectLst/>
                                  <a:latin typeface="Cambria Math" panose="020405030504060302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e>
                          </m:d>
                        </m:num>
                        <m:den>
                          <m:sSub>
                            <m:sSub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𝑙𝑢𝑚𝑒𝑛</m:t>
                              </m:r>
                            </m:sub>
                          </m:sSub>
                        </m:den>
                      </m:f>
                      <m:d>
                        <m:dPr>
                          <m:begChr m:val="["/>
                          <m:endChr m:val="]"/>
                          <m:ctrlPr>
                            <a:rPr lang="en-US" sz="2800" i="1">
                              <a:effectLst/>
                              <a:latin typeface="Cambria Math" panose="02040503050406030204" pitchFamily="18" charset="0"/>
                            </a:rPr>
                          </m:ctrlPr>
                        </m:dPr>
                        <m:e>
                          <m:sSub>
                            <m:sSub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𝑙𝑢𝑚𝑒𝑛</m:t>
                              </m:r>
                            </m:sub>
                          </m:sSub>
                          <m:d>
                            <m:dPr>
                              <m:ctrlPr>
                                <a:rPr lang="en-US" sz="2800" i="1">
                                  <a:effectLst/>
                                  <a:latin typeface="Cambria Math" panose="02040503050406030204" pitchFamily="18" charset="0"/>
                                </a:rPr>
                              </m:ctrlPr>
                            </m:dPr>
                            <m:e>
                              <m:r>
                                <a:rPr lang="en-US" sz="2800" b="0" i="1" smtClean="0">
                                  <a:effectLst/>
                                  <a:latin typeface="Cambria Math" panose="02040503050406030204" pitchFamily="18" charset="0"/>
                                </a:rPr>
                                <m:t>𝑡</m:t>
                              </m:r>
                              <m:r>
                                <a:rPr lang="en-US" sz="2800" b="0" i="1" smtClean="0">
                                  <a:effectLst/>
                                  <a:latin typeface="Cambria Math" panose="020405030504060302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𝑝𝑒𝑟𝑚𝑒𝑎𝑡𝑒</m:t>
                              </m:r>
                            </m:sub>
                          </m:sSub>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US" sz="2800" dirty="0">
                  <a:effectLst/>
                  <a:ea typeface="Times New Roman" panose="02020603050405020304" pitchFamily="18" charset="0"/>
                  <a:cs typeface="Times New Roman" panose="02020603050405020304" pitchFamily="18" charset="0"/>
                </a:endParaRPr>
              </a:p>
              <a:p>
                <a:pPr algn="just"/>
                <a:endParaRPr lang="en-US" sz="2800" dirty="0">
                  <a:ea typeface="Times New Roman" panose="02020603050405020304" pitchFamily="18" charset="0"/>
                  <a:cs typeface="Times New Roman" panose="02020603050405020304" pitchFamily="18" charset="0"/>
                </a:endParaRPr>
              </a:p>
              <a:p>
                <a:pPr algn="just"/>
                <a:r>
                  <a:rPr lang="en-US" sz="2800" dirty="0">
                    <a:latin typeface="+mj-lt"/>
                    <a:ea typeface="MS Mincho" panose="02020609040205080304" pitchFamily="49" charset="-128"/>
                    <a:cs typeface="Arial" panose="020B0604020202020204" pitchFamily="34" charset="0"/>
                  </a:rPr>
                  <a:t>Using continuity and the Hagen-Poiseuille equations above, the following second order ODE can be solved numerically (or analytically in the absence of fouling): </a:t>
                </a:r>
              </a:p>
              <a:p>
                <a:pPr algn="just"/>
                <a:endParaRPr lang="en-US" sz="2800" dirty="0">
                  <a:latin typeface="+mj-lt"/>
                  <a:ea typeface="MS Mincho" panose="02020609040205080304" pitchFamily="49" charset="-128"/>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f>
                        <m:fPr>
                          <m:ctrlPr>
                            <a:rPr lang="en-US" sz="2800" i="1" smtClean="0">
                              <a:effectLst/>
                              <a:latin typeface="Cambria Math" panose="02040503050406030204" pitchFamily="18" charset="0"/>
                            </a:rPr>
                          </m:ctrlPr>
                        </m:fPr>
                        <m:num>
                          <m:sSup>
                            <m:sSupPr>
                              <m:ctrlPr>
                                <a:rPr lang="en-US" sz="2800" i="1">
                                  <a:effectLst/>
                                  <a:latin typeface="Cambria Math" panose="020405030504060302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𝑑</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2</m:t>
                              </m:r>
                            </m:sup>
                          </m:sSup>
                          <m:sSub>
                            <m:sSub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𝑙𝑢𝑚𝑒𝑛</m:t>
                              </m:r>
                            </m:sub>
                          </m:sSub>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𝑑</m:t>
                          </m:r>
                          <m:sSup>
                            <m:sSupPr>
                              <m:ctrlPr>
                                <a:rPr lang="en-US" sz="2800" i="1">
                                  <a:effectLst/>
                                  <a:latin typeface="Cambria Math" panose="020405030504060302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16</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𝜇𝜅</m:t>
                          </m:r>
                          <m:d>
                            <m:dPr>
                              <m:ctrlPr>
                                <a:rPr lang="en-US" sz="2800" i="1">
                                  <a:effectLst/>
                                  <a:latin typeface="Cambria Math" panose="020405030504060302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e>
                          </m:d>
                        </m:num>
                        <m:den>
                          <m:sSubSup>
                            <m:sSubSup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𝑙𝑢𝑚𝑒𝑛</m:t>
                              </m:r>
                            </m:sub>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3</m:t>
                              </m:r>
                            </m:sup>
                          </m:sSubSup>
                        </m:den>
                      </m:f>
                      <m:d>
                        <m:dPr>
                          <m:ctrlPr>
                            <a:rPr lang="en-US" sz="2800" i="1">
                              <a:effectLst/>
                              <a:latin typeface="Cambria Math" panose="02040503050406030204" pitchFamily="18" charset="0"/>
                            </a:rPr>
                          </m:ctrlPr>
                        </m:dPr>
                        <m:e>
                          <m:sSub>
                            <m:sSub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𝑙𝑢𝑚𝑒𝑛</m:t>
                              </m:r>
                            </m:sub>
                          </m:sSub>
                          <m:d>
                            <m:dPr>
                              <m:ctrlPr>
                                <a:rPr lang="en-US" sz="2800" i="1">
                                  <a:effectLst/>
                                  <a:latin typeface="Cambria Math" panose="020405030504060302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𝑝𝑒𝑟𝑚𝑒𝑎𝑡𝑒</m:t>
                              </m:r>
                            </m:sub>
                          </m:sSub>
                          <m:d>
                            <m:dPr>
                              <m:ctrlPr>
                                <a:rPr lang="en-US" sz="2800" i="1">
                                  <a:effectLst/>
                                  <a:latin typeface="Cambria Math" panose="020405030504060302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oMath>
                  </m:oMathPara>
                </a14:m>
                <a:endParaRPr lang="en-US" sz="2800" dirty="0">
                  <a:effectLst/>
                  <a:ea typeface="Times New Roman" panose="02020603050405020304" pitchFamily="18" charset="0"/>
                  <a:cs typeface="Times New Roman" panose="02020603050405020304" pitchFamily="18" charset="0"/>
                </a:endParaRPr>
              </a:p>
              <a:p>
                <a:pPr algn="just"/>
                <a:endParaRPr lang="en-US" sz="2800" dirty="0">
                  <a:ea typeface="Times New Roman" panose="02020603050405020304" pitchFamily="18" charset="0"/>
                  <a:cs typeface="Times New Roman" panose="02020603050405020304" pitchFamily="18" charset="0"/>
                </a:endParaRPr>
              </a:p>
              <a:p>
                <a:pPr marL="0" marR="0" indent="0" algn="just">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Here, </a:t>
                </a:r>
                <a14:m>
                  <m:oMath xmlns:m="http://schemas.openxmlformats.org/officeDocument/2006/math">
                    <m:sSub>
                      <m:sSub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𝑙𝑢𝑚𝑒𝑛</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800" dirty="0">
                    <a:effectLst/>
                    <a:latin typeface="Arial" panose="020B0604020202020204" pitchFamily="34" charset="0"/>
                    <a:ea typeface="Times New Roman" panose="02020603050405020304" pitchFamily="18" charset="0"/>
                    <a:cs typeface="Arial" panose="020B0604020202020204" pitchFamily="34" charset="0"/>
                  </a:rPr>
                  <a:t> is obtained by  initially assuming a value for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𝑝𝑒𝑟𝑚𝑒𝑎𝑡𝑒</m:t>
                        </m:r>
                      </m:sub>
                    </m:sSub>
                  </m:oMath>
                </a14:m>
                <a:r>
                  <a:rPr lang="en-US" sz="2800" dirty="0">
                    <a:effectLst/>
                    <a:latin typeface="Arial" panose="020B0604020202020204" pitchFamily="34" charset="0"/>
                    <a:ea typeface="Times New Roman" panose="02020603050405020304" pitchFamily="18" charset="0"/>
                    <a:cs typeface="Arial" panose="020B0604020202020204" pitchFamily="34" charset="0"/>
                  </a:rPr>
                  <a:t>. In constant permeate flow operation, 𝑄𝑝 is a set constant in the model and the above ODEs are solved iteratively through error minimization to calculate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𝑝𝑒𝑟𝑚𝑒𝑎𝑡𝑒</m:t>
                        </m:r>
                      </m:sub>
                    </m:sSub>
                  </m:oMath>
                </a14:m>
                <a:r>
                  <a:rPr lang="en-US" sz="2800" dirty="0">
                    <a:effectLst/>
                    <a:latin typeface="Arial" panose="020B0604020202020204" pitchFamily="34" charset="0"/>
                    <a:ea typeface="Times New Roman" panose="02020603050405020304" pitchFamily="18" charset="0"/>
                    <a:cs typeface="Arial" panose="020B0604020202020204" pitchFamily="34" charset="0"/>
                  </a:rPr>
                  <a:t>. The equation below is used as the objective function for error minimization</a:t>
                </a:r>
                <a:r>
                  <a:rPr lang="en-US" sz="1800" dirty="0">
                    <a:effectLst/>
                    <a:latin typeface="Arial" panose="020B0604020202020204" pitchFamily="34" charset="0"/>
                    <a:ea typeface="Times New Roman" panose="02020603050405020304" pitchFamily="18" charset="0"/>
                    <a:cs typeface="Arial" panose="020B0604020202020204" pitchFamily="34" charset="0"/>
                  </a:rPr>
                  <a:t>.</a:t>
                </a:r>
              </a:p>
              <a:p>
                <a:pPr marL="0" marR="0" indent="0" algn="l">
                  <a:spcBef>
                    <a:spcPts val="0"/>
                  </a:spcBef>
                  <a:spcAft>
                    <a:spcPts val="0"/>
                  </a:spcAft>
                </a:pP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lgn="l">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eqArr>
                        <m:eqArr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eqArrPr>
                        <m:e>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𝑠𝑡𝑎𝑟𝑙𝑖𝑛𝑔</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𝑜𝑢𝑡</m:t>
                              </m:r>
                            </m:sub>
                          </m:s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𝑠𝑡𝑎𝑟𝑙𝑖𝑛𝑔</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𝑖𝑛</m:t>
                              </m:r>
                            </m:sub>
                          </m:sSub>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𝑢</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 0</m:t>
                                  </m:r>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𝑢</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𝐿</m:t>
                                  </m:r>
                                </m:e>
                              </m:d>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𝜋</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2</m:t>
                              </m:r>
                            </m:sup>
                          </m:sSup>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𝑓𝑖𝑏𝑒𝑟𝑠</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e>
                      </m:eqArr>
                    </m:oMath>
                  </m:oMathPara>
                </a14:m>
                <a:endParaRPr lang="en-US" sz="2800" dirty="0">
                  <a:effectLst/>
                  <a:latin typeface="Times" panose="02020603050405020304" pitchFamily="18" charset="0"/>
                  <a:ea typeface="Times New Roman" panose="02020603050405020304" pitchFamily="18" charset="0"/>
                  <a:cs typeface="Times New Roman" panose="02020603050405020304" pitchFamily="18" charset="0"/>
                </a:endParaRPr>
              </a:p>
              <a:p>
                <a:pPr algn="just"/>
                <a:endParaRPr lang="en-US" sz="2800" dirty="0">
                  <a:effectLst/>
                  <a:ea typeface="Times New Roman" panose="02020603050405020304" pitchFamily="18" charset="0"/>
                  <a:cs typeface="Times New Roman" panose="02020603050405020304" pitchFamily="18" charset="0"/>
                </a:endParaRPr>
              </a:p>
              <a:p>
                <a:pPr algn="just"/>
                <a:endParaRPr lang="en-US" sz="3034" dirty="0">
                  <a:latin typeface="Calibri" panose="020F0502020204030204" pitchFamily="34" charset="0"/>
                  <a:ea typeface="MS Mincho" panose="02020609040205080304" pitchFamily="49" charset="-128"/>
                  <a:cs typeface="Arial" panose="020B0604020202020204" pitchFamily="34" charset="0"/>
                </a:endParaRPr>
              </a:p>
            </p:txBody>
          </p:sp>
        </mc:Choice>
        <mc:Fallback xmlns="">
          <p:sp>
            <p:nvSpPr>
              <p:cNvPr id="11" name="TextBox 10">
                <a:extLst>
                  <a:ext uri="{FF2B5EF4-FFF2-40B4-BE49-F238E27FC236}">
                    <a16:creationId xmlns:a16="http://schemas.microsoft.com/office/drawing/2014/main" id="{1CBEC75C-08D1-BC58-3F6F-FACD41B39A44}"/>
                  </a:ext>
                </a:extLst>
              </p:cNvPr>
              <p:cNvSpPr txBox="1">
                <a:spLocks noRot="1" noChangeAspect="1" noMove="1" noResize="1" noEditPoints="1" noAdjustHandles="1" noChangeArrowheads="1" noChangeShapeType="1" noTextEdit="1"/>
              </p:cNvSpPr>
              <p:nvPr/>
            </p:nvSpPr>
            <p:spPr>
              <a:xfrm>
                <a:off x="1320419" y="37180151"/>
                <a:ext cx="10411331" cy="13163091"/>
              </a:xfrm>
              <a:prstGeom prst="rect">
                <a:avLst/>
              </a:prstGeom>
              <a:blipFill>
                <a:blip r:embed="rId7"/>
                <a:stretch>
                  <a:fillRect l="-1230" t="-463" r="-4042"/>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E690C989-6AF2-3720-19C3-15E5F1AE7495}"/>
              </a:ext>
            </a:extLst>
          </p:cNvPr>
          <p:cNvSpPr/>
          <p:nvPr/>
        </p:nvSpPr>
        <p:spPr>
          <a:xfrm>
            <a:off x="12824544" y="14692982"/>
            <a:ext cx="10360152" cy="64304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214351" tIns="0" rIns="214351" bIns="53583" rtlCol="0" anchor="ctr"/>
          <a:lstStyle/>
          <a:p>
            <a:r>
              <a:rPr lang="en-US" sz="3600" b="1" dirty="0">
                <a:latin typeface="Arial"/>
                <a:cs typeface="Arial"/>
              </a:rPr>
              <a:t>Scalable Parameter: Futile Flow Ratio</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F0B5A03-2357-F00B-259F-7668A5125256}"/>
                  </a:ext>
                </a:extLst>
              </p:cNvPr>
              <p:cNvSpPr txBox="1"/>
              <p:nvPr/>
            </p:nvSpPr>
            <p:spPr>
              <a:xfrm>
                <a:off x="12724981" y="15606515"/>
                <a:ext cx="10411331" cy="11991360"/>
              </a:xfrm>
              <a:prstGeom prst="rect">
                <a:avLst/>
              </a:prstGeom>
              <a:noFill/>
            </p:spPr>
            <p:txBody>
              <a:bodyPr wrap="square">
                <a:spAutoFit/>
              </a:bodyPr>
              <a:lstStyle/>
              <a:p>
                <a:pPr marL="0" marR="0" indent="0" algn="just">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In a certain range of Starling flow levels and at </a:t>
                </a:r>
                <a14:m>
                  <m:oMath xmlns:m="http://schemas.openxmlformats.org/officeDocument/2006/math">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2800" dirty="0">
                    <a:effectLst/>
                    <a:latin typeface="Arial" panose="020B0604020202020204" pitchFamily="34" charset="0"/>
                    <a:ea typeface="Times New Roman" panose="02020603050405020304" pitchFamily="18" charset="0"/>
                    <a:cs typeface="Arial" panose="020B0604020202020204" pitchFamily="34" charset="0"/>
                  </a:rPr>
                  <a:t> (no fouling), however, we can say that:</a:t>
                </a:r>
              </a:p>
              <a:p>
                <a:pPr marL="0" marR="0" indent="0" algn="just">
                  <a:spcBef>
                    <a:spcPts val="0"/>
                  </a:spcBef>
                  <a:spcAft>
                    <a:spcPts val="0"/>
                  </a:spcAft>
                </a:pP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just">
                  <a:spcBef>
                    <a:spcPts val="0"/>
                  </a:spcBef>
                  <a:spcAft>
                    <a:spcPts val="0"/>
                  </a:spcAft>
                  <a:buFont typeface="+mj-lt"/>
                  <a:buAutoNum type="arabicPeriod"/>
                </a:pPr>
                <a:r>
                  <a:rPr lang="en-US" sz="2800" dirty="0">
                    <a:effectLst/>
                    <a:latin typeface="Arial" panose="020B0604020202020204" pitchFamily="34" charset="0"/>
                    <a:ea typeface="Times New Roman" panose="02020603050405020304" pitchFamily="18" charset="0"/>
                    <a:cs typeface="Arial" panose="020B0604020202020204" pitchFamily="34" charset="0"/>
                  </a:rPr>
                  <a:t>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𝑝𝑒𝑟𝑚𝑒𝑎𝑡𝑒</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 0</m:t>
                            </m:r>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𝑧</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𝐿</m:t>
                            </m:r>
                          </m:e>
                        </m:d>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2</m:t>
                        </m:r>
                      </m:den>
                    </m:f>
                  </m:oMath>
                </a14:m>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just">
                  <a:spcBef>
                    <a:spcPts val="0"/>
                  </a:spcBef>
                  <a:spcAft>
                    <a:spcPts val="0"/>
                  </a:spcAft>
                  <a:buFont typeface="+mj-lt"/>
                  <a:buAutoNum type="arabicPeriod"/>
                </a:pP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just">
                  <a:spcBef>
                    <a:spcPts val="0"/>
                  </a:spcBef>
                  <a:spcAft>
                    <a:spcPts val="0"/>
                  </a:spcAft>
                  <a:buFont typeface="+mj-lt"/>
                  <a:buAutoNum type="arabicPeriod"/>
                </a:pPr>
                <a:r>
                  <a:rPr lang="en-US" sz="2800" dirty="0">
                    <a:effectLst/>
                    <a:latin typeface="Arial" panose="020B0604020202020204" pitchFamily="34" charset="0"/>
                    <a:ea typeface="Times New Roman" panose="02020603050405020304" pitchFamily="18" charset="0"/>
                    <a:cs typeface="Arial" panose="020B0604020202020204" pitchFamily="34" charset="0"/>
                  </a:rPr>
                  <a:t>The pressure profile between z = 0 and z = L is almost linear.</a:t>
                </a:r>
              </a:p>
              <a:p>
                <a:pPr marR="0" lvl="0" algn="just">
                  <a:spcBef>
                    <a:spcPts val="0"/>
                  </a:spcBef>
                  <a:spcAft>
                    <a:spcPts val="0"/>
                  </a:spcAft>
                </a:pP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lgn="just">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The former assumption </a:t>
                </a:r>
                <a:r>
                  <a:rPr lang="en-US" sz="2800" dirty="0">
                    <a:latin typeface="Arial" panose="020B0604020202020204" pitchFamily="34" charset="0"/>
                    <a:ea typeface="Times New Roman" panose="02020603050405020304" pitchFamily="18" charset="0"/>
                    <a:cs typeface="Arial" panose="020B0604020202020204" pitchFamily="34" charset="0"/>
                  </a:rPr>
                  <a:t>implies</a:t>
                </a:r>
                <a:r>
                  <a:rPr lang="en-US" sz="2800" dirty="0">
                    <a:effectLst/>
                    <a:latin typeface="Arial" panose="020B0604020202020204" pitchFamily="34" charset="0"/>
                    <a:ea typeface="Times New Roman" panose="02020603050405020304" pitchFamily="18" charset="0"/>
                    <a:cs typeface="Arial" panose="020B0604020202020204" pitchFamily="34" charset="0"/>
                  </a:rPr>
                  <a:t> that flow is reversed roughly halfway down the length of the fiber. This assumption breaks down in the limit of low Starling flow. The latter assumption breaks down in the limit of high Starling flow. This is visually shown by model results in figure 2. </a:t>
                </a:r>
                <a:r>
                  <a:rPr lang="en-US" sz="2800" dirty="0">
                    <a:latin typeface="Arial" panose="020B0604020202020204" pitchFamily="34" charset="0"/>
                    <a:ea typeface="Times New Roman" panose="02020603050405020304" pitchFamily="18" charset="0"/>
                    <a:cs typeface="Arial" panose="020B0604020202020204" pitchFamily="34" charset="0"/>
                  </a:rPr>
                  <a:t>Using </a:t>
                </a:r>
                <a:r>
                  <a:rPr lang="en-US" sz="2800" dirty="0">
                    <a:effectLst/>
                    <a:latin typeface="Arial" panose="020B0604020202020204" pitchFamily="34" charset="0"/>
                    <a:ea typeface="Times New Roman" panose="02020603050405020304" pitchFamily="18" charset="0"/>
                    <a:cs typeface="Arial" panose="020B0604020202020204" pitchFamily="34" charset="0"/>
                  </a:rPr>
                  <a:t>the Hagen-Poiseuille equation and Darcy’s Law, we arrive at the following: </a:t>
                </a:r>
              </a:p>
              <a:p>
                <a:pPr marL="0" marR="0" indent="0" algn="just">
                  <a:spcBef>
                    <a:spcPts val="0"/>
                  </a:spcBef>
                  <a:spcAft>
                    <a:spcPts val="0"/>
                  </a:spcAft>
                </a:pPr>
                <a:endParaRPr lang="en-US" sz="2800" dirty="0">
                  <a:latin typeface="Arial" panose="020B0604020202020204" pitchFamily="34" charset="0"/>
                  <a:ea typeface="Times New Roman" panose="02020603050405020304" pitchFamily="18" charset="0"/>
                  <a:cs typeface="Arial" panose="020B0604020202020204" pitchFamily="34" charset="0"/>
                </a:endParaRPr>
              </a:p>
              <a:p>
                <a:pPr marL="0" marR="0" indent="0" algn="just">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800" i="1" smtClean="0">
                              <a:solidFill>
                                <a:srgbClr val="836967"/>
                              </a:solidFill>
                              <a:latin typeface="Cambria Math" panose="02040503050406030204" pitchFamily="18" charset="0"/>
                            </a:rPr>
                          </m:ctrlPr>
                        </m:sSubPr>
                        <m:e>
                          <m:r>
                            <a:rPr lang="en-US" sz="2800" i="1">
                              <a:latin typeface="Cambria Math" panose="02040503050406030204" pitchFamily="18" charset="0"/>
                            </a:rPr>
                            <m:t>𝑄</m:t>
                          </m:r>
                        </m:e>
                        <m:sub>
                          <m:r>
                            <a:rPr lang="en-US" sz="2800" i="1">
                              <a:latin typeface="Cambria Math" panose="02040503050406030204" pitchFamily="18" charset="0"/>
                            </a:rPr>
                            <m:t>𝑝</m:t>
                          </m:r>
                        </m:sub>
                      </m:sSub>
                      <m:d>
                        <m:dPr>
                          <m:ctrlPr>
                            <a:rPr lang="en-US" sz="2800" i="1">
                              <a:solidFill>
                                <a:srgbClr val="836967"/>
                              </a:solidFill>
                              <a:latin typeface="Cambria Math" panose="02040503050406030204" pitchFamily="18" charset="0"/>
                            </a:rPr>
                          </m:ctrlPr>
                        </m:dPr>
                        <m:e>
                          <m:r>
                            <a:rPr lang="en-US" sz="2800" i="1">
                              <a:latin typeface="Cambria Math" panose="02040503050406030204" pitchFamily="18" charset="0"/>
                            </a:rPr>
                            <m:t>𝑧</m:t>
                          </m:r>
                          <m:r>
                            <a:rPr lang="en-US" sz="2800" i="0">
                              <a:latin typeface="Cambria Math" panose="02040503050406030204" pitchFamily="18" charset="0"/>
                            </a:rPr>
                            <m:t>,</m:t>
                          </m:r>
                          <m:r>
                            <a:rPr lang="en-US" sz="2800" i="1">
                              <a:latin typeface="Cambria Math" panose="02040503050406030204" pitchFamily="18" charset="0"/>
                            </a:rPr>
                            <m:t>𝑡</m:t>
                          </m:r>
                          <m:r>
                            <a:rPr lang="en-US" sz="2800" i="0">
                              <a:latin typeface="Cambria Math" panose="02040503050406030204" pitchFamily="18" charset="0"/>
                            </a:rPr>
                            <m:t>=0</m:t>
                          </m:r>
                        </m:e>
                      </m:d>
                      <m:r>
                        <a:rPr lang="en-US" sz="2800" i="0">
                          <a:latin typeface="Cambria Math" panose="02040503050406030204" pitchFamily="18" charset="0"/>
                        </a:rPr>
                        <m:t>=</m:t>
                      </m:r>
                      <m:r>
                        <a:rPr lang="en-US" sz="2800" i="1">
                          <a:latin typeface="Cambria Math" panose="02040503050406030204" pitchFamily="18" charset="0"/>
                        </a:rPr>
                        <m:t>𝜅</m:t>
                      </m:r>
                      <m:r>
                        <a:rPr lang="en-US" sz="2800" i="0">
                          <a:latin typeface="Cambria Math" panose="02040503050406030204" pitchFamily="18" charset="0"/>
                        </a:rPr>
                        <m:t>×</m:t>
                      </m:r>
                      <m:d>
                        <m:dPr>
                          <m:begChr m:val="["/>
                          <m:endChr m:val="]"/>
                          <m:ctrlPr>
                            <a:rPr lang="en-US" sz="2800" i="1">
                              <a:solidFill>
                                <a:srgbClr val="836967"/>
                              </a:solidFill>
                              <a:latin typeface="Cambria Math" panose="02040503050406030204" pitchFamily="18" charset="0"/>
                            </a:rPr>
                          </m:ctrlPr>
                        </m:dPr>
                        <m:e>
                          <m:r>
                            <a:rPr lang="en-US" sz="2800" i="1">
                              <a:latin typeface="Cambria Math" panose="02040503050406030204" pitchFamily="18" charset="0"/>
                            </a:rPr>
                            <m:t>𝑃</m:t>
                          </m:r>
                          <m:d>
                            <m:dPr>
                              <m:ctrlPr>
                                <a:rPr lang="en-US" sz="2800" i="1">
                                  <a:solidFill>
                                    <a:srgbClr val="836967"/>
                                  </a:solidFill>
                                  <a:latin typeface="Cambria Math" panose="02040503050406030204" pitchFamily="18" charset="0"/>
                                </a:rPr>
                              </m:ctrlPr>
                            </m:dPr>
                            <m:e>
                              <m:r>
                                <a:rPr lang="en-US" sz="2800" i="1">
                                  <a:latin typeface="Cambria Math" panose="02040503050406030204" pitchFamily="18" charset="0"/>
                                </a:rPr>
                                <m:t>𝑧</m:t>
                              </m:r>
                            </m:e>
                          </m:d>
                          <m:r>
                            <a:rPr lang="en-US" sz="2800" i="0">
                              <a:latin typeface="Cambria Math" panose="02040503050406030204" pitchFamily="18" charset="0"/>
                            </a:rPr>
                            <m:t>−</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𝑃</m:t>
                              </m:r>
                            </m:e>
                            <m:sub>
                              <m:r>
                                <a:rPr lang="en-US" sz="2800" i="1">
                                  <a:latin typeface="Cambria Math" panose="02040503050406030204" pitchFamily="18" charset="0"/>
                                </a:rPr>
                                <m:t>𝑝𝑒𝑟𝑚𝑒𝑎𝑡𝑒</m:t>
                              </m:r>
                            </m:sub>
                          </m:sSub>
                        </m:e>
                      </m:d>
                      <m:r>
                        <a:rPr lang="en-US" sz="2800" i="0">
                          <a:latin typeface="Cambria Math" panose="02040503050406030204" pitchFamily="18" charset="0"/>
                        </a:rPr>
                        <m:t>×2</m:t>
                      </m:r>
                      <m:r>
                        <a:rPr lang="en-US" sz="2800" i="1">
                          <a:latin typeface="Cambria Math" panose="02040503050406030204" pitchFamily="18" charset="0"/>
                        </a:rPr>
                        <m:t>𝜋</m:t>
                      </m:r>
                      <m:r>
                        <a:rPr lang="en-US" sz="2800" i="1">
                          <a:latin typeface="Cambria Math" panose="02040503050406030204" pitchFamily="18" charset="0"/>
                        </a:rPr>
                        <m:t>𝑅</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𝑁</m:t>
                          </m:r>
                        </m:e>
                        <m:sub>
                          <m:r>
                            <a:rPr lang="en-US" sz="2800" i="1">
                              <a:latin typeface="Cambria Math" panose="02040503050406030204" pitchFamily="18" charset="0"/>
                            </a:rPr>
                            <m:t>𝑓𝑖𝑏𝑒𝑟𝑠</m:t>
                          </m:r>
                        </m:sub>
                      </m:sSub>
                      <m:r>
                        <a:rPr lang="en-US" sz="2800" i="1">
                          <a:latin typeface="Cambria Math" panose="02040503050406030204" pitchFamily="18" charset="0"/>
                        </a:rPr>
                        <m:t>𝛥</m:t>
                      </m:r>
                      <m:r>
                        <a:rPr lang="en-US" sz="2800" i="1">
                          <a:latin typeface="Cambria Math" panose="02040503050406030204" pitchFamily="18" charset="0"/>
                        </a:rPr>
                        <m:t>𝑧</m:t>
                      </m:r>
                    </m:oMath>
                  </m:oMathPara>
                </a14:m>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lgn="just">
                  <a:spcBef>
                    <a:spcPts val="0"/>
                  </a:spcBef>
                  <a:spcAft>
                    <a:spcPts val="0"/>
                  </a:spcAft>
                </a:pPr>
                <a:endParaRPr lang="en-US" sz="2800" dirty="0">
                  <a:latin typeface="Arial" panose="020B0604020202020204" pitchFamily="34" charset="0"/>
                  <a:ea typeface="Times New Roman" panose="02020603050405020304" pitchFamily="18" charset="0"/>
                  <a:cs typeface="Arial" panose="020B0604020202020204" pitchFamily="34" charset="0"/>
                </a:endParaRPr>
              </a:p>
              <a:p>
                <a:pPr marL="0" marR="0" indent="0" algn="just">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𝑄</m:t>
                          </m:r>
                        </m:e>
                        <m:sub>
                          <m:r>
                            <a:rPr lang="en-US" sz="2800" i="1">
                              <a:latin typeface="Cambria Math" panose="02040503050406030204" pitchFamily="18" charset="0"/>
                            </a:rPr>
                            <m:t>𝑠𝑡𝑎𝑟𝑙𝑖𝑛𝑔</m:t>
                          </m:r>
                          <m:r>
                            <a:rPr lang="en-US" sz="2800" i="0">
                              <a:latin typeface="Cambria Math" panose="02040503050406030204" pitchFamily="18" charset="0"/>
                            </a:rPr>
                            <m:t>,</m:t>
                          </m:r>
                          <m:r>
                            <a:rPr lang="en-US" sz="2800" i="1">
                              <a:latin typeface="Cambria Math" panose="02040503050406030204" pitchFamily="18" charset="0"/>
                            </a:rPr>
                            <m:t>𝑜𝑢𝑡</m:t>
                          </m:r>
                        </m:sub>
                      </m:sSub>
                      <m:d>
                        <m:dPr>
                          <m:ctrlPr>
                            <a:rPr lang="en-US" sz="2800" i="1">
                              <a:latin typeface="Cambria Math" panose="02040503050406030204" pitchFamily="18" charset="0"/>
                            </a:rPr>
                          </m:ctrlPr>
                        </m:dPr>
                        <m:e>
                          <m:r>
                            <a:rPr lang="en-US" sz="2800" b="0" i="1" smtClean="0">
                              <a:latin typeface="Cambria Math" panose="02040503050406030204" pitchFamily="18" charset="0"/>
                            </a:rPr>
                            <m:t>𝑡</m:t>
                          </m:r>
                          <m:r>
                            <a:rPr lang="en-US" sz="2800" b="0" i="1" smtClean="0">
                              <a:latin typeface="Cambria Math" panose="02040503050406030204" pitchFamily="18" charset="0"/>
                            </a:rPr>
                            <m:t>=0,</m:t>
                          </m:r>
                          <m:r>
                            <a:rPr lang="en-US" sz="2800" i="1">
                              <a:latin typeface="Cambria Math" panose="02040503050406030204" pitchFamily="18" charset="0"/>
                            </a:rPr>
                            <m:t>𝑧</m:t>
                          </m:r>
                        </m:e>
                      </m:d>
                      <m:r>
                        <a:rPr lang="en-US" sz="2800" i="0">
                          <a:latin typeface="Cambria Math" panose="02040503050406030204" pitchFamily="18" charset="0"/>
                        </a:rPr>
                        <m:t>≈2</m:t>
                      </m:r>
                      <m:r>
                        <a:rPr lang="en-US" sz="2800" i="1">
                          <a:latin typeface="Cambria Math" panose="02040503050406030204" pitchFamily="18" charset="0"/>
                        </a:rPr>
                        <m:t>𝜋</m:t>
                      </m:r>
                      <m:r>
                        <a:rPr lang="en-US" sz="2800" i="1">
                          <a:latin typeface="Cambria Math" panose="02040503050406030204" pitchFamily="18" charset="0"/>
                        </a:rPr>
                        <m:t>𝑅</m:t>
                      </m:r>
                      <m:sSub>
                        <m:sSubPr>
                          <m:ctrlPr>
                            <a:rPr lang="en-US" sz="2800" i="1">
                              <a:latin typeface="Cambria Math" panose="02040503050406030204" pitchFamily="18" charset="0"/>
                            </a:rPr>
                          </m:ctrlPr>
                        </m:sSubPr>
                        <m:e>
                          <m:r>
                            <a:rPr lang="en-US" sz="2800" i="1">
                              <a:latin typeface="Cambria Math" panose="02040503050406030204" pitchFamily="18" charset="0"/>
                            </a:rPr>
                            <m:t>𝑁</m:t>
                          </m:r>
                        </m:e>
                        <m:sub>
                          <m:r>
                            <a:rPr lang="en-US" sz="2800" i="1">
                              <a:latin typeface="Cambria Math" panose="02040503050406030204" pitchFamily="18" charset="0"/>
                            </a:rPr>
                            <m:t>𝑓𝑖𝑏𝑒𝑟𝑠</m:t>
                          </m:r>
                        </m:sub>
                      </m:sSub>
                      <m:r>
                        <a:rPr lang="en-US" sz="2800" i="1">
                          <a:latin typeface="Cambria Math" panose="02040503050406030204" pitchFamily="18" charset="0"/>
                        </a:rPr>
                        <m:t>𝜅</m:t>
                      </m:r>
                      <m:nary>
                        <m:naryPr>
                          <m:limLoc m:val="subSup"/>
                          <m:ctrlPr>
                            <a:rPr lang="en-US" sz="2800" i="1">
                              <a:latin typeface="Cambria Math" panose="02040503050406030204" pitchFamily="18" charset="0"/>
                            </a:rPr>
                          </m:ctrlPr>
                        </m:naryPr>
                        <m:sub>
                          <m:r>
                            <a:rPr lang="en-US" sz="2800" i="1">
                              <a:latin typeface="Cambria Math" panose="02040503050406030204" pitchFamily="18" charset="0"/>
                            </a:rPr>
                            <m:t>𝑧</m:t>
                          </m:r>
                          <m:r>
                            <a:rPr lang="en-US" sz="2800" i="0">
                              <a:latin typeface="Cambria Math" panose="02040503050406030204" pitchFamily="18" charset="0"/>
                            </a:rPr>
                            <m:t>=0</m:t>
                          </m:r>
                        </m:sub>
                        <m:sup>
                          <m:r>
                            <a:rPr lang="en-US" sz="2800" i="1">
                              <a:latin typeface="Cambria Math" panose="02040503050406030204" pitchFamily="18" charset="0"/>
                            </a:rPr>
                            <m:t>𝑧</m:t>
                          </m:r>
                          <m:r>
                            <a:rPr lang="en-US" sz="2800" i="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𝐿</m:t>
                              </m:r>
                            </m:num>
                            <m:den>
                              <m:r>
                                <a:rPr lang="en-US" sz="2800" i="0">
                                  <a:latin typeface="Cambria Math" panose="02040503050406030204" pitchFamily="18" charset="0"/>
                                </a:rPr>
                                <m:t>2</m:t>
                              </m:r>
                            </m:den>
                          </m:f>
                        </m:sup>
                        <m:e>
                          <m:f>
                            <m:fPr>
                              <m:ctrlPr>
                                <a:rPr lang="en-US" sz="2800" i="1">
                                  <a:latin typeface="Cambria Math" panose="02040503050406030204" pitchFamily="18" charset="0"/>
                                </a:rPr>
                              </m:ctrlPr>
                            </m:fPr>
                            <m:num>
                              <m:r>
                                <a:rPr lang="en-US" sz="2800" i="0">
                                  <a:latin typeface="Cambria Math" panose="02040503050406030204" pitchFamily="18" charset="0"/>
                                </a:rPr>
                                <m:t>8</m:t>
                              </m:r>
                              <m:r>
                                <a:rPr lang="en-US" sz="2800" i="1">
                                  <a:latin typeface="Cambria Math" panose="02040503050406030204" pitchFamily="18" charset="0"/>
                                </a:rPr>
                                <m:t>𝜇</m:t>
                              </m:r>
                              <m:sSub>
                                <m:sSubPr>
                                  <m:ctrlPr>
                                    <a:rPr lang="en-US" sz="2800" i="1">
                                      <a:latin typeface="Cambria Math" panose="02040503050406030204" pitchFamily="18" charset="0"/>
                                    </a:rPr>
                                  </m:ctrlPr>
                                </m:sSubPr>
                                <m:e>
                                  <m:r>
                                    <a:rPr lang="en-US" sz="2800" i="1">
                                      <a:latin typeface="Cambria Math" panose="02040503050406030204" pitchFamily="18" charset="0"/>
                                    </a:rPr>
                                    <m:t>𝑄</m:t>
                                  </m:r>
                                </m:e>
                                <m:sub>
                                  <m:r>
                                    <a:rPr lang="en-US" sz="2800" i="1">
                                      <a:latin typeface="Cambria Math" panose="02040503050406030204" pitchFamily="18" charset="0"/>
                                    </a:rPr>
                                    <m:t>𝑟</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𝑁</m:t>
                                  </m:r>
                                </m:e>
                                <m:sub>
                                  <m:r>
                                    <a:rPr lang="en-US" sz="2800" i="1">
                                      <a:latin typeface="Cambria Math" panose="02040503050406030204" pitchFamily="18" charset="0"/>
                                    </a:rPr>
                                    <m:t>𝑓𝑖𝑏𝑒𝑟𝑠</m:t>
                                  </m:r>
                                </m:sub>
                              </m:sSub>
                              <m:sSup>
                                <m:sSupPr>
                                  <m:ctrlPr>
                                    <a:rPr lang="en-US" sz="2800" i="1">
                                      <a:latin typeface="Cambria Math" panose="02040503050406030204" pitchFamily="18" charset="0"/>
                                    </a:rPr>
                                  </m:ctrlPr>
                                </m:sSupPr>
                                <m:e>
                                  <m:r>
                                    <a:rPr lang="en-US" sz="2800" i="1">
                                      <a:latin typeface="Cambria Math" panose="02040503050406030204" pitchFamily="18" charset="0"/>
                                    </a:rPr>
                                    <m:t>𝜋</m:t>
                                  </m:r>
                                  <m:r>
                                    <a:rPr lang="en-US" sz="2800" i="1">
                                      <a:latin typeface="Cambria Math" panose="02040503050406030204" pitchFamily="18" charset="0"/>
                                    </a:rPr>
                                    <m:t>𝑅</m:t>
                                  </m:r>
                                </m:e>
                                <m:sup>
                                  <m:r>
                                    <a:rPr lang="en-US" sz="2800" i="0">
                                      <a:latin typeface="Cambria Math" panose="02040503050406030204" pitchFamily="18" charset="0"/>
                                    </a:rPr>
                                    <m:t>4</m:t>
                                  </m:r>
                                </m:sup>
                              </m:sSup>
                            </m:den>
                          </m:f>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𝐿</m:t>
                                  </m:r>
                                </m:num>
                                <m:den>
                                  <m:r>
                                    <a:rPr lang="en-US" sz="2800" i="0">
                                      <a:latin typeface="Cambria Math" panose="02040503050406030204" pitchFamily="18" charset="0"/>
                                    </a:rPr>
                                    <m:t>2</m:t>
                                  </m:r>
                                </m:den>
                              </m:f>
                              <m:r>
                                <a:rPr lang="en-US" sz="2800" i="0">
                                  <a:latin typeface="Cambria Math" panose="02040503050406030204" pitchFamily="18" charset="0"/>
                                </a:rPr>
                                <m:t>−</m:t>
                              </m:r>
                              <m:r>
                                <a:rPr lang="en-US" sz="2800" i="1">
                                  <a:latin typeface="Cambria Math" panose="02040503050406030204" pitchFamily="18" charset="0"/>
                                </a:rPr>
                                <m:t>𝑧</m:t>
                              </m:r>
                            </m:e>
                          </m:d>
                          <m:r>
                            <a:rPr lang="en-US" sz="2800" i="1">
                              <a:latin typeface="Cambria Math" panose="02040503050406030204" pitchFamily="18" charset="0"/>
                            </a:rPr>
                            <m:t>𝑑𝑧</m:t>
                          </m:r>
                        </m:e>
                      </m:nary>
                    </m:oMath>
                  </m:oMathPara>
                </a14:m>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lgn="just">
                  <a:spcBef>
                    <a:spcPts val="0"/>
                  </a:spcBef>
                  <a:spcAft>
                    <a:spcPts val="0"/>
                  </a:spcAft>
                </a:pPr>
                <a:endParaRPr lang="en-US" sz="2800" dirty="0">
                  <a:latin typeface="Arial" panose="020B0604020202020204" pitchFamily="34" charset="0"/>
                  <a:ea typeface="Times New Roman" panose="02020603050405020304" pitchFamily="18" charset="0"/>
                  <a:cs typeface="Arial" panose="020B0604020202020204" pitchFamily="34" charset="0"/>
                </a:endParaRPr>
              </a:p>
              <a:p>
                <a:pPr marL="0" marR="0" indent="0" algn="just">
                  <a:spcBef>
                    <a:spcPts val="0"/>
                  </a:spcBef>
                  <a:spcAft>
                    <a:spcPts val="0"/>
                  </a:spcAft>
                </a:pP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𝑭𝒖𝒕𝒊𝒍𝒆</m:t>
                      </m:r>
                      <m:r>
                        <a:rPr lang="en-US" sz="2800" b="1" i="0">
                          <a:latin typeface="Cambria Math" panose="02040503050406030204" pitchFamily="18" charset="0"/>
                        </a:rPr>
                        <m:t> </m:t>
                      </m:r>
                      <m:r>
                        <a:rPr lang="en-US" sz="2800" b="1" i="1">
                          <a:latin typeface="Cambria Math" panose="02040503050406030204" pitchFamily="18" charset="0"/>
                        </a:rPr>
                        <m:t>𝑭𝒍𝒐𝒘</m:t>
                      </m:r>
                      <m:r>
                        <a:rPr lang="en-US" sz="2800" b="1" i="0">
                          <a:latin typeface="Cambria Math" panose="02040503050406030204" pitchFamily="18" charset="0"/>
                        </a:rPr>
                        <m:t> </m:t>
                      </m:r>
                      <m:r>
                        <a:rPr lang="en-US" sz="2800" b="1" i="1">
                          <a:latin typeface="Cambria Math" panose="02040503050406030204" pitchFamily="18" charset="0"/>
                        </a:rPr>
                        <m:t>𝑹𝒂𝒕𝒊𝒐</m:t>
                      </m:r>
                      <m:r>
                        <a:rPr lang="en-US" sz="2800" b="1" i="1" smtClean="0">
                          <a:latin typeface="Cambria Math" panose="02040503050406030204" pitchFamily="18" charset="0"/>
                        </a:rPr>
                        <m:t>=</m:t>
                      </m:r>
                      <m:f>
                        <m:fPr>
                          <m:ctrlPr>
                            <a:rPr lang="en-US" sz="2800" b="1" i="1">
                              <a:solidFill>
                                <a:srgbClr val="836967"/>
                              </a:solidFill>
                              <a:latin typeface="Cambria Math" panose="02040503050406030204" pitchFamily="18" charset="0"/>
                            </a:rPr>
                          </m:ctrlPr>
                        </m:fPr>
                        <m:num>
                          <m:sSub>
                            <m:sSubPr>
                              <m:ctrlPr>
                                <a:rPr lang="en-US" sz="2800" b="1" i="1">
                                  <a:solidFill>
                                    <a:srgbClr val="836967"/>
                                  </a:solidFill>
                                  <a:latin typeface="Cambria Math" panose="02040503050406030204" pitchFamily="18" charset="0"/>
                                </a:rPr>
                              </m:ctrlPr>
                            </m:sSubPr>
                            <m:e>
                              <m:r>
                                <a:rPr lang="en-US" sz="2800" b="1" i="1">
                                  <a:latin typeface="Cambria Math" panose="02040503050406030204" pitchFamily="18" charset="0"/>
                                </a:rPr>
                                <m:t>𝑸</m:t>
                              </m:r>
                            </m:e>
                            <m:sub>
                              <m:r>
                                <a:rPr lang="en-US" sz="2800" b="1" i="1">
                                  <a:latin typeface="Cambria Math" panose="02040503050406030204" pitchFamily="18" charset="0"/>
                                </a:rPr>
                                <m:t>𝒔𝒕𝒂𝒓𝒍𝒊𝒏𝒈</m:t>
                              </m:r>
                              <m:r>
                                <a:rPr lang="en-US" sz="2800" b="1" i="0">
                                  <a:latin typeface="Cambria Math" panose="02040503050406030204" pitchFamily="18" charset="0"/>
                                </a:rPr>
                                <m:t>,</m:t>
                              </m:r>
                              <m:r>
                                <a:rPr lang="en-US" sz="2800" b="1" i="1">
                                  <a:latin typeface="Cambria Math" panose="02040503050406030204" pitchFamily="18" charset="0"/>
                                </a:rPr>
                                <m:t>𝒐𝒖𝒕</m:t>
                              </m:r>
                              <m:r>
                                <a:rPr lang="en-US" sz="2800" b="1" i="0">
                                  <a:latin typeface="Cambria Math" panose="02040503050406030204" pitchFamily="18" charset="0"/>
                                </a:rPr>
                                <m:t> </m:t>
                              </m:r>
                            </m:sub>
                          </m:sSub>
                        </m:num>
                        <m:den>
                          <m:sSub>
                            <m:sSubPr>
                              <m:ctrlPr>
                                <a:rPr lang="en-US" sz="2800" b="1" i="1">
                                  <a:solidFill>
                                    <a:srgbClr val="836967"/>
                                  </a:solidFill>
                                  <a:latin typeface="Cambria Math" panose="02040503050406030204" pitchFamily="18" charset="0"/>
                                </a:rPr>
                              </m:ctrlPr>
                            </m:sSubPr>
                            <m:e>
                              <m:r>
                                <a:rPr lang="en-US" sz="2800" b="1" i="1">
                                  <a:latin typeface="Cambria Math" panose="02040503050406030204" pitchFamily="18" charset="0"/>
                                </a:rPr>
                                <m:t>𝑸</m:t>
                              </m:r>
                            </m:e>
                            <m:sub>
                              <m:r>
                                <a:rPr lang="en-US" sz="2800" b="1" i="1">
                                  <a:latin typeface="Cambria Math" panose="02040503050406030204" pitchFamily="18" charset="0"/>
                                </a:rPr>
                                <m:t>𝒑</m:t>
                              </m:r>
                            </m:sub>
                          </m:sSub>
                        </m:den>
                      </m:f>
                      <m:r>
                        <a:rPr lang="en-US" sz="2800" b="1" i="0">
                          <a:latin typeface="Cambria Math" panose="02040503050406030204" pitchFamily="18" charset="0"/>
                        </a:rPr>
                        <m:t>≈ </m:t>
                      </m:r>
                      <m:f>
                        <m:fPr>
                          <m:ctrlPr>
                            <a:rPr lang="en-US" sz="2800" b="1" i="1">
                              <a:solidFill>
                                <a:srgbClr val="836967"/>
                              </a:solidFill>
                              <a:latin typeface="Cambria Math" panose="02040503050406030204" pitchFamily="18" charset="0"/>
                            </a:rPr>
                          </m:ctrlPr>
                        </m:fPr>
                        <m:num>
                          <m:r>
                            <a:rPr lang="en-US" sz="2800" b="1" i="0">
                              <a:latin typeface="Cambria Math" panose="02040503050406030204" pitchFamily="18" charset="0"/>
                            </a:rPr>
                            <m:t>𝟐</m:t>
                          </m:r>
                          <m:r>
                            <a:rPr lang="en-US" sz="2800" b="1" i="1">
                              <a:latin typeface="Cambria Math" panose="02040503050406030204" pitchFamily="18" charset="0"/>
                            </a:rPr>
                            <m:t>𝝁</m:t>
                          </m:r>
                          <m:sSup>
                            <m:sSupPr>
                              <m:ctrlPr>
                                <a:rPr lang="en-US" sz="2800" b="1" i="1">
                                  <a:solidFill>
                                    <a:srgbClr val="836967"/>
                                  </a:solidFill>
                                  <a:latin typeface="Cambria Math" panose="02040503050406030204" pitchFamily="18" charset="0"/>
                                </a:rPr>
                              </m:ctrlPr>
                            </m:sSupPr>
                            <m:e>
                              <m:r>
                                <a:rPr lang="en-US" sz="2800" b="1" i="1">
                                  <a:latin typeface="Cambria Math" panose="02040503050406030204" pitchFamily="18" charset="0"/>
                                </a:rPr>
                                <m:t>𝑳</m:t>
                              </m:r>
                            </m:e>
                            <m:sup>
                              <m:r>
                                <a:rPr lang="en-US" sz="2800" b="1" i="0">
                                  <a:latin typeface="Cambria Math" panose="02040503050406030204" pitchFamily="18" charset="0"/>
                                </a:rPr>
                                <m:t>𝟐</m:t>
                              </m:r>
                            </m:sup>
                          </m:sSup>
                          <m:sSub>
                            <m:sSubPr>
                              <m:ctrlPr>
                                <a:rPr lang="en-US" sz="2800" b="1" i="1">
                                  <a:solidFill>
                                    <a:srgbClr val="836967"/>
                                  </a:solidFill>
                                  <a:latin typeface="Cambria Math" panose="02040503050406030204" pitchFamily="18" charset="0"/>
                                </a:rPr>
                              </m:ctrlPr>
                            </m:sSubPr>
                            <m:e>
                              <m:r>
                                <a:rPr lang="en-US" sz="2800" b="1" i="1">
                                  <a:latin typeface="Cambria Math" panose="02040503050406030204" pitchFamily="18" charset="0"/>
                                </a:rPr>
                                <m:t>𝑸</m:t>
                              </m:r>
                            </m:e>
                            <m:sub>
                              <m:r>
                                <a:rPr lang="en-US" sz="2800" b="1" i="1">
                                  <a:latin typeface="Cambria Math" panose="02040503050406030204" pitchFamily="18" charset="0"/>
                                </a:rPr>
                                <m:t>𝒓</m:t>
                              </m:r>
                            </m:sub>
                          </m:sSub>
                          <m:r>
                            <a:rPr lang="en-US" sz="2800" b="1" i="1">
                              <a:latin typeface="Cambria Math" panose="02040503050406030204" pitchFamily="18" charset="0"/>
                            </a:rPr>
                            <m:t>𝜿</m:t>
                          </m:r>
                        </m:num>
                        <m:den>
                          <m:sSup>
                            <m:sSupPr>
                              <m:ctrlPr>
                                <a:rPr lang="en-US" sz="2800" b="1" i="1">
                                  <a:solidFill>
                                    <a:srgbClr val="836967"/>
                                  </a:solidFill>
                                  <a:latin typeface="Cambria Math" panose="02040503050406030204" pitchFamily="18" charset="0"/>
                                </a:rPr>
                              </m:ctrlPr>
                            </m:sSupPr>
                            <m:e>
                              <m:r>
                                <a:rPr lang="en-US" sz="2800" b="1" i="1">
                                  <a:latin typeface="Cambria Math" panose="02040503050406030204" pitchFamily="18" charset="0"/>
                                </a:rPr>
                                <m:t>𝑹</m:t>
                              </m:r>
                            </m:e>
                            <m:sup>
                              <m:r>
                                <a:rPr lang="en-US" sz="2800" b="1" i="0">
                                  <a:latin typeface="Cambria Math" panose="02040503050406030204" pitchFamily="18" charset="0"/>
                                </a:rPr>
                                <m:t>𝟑</m:t>
                              </m:r>
                            </m:sup>
                          </m:sSup>
                          <m:sSub>
                            <m:sSubPr>
                              <m:ctrlPr>
                                <a:rPr lang="en-US" sz="2800" b="1" i="1">
                                  <a:solidFill>
                                    <a:srgbClr val="836967"/>
                                  </a:solidFill>
                                  <a:latin typeface="Cambria Math" panose="02040503050406030204" pitchFamily="18" charset="0"/>
                                </a:rPr>
                              </m:ctrlPr>
                            </m:sSubPr>
                            <m:e>
                              <m:r>
                                <a:rPr lang="en-US" sz="2800" b="1" i="1">
                                  <a:latin typeface="Cambria Math" panose="02040503050406030204" pitchFamily="18" charset="0"/>
                                </a:rPr>
                                <m:t>𝑸</m:t>
                              </m:r>
                            </m:e>
                            <m:sub>
                              <m:r>
                                <a:rPr lang="en-US" sz="2800" b="1" i="1">
                                  <a:latin typeface="Cambria Math" panose="02040503050406030204" pitchFamily="18" charset="0"/>
                                </a:rPr>
                                <m:t>𝒑</m:t>
                              </m:r>
                            </m:sub>
                          </m:sSub>
                        </m:den>
                      </m:f>
                    </m:oMath>
                  </m:oMathPara>
                </a14:m>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lgn="just">
                  <a:spcBef>
                    <a:spcPts val="0"/>
                  </a:spcBef>
                  <a:spcAft>
                    <a:spcPts val="0"/>
                  </a:spcAft>
                </a:pPr>
                <a:endParaRPr lang="en-US" sz="2800" dirty="0">
                  <a:latin typeface="Arial" panose="020B0604020202020204" pitchFamily="34" charset="0"/>
                  <a:ea typeface="Times New Roman" panose="02020603050405020304" pitchFamily="18" charset="0"/>
                  <a:cs typeface="Arial" panose="020B0604020202020204" pitchFamily="34" charset="0"/>
                </a:endParaRPr>
              </a:p>
              <a:p>
                <a:pPr algn="just"/>
                <a:r>
                  <a:rPr lang="en-US" sz="2800" dirty="0">
                    <a:effectLst/>
                    <a:latin typeface="+mj-lt"/>
                    <a:ea typeface="Times New Roman" panose="02020603050405020304" pitchFamily="18" charset="0"/>
                    <a:cs typeface="Times New Roman" panose="02020603050405020304" pitchFamily="18" charset="0"/>
                  </a:rPr>
                  <a:t>This dimensionless number estimates the ratio between flow rate exiting the fibers into the permeate shell and the actual net permeate flow rate at time = 0 in the absence of fouling.</a:t>
                </a:r>
                <a:endParaRPr lang="en-US" sz="2800" dirty="0">
                  <a:latin typeface="Arial" panose="020B0604020202020204" pitchFamily="34" charset="0"/>
                  <a:ea typeface="Times New Roman" panose="02020603050405020304" pitchFamily="18" charset="0"/>
                  <a:cs typeface="Arial" panose="020B0604020202020204" pitchFamily="34" charset="0"/>
                </a:endParaRPr>
              </a:p>
              <a:p>
                <a:pPr marL="0" marR="0" indent="0" algn="just">
                  <a:spcBef>
                    <a:spcPts val="0"/>
                  </a:spcBef>
                  <a:spcAft>
                    <a:spcPts val="0"/>
                  </a:spcAft>
                </a:pP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p:txBody>
          </p:sp>
        </mc:Choice>
        <mc:Fallback xmlns="">
          <p:sp>
            <p:nvSpPr>
              <p:cNvPr id="18" name="TextBox 17">
                <a:extLst>
                  <a:ext uri="{FF2B5EF4-FFF2-40B4-BE49-F238E27FC236}">
                    <a16:creationId xmlns:a16="http://schemas.microsoft.com/office/drawing/2014/main" id="{CF0B5A03-2357-F00B-259F-7668A5125256}"/>
                  </a:ext>
                </a:extLst>
              </p:cNvPr>
              <p:cNvSpPr txBox="1">
                <a:spLocks noRot="1" noChangeAspect="1" noMove="1" noResize="1" noEditPoints="1" noAdjustHandles="1" noChangeArrowheads="1" noChangeShapeType="1" noTextEdit="1"/>
              </p:cNvSpPr>
              <p:nvPr/>
            </p:nvSpPr>
            <p:spPr>
              <a:xfrm>
                <a:off x="12724981" y="15606515"/>
                <a:ext cx="10411331" cy="11991360"/>
              </a:xfrm>
              <a:prstGeom prst="rect">
                <a:avLst/>
              </a:prstGeom>
              <a:blipFill>
                <a:blip r:embed="rId8"/>
                <a:stretch>
                  <a:fillRect l="-1171" t="-508" r="-1230"/>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42DE55A7-8753-4DB5-5605-DD2BC85AB0E5}"/>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r="16487"/>
          <a:stretch/>
        </p:blipFill>
        <p:spPr bwMode="auto">
          <a:xfrm>
            <a:off x="12308676" y="6496610"/>
            <a:ext cx="11180102" cy="5669934"/>
          </a:xfrm>
          <a:prstGeom prst="rect">
            <a:avLst/>
          </a:prstGeom>
          <a:noFill/>
        </p:spPr>
      </p:pic>
      <p:grpSp>
        <p:nvGrpSpPr>
          <p:cNvPr id="36" name="Group 35">
            <a:extLst>
              <a:ext uri="{FF2B5EF4-FFF2-40B4-BE49-F238E27FC236}">
                <a16:creationId xmlns:a16="http://schemas.microsoft.com/office/drawing/2014/main" id="{3D4EE4A2-5E26-7817-21DD-EDAB4E77D6B3}"/>
              </a:ext>
            </a:extLst>
          </p:cNvPr>
          <p:cNvGrpSpPr/>
          <p:nvPr/>
        </p:nvGrpSpPr>
        <p:grpSpPr>
          <a:xfrm>
            <a:off x="24556944" y="6186494"/>
            <a:ext cx="9854103" cy="5690370"/>
            <a:chOff x="12152836" y="14106933"/>
            <a:chExt cx="10878810" cy="6388879"/>
          </a:xfrm>
        </p:grpSpPr>
        <p:pic>
          <p:nvPicPr>
            <p:cNvPr id="10" name="Picture 9">
              <a:extLst>
                <a:ext uri="{FF2B5EF4-FFF2-40B4-BE49-F238E27FC236}">
                  <a16:creationId xmlns:a16="http://schemas.microsoft.com/office/drawing/2014/main" id="{A20B03AF-6AFB-4CC5-8F49-53209AAA15EA}"/>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2152836" y="14106933"/>
              <a:ext cx="10878810" cy="6388879"/>
            </a:xfrm>
            <a:prstGeom prst="rect">
              <a:avLst/>
            </a:prstGeom>
            <a:noFill/>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D354FDD-BAB0-1C7A-5177-E84C0817AB84}"/>
                    </a:ext>
                  </a:extLst>
                </p:cNvPr>
                <p:cNvSpPr txBox="1"/>
                <p:nvPr/>
              </p:nvSpPr>
              <p:spPr>
                <a:xfrm>
                  <a:off x="12295071" y="14981855"/>
                  <a:ext cx="997347" cy="5215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𝑸</m:t>
                            </m:r>
                          </m:e>
                          <m:sub>
                            <m:r>
                              <a:rPr lang="en-US" sz="2800" b="1" i="1" smtClean="0">
                                <a:latin typeface="Cambria Math" panose="02040503050406030204" pitchFamily="18" charset="0"/>
                              </a:rPr>
                              <m:t>𝒓</m:t>
                            </m:r>
                          </m:sub>
                        </m:sSub>
                      </m:oMath>
                    </m:oMathPara>
                  </a14:m>
                  <a:endParaRPr lang="en-US" sz="2800" b="1" dirty="0"/>
                </a:p>
              </p:txBody>
            </p:sp>
          </mc:Choice>
          <mc:Fallback xmlns="">
            <p:sp>
              <p:nvSpPr>
                <p:cNvPr id="19" name="TextBox 18">
                  <a:extLst>
                    <a:ext uri="{FF2B5EF4-FFF2-40B4-BE49-F238E27FC236}">
                      <a16:creationId xmlns:a16="http://schemas.microsoft.com/office/drawing/2014/main" id="{BD354FDD-BAB0-1C7A-5177-E84C0817AB84}"/>
                    </a:ext>
                  </a:extLst>
                </p:cNvPr>
                <p:cNvSpPr txBox="1">
                  <a:spLocks noRot="1" noChangeAspect="1" noMove="1" noResize="1" noEditPoints="1" noAdjustHandles="1" noChangeArrowheads="1" noChangeShapeType="1" noTextEdit="1"/>
                </p:cNvSpPr>
                <p:nvPr/>
              </p:nvSpPr>
              <p:spPr>
                <a:xfrm>
                  <a:off x="12295071" y="14981855"/>
                  <a:ext cx="997347" cy="521553"/>
                </a:xfrm>
                <a:prstGeom prst="rect">
                  <a:avLst/>
                </a:prstGeom>
                <a:blipFill>
                  <a:blip r:embed="rId11"/>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A2D3B85-2CD7-B1D9-17D9-FC183B15CA76}"/>
                    </a:ext>
                  </a:extLst>
                </p:cNvPr>
                <p:cNvSpPr txBox="1"/>
                <p:nvPr/>
              </p:nvSpPr>
              <p:spPr>
                <a:xfrm>
                  <a:off x="14570864" y="16270385"/>
                  <a:ext cx="997347" cy="5640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𝑸</m:t>
                            </m:r>
                          </m:e>
                          <m:sub>
                            <m:r>
                              <a:rPr lang="en-US" sz="2800" b="1" i="1" smtClean="0">
                                <a:latin typeface="Cambria Math" panose="02040503050406030204" pitchFamily="18" charset="0"/>
                              </a:rPr>
                              <m:t>𝒔𝒕𝒂𝒓𝒍𝒊𝒏𝒈</m:t>
                            </m:r>
                            <m:r>
                              <a:rPr lang="en-US" sz="2800" b="1" i="1" smtClean="0">
                                <a:latin typeface="Cambria Math" panose="02040503050406030204" pitchFamily="18" charset="0"/>
                              </a:rPr>
                              <m:t>,</m:t>
                            </m:r>
                            <m:r>
                              <a:rPr lang="en-US" sz="2800" b="1" i="1" smtClean="0">
                                <a:latin typeface="Cambria Math" panose="02040503050406030204" pitchFamily="18" charset="0"/>
                              </a:rPr>
                              <m:t>𝒐𝒖𝒕</m:t>
                            </m:r>
                          </m:sub>
                        </m:sSub>
                      </m:oMath>
                    </m:oMathPara>
                  </a14:m>
                  <a:endParaRPr lang="en-US" sz="2800" b="1" dirty="0"/>
                </a:p>
              </p:txBody>
            </p:sp>
          </mc:Choice>
          <mc:Fallback xmlns="">
            <p:sp>
              <p:nvSpPr>
                <p:cNvPr id="34" name="TextBox 33">
                  <a:extLst>
                    <a:ext uri="{FF2B5EF4-FFF2-40B4-BE49-F238E27FC236}">
                      <a16:creationId xmlns:a16="http://schemas.microsoft.com/office/drawing/2014/main" id="{5A2D3B85-2CD7-B1D9-17D9-FC183B15CA76}"/>
                    </a:ext>
                  </a:extLst>
                </p:cNvPr>
                <p:cNvSpPr txBox="1">
                  <a:spLocks noRot="1" noChangeAspect="1" noMove="1" noResize="1" noEditPoints="1" noAdjustHandles="1" noChangeArrowheads="1" noChangeShapeType="1" noTextEdit="1"/>
                </p:cNvSpPr>
                <p:nvPr/>
              </p:nvSpPr>
              <p:spPr>
                <a:xfrm>
                  <a:off x="14570864" y="16270385"/>
                  <a:ext cx="997347" cy="564001"/>
                </a:xfrm>
                <a:prstGeom prst="rect">
                  <a:avLst/>
                </a:prstGeom>
                <a:blipFill>
                  <a:blip r:embed="rId12"/>
                  <a:stretch>
                    <a:fillRect r="-110811" b="-36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2935222-2E63-9806-0F29-0B7FDDF9942F}"/>
                    </a:ext>
                  </a:extLst>
                </p:cNvPr>
                <p:cNvSpPr txBox="1"/>
                <p:nvPr/>
              </p:nvSpPr>
              <p:spPr>
                <a:xfrm>
                  <a:off x="18260357" y="15477353"/>
                  <a:ext cx="997347" cy="5640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𝑸</m:t>
                            </m:r>
                          </m:e>
                          <m:sub>
                            <m:r>
                              <a:rPr lang="en-US" sz="2800" b="1" i="1" smtClean="0">
                                <a:latin typeface="Cambria Math" panose="02040503050406030204" pitchFamily="18" charset="0"/>
                              </a:rPr>
                              <m:t>𝒔𝒕𝒂𝒓𝒍𝒊𝒏𝒈</m:t>
                            </m:r>
                            <m:r>
                              <a:rPr lang="en-US" sz="2800" b="1" i="1" smtClean="0">
                                <a:latin typeface="Cambria Math" panose="02040503050406030204" pitchFamily="18" charset="0"/>
                              </a:rPr>
                              <m:t>,</m:t>
                            </m:r>
                            <m:r>
                              <a:rPr lang="en-US" sz="2800" b="1" i="1" smtClean="0">
                                <a:latin typeface="Cambria Math" panose="02040503050406030204" pitchFamily="18" charset="0"/>
                              </a:rPr>
                              <m:t>𝒊𝒏</m:t>
                            </m:r>
                          </m:sub>
                        </m:sSub>
                      </m:oMath>
                    </m:oMathPara>
                  </a14:m>
                  <a:endParaRPr lang="en-US" sz="2800" b="1" dirty="0"/>
                </a:p>
              </p:txBody>
            </p:sp>
          </mc:Choice>
          <mc:Fallback xmlns="">
            <p:sp>
              <p:nvSpPr>
                <p:cNvPr id="35" name="TextBox 34">
                  <a:extLst>
                    <a:ext uri="{FF2B5EF4-FFF2-40B4-BE49-F238E27FC236}">
                      <a16:creationId xmlns:a16="http://schemas.microsoft.com/office/drawing/2014/main" id="{72935222-2E63-9806-0F29-0B7FDDF9942F}"/>
                    </a:ext>
                  </a:extLst>
                </p:cNvPr>
                <p:cNvSpPr txBox="1">
                  <a:spLocks noRot="1" noChangeAspect="1" noMove="1" noResize="1" noEditPoints="1" noAdjustHandles="1" noChangeArrowheads="1" noChangeShapeType="1" noTextEdit="1"/>
                </p:cNvSpPr>
                <p:nvPr/>
              </p:nvSpPr>
              <p:spPr>
                <a:xfrm>
                  <a:off x="18260357" y="15477353"/>
                  <a:ext cx="997347" cy="564001"/>
                </a:xfrm>
                <a:prstGeom prst="rect">
                  <a:avLst/>
                </a:prstGeom>
                <a:blipFill>
                  <a:blip r:embed="rId13"/>
                  <a:stretch>
                    <a:fillRect r="-93919" b="-3659"/>
                  </a:stretch>
                </a:blipFill>
              </p:spPr>
              <p:txBody>
                <a:bodyPr/>
                <a:lstStyle/>
                <a:p>
                  <a:r>
                    <a:rPr lang="en-US">
                      <a:noFill/>
                    </a:rPr>
                    <a:t> </a:t>
                  </a:r>
                </a:p>
              </p:txBody>
            </p:sp>
          </mc:Fallback>
        </mc:AlternateContent>
      </p:grpSp>
      <p:sp>
        <p:nvSpPr>
          <p:cNvPr id="9" name="Rectangle 8">
            <a:extLst>
              <a:ext uri="{FF2B5EF4-FFF2-40B4-BE49-F238E27FC236}">
                <a16:creationId xmlns:a16="http://schemas.microsoft.com/office/drawing/2014/main" id="{E3B06B58-7178-FD80-927C-F015F0032C2A}"/>
              </a:ext>
            </a:extLst>
          </p:cNvPr>
          <p:cNvSpPr/>
          <p:nvPr/>
        </p:nvSpPr>
        <p:spPr>
          <a:xfrm>
            <a:off x="20206819" y="6832006"/>
            <a:ext cx="763856" cy="3400189"/>
          </a:xfrm>
          <a:prstGeom prst="rect">
            <a:avLst/>
          </a:prstGeom>
          <a:noFill/>
          <a:ln w="57150">
            <a:solidFill>
              <a:schemeClr val="accent3"/>
            </a:solidFill>
            <a:prstDash val="dash"/>
          </a:ln>
          <a:effectLst/>
          <a:extLst>
            <a:ext uri="{909E8E84-426E-40DD-AFC4-6F175D3DCCD1}">
              <a14:hiddenFill xmlns:a14="http://schemas.microsoft.com/office/drawing/2010/main">
                <a:solidFill>
                  <a:schemeClr val="accent1"/>
                </a:solidFill>
              </a14:hiddenFill>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a:noFill/>
              </a:ln>
            </a:endParaRPr>
          </a:p>
        </p:txBody>
      </p:sp>
      <p:cxnSp>
        <p:nvCxnSpPr>
          <p:cNvPr id="25" name="Straight Connector 24">
            <a:extLst>
              <a:ext uri="{FF2B5EF4-FFF2-40B4-BE49-F238E27FC236}">
                <a16:creationId xmlns:a16="http://schemas.microsoft.com/office/drawing/2014/main" id="{B5200066-D4AF-4883-6063-3AC9B2F5DFE3}"/>
              </a:ext>
            </a:extLst>
          </p:cNvPr>
          <p:cNvCxnSpPr>
            <a:cxnSpLocks/>
          </p:cNvCxnSpPr>
          <p:nvPr/>
        </p:nvCxnSpPr>
        <p:spPr>
          <a:xfrm flipV="1">
            <a:off x="20970675" y="6041331"/>
            <a:ext cx="3574226" cy="790675"/>
          </a:xfrm>
          <a:prstGeom prst="line">
            <a:avLst/>
          </a:prstGeom>
          <a:ln w="38100" cmpd="sng">
            <a:solidFill>
              <a:schemeClr val="accent3"/>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41B15DE-ADEC-2C4E-BD8F-36C1A5661F51}"/>
              </a:ext>
            </a:extLst>
          </p:cNvPr>
          <p:cNvCxnSpPr>
            <a:cxnSpLocks/>
          </p:cNvCxnSpPr>
          <p:nvPr/>
        </p:nvCxnSpPr>
        <p:spPr>
          <a:xfrm>
            <a:off x="20982718" y="10236284"/>
            <a:ext cx="3562183" cy="1378931"/>
          </a:xfrm>
          <a:prstGeom prst="line">
            <a:avLst/>
          </a:prstGeom>
          <a:ln w="38100" cmpd="sng">
            <a:solidFill>
              <a:schemeClr val="accent3"/>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EBBCC0F8-9DF7-9C55-53FF-2C9AA23DD06D}"/>
              </a:ext>
            </a:extLst>
          </p:cNvPr>
          <p:cNvSpPr/>
          <p:nvPr/>
        </p:nvSpPr>
        <p:spPr>
          <a:xfrm>
            <a:off x="24544902" y="6003416"/>
            <a:ext cx="9745095" cy="5669934"/>
          </a:xfrm>
          <a:prstGeom prst="rect">
            <a:avLst/>
          </a:prstGeom>
          <a:noFill/>
          <a:ln w="38100">
            <a:solidFill>
              <a:schemeClr val="accent3"/>
            </a:solidFill>
            <a:prstDash val="dash"/>
          </a:ln>
          <a:effectLst/>
          <a:extLst>
            <a:ext uri="{909E8E84-426E-40DD-AFC4-6F175D3DCCD1}">
              <a14:hiddenFill xmlns:a14="http://schemas.microsoft.com/office/drawing/2010/main">
                <a:solidFill>
                  <a:schemeClr val="accent1"/>
                </a:solidFill>
              </a14:hiddenFill>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a:noFill/>
              </a:ln>
            </a:endParaRPr>
          </a:p>
        </p:txBody>
      </p:sp>
      <p:graphicFrame>
        <p:nvGraphicFramePr>
          <p:cNvPr id="45" name="Chart 44">
            <a:extLst>
              <a:ext uri="{FF2B5EF4-FFF2-40B4-BE49-F238E27FC236}">
                <a16:creationId xmlns:a16="http://schemas.microsoft.com/office/drawing/2014/main" id="{3E52CB0C-CFCA-9638-627D-F95DBB6C24FF}"/>
              </a:ext>
            </a:extLst>
          </p:cNvPr>
          <p:cNvGraphicFramePr>
            <a:graphicFrameLocks/>
          </p:cNvGraphicFramePr>
          <p:nvPr>
            <p:extLst>
              <p:ext uri="{D42A27DB-BD31-4B8C-83A1-F6EECF244321}">
                <p14:modId xmlns:p14="http://schemas.microsoft.com/office/powerpoint/2010/main" val="1323061688"/>
              </p:ext>
            </p:extLst>
          </p:nvPr>
        </p:nvGraphicFramePr>
        <p:xfrm>
          <a:off x="12487195" y="27533473"/>
          <a:ext cx="10245742" cy="7650711"/>
        </p:xfrm>
        <a:graphic>
          <a:graphicData uri="http://schemas.openxmlformats.org/drawingml/2006/chart">
            <c:chart xmlns:c="http://schemas.openxmlformats.org/drawingml/2006/chart" xmlns:r="http://schemas.openxmlformats.org/officeDocument/2006/relationships" r:id="rId14"/>
          </a:graphicData>
        </a:graphic>
      </p:graphicFrame>
      <p:sp>
        <p:nvSpPr>
          <p:cNvPr id="48" name="TextBox 47">
            <a:extLst>
              <a:ext uri="{FF2B5EF4-FFF2-40B4-BE49-F238E27FC236}">
                <a16:creationId xmlns:a16="http://schemas.microsoft.com/office/drawing/2014/main" id="{232747D1-DE0E-99DD-46C5-067F2BAAB172}"/>
              </a:ext>
            </a:extLst>
          </p:cNvPr>
          <p:cNvSpPr txBox="1"/>
          <p:nvPr/>
        </p:nvSpPr>
        <p:spPr>
          <a:xfrm>
            <a:off x="12700788" y="35404160"/>
            <a:ext cx="10459715" cy="1200329"/>
          </a:xfrm>
          <a:prstGeom prst="rect">
            <a:avLst/>
          </a:prstGeom>
          <a:noFill/>
        </p:spPr>
        <p:txBody>
          <a:bodyPr wrap="square" rtlCol="0">
            <a:spAutoFit/>
          </a:bodyPr>
          <a:lstStyle/>
          <a:p>
            <a:pPr algn="just"/>
            <a:r>
              <a:rPr lang="en-US" sz="2400" b="1" dirty="0"/>
              <a:t>Figure 2. Model-Calculated </a:t>
            </a:r>
            <a:r>
              <a:rPr lang="en-US" sz="2400" dirty="0"/>
              <a:t>TMP as a function of fractional distance from fiber entry for varying futile flow ratio values. High TMP results in high fluxes which results in more filter fouling.</a:t>
            </a:r>
          </a:p>
        </p:txBody>
      </p:sp>
      <p:pic>
        <p:nvPicPr>
          <p:cNvPr id="52" name="Picture 51">
            <a:extLst>
              <a:ext uri="{FF2B5EF4-FFF2-40B4-BE49-F238E27FC236}">
                <a16:creationId xmlns:a16="http://schemas.microsoft.com/office/drawing/2014/main" id="{8D8D3EBF-DA10-F714-363B-A8FE32869C83}"/>
              </a:ext>
            </a:extLst>
          </p:cNvPr>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3938672" y="41224256"/>
            <a:ext cx="7784256" cy="6971068"/>
          </a:xfrm>
          <a:prstGeom prst="rect">
            <a:avLst/>
          </a:prstGeom>
          <a:noFill/>
        </p:spPr>
      </p:pic>
      <p:sp>
        <p:nvSpPr>
          <p:cNvPr id="53" name="TextBox 52">
            <a:extLst>
              <a:ext uri="{FF2B5EF4-FFF2-40B4-BE49-F238E27FC236}">
                <a16:creationId xmlns:a16="http://schemas.microsoft.com/office/drawing/2014/main" id="{93314A5A-DEF9-A29D-E2CB-A4E21699C8C0}"/>
              </a:ext>
            </a:extLst>
          </p:cNvPr>
          <p:cNvSpPr txBox="1"/>
          <p:nvPr/>
        </p:nvSpPr>
        <p:spPr>
          <a:xfrm>
            <a:off x="12824544" y="48457262"/>
            <a:ext cx="10459715" cy="830997"/>
          </a:xfrm>
          <a:prstGeom prst="rect">
            <a:avLst/>
          </a:prstGeom>
          <a:noFill/>
        </p:spPr>
        <p:txBody>
          <a:bodyPr wrap="square" rtlCol="0">
            <a:spAutoFit/>
          </a:bodyPr>
          <a:lstStyle/>
          <a:p>
            <a:pPr algn="just"/>
            <a:r>
              <a:rPr lang="en-US" sz="2400" b="1" dirty="0"/>
              <a:t>Figure 3. </a:t>
            </a:r>
            <a:r>
              <a:rPr lang="en-US" sz="2400" dirty="0"/>
              <a:t>Model-generated spatially and temporally varying flux profiles for AstraZeneca’s 3L bench scale platform operation. </a:t>
            </a:r>
          </a:p>
        </p:txBody>
      </p:sp>
      <p:sp>
        <p:nvSpPr>
          <p:cNvPr id="55" name="TextBox 54">
            <a:extLst>
              <a:ext uri="{FF2B5EF4-FFF2-40B4-BE49-F238E27FC236}">
                <a16:creationId xmlns:a16="http://schemas.microsoft.com/office/drawing/2014/main" id="{E83FDD92-3067-C558-578A-3434EB360F51}"/>
              </a:ext>
            </a:extLst>
          </p:cNvPr>
          <p:cNvSpPr txBox="1"/>
          <p:nvPr/>
        </p:nvSpPr>
        <p:spPr>
          <a:xfrm>
            <a:off x="12700788" y="36992000"/>
            <a:ext cx="10311768" cy="3970318"/>
          </a:xfrm>
          <a:prstGeom prst="rect">
            <a:avLst/>
          </a:prstGeom>
          <a:noFill/>
        </p:spPr>
        <p:txBody>
          <a:bodyPr wrap="square">
            <a:spAutoFit/>
          </a:bodyPr>
          <a:lstStyle/>
          <a:p>
            <a:pPr algn="just"/>
            <a:r>
              <a:rPr lang="en-US" sz="2800" dirty="0">
                <a:effectLst/>
                <a:latin typeface="+mj-lt"/>
                <a:ea typeface="Times New Roman" panose="02020603050405020304" pitchFamily="18" charset="0"/>
                <a:cs typeface="Times New Roman" panose="02020603050405020304" pitchFamily="18" charset="0"/>
              </a:rPr>
              <a:t>Futile flow ratios &gt;&gt; 1 signify high Starling flow and therefore poor membrane usage efficiency and higher likelihood of poorer sieving profiles. This equation can be used as  a tool to assess relative impact of Starling flow when considering hollow fibers from different vendors and when scaling up from bench scale. </a:t>
            </a:r>
          </a:p>
          <a:p>
            <a:pPr algn="just"/>
            <a:endParaRPr lang="en-US" sz="2800" dirty="0">
              <a:latin typeface="+mj-lt"/>
              <a:ea typeface="Times New Roman" panose="02020603050405020304" pitchFamily="18" charset="0"/>
              <a:cs typeface="Times New Roman" panose="02020603050405020304" pitchFamily="18" charset="0"/>
            </a:endParaRPr>
          </a:p>
          <a:p>
            <a:pPr algn="just"/>
            <a:r>
              <a:rPr lang="en-US" sz="2800" dirty="0">
                <a:effectLst/>
                <a:latin typeface="+mj-lt"/>
                <a:ea typeface="Times New Roman" panose="02020603050405020304" pitchFamily="18" charset="0"/>
                <a:cs typeface="Times New Roman" panose="02020603050405020304" pitchFamily="18" charset="0"/>
              </a:rPr>
              <a:t>As fouling occurs over the course of a cell culture run, the fiber’s membrane permeability will drop as a function of axial length, therefore decreasing the impact of Starling flow (figure 3). </a:t>
            </a:r>
          </a:p>
        </p:txBody>
      </p:sp>
      <p:sp>
        <p:nvSpPr>
          <p:cNvPr id="59" name="Rectangle 58">
            <a:extLst>
              <a:ext uri="{FF2B5EF4-FFF2-40B4-BE49-F238E27FC236}">
                <a16:creationId xmlns:a16="http://schemas.microsoft.com/office/drawing/2014/main" id="{051449F7-A5D1-9E4B-B9FF-989B8B0AA0F2}"/>
              </a:ext>
            </a:extLst>
          </p:cNvPr>
          <p:cNvSpPr/>
          <p:nvPr/>
        </p:nvSpPr>
        <p:spPr>
          <a:xfrm>
            <a:off x="24177920" y="14696857"/>
            <a:ext cx="10112078" cy="60511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214351" tIns="0" rIns="214351" bIns="53583" rtlCol="0" anchor="ctr"/>
          <a:lstStyle/>
          <a:p>
            <a:r>
              <a:rPr lang="en-US" sz="3600" b="1" dirty="0">
                <a:latin typeface="Arial"/>
                <a:cs typeface="Arial"/>
              </a:rPr>
              <a:t>Experimental Comparison</a:t>
            </a:r>
          </a:p>
        </p:txBody>
      </p:sp>
      <p:sp>
        <p:nvSpPr>
          <p:cNvPr id="60" name="TextBox 59">
            <a:extLst>
              <a:ext uri="{FF2B5EF4-FFF2-40B4-BE49-F238E27FC236}">
                <a16:creationId xmlns:a16="http://schemas.microsoft.com/office/drawing/2014/main" id="{2603A390-ABDF-FF8A-7B83-2259AE6958C8}"/>
              </a:ext>
            </a:extLst>
          </p:cNvPr>
          <p:cNvSpPr txBox="1"/>
          <p:nvPr/>
        </p:nvSpPr>
        <p:spPr>
          <a:xfrm>
            <a:off x="24177919" y="15606515"/>
            <a:ext cx="10058303" cy="7848302"/>
          </a:xfrm>
          <a:prstGeom prst="rect">
            <a:avLst/>
          </a:prstGeom>
          <a:noFill/>
        </p:spPr>
        <p:txBody>
          <a:bodyPr wrap="square">
            <a:spAutoFit/>
          </a:bodyPr>
          <a:lstStyle/>
          <a:p>
            <a:pPr marL="0" marR="0" indent="0" algn="just">
              <a:spcBef>
                <a:spcPts val="0"/>
              </a:spcBef>
              <a:spcAft>
                <a:spcPts val="0"/>
              </a:spcAft>
            </a:pPr>
            <a:r>
              <a:rPr lang="en-US" sz="2800" dirty="0">
                <a:latin typeface="Arial" panose="020B0604020202020204" pitchFamily="34" charset="0"/>
                <a:ea typeface="Times New Roman" panose="02020603050405020304" pitchFamily="18" charset="0"/>
                <a:cs typeface="Arial" panose="020B0604020202020204" pitchFamily="34" charset="0"/>
              </a:rPr>
              <a:t>Bench (3L), mid (50L), and large (220L) scale perfusion experiments were conducted using a proprietary Chinese Hamster Ovary (CHO) cell line that expressed a proprietary recombinant monoclonal antibody</a:t>
            </a:r>
            <a:r>
              <a:rPr lang="en-US" sz="2800" baseline="30000" dirty="0">
                <a:latin typeface="Arial" panose="020B0604020202020204" pitchFamily="34" charset="0"/>
                <a:ea typeface="Times New Roman" panose="02020603050405020304" pitchFamily="18" charset="0"/>
                <a:cs typeface="Arial" panose="020B0604020202020204" pitchFamily="34" charset="0"/>
              </a:rPr>
              <a:t>1</a:t>
            </a:r>
            <a:r>
              <a:rPr lang="en-US" sz="2800" dirty="0">
                <a:latin typeface="Arial" panose="020B0604020202020204" pitchFamily="34" charset="0"/>
                <a:ea typeface="Times New Roman" panose="02020603050405020304" pitchFamily="18" charset="0"/>
                <a:cs typeface="Arial" panose="020B0604020202020204" pitchFamily="34" charset="0"/>
              </a:rPr>
              <a:t>. At bench scale, various membrane chemistries (PVDF, PES, </a:t>
            </a:r>
            <a:r>
              <a:rPr lang="en-US" sz="2800" dirty="0" err="1">
                <a:latin typeface="Arial" panose="020B0604020202020204" pitchFamily="34" charset="0"/>
                <a:ea typeface="Times New Roman" panose="02020603050405020304" pitchFamily="18" charset="0"/>
                <a:cs typeface="Arial" panose="020B0604020202020204" pitchFamily="34" charset="0"/>
              </a:rPr>
              <a:t>mPES</a:t>
            </a:r>
            <a:r>
              <a:rPr lang="en-US" sz="2800" dirty="0">
                <a:latin typeface="Arial" panose="020B0604020202020204" pitchFamily="34" charset="0"/>
                <a:ea typeface="Times New Roman" panose="02020603050405020304" pitchFamily="18" charset="0"/>
                <a:cs typeface="Arial" panose="020B0604020202020204" pitchFamily="34" charset="0"/>
              </a:rPr>
              <a:t>) and fiber geometries were tested. Hollow fibers from </a:t>
            </a:r>
            <a:r>
              <a:rPr lang="en-US" sz="2800" dirty="0" err="1">
                <a:latin typeface="Arial" panose="020B0604020202020204" pitchFamily="34" charset="0"/>
                <a:ea typeface="Times New Roman" panose="02020603050405020304" pitchFamily="18" charset="0"/>
                <a:cs typeface="Arial" panose="020B0604020202020204" pitchFamily="34" charset="0"/>
              </a:rPr>
              <a:t>Repligen</a:t>
            </a:r>
            <a:r>
              <a:rPr lang="en-US" sz="2800" dirty="0">
                <a:latin typeface="Arial" panose="020B0604020202020204" pitchFamily="34" charset="0"/>
                <a:ea typeface="Times New Roman" panose="02020603050405020304" pitchFamily="18" charset="0"/>
                <a:cs typeface="Arial" panose="020B0604020202020204" pitchFamily="34" charset="0"/>
              </a:rPr>
              <a:t>, Asahi Kasei, and Sartorius were tested at net permeate fluxes between 0.8 and 5.5 LMH. Bioreactor and permeate titer samples were collected every day to measure the sieving decline over a 14-day culture.</a:t>
            </a:r>
          </a:p>
          <a:p>
            <a:pPr marL="0" marR="0" indent="0" algn="just">
              <a:spcBef>
                <a:spcPts val="0"/>
              </a:spcBef>
              <a:spcAft>
                <a:spcPts val="0"/>
              </a:spcAft>
            </a:pP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lgn="just">
              <a:spcBef>
                <a:spcPts val="0"/>
              </a:spcBef>
              <a:spcAft>
                <a:spcPts val="0"/>
              </a:spcAft>
            </a:pPr>
            <a:r>
              <a:rPr lang="en-US" sz="2800" dirty="0">
                <a:latin typeface="Arial" panose="020B0604020202020204" pitchFamily="34" charset="0"/>
                <a:ea typeface="Times New Roman" panose="02020603050405020304" pitchFamily="18" charset="0"/>
                <a:cs typeface="Arial" panose="020B0604020202020204" pitchFamily="34" charset="0"/>
              </a:rPr>
              <a:t>The futile flow ratio was calculated for each fiber type and operation condition. This was then compared to permeate throughput per fiber area (L/m</a:t>
            </a:r>
            <a:r>
              <a:rPr lang="en-US" sz="2800" baseline="30000" dirty="0">
                <a:latin typeface="Arial" panose="020B0604020202020204" pitchFamily="34" charset="0"/>
                <a:ea typeface="Times New Roman" panose="02020603050405020304" pitchFamily="18" charset="0"/>
                <a:cs typeface="Arial" panose="020B0604020202020204" pitchFamily="34" charset="0"/>
              </a:rPr>
              <a:t>2</a:t>
            </a:r>
            <a:r>
              <a:rPr lang="en-US" sz="2800" dirty="0">
                <a:latin typeface="Arial" panose="020B0604020202020204" pitchFamily="34" charset="0"/>
                <a:ea typeface="Times New Roman" panose="02020603050405020304" pitchFamily="18" charset="0"/>
                <a:cs typeface="Arial" panose="020B0604020202020204" pitchFamily="34" charset="0"/>
              </a:rPr>
              <a:t>) at 50% sieving. Viscosity was taken to be an inoculation viscosity of 1 </a:t>
            </a:r>
            <a:r>
              <a:rPr lang="en-US" sz="2800" dirty="0" err="1">
                <a:latin typeface="Arial" panose="020B0604020202020204" pitchFamily="34" charset="0"/>
                <a:ea typeface="Times New Roman" panose="02020603050405020304" pitchFamily="18" charset="0"/>
                <a:cs typeface="Arial" panose="020B0604020202020204" pitchFamily="34" charset="0"/>
              </a:rPr>
              <a:t>cP.</a:t>
            </a:r>
            <a:r>
              <a:rPr lang="en-US" sz="2800" dirty="0">
                <a:latin typeface="Arial" panose="020B0604020202020204" pitchFamily="34" charset="0"/>
                <a:ea typeface="Times New Roman" panose="02020603050405020304" pitchFamily="18" charset="0"/>
                <a:cs typeface="Arial" panose="020B0604020202020204" pitchFamily="34" charset="0"/>
              </a:rPr>
              <a:t> Membrane permeabilities were either retrieved from literature</a:t>
            </a:r>
            <a:r>
              <a:rPr lang="en-US" sz="2800" baseline="30000" dirty="0">
                <a:latin typeface="Arial" panose="020B0604020202020204" pitchFamily="34" charset="0"/>
                <a:ea typeface="Times New Roman" panose="02020603050405020304" pitchFamily="18" charset="0"/>
                <a:cs typeface="Arial" panose="020B0604020202020204" pitchFamily="34" charset="0"/>
              </a:rPr>
              <a:t>2</a:t>
            </a:r>
            <a:r>
              <a:rPr lang="en-US" sz="2800" dirty="0">
                <a:latin typeface="Arial" panose="020B0604020202020204" pitchFamily="34" charset="0"/>
                <a:ea typeface="Times New Roman" panose="02020603050405020304" pitchFamily="18" charset="0"/>
                <a:cs typeface="Arial" panose="020B0604020202020204" pitchFamily="34" charset="0"/>
              </a:rPr>
              <a:t> or natural flux water testing was performed. Permeabilities for each fiber ranged from 100 to 1600 LMH/psi. Results are shown below.</a:t>
            </a: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28" name="TextBox 27">
            <a:extLst>
              <a:ext uri="{FF2B5EF4-FFF2-40B4-BE49-F238E27FC236}">
                <a16:creationId xmlns:a16="http://schemas.microsoft.com/office/drawing/2014/main" id="{58B8D3C0-6AC0-4ED7-9B2D-005DB16617D0}"/>
              </a:ext>
            </a:extLst>
          </p:cNvPr>
          <p:cNvSpPr txBox="1"/>
          <p:nvPr/>
        </p:nvSpPr>
        <p:spPr>
          <a:xfrm>
            <a:off x="24175322" y="32021407"/>
            <a:ext cx="10112078" cy="1384995"/>
          </a:xfrm>
          <a:prstGeom prst="rect">
            <a:avLst/>
          </a:prstGeom>
          <a:noFill/>
        </p:spPr>
        <p:txBody>
          <a:bodyPr wrap="square">
            <a:spAutoFit/>
          </a:bodyPr>
          <a:lstStyle/>
          <a:p>
            <a:pPr marL="0" marR="0" indent="0" algn="just">
              <a:spcBef>
                <a:spcPts val="0"/>
              </a:spcBef>
              <a:spcAft>
                <a:spcPts val="0"/>
              </a:spcAft>
            </a:pPr>
            <a:r>
              <a:rPr lang="en-US" sz="2800" dirty="0">
                <a:effectLst/>
                <a:latin typeface="Arial" panose="020B0604020202020204" pitchFamily="34" charset="0"/>
                <a:ea typeface="Times New Roman" panose="02020603050405020304" pitchFamily="18" charset="0"/>
                <a:cs typeface="Arial" panose="020B0604020202020204" pitchFamily="34" charset="0"/>
              </a:rPr>
              <a:t>These results show a clear correlation between throughput and futile flow ratio values for three differen</a:t>
            </a:r>
            <a:r>
              <a:rPr lang="en-US" sz="2800" dirty="0">
                <a:latin typeface="Arial" panose="020B0604020202020204" pitchFamily="34" charset="0"/>
                <a:ea typeface="Times New Roman" panose="02020603050405020304" pitchFamily="18" charset="0"/>
                <a:cs typeface="Arial" panose="020B0604020202020204" pitchFamily="34" charset="0"/>
              </a:rPr>
              <a:t>t scales and three different membrane chemistries. </a:t>
            </a:r>
            <a:endParaRPr lang="en-US" sz="28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29" name="TextBox 28">
            <a:extLst>
              <a:ext uri="{FF2B5EF4-FFF2-40B4-BE49-F238E27FC236}">
                <a16:creationId xmlns:a16="http://schemas.microsoft.com/office/drawing/2014/main" id="{2F4C7C48-D264-03FB-3BB6-E26375D9B40B}"/>
              </a:ext>
            </a:extLst>
          </p:cNvPr>
          <p:cNvSpPr txBox="1"/>
          <p:nvPr/>
        </p:nvSpPr>
        <p:spPr>
          <a:xfrm>
            <a:off x="24175322" y="30598915"/>
            <a:ext cx="10058304" cy="1200329"/>
          </a:xfrm>
          <a:prstGeom prst="rect">
            <a:avLst/>
          </a:prstGeom>
          <a:noFill/>
        </p:spPr>
        <p:txBody>
          <a:bodyPr wrap="square" rtlCol="0">
            <a:spAutoFit/>
          </a:bodyPr>
          <a:lstStyle/>
          <a:p>
            <a:pPr algn="just"/>
            <a:r>
              <a:rPr lang="en-US" sz="2400" b="1" dirty="0"/>
              <a:t>Figure 4. </a:t>
            </a:r>
            <a:r>
              <a:rPr lang="en-US" sz="2400" dirty="0"/>
              <a:t>Permeate volumetric throughput at 50% sieving vs. Calculated Futile Flow Ratio. Throughput is calculated by dividing liters of permeate collected up until 50% sieving loss by the total filter area.</a:t>
            </a:r>
          </a:p>
        </p:txBody>
      </p:sp>
      <p:graphicFrame>
        <p:nvGraphicFramePr>
          <p:cNvPr id="31" name="Chart 30">
            <a:extLst>
              <a:ext uri="{FF2B5EF4-FFF2-40B4-BE49-F238E27FC236}">
                <a16:creationId xmlns:a16="http://schemas.microsoft.com/office/drawing/2014/main" id="{57739ABD-3D39-71BF-FCB8-30CA03A90A64}"/>
              </a:ext>
            </a:extLst>
          </p:cNvPr>
          <p:cNvGraphicFramePr>
            <a:graphicFrameLocks/>
          </p:cNvGraphicFramePr>
          <p:nvPr>
            <p:extLst>
              <p:ext uri="{D42A27DB-BD31-4B8C-83A1-F6EECF244321}">
                <p14:modId xmlns:p14="http://schemas.microsoft.com/office/powerpoint/2010/main" val="576804875"/>
              </p:ext>
            </p:extLst>
          </p:nvPr>
        </p:nvGraphicFramePr>
        <p:xfrm>
          <a:off x="24175322" y="23626419"/>
          <a:ext cx="10112078" cy="6707358"/>
        </p:xfrm>
        <a:graphic>
          <a:graphicData uri="http://schemas.openxmlformats.org/drawingml/2006/chart">
            <c:chart xmlns:c="http://schemas.openxmlformats.org/drawingml/2006/chart" xmlns:r="http://schemas.openxmlformats.org/officeDocument/2006/relationships" r:id="rId16"/>
          </a:graphicData>
        </a:graphic>
      </p:graphicFrame>
    </p:spTree>
    <p:extLst>
      <p:ext uri="{BB962C8B-B14F-4D97-AF65-F5344CB8AC3E}">
        <p14:creationId xmlns:p14="http://schemas.microsoft.com/office/powerpoint/2010/main" val="242114437"/>
      </p:ext>
    </p:extLst>
  </p:cSld>
  <p:clrMapOvr>
    <a:masterClrMapping/>
  </p:clrMapOvr>
</p:sld>
</file>

<file path=ppt/theme/theme1.xml><?xml version="1.0" encoding="utf-8"?>
<a:theme xmlns:a="http://schemas.openxmlformats.org/drawingml/2006/main" name="AZ IMED Example Presentation Template">
  <a:themeElements>
    <a:clrScheme name="Custom 273">
      <a:dk1>
        <a:srgbClr val="000000"/>
      </a:dk1>
      <a:lt1>
        <a:srgbClr val="FFFFFF"/>
      </a:lt1>
      <a:dk2>
        <a:srgbClr val="830051"/>
      </a:dk2>
      <a:lt2>
        <a:srgbClr val="003865"/>
      </a:lt2>
      <a:accent1>
        <a:srgbClr val="830051"/>
      </a:accent1>
      <a:accent2>
        <a:srgbClr val="C4D600"/>
      </a:accent2>
      <a:accent3>
        <a:srgbClr val="3F4444"/>
      </a:accent3>
      <a:accent4>
        <a:srgbClr val="68D2DF"/>
      </a:accent4>
      <a:accent5>
        <a:srgbClr val="3C1053"/>
      </a:accent5>
      <a:accent6>
        <a:srgbClr val="F0AB00"/>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ln>
              <a:noFill/>
            </a:ln>
          </a:defRPr>
        </a:defPPr>
      </a:lstStyle>
      <a:style>
        <a:lnRef idx="1">
          <a:schemeClr val="accent1"/>
        </a:lnRef>
        <a:fillRef idx="3">
          <a:schemeClr val="accent1"/>
        </a:fillRef>
        <a:effectRef idx="2">
          <a:schemeClr val="accent1"/>
        </a:effectRef>
        <a:fontRef idx="minor">
          <a:schemeClr val="lt1"/>
        </a:fontRef>
      </a:style>
    </a:spDef>
    <a:lnDef>
      <a:spPr>
        <a:ln w="12700" cmpd="sng"/>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048B3295AE5BF418CE194C679C7380C" ma:contentTypeVersion="16" ma:contentTypeDescription="Create a new document." ma:contentTypeScope="" ma:versionID="5c92121f3f57319cd42ae38de2ae139a">
  <xsd:schema xmlns:xsd="http://www.w3.org/2001/XMLSchema" xmlns:xs="http://www.w3.org/2001/XMLSchema" xmlns:p="http://schemas.microsoft.com/office/2006/metadata/properties" xmlns:ns2="44a56295-c29e-4898-8136-a54736c65b82" xmlns:ns3="e3ebc1aa-4bfa-4b57-899c-523135a50eea" xmlns:ns4="fc41ed6e-e7ea-4778-abe1-d68749343a62" targetNamespace="http://schemas.microsoft.com/office/2006/metadata/properties" ma:root="true" ma:fieldsID="d90783d632d199b77b30d4cc4e108d51" ns2:_="" ns3:_="" ns4:_="">
    <xsd:import namespace="44a56295-c29e-4898-8136-a54736c65b82"/>
    <xsd:import namespace="e3ebc1aa-4bfa-4b57-899c-523135a50eea"/>
    <xsd:import namespace="fc41ed6e-e7ea-4778-abe1-d68749343a62"/>
    <xsd:element name="properties">
      <xsd:complexType>
        <xsd:sequence>
          <xsd:element name="documentManagement">
            <xsd:complexType>
              <xsd:all>
                <xsd:element ref="ns2:Descriptions" minOccurs="0"/>
                <xsd:element ref="ns2:Keyword" minOccurs="0"/>
                <xsd:element ref="ns3:MediaServiceMetadata" minOccurs="0"/>
                <xsd:element ref="ns3:MediaServiceFastMetadata" minOccurs="0"/>
                <xsd:element ref="ns4:SharedWithUsers" minOccurs="0"/>
                <xsd:element ref="ns4:SharedWithDetails" minOccurs="0"/>
                <xsd:element ref="ns3:MediaLengthInSecond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element name="TaxCatchAll" ma:index="18" nillable="true" ma:displayName="Taxonomy Catch All Column" ma:hidden="true" ma:list="{5094edfc-0478-4078-aec2-a6702038f29b}" ma:internalName="TaxCatchAll" ma:showField="CatchAllData" ma:web="fc41ed6e-e7ea-4778-abe1-d68749343a6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3ebc1aa-4bfa-4b57-899c-523135a50ee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ee89e71-04cd-405e-9ca3-99e020c1694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41ed6e-e7ea-4778-abe1-d68749343a6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1ee89e71-04cd-405e-9ca3-99e020c1694d" ContentTypeId="0x0101" PreviousValue="false"/>
</file>

<file path=customXml/item4.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TaxCatchAll xmlns="44a56295-c29e-4898-8136-a54736c65b82" xsi:nil="true"/>
    <lcf76f155ced4ddcb4097134ff3c332f xmlns="e3ebc1aa-4bfa-4b57-899c-523135a50eea">
      <Terms xmlns="http://schemas.microsoft.com/office/infopath/2007/PartnerControls"/>
    </lcf76f155ced4ddcb4097134ff3c332f>
    <SharedWithUsers xmlns="fc41ed6e-e7ea-4778-abe1-d68749343a62">
      <UserInfo>
        <DisplayName>Mistry, Rajesh</DisplayName>
        <AccountId>305</AccountId>
        <AccountType/>
      </UserInfo>
      <UserInfo>
        <DisplayName>Domènech, Ivan (Academic Work)</DisplayName>
        <AccountId>369</AccountId>
        <AccountType/>
      </UserInfo>
      <UserInfo>
        <DisplayName>Hirst, Jack</DisplayName>
        <AccountId>367</AccountId>
        <AccountType/>
      </UserInfo>
    </SharedWithUsers>
  </documentManagement>
</p:properties>
</file>

<file path=customXml/itemProps1.xml><?xml version="1.0" encoding="utf-8"?>
<ds:datastoreItem xmlns:ds="http://schemas.openxmlformats.org/officeDocument/2006/customXml" ds:itemID="{BF106A39-83C7-4D24-8DBF-6534AA49BB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e3ebc1aa-4bfa-4b57-899c-523135a50eea"/>
    <ds:schemaRef ds:uri="fc41ed6e-e7ea-4778-abe1-d68749343a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C999E6B-8F9E-4CF2-B0F0-10ADA4CA8BA8}">
  <ds:schemaRefs>
    <ds:schemaRef ds:uri="http://schemas.microsoft.com/sharepoint/v3/contenttype/forms"/>
  </ds:schemaRefs>
</ds:datastoreItem>
</file>

<file path=customXml/itemProps3.xml><?xml version="1.0" encoding="utf-8"?>
<ds:datastoreItem xmlns:ds="http://schemas.openxmlformats.org/officeDocument/2006/customXml" ds:itemID="{D4AB765C-3ADD-453F-96CE-8812AF6667CD}">
  <ds:schemaRefs>
    <ds:schemaRef ds:uri="Microsoft.SharePoint.Taxonomy.ContentTypeSync"/>
  </ds:schemaRefs>
</ds:datastoreItem>
</file>

<file path=customXml/itemProps4.xml><?xml version="1.0" encoding="utf-8"?>
<ds:datastoreItem xmlns:ds="http://schemas.openxmlformats.org/officeDocument/2006/customXml" ds:itemID="{033ECA66-6648-4C21-A749-CD938D20B951}">
  <ds:schemaRefs>
    <ds:schemaRef ds:uri="e3ebc1aa-4bfa-4b57-899c-523135a50eea"/>
    <ds:schemaRef ds:uri="fc41ed6e-e7ea-4778-abe1-d68749343a62"/>
    <ds:schemaRef ds:uri="http://purl.org/dc/dcmitype/"/>
    <ds:schemaRef ds:uri="http://purl.org/dc/elements/1.1/"/>
    <ds:schemaRef ds:uri="http://schemas.microsoft.com/office/2006/metadata/properties"/>
    <ds:schemaRef ds:uri="http://schemas.microsoft.com/office/2006/documentManagement/types"/>
    <ds:schemaRef ds:uri="http://www.w3.org/XML/1998/namespace"/>
    <ds:schemaRef ds:uri="http://purl.org/dc/terms/"/>
    <ds:schemaRef ds:uri="44a56295-c29e-4898-8136-a54736c65b82"/>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AZ A3_Scientific_Poster_Portrait</Template>
  <TotalTime>29270</TotalTime>
  <Words>1743</Words>
  <Application>Microsoft Office PowerPoint</Application>
  <PresentationFormat>Custom</PresentationFormat>
  <Paragraphs>87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Cambria Math</vt:lpstr>
      <vt:lpstr>Times</vt:lpstr>
      <vt:lpstr>Times New Roman</vt:lpstr>
      <vt:lpstr>AZ IMED Example Presentation Template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McKie, Sarah</dc:creator>
  <cp:lastModifiedBy>Dhingra, Ashna</cp:lastModifiedBy>
  <cp:revision>7</cp:revision>
  <cp:lastPrinted>2015-04-02T11:06:15Z</cp:lastPrinted>
  <dcterms:created xsi:type="dcterms:W3CDTF">2022-03-24T14:00:57Z</dcterms:created>
  <dcterms:modified xsi:type="dcterms:W3CDTF">2024-10-07T20:03:15Z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0x0101001048B3295AE5BF418CE194C679C7380C</vt:lpwstr>
  </property>
  <property fmtid="{D5CDD505-2E9C-101B-9397-08002B2CF9AE}" pid="3" name="MediaServiceImageTags">
    <vt:lpwstr/>
  </property>
</Properties>
</file>