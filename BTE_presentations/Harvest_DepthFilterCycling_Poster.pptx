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5"/>
  </p:sldMasterIdLst>
  <p:notesMasterIdLst>
    <p:notesMasterId r:id="rId7"/>
  </p:notesMasterIdLst>
  <p:handoutMasterIdLst>
    <p:handoutMasterId r:id="rId8"/>
  </p:handoutMasterIdLst>
  <p:sldIdLst>
    <p:sldId id="317" r:id="rId6"/>
  </p:sldIdLst>
  <p:sldSz cx="10688638" cy="15124113"/>
  <p:notesSz cx="6670675" cy="9875838"/>
  <p:defaultTextStyle>
    <a:defPPr>
      <a:defRPr lang="en-US"/>
    </a:defPPr>
    <a:lvl1pPr marL="0" algn="l" defTabSz="715015" rtl="0" eaLnBrk="1" latinLnBrk="0" hangingPunct="1">
      <a:defRPr sz="2800" kern="1200">
        <a:solidFill>
          <a:schemeClr val="tx1"/>
        </a:solidFill>
        <a:latin typeface="+mn-lt"/>
        <a:ea typeface="+mn-ea"/>
        <a:cs typeface="+mn-cs"/>
      </a:defRPr>
    </a:lvl1pPr>
    <a:lvl2pPr marL="715015" algn="l" defTabSz="715015" rtl="0" eaLnBrk="1" latinLnBrk="0" hangingPunct="1">
      <a:defRPr sz="2800" kern="1200">
        <a:solidFill>
          <a:schemeClr val="tx1"/>
        </a:solidFill>
        <a:latin typeface="+mn-lt"/>
        <a:ea typeface="+mn-ea"/>
        <a:cs typeface="+mn-cs"/>
      </a:defRPr>
    </a:lvl2pPr>
    <a:lvl3pPr marL="1430030" algn="l" defTabSz="715015" rtl="0" eaLnBrk="1" latinLnBrk="0" hangingPunct="1">
      <a:defRPr sz="2800" kern="1200">
        <a:solidFill>
          <a:schemeClr val="tx1"/>
        </a:solidFill>
        <a:latin typeface="+mn-lt"/>
        <a:ea typeface="+mn-ea"/>
        <a:cs typeface="+mn-cs"/>
      </a:defRPr>
    </a:lvl3pPr>
    <a:lvl4pPr marL="2145045" algn="l" defTabSz="715015" rtl="0" eaLnBrk="1" latinLnBrk="0" hangingPunct="1">
      <a:defRPr sz="2800" kern="1200">
        <a:solidFill>
          <a:schemeClr val="tx1"/>
        </a:solidFill>
        <a:latin typeface="+mn-lt"/>
        <a:ea typeface="+mn-ea"/>
        <a:cs typeface="+mn-cs"/>
      </a:defRPr>
    </a:lvl4pPr>
    <a:lvl5pPr marL="2860060" algn="l" defTabSz="715015" rtl="0" eaLnBrk="1" latinLnBrk="0" hangingPunct="1">
      <a:defRPr sz="2800" kern="1200">
        <a:solidFill>
          <a:schemeClr val="tx1"/>
        </a:solidFill>
        <a:latin typeface="+mn-lt"/>
        <a:ea typeface="+mn-ea"/>
        <a:cs typeface="+mn-cs"/>
      </a:defRPr>
    </a:lvl5pPr>
    <a:lvl6pPr marL="3575075" algn="l" defTabSz="715015" rtl="0" eaLnBrk="1" latinLnBrk="0" hangingPunct="1">
      <a:defRPr sz="2800" kern="1200">
        <a:solidFill>
          <a:schemeClr val="tx1"/>
        </a:solidFill>
        <a:latin typeface="+mn-lt"/>
        <a:ea typeface="+mn-ea"/>
        <a:cs typeface="+mn-cs"/>
      </a:defRPr>
    </a:lvl6pPr>
    <a:lvl7pPr marL="4290090" algn="l" defTabSz="715015" rtl="0" eaLnBrk="1" latinLnBrk="0" hangingPunct="1">
      <a:defRPr sz="2800" kern="1200">
        <a:solidFill>
          <a:schemeClr val="tx1"/>
        </a:solidFill>
        <a:latin typeface="+mn-lt"/>
        <a:ea typeface="+mn-ea"/>
        <a:cs typeface="+mn-cs"/>
      </a:defRPr>
    </a:lvl7pPr>
    <a:lvl8pPr marL="5005106" algn="l" defTabSz="715015" rtl="0" eaLnBrk="1" latinLnBrk="0" hangingPunct="1">
      <a:defRPr sz="2800" kern="1200">
        <a:solidFill>
          <a:schemeClr val="tx1"/>
        </a:solidFill>
        <a:latin typeface="+mn-lt"/>
        <a:ea typeface="+mn-ea"/>
        <a:cs typeface="+mn-cs"/>
      </a:defRPr>
    </a:lvl8pPr>
    <a:lvl9pPr marL="5720121" algn="l" defTabSz="715015" rtl="0" eaLnBrk="1" latinLnBrk="0" hangingPunct="1">
      <a:defRPr sz="2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Design" id="{91075750-2447-403F-A4E2-58D28C769024}">
          <p14:sldIdLst>
            <p14:sldId id="317"/>
          </p14:sldIdLst>
        </p14:section>
      </p14:sectionLst>
    </p:ex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B37B24-D061-909F-3C36-A44981E907CB}" name="Graham, Joel" initials="GJ" userId="S::kpcm976@astrazeneca.net::1cad8a71-b255-4bbe-8c8a-c00fdb6c3c9e" providerId="AD"/>
  <p188:author id="{7638F738-91D3-F8EB-4141-CEFF15487693}" name="Fakhfakh, Kareem" initials="FK" userId="S::kxtp952@astrazeneca.net::c32b3ae8-6535-4061-8c8a-9fdc6c1d2764" providerId="AD"/>
  <p188:author id="{640CB74B-5201-9061-8DA3-EC25B17E162D}" name="Kuntz, Brendan (University Student)" initials="KB(S" userId="S::kfvm759@astrazeneca.net::680a18ee-333c-4f39-869d-8d31c02923f0" providerId="AD"/>
  <p188:author id="{9E70248C-9A64-9B6B-04DF-80BD6F5C6396}" name="Ramos, Irina" initials="RI" userId="S::klrp961@astrazeneca.net::7b7439c8-8a89-4a36-badd-3ea66a09fedd"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9DB0A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936" y="32"/>
      </p:cViewPr>
      <p:guideLst>
        <p:guide orient="horz"/>
        <p:guide/>
      </p:guideLst>
    </p:cSldViewPr>
  </p:slideViewPr>
  <p:notesTextViewPr>
    <p:cViewPr>
      <p:scale>
        <a:sx n="1" d="1"/>
        <a:sy n="1" d="1"/>
      </p:scale>
      <p:origin x="0" y="0"/>
    </p:cViewPr>
  </p:notesTextViewPr>
  <p:notesViewPr>
    <p:cSldViewPr snapToGrid="0">
      <p:cViewPr>
        <p:scale>
          <a:sx n="1" d="2"/>
          <a:sy n="1" d="2"/>
        </p:scale>
        <p:origin x="0" y="0"/>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err, David" userId="de0daad1-bdd6-4027-8eac-2408df681268" providerId="ADAL" clId="{A9E56F53-D22F-4CDD-A4DA-0A6E17584E76}"/>
    <pc:docChg chg="modSld">
      <pc:chgData name="Scherr, David" userId="de0daad1-bdd6-4027-8eac-2408df681268" providerId="ADAL" clId="{A9E56F53-D22F-4CDD-A4DA-0A6E17584E76}" dt="2025-07-29T17:30:13.803" v="114" actId="20577"/>
      <pc:docMkLst>
        <pc:docMk/>
      </pc:docMkLst>
      <pc:sldChg chg="modSp mod">
        <pc:chgData name="Scherr, David" userId="de0daad1-bdd6-4027-8eac-2408df681268" providerId="ADAL" clId="{A9E56F53-D22F-4CDD-A4DA-0A6E17584E76}" dt="2025-07-29T17:30:13.803" v="114" actId="20577"/>
        <pc:sldMkLst>
          <pc:docMk/>
          <pc:sldMk cId="1132386837" sldId="317"/>
        </pc:sldMkLst>
        <pc:spChg chg="mod">
          <ac:chgData name="Scherr, David" userId="de0daad1-bdd6-4027-8eac-2408df681268" providerId="ADAL" clId="{A9E56F53-D22F-4CDD-A4DA-0A6E17584E76}" dt="2025-07-29T17:30:13.803" v="114" actId="20577"/>
          <ac:spMkLst>
            <pc:docMk/>
            <pc:sldMk cId="1132386837" sldId="317"/>
            <ac:spMk id="6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t>7/29/2025</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t>7/29/2025</a:t>
            </a:fld>
            <a:endParaRPr lang="en-US"/>
          </a:p>
        </p:txBody>
      </p:sp>
      <p:sp>
        <p:nvSpPr>
          <p:cNvPr id="4" name="Slide Image Placeholder 3"/>
          <p:cNvSpPr>
            <a:spLocks noGrp="1" noRot="1" noChangeAspect="1"/>
          </p:cNvSpPr>
          <p:nvPr>
            <p:ph type="sldImg" idx="2"/>
          </p:nvPr>
        </p:nvSpPr>
        <p:spPr>
          <a:xfrm>
            <a:off x="2027238" y="741363"/>
            <a:ext cx="26162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715015" rtl="0" eaLnBrk="1" latinLnBrk="0" hangingPunct="1">
      <a:defRPr sz="1900" kern="1200">
        <a:solidFill>
          <a:schemeClr val="tx1"/>
        </a:solidFill>
        <a:latin typeface="+mn-lt"/>
        <a:ea typeface="+mn-ea"/>
        <a:cs typeface="+mn-cs"/>
      </a:defRPr>
    </a:lvl1pPr>
    <a:lvl2pPr marL="715015" algn="l" defTabSz="715015" rtl="0" eaLnBrk="1" latinLnBrk="0" hangingPunct="1">
      <a:defRPr sz="1900" kern="1200">
        <a:solidFill>
          <a:schemeClr val="tx1"/>
        </a:solidFill>
        <a:latin typeface="+mn-lt"/>
        <a:ea typeface="+mn-ea"/>
        <a:cs typeface="+mn-cs"/>
      </a:defRPr>
    </a:lvl2pPr>
    <a:lvl3pPr marL="1430030" algn="l" defTabSz="715015" rtl="0" eaLnBrk="1" latinLnBrk="0" hangingPunct="1">
      <a:defRPr sz="1900" kern="1200">
        <a:solidFill>
          <a:schemeClr val="tx1"/>
        </a:solidFill>
        <a:latin typeface="+mn-lt"/>
        <a:ea typeface="+mn-ea"/>
        <a:cs typeface="+mn-cs"/>
      </a:defRPr>
    </a:lvl3pPr>
    <a:lvl4pPr marL="2145045" algn="l" defTabSz="715015" rtl="0" eaLnBrk="1" latinLnBrk="0" hangingPunct="1">
      <a:defRPr sz="1900" kern="1200">
        <a:solidFill>
          <a:schemeClr val="tx1"/>
        </a:solidFill>
        <a:latin typeface="+mn-lt"/>
        <a:ea typeface="+mn-ea"/>
        <a:cs typeface="+mn-cs"/>
      </a:defRPr>
    </a:lvl4pPr>
    <a:lvl5pPr marL="2860060" algn="l" defTabSz="715015" rtl="0" eaLnBrk="1" latinLnBrk="0" hangingPunct="1">
      <a:defRPr sz="1900" kern="1200">
        <a:solidFill>
          <a:schemeClr val="tx1"/>
        </a:solidFill>
        <a:latin typeface="+mn-lt"/>
        <a:ea typeface="+mn-ea"/>
        <a:cs typeface="+mn-cs"/>
      </a:defRPr>
    </a:lvl5pPr>
    <a:lvl6pPr marL="3575075" algn="l" defTabSz="715015" rtl="0" eaLnBrk="1" latinLnBrk="0" hangingPunct="1">
      <a:defRPr sz="1900" kern="1200">
        <a:solidFill>
          <a:schemeClr val="tx1"/>
        </a:solidFill>
        <a:latin typeface="+mn-lt"/>
        <a:ea typeface="+mn-ea"/>
        <a:cs typeface="+mn-cs"/>
      </a:defRPr>
    </a:lvl6pPr>
    <a:lvl7pPr marL="4290090" algn="l" defTabSz="715015" rtl="0" eaLnBrk="1" latinLnBrk="0" hangingPunct="1">
      <a:defRPr sz="1900" kern="1200">
        <a:solidFill>
          <a:schemeClr val="tx1"/>
        </a:solidFill>
        <a:latin typeface="+mn-lt"/>
        <a:ea typeface="+mn-ea"/>
        <a:cs typeface="+mn-cs"/>
      </a:defRPr>
    </a:lvl7pPr>
    <a:lvl8pPr marL="5005106" algn="l" defTabSz="715015" rtl="0" eaLnBrk="1" latinLnBrk="0" hangingPunct="1">
      <a:defRPr sz="1900" kern="1200">
        <a:solidFill>
          <a:schemeClr val="tx1"/>
        </a:solidFill>
        <a:latin typeface="+mn-lt"/>
        <a:ea typeface="+mn-ea"/>
        <a:cs typeface="+mn-cs"/>
      </a:defRPr>
    </a:lvl8pPr>
    <a:lvl9pPr marL="5720121" algn="l" defTabSz="715015" rtl="0" eaLnBrk="1" latinLnBrk="0" hangingPunct="1">
      <a:defRPr sz="1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AD751AE-7ABC-314D-AFAD-47B860ED6FFE}" type="slidenum">
              <a:rPr lang="en-US" smtClean="0"/>
              <a:t>1</a:t>
            </a:fld>
            <a:endParaRPr lang="en-US"/>
          </a:p>
        </p:txBody>
      </p:sp>
    </p:spTree>
    <p:extLst>
      <p:ext uri="{BB962C8B-B14F-4D97-AF65-F5344CB8AC3E}">
        <p14:creationId xmlns:p14="http://schemas.microsoft.com/office/powerpoint/2010/main" val="2475895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Mast Hea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62500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707" r:id="rId1"/>
  </p:sldLayoutIdLst>
  <p:hf hdr="0" ftr="0" dt="0"/>
  <p:txStyles>
    <p:titleStyle>
      <a:lvl1pPr algn="ctr" defTabSz="715015" rtl="0" eaLnBrk="1" latinLnBrk="0" hangingPunct="1">
        <a:spcBef>
          <a:spcPct val="0"/>
        </a:spcBef>
        <a:buNone/>
        <a:defRPr sz="6900" kern="1200">
          <a:solidFill>
            <a:schemeClr val="tx1"/>
          </a:solidFill>
          <a:latin typeface="+mj-lt"/>
          <a:ea typeface="+mj-ea"/>
          <a:cs typeface="+mj-cs"/>
        </a:defRPr>
      </a:lvl1pPr>
    </p:titleStyle>
    <p:bodyStyle>
      <a:lvl1pPr marL="536261" indent="-536261" algn="l" defTabSz="715015" rtl="0" eaLnBrk="1" latinLnBrk="0" hangingPunct="1">
        <a:spcBef>
          <a:spcPct val="20000"/>
        </a:spcBef>
        <a:buFont typeface="Arial"/>
        <a:buChar char="•"/>
        <a:defRPr sz="5000" kern="1200">
          <a:solidFill>
            <a:schemeClr val="tx1"/>
          </a:solidFill>
          <a:latin typeface="+mn-lt"/>
          <a:ea typeface="+mn-ea"/>
          <a:cs typeface="+mn-cs"/>
        </a:defRPr>
      </a:lvl1pPr>
      <a:lvl2pPr marL="1161900" indent="-446884" algn="l" defTabSz="715015" rtl="0" eaLnBrk="1" latinLnBrk="0" hangingPunct="1">
        <a:spcBef>
          <a:spcPct val="20000"/>
        </a:spcBef>
        <a:buFont typeface="Arial"/>
        <a:buChar char="–"/>
        <a:defRPr sz="4400" kern="1200">
          <a:solidFill>
            <a:schemeClr val="tx1"/>
          </a:solidFill>
          <a:latin typeface="+mn-lt"/>
          <a:ea typeface="+mn-ea"/>
          <a:cs typeface="+mn-cs"/>
        </a:defRPr>
      </a:lvl2pPr>
      <a:lvl3pPr marL="1787538" indent="-357508" algn="l" defTabSz="715015" rtl="0" eaLnBrk="1" latinLnBrk="0" hangingPunct="1">
        <a:spcBef>
          <a:spcPct val="20000"/>
        </a:spcBef>
        <a:buFont typeface="Arial"/>
        <a:buChar char="•"/>
        <a:defRPr sz="3800" kern="1200">
          <a:solidFill>
            <a:schemeClr val="tx1"/>
          </a:solidFill>
          <a:latin typeface="+mn-lt"/>
          <a:ea typeface="+mn-ea"/>
          <a:cs typeface="+mn-cs"/>
        </a:defRPr>
      </a:lvl3pPr>
      <a:lvl4pPr marL="2502553" indent="-357508" algn="l" defTabSz="715015" rtl="0" eaLnBrk="1" latinLnBrk="0" hangingPunct="1">
        <a:spcBef>
          <a:spcPct val="20000"/>
        </a:spcBef>
        <a:buFont typeface="Arial"/>
        <a:buChar char="–"/>
        <a:defRPr sz="3100" kern="1200">
          <a:solidFill>
            <a:schemeClr val="tx1"/>
          </a:solidFill>
          <a:latin typeface="+mn-lt"/>
          <a:ea typeface="+mn-ea"/>
          <a:cs typeface="+mn-cs"/>
        </a:defRPr>
      </a:lvl4pPr>
      <a:lvl5pPr marL="3217568" indent="-357508" algn="l" defTabSz="715015" rtl="0" eaLnBrk="1" latinLnBrk="0" hangingPunct="1">
        <a:spcBef>
          <a:spcPct val="20000"/>
        </a:spcBef>
        <a:buFont typeface="Arial"/>
        <a:buChar char="»"/>
        <a:defRPr sz="3100" kern="1200">
          <a:solidFill>
            <a:schemeClr val="tx1"/>
          </a:solidFill>
          <a:latin typeface="+mn-lt"/>
          <a:ea typeface="+mn-ea"/>
          <a:cs typeface="+mn-cs"/>
        </a:defRPr>
      </a:lvl5pPr>
      <a:lvl6pPr marL="3932583" indent="-357508" algn="l" defTabSz="715015" rtl="0" eaLnBrk="1" latinLnBrk="0" hangingPunct="1">
        <a:spcBef>
          <a:spcPct val="20000"/>
        </a:spcBef>
        <a:buFont typeface="Arial"/>
        <a:buChar char="•"/>
        <a:defRPr sz="3100" kern="1200">
          <a:solidFill>
            <a:schemeClr val="tx1"/>
          </a:solidFill>
          <a:latin typeface="+mn-lt"/>
          <a:ea typeface="+mn-ea"/>
          <a:cs typeface="+mn-cs"/>
        </a:defRPr>
      </a:lvl6pPr>
      <a:lvl7pPr marL="4647598" indent="-357508" algn="l" defTabSz="715015" rtl="0" eaLnBrk="1" latinLnBrk="0" hangingPunct="1">
        <a:spcBef>
          <a:spcPct val="20000"/>
        </a:spcBef>
        <a:buFont typeface="Arial"/>
        <a:buChar char="•"/>
        <a:defRPr sz="3100" kern="1200">
          <a:solidFill>
            <a:schemeClr val="tx1"/>
          </a:solidFill>
          <a:latin typeface="+mn-lt"/>
          <a:ea typeface="+mn-ea"/>
          <a:cs typeface="+mn-cs"/>
        </a:defRPr>
      </a:lvl7pPr>
      <a:lvl8pPr marL="5362613" indent="-357508" algn="l" defTabSz="715015" rtl="0" eaLnBrk="1" latinLnBrk="0" hangingPunct="1">
        <a:spcBef>
          <a:spcPct val="20000"/>
        </a:spcBef>
        <a:buFont typeface="Arial"/>
        <a:buChar char="•"/>
        <a:defRPr sz="3100" kern="1200">
          <a:solidFill>
            <a:schemeClr val="tx1"/>
          </a:solidFill>
          <a:latin typeface="+mn-lt"/>
          <a:ea typeface="+mn-ea"/>
          <a:cs typeface="+mn-cs"/>
        </a:defRPr>
      </a:lvl8pPr>
      <a:lvl9pPr marL="6077628" indent="-357508" algn="l" defTabSz="715015" rtl="0" eaLnBrk="1" latinLnBrk="0" hangingPunct="1">
        <a:spcBef>
          <a:spcPct val="20000"/>
        </a:spcBef>
        <a:buFont typeface="Arial"/>
        <a:buChar char="•"/>
        <a:defRPr sz="3100" kern="1200">
          <a:solidFill>
            <a:schemeClr val="tx1"/>
          </a:solidFill>
          <a:latin typeface="+mn-lt"/>
          <a:ea typeface="+mn-ea"/>
          <a:cs typeface="+mn-cs"/>
        </a:defRPr>
      </a:lvl9pPr>
    </p:bodyStyle>
    <p:otherStyle>
      <a:defPPr>
        <a:defRPr lang="en-US"/>
      </a:defPPr>
      <a:lvl1pPr marL="0" algn="l" defTabSz="715015" rtl="0" eaLnBrk="1" latinLnBrk="0" hangingPunct="1">
        <a:defRPr sz="2800" kern="1200">
          <a:solidFill>
            <a:schemeClr val="tx1"/>
          </a:solidFill>
          <a:latin typeface="+mn-lt"/>
          <a:ea typeface="+mn-ea"/>
          <a:cs typeface="+mn-cs"/>
        </a:defRPr>
      </a:lvl1pPr>
      <a:lvl2pPr marL="715015" algn="l" defTabSz="715015" rtl="0" eaLnBrk="1" latinLnBrk="0" hangingPunct="1">
        <a:defRPr sz="2800" kern="1200">
          <a:solidFill>
            <a:schemeClr val="tx1"/>
          </a:solidFill>
          <a:latin typeface="+mn-lt"/>
          <a:ea typeface="+mn-ea"/>
          <a:cs typeface="+mn-cs"/>
        </a:defRPr>
      </a:lvl2pPr>
      <a:lvl3pPr marL="1430030" algn="l" defTabSz="715015" rtl="0" eaLnBrk="1" latinLnBrk="0" hangingPunct="1">
        <a:defRPr sz="2800" kern="1200">
          <a:solidFill>
            <a:schemeClr val="tx1"/>
          </a:solidFill>
          <a:latin typeface="+mn-lt"/>
          <a:ea typeface="+mn-ea"/>
          <a:cs typeface="+mn-cs"/>
        </a:defRPr>
      </a:lvl3pPr>
      <a:lvl4pPr marL="2145045" algn="l" defTabSz="715015" rtl="0" eaLnBrk="1" latinLnBrk="0" hangingPunct="1">
        <a:defRPr sz="2800" kern="1200">
          <a:solidFill>
            <a:schemeClr val="tx1"/>
          </a:solidFill>
          <a:latin typeface="+mn-lt"/>
          <a:ea typeface="+mn-ea"/>
          <a:cs typeface="+mn-cs"/>
        </a:defRPr>
      </a:lvl4pPr>
      <a:lvl5pPr marL="2860060" algn="l" defTabSz="715015" rtl="0" eaLnBrk="1" latinLnBrk="0" hangingPunct="1">
        <a:defRPr sz="2800" kern="1200">
          <a:solidFill>
            <a:schemeClr val="tx1"/>
          </a:solidFill>
          <a:latin typeface="+mn-lt"/>
          <a:ea typeface="+mn-ea"/>
          <a:cs typeface="+mn-cs"/>
        </a:defRPr>
      </a:lvl5pPr>
      <a:lvl6pPr marL="3575075" algn="l" defTabSz="715015" rtl="0" eaLnBrk="1" latinLnBrk="0" hangingPunct="1">
        <a:defRPr sz="2800" kern="1200">
          <a:solidFill>
            <a:schemeClr val="tx1"/>
          </a:solidFill>
          <a:latin typeface="+mn-lt"/>
          <a:ea typeface="+mn-ea"/>
          <a:cs typeface="+mn-cs"/>
        </a:defRPr>
      </a:lvl6pPr>
      <a:lvl7pPr marL="4290090" algn="l" defTabSz="715015" rtl="0" eaLnBrk="1" latinLnBrk="0" hangingPunct="1">
        <a:defRPr sz="2800" kern="1200">
          <a:solidFill>
            <a:schemeClr val="tx1"/>
          </a:solidFill>
          <a:latin typeface="+mn-lt"/>
          <a:ea typeface="+mn-ea"/>
          <a:cs typeface="+mn-cs"/>
        </a:defRPr>
      </a:lvl7pPr>
      <a:lvl8pPr marL="5005106" algn="l" defTabSz="715015" rtl="0" eaLnBrk="1" latinLnBrk="0" hangingPunct="1">
        <a:defRPr sz="2800" kern="1200">
          <a:solidFill>
            <a:schemeClr val="tx1"/>
          </a:solidFill>
          <a:latin typeface="+mn-lt"/>
          <a:ea typeface="+mn-ea"/>
          <a:cs typeface="+mn-cs"/>
        </a:defRPr>
      </a:lvl8pPr>
      <a:lvl9pPr marL="5720121" algn="l" defTabSz="715015"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emf"/><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BD3E2A7-C5E3-30DB-9B4D-3AE4445FE662}"/>
              </a:ext>
            </a:extLst>
          </p:cNvPr>
          <p:cNvSpPr/>
          <p:nvPr/>
        </p:nvSpPr>
        <p:spPr>
          <a:xfrm>
            <a:off x="196396" y="12038314"/>
            <a:ext cx="4319395" cy="1571650"/>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72000" tIns="72000" rIns="72000" bIns="72000" rtlCol="0" anchor="ctr"/>
          <a:lstStyle/>
          <a:p>
            <a:pPr marL="108000" indent="-108000">
              <a:buFont typeface="Arial"/>
              <a:buChar char="•"/>
            </a:pPr>
            <a:r>
              <a:rPr lang="en-US" sz="1100" dirty="0">
                <a:ln>
                  <a:noFill/>
                </a:ln>
                <a:solidFill>
                  <a:schemeClr val="tx1"/>
                </a:solidFill>
                <a:latin typeface="Arial"/>
                <a:cs typeface="Arial"/>
              </a:rPr>
              <a:t>Researched literature on </a:t>
            </a:r>
            <a:r>
              <a:rPr lang="en-US" sz="1100" dirty="0" err="1">
                <a:ln>
                  <a:noFill/>
                </a:ln>
                <a:solidFill>
                  <a:schemeClr val="tx1"/>
                </a:solidFill>
                <a:latin typeface="Arial"/>
                <a:cs typeface="Arial"/>
              </a:rPr>
              <a:t>solubization</a:t>
            </a:r>
            <a:r>
              <a:rPr lang="en-US" sz="1100" dirty="0">
                <a:ln>
                  <a:noFill/>
                </a:ln>
                <a:solidFill>
                  <a:schemeClr val="tx1"/>
                </a:solidFill>
                <a:latin typeface="Arial"/>
                <a:cs typeface="Arial"/>
              </a:rPr>
              <a:t> of precipitated pellet </a:t>
            </a:r>
          </a:p>
          <a:p>
            <a:pPr marL="108000" indent="-108000">
              <a:buFont typeface="Arial"/>
              <a:buChar char="•"/>
            </a:pPr>
            <a:r>
              <a:rPr lang="en-US" sz="1100" dirty="0">
                <a:ln>
                  <a:noFill/>
                </a:ln>
                <a:solidFill>
                  <a:schemeClr val="tx1"/>
                </a:solidFill>
                <a:latin typeface="Arial"/>
                <a:cs typeface="Arial"/>
              </a:rPr>
              <a:t>Centrifuged precipitate into pellet, exposed to different buffers to elucidate conditions that dissolve precipitate</a:t>
            </a:r>
          </a:p>
          <a:p>
            <a:pPr marL="108000" indent="-108000">
              <a:buFont typeface="Arial"/>
              <a:buChar char="•"/>
            </a:pPr>
            <a:r>
              <a:rPr lang="en-US" sz="1100" b="1" dirty="0">
                <a:solidFill>
                  <a:schemeClr val="tx1"/>
                </a:solidFill>
                <a:cs typeface="Arial"/>
              </a:rPr>
              <a:t>Loaded 4 cm</a:t>
            </a:r>
            <a:r>
              <a:rPr lang="en-US" sz="1100" b="1" baseline="30000" dirty="0">
                <a:solidFill>
                  <a:schemeClr val="tx1"/>
                </a:solidFill>
                <a:cs typeface="Arial"/>
              </a:rPr>
              <a:t>2</a:t>
            </a:r>
            <a:r>
              <a:rPr lang="en-US" sz="1100" b="1" dirty="0">
                <a:solidFill>
                  <a:schemeClr val="tx1"/>
                </a:solidFill>
                <a:cs typeface="Arial"/>
              </a:rPr>
              <a:t> bench scale </a:t>
            </a:r>
            <a:r>
              <a:rPr lang="en-US" sz="1100" b="1" dirty="0" err="1">
                <a:solidFill>
                  <a:schemeClr val="tx1"/>
                </a:solidFill>
                <a:cs typeface="Arial"/>
              </a:rPr>
              <a:t>Emphaze</a:t>
            </a:r>
            <a:r>
              <a:rPr lang="en-US" sz="1100" b="1" dirty="0">
                <a:solidFill>
                  <a:schemeClr val="tx1"/>
                </a:solidFill>
                <a:cs typeface="Arial"/>
              </a:rPr>
              <a:t> AEX filter to capacity of 200 L/m</a:t>
            </a:r>
            <a:r>
              <a:rPr lang="en-US" sz="1100" b="1" baseline="30000" dirty="0">
                <a:solidFill>
                  <a:schemeClr val="tx1"/>
                </a:solidFill>
                <a:cs typeface="Arial"/>
              </a:rPr>
              <a:t>2 </a:t>
            </a:r>
            <a:r>
              <a:rPr lang="en-US" sz="1100" b="1" dirty="0">
                <a:solidFill>
                  <a:schemeClr val="tx1"/>
                </a:solidFill>
                <a:cs typeface="Arial"/>
              </a:rPr>
              <a:t> followed by chase and sanitization buffers</a:t>
            </a:r>
          </a:p>
          <a:p>
            <a:pPr marL="108000" indent="-108000">
              <a:buFont typeface="Arial"/>
              <a:buChar char="•"/>
            </a:pPr>
            <a:r>
              <a:rPr lang="en-US" sz="1100" dirty="0">
                <a:solidFill>
                  <a:schemeClr val="tx1"/>
                </a:solidFill>
                <a:cs typeface="Arial"/>
              </a:rPr>
              <a:t>Recorded %yield recovered in depth filter product and in the cleaning buffers</a:t>
            </a:r>
          </a:p>
          <a:p>
            <a:pPr marL="108000" indent="-108000">
              <a:buFont typeface="Arial"/>
              <a:buChar char="•"/>
            </a:pPr>
            <a:r>
              <a:rPr lang="en-US" sz="1100" b="1" dirty="0">
                <a:solidFill>
                  <a:schemeClr val="tx1"/>
                </a:solidFill>
                <a:cs typeface="Arial"/>
              </a:rPr>
              <a:t>Varied NaOH concentration from 0.1-1.0 N NaOH</a:t>
            </a:r>
          </a:p>
          <a:p>
            <a:pPr marL="171450" indent="-171450">
              <a:buFont typeface="Arial" panose="020B0604020202020204" pitchFamily="34" charset="0"/>
              <a:buChar char="•"/>
            </a:pPr>
            <a:endParaRPr lang="en-GB" sz="1100" dirty="0">
              <a:solidFill>
                <a:srgbClr val="202122"/>
              </a:solidFill>
              <a:latin typeface="Arial" panose="020B0604020202020204" pitchFamily="34" charset="0"/>
            </a:endParaRPr>
          </a:p>
        </p:txBody>
      </p:sp>
      <p:sp>
        <p:nvSpPr>
          <p:cNvPr id="8" name="Rectangle 7"/>
          <p:cNvSpPr/>
          <p:nvPr/>
        </p:nvSpPr>
        <p:spPr>
          <a:xfrm>
            <a:off x="90009" y="1868087"/>
            <a:ext cx="10388674" cy="16738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a:noFill/>
              </a:ln>
            </a:endParaRPr>
          </a:p>
        </p:txBody>
      </p:sp>
      <p:sp>
        <p:nvSpPr>
          <p:cNvPr id="12" name="Rectangle 11"/>
          <p:cNvSpPr/>
          <p:nvPr/>
        </p:nvSpPr>
        <p:spPr>
          <a:xfrm>
            <a:off x="4874318" y="2121686"/>
            <a:ext cx="5673606" cy="243196"/>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200" b="1">
                <a:latin typeface="Arial"/>
                <a:cs typeface="Arial"/>
              </a:rPr>
              <a:t>Cycling results</a:t>
            </a:r>
            <a:endParaRPr lang="en-US" sz="1200" b="1">
              <a:ln>
                <a:noFill/>
              </a:ln>
              <a:latin typeface="Arial"/>
              <a:cs typeface="Arial"/>
            </a:endParaRPr>
          </a:p>
        </p:txBody>
      </p:sp>
      <p:sp>
        <p:nvSpPr>
          <p:cNvPr id="14" name="Rectangle 13"/>
          <p:cNvSpPr/>
          <p:nvPr/>
        </p:nvSpPr>
        <p:spPr>
          <a:xfrm>
            <a:off x="138498" y="11669016"/>
            <a:ext cx="4435193" cy="260030"/>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200" b="1">
                <a:ln>
                  <a:noFill/>
                </a:ln>
                <a:latin typeface="Arial"/>
                <a:cs typeface="Arial"/>
              </a:rPr>
              <a:t>Dept Filter cleaning development  </a:t>
            </a:r>
          </a:p>
        </p:txBody>
      </p:sp>
      <p:sp>
        <p:nvSpPr>
          <p:cNvPr id="16" name="Rectangle 15"/>
          <p:cNvSpPr/>
          <p:nvPr/>
        </p:nvSpPr>
        <p:spPr>
          <a:xfrm>
            <a:off x="196396" y="5110247"/>
            <a:ext cx="4367884" cy="25054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100" b="1">
                <a:ln>
                  <a:noFill/>
                </a:ln>
                <a:latin typeface="Arial"/>
                <a:cs typeface="Arial"/>
              </a:rPr>
              <a:t>Precipitate formation in Downstream IDB</a:t>
            </a:r>
          </a:p>
        </p:txBody>
      </p:sp>
      <p:sp>
        <p:nvSpPr>
          <p:cNvPr id="22" name="TextBox 21"/>
          <p:cNvSpPr txBox="1"/>
          <p:nvPr/>
        </p:nvSpPr>
        <p:spPr>
          <a:xfrm>
            <a:off x="304037" y="293690"/>
            <a:ext cx="10093586" cy="772840"/>
          </a:xfrm>
          <a:prstGeom prst="rect">
            <a:avLst/>
          </a:prstGeom>
          <a:noFill/>
        </p:spPr>
        <p:txBody>
          <a:bodyPr wrap="square" lIns="0" tIns="0" rIns="0" bIns="0" rtlCol="0" anchor="ctr">
            <a:spAutoFit/>
          </a:bodyPr>
          <a:lstStyle/>
          <a:p>
            <a:pPr marL="342900" marR="0" indent="-342900" algn="ctr">
              <a:lnSpc>
                <a:spcPct val="107000"/>
              </a:lnSpc>
              <a:spcBef>
                <a:spcPts val="0"/>
              </a:spcBef>
              <a:spcAft>
                <a:spcPts val="600"/>
              </a:spcAft>
            </a:pPr>
            <a:r>
              <a:rPr lang="en-US" sz="2400" b="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Depth Filter </a:t>
            </a:r>
            <a:r>
              <a:rPr lang="en-US" sz="2400" b="1">
                <a:solidFill>
                  <a:schemeClr val="tx2"/>
                </a:solidFill>
                <a:latin typeface="Calibri" panose="020F0502020204030204" pitchFamily="34" charset="0"/>
                <a:ea typeface="Calibri" panose="020F0502020204030204" pitchFamily="34" charset="0"/>
                <a:cs typeface="Times New Roman" panose="02020603050405020304" pitchFamily="18" charset="0"/>
              </a:rPr>
              <a:t>Cycling and Sanitization for Removal of Precipitate in </a:t>
            </a:r>
            <a:r>
              <a:rPr lang="en-US" sz="2400" b="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Integrated Dynamic Bioprocessing (IDB) Purification</a:t>
            </a:r>
          </a:p>
        </p:txBody>
      </p:sp>
      <p:sp>
        <p:nvSpPr>
          <p:cNvPr id="23" name="TextBox 22"/>
          <p:cNvSpPr txBox="1"/>
          <p:nvPr/>
        </p:nvSpPr>
        <p:spPr>
          <a:xfrm>
            <a:off x="297756" y="1304598"/>
            <a:ext cx="7737854" cy="221599"/>
          </a:xfrm>
          <a:prstGeom prst="rect">
            <a:avLst/>
          </a:prstGeom>
          <a:noFill/>
        </p:spPr>
        <p:txBody>
          <a:bodyPr wrap="square" lIns="0" tIns="0" rIns="0" bIns="0" rtlCol="0" anchor="t">
            <a:spAutoFit/>
          </a:bodyPr>
          <a:lstStyle/>
          <a:p>
            <a:pPr>
              <a:lnSpc>
                <a:spcPct val="90000"/>
              </a:lnSpc>
            </a:pPr>
            <a:r>
              <a:rPr lang="en-US" sz="1500" u="sng">
                <a:solidFill>
                  <a:schemeClr val="tx2"/>
                </a:solidFill>
                <a:latin typeface="Arial"/>
                <a:cs typeface="Arial"/>
              </a:rPr>
              <a:t>David Scherr</a:t>
            </a:r>
            <a:r>
              <a:rPr lang="en-US" sz="1500" baseline="30000">
                <a:solidFill>
                  <a:schemeClr val="tx2"/>
                </a:solidFill>
                <a:latin typeface="Arial"/>
                <a:cs typeface="Arial"/>
              </a:rPr>
              <a:t>1</a:t>
            </a:r>
            <a:r>
              <a:rPr lang="en-US" sz="1500">
                <a:solidFill>
                  <a:schemeClr val="tx2"/>
                </a:solidFill>
                <a:latin typeface="Arial"/>
                <a:cs typeface="Arial"/>
              </a:rPr>
              <a:t>, Nikunj Sharda</a:t>
            </a:r>
            <a:r>
              <a:rPr lang="en-US" sz="1500" baseline="30000">
                <a:solidFill>
                  <a:schemeClr val="tx2"/>
                </a:solidFill>
                <a:latin typeface="Arial"/>
                <a:cs typeface="Arial"/>
              </a:rPr>
              <a:t>1</a:t>
            </a:r>
            <a:r>
              <a:rPr lang="en-US" sz="1500">
                <a:solidFill>
                  <a:schemeClr val="tx2"/>
                </a:solidFill>
                <a:latin typeface="Arial"/>
                <a:cs typeface="Arial"/>
              </a:rPr>
              <a:t>, </a:t>
            </a:r>
            <a:r>
              <a:rPr lang="en-US" sz="1600">
                <a:solidFill>
                  <a:schemeClr val="tx2"/>
                </a:solidFill>
                <a:latin typeface="Arial"/>
                <a:cs typeface="Arial"/>
              </a:rPr>
              <a:t>Michael Mollet</a:t>
            </a:r>
            <a:r>
              <a:rPr lang="en-US" sz="1600" baseline="30000">
                <a:solidFill>
                  <a:schemeClr val="tx2"/>
                </a:solidFill>
                <a:cs typeface="Arial"/>
              </a:rPr>
              <a:t>1</a:t>
            </a:r>
            <a:r>
              <a:rPr lang="en-US" sz="1600">
                <a:solidFill>
                  <a:schemeClr val="tx2"/>
                </a:solidFill>
                <a:cs typeface="Arial"/>
              </a:rPr>
              <a:t>, Jon Coffman</a:t>
            </a:r>
            <a:r>
              <a:rPr lang="en-US" sz="1600" baseline="30000">
                <a:solidFill>
                  <a:schemeClr val="tx2"/>
                </a:solidFill>
                <a:cs typeface="Arial"/>
              </a:rPr>
              <a:t>1</a:t>
            </a:r>
            <a:endParaRPr lang="en-US" sz="1500" u="sng" baseline="30000">
              <a:solidFill>
                <a:schemeClr val="tx2"/>
              </a:solidFill>
              <a:latin typeface="Arial"/>
              <a:cs typeface="Arial"/>
            </a:endParaRPr>
          </a:p>
        </p:txBody>
      </p:sp>
      <p:sp>
        <p:nvSpPr>
          <p:cNvPr id="24" name="TextBox 23"/>
          <p:cNvSpPr txBox="1"/>
          <p:nvPr/>
        </p:nvSpPr>
        <p:spPr>
          <a:xfrm>
            <a:off x="297756" y="1607343"/>
            <a:ext cx="6405551" cy="249299"/>
          </a:xfrm>
          <a:prstGeom prst="rect">
            <a:avLst/>
          </a:prstGeom>
          <a:noFill/>
        </p:spPr>
        <p:txBody>
          <a:bodyPr wrap="square" lIns="0" tIns="0" rIns="0" bIns="0" rtlCol="0" anchor="t">
            <a:spAutoFit/>
          </a:bodyPr>
          <a:lstStyle/>
          <a:p>
            <a:pPr>
              <a:lnSpc>
                <a:spcPct val="90000"/>
              </a:lnSpc>
            </a:pPr>
            <a:r>
              <a:rPr lang="en-US" sz="900" baseline="30000">
                <a:solidFill>
                  <a:schemeClr val="tx2"/>
                </a:solidFill>
                <a:cs typeface="Arial"/>
              </a:rPr>
              <a:t>1</a:t>
            </a:r>
            <a:r>
              <a:rPr lang="en-US" sz="900">
                <a:solidFill>
                  <a:schemeClr val="tx2"/>
                </a:solidFill>
                <a:cs typeface="Arial"/>
              </a:rPr>
              <a:t>BioProcess Technologies and Engineering, Biopharmaceutical Development, AstraZeneca, Gaithersburg, MD</a:t>
            </a:r>
            <a:endParaRPr lang="en-US" sz="900" baseline="30000">
              <a:solidFill>
                <a:schemeClr val="tx2"/>
              </a:solidFill>
              <a:cs typeface="Arial"/>
            </a:endParaRPr>
          </a:p>
          <a:p>
            <a:pPr>
              <a:lnSpc>
                <a:spcPct val="90000"/>
              </a:lnSpc>
            </a:pPr>
            <a:endParaRPr lang="en-US" sz="900">
              <a:solidFill>
                <a:schemeClr val="tx2"/>
              </a:solidFill>
              <a:cs typeface="Arial"/>
            </a:endParaRPr>
          </a:p>
        </p:txBody>
      </p:sp>
      <p:sp>
        <p:nvSpPr>
          <p:cNvPr id="42" name="Rectangle 41"/>
          <p:cNvSpPr/>
          <p:nvPr/>
        </p:nvSpPr>
        <p:spPr>
          <a:xfrm>
            <a:off x="7889224" y="9388069"/>
            <a:ext cx="3106800" cy="15716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endParaRPr lang="en-US" sz="1100">
              <a:solidFill>
                <a:schemeClr val="tx1"/>
              </a:solidFill>
              <a:cs typeface="Arial"/>
            </a:endParaRPr>
          </a:p>
        </p:txBody>
      </p:sp>
      <p:sp>
        <p:nvSpPr>
          <p:cNvPr id="46" name="Rectangle 45"/>
          <p:cNvSpPr/>
          <p:nvPr/>
        </p:nvSpPr>
        <p:spPr>
          <a:xfrm>
            <a:off x="4962641" y="12169242"/>
            <a:ext cx="5585284" cy="221843"/>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200" b="1" dirty="0">
                <a:latin typeface="Arial"/>
                <a:cs typeface="Arial"/>
              </a:rPr>
              <a:t>Lessons Learned and Next steps</a:t>
            </a:r>
            <a:endParaRPr lang="en-US" sz="1200" b="1" dirty="0">
              <a:ln>
                <a:noFill/>
              </a:ln>
              <a:latin typeface="Arial"/>
              <a:cs typeface="Arial"/>
            </a:endParaRPr>
          </a:p>
        </p:txBody>
      </p:sp>
      <p:sp>
        <p:nvSpPr>
          <p:cNvPr id="51" name="Rectangle 50"/>
          <p:cNvSpPr/>
          <p:nvPr/>
        </p:nvSpPr>
        <p:spPr>
          <a:xfrm>
            <a:off x="150907" y="14163390"/>
            <a:ext cx="4600862" cy="492866"/>
          </a:xfrm>
          <a:prstGeom prst="rect">
            <a:avLst/>
          </a:prstGeom>
          <a:no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114300"/>
            <a:endParaRPr lang="en-US" sz="1050">
              <a:solidFill>
                <a:schemeClr val="tx1"/>
              </a:solidFill>
              <a:latin typeface="Arial"/>
              <a:cs typeface="Arial"/>
            </a:endParaRPr>
          </a:p>
        </p:txBody>
      </p:sp>
      <p:cxnSp>
        <p:nvCxnSpPr>
          <p:cNvPr id="3" name="Straight Connector 2"/>
          <p:cNvCxnSpPr/>
          <p:nvPr/>
        </p:nvCxnSpPr>
        <p:spPr>
          <a:xfrm>
            <a:off x="495299" y="14711511"/>
            <a:ext cx="9684000" cy="0"/>
          </a:xfrm>
          <a:prstGeom prst="line">
            <a:avLst/>
          </a:prstGeom>
          <a:ln w="31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3087763" y="14766760"/>
            <a:ext cx="3839063" cy="2576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pPr algn="ctr"/>
            <a:r>
              <a:rPr lang="en-US" sz="700" i="1" dirty="0">
                <a:solidFill>
                  <a:schemeClr val="tx1"/>
                </a:solidFill>
                <a:cs typeface="Arial"/>
              </a:rPr>
              <a:t>Presented at 6</a:t>
            </a:r>
            <a:r>
              <a:rPr lang="en-US" sz="700" i="1" baseline="30000" dirty="0">
                <a:solidFill>
                  <a:schemeClr val="tx1"/>
                </a:solidFill>
                <a:cs typeface="Arial"/>
              </a:rPr>
              <a:t>th</a:t>
            </a:r>
            <a:r>
              <a:rPr lang="en-US" sz="700" i="1" dirty="0">
                <a:solidFill>
                  <a:schemeClr val="tx1"/>
                </a:solidFill>
                <a:cs typeface="Arial"/>
              </a:rPr>
              <a:t> Harvest Industry Summit, Upper Gwynedd , PA, 2025</a:t>
            </a:r>
          </a:p>
        </p:txBody>
      </p:sp>
      <p:sp>
        <p:nvSpPr>
          <p:cNvPr id="67" name="Rectangle 66"/>
          <p:cNvSpPr/>
          <p:nvPr/>
        </p:nvSpPr>
        <p:spPr>
          <a:xfrm>
            <a:off x="501650" y="14833833"/>
            <a:ext cx="720000" cy="2576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700" i="1">
                <a:solidFill>
                  <a:schemeClr val="tx1"/>
                </a:solidFill>
                <a:cs typeface="Arial"/>
              </a:rPr>
              <a:t>Supported by</a:t>
            </a:r>
          </a:p>
        </p:txBody>
      </p:sp>
      <p:pic>
        <p:nvPicPr>
          <p:cNvPr id="69" name="Picture 68"/>
          <p:cNvPicPr>
            <a:picLocks noChangeAspect="1"/>
          </p:cNvPicPr>
          <p:nvPr/>
        </p:nvPicPr>
        <p:blipFill>
          <a:blip r:embed="rId3"/>
          <a:stretch>
            <a:fillRect/>
          </a:stretch>
        </p:blipFill>
        <p:spPr>
          <a:xfrm>
            <a:off x="1285154" y="14738583"/>
            <a:ext cx="774700" cy="190500"/>
          </a:xfrm>
          <a:prstGeom prst="rect">
            <a:avLst/>
          </a:prstGeom>
        </p:spPr>
      </p:pic>
      <p:pic>
        <p:nvPicPr>
          <p:cNvPr id="2" name="Picture 8" descr="AstraZeneca - Research-Based BioPharmaceutical Company">
            <a:extLst>
              <a:ext uri="{FF2B5EF4-FFF2-40B4-BE49-F238E27FC236}">
                <a16:creationId xmlns:a16="http://schemas.microsoft.com/office/drawing/2014/main" id="{96F3CD1B-B449-C349-3064-2DE07A51B7BE}"/>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l="19328" t="28835" r="19996" b="29842"/>
          <a:stretch/>
        </p:blipFill>
        <p:spPr bwMode="auto">
          <a:xfrm>
            <a:off x="8044611" y="1059901"/>
            <a:ext cx="2303766" cy="823717"/>
          </a:xfrm>
          <a:prstGeom prst="rect">
            <a:avLst/>
          </a:prstGeom>
          <a:noFill/>
          <a:extLst>
            <a:ext uri="{909E8E84-426E-40DD-AFC4-6F175D3DCCD1}">
              <a14:hiddenFill xmlns:a14="http://schemas.microsoft.com/office/drawing/2010/main">
                <a:solidFill>
                  <a:srgbClr val="FFFFFF"/>
                </a:solidFill>
              </a14:hiddenFill>
            </a:ext>
          </a:extLst>
        </p:spPr>
      </p:pic>
      <p:sp>
        <p:nvSpPr>
          <p:cNvPr id="463" name="Rectangle 462">
            <a:extLst>
              <a:ext uri="{FF2B5EF4-FFF2-40B4-BE49-F238E27FC236}">
                <a16:creationId xmlns:a16="http://schemas.microsoft.com/office/drawing/2014/main" id="{B2AD8513-8626-4E55-E13C-16ACFBE2A717}"/>
              </a:ext>
            </a:extLst>
          </p:cNvPr>
          <p:cNvSpPr/>
          <p:nvPr/>
        </p:nvSpPr>
        <p:spPr>
          <a:xfrm>
            <a:off x="4962640" y="9884178"/>
            <a:ext cx="5585284" cy="289458"/>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200" b="1">
                <a:ln>
                  <a:noFill/>
                </a:ln>
                <a:latin typeface="Arial"/>
                <a:cs typeface="Arial"/>
              </a:rPr>
              <a:t>Depth Filter cycling at 50 L scale with 170 cm</a:t>
            </a:r>
            <a:r>
              <a:rPr lang="en-US" sz="1200" b="1" baseline="30000">
                <a:ln>
                  <a:noFill/>
                </a:ln>
                <a:latin typeface="Arial"/>
                <a:cs typeface="Arial"/>
              </a:rPr>
              <a:t>2</a:t>
            </a:r>
            <a:r>
              <a:rPr lang="en-US" sz="1200" b="1">
                <a:ln>
                  <a:noFill/>
                </a:ln>
                <a:latin typeface="Arial"/>
                <a:cs typeface="Arial"/>
              </a:rPr>
              <a:t> Filter</a:t>
            </a:r>
          </a:p>
        </p:txBody>
      </p:sp>
      <p:sp>
        <p:nvSpPr>
          <p:cNvPr id="5" name="Rectangle 4">
            <a:extLst>
              <a:ext uri="{FF2B5EF4-FFF2-40B4-BE49-F238E27FC236}">
                <a16:creationId xmlns:a16="http://schemas.microsoft.com/office/drawing/2014/main" id="{F6F33110-3474-FB19-1B63-4E901EF15BB9}"/>
              </a:ext>
            </a:extLst>
          </p:cNvPr>
          <p:cNvSpPr/>
          <p:nvPr/>
        </p:nvSpPr>
        <p:spPr>
          <a:xfrm>
            <a:off x="4942896" y="12496528"/>
            <a:ext cx="5605028" cy="2159728"/>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72000" tIns="72000" rIns="72000" bIns="72000" rtlCol="0" anchor="t"/>
          <a:lstStyle/>
          <a:p>
            <a:pPr marL="107950" indent="-107950">
              <a:buFont typeface="Arial"/>
              <a:buChar char="•"/>
            </a:pPr>
            <a:r>
              <a:rPr lang="en-US" sz="1050" dirty="0">
                <a:solidFill>
                  <a:schemeClr val="tx1"/>
                </a:solidFill>
                <a:latin typeface="Arial"/>
                <a:cs typeface="Arial"/>
              </a:rPr>
              <a:t>1 M Salt A pH 7 -&gt; 1 N NaOH -&gt; 2 M Salt B pH 5 is an acceptable sanitization method</a:t>
            </a:r>
            <a:endParaRPr lang="en-US" sz="1050" dirty="0"/>
          </a:p>
          <a:p>
            <a:pPr marL="107950" indent="-107950">
              <a:buFont typeface="Arial"/>
              <a:buChar char="•"/>
            </a:pPr>
            <a:r>
              <a:rPr lang="en-US" sz="1050" dirty="0">
                <a:solidFill>
                  <a:schemeClr val="tx1"/>
                </a:solidFill>
                <a:latin typeface="Arial"/>
                <a:cs typeface="Arial"/>
              </a:rPr>
              <a:t>Achieved a capacity of 2100 L/m2 over 11 cycles at bench scale before filter fouled</a:t>
            </a:r>
          </a:p>
          <a:p>
            <a:pPr marL="107950" indent="-107950">
              <a:buFont typeface="Arial"/>
              <a:buChar char="•"/>
            </a:pPr>
            <a:r>
              <a:rPr lang="en-US" sz="1050" b="1" dirty="0">
                <a:solidFill>
                  <a:schemeClr val="tx1"/>
                </a:solidFill>
                <a:latin typeface="Arial"/>
                <a:cs typeface="Arial"/>
              </a:rPr>
              <a:t>Reduced depth filters required at commercial scale from 22 filter to 12 filters. Estimated $65K in savings per IDB operation, $1.5M/year</a:t>
            </a:r>
          </a:p>
          <a:p>
            <a:pPr marL="107950" indent="-107950">
              <a:buFont typeface="Arial"/>
              <a:buChar char="•"/>
            </a:pPr>
            <a:r>
              <a:rPr lang="en-US" sz="1050" dirty="0">
                <a:solidFill>
                  <a:schemeClr val="tx1"/>
                </a:solidFill>
                <a:latin typeface="Arial"/>
                <a:cs typeface="Arial"/>
              </a:rPr>
              <a:t>Achieved 3000 L/m2 at 50 L scale with minimal pressure increase, indicating a </a:t>
            </a:r>
            <a:r>
              <a:rPr lang="en-US" sz="1050" b="1" dirty="0">
                <a:solidFill>
                  <a:schemeClr val="tx1"/>
                </a:solidFill>
                <a:latin typeface="Arial"/>
                <a:cs typeface="Arial"/>
              </a:rPr>
              <a:t>higher max capacity at scale </a:t>
            </a:r>
            <a:r>
              <a:rPr lang="en-US" sz="1050" b="1" i="1" dirty="0">
                <a:solidFill>
                  <a:schemeClr val="tx1"/>
                </a:solidFill>
                <a:latin typeface="Arial"/>
                <a:cs typeface="Arial"/>
              </a:rPr>
              <a:t>vs </a:t>
            </a:r>
            <a:r>
              <a:rPr lang="en-US" sz="1050" b="1" dirty="0">
                <a:solidFill>
                  <a:schemeClr val="tx1"/>
                </a:solidFill>
                <a:latin typeface="Arial"/>
                <a:cs typeface="Arial"/>
              </a:rPr>
              <a:t>bench.</a:t>
            </a:r>
          </a:p>
          <a:p>
            <a:pPr marL="171450" indent="-171450">
              <a:buFont typeface="Arial" panose="020B0604020202020204" pitchFamily="34" charset="0"/>
              <a:buChar char="•"/>
            </a:pPr>
            <a:r>
              <a:rPr lang="en-US" sz="1100" dirty="0">
                <a:solidFill>
                  <a:schemeClr val="tx1"/>
                </a:solidFill>
                <a:latin typeface="Arial"/>
                <a:cs typeface="Arial"/>
              </a:rPr>
              <a:t>Need to find maximum capacity at 50 L scale to update facility fit</a:t>
            </a:r>
          </a:p>
          <a:p>
            <a:pPr marL="171450" indent="-171450">
              <a:buFont typeface="Arial" panose="020B0604020202020204" pitchFamily="34" charset="0"/>
              <a:buChar char="•"/>
            </a:pPr>
            <a:r>
              <a:rPr lang="en-US" sz="1100" dirty="0">
                <a:solidFill>
                  <a:schemeClr val="tx1"/>
                </a:solidFill>
                <a:latin typeface="Arial"/>
                <a:cs typeface="Arial"/>
              </a:rPr>
              <a:t>Need for vendor extractable and leachable qualification for prolonged exposure to 0.1-1.0 N NaOH. </a:t>
            </a:r>
          </a:p>
          <a:p>
            <a:pPr marL="886465" lvl="1" indent="-171450">
              <a:buFont typeface="Arial" panose="020B0604020202020204" pitchFamily="34" charset="0"/>
              <a:buChar char="•"/>
            </a:pPr>
            <a:r>
              <a:rPr lang="en-US" sz="900" dirty="0">
                <a:solidFill>
                  <a:schemeClr val="tx1"/>
                </a:solidFill>
                <a:latin typeface="Arial"/>
                <a:cs typeface="Arial"/>
              </a:rPr>
              <a:t>Currently, filter is approved for 1 hour of 1 N NaOH exposure</a:t>
            </a:r>
          </a:p>
          <a:p>
            <a:pPr marL="171450" indent="-171450">
              <a:buFont typeface="Arial" panose="020B0604020202020204" pitchFamily="34" charset="0"/>
              <a:buChar char="•"/>
            </a:pPr>
            <a:r>
              <a:rPr lang="en-US" sz="1100" dirty="0">
                <a:solidFill>
                  <a:schemeClr val="tx1"/>
                </a:solidFill>
                <a:latin typeface="Arial"/>
                <a:cs typeface="Arial"/>
              </a:rPr>
              <a:t>Continue to optimize sanitization protocol to increase capacity</a:t>
            </a:r>
          </a:p>
          <a:p>
            <a:pPr marL="171450" indent="-171450">
              <a:buFont typeface="Arial" panose="020B0604020202020204" pitchFamily="34" charset="0"/>
              <a:buChar char="•"/>
            </a:pPr>
            <a:r>
              <a:rPr lang="en-US" sz="1100" dirty="0">
                <a:solidFill>
                  <a:schemeClr val="tx1"/>
                </a:solidFill>
                <a:latin typeface="Arial"/>
                <a:cs typeface="Arial"/>
              </a:rPr>
              <a:t>Apply cycling and sanitization to other brands of depth filters as part of IDB toolbox</a:t>
            </a:r>
          </a:p>
          <a:p>
            <a:pPr marL="107950" indent="-107950">
              <a:buFont typeface="Arial"/>
              <a:buChar char="•"/>
            </a:pPr>
            <a:endParaRPr lang="en-US" sz="1050" b="1" dirty="0">
              <a:solidFill>
                <a:schemeClr val="tx1"/>
              </a:solidFill>
              <a:latin typeface="Arial"/>
              <a:cs typeface="Arial"/>
            </a:endParaRPr>
          </a:p>
        </p:txBody>
      </p:sp>
      <p:sp>
        <p:nvSpPr>
          <p:cNvPr id="11" name="Rectangle 10">
            <a:extLst>
              <a:ext uri="{FF2B5EF4-FFF2-40B4-BE49-F238E27FC236}">
                <a16:creationId xmlns:a16="http://schemas.microsoft.com/office/drawing/2014/main" id="{561E2192-60CD-752A-737C-6FF878A4BA39}"/>
              </a:ext>
            </a:extLst>
          </p:cNvPr>
          <p:cNvSpPr/>
          <p:nvPr/>
        </p:nvSpPr>
        <p:spPr>
          <a:xfrm>
            <a:off x="138498" y="13885832"/>
            <a:ext cx="4613271" cy="253242"/>
          </a:xfrm>
          <a:prstGeom prst="rect">
            <a:avLst/>
          </a:prstGeom>
          <a:solidFill>
            <a:srgbClr val="83005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200" b="1">
                <a:latin typeface="Arial"/>
                <a:cs typeface="Arial"/>
              </a:rPr>
              <a:t>Acknowledgments</a:t>
            </a:r>
            <a:endParaRPr lang="en-US" sz="1200" b="1">
              <a:ln>
                <a:noFill/>
              </a:ln>
              <a:latin typeface="Arial"/>
              <a:cs typeface="Arial"/>
            </a:endParaRPr>
          </a:p>
        </p:txBody>
      </p:sp>
      <p:graphicFrame>
        <p:nvGraphicFramePr>
          <p:cNvPr id="45" name="Content Placeholder 6">
            <a:extLst>
              <a:ext uri="{FF2B5EF4-FFF2-40B4-BE49-F238E27FC236}">
                <a16:creationId xmlns:a16="http://schemas.microsoft.com/office/drawing/2014/main" id="{8D76F10B-17FE-355F-EEE8-22212CE45D99}"/>
              </a:ext>
            </a:extLst>
          </p:cNvPr>
          <p:cNvGraphicFramePr>
            <a:graphicFrameLocks/>
          </p:cNvGraphicFramePr>
          <p:nvPr>
            <p:extLst>
              <p:ext uri="{D42A27DB-BD31-4B8C-83A1-F6EECF244321}">
                <p14:modId xmlns:p14="http://schemas.microsoft.com/office/powerpoint/2010/main" val="1549456510"/>
              </p:ext>
            </p:extLst>
          </p:nvPr>
        </p:nvGraphicFramePr>
        <p:xfrm>
          <a:off x="5035295" y="7939924"/>
          <a:ext cx="5379762" cy="1730933"/>
        </p:xfrm>
        <a:graphic>
          <a:graphicData uri="http://schemas.openxmlformats.org/drawingml/2006/table">
            <a:tbl>
              <a:tblPr firstRow="1" bandRow="1"/>
              <a:tblGrid>
                <a:gridCol w="1292553">
                  <a:extLst>
                    <a:ext uri="{9D8B030D-6E8A-4147-A177-3AD203B41FA5}">
                      <a16:colId xmlns:a16="http://schemas.microsoft.com/office/drawing/2014/main" val="807336277"/>
                    </a:ext>
                  </a:extLst>
                </a:gridCol>
                <a:gridCol w="1362403">
                  <a:extLst>
                    <a:ext uri="{9D8B030D-6E8A-4147-A177-3AD203B41FA5}">
                      <a16:colId xmlns:a16="http://schemas.microsoft.com/office/drawing/2014/main" val="316192848"/>
                    </a:ext>
                  </a:extLst>
                </a:gridCol>
                <a:gridCol w="1362403">
                  <a:extLst>
                    <a:ext uri="{9D8B030D-6E8A-4147-A177-3AD203B41FA5}">
                      <a16:colId xmlns:a16="http://schemas.microsoft.com/office/drawing/2014/main" val="818242520"/>
                    </a:ext>
                  </a:extLst>
                </a:gridCol>
                <a:gridCol w="1362403">
                  <a:extLst>
                    <a:ext uri="{9D8B030D-6E8A-4147-A177-3AD203B41FA5}">
                      <a16:colId xmlns:a16="http://schemas.microsoft.com/office/drawing/2014/main" val="1596068639"/>
                    </a:ext>
                  </a:extLst>
                </a:gridCol>
              </a:tblGrid>
              <a:tr h="222737">
                <a:tc>
                  <a:txBody>
                    <a:bodyPr/>
                    <a:lstStyle>
                      <a:lvl1pPr marL="0" algn="l" defTabSz="715015" rtl="0" eaLnBrk="1" latinLnBrk="0" hangingPunct="1">
                        <a:defRPr sz="2800" b="1" kern="1200">
                          <a:solidFill>
                            <a:schemeClr val="tx1"/>
                          </a:solidFill>
                          <a:latin typeface="Calibri"/>
                        </a:defRPr>
                      </a:lvl1pPr>
                      <a:lvl2pPr marL="715015" algn="l" defTabSz="715015" rtl="0" eaLnBrk="1" latinLnBrk="0" hangingPunct="1">
                        <a:defRPr sz="2800" b="1" kern="1200">
                          <a:solidFill>
                            <a:schemeClr val="tx1"/>
                          </a:solidFill>
                          <a:latin typeface="Calibri"/>
                        </a:defRPr>
                      </a:lvl2pPr>
                      <a:lvl3pPr marL="1430030" algn="l" defTabSz="715015" rtl="0" eaLnBrk="1" latinLnBrk="0" hangingPunct="1">
                        <a:defRPr sz="2800" b="1" kern="1200">
                          <a:solidFill>
                            <a:schemeClr val="tx1"/>
                          </a:solidFill>
                          <a:latin typeface="Calibri"/>
                        </a:defRPr>
                      </a:lvl3pPr>
                      <a:lvl4pPr marL="2145045" algn="l" defTabSz="715015" rtl="0" eaLnBrk="1" latinLnBrk="0" hangingPunct="1">
                        <a:defRPr sz="2800" b="1" kern="1200">
                          <a:solidFill>
                            <a:schemeClr val="tx1"/>
                          </a:solidFill>
                          <a:latin typeface="Calibri"/>
                        </a:defRPr>
                      </a:lvl4pPr>
                      <a:lvl5pPr marL="2860060" algn="l" defTabSz="715015" rtl="0" eaLnBrk="1" latinLnBrk="0" hangingPunct="1">
                        <a:defRPr sz="2800" b="1" kern="1200">
                          <a:solidFill>
                            <a:schemeClr val="tx1"/>
                          </a:solidFill>
                          <a:latin typeface="Calibri"/>
                        </a:defRPr>
                      </a:lvl5pPr>
                      <a:lvl6pPr marL="3575075" algn="l" defTabSz="715015" rtl="0" eaLnBrk="1" latinLnBrk="0" hangingPunct="1">
                        <a:defRPr sz="2800" b="1" kern="1200">
                          <a:solidFill>
                            <a:schemeClr val="tx1"/>
                          </a:solidFill>
                          <a:latin typeface="Calibri"/>
                        </a:defRPr>
                      </a:lvl6pPr>
                      <a:lvl7pPr marL="4290090" algn="l" defTabSz="715015" rtl="0" eaLnBrk="1" latinLnBrk="0" hangingPunct="1">
                        <a:defRPr sz="2800" b="1" kern="1200">
                          <a:solidFill>
                            <a:schemeClr val="tx1"/>
                          </a:solidFill>
                          <a:latin typeface="Calibri"/>
                        </a:defRPr>
                      </a:lvl7pPr>
                      <a:lvl8pPr marL="5005106" algn="l" defTabSz="715015" rtl="0" eaLnBrk="1" latinLnBrk="0" hangingPunct="1">
                        <a:defRPr sz="2800" b="1" kern="1200">
                          <a:solidFill>
                            <a:schemeClr val="tx1"/>
                          </a:solidFill>
                          <a:latin typeface="Calibri"/>
                        </a:defRPr>
                      </a:lvl8pPr>
                      <a:lvl9pPr marL="5720121" algn="l" defTabSz="715015" rtl="0" eaLnBrk="1" latinLnBrk="0" hangingPunct="1">
                        <a:defRPr sz="2800" b="1" kern="1200">
                          <a:solidFill>
                            <a:schemeClr val="tx1"/>
                          </a:solidFill>
                          <a:latin typeface="Calibri"/>
                        </a:defRPr>
                      </a:lvl9pPr>
                    </a:lstStyle>
                    <a:p>
                      <a:r>
                        <a:rPr lang="en-US" sz="1050"/>
                        <a:t>Sample</a:t>
                      </a:r>
                    </a:p>
                  </a:txBody>
                  <a:tcPr>
                    <a:lnL>
                      <a:noFill/>
                    </a:lnL>
                    <a:lnR>
                      <a:noFill/>
                    </a:lnR>
                    <a:lnT w="12700" cmpd="sng">
                      <a:solidFill>
                        <a:srgbClr val="830051"/>
                      </a:solidFill>
                    </a:lnT>
                    <a:lnB w="12700" cmpd="sng">
                      <a:solidFill>
                        <a:srgbClr val="830051"/>
                      </a:solidFill>
                    </a:lnB>
                    <a:lnTlToBr w="12700" cmpd="sng">
                      <a:noFill/>
                      <a:prstDash val="solid"/>
                    </a:lnTlToBr>
                    <a:lnBlToTr w="12700" cmpd="sng">
                      <a:noFill/>
                      <a:prstDash val="solid"/>
                    </a:lnBlToTr>
                    <a:noFill/>
                  </a:tcPr>
                </a:tc>
                <a:tc>
                  <a:txBody>
                    <a:bodyPr/>
                    <a:lstStyle>
                      <a:lvl1pPr marL="0" algn="l" defTabSz="715015" rtl="0" eaLnBrk="1" latinLnBrk="0" hangingPunct="1">
                        <a:defRPr sz="2800" b="1" kern="1200">
                          <a:solidFill>
                            <a:schemeClr val="tx1"/>
                          </a:solidFill>
                          <a:latin typeface="Calibri"/>
                        </a:defRPr>
                      </a:lvl1pPr>
                      <a:lvl2pPr marL="715015" algn="l" defTabSz="715015" rtl="0" eaLnBrk="1" latinLnBrk="0" hangingPunct="1">
                        <a:defRPr sz="2800" b="1" kern="1200">
                          <a:solidFill>
                            <a:schemeClr val="tx1"/>
                          </a:solidFill>
                          <a:latin typeface="Calibri"/>
                        </a:defRPr>
                      </a:lvl2pPr>
                      <a:lvl3pPr marL="1430030" algn="l" defTabSz="715015" rtl="0" eaLnBrk="1" latinLnBrk="0" hangingPunct="1">
                        <a:defRPr sz="2800" b="1" kern="1200">
                          <a:solidFill>
                            <a:schemeClr val="tx1"/>
                          </a:solidFill>
                          <a:latin typeface="Calibri"/>
                        </a:defRPr>
                      </a:lvl3pPr>
                      <a:lvl4pPr marL="2145045" algn="l" defTabSz="715015" rtl="0" eaLnBrk="1" latinLnBrk="0" hangingPunct="1">
                        <a:defRPr sz="2800" b="1" kern="1200">
                          <a:solidFill>
                            <a:schemeClr val="tx1"/>
                          </a:solidFill>
                          <a:latin typeface="Calibri"/>
                        </a:defRPr>
                      </a:lvl4pPr>
                      <a:lvl5pPr marL="2860060" algn="l" defTabSz="715015" rtl="0" eaLnBrk="1" latinLnBrk="0" hangingPunct="1">
                        <a:defRPr sz="2800" b="1" kern="1200">
                          <a:solidFill>
                            <a:schemeClr val="tx1"/>
                          </a:solidFill>
                          <a:latin typeface="Calibri"/>
                        </a:defRPr>
                      </a:lvl5pPr>
                      <a:lvl6pPr marL="3575075" algn="l" defTabSz="715015" rtl="0" eaLnBrk="1" latinLnBrk="0" hangingPunct="1">
                        <a:defRPr sz="2800" b="1" kern="1200">
                          <a:solidFill>
                            <a:schemeClr val="tx1"/>
                          </a:solidFill>
                          <a:latin typeface="Calibri"/>
                        </a:defRPr>
                      </a:lvl6pPr>
                      <a:lvl7pPr marL="4290090" algn="l" defTabSz="715015" rtl="0" eaLnBrk="1" latinLnBrk="0" hangingPunct="1">
                        <a:defRPr sz="2800" b="1" kern="1200">
                          <a:solidFill>
                            <a:schemeClr val="tx1"/>
                          </a:solidFill>
                          <a:latin typeface="Calibri"/>
                        </a:defRPr>
                      </a:lvl7pPr>
                      <a:lvl8pPr marL="5005106" algn="l" defTabSz="715015" rtl="0" eaLnBrk="1" latinLnBrk="0" hangingPunct="1">
                        <a:defRPr sz="2800" b="1" kern="1200">
                          <a:solidFill>
                            <a:schemeClr val="tx1"/>
                          </a:solidFill>
                          <a:latin typeface="Calibri"/>
                        </a:defRPr>
                      </a:lvl8pPr>
                      <a:lvl9pPr marL="5720121" algn="l" defTabSz="715015" rtl="0" eaLnBrk="1" latinLnBrk="0" hangingPunct="1">
                        <a:defRPr sz="2800" b="1" kern="1200">
                          <a:solidFill>
                            <a:schemeClr val="tx1"/>
                          </a:solidFill>
                          <a:latin typeface="Calibri"/>
                        </a:defRPr>
                      </a:lvl9pPr>
                    </a:lstStyle>
                    <a:p>
                      <a:r>
                        <a:rPr lang="en-US" sz="1050"/>
                        <a:t>Concentration g/L</a:t>
                      </a:r>
                    </a:p>
                  </a:txBody>
                  <a:tcPr>
                    <a:lnL>
                      <a:noFill/>
                    </a:lnL>
                    <a:lnR>
                      <a:noFill/>
                    </a:lnR>
                    <a:lnT w="12700" cmpd="sng">
                      <a:solidFill>
                        <a:srgbClr val="830051"/>
                      </a:solidFill>
                    </a:lnT>
                    <a:lnB w="12700" cmpd="sng">
                      <a:solidFill>
                        <a:srgbClr val="830051"/>
                      </a:solidFill>
                    </a:lnB>
                    <a:lnTlToBr w="12700" cmpd="sng">
                      <a:noFill/>
                      <a:prstDash val="solid"/>
                    </a:lnTlToBr>
                    <a:lnBlToTr w="12700" cmpd="sng">
                      <a:noFill/>
                      <a:prstDash val="solid"/>
                    </a:lnBlToTr>
                    <a:noFill/>
                  </a:tcPr>
                </a:tc>
                <a:tc>
                  <a:txBody>
                    <a:bodyPr/>
                    <a:lstStyle>
                      <a:lvl1pPr marL="0" algn="l" defTabSz="715015" rtl="0" eaLnBrk="1" latinLnBrk="0" hangingPunct="1">
                        <a:defRPr sz="2800" b="1" kern="1200">
                          <a:solidFill>
                            <a:schemeClr val="tx1"/>
                          </a:solidFill>
                          <a:latin typeface="Calibri"/>
                        </a:defRPr>
                      </a:lvl1pPr>
                      <a:lvl2pPr marL="715015" algn="l" defTabSz="715015" rtl="0" eaLnBrk="1" latinLnBrk="0" hangingPunct="1">
                        <a:defRPr sz="2800" b="1" kern="1200">
                          <a:solidFill>
                            <a:schemeClr val="tx1"/>
                          </a:solidFill>
                          <a:latin typeface="Calibri"/>
                        </a:defRPr>
                      </a:lvl2pPr>
                      <a:lvl3pPr marL="1430030" algn="l" defTabSz="715015" rtl="0" eaLnBrk="1" latinLnBrk="0" hangingPunct="1">
                        <a:defRPr sz="2800" b="1" kern="1200">
                          <a:solidFill>
                            <a:schemeClr val="tx1"/>
                          </a:solidFill>
                          <a:latin typeface="Calibri"/>
                        </a:defRPr>
                      </a:lvl3pPr>
                      <a:lvl4pPr marL="2145045" algn="l" defTabSz="715015" rtl="0" eaLnBrk="1" latinLnBrk="0" hangingPunct="1">
                        <a:defRPr sz="2800" b="1" kern="1200">
                          <a:solidFill>
                            <a:schemeClr val="tx1"/>
                          </a:solidFill>
                          <a:latin typeface="Calibri"/>
                        </a:defRPr>
                      </a:lvl4pPr>
                      <a:lvl5pPr marL="2860060" algn="l" defTabSz="715015" rtl="0" eaLnBrk="1" latinLnBrk="0" hangingPunct="1">
                        <a:defRPr sz="2800" b="1" kern="1200">
                          <a:solidFill>
                            <a:schemeClr val="tx1"/>
                          </a:solidFill>
                          <a:latin typeface="Calibri"/>
                        </a:defRPr>
                      </a:lvl5pPr>
                      <a:lvl6pPr marL="3575075" algn="l" defTabSz="715015" rtl="0" eaLnBrk="1" latinLnBrk="0" hangingPunct="1">
                        <a:defRPr sz="2800" b="1" kern="1200">
                          <a:solidFill>
                            <a:schemeClr val="tx1"/>
                          </a:solidFill>
                          <a:latin typeface="Calibri"/>
                        </a:defRPr>
                      </a:lvl6pPr>
                      <a:lvl7pPr marL="4290090" algn="l" defTabSz="715015" rtl="0" eaLnBrk="1" latinLnBrk="0" hangingPunct="1">
                        <a:defRPr sz="2800" b="1" kern="1200">
                          <a:solidFill>
                            <a:schemeClr val="tx1"/>
                          </a:solidFill>
                          <a:latin typeface="Calibri"/>
                        </a:defRPr>
                      </a:lvl7pPr>
                      <a:lvl8pPr marL="5005106" algn="l" defTabSz="715015" rtl="0" eaLnBrk="1" latinLnBrk="0" hangingPunct="1">
                        <a:defRPr sz="2800" b="1" kern="1200">
                          <a:solidFill>
                            <a:schemeClr val="tx1"/>
                          </a:solidFill>
                          <a:latin typeface="Calibri"/>
                        </a:defRPr>
                      </a:lvl8pPr>
                      <a:lvl9pPr marL="5720121" algn="l" defTabSz="715015" rtl="0" eaLnBrk="1" latinLnBrk="0" hangingPunct="1">
                        <a:defRPr sz="2800" b="1" kern="1200">
                          <a:solidFill>
                            <a:schemeClr val="tx1"/>
                          </a:solidFill>
                          <a:latin typeface="Calibri"/>
                        </a:defRPr>
                      </a:lvl9pPr>
                    </a:lstStyle>
                    <a:p>
                      <a:r>
                        <a:rPr lang="en-US" sz="1050"/>
                        <a:t>HCP (ng/mg </a:t>
                      </a:r>
                      <a:r>
                        <a:rPr lang="en-US" sz="1050" err="1"/>
                        <a:t>bsAb</a:t>
                      </a:r>
                      <a:r>
                        <a:rPr lang="en-US" sz="1050"/>
                        <a:t>)</a:t>
                      </a:r>
                    </a:p>
                  </a:txBody>
                  <a:tcPr>
                    <a:lnL>
                      <a:noFill/>
                    </a:lnL>
                    <a:lnR>
                      <a:noFill/>
                    </a:lnR>
                    <a:lnT w="12700" cmpd="sng">
                      <a:solidFill>
                        <a:srgbClr val="830051"/>
                      </a:solidFill>
                    </a:lnT>
                    <a:lnB w="12700" cmpd="sng">
                      <a:solidFill>
                        <a:srgbClr val="830051"/>
                      </a:solidFill>
                    </a:lnB>
                    <a:lnTlToBr w="12700" cmpd="sng">
                      <a:noFill/>
                      <a:prstDash val="solid"/>
                    </a:lnTlToBr>
                    <a:lnBlToTr w="12700" cmpd="sng">
                      <a:noFill/>
                      <a:prstDash val="solid"/>
                    </a:lnBlToTr>
                    <a:noFill/>
                  </a:tcPr>
                </a:tc>
                <a:tc>
                  <a:txBody>
                    <a:bodyPr/>
                    <a:lstStyle>
                      <a:lvl1pPr marL="0" algn="l" defTabSz="715015" rtl="0" eaLnBrk="1" latinLnBrk="0" hangingPunct="1">
                        <a:defRPr sz="2800" b="1" kern="1200">
                          <a:solidFill>
                            <a:schemeClr val="tx1"/>
                          </a:solidFill>
                          <a:latin typeface="Calibri"/>
                        </a:defRPr>
                      </a:lvl1pPr>
                      <a:lvl2pPr marL="715015" algn="l" defTabSz="715015" rtl="0" eaLnBrk="1" latinLnBrk="0" hangingPunct="1">
                        <a:defRPr sz="2800" b="1" kern="1200">
                          <a:solidFill>
                            <a:schemeClr val="tx1"/>
                          </a:solidFill>
                          <a:latin typeface="Calibri"/>
                        </a:defRPr>
                      </a:lvl2pPr>
                      <a:lvl3pPr marL="1430030" algn="l" defTabSz="715015" rtl="0" eaLnBrk="1" latinLnBrk="0" hangingPunct="1">
                        <a:defRPr sz="2800" b="1" kern="1200">
                          <a:solidFill>
                            <a:schemeClr val="tx1"/>
                          </a:solidFill>
                          <a:latin typeface="Calibri"/>
                        </a:defRPr>
                      </a:lvl3pPr>
                      <a:lvl4pPr marL="2145045" algn="l" defTabSz="715015" rtl="0" eaLnBrk="1" latinLnBrk="0" hangingPunct="1">
                        <a:defRPr sz="2800" b="1" kern="1200">
                          <a:solidFill>
                            <a:schemeClr val="tx1"/>
                          </a:solidFill>
                          <a:latin typeface="Calibri"/>
                        </a:defRPr>
                      </a:lvl4pPr>
                      <a:lvl5pPr marL="2860060" algn="l" defTabSz="715015" rtl="0" eaLnBrk="1" latinLnBrk="0" hangingPunct="1">
                        <a:defRPr sz="2800" b="1" kern="1200">
                          <a:solidFill>
                            <a:schemeClr val="tx1"/>
                          </a:solidFill>
                          <a:latin typeface="Calibri"/>
                        </a:defRPr>
                      </a:lvl5pPr>
                      <a:lvl6pPr marL="3575075" algn="l" defTabSz="715015" rtl="0" eaLnBrk="1" latinLnBrk="0" hangingPunct="1">
                        <a:defRPr sz="2800" b="1" kern="1200">
                          <a:solidFill>
                            <a:schemeClr val="tx1"/>
                          </a:solidFill>
                          <a:latin typeface="Calibri"/>
                        </a:defRPr>
                      </a:lvl6pPr>
                      <a:lvl7pPr marL="4290090" algn="l" defTabSz="715015" rtl="0" eaLnBrk="1" latinLnBrk="0" hangingPunct="1">
                        <a:defRPr sz="2800" b="1" kern="1200">
                          <a:solidFill>
                            <a:schemeClr val="tx1"/>
                          </a:solidFill>
                          <a:latin typeface="Calibri"/>
                        </a:defRPr>
                      </a:lvl7pPr>
                      <a:lvl8pPr marL="5005106" algn="l" defTabSz="715015" rtl="0" eaLnBrk="1" latinLnBrk="0" hangingPunct="1">
                        <a:defRPr sz="2800" b="1" kern="1200">
                          <a:solidFill>
                            <a:schemeClr val="tx1"/>
                          </a:solidFill>
                          <a:latin typeface="Calibri"/>
                        </a:defRPr>
                      </a:lvl8pPr>
                      <a:lvl9pPr marL="5720121" algn="l" defTabSz="715015" rtl="0" eaLnBrk="1" latinLnBrk="0" hangingPunct="1">
                        <a:defRPr sz="2800" b="1" kern="1200">
                          <a:solidFill>
                            <a:schemeClr val="tx1"/>
                          </a:solidFill>
                          <a:latin typeface="Calibri"/>
                        </a:defRPr>
                      </a:lvl9pPr>
                    </a:lstStyle>
                    <a:p>
                      <a:r>
                        <a:rPr lang="en-US" sz="1050"/>
                        <a:t>DNA (ng/mg </a:t>
                      </a:r>
                      <a:r>
                        <a:rPr lang="en-US" sz="1050" err="1"/>
                        <a:t>bsAb</a:t>
                      </a:r>
                      <a:endParaRPr lang="en-US" sz="1050"/>
                    </a:p>
                  </a:txBody>
                  <a:tcPr>
                    <a:lnL>
                      <a:noFill/>
                    </a:lnL>
                    <a:lnR>
                      <a:noFill/>
                    </a:lnR>
                    <a:lnT w="12700" cmpd="sng">
                      <a:solidFill>
                        <a:srgbClr val="830051"/>
                      </a:solidFill>
                    </a:lnT>
                    <a:lnB w="12700" cmpd="sng">
                      <a:solidFill>
                        <a:srgbClr val="830051"/>
                      </a:solidFill>
                    </a:lnB>
                    <a:lnTlToBr w="12700" cmpd="sng">
                      <a:noFill/>
                      <a:prstDash val="solid"/>
                    </a:lnTlToBr>
                    <a:lnBlToTr w="12700" cmpd="sng">
                      <a:noFill/>
                      <a:prstDash val="solid"/>
                    </a:lnBlToTr>
                    <a:noFill/>
                  </a:tcPr>
                </a:tc>
                <a:extLst>
                  <a:ext uri="{0D108BD9-81ED-4DB2-BD59-A6C34878D82A}">
                    <a16:rowId xmlns:a16="http://schemas.microsoft.com/office/drawing/2014/main" val="479832152"/>
                  </a:ext>
                </a:extLst>
              </a:tr>
              <a:tr h="336473">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Load Material</a:t>
                      </a:r>
                    </a:p>
                  </a:txBody>
                  <a:tcPr anchor="ctr">
                    <a:lnL>
                      <a:noFill/>
                    </a:lnL>
                    <a:lnR>
                      <a:noFill/>
                    </a:lnR>
                    <a:lnT w="12700" cmpd="sng">
                      <a:solidFill>
                        <a:srgbClr val="830051"/>
                      </a:solidFill>
                    </a:lnT>
                    <a:lnB>
                      <a:noFill/>
                    </a:lnB>
                    <a:lnTlToBr w="12700" cmpd="sng">
                      <a:noFill/>
                      <a:prstDash val="solid"/>
                    </a:lnTlToBr>
                    <a:lnBlToTr w="12700" cmpd="sng">
                      <a:noFill/>
                      <a:prstDash val="solid"/>
                    </a:lnBlToTr>
                    <a:solidFill>
                      <a:srgbClr val="830051">
                        <a:alpha val="20000"/>
                      </a:srgbClr>
                    </a:solid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5.8</a:t>
                      </a:r>
                    </a:p>
                  </a:txBody>
                  <a:tcPr anchor="ctr">
                    <a:lnL>
                      <a:noFill/>
                    </a:lnL>
                    <a:lnR>
                      <a:noFill/>
                    </a:lnR>
                    <a:lnT w="12700" cmpd="sng">
                      <a:solidFill>
                        <a:srgbClr val="830051"/>
                      </a:solidFill>
                    </a:lnT>
                    <a:lnB>
                      <a:noFill/>
                    </a:lnB>
                    <a:lnTlToBr w="12700" cmpd="sng">
                      <a:noFill/>
                      <a:prstDash val="solid"/>
                    </a:lnTlToBr>
                    <a:lnBlToTr w="12700" cmpd="sng">
                      <a:noFill/>
                      <a:prstDash val="solid"/>
                    </a:lnBlToTr>
                    <a:solidFill>
                      <a:srgbClr val="830051">
                        <a:alpha val="20000"/>
                      </a:srgbClr>
                    </a:solid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1000</a:t>
                      </a:r>
                    </a:p>
                  </a:txBody>
                  <a:tcPr anchor="ctr">
                    <a:lnL>
                      <a:noFill/>
                    </a:lnL>
                    <a:lnR>
                      <a:noFill/>
                    </a:lnR>
                    <a:lnT w="12700" cmpd="sng">
                      <a:solidFill>
                        <a:srgbClr val="830051"/>
                      </a:solidFill>
                    </a:lnT>
                    <a:lnB>
                      <a:noFill/>
                    </a:lnB>
                    <a:lnTlToBr w="12700" cmpd="sng">
                      <a:noFill/>
                      <a:prstDash val="solid"/>
                    </a:lnTlToBr>
                    <a:lnBlToTr w="12700" cmpd="sng">
                      <a:noFill/>
                      <a:prstDash val="solid"/>
                    </a:lnBlToTr>
                    <a:solidFill>
                      <a:srgbClr val="830051">
                        <a:alpha val="20000"/>
                      </a:srgbClr>
                    </a:solid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3.6E-01</a:t>
                      </a:r>
                    </a:p>
                  </a:txBody>
                  <a:tcPr anchor="ctr">
                    <a:lnL>
                      <a:noFill/>
                    </a:lnL>
                    <a:lnR>
                      <a:noFill/>
                    </a:lnR>
                    <a:lnT w="12700" cmpd="sng">
                      <a:solidFill>
                        <a:srgbClr val="830051"/>
                      </a:solidFill>
                    </a:lnT>
                    <a:lnB>
                      <a:noFill/>
                    </a:lnB>
                    <a:lnTlToBr w="12700" cmpd="sng">
                      <a:noFill/>
                      <a:prstDash val="solid"/>
                    </a:lnTlToBr>
                    <a:lnBlToTr w="12700" cmpd="sng">
                      <a:noFill/>
                      <a:prstDash val="solid"/>
                    </a:lnBlToTr>
                    <a:solidFill>
                      <a:srgbClr val="830051">
                        <a:alpha val="20000"/>
                      </a:srgbClr>
                    </a:solidFill>
                  </a:tcPr>
                </a:tc>
                <a:extLst>
                  <a:ext uri="{0D108BD9-81ED-4DB2-BD59-A6C34878D82A}">
                    <a16:rowId xmlns:a16="http://schemas.microsoft.com/office/drawing/2014/main" val="2762981652"/>
                  </a:ext>
                </a:extLst>
              </a:tr>
              <a:tr h="506220">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dirty="0"/>
                        <a:t>1400-1600 L/m</a:t>
                      </a:r>
                      <a:r>
                        <a:rPr lang="en-US" sz="1050" baseline="30000" dirty="0"/>
                        <a:t>2</a:t>
                      </a:r>
                      <a:r>
                        <a:rPr lang="en-US" sz="1050" dirty="0"/>
                        <a:t> cumulative capacity, 8 cycles</a:t>
                      </a:r>
                    </a:p>
                  </a:txBody>
                  <a:tcPr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2.6</a:t>
                      </a:r>
                    </a:p>
                  </a:txBody>
                  <a:tcPr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dirty="0"/>
                        <a:t>174</a:t>
                      </a:r>
                    </a:p>
                  </a:txBody>
                  <a:tcPr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6.4E-04</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1193028"/>
                  </a:ext>
                </a:extLst>
              </a:tr>
              <a:tr h="506220">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dirty="0"/>
                        <a:t>1800-2100 L/m</a:t>
                      </a:r>
                      <a:r>
                        <a:rPr lang="en-US" sz="1050" baseline="30000" dirty="0"/>
                        <a:t>2</a:t>
                      </a:r>
                      <a:r>
                        <a:rPr lang="en-US" sz="1050" dirty="0"/>
                        <a:t> cumulative capacity, 11 cycles</a:t>
                      </a:r>
                    </a:p>
                  </a:txBody>
                  <a:tcPr anchor="ctr">
                    <a:lnL>
                      <a:noFill/>
                    </a:lnL>
                    <a:lnR>
                      <a:noFill/>
                    </a:lnR>
                    <a:lnT>
                      <a:noFill/>
                    </a:lnT>
                    <a:lnB w="12700" cmpd="sng">
                      <a:solidFill>
                        <a:srgbClr val="830051"/>
                      </a:solidFill>
                    </a:lnB>
                    <a:lnTlToBr w="12700" cmpd="sng">
                      <a:noFill/>
                      <a:prstDash val="solid"/>
                    </a:lnTlToBr>
                    <a:lnBlToTr w="12700" cmpd="sng">
                      <a:noFill/>
                      <a:prstDash val="solid"/>
                    </a:lnBlToTr>
                    <a:solidFill>
                      <a:srgbClr val="830051">
                        <a:alpha val="20000"/>
                      </a:srgbClr>
                    </a:solid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dirty="0"/>
                        <a:t>2.9</a:t>
                      </a:r>
                    </a:p>
                  </a:txBody>
                  <a:tcPr anchor="ctr">
                    <a:lnL>
                      <a:noFill/>
                    </a:lnL>
                    <a:lnR>
                      <a:noFill/>
                    </a:lnR>
                    <a:lnT>
                      <a:noFill/>
                    </a:lnT>
                    <a:lnB w="12700" cmpd="sng">
                      <a:solidFill>
                        <a:srgbClr val="830051"/>
                      </a:solidFill>
                    </a:lnB>
                    <a:lnTlToBr w="12700" cmpd="sng">
                      <a:noFill/>
                      <a:prstDash val="solid"/>
                    </a:lnTlToBr>
                    <a:lnBlToTr w="12700" cmpd="sng">
                      <a:noFill/>
                      <a:prstDash val="solid"/>
                    </a:lnBlToTr>
                    <a:solidFill>
                      <a:srgbClr val="830051">
                        <a:alpha val="20000"/>
                      </a:srgbClr>
                    </a:solid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a:t>206</a:t>
                      </a:r>
                    </a:p>
                  </a:txBody>
                  <a:tcPr anchor="ctr">
                    <a:lnL>
                      <a:noFill/>
                    </a:lnL>
                    <a:lnR>
                      <a:noFill/>
                    </a:lnR>
                    <a:lnT>
                      <a:noFill/>
                    </a:lnT>
                    <a:lnB w="12700" cmpd="sng">
                      <a:solidFill>
                        <a:srgbClr val="830051"/>
                      </a:solidFill>
                    </a:lnB>
                    <a:lnTlToBr w="12700" cmpd="sng">
                      <a:noFill/>
                      <a:prstDash val="solid"/>
                    </a:lnTlToBr>
                    <a:lnBlToTr w="12700" cmpd="sng">
                      <a:noFill/>
                      <a:prstDash val="solid"/>
                    </a:lnBlToTr>
                    <a:solidFill>
                      <a:srgbClr val="830051">
                        <a:alpha val="20000"/>
                      </a:srgbClr>
                    </a:solidFill>
                  </a:tcPr>
                </a:tc>
                <a:tc>
                  <a:txBody>
                    <a:bodyPr/>
                    <a:lstStyle>
                      <a:lvl1pPr marL="0" algn="l" defTabSz="715015" rtl="0" eaLnBrk="1" latinLnBrk="0" hangingPunct="1">
                        <a:defRPr sz="2800" kern="1200">
                          <a:solidFill>
                            <a:schemeClr val="tx1"/>
                          </a:solidFill>
                          <a:latin typeface="Calibri"/>
                        </a:defRPr>
                      </a:lvl1pPr>
                      <a:lvl2pPr marL="715015" algn="l" defTabSz="715015" rtl="0" eaLnBrk="1" latinLnBrk="0" hangingPunct="1">
                        <a:defRPr sz="2800" kern="1200">
                          <a:solidFill>
                            <a:schemeClr val="tx1"/>
                          </a:solidFill>
                          <a:latin typeface="Calibri"/>
                        </a:defRPr>
                      </a:lvl2pPr>
                      <a:lvl3pPr marL="1430030" algn="l" defTabSz="715015" rtl="0" eaLnBrk="1" latinLnBrk="0" hangingPunct="1">
                        <a:defRPr sz="2800" kern="1200">
                          <a:solidFill>
                            <a:schemeClr val="tx1"/>
                          </a:solidFill>
                          <a:latin typeface="Calibri"/>
                        </a:defRPr>
                      </a:lvl3pPr>
                      <a:lvl4pPr marL="2145045" algn="l" defTabSz="715015" rtl="0" eaLnBrk="1" latinLnBrk="0" hangingPunct="1">
                        <a:defRPr sz="2800" kern="1200">
                          <a:solidFill>
                            <a:schemeClr val="tx1"/>
                          </a:solidFill>
                          <a:latin typeface="Calibri"/>
                        </a:defRPr>
                      </a:lvl4pPr>
                      <a:lvl5pPr marL="2860060" algn="l" defTabSz="715015" rtl="0" eaLnBrk="1" latinLnBrk="0" hangingPunct="1">
                        <a:defRPr sz="2800" kern="1200">
                          <a:solidFill>
                            <a:schemeClr val="tx1"/>
                          </a:solidFill>
                          <a:latin typeface="Calibri"/>
                        </a:defRPr>
                      </a:lvl5pPr>
                      <a:lvl6pPr marL="3575075" algn="l" defTabSz="715015" rtl="0" eaLnBrk="1" latinLnBrk="0" hangingPunct="1">
                        <a:defRPr sz="2800" kern="1200">
                          <a:solidFill>
                            <a:schemeClr val="tx1"/>
                          </a:solidFill>
                          <a:latin typeface="Calibri"/>
                        </a:defRPr>
                      </a:lvl6pPr>
                      <a:lvl7pPr marL="4290090" algn="l" defTabSz="715015" rtl="0" eaLnBrk="1" latinLnBrk="0" hangingPunct="1">
                        <a:defRPr sz="2800" kern="1200">
                          <a:solidFill>
                            <a:schemeClr val="tx1"/>
                          </a:solidFill>
                          <a:latin typeface="Calibri"/>
                        </a:defRPr>
                      </a:lvl7pPr>
                      <a:lvl8pPr marL="5005106" algn="l" defTabSz="715015" rtl="0" eaLnBrk="1" latinLnBrk="0" hangingPunct="1">
                        <a:defRPr sz="2800" kern="1200">
                          <a:solidFill>
                            <a:schemeClr val="tx1"/>
                          </a:solidFill>
                          <a:latin typeface="Calibri"/>
                        </a:defRPr>
                      </a:lvl8pPr>
                      <a:lvl9pPr marL="5720121" algn="l" defTabSz="715015" rtl="0" eaLnBrk="1" latinLnBrk="0" hangingPunct="1">
                        <a:defRPr sz="2800" kern="1200">
                          <a:solidFill>
                            <a:schemeClr val="tx1"/>
                          </a:solidFill>
                          <a:latin typeface="Calibri"/>
                        </a:defRPr>
                      </a:lvl9pPr>
                    </a:lstStyle>
                    <a:p>
                      <a:pPr algn="ctr"/>
                      <a:r>
                        <a:rPr lang="en-US" sz="1050" dirty="0"/>
                        <a:t>2.8E-04</a:t>
                      </a:r>
                    </a:p>
                  </a:txBody>
                  <a:tcPr anchor="ctr">
                    <a:lnL>
                      <a:noFill/>
                    </a:lnL>
                    <a:lnR>
                      <a:noFill/>
                    </a:lnR>
                    <a:lnT>
                      <a:noFill/>
                    </a:lnT>
                    <a:lnB w="12700" cmpd="sng">
                      <a:solidFill>
                        <a:srgbClr val="830051"/>
                      </a:solidFill>
                    </a:lnB>
                    <a:lnTlToBr w="12700" cmpd="sng">
                      <a:noFill/>
                      <a:prstDash val="solid"/>
                    </a:lnTlToBr>
                    <a:lnBlToTr w="12700" cmpd="sng">
                      <a:noFill/>
                      <a:prstDash val="solid"/>
                    </a:lnBlToTr>
                    <a:solidFill>
                      <a:srgbClr val="830051">
                        <a:alpha val="20000"/>
                      </a:srgbClr>
                    </a:solidFill>
                  </a:tcPr>
                </a:tc>
                <a:extLst>
                  <a:ext uri="{0D108BD9-81ED-4DB2-BD59-A6C34878D82A}">
                    <a16:rowId xmlns:a16="http://schemas.microsoft.com/office/drawing/2014/main" val="1073782791"/>
                  </a:ext>
                </a:extLst>
              </a:tr>
            </a:tbl>
          </a:graphicData>
        </a:graphic>
      </p:graphicFrame>
      <p:sp>
        <p:nvSpPr>
          <p:cNvPr id="19" name="Rectangle 18">
            <a:extLst>
              <a:ext uri="{FF2B5EF4-FFF2-40B4-BE49-F238E27FC236}">
                <a16:creationId xmlns:a16="http://schemas.microsoft.com/office/drawing/2014/main" id="{D6E76958-5298-8EC1-4D62-7781CF76FDBA}"/>
              </a:ext>
            </a:extLst>
          </p:cNvPr>
          <p:cNvSpPr/>
          <p:nvPr/>
        </p:nvSpPr>
        <p:spPr>
          <a:xfrm>
            <a:off x="160906" y="8704331"/>
            <a:ext cx="4306986" cy="2721744"/>
          </a:xfrm>
          <a:prstGeom prst="rect">
            <a:avLst/>
          </a:prstGeom>
          <a:solidFill>
            <a:schemeClr val="accent1">
              <a:alpha val="15000"/>
            </a:schemeClr>
          </a:solidFill>
          <a:ln>
            <a:noFill/>
          </a:ln>
          <a:effectLst/>
        </p:spPr>
        <p:style>
          <a:lnRef idx="1">
            <a:schemeClr val="accent1"/>
          </a:lnRef>
          <a:fillRef idx="3">
            <a:schemeClr val="accent1"/>
          </a:fillRef>
          <a:effectRef idx="2">
            <a:schemeClr val="accent1"/>
          </a:effectRef>
          <a:fontRef idx="minor">
            <a:schemeClr val="lt1"/>
          </a:fontRef>
        </p:style>
        <p:txBody>
          <a:bodyPr lIns="72000" tIns="72000" rIns="72000" bIns="72000" rtlCol="0" anchor="t"/>
          <a:lstStyle/>
          <a:p>
            <a:pPr marL="171450" indent="-171450">
              <a:buFont typeface="Arial" panose="020B0604020202020204" pitchFamily="34" charset="0"/>
              <a:buChar char="•"/>
            </a:pPr>
            <a:r>
              <a:rPr lang="en-US" sz="1000" err="1">
                <a:solidFill>
                  <a:schemeClr val="tx1"/>
                </a:solidFill>
                <a:latin typeface="Arial"/>
                <a:cs typeface="Arial"/>
              </a:rPr>
              <a:t>BsAb</a:t>
            </a:r>
            <a:r>
              <a:rPr lang="en-US" sz="1000">
                <a:solidFill>
                  <a:schemeClr val="tx1"/>
                </a:solidFill>
                <a:latin typeface="Arial"/>
                <a:cs typeface="Arial"/>
              </a:rPr>
              <a:t> 1 precipitates when titrating to pH 7.4 after capture column (300-500 NTU)</a:t>
            </a:r>
          </a:p>
          <a:p>
            <a:pPr marL="171450" indent="-171450">
              <a:buFont typeface="Arial" panose="020B0604020202020204" pitchFamily="34" charset="0"/>
              <a:buChar char="•"/>
            </a:pPr>
            <a:endParaRPr lang="en-US" sz="1000">
              <a:ln>
                <a:noFill/>
              </a:ln>
              <a:solidFill>
                <a:schemeClr val="tx1"/>
              </a:solidFill>
              <a:latin typeface="Arial"/>
              <a:cs typeface="Arial"/>
            </a:endParaRPr>
          </a:p>
          <a:p>
            <a:pPr marL="171450" indent="-171450">
              <a:buFont typeface="Arial" panose="020B0604020202020204" pitchFamily="34" charset="0"/>
              <a:buChar char="•"/>
            </a:pPr>
            <a:r>
              <a:rPr lang="en-US" sz="1000">
                <a:solidFill>
                  <a:schemeClr val="tx1"/>
                </a:solidFill>
                <a:cs typeface="Arial"/>
              </a:rPr>
              <a:t>Need to implement depth filter that can be sanitized with NaOH to operate in a closed system</a:t>
            </a:r>
          </a:p>
          <a:p>
            <a:pPr marL="886465" lvl="1" indent="-171450">
              <a:buFont typeface="Arial" panose="020B0604020202020204" pitchFamily="34" charset="0"/>
              <a:buChar char="•"/>
            </a:pPr>
            <a:r>
              <a:rPr lang="en-US" sz="1000">
                <a:solidFill>
                  <a:schemeClr val="tx1"/>
                </a:solidFill>
                <a:cs typeface="Arial"/>
              </a:rPr>
              <a:t> </a:t>
            </a:r>
            <a:r>
              <a:rPr lang="en-US" sz="1000" b="1" err="1">
                <a:solidFill>
                  <a:schemeClr val="tx1"/>
                </a:solidFill>
                <a:cs typeface="Arial"/>
              </a:rPr>
              <a:t>Emphaze</a:t>
            </a:r>
            <a:r>
              <a:rPr lang="en-US" sz="1000" b="1">
                <a:solidFill>
                  <a:schemeClr val="tx1"/>
                </a:solidFill>
                <a:cs typeface="Arial"/>
              </a:rPr>
              <a:t> AEX (</a:t>
            </a:r>
            <a:r>
              <a:rPr lang="en-US" sz="1000" b="1" err="1">
                <a:solidFill>
                  <a:schemeClr val="tx1"/>
                </a:solidFill>
                <a:cs typeface="Arial"/>
              </a:rPr>
              <a:t>Solventum</a:t>
            </a:r>
            <a:r>
              <a:rPr lang="en-US" sz="1000" b="1">
                <a:solidFill>
                  <a:schemeClr val="tx1"/>
                </a:solidFill>
                <a:cs typeface="Arial"/>
              </a:rPr>
              <a:t>)</a:t>
            </a:r>
          </a:p>
          <a:p>
            <a:pPr marL="886465" lvl="1" indent="-171450">
              <a:buFont typeface="Arial" panose="020B0604020202020204" pitchFamily="34" charset="0"/>
              <a:buChar char="•"/>
            </a:pPr>
            <a:endParaRPr lang="en-US" sz="1000" b="1">
              <a:solidFill>
                <a:schemeClr val="tx1"/>
              </a:solidFill>
              <a:cs typeface="Arial"/>
            </a:endParaRPr>
          </a:p>
          <a:p>
            <a:pPr marL="171450" indent="-171450">
              <a:buFont typeface="Arial" panose="020B0604020202020204" pitchFamily="34" charset="0"/>
              <a:buChar char="•"/>
            </a:pPr>
            <a:r>
              <a:rPr lang="en-US" sz="1000">
                <a:solidFill>
                  <a:schemeClr val="tx1"/>
                </a:solidFill>
                <a:cs typeface="Arial"/>
              </a:rPr>
              <a:t>When operating in single pass, the capacity is 1000 L/m</a:t>
            </a:r>
            <a:r>
              <a:rPr lang="en-US" sz="1000" baseline="30000">
                <a:solidFill>
                  <a:schemeClr val="tx1"/>
                </a:solidFill>
                <a:cs typeface="Arial"/>
              </a:rPr>
              <a:t>2</a:t>
            </a:r>
            <a:r>
              <a:rPr lang="en-US" sz="1000">
                <a:solidFill>
                  <a:schemeClr val="tx1"/>
                </a:solidFill>
                <a:cs typeface="Arial"/>
              </a:rPr>
              <a:t>, requiring </a:t>
            </a:r>
            <a:r>
              <a:rPr lang="en-US" sz="1000" b="1">
                <a:solidFill>
                  <a:schemeClr val="tx1"/>
                </a:solidFill>
                <a:cs typeface="Arial"/>
              </a:rPr>
              <a:t>22 depth filters per commercial scale 14 day operation</a:t>
            </a:r>
          </a:p>
          <a:p>
            <a:pPr marL="171450" indent="-171450">
              <a:buFont typeface="Arial" panose="020B0604020202020204" pitchFamily="34" charset="0"/>
              <a:buChar char="•"/>
            </a:pPr>
            <a:endParaRPr lang="en-US" sz="1000" b="1">
              <a:solidFill>
                <a:schemeClr val="tx1"/>
              </a:solidFill>
              <a:cs typeface="Arial"/>
            </a:endParaRPr>
          </a:p>
          <a:p>
            <a:pPr marL="171450" indent="-171450">
              <a:buFont typeface="Arial" panose="020B0604020202020204" pitchFamily="34" charset="0"/>
              <a:buChar char="•"/>
            </a:pPr>
            <a:r>
              <a:rPr lang="en-US" sz="1000">
                <a:solidFill>
                  <a:schemeClr val="tx1"/>
                </a:solidFill>
                <a:cs typeface="Arial"/>
              </a:rPr>
              <a:t>Need to increase capacity of depth filter to decrease # of filters required at commercial scale</a:t>
            </a:r>
          </a:p>
          <a:p>
            <a:pPr marL="171450" indent="-171450">
              <a:buFont typeface="Arial" panose="020B0604020202020204" pitchFamily="34" charset="0"/>
              <a:buChar char="•"/>
            </a:pPr>
            <a:endParaRPr lang="en-US" sz="1000">
              <a:solidFill>
                <a:schemeClr val="tx1"/>
              </a:solidFill>
              <a:cs typeface="Arial"/>
            </a:endParaRPr>
          </a:p>
          <a:p>
            <a:pPr marL="171450" indent="-171450">
              <a:buFont typeface="Arial" panose="020B0604020202020204" pitchFamily="34" charset="0"/>
              <a:buChar char="•"/>
            </a:pPr>
            <a:r>
              <a:rPr lang="en-US" sz="1000">
                <a:solidFill>
                  <a:schemeClr val="tx1"/>
                </a:solidFill>
                <a:cs typeface="Arial"/>
              </a:rPr>
              <a:t>Developing cycling protocol where depth filter is operated like a column, is “underloaded” and then cleaned to reduce bioburden and increase the total capacity of the filter.</a:t>
            </a:r>
          </a:p>
          <a:p>
            <a:pPr marL="108000" indent="-108000">
              <a:buFont typeface="Arial"/>
              <a:buChar char="•"/>
            </a:pPr>
            <a:endParaRPr lang="en-US" sz="900">
              <a:solidFill>
                <a:schemeClr val="tx1"/>
              </a:solidFill>
              <a:cs typeface="Arial"/>
            </a:endParaRPr>
          </a:p>
          <a:p>
            <a:pPr marL="108000" indent="-108000">
              <a:buFont typeface="Arial"/>
              <a:buChar char="•"/>
            </a:pPr>
            <a:endParaRPr lang="en-US" sz="1100">
              <a:solidFill>
                <a:schemeClr val="tx1"/>
              </a:solidFill>
              <a:cs typeface="Arial"/>
            </a:endParaRPr>
          </a:p>
          <a:p>
            <a:pPr marL="108000" indent="-108000">
              <a:buFont typeface="Arial"/>
              <a:buChar char="•"/>
            </a:pPr>
            <a:endParaRPr lang="en-US" sz="1100">
              <a:solidFill>
                <a:schemeClr val="tx1"/>
              </a:solidFill>
              <a:cs typeface="Arial"/>
            </a:endParaRPr>
          </a:p>
          <a:p>
            <a:pPr marL="108000" indent="-108000">
              <a:buFont typeface="Arial"/>
              <a:buChar char="•"/>
            </a:pPr>
            <a:endParaRPr lang="en-US" sz="1100">
              <a:ln>
                <a:noFill/>
              </a:ln>
              <a:solidFill>
                <a:schemeClr val="tx1"/>
              </a:solidFill>
              <a:latin typeface="Arial"/>
              <a:cs typeface="Arial"/>
            </a:endParaRPr>
          </a:p>
        </p:txBody>
      </p:sp>
      <p:grpSp>
        <p:nvGrpSpPr>
          <p:cNvPr id="41" name="Group 40">
            <a:extLst>
              <a:ext uri="{FF2B5EF4-FFF2-40B4-BE49-F238E27FC236}">
                <a16:creationId xmlns:a16="http://schemas.microsoft.com/office/drawing/2014/main" id="{BC03B890-1C74-169D-A505-35077CE974C0}"/>
              </a:ext>
            </a:extLst>
          </p:cNvPr>
          <p:cNvGrpSpPr/>
          <p:nvPr/>
        </p:nvGrpSpPr>
        <p:grpSpPr>
          <a:xfrm>
            <a:off x="213758" y="5455980"/>
            <a:ext cx="4272330" cy="3071463"/>
            <a:chOff x="12916" y="2415229"/>
            <a:chExt cx="4272330" cy="3071463"/>
          </a:xfrm>
        </p:grpSpPr>
        <p:pic>
          <p:nvPicPr>
            <p:cNvPr id="4" name="Picture 3">
              <a:extLst>
                <a:ext uri="{FF2B5EF4-FFF2-40B4-BE49-F238E27FC236}">
                  <a16:creationId xmlns:a16="http://schemas.microsoft.com/office/drawing/2014/main" id="{DC797FF8-2E2F-A3FB-2176-59DF16527CA3}"/>
                </a:ext>
              </a:extLst>
            </p:cNvPr>
            <p:cNvPicPr>
              <a:picLocks noChangeAspect="1"/>
            </p:cNvPicPr>
            <p:nvPr/>
          </p:nvPicPr>
          <p:blipFill>
            <a:blip r:embed="rId5"/>
            <a:stretch>
              <a:fillRect/>
            </a:stretch>
          </p:blipFill>
          <p:spPr>
            <a:xfrm>
              <a:off x="359308" y="2439199"/>
              <a:ext cx="3925937" cy="1512629"/>
            </a:xfrm>
            <a:prstGeom prst="rect">
              <a:avLst/>
            </a:prstGeom>
          </p:spPr>
        </p:pic>
        <p:grpSp>
          <p:nvGrpSpPr>
            <p:cNvPr id="17" name="Group 16">
              <a:extLst>
                <a:ext uri="{FF2B5EF4-FFF2-40B4-BE49-F238E27FC236}">
                  <a16:creationId xmlns:a16="http://schemas.microsoft.com/office/drawing/2014/main" id="{E3619E87-73AA-8FB4-BB4E-664E0B3E98B0}"/>
                </a:ext>
              </a:extLst>
            </p:cNvPr>
            <p:cNvGrpSpPr/>
            <p:nvPr/>
          </p:nvGrpSpPr>
          <p:grpSpPr>
            <a:xfrm>
              <a:off x="42618" y="4051612"/>
              <a:ext cx="2482613" cy="1305388"/>
              <a:chOff x="4113691" y="4410134"/>
              <a:chExt cx="3050999" cy="1698424"/>
            </a:xfrm>
          </p:grpSpPr>
          <p:pic>
            <p:nvPicPr>
              <p:cNvPr id="6" name="Picture 2">
                <a:extLst>
                  <a:ext uri="{FF2B5EF4-FFF2-40B4-BE49-F238E27FC236}">
                    <a16:creationId xmlns:a16="http://schemas.microsoft.com/office/drawing/2014/main" id="{069FC63D-D7B5-7DA2-F3D6-6945E6C9A4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3283" y="4772613"/>
                <a:ext cx="751407" cy="13359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26E4807-44B0-FF69-14C7-1A595E16B5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7709" y="4772614"/>
                <a:ext cx="751407" cy="1335944"/>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378ACD0C-FFF6-AF50-DDF2-72160B5177D2}"/>
                  </a:ext>
                </a:extLst>
              </p:cNvPr>
              <p:cNvCxnSpPr/>
              <p:nvPr/>
            </p:nvCxnSpPr>
            <p:spPr>
              <a:xfrm>
                <a:off x="5281224" y="5644266"/>
                <a:ext cx="1040235" cy="0"/>
              </a:xfrm>
              <a:prstGeom prst="straightConnector1">
                <a:avLst/>
              </a:prstGeom>
              <a:ln w="28575" cmpd="sng">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C79EDD4-FA98-EF20-DEDD-54A3D22C7FDE}"/>
                  </a:ext>
                </a:extLst>
              </p:cNvPr>
              <p:cNvSpPr txBox="1"/>
              <p:nvPr/>
            </p:nvSpPr>
            <p:spPr>
              <a:xfrm>
                <a:off x="5281224" y="4760622"/>
                <a:ext cx="1171222" cy="840933"/>
              </a:xfrm>
              <a:prstGeom prst="rect">
                <a:avLst/>
              </a:prstGeom>
              <a:noFill/>
            </p:spPr>
            <p:txBody>
              <a:bodyPr wrap="square" rtlCol="0">
                <a:spAutoFit/>
              </a:bodyPr>
              <a:lstStyle/>
              <a:p>
                <a:r>
                  <a:rPr lang="en-US" sz="900" err="1"/>
                  <a:t>bsAb</a:t>
                </a:r>
                <a:r>
                  <a:rPr lang="en-US" sz="900"/>
                  <a:t> 1 Affinity capture product pH adjusted to 7.4</a:t>
                </a:r>
              </a:p>
            </p:txBody>
          </p:sp>
          <p:sp>
            <p:nvSpPr>
              <p:cNvPr id="13" name="TextBox 12">
                <a:extLst>
                  <a:ext uri="{FF2B5EF4-FFF2-40B4-BE49-F238E27FC236}">
                    <a16:creationId xmlns:a16="http://schemas.microsoft.com/office/drawing/2014/main" id="{C21FC528-AA07-A40C-F132-D699D0352277}"/>
                  </a:ext>
                </a:extLst>
              </p:cNvPr>
              <p:cNvSpPr txBox="1"/>
              <p:nvPr/>
            </p:nvSpPr>
            <p:spPr>
              <a:xfrm>
                <a:off x="4113691" y="4448446"/>
                <a:ext cx="626116" cy="307777"/>
              </a:xfrm>
              <a:prstGeom prst="rect">
                <a:avLst/>
              </a:prstGeom>
              <a:noFill/>
            </p:spPr>
            <p:txBody>
              <a:bodyPr wrap="square" rtlCol="0">
                <a:spAutoFit/>
              </a:bodyPr>
              <a:lstStyle/>
              <a:p>
                <a:r>
                  <a:rPr lang="en-US" sz="1400" b="1"/>
                  <a:t>B)</a:t>
                </a:r>
              </a:p>
            </p:txBody>
          </p:sp>
          <p:sp>
            <p:nvSpPr>
              <p:cNvPr id="15" name="TextBox 14">
                <a:extLst>
                  <a:ext uri="{FF2B5EF4-FFF2-40B4-BE49-F238E27FC236}">
                    <a16:creationId xmlns:a16="http://schemas.microsoft.com/office/drawing/2014/main" id="{B2EBB6E0-22A9-4DD7-1726-9BC33E59CA57}"/>
                  </a:ext>
                </a:extLst>
              </p:cNvPr>
              <p:cNvSpPr txBox="1"/>
              <p:nvPr/>
            </p:nvSpPr>
            <p:spPr>
              <a:xfrm>
                <a:off x="6076529" y="4410134"/>
                <a:ext cx="489858" cy="307777"/>
              </a:xfrm>
              <a:prstGeom prst="rect">
                <a:avLst/>
              </a:prstGeom>
              <a:noFill/>
            </p:spPr>
            <p:txBody>
              <a:bodyPr wrap="square" rtlCol="0">
                <a:spAutoFit/>
              </a:bodyPr>
              <a:lstStyle/>
              <a:p>
                <a:r>
                  <a:rPr lang="en-US" sz="1400" b="1"/>
                  <a:t>C)</a:t>
                </a:r>
              </a:p>
            </p:txBody>
          </p:sp>
        </p:grpSp>
        <p:sp>
          <p:nvSpPr>
            <p:cNvPr id="18" name="TextBox 17">
              <a:extLst>
                <a:ext uri="{FF2B5EF4-FFF2-40B4-BE49-F238E27FC236}">
                  <a16:creationId xmlns:a16="http://schemas.microsoft.com/office/drawing/2014/main" id="{CD5CDFD7-86B7-DC7A-DC7D-444B4191E887}"/>
                </a:ext>
              </a:extLst>
            </p:cNvPr>
            <p:cNvSpPr txBox="1"/>
            <p:nvPr/>
          </p:nvSpPr>
          <p:spPr>
            <a:xfrm>
              <a:off x="12916" y="2415229"/>
              <a:ext cx="489858" cy="307777"/>
            </a:xfrm>
            <a:prstGeom prst="rect">
              <a:avLst/>
            </a:prstGeom>
            <a:noFill/>
          </p:spPr>
          <p:txBody>
            <a:bodyPr wrap="square" rtlCol="0">
              <a:spAutoFit/>
            </a:bodyPr>
            <a:lstStyle/>
            <a:p>
              <a:r>
                <a:rPr lang="en-US" sz="1400" b="1"/>
                <a:t>A)</a:t>
              </a:r>
            </a:p>
          </p:txBody>
        </p:sp>
        <p:sp>
          <p:nvSpPr>
            <p:cNvPr id="28" name="Rectangle 27">
              <a:extLst>
                <a:ext uri="{FF2B5EF4-FFF2-40B4-BE49-F238E27FC236}">
                  <a16:creationId xmlns:a16="http://schemas.microsoft.com/office/drawing/2014/main" id="{FD443316-F6C2-18F1-F560-B6C6ED3FFC43}"/>
                </a:ext>
              </a:extLst>
            </p:cNvPr>
            <p:cNvSpPr/>
            <p:nvPr/>
          </p:nvSpPr>
          <p:spPr>
            <a:xfrm>
              <a:off x="2694823" y="4017202"/>
              <a:ext cx="1590423" cy="14694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900" b="1">
                  <a:solidFill>
                    <a:schemeClr val="tx1"/>
                  </a:solidFill>
                  <a:latin typeface="Arial"/>
                  <a:cs typeface="Arial"/>
                </a:rPr>
                <a:t>Figure 1: A) Downstream IDB purification configuration with depth filtration cycling. The depth filter is on PAK System 1 and is operated like a column for automation purposes. The depth filter captures precipitate formed during base addition as seen below in B) and C)</a:t>
              </a:r>
            </a:p>
          </p:txBody>
        </p:sp>
      </p:grpSp>
      <p:graphicFrame>
        <p:nvGraphicFramePr>
          <p:cNvPr id="29" name="Table 28">
            <a:extLst>
              <a:ext uri="{FF2B5EF4-FFF2-40B4-BE49-F238E27FC236}">
                <a16:creationId xmlns:a16="http://schemas.microsoft.com/office/drawing/2014/main" id="{8353F694-6393-578D-300E-9825F788E627}"/>
              </a:ext>
            </a:extLst>
          </p:cNvPr>
          <p:cNvGraphicFramePr>
            <a:graphicFrameLocks noGrp="1"/>
          </p:cNvGraphicFramePr>
          <p:nvPr>
            <p:extLst>
              <p:ext uri="{D42A27DB-BD31-4B8C-83A1-F6EECF244321}">
                <p14:modId xmlns:p14="http://schemas.microsoft.com/office/powerpoint/2010/main" val="2819500476"/>
              </p:ext>
            </p:extLst>
          </p:nvPr>
        </p:nvGraphicFramePr>
        <p:xfrm>
          <a:off x="4923575" y="3342406"/>
          <a:ext cx="5575092" cy="3868234"/>
        </p:xfrm>
        <a:graphic>
          <a:graphicData uri="http://schemas.openxmlformats.org/drawingml/2006/table">
            <a:tbl>
              <a:tblPr firstRow="1" bandRow="1">
                <a:tableStyleId>{3B4B98B0-60AC-42C2-AFA5-B58CD77FA1E5}</a:tableStyleId>
              </a:tblPr>
              <a:tblGrid>
                <a:gridCol w="729755">
                  <a:extLst>
                    <a:ext uri="{9D8B030D-6E8A-4147-A177-3AD203B41FA5}">
                      <a16:colId xmlns:a16="http://schemas.microsoft.com/office/drawing/2014/main" val="3715121168"/>
                    </a:ext>
                  </a:extLst>
                </a:gridCol>
                <a:gridCol w="1378162">
                  <a:extLst>
                    <a:ext uri="{9D8B030D-6E8A-4147-A177-3AD203B41FA5}">
                      <a16:colId xmlns:a16="http://schemas.microsoft.com/office/drawing/2014/main" val="3953911974"/>
                    </a:ext>
                  </a:extLst>
                </a:gridCol>
                <a:gridCol w="1461161">
                  <a:extLst>
                    <a:ext uri="{9D8B030D-6E8A-4147-A177-3AD203B41FA5}">
                      <a16:colId xmlns:a16="http://schemas.microsoft.com/office/drawing/2014/main" val="2954839523"/>
                    </a:ext>
                  </a:extLst>
                </a:gridCol>
                <a:gridCol w="1281285">
                  <a:extLst>
                    <a:ext uri="{9D8B030D-6E8A-4147-A177-3AD203B41FA5}">
                      <a16:colId xmlns:a16="http://schemas.microsoft.com/office/drawing/2014/main" val="3544354185"/>
                    </a:ext>
                  </a:extLst>
                </a:gridCol>
                <a:gridCol w="724729">
                  <a:extLst>
                    <a:ext uri="{9D8B030D-6E8A-4147-A177-3AD203B41FA5}">
                      <a16:colId xmlns:a16="http://schemas.microsoft.com/office/drawing/2014/main" val="1763365294"/>
                    </a:ext>
                  </a:extLst>
                </a:gridCol>
              </a:tblGrid>
              <a:tr h="207658">
                <a:tc>
                  <a:txBody>
                    <a:bodyPr/>
                    <a:lstStyle/>
                    <a:p>
                      <a:pPr lvl="0" algn="ctr">
                        <a:buNone/>
                      </a:pPr>
                      <a:endParaRPr lang="en-US" sz="900"/>
                    </a:p>
                  </a:txBody>
                  <a:tcPr anchor="ctr">
                    <a:lnR w="12700">
                      <a:solidFill>
                        <a:schemeClr val="tx1"/>
                      </a:solidFill>
                    </a:lnR>
                  </a:tcPr>
                </a:tc>
                <a:tc gridSpan="3">
                  <a:txBody>
                    <a:bodyPr/>
                    <a:lstStyle/>
                    <a:p>
                      <a:pPr marL="0" lvl="0" indent="0" algn="ctr">
                        <a:lnSpc>
                          <a:spcPct val="100000"/>
                        </a:lnSpc>
                        <a:spcBef>
                          <a:spcPts val="0"/>
                        </a:spcBef>
                        <a:spcAft>
                          <a:spcPts val="0"/>
                        </a:spcAft>
                        <a:buNone/>
                      </a:pPr>
                      <a:r>
                        <a:rPr lang="en-US" sz="900"/>
                        <a:t>Sanitization Wash steps in order (2 Membrane volumes per wash)</a:t>
                      </a:r>
                    </a:p>
                  </a:txBody>
                  <a:tcPr anchor="ctr">
                    <a:lnL w="12700">
                      <a:solidFill>
                        <a:schemeClr val="tx1"/>
                      </a:solidFill>
                    </a:lnL>
                    <a:lnR w="12700">
                      <a:solidFill>
                        <a:schemeClr val="tx1"/>
                      </a:solidFill>
                    </a:lnR>
                    <a:lnT w="12700">
                      <a:solidFill>
                        <a:schemeClr val="tx1"/>
                      </a:solidFill>
                    </a:lnT>
                    <a:lnB w="12700">
                      <a:solidFill>
                        <a:schemeClr val="tx1"/>
                      </a:solidFill>
                    </a:lnB>
                  </a:tcPr>
                </a:tc>
                <a:tc hMerge="1">
                  <a:txBody>
                    <a:bodyPr/>
                    <a:lstStyle/>
                    <a:p>
                      <a:endParaRPr lang="en-US"/>
                    </a:p>
                  </a:txBody>
                  <a:tcPr/>
                </a:tc>
                <a:tc hMerge="1">
                  <a:txBody>
                    <a:bodyPr/>
                    <a:lstStyle/>
                    <a:p>
                      <a:endParaRPr lang="en-US"/>
                    </a:p>
                  </a:txBody>
                  <a:tcPr/>
                </a:tc>
                <a:tc>
                  <a:txBody>
                    <a:bodyPr/>
                    <a:lstStyle/>
                    <a:p>
                      <a:pPr lvl="0" algn="ctr">
                        <a:buNone/>
                      </a:pPr>
                      <a:endParaRPr lang="en-US" sz="900"/>
                    </a:p>
                  </a:txBody>
                  <a:tcPr anchor="ctr">
                    <a:lnL w="12700">
                      <a:solidFill>
                        <a:schemeClr val="tx1"/>
                      </a:solidFill>
                    </a:lnL>
                  </a:tcPr>
                </a:tc>
                <a:extLst>
                  <a:ext uri="{0D108BD9-81ED-4DB2-BD59-A6C34878D82A}">
                    <a16:rowId xmlns:a16="http://schemas.microsoft.com/office/drawing/2014/main" val="3752679934"/>
                  </a:ext>
                </a:extLst>
              </a:tr>
              <a:tr h="223340">
                <a:tc>
                  <a:txBody>
                    <a:bodyPr/>
                    <a:lstStyle/>
                    <a:p>
                      <a:pPr algn="ctr"/>
                      <a:r>
                        <a:rPr lang="en-US" sz="900" b="1"/>
                        <a:t>Cycle </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900" b="1"/>
                        <a:t>1st buffer</a:t>
                      </a:r>
                    </a:p>
                  </a:txBody>
                  <a:tcPr anchor="ctr">
                    <a:lnL w="12700" cap="flat" cmpd="sng" algn="ctr">
                      <a:solidFill>
                        <a:schemeClr val="tx1"/>
                      </a:solidFill>
                      <a:prstDash val="solid"/>
                      <a:round/>
                      <a:headEnd type="none" w="med" len="med"/>
                      <a:tailEnd type="none" w="med" len="med"/>
                    </a:lnL>
                    <a:lnT w="12700">
                      <a:solidFill>
                        <a:schemeClr val="tx1"/>
                      </a:solidFill>
                    </a:lnT>
                  </a:tcPr>
                </a:tc>
                <a:tc>
                  <a:txBody>
                    <a:bodyPr/>
                    <a:lstStyle/>
                    <a:p>
                      <a:pPr lvl="0" algn="ctr">
                        <a:buNone/>
                      </a:pPr>
                      <a:r>
                        <a:rPr lang="en-US" sz="900" b="1"/>
                        <a:t>2nd buffer</a:t>
                      </a:r>
                    </a:p>
                  </a:txBody>
                  <a:tcPr anchor="ctr">
                    <a:lnT w="12700">
                      <a:solidFill>
                        <a:schemeClr val="tx1"/>
                      </a:solidFill>
                    </a:lnT>
                  </a:tcPr>
                </a:tc>
                <a:tc>
                  <a:txBody>
                    <a:bodyPr/>
                    <a:lstStyle/>
                    <a:p>
                      <a:pPr lvl="0" algn="ctr">
                        <a:buNone/>
                      </a:pPr>
                      <a:r>
                        <a:rPr lang="en-US" sz="900" b="1"/>
                        <a:t>3rd buffer</a:t>
                      </a:r>
                    </a:p>
                  </a:txBody>
                  <a:tcPr anchor="ctr">
                    <a:lnR w="12700" cap="flat" cmpd="sng" algn="ctr">
                      <a:solidFill>
                        <a:schemeClr val="tx1"/>
                      </a:solidFill>
                      <a:prstDash val="solid"/>
                      <a:round/>
                      <a:headEnd type="none" w="med" len="med"/>
                      <a:tailEnd type="none" w="med" len="med"/>
                    </a:lnR>
                    <a:lnT w="12700">
                      <a:solidFill>
                        <a:schemeClr val="tx1"/>
                      </a:solidFill>
                    </a:lnT>
                  </a:tcPr>
                </a:tc>
                <a:tc>
                  <a:txBody>
                    <a:bodyPr/>
                    <a:lstStyle/>
                    <a:p>
                      <a:pPr lvl="0" algn="ctr">
                        <a:buNone/>
                      </a:pPr>
                      <a:r>
                        <a:rPr lang="en-US" sz="900" b="1"/>
                        <a:t>% yield</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4843804"/>
                  </a:ext>
                </a:extLst>
              </a:tr>
              <a:tr h="235629">
                <a:tc>
                  <a:txBody>
                    <a:bodyPr/>
                    <a:lstStyle/>
                    <a:p>
                      <a:pPr algn="ctr"/>
                      <a:r>
                        <a:rPr lang="en-US" sz="800"/>
                        <a:t>1</a:t>
                      </a:r>
                    </a:p>
                  </a:txBody>
                  <a:tcPr anchor="ctr">
                    <a:lnR w="12700" cap="flat" cmpd="sng" algn="ctr">
                      <a:solidFill>
                        <a:schemeClr val="tx1"/>
                      </a:solidFill>
                      <a:prstDash val="solid"/>
                      <a:round/>
                      <a:headEnd type="none" w="med" len="med"/>
                      <a:tailEnd type="none" w="med" len="med"/>
                    </a:lnR>
                  </a:tcPr>
                </a:tc>
                <a:tc>
                  <a:txBody>
                    <a:bodyPr/>
                    <a:lstStyle/>
                    <a:p>
                      <a:pPr algn="ctr"/>
                      <a:r>
                        <a:rPr lang="en-US" sz="800"/>
                        <a:t>0.5 M Salt B pH 7</a:t>
                      </a:r>
                    </a:p>
                  </a:txBody>
                  <a:tcPr anchor="ctr">
                    <a:lnL w="12700" cap="flat" cmpd="sng" algn="ctr">
                      <a:solidFill>
                        <a:schemeClr val="tx1"/>
                      </a:solidFill>
                      <a:prstDash val="solid"/>
                      <a:round/>
                      <a:headEnd type="none" w="med" len="med"/>
                      <a:tailEnd type="none" w="med" len="med"/>
                    </a:lnL>
                  </a:tcPr>
                </a:tc>
                <a:tc>
                  <a:txBody>
                    <a:bodyPr/>
                    <a:lstStyle/>
                    <a:p>
                      <a:pPr lvl="0" algn="ctr">
                        <a:buNone/>
                      </a:pPr>
                      <a:r>
                        <a:rPr lang="en-US" sz="800"/>
                        <a:t>1 M Salt B pH 7</a:t>
                      </a:r>
                    </a:p>
                  </a:txBody>
                  <a:tcPr anchor="ctr"/>
                </a:tc>
                <a:tc>
                  <a:txBody>
                    <a:bodyPr/>
                    <a:lstStyle/>
                    <a:p>
                      <a:pPr lvl="0" algn="ctr">
                        <a:buNone/>
                      </a:pPr>
                      <a:r>
                        <a:rPr lang="en-US" sz="800"/>
                        <a:t>2 M Salt B pH 7</a:t>
                      </a:r>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83</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81132368"/>
                  </a:ext>
                </a:extLst>
              </a:tr>
              <a:tr h="235629">
                <a:tc>
                  <a:txBody>
                    <a:bodyPr/>
                    <a:lstStyle/>
                    <a:p>
                      <a:pPr algn="ctr"/>
                      <a:r>
                        <a:rPr lang="en-US" sz="800"/>
                        <a:t>2</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800"/>
                        <a:t>0.5 M Salt B pH 5</a:t>
                      </a:r>
                    </a:p>
                  </a:txBody>
                  <a:tcPr anchor="ctr">
                    <a:lnL w="12700" cap="flat" cmpd="sng" algn="ctr">
                      <a:solidFill>
                        <a:schemeClr val="tx1"/>
                      </a:solidFill>
                      <a:prstDash val="solid"/>
                      <a:round/>
                      <a:headEnd type="none" w="med" len="med"/>
                      <a:tailEnd type="none" w="med" len="med"/>
                    </a:lnL>
                  </a:tcPr>
                </a:tc>
                <a:tc>
                  <a:txBody>
                    <a:bodyPr/>
                    <a:lstStyle/>
                    <a:p>
                      <a:pPr lvl="0" algn="ctr">
                        <a:buNone/>
                      </a:pPr>
                      <a:r>
                        <a:rPr lang="en-US" sz="800"/>
                        <a:t>1 M Salt B pH 5</a:t>
                      </a:r>
                    </a:p>
                  </a:txBody>
                  <a:tcPr anchor="ctr"/>
                </a:tc>
                <a:tc>
                  <a:txBody>
                    <a:bodyPr/>
                    <a:lstStyle/>
                    <a:p>
                      <a:pPr lvl="0" algn="ctr">
                        <a:buNone/>
                      </a:pPr>
                      <a:r>
                        <a:rPr lang="en-US" sz="800"/>
                        <a:t>2 M Salt B pH 5</a:t>
                      </a:r>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74</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96974213"/>
                  </a:ext>
                </a:extLst>
              </a:tr>
              <a:tr h="315844">
                <a:tc>
                  <a:txBody>
                    <a:bodyPr/>
                    <a:lstStyle/>
                    <a:p>
                      <a:pPr algn="ctr"/>
                      <a:r>
                        <a:rPr lang="en-US" sz="800"/>
                        <a:t>3</a:t>
                      </a:r>
                    </a:p>
                  </a:txBody>
                  <a:tcPr anchor="ctr">
                    <a:lnR w="12700" cap="flat" cmpd="sng" algn="ctr">
                      <a:solidFill>
                        <a:schemeClr val="tx1"/>
                      </a:solidFill>
                      <a:prstDash val="solid"/>
                      <a:round/>
                      <a:headEnd type="none" w="med" len="med"/>
                      <a:tailEnd type="none" w="med" len="med"/>
                    </a:lnR>
                  </a:tcPr>
                </a:tc>
                <a:tc>
                  <a:txBody>
                    <a:bodyPr/>
                    <a:lstStyle/>
                    <a:p>
                      <a:pPr algn="ctr"/>
                      <a:r>
                        <a:rPr lang="en-US" sz="800"/>
                        <a:t> 1 M Salt A pH 9</a:t>
                      </a:r>
                    </a:p>
                  </a:txBody>
                  <a:tcPr anchor="ctr">
                    <a:lnL w="12700" cap="flat" cmpd="sng" algn="ctr">
                      <a:solidFill>
                        <a:schemeClr val="tx1"/>
                      </a:solidFill>
                      <a:prstDash val="solid"/>
                      <a:round/>
                      <a:headEnd type="none" w="med" len="med"/>
                      <a:tailEnd type="none" w="med" len="med"/>
                    </a:lnL>
                  </a:tcPr>
                </a:tc>
                <a:tc>
                  <a:txBody>
                    <a:bodyPr/>
                    <a:lstStyle/>
                    <a:p>
                      <a:pPr lvl="0" algn="ctr">
                        <a:buNone/>
                      </a:pPr>
                      <a:r>
                        <a:rPr lang="en-US" sz="800"/>
                        <a:t>1 M Salt A pH 7</a:t>
                      </a:r>
                    </a:p>
                  </a:txBody>
                  <a:tcPr anchor="ctr"/>
                </a:tc>
                <a:tc>
                  <a:txBody>
                    <a:bodyPr/>
                    <a:lstStyle/>
                    <a:p>
                      <a:pPr lvl="0" algn="ctr">
                        <a:buNone/>
                      </a:pPr>
                      <a:r>
                        <a:rPr lang="en-US" sz="800"/>
                        <a:t>1 M Salt A pH 5</a:t>
                      </a:r>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77</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77801995"/>
                  </a:ext>
                </a:extLst>
              </a:tr>
              <a:tr h="315844">
                <a:tc>
                  <a:txBody>
                    <a:bodyPr/>
                    <a:lstStyle/>
                    <a:p>
                      <a:pPr algn="ctr"/>
                      <a:r>
                        <a:rPr lang="en-US" sz="800"/>
                        <a:t>4</a:t>
                      </a:r>
                    </a:p>
                  </a:txBody>
                  <a:tcPr anchor="ctr">
                    <a:lnR w="12700" cap="flat" cmpd="sng" algn="ctr">
                      <a:solidFill>
                        <a:schemeClr val="tx1"/>
                      </a:solidFill>
                      <a:prstDash val="solid"/>
                      <a:round/>
                      <a:headEnd type="none" w="med" len="med"/>
                      <a:tailEnd type="none" w="med" len="med"/>
                    </a:lnR>
                    <a:lnB w="12700">
                      <a:solidFill>
                        <a:schemeClr val="tx1"/>
                      </a:solidFill>
                    </a:lnB>
                  </a:tcPr>
                </a:tc>
                <a:tc>
                  <a:txBody>
                    <a:bodyPr/>
                    <a:lstStyle/>
                    <a:p>
                      <a:pPr algn="ctr"/>
                      <a:r>
                        <a:rPr lang="en-US" sz="800"/>
                        <a:t>1 M Salt A pH 5</a:t>
                      </a:r>
                    </a:p>
                  </a:txBody>
                  <a:tcPr anchor="ctr">
                    <a:lnL w="12700" cap="flat" cmpd="sng" algn="ctr">
                      <a:solidFill>
                        <a:schemeClr val="tx1"/>
                      </a:solidFill>
                      <a:prstDash val="solid"/>
                      <a:round/>
                      <a:headEnd type="none" w="med" len="med"/>
                      <a:tailEnd type="none" w="med" len="med"/>
                    </a:lnL>
                    <a:lnB w="12700">
                      <a:solidFill>
                        <a:schemeClr val="tx1"/>
                      </a:solidFill>
                    </a:lnB>
                  </a:tcPr>
                </a:tc>
                <a:tc>
                  <a:txBody>
                    <a:bodyPr/>
                    <a:lstStyle/>
                    <a:p>
                      <a:pPr lvl="0" algn="ctr">
                        <a:buNone/>
                      </a:pPr>
                      <a:r>
                        <a:rPr lang="en-US" sz="800"/>
                        <a:t>1 M Salt A pH 7</a:t>
                      </a:r>
                    </a:p>
                  </a:txBody>
                  <a:tcPr anchor="ctr">
                    <a:lnB w="12700">
                      <a:solidFill>
                        <a:schemeClr val="tx1"/>
                      </a:solidFill>
                    </a:lnB>
                  </a:tcPr>
                </a:tc>
                <a:tc>
                  <a:txBody>
                    <a:bodyPr/>
                    <a:lstStyle/>
                    <a:p>
                      <a:pPr lvl="0" algn="ctr">
                        <a:buNone/>
                      </a:pPr>
                      <a:r>
                        <a:rPr lang="en-US" sz="800"/>
                        <a:t>1 M Salt A pH 7</a:t>
                      </a:r>
                    </a:p>
                  </a:txBody>
                  <a:tcPr anchor="ctr">
                    <a:lnR w="12700" cap="flat" cmpd="sng" algn="ctr">
                      <a:solidFill>
                        <a:schemeClr val="tx1"/>
                      </a:solidFill>
                      <a:prstDash val="solid"/>
                      <a:round/>
                      <a:headEnd type="none" w="med" len="med"/>
                      <a:tailEnd type="none" w="med" len="med"/>
                    </a:lnR>
                    <a:lnB w="12700">
                      <a:solidFill>
                        <a:schemeClr val="tx1"/>
                      </a:solidFill>
                    </a:lnB>
                  </a:tcPr>
                </a:tc>
                <a:tc>
                  <a:txBody>
                    <a:bodyPr/>
                    <a:lstStyle/>
                    <a:p>
                      <a:pPr lvl="0" algn="ctr">
                        <a:buNone/>
                      </a:pPr>
                      <a:r>
                        <a:rPr lang="en-US" sz="800"/>
                        <a:t>81</a:t>
                      </a:r>
                      <a:endParaRPr lang="en-US" sz="3600"/>
                    </a:p>
                  </a:txBody>
                  <a:tcPr anchor="ctr">
                    <a:lnL w="12700" cap="flat" cmpd="sng" algn="ctr">
                      <a:solidFill>
                        <a:schemeClr val="tx1"/>
                      </a:solidFill>
                      <a:prstDash val="solid"/>
                      <a:round/>
                      <a:headEnd type="none" w="med" len="med"/>
                      <a:tailEnd type="none" w="med" len="med"/>
                    </a:lnL>
                    <a:lnB w="12700">
                      <a:solidFill>
                        <a:schemeClr val="tx1"/>
                      </a:solidFill>
                    </a:lnB>
                  </a:tcPr>
                </a:tc>
                <a:extLst>
                  <a:ext uri="{0D108BD9-81ED-4DB2-BD59-A6C34878D82A}">
                    <a16:rowId xmlns:a16="http://schemas.microsoft.com/office/drawing/2014/main" val="3671043982"/>
                  </a:ext>
                </a:extLst>
              </a:tr>
              <a:tr h="315844">
                <a:tc>
                  <a:txBody>
                    <a:bodyPr/>
                    <a:lstStyle/>
                    <a:p>
                      <a:pPr algn="ctr"/>
                      <a:r>
                        <a:rPr lang="en-US" sz="800"/>
                        <a:t>5</a:t>
                      </a:r>
                    </a:p>
                  </a:txBody>
                  <a:tcPr anchor="ctr">
                    <a:lnR w="12700" cap="flat" cmpd="sng" algn="ctr">
                      <a:solidFill>
                        <a:schemeClr val="tx1"/>
                      </a:solidFill>
                      <a:prstDash val="solid"/>
                      <a:round/>
                      <a:headEnd type="none" w="med" len="med"/>
                      <a:tailEnd type="none" w="med" len="med"/>
                    </a:lnR>
                    <a:lnT w="12700">
                      <a:solidFill>
                        <a:schemeClr val="tx1"/>
                      </a:solidFill>
                    </a:lnT>
                  </a:tcPr>
                </a:tc>
                <a:tc>
                  <a:txBody>
                    <a:bodyPr/>
                    <a:lstStyle/>
                    <a:p>
                      <a:pPr lvl="0" algn="ctr">
                        <a:buNone/>
                      </a:pPr>
                      <a:r>
                        <a:rPr lang="en-US" sz="800" b="0" i="0" u="none" strike="noStrike" noProof="0">
                          <a:solidFill>
                            <a:srgbClr val="000000"/>
                          </a:solidFill>
                          <a:latin typeface="Arial"/>
                        </a:rPr>
                        <a:t>1 M Salt A pH 5</a:t>
                      </a:r>
                      <a:endParaRPr lang="en-US" sz="3600"/>
                    </a:p>
                  </a:txBody>
                  <a:tcPr anchor="ctr">
                    <a:lnL w="12700" cap="flat" cmpd="sng" algn="ctr">
                      <a:solidFill>
                        <a:schemeClr val="tx1"/>
                      </a:solidFill>
                      <a:prstDash val="solid"/>
                      <a:round/>
                      <a:headEnd type="none" w="med" len="med"/>
                      <a:tailEnd type="none" w="med" len="med"/>
                    </a:lnL>
                    <a:lnT w="12700">
                      <a:solidFill>
                        <a:schemeClr val="tx1"/>
                      </a:solidFill>
                    </a:lnT>
                  </a:tcPr>
                </a:tc>
                <a:tc>
                  <a:txBody>
                    <a:bodyPr/>
                    <a:lstStyle/>
                    <a:p>
                      <a:pPr lvl="0" algn="ctr">
                        <a:buNone/>
                      </a:pPr>
                      <a:r>
                        <a:rPr lang="en-US" sz="800"/>
                        <a:t>1 N NaOH</a:t>
                      </a:r>
                    </a:p>
                  </a:txBody>
                  <a:tcPr anchor="ctr">
                    <a:lnT w="12700">
                      <a:solidFill>
                        <a:schemeClr val="tx1"/>
                      </a:solidFill>
                    </a:lnT>
                  </a:tcPr>
                </a:tc>
                <a:tc>
                  <a:txBody>
                    <a:bodyPr/>
                    <a:lstStyle/>
                    <a:p>
                      <a:pPr lvl="0" algn="ctr">
                        <a:buNone/>
                      </a:pPr>
                      <a:r>
                        <a:rPr lang="en-US" sz="800"/>
                        <a:t>2 M Salt B pH 5</a:t>
                      </a:r>
                    </a:p>
                  </a:txBody>
                  <a:tcPr anchor="ctr">
                    <a:lnR w="12700" cap="flat" cmpd="sng" algn="ctr">
                      <a:solidFill>
                        <a:schemeClr val="tx1"/>
                      </a:solidFill>
                      <a:prstDash val="solid"/>
                      <a:round/>
                      <a:headEnd type="none" w="med" len="med"/>
                      <a:tailEnd type="none" w="med" len="med"/>
                    </a:lnR>
                    <a:lnT w="12700">
                      <a:solidFill>
                        <a:schemeClr val="tx1"/>
                      </a:solidFill>
                    </a:lnT>
                  </a:tcPr>
                </a:tc>
                <a:tc>
                  <a:txBody>
                    <a:bodyPr/>
                    <a:lstStyle/>
                    <a:p>
                      <a:pPr lvl="0" algn="ctr">
                        <a:buNone/>
                      </a:pPr>
                      <a:r>
                        <a:rPr lang="en-US" sz="800"/>
                        <a:t>88</a:t>
                      </a:r>
                      <a:endParaRPr lang="en-US" sz="3600"/>
                    </a:p>
                  </a:txBody>
                  <a:tcPr anchor="ctr">
                    <a:lnL w="12700" cap="flat" cmpd="sng" algn="ctr">
                      <a:solidFill>
                        <a:schemeClr val="tx1"/>
                      </a:solidFill>
                      <a:prstDash val="solid"/>
                      <a:round/>
                      <a:headEnd type="none" w="med" len="med"/>
                      <a:tailEnd type="none" w="med" len="med"/>
                    </a:lnL>
                    <a:lnT w="12700">
                      <a:solidFill>
                        <a:schemeClr val="tx1"/>
                      </a:solidFill>
                    </a:lnT>
                  </a:tcPr>
                </a:tc>
                <a:extLst>
                  <a:ext uri="{0D108BD9-81ED-4DB2-BD59-A6C34878D82A}">
                    <a16:rowId xmlns:a16="http://schemas.microsoft.com/office/drawing/2014/main" val="1600203556"/>
                  </a:ext>
                </a:extLst>
              </a:tr>
              <a:tr h="315844">
                <a:tc>
                  <a:txBody>
                    <a:bodyPr/>
                    <a:lstStyle/>
                    <a:p>
                      <a:pPr algn="ctr"/>
                      <a:r>
                        <a:rPr lang="en-US" sz="800"/>
                        <a:t>6</a:t>
                      </a:r>
                    </a:p>
                  </a:txBody>
                  <a:tcPr anchor="ctr">
                    <a:lnR w="12700" cap="flat" cmpd="sng" algn="ctr">
                      <a:solidFill>
                        <a:schemeClr val="tx1"/>
                      </a:solidFill>
                      <a:prstDash val="solid"/>
                      <a:round/>
                      <a:headEnd type="none" w="med" len="med"/>
                      <a:tailEnd type="none" w="med" len="med"/>
                    </a:lnR>
                  </a:tcPr>
                </a:tc>
                <a:tc>
                  <a:txBody>
                    <a:bodyPr/>
                    <a:lstStyle/>
                    <a:p>
                      <a:pPr lvl="0" algn="ctr">
                        <a:lnSpc>
                          <a:spcPct val="100000"/>
                        </a:lnSpc>
                        <a:spcBef>
                          <a:spcPts val="0"/>
                        </a:spcBef>
                        <a:spcAft>
                          <a:spcPts val="0"/>
                        </a:spcAft>
                        <a:buNone/>
                      </a:pPr>
                      <a:r>
                        <a:rPr lang="en-US" sz="800" b="0" i="0" u="none" strike="noStrike" noProof="0">
                          <a:solidFill>
                            <a:srgbClr val="000000"/>
                          </a:solidFill>
                          <a:latin typeface="Arial"/>
                        </a:rPr>
                        <a:t>1 M Salt A pH 7</a:t>
                      </a:r>
                    </a:p>
                    <a:p>
                      <a:pPr marL="0" marR="0" lvl="0" indent="0" algn="ctr" defTabSz="914400">
                        <a:lnSpc>
                          <a:spcPct val="100000"/>
                        </a:lnSpc>
                        <a:spcBef>
                          <a:spcPts val="0"/>
                        </a:spcBef>
                        <a:spcAft>
                          <a:spcPts val="0"/>
                        </a:spcAft>
                        <a:buClrTx/>
                        <a:buSzTx/>
                        <a:buFontTx/>
                        <a:buNone/>
                        <a:tabLst/>
                        <a:defRPr/>
                      </a:pPr>
                      <a:endParaRPr lang="en-US" sz="800"/>
                    </a:p>
                  </a:txBody>
                  <a:tcPr anchor="ctr">
                    <a:lnL w="12700" cap="flat" cmpd="sng" algn="ctr">
                      <a:solidFill>
                        <a:schemeClr val="tx1"/>
                      </a:solidFill>
                      <a:prstDash val="solid"/>
                      <a:round/>
                      <a:headEnd type="none" w="med" len="med"/>
                      <a:tailEnd type="none" w="med" len="med"/>
                    </a:lnL>
                  </a:tcPr>
                </a:tc>
                <a:tc>
                  <a:txBody>
                    <a:bodyPr/>
                    <a:lstStyle/>
                    <a:p>
                      <a:pPr lvl="0" algn="ctr">
                        <a:buNone/>
                      </a:pPr>
                      <a:r>
                        <a:rPr lang="en-US" sz="800" b="0" i="0" u="none" strike="noStrike" noProof="0">
                          <a:solidFill>
                            <a:srgbClr val="000000"/>
                          </a:solidFill>
                          <a:latin typeface="Arial"/>
                        </a:rPr>
                        <a:t>1 N NaOH</a:t>
                      </a:r>
                      <a:endParaRPr lang="en-US" sz="3600"/>
                    </a:p>
                  </a:txBody>
                  <a:tcPr anchor="ctr"/>
                </a:tc>
                <a:tc>
                  <a:txBody>
                    <a:bodyPr/>
                    <a:lstStyle/>
                    <a:p>
                      <a:pPr lvl="0" algn="ctr">
                        <a:buNone/>
                      </a:pPr>
                      <a:r>
                        <a:rPr lang="en-US" sz="800" b="0" i="0" u="none" strike="noStrike" noProof="0">
                          <a:solidFill>
                            <a:srgbClr val="000000"/>
                          </a:solidFill>
                          <a:latin typeface="Arial"/>
                        </a:rPr>
                        <a:t>2 M Salt B pH 5</a:t>
                      </a:r>
                      <a:endParaRPr lang="en-US" sz="3600"/>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84</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97002704"/>
                  </a:ext>
                </a:extLst>
              </a:tr>
              <a:tr h="315844">
                <a:tc>
                  <a:txBody>
                    <a:bodyPr/>
                    <a:lstStyle/>
                    <a:p>
                      <a:pPr algn="ctr"/>
                      <a:r>
                        <a:rPr lang="en-US" sz="800"/>
                        <a:t>7</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t>1 M Salt A pH 5</a:t>
                      </a:r>
                    </a:p>
                  </a:txBody>
                  <a:tcPr anchor="ctr">
                    <a:lnL w="12700" cap="flat" cmpd="sng" algn="ctr">
                      <a:solidFill>
                        <a:schemeClr val="tx1"/>
                      </a:solidFill>
                      <a:prstDash val="solid"/>
                      <a:round/>
                      <a:headEnd type="none" w="med" len="med"/>
                      <a:tailEnd type="none" w="med" len="med"/>
                    </a:lnL>
                  </a:tcPr>
                </a:tc>
                <a:tc>
                  <a:txBody>
                    <a:bodyPr/>
                    <a:lstStyle/>
                    <a:p>
                      <a:pPr lvl="0" algn="ctr">
                        <a:buNone/>
                      </a:pPr>
                      <a:r>
                        <a:rPr lang="en-US" sz="800"/>
                        <a:t>0.1 N NaOH</a:t>
                      </a:r>
                    </a:p>
                  </a:txBody>
                  <a:tcPr anchor="ctr"/>
                </a:tc>
                <a:tc>
                  <a:txBody>
                    <a:bodyPr/>
                    <a:lstStyle/>
                    <a:p>
                      <a:pPr lvl="0" algn="ctr">
                        <a:buNone/>
                      </a:pPr>
                      <a:r>
                        <a:rPr lang="en-US" sz="800" b="0" i="0" u="none" strike="noStrike" noProof="0">
                          <a:solidFill>
                            <a:srgbClr val="000000"/>
                          </a:solidFill>
                          <a:latin typeface="Arial"/>
                        </a:rPr>
                        <a:t>2 M Salt B pH 5</a:t>
                      </a:r>
                      <a:endParaRPr lang="en-US" sz="3600"/>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92</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256279331"/>
                  </a:ext>
                </a:extLst>
              </a:tr>
              <a:tr h="287526">
                <a:tc>
                  <a:txBody>
                    <a:bodyPr/>
                    <a:lstStyle/>
                    <a:p>
                      <a:pPr algn="ctr"/>
                      <a:r>
                        <a:rPr lang="en-US" sz="800"/>
                        <a:t>8</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a:lnSpc>
                          <a:spcPct val="100000"/>
                        </a:lnSpc>
                        <a:spcBef>
                          <a:spcPts val="0"/>
                        </a:spcBef>
                        <a:spcAft>
                          <a:spcPts val="0"/>
                        </a:spcAft>
                        <a:buNone/>
                      </a:pPr>
                      <a:r>
                        <a:rPr lang="en-US" sz="800" b="0" i="0" u="none" strike="noStrike" noProof="0">
                          <a:solidFill>
                            <a:srgbClr val="000000"/>
                          </a:solidFill>
                          <a:latin typeface="Arial"/>
                        </a:rPr>
                        <a:t>1 M Salt A pH 7</a:t>
                      </a:r>
                      <a:endParaRPr lang="en-US" sz="800"/>
                    </a:p>
                    <a:p>
                      <a:pPr algn="ctr"/>
                      <a:endParaRPr lang="en-US" sz="800"/>
                    </a:p>
                  </a:txBody>
                  <a:tcPr anchor="ctr">
                    <a:lnL w="12700" cap="flat" cmpd="sng" algn="ctr">
                      <a:solidFill>
                        <a:schemeClr val="tx1"/>
                      </a:solidFill>
                      <a:prstDash val="solid"/>
                      <a:round/>
                      <a:headEnd type="none" w="med" len="med"/>
                      <a:tailEnd type="none" w="med" len="med"/>
                    </a:lnL>
                  </a:tcPr>
                </a:tc>
                <a:tc>
                  <a:txBody>
                    <a:bodyPr/>
                    <a:lstStyle/>
                    <a:p>
                      <a:pPr lvl="0" algn="ctr">
                        <a:lnSpc>
                          <a:spcPct val="100000"/>
                        </a:lnSpc>
                        <a:spcBef>
                          <a:spcPts val="0"/>
                        </a:spcBef>
                        <a:spcAft>
                          <a:spcPts val="0"/>
                        </a:spcAft>
                        <a:buNone/>
                      </a:pPr>
                      <a:r>
                        <a:rPr lang="en-US" sz="800" b="0" i="0" u="none" strike="noStrike" noProof="0">
                          <a:solidFill>
                            <a:srgbClr val="000000"/>
                          </a:solidFill>
                          <a:latin typeface="Arial"/>
                        </a:rPr>
                        <a:t>0.1 N NaOH</a:t>
                      </a:r>
                    </a:p>
                    <a:p>
                      <a:pPr lvl="0" algn="ctr">
                        <a:buNone/>
                      </a:pPr>
                      <a:endParaRPr lang="en-US" sz="800"/>
                    </a:p>
                  </a:txBody>
                  <a:tcPr anchor="ctr"/>
                </a:tc>
                <a:tc>
                  <a:txBody>
                    <a:bodyPr/>
                    <a:lstStyle/>
                    <a:p>
                      <a:pPr lvl="0" algn="ctr">
                        <a:buNone/>
                      </a:pPr>
                      <a:r>
                        <a:rPr lang="en-US" sz="800" b="0" i="0" u="none" strike="noStrike" noProof="0">
                          <a:solidFill>
                            <a:srgbClr val="000000"/>
                          </a:solidFill>
                          <a:latin typeface="Arial"/>
                        </a:rPr>
                        <a:t>2 M Salt B pH 5</a:t>
                      </a:r>
                      <a:endParaRPr lang="en-US" sz="3600"/>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84</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267388268"/>
                  </a:ext>
                </a:extLst>
              </a:tr>
              <a:tr h="287526">
                <a:tc>
                  <a:txBody>
                    <a:bodyPr/>
                    <a:lstStyle/>
                    <a:p>
                      <a:pPr algn="ctr"/>
                      <a:r>
                        <a:rPr lang="en-US" sz="800"/>
                        <a:t>9</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a:lnSpc>
                          <a:spcPct val="100000"/>
                        </a:lnSpc>
                        <a:spcBef>
                          <a:spcPts val="0"/>
                        </a:spcBef>
                        <a:spcAft>
                          <a:spcPts val="0"/>
                        </a:spcAft>
                        <a:buNone/>
                      </a:pPr>
                      <a:r>
                        <a:rPr lang="en-US" sz="800" b="0" i="0" u="none" strike="noStrike" noProof="0">
                          <a:solidFill>
                            <a:srgbClr val="000000"/>
                          </a:solidFill>
                          <a:latin typeface="Arial"/>
                        </a:rPr>
                        <a:t>1 M Salt A pH 7</a:t>
                      </a:r>
                      <a:endParaRPr lang="en-US" sz="800"/>
                    </a:p>
                    <a:p>
                      <a:pPr algn="ctr"/>
                      <a:endParaRPr lang="en-US" sz="800"/>
                    </a:p>
                  </a:txBody>
                  <a:tcPr anchor="ctr">
                    <a:lnL w="12700" cap="flat" cmpd="sng" algn="ctr">
                      <a:solidFill>
                        <a:schemeClr val="tx1"/>
                      </a:solidFill>
                      <a:prstDash val="solid"/>
                      <a:round/>
                      <a:headEnd type="none" w="med" len="med"/>
                      <a:tailEnd type="none" w="med" len="med"/>
                    </a:lnL>
                  </a:tcPr>
                </a:tc>
                <a:tc>
                  <a:txBody>
                    <a:bodyPr/>
                    <a:lstStyle/>
                    <a:p>
                      <a:pPr lvl="0" algn="ctr">
                        <a:lnSpc>
                          <a:spcPct val="100000"/>
                        </a:lnSpc>
                        <a:spcBef>
                          <a:spcPts val="0"/>
                        </a:spcBef>
                        <a:spcAft>
                          <a:spcPts val="0"/>
                        </a:spcAft>
                        <a:buNone/>
                      </a:pPr>
                      <a:r>
                        <a:rPr lang="en-US" sz="800" b="0" i="0" u="none" strike="noStrike" noProof="0">
                          <a:solidFill>
                            <a:srgbClr val="000000"/>
                          </a:solidFill>
                          <a:latin typeface="Arial"/>
                        </a:rPr>
                        <a:t>0.1 N NaOH</a:t>
                      </a:r>
                    </a:p>
                    <a:p>
                      <a:pPr lvl="0" algn="ctr">
                        <a:buNone/>
                      </a:pPr>
                      <a:endParaRPr lang="en-US" sz="800"/>
                    </a:p>
                  </a:txBody>
                  <a:tcPr anchor="ctr"/>
                </a:tc>
                <a:tc>
                  <a:txBody>
                    <a:bodyPr/>
                    <a:lstStyle/>
                    <a:p>
                      <a:pPr lvl="0" algn="ctr">
                        <a:buNone/>
                      </a:pPr>
                      <a:r>
                        <a:rPr lang="en-US" sz="800" b="0" i="0" u="none" strike="noStrike" noProof="0">
                          <a:solidFill>
                            <a:srgbClr val="000000"/>
                          </a:solidFill>
                          <a:latin typeface="Arial"/>
                        </a:rPr>
                        <a:t>2 M Salt B pH 5</a:t>
                      </a:r>
                      <a:endParaRPr lang="en-US" sz="3600"/>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83</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28162083"/>
                  </a:ext>
                </a:extLst>
              </a:tr>
              <a:tr h="287526">
                <a:tc>
                  <a:txBody>
                    <a:bodyPr/>
                    <a:lstStyle/>
                    <a:p>
                      <a:pPr algn="ctr"/>
                      <a:r>
                        <a:rPr lang="en-US" sz="800"/>
                        <a:t>10</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a:lnSpc>
                          <a:spcPct val="100000"/>
                        </a:lnSpc>
                        <a:spcBef>
                          <a:spcPts val="0"/>
                        </a:spcBef>
                        <a:spcAft>
                          <a:spcPts val="0"/>
                        </a:spcAft>
                        <a:buNone/>
                      </a:pPr>
                      <a:r>
                        <a:rPr lang="en-US" sz="800" b="0" i="0" u="none" strike="noStrike" noProof="0" dirty="0">
                          <a:solidFill>
                            <a:srgbClr val="000000"/>
                          </a:solidFill>
                          <a:latin typeface="Arial"/>
                        </a:rPr>
                        <a:t>1 M Salt A pH 7</a:t>
                      </a:r>
                      <a:endParaRPr lang="en-US" sz="3600" dirty="0"/>
                    </a:p>
                  </a:txBody>
                  <a:tcPr anchor="ctr">
                    <a:lnL w="12700" cap="flat" cmpd="sng" algn="ctr">
                      <a:solidFill>
                        <a:schemeClr val="tx1"/>
                      </a:solidFill>
                      <a:prstDash val="solid"/>
                      <a:round/>
                      <a:headEnd type="none" w="med" len="med"/>
                      <a:tailEnd type="none" w="med" len="med"/>
                    </a:lnL>
                  </a:tcPr>
                </a:tc>
                <a:tc>
                  <a:txBody>
                    <a:bodyPr/>
                    <a:lstStyle/>
                    <a:p>
                      <a:pPr lvl="0" algn="ctr">
                        <a:lnSpc>
                          <a:spcPct val="100000"/>
                        </a:lnSpc>
                        <a:spcBef>
                          <a:spcPts val="0"/>
                        </a:spcBef>
                        <a:spcAft>
                          <a:spcPts val="0"/>
                        </a:spcAft>
                        <a:buNone/>
                      </a:pPr>
                      <a:r>
                        <a:rPr lang="en-US" sz="800" b="0" i="0" u="none" strike="noStrike" noProof="0">
                          <a:solidFill>
                            <a:srgbClr val="000000"/>
                          </a:solidFill>
                          <a:latin typeface="Arial"/>
                        </a:rPr>
                        <a:t>0.1 N NaOH</a:t>
                      </a:r>
                    </a:p>
                    <a:p>
                      <a:pPr lvl="0" algn="ctr">
                        <a:buNone/>
                      </a:pPr>
                      <a:endParaRPr lang="en-US" sz="800"/>
                    </a:p>
                  </a:txBody>
                  <a:tcPr anchor="ctr"/>
                </a:tc>
                <a:tc>
                  <a:txBody>
                    <a:bodyPr/>
                    <a:lstStyle/>
                    <a:p>
                      <a:pPr lvl="0" algn="ctr">
                        <a:buNone/>
                      </a:pPr>
                      <a:r>
                        <a:rPr lang="en-US" sz="800" b="0" i="0" u="none" strike="noStrike" noProof="0">
                          <a:solidFill>
                            <a:srgbClr val="000000"/>
                          </a:solidFill>
                          <a:latin typeface="Arial"/>
                        </a:rPr>
                        <a:t>2 M Salt B pH 5</a:t>
                      </a:r>
                      <a:endParaRPr lang="en-US" sz="3600"/>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a:t>87</a:t>
                      </a:r>
                      <a:endParaRPr lang="en-US" sz="360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60107684"/>
                  </a:ext>
                </a:extLst>
              </a:tr>
              <a:tr h="287526">
                <a:tc>
                  <a:txBody>
                    <a:bodyPr/>
                    <a:lstStyle/>
                    <a:p>
                      <a:pPr algn="ctr"/>
                      <a:r>
                        <a:rPr lang="en-US" sz="800"/>
                        <a:t>11</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a:lnSpc>
                          <a:spcPct val="100000"/>
                        </a:lnSpc>
                        <a:spcBef>
                          <a:spcPts val="0"/>
                        </a:spcBef>
                        <a:spcAft>
                          <a:spcPts val="0"/>
                        </a:spcAft>
                        <a:buNone/>
                      </a:pPr>
                      <a:r>
                        <a:rPr lang="en-US" sz="800" b="0" i="0" u="none" strike="noStrike" noProof="0">
                          <a:solidFill>
                            <a:srgbClr val="000000"/>
                          </a:solidFill>
                          <a:latin typeface="Arial"/>
                        </a:rPr>
                        <a:t>1 M Salt A pH 7</a:t>
                      </a:r>
                      <a:endParaRPr lang="en-US" sz="800"/>
                    </a:p>
                    <a:p>
                      <a:pPr algn="ctr"/>
                      <a:endParaRPr lang="en-US" sz="800"/>
                    </a:p>
                  </a:txBody>
                  <a:tcPr anchor="ctr">
                    <a:lnL w="12700" cap="flat" cmpd="sng" algn="ctr">
                      <a:solidFill>
                        <a:schemeClr val="tx1"/>
                      </a:solidFill>
                      <a:prstDash val="solid"/>
                      <a:round/>
                      <a:headEnd type="none" w="med" len="med"/>
                      <a:tailEnd type="none" w="med" len="med"/>
                    </a:lnL>
                  </a:tcPr>
                </a:tc>
                <a:tc>
                  <a:txBody>
                    <a:bodyPr/>
                    <a:lstStyle/>
                    <a:p>
                      <a:pPr lvl="0" algn="ctr">
                        <a:lnSpc>
                          <a:spcPct val="100000"/>
                        </a:lnSpc>
                        <a:spcBef>
                          <a:spcPts val="0"/>
                        </a:spcBef>
                        <a:spcAft>
                          <a:spcPts val="0"/>
                        </a:spcAft>
                        <a:buNone/>
                      </a:pPr>
                      <a:r>
                        <a:rPr lang="en-US" sz="800" b="0" i="0" u="none" strike="noStrike" noProof="0">
                          <a:solidFill>
                            <a:srgbClr val="000000"/>
                          </a:solidFill>
                          <a:latin typeface="Arial"/>
                        </a:rPr>
                        <a:t>0.1 N NaOH</a:t>
                      </a:r>
                    </a:p>
                    <a:p>
                      <a:pPr lvl="0" algn="ctr">
                        <a:buNone/>
                      </a:pPr>
                      <a:endParaRPr lang="en-US" sz="800"/>
                    </a:p>
                  </a:txBody>
                  <a:tcPr anchor="ctr"/>
                </a:tc>
                <a:tc>
                  <a:txBody>
                    <a:bodyPr/>
                    <a:lstStyle/>
                    <a:p>
                      <a:pPr lvl="0" algn="ctr">
                        <a:buNone/>
                      </a:pPr>
                      <a:r>
                        <a:rPr lang="en-US" sz="800" b="0" i="0" u="none" strike="noStrike" noProof="0">
                          <a:solidFill>
                            <a:srgbClr val="000000"/>
                          </a:solidFill>
                          <a:latin typeface="Arial"/>
                        </a:rPr>
                        <a:t>2 M Salt B pH 5</a:t>
                      </a:r>
                      <a:endParaRPr lang="en-US" sz="3600"/>
                    </a:p>
                  </a:txBody>
                  <a:tcPr anchor="ctr">
                    <a:lnR w="12700" cap="flat" cmpd="sng" algn="ctr">
                      <a:solidFill>
                        <a:schemeClr val="tx1"/>
                      </a:solidFill>
                      <a:prstDash val="solid"/>
                      <a:round/>
                      <a:headEnd type="none" w="med" len="med"/>
                      <a:tailEnd type="none" w="med" len="med"/>
                    </a:lnR>
                  </a:tcPr>
                </a:tc>
                <a:tc>
                  <a:txBody>
                    <a:bodyPr/>
                    <a:lstStyle/>
                    <a:p>
                      <a:pPr lvl="0" algn="ctr">
                        <a:buNone/>
                      </a:pPr>
                      <a:r>
                        <a:rPr lang="en-US" sz="800" dirty="0"/>
                        <a:t>87</a:t>
                      </a:r>
                      <a:endParaRPr lang="en-US" sz="3600" dirty="0"/>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4463255"/>
                  </a:ext>
                </a:extLst>
              </a:tr>
            </a:tbl>
          </a:graphicData>
        </a:graphic>
      </p:graphicFrame>
      <p:sp>
        <p:nvSpPr>
          <p:cNvPr id="30" name="Rectangle 29">
            <a:extLst>
              <a:ext uri="{FF2B5EF4-FFF2-40B4-BE49-F238E27FC236}">
                <a16:creationId xmlns:a16="http://schemas.microsoft.com/office/drawing/2014/main" id="{87CE4A0B-6C78-B403-6C8E-2DD3A52A3AB2}"/>
              </a:ext>
            </a:extLst>
          </p:cNvPr>
          <p:cNvSpPr/>
          <p:nvPr/>
        </p:nvSpPr>
        <p:spPr>
          <a:xfrm>
            <a:off x="5007294" y="2460395"/>
            <a:ext cx="5578329" cy="83820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900" b="1" dirty="0">
                <a:solidFill>
                  <a:schemeClr val="tx1"/>
                </a:solidFill>
                <a:latin typeface="Arial"/>
                <a:cs typeface="Arial"/>
              </a:rPr>
              <a:t>Table 2: Sanitization buffers used in each cycle during the process development of </a:t>
            </a:r>
            <a:r>
              <a:rPr lang="en-US" sz="900" b="1" dirty="0" err="1">
                <a:solidFill>
                  <a:schemeClr val="tx1"/>
                </a:solidFill>
                <a:latin typeface="Arial"/>
                <a:cs typeface="Arial"/>
              </a:rPr>
              <a:t>Emphaze</a:t>
            </a:r>
            <a:r>
              <a:rPr lang="en-US" sz="900" b="1" dirty="0">
                <a:solidFill>
                  <a:schemeClr val="tx1"/>
                </a:solidFill>
                <a:latin typeface="Arial"/>
                <a:cs typeface="Arial"/>
              </a:rPr>
              <a:t> AEX operation. The sanitization buffers were used after loading 200 L/m</a:t>
            </a:r>
            <a:r>
              <a:rPr lang="en-US" sz="900" b="1" baseline="30000" dirty="0">
                <a:solidFill>
                  <a:schemeClr val="tx1"/>
                </a:solidFill>
                <a:latin typeface="Arial"/>
                <a:cs typeface="Arial"/>
              </a:rPr>
              <a:t>2</a:t>
            </a:r>
            <a:r>
              <a:rPr lang="en-US" sz="900" b="1" dirty="0">
                <a:solidFill>
                  <a:schemeClr val="tx1"/>
                </a:solidFill>
                <a:latin typeface="Arial"/>
                <a:cs typeface="Arial"/>
              </a:rPr>
              <a:t> of precipitated material (Fig. 1C) through the filter. The first 4 cycles were to determine the ideal Salt strength for Salt B and ideal pH conditions for Salt A.  The wash conditions tested in Cycle 6 were applied to depth filter cycling at the 50 L scale (Fig. 2). There was no noticeable difference in sanitization performance between 0.1- 1.0 N NaOH</a:t>
            </a:r>
          </a:p>
          <a:p>
            <a:endParaRPr lang="en-US" sz="900" dirty="0">
              <a:solidFill>
                <a:schemeClr val="tx1"/>
              </a:solidFill>
              <a:cs typeface="Arial"/>
            </a:endParaRPr>
          </a:p>
        </p:txBody>
      </p:sp>
      <p:grpSp>
        <p:nvGrpSpPr>
          <p:cNvPr id="31" name="Group 30">
            <a:extLst>
              <a:ext uri="{FF2B5EF4-FFF2-40B4-BE49-F238E27FC236}">
                <a16:creationId xmlns:a16="http://schemas.microsoft.com/office/drawing/2014/main" id="{E9A16ACD-A8E0-9508-59A4-C282C834F5CE}"/>
              </a:ext>
            </a:extLst>
          </p:cNvPr>
          <p:cNvGrpSpPr/>
          <p:nvPr/>
        </p:nvGrpSpPr>
        <p:grpSpPr>
          <a:xfrm>
            <a:off x="5007294" y="10228891"/>
            <a:ext cx="3335869" cy="1798404"/>
            <a:chOff x="11357897" y="2428345"/>
            <a:chExt cx="3557964" cy="1925125"/>
          </a:xfrm>
        </p:grpSpPr>
        <p:pic>
          <p:nvPicPr>
            <p:cNvPr id="32" name="Picture 2">
              <a:extLst>
                <a:ext uri="{FF2B5EF4-FFF2-40B4-BE49-F238E27FC236}">
                  <a16:creationId xmlns:a16="http://schemas.microsoft.com/office/drawing/2014/main" id="{839242DD-C055-75A2-B840-5B30C85F4D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57897" y="2428345"/>
              <a:ext cx="3528147" cy="1925125"/>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Arrow Connector 33">
              <a:extLst>
                <a:ext uri="{FF2B5EF4-FFF2-40B4-BE49-F238E27FC236}">
                  <a16:creationId xmlns:a16="http://schemas.microsoft.com/office/drawing/2014/main" id="{C904B987-ED84-48A5-33EE-240A3173B88F}"/>
                </a:ext>
              </a:extLst>
            </p:cNvPr>
            <p:cNvCxnSpPr/>
            <p:nvPr/>
          </p:nvCxnSpPr>
          <p:spPr>
            <a:xfrm>
              <a:off x="13278678" y="3029447"/>
              <a:ext cx="803082" cy="168389"/>
            </a:xfrm>
            <a:prstGeom prst="straightConnector1">
              <a:avLst/>
            </a:prstGeom>
            <a:ln w="12700" cmpd="sng">
              <a:solidFill>
                <a:srgbClr val="0070C0"/>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EE773B5-7D83-704B-307C-EEDC9C48E216}"/>
                </a:ext>
              </a:extLst>
            </p:cNvPr>
            <p:cNvSpPr txBox="1"/>
            <p:nvPr/>
          </p:nvSpPr>
          <p:spPr>
            <a:xfrm>
              <a:off x="14033244" y="3049099"/>
              <a:ext cx="882617" cy="261610"/>
            </a:xfrm>
            <a:prstGeom prst="rect">
              <a:avLst/>
            </a:prstGeom>
            <a:noFill/>
          </p:spPr>
          <p:txBody>
            <a:bodyPr wrap="square" rtlCol="0">
              <a:spAutoFit/>
            </a:bodyPr>
            <a:lstStyle/>
            <a:p>
              <a:r>
                <a:rPr lang="en-US" sz="1100" b="1"/>
                <a:t>Cycle 1</a:t>
              </a:r>
            </a:p>
          </p:txBody>
        </p:sp>
        <p:cxnSp>
          <p:nvCxnSpPr>
            <p:cNvPr id="36" name="Straight Arrow Connector 35">
              <a:extLst>
                <a:ext uri="{FF2B5EF4-FFF2-40B4-BE49-F238E27FC236}">
                  <a16:creationId xmlns:a16="http://schemas.microsoft.com/office/drawing/2014/main" id="{35FF57CE-CFFB-5542-EF82-D534799864DE}"/>
                </a:ext>
              </a:extLst>
            </p:cNvPr>
            <p:cNvCxnSpPr>
              <a:cxnSpLocks/>
            </p:cNvCxnSpPr>
            <p:nvPr/>
          </p:nvCxnSpPr>
          <p:spPr>
            <a:xfrm>
              <a:off x="12474394" y="3150419"/>
              <a:ext cx="1558850" cy="318641"/>
            </a:xfrm>
            <a:prstGeom prst="straightConnector1">
              <a:avLst/>
            </a:prstGeom>
            <a:ln w="12700" cmpd="sng">
              <a:solidFill>
                <a:srgbClr val="FFFF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299814DA-7D2F-CD88-5BD0-1A6EC4B7C693}"/>
                </a:ext>
              </a:extLst>
            </p:cNvPr>
            <p:cNvSpPr txBox="1"/>
            <p:nvPr/>
          </p:nvSpPr>
          <p:spPr>
            <a:xfrm>
              <a:off x="14012582" y="3363732"/>
              <a:ext cx="882617" cy="261610"/>
            </a:xfrm>
            <a:prstGeom prst="rect">
              <a:avLst/>
            </a:prstGeom>
            <a:noFill/>
          </p:spPr>
          <p:txBody>
            <a:bodyPr wrap="square" rtlCol="0">
              <a:spAutoFit/>
            </a:bodyPr>
            <a:lstStyle/>
            <a:p>
              <a:r>
                <a:rPr lang="en-US" sz="1100" b="1"/>
                <a:t>Cycle 15</a:t>
              </a:r>
            </a:p>
          </p:txBody>
        </p:sp>
      </p:grpSp>
      <p:sp>
        <p:nvSpPr>
          <p:cNvPr id="38" name="Rectangle 37">
            <a:extLst>
              <a:ext uri="{FF2B5EF4-FFF2-40B4-BE49-F238E27FC236}">
                <a16:creationId xmlns:a16="http://schemas.microsoft.com/office/drawing/2014/main" id="{55BAFBDC-3B4F-B79B-9AAD-12618CC24435}"/>
              </a:ext>
            </a:extLst>
          </p:cNvPr>
          <p:cNvSpPr/>
          <p:nvPr/>
        </p:nvSpPr>
        <p:spPr>
          <a:xfrm>
            <a:off x="8405850" y="10397347"/>
            <a:ext cx="2169946" cy="1012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900" b="1" dirty="0">
                <a:solidFill>
                  <a:schemeClr val="tx1"/>
                </a:solidFill>
                <a:latin typeface="Arial"/>
                <a:cs typeface="Arial"/>
              </a:rPr>
              <a:t>Figure 2: Pressure profile of the 1st (blue) and 15</a:t>
            </a:r>
            <a:r>
              <a:rPr lang="en-US" sz="900" b="1" baseline="30000" dirty="0">
                <a:solidFill>
                  <a:schemeClr val="tx1"/>
                </a:solidFill>
                <a:latin typeface="Arial"/>
                <a:cs typeface="Arial"/>
              </a:rPr>
              <a:t>th</a:t>
            </a:r>
            <a:r>
              <a:rPr lang="en-US" sz="900" b="1" dirty="0">
                <a:solidFill>
                  <a:schemeClr val="tx1"/>
                </a:solidFill>
                <a:latin typeface="Arial"/>
                <a:cs typeface="Arial"/>
              </a:rPr>
              <a:t> (yellow) cycle when  loading the depth filter to a capacity of 200 L/m</a:t>
            </a:r>
            <a:r>
              <a:rPr lang="en-US" sz="900" b="1" baseline="30000" dirty="0">
                <a:solidFill>
                  <a:schemeClr val="tx1"/>
                </a:solidFill>
                <a:latin typeface="Arial"/>
                <a:cs typeface="Arial"/>
              </a:rPr>
              <a:t>2 </a:t>
            </a:r>
            <a:r>
              <a:rPr lang="en-US" sz="900" b="1" dirty="0">
                <a:solidFill>
                  <a:schemeClr val="tx1"/>
                </a:solidFill>
                <a:latin typeface="Arial"/>
                <a:cs typeface="Arial"/>
              </a:rPr>
              <a:t>at the 50 L scale. Pressure remained low over the course of 15 cycles with a cumulative capacity of 3000 L/m</a:t>
            </a:r>
            <a:r>
              <a:rPr lang="en-US" sz="900" b="1" baseline="30000" dirty="0">
                <a:solidFill>
                  <a:schemeClr val="tx1"/>
                </a:solidFill>
                <a:latin typeface="Arial"/>
                <a:cs typeface="Arial"/>
              </a:rPr>
              <a:t>2</a:t>
            </a:r>
            <a:r>
              <a:rPr lang="en-US" sz="900" b="1" dirty="0">
                <a:solidFill>
                  <a:schemeClr val="tx1"/>
                </a:solidFill>
                <a:latin typeface="Arial"/>
                <a:cs typeface="Arial"/>
              </a:rPr>
              <a:t>.  The consistent pressure curve during loading indicates an effective sanitization method that inhibits pressure increases over time. Max pressure of filter is 35 psi.</a:t>
            </a:r>
            <a:endParaRPr lang="en-US" sz="900" dirty="0">
              <a:solidFill>
                <a:schemeClr val="tx1"/>
              </a:solidFill>
              <a:cs typeface="Arial"/>
            </a:endParaRPr>
          </a:p>
        </p:txBody>
      </p:sp>
      <p:sp>
        <p:nvSpPr>
          <p:cNvPr id="39" name="Rectangle 38">
            <a:extLst>
              <a:ext uri="{FF2B5EF4-FFF2-40B4-BE49-F238E27FC236}">
                <a16:creationId xmlns:a16="http://schemas.microsoft.com/office/drawing/2014/main" id="{EA23FE20-6907-F8C9-8A92-891F00147CF0}"/>
              </a:ext>
            </a:extLst>
          </p:cNvPr>
          <p:cNvSpPr/>
          <p:nvPr/>
        </p:nvSpPr>
        <p:spPr>
          <a:xfrm>
            <a:off x="5113507" y="7295097"/>
            <a:ext cx="5234870" cy="4315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p>
            <a:r>
              <a:rPr lang="en-US" sz="1050" b="1" dirty="0">
                <a:solidFill>
                  <a:schemeClr val="tx1"/>
                </a:solidFill>
                <a:latin typeface="Arial"/>
                <a:cs typeface="Arial"/>
              </a:rPr>
              <a:t>Table 1: Impurity removal over 11 cycles with a cumulative capacity of 2100 L/m</a:t>
            </a:r>
            <a:r>
              <a:rPr lang="en-US" sz="1050" b="1" baseline="30000" dirty="0">
                <a:solidFill>
                  <a:schemeClr val="tx1"/>
                </a:solidFill>
                <a:latin typeface="Arial"/>
                <a:cs typeface="Arial"/>
              </a:rPr>
              <a:t>2</a:t>
            </a:r>
            <a:r>
              <a:rPr lang="en-US" sz="1050" b="1" dirty="0">
                <a:solidFill>
                  <a:schemeClr val="tx1"/>
                </a:solidFill>
                <a:latin typeface="Arial"/>
                <a:cs typeface="Arial"/>
              </a:rPr>
              <a:t> . The depth filter consistently reduced HCP conc. by 1 log reduction and DNA conc. by 3 log</a:t>
            </a:r>
          </a:p>
        </p:txBody>
      </p:sp>
      <p:sp>
        <p:nvSpPr>
          <p:cNvPr id="44" name="Rectangle 43">
            <a:extLst>
              <a:ext uri="{FF2B5EF4-FFF2-40B4-BE49-F238E27FC236}">
                <a16:creationId xmlns:a16="http://schemas.microsoft.com/office/drawing/2014/main" id="{4F1314B5-2E17-E288-FF0E-E0B76F3AB858}"/>
              </a:ext>
            </a:extLst>
          </p:cNvPr>
          <p:cNvSpPr/>
          <p:nvPr/>
        </p:nvSpPr>
        <p:spPr>
          <a:xfrm>
            <a:off x="196396" y="2359490"/>
            <a:ext cx="4316986" cy="135636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lstStyle>
            <a:defPPr>
              <a:defRPr lang="en-US"/>
            </a:defPPr>
            <a:lvl1pPr marL="0" algn="l" defTabSz="715015" rtl="0" eaLnBrk="1" latinLnBrk="0" hangingPunct="1">
              <a:defRPr sz="2800" kern="1200">
                <a:solidFill>
                  <a:schemeClr val="lt1"/>
                </a:solidFill>
                <a:latin typeface="+mn-lt"/>
                <a:ea typeface="+mn-ea"/>
                <a:cs typeface="+mn-cs"/>
              </a:defRPr>
            </a:lvl1pPr>
            <a:lvl2pPr marL="715015" algn="l" defTabSz="715015" rtl="0" eaLnBrk="1" latinLnBrk="0" hangingPunct="1">
              <a:defRPr sz="2800" kern="1200">
                <a:solidFill>
                  <a:schemeClr val="lt1"/>
                </a:solidFill>
                <a:latin typeface="+mn-lt"/>
                <a:ea typeface="+mn-ea"/>
                <a:cs typeface="+mn-cs"/>
              </a:defRPr>
            </a:lvl2pPr>
            <a:lvl3pPr marL="1430030" algn="l" defTabSz="715015" rtl="0" eaLnBrk="1" latinLnBrk="0" hangingPunct="1">
              <a:defRPr sz="2800" kern="1200">
                <a:solidFill>
                  <a:schemeClr val="lt1"/>
                </a:solidFill>
                <a:latin typeface="+mn-lt"/>
                <a:ea typeface="+mn-ea"/>
                <a:cs typeface="+mn-cs"/>
              </a:defRPr>
            </a:lvl3pPr>
            <a:lvl4pPr marL="2145045" algn="l" defTabSz="715015" rtl="0" eaLnBrk="1" latinLnBrk="0" hangingPunct="1">
              <a:defRPr sz="2800" kern="1200">
                <a:solidFill>
                  <a:schemeClr val="lt1"/>
                </a:solidFill>
                <a:latin typeface="+mn-lt"/>
                <a:ea typeface="+mn-ea"/>
                <a:cs typeface="+mn-cs"/>
              </a:defRPr>
            </a:lvl4pPr>
            <a:lvl5pPr marL="2860060" algn="l" defTabSz="715015" rtl="0" eaLnBrk="1" latinLnBrk="0" hangingPunct="1">
              <a:defRPr sz="2800" kern="1200">
                <a:solidFill>
                  <a:schemeClr val="lt1"/>
                </a:solidFill>
                <a:latin typeface="+mn-lt"/>
                <a:ea typeface="+mn-ea"/>
                <a:cs typeface="+mn-cs"/>
              </a:defRPr>
            </a:lvl5pPr>
            <a:lvl6pPr marL="3575075" algn="l" defTabSz="715015" rtl="0" eaLnBrk="1" latinLnBrk="0" hangingPunct="1">
              <a:defRPr sz="2800" kern="1200">
                <a:solidFill>
                  <a:schemeClr val="lt1"/>
                </a:solidFill>
                <a:latin typeface="+mn-lt"/>
                <a:ea typeface="+mn-ea"/>
                <a:cs typeface="+mn-cs"/>
              </a:defRPr>
            </a:lvl6pPr>
            <a:lvl7pPr marL="4290090" algn="l" defTabSz="715015" rtl="0" eaLnBrk="1" latinLnBrk="0" hangingPunct="1">
              <a:defRPr sz="2800" kern="1200">
                <a:solidFill>
                  <a:schemeClr val="lt1"/>
                </a:solidFill>
                <a:latin typeface="+mn-lt"/>
                <a:ea typeface="+mn-ea"/>
                <a:cs typeface="+mn-cs"/>
              </a:defRPr>
            </a:lvl7pPr>
            <a:lvl8pPr marL="5005106" algn="l" defTabSz="715015" rtl="0" eaLnBrk="1" latinLnBrk="0" hangingPunct="1">
              <a:defRPr sz="2800" kern="1200">
                <a:solidFill>
                  <a:schemeClr val="lt1"/>
                </a:solidFill>
                <a:latin typeface="+mn-lt"/>
                <a:ea typeface="+mn-ea"/>
                <a:cs typeface="+mn-cs"/>
              </a:defRPr>
            </a:lvl8pPr>
            <a:lvl9pPr marL="5720121" algn="l" defTabSz="715015" rtl="0" eaLnBrk="1" latinLnBrk="0" hangingPunct="1">
              <a:defRPr sz="2800" kern="1200">
                <a:solidFill>
                  <a:schemeClr val="lt1"/>
                </a:solidFill>
                <a:latin typeface="+mn-lt"/>
                <a:ea typeface="+mn-ea"/>
                <a:cs typeface="+mn-cs"/>
              </a:defRPr>
            </a:lvl9pPr>
          </a:lstStyle>
          <a:p>
            <a:r>
              <a:rPr lang="en-US" sz="1000" dirty="0">
                <a:solidFill>
                  <a:schemeClr val="tx1"/>
                </a:solidFill>
                <a:latin typeface="Arial"/>
                <a:cs typeface="Arial"/>
              </a:rPr>
              <a:t>I</a:t>
            </a:r>
            <a:r>
              <a:rPr lang="en-US" sz="1000" dirty="0">
                <a:ln>
                  <a:noFill/>
                </a:ln>
                <a:solidFill>
                  <a:schemeClr val="tx1"/>
                </a:solidFill>
                <a:latin typeface="Arial"/>
                <a:cs typeface="Arial"/>
              </a:rPr>
              <a:t>ntegrated Dynamic Bioprocessing (IDB) is the future of biotherapeutics due to low cost of goods, improved patient access, and diminished environmental impact. As the biopharmaceutical industry moves towards continuous bioprocessing, the implementation of some critical unit operations presents unique challenges to scale-up and commercialization. Depth filtration, a common purification step for removing precipitate formation in fed batch processes, has yet to be implemented in IDB.  Depth Filtration is necessary for the purification of </a:t>
            </a:r>
            <a:r>
              <a:rPr lang="en-US" sz="1000" dirty="0" err="1">
                <a:ln>
                  <a:noFill/>
                </a:ln>
                <a:solidFill>
                  <a:schemeClr val="tx1"/>
                </a:solidFill>
                <a:latin typeface="Arial"/>
                <a:cs typeface="Arial"/>
              </a:rPr>
              <a:t>bsAb</a:t>
            </a:r>
            <a:r>
              <a:rPr lang="en-US" sz="1000" dirty="0">
                <a:ln>
                  <a:noFill/>
                </a:ln>
                <a:solidFill>
                  <a:schemeClr val="tx1"/>
                </a:solidFill>
                <a:latin typeface="Arial"/>
                <a:cs typeface="Arial"/>
              </a:rPr>
              <a:t> 1 as the affinity capture product precipitates when titrating to</a:t>
            </a:r>
            <a:r>
              <a:rPr lang="en-US" sz="1000" dirty="0">
                <a:solidFill>
                  <a:schemeClr val="tx1"/>
                </a:solidFill>
                <a:latin typeface="Arial"/>
                <a:cs typeface="Arial"/>
              </a:rPr>
              <a:t> a target </a:t>
            </a:r>
            <a:r>
              <a:rPr lang="en-US" sz="1000" dirty="0">
                <a:ln>
                  <a:noFill/>
                </a:ln>
                <a:solidFill>
                  <a:schemeClr val="tx1"/>
                </a:solidFill>
                <a:latin typeface="Arial"/>
                <a:cs typeface="Arial"/>
              </a:rPr>
              <a:t>pH of 7.4. Here in</a:t>
            </a:r>
            <a:r>
              <a:rPr lang="en-US" sz="1000" b="1" dirty="0">
                <a:ln>
                  <a:noFill/>
                </a:ln>
                <a:solidFill>
                  <a:schemeClr val="tx1"/>
                </a:solidFill>
                <a:latin typeface="Arial"/>
                <a:cs typeface="Arial"/>
              </a:rPr>
              <a:t>, we established a sanitization protocol for cycling the depth filter that keeps bioburden low and increases the filter capacity</a:t>
            </a:r>
            <a:r>
              <a:rPr lang="en-US" sz="1000" dirty="0">
                <a:ln>
                  <a:noFill/>
                </a:ln>
                <a:solidFill>
                  <a:schemeClr val="tx1"/>
                </a:solidFill>
                <a:latin typeface="Arial"/>
                <a:cs typeface="Arial"/>
              </a:rPr>
              <a:t>. </a:t>
            </a:r>
            <a:r>
              <a:rPr lang="en-US" sz="1000" dirty="0">
                <a:solidFill>
                  <a:schemeClr val="tx1"/>
                </a:solidFill>
                <a:latin typeface="Arial"/>
                <a:cs typeface="Arial"/>
              </a:rPr>
              <a:t>At the bench, the depth filter was cycled 10 times for a total capacity of 2000 L/m</a:t>
            </a:r>
            <a:r>
              <a:rPr lang="en-US" sz="1000" baseline="30000" dirty="0">
                <a:solidFill>
                  <a:schemeClr val="tx1"/>
                </a:solidFill>
                <a:latin typeface="Arial"/>
                <a:cs typeface="Arial"/>
              </a:rPr>
              <a:t>2</a:t>
            </a:r>
            <a:r>
              <a:rPr lang="en-US" sz="1000" dirty="0">
                <a:solidFill>
                  <a:schemeClr val="tx1"/>
                </a:solidFill>
                <a:latin typeface="Arial"/>
                <a:cs typeface="Arial"/>
              </a:rPr>
              <a:t>, doubling the capacity of the single pass operation. When performing depth filtration at the 50 L scale, the filter was cycles 15 times for a total capacity of 3000 L/m2 with no pressure increase, indicating a successful cleaning protocol that can be scaled. </a:t>
            </a:r>
            <a:r>
              <a:rPr lang="en-US" sz="1000" b="1" dirty="0">
                <a:solidFill>
                  <a:schemeClr val="tx1"/>
                </a:solidFill>
                <a:latin typeface="Arial"/>
                <a:cs typeface="Arial"/>
              </a:rPr>
              <a:t>To our knowledge, this method is the first time a depth filter has been cycled and sanitized in a continuous process,  demonstrating our ability to implement novel unit operations in IDB. </a:t>
            </a:r>
            <a:endParaRPr lang="en-US" sz="1000" b="1" dirty="0">
              <a:ln>
                <a:noFill/>
              </a:ln>
              <a:solidFill>
                <a:schemeClr val="tx1"/>
              </a:solidFill>
              <a:latin typeface="Arial"/>
              <a:cs typeface="Arial"/>
            </a:endParaRPr>
          </a:p>
        </p:txBody>
      </p:sp>
      <p:sp>
        <p:nvSpPr>
          <p:cNvPr id="47" name="Rectangle 46">
            <a:extLst>
              <a:ext uri="{FF2B5EF4-FFF2-40B4-BE49-F238E27FC236}">
                <a16:creationId xmlns:a16="http://schemas.microsoft.com/office/drawing/2014/main" id="{D9942F2C-0D71-763A-ADC5-B7ECE6D41CED}"/>
              </a:ext>
            </a:extLst>
          </p:cNvPr>
          <p:cNvSpPr/>
          <p:nvPr/>
        </p:nvSpPr>
        <p:spPr>
          <a:xfrm>
            <a:off x="160906" y="2107079"/>
            <a:ext cx="4306986" cy="2431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72000" tIns="0" rIns="72000" bIns="18000" rtlCol="0" anchor="ctr"/>
          <a:lstStyle/>
          <a:p>
            <a:r>
              <a:rPr lang="en-US" sz="1200" b="1">
                <a:ln>
                  <a:noFill/>
                </a:ln>
                <a:latin typeface="Arial"/>
                <a:cs typeface="Arial"/>
              </a:rPr>
              <a:t>Abstract</a:t>
            </a:r>
          </a:p>
        </p:txBody>
      </p:sp>
      <p:sp>
        <p:nvSpPr>
          <p:cNvPr id="20" name="TextBox 19">
            <a:extLst>
              <a:ext uri="{FF2B5EF4-FFF2-40B4-BE49-F238E27FC236}">
                <a16:creationId xmlns:a16="http://schemas.microsoft.com/office/drawing/2014/main" id="{DDB9FD8C-F49A-428D-FB9A-FE4A3074845D}"/>
              </a:ext>
            </a:extLst>
          </p:cNvPr>
          <p:cNvSpPr txBox="1"/>
          <p:nvPr/>
        </p:nvSpPr>
        <p:spPr>
          <a:xfrm>
            <a:off x="196396" y="14163390"/>
            <a:ext cx="4766243" cy="400110"/>
          </a:xfrm>
          <a:prstGeom prst="rect">
            <a:avLst/>
          </a:prstGeom>
          <a:noFill/>
        </p:spPr>
        <p:txBody>
          <a:bodyPr wrap="square" rtlCol="0">
            <a:spAutoFit/>
          </a:bodyPr>
          <a:lstStyle/>
          <a:p>
            <a:r>
              <a:rPr lang="en-US" sz="1000" dirty="0"/>
              <a:t>Vishaal Gupta, Randy Rubright, and Darby Reinhart (AZ)</a:t>
            </a:r>
          </a:p>
          <a:p>
            <a:r>
              <a:rPr lang="en-US" sz="1000" dirty="0"/>
              <a:t>Alexei Voloshin, Ethan Butler, Laura Brown, and Masa Nakamura (</a:t>
            </a:r>
            <a:r>
              <a:rPr lang="en-US" sz="1000" dirty="0" err="1"/>
              <a:t>Solventum</a:t>
            </a:r>
            <a:r>
              <a:rPr lang="en-US" sz="1000" dirty="0"/>
              <a:t>) </a:t>
            </a:r>
          </a:p>
        </p:txBody>
      </p:sp>
    </p:spTree>
    <p:extLst>
      <p:ext uri="{BB962C8B-B14F-4D97-AF65-F5344CB8AC3E}">
        <p14:creationId xmlns:p14="http://schemas.microsoft.com/office/powerpoint/2010/main" val="1132386837"/>
      </p:ext>
    </p:extLst>
  </p:cSld>
  <p:clrMapOvr>
    <a:masterClrMapping/>
  </p:clrMapOvr>
</p:sld>
</file>

<file path=ppt/theme/theme1.xml><?xml version="1.0" encoding="utf-8"?>
<a:theme xmlns:a="http://schemas.openxmlformats.org/drawingml/2006/main" name="AZ IMED Example Presentation Template">
  <a:themeElements>
    <a:clrScheme name="Custom 273">
      <a:dk1>
        <a:srgbClr val="000000"/>
      </a:dk1>
      <a:lt1>
        <a:srgbClr val="FFFFFF"/>
      </a:lt1>
      <a:dk2>
        <a:srgbClr val="830051"/>
      </a:dk2>
      <a:lt2>
        <a:srgbClr val="003865"/>
      </a:lt2>
      <a:accent1>
        <a:srgbClr val="830051"/>
      </a:accent1>
      <a:accent2>
        <a:srgbClr val="C4D600"/>
      </a:accent2>
      <a:accent3>
        <a:srgbClr val="3F4444"/>
      </a:accent3>
      <a:accent4>
        <a:srgbClr val="68D2DF"/>
      </a:accent4>
      <a:accent5>
        <a:srgbClr val="3C1053"/>
      </a:accent5>
      <a:accent6>
        <a:srgbClr val="F0AB00"/>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ln>
              <a:noFill/>
            </a:ln>
          </a:defRPr>
        </a:defPPr>
      </a:lstStyle>
      <a:style>
        <a:lnRef idx="1">
          <a:schemeClr val="accent1"/>
        </a:lnRef>
        <a:fillRef idx="3">
          <a:schemeClr val="accent1"/>
        </a:fillRef>
        <a:effectRef idx="2">
          <a:schemeClr val="accent1"/>
        </a:effectRef>
        <a:fontRef idx="minor">
          <a:schemeClr val="lt1"/>
        </a:fontRef>
      </a:style>
    </a:spDef>
    <a:lnDef>
      <a:spPr>
        <a:ln w="12700" cmpd="sng"/>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2C78484A9B0294594AC9651DCC5FE86" ma:contentTypeVersion="17" ma:contentTypeDescription="Create a new document." ma:contentTypeScope="" ma:versionID="f6cf2a0d39dd462ffecf8a752ae553a2">
  <xsd:schema xmlns:xsd="http://www.w3.org/2001/XMLSchema" xmlns:xs="http://www.w3.org/2001/XMLSchema" xmlns:p="http://schemas.microsoft.com/office/2006/metadata/properties" xmlns:ns2="44a56295-c29e-4898-8136-a54736c65b82" xmlns:ns3="5d3e0dfa-9898-45c4-8e9f-53895cbc1374" xmlns:ns4="7eb99d4a-0699-406a-90be-909c04467ff7" targetNamespace="http://schemas.microsoft.com/office/2006/metadata/properties" ma:root="true" ma:fieldsID="7a410204d4254bf26fe06ee018637826" ns2:_="" ns3:_="" ns4:_="">
    <xsd:import namespace="44a56295-c29e-4898-8136-a54736c65b82"/>
    <xsd:import namespace="5d3e0dfa-9898-45c4-8e9f-53895cbc1374"/>
    <xsd:import namespace="7eb99d4a-0699-406a-90be-909c04467ff7"/>
    <xsd:element name="properties">
      <xsd:complexType>
        <xsd:sequence>
          <xsd:element name="documentManagement">
            <xsd:complexType>
              <xsd:all>
                <xsd:element ref="ns2:Descriptions" minOccurs="0"/>
                <xsd:element ref="ns2:Keyword" minOccurs="0"/>
                <xsd:element ref="ns3:MediaServiceMetadata" minOccurs="0"/>
                <xsd:element ref="ns3:MediaServiceFastMetadata" minOccurs="0"/>
                <xsd:element ref="ns3:lcf76f155ced4ddcb4097134ff3c332f" minOccurs="0"/>
                <xsd:element ref="ns4:TaxCatchAll" minOccurs="0"/>
                <xsd:element ref="ns3:MediaServiceOCR" minOccurs="0"/>
                <xsd:element ref="ns3:MediaServiceGenerationTime" minOccurs="0"/>
                <xsd:element ref="ns3:MediaServiceEventHashCode" minOccurs="0"/>
                <xsd:element ref="ns4:SharedWithUsers" minOccurs="0"/>
                <xsd:element ref="ns4:SharedWithDetails" minOccurs="0"/>
                <xsd:element ref="ns3:MediaServiceDateTaken" minOccurs="0"/>
                <xsd:element ref="ns3:MediaServiceObjectDetectorVersions"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a56295-c29e-4898-8136-a54736c65b82" elementFormDefault="qualified">
    <xsd:import namespace="http://schemas.microsoft.com/office/2006/documentManagement/types"/>
    <xsd:import namespace="http://schemas.microsoft.com/office/infopath/2007/PartnerControls"/>
    <xsd:element name="Descriptions" ma:index="8" nillable="true" ma:displayName="Descriptions" ma:description="Describe your document to make it appear at the top of search results" ma:internalName="Descriptions">
      <xsd:simpleType>
        <xsd:restriction base="dms:Note">
          <xsd:maxLength value="255"/>
        </xsd:restriction>
      </xsd:simpleType>
    </xsd:element>
    <xsd:element name="Keyword" ma:index="9" nillable="true" ma:displayName="Keyword" ma:description="Enter list of terms separated by semi-colon(;)" ma:internalName="Keywor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3e0dfa-9898-45c4-8e9f-53895cbc137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e89e71-04cd-405e-9ca3-99e020c1694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eb99d4a-0699-406a-90be-909c04467ff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aa6f497-0f65-4c88-ab64-fd5d7a86c71c}" ma:internalName="TaxCatchAll" ma:showField="CatchAllData" ma:web="7eb99d4a-0699-406a-90be-909c04467ff7">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1ee89e71-04cd-405e-9ca3-99e020c1694d"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Keyword xmlns="44a56295-c29e-4898-8136-a54736c65b82" xsi:nil="true"/>
    <lcf76f155ced4ddcb4097134ff3c332f xmlns="5d3e0dfa-9898-45c4-8e9f-53895cbc1374">
      <Terms xmlns="http://schemas.microsoft.com/office/infopath/2007/PartnerControls"/>
    </lcf76f155ced4ddcb4097134ff3c332f>
    <TaxCatchAll xmlns="7eb99d4a-0699-406a-90be-909c04467ff7" xsi:nil="true"/>
    <Descriptions xmlns="44a56295-c29e-4898-8136-a54736c65b82" xsi:nil="true"/>
  </documentManagement>
</p:properties>
</file>

<file path=customXml/itemProps1.xml><?xml version="1.0" encoding="utf-8"?>
<ds:datastoreItem xmlns:ds="http://schemas.openxmlformats.org/officeDocument/2006/customXml" ds:itemID="{377DF72D-9F0A-4332-8BB4-BCC23A14C34D}">
  <ds:schemaRefs>
    <ds:schemaRef ds:uri="44a56295-c29e-4898-8136-a54736c65b82"/>
    <ds:schemaRef ds:uri="5d3e0dfa-9898-45c4-8e9f-53895cbc1374"/>
    <ds:schemaRef ds:uri="7eb99d4a-0699-406a-90be-909c04467ff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847198D-4797-4D87-80D8-C3B221511210}">
  <ds:schemaRefs>
    <ds:schemaRef ds:uri="Microsoft.SharePoint.Taxonomy.ContentTypeSync"/>
  </ds:schemaRefs>
</ds:datastoreItem>
</file>

<file path=customXml/itemProps3.xml><?xml version="1.0" encoding="utf-8"?>
<ds:datastoreItem xmlns:ds="http://schemas.openxmlformats.org/officeDocument/2006/customXml" ds:itemID="{DDEEF93E-CB62-417F-897A-6FC664D85350}">
  <ds:schemaRefs>
    <ds:schemaRef ds:uri="http://schemas.microsoft.com/sharepoint/v3/contenttype/forms"/>
  </ds:schemaRefs>
</ds:datastoreItem>
</file>

<file path=customXml/itemProps4.xml><?xml version="1.0" encoding="utf-8"?>
<ds:datastoreItem xmlns:ds="http://schemas.openxmlformats.org/officeDocument/2006/customXml" ds:itemID="{3A8492D8-F763-45F1-B193-2AFB17AA14F8}">
  <ds:schemaRefs>
    <ds:schemaRef ds:uri="44a56295-c29e-4898-8136-a54736c65b82"/>
    <ds:schemaRef ds:uri="5d3e0dfa-9898-45c4-8e9f-53895cbc1374"/>
    <ds:schemaRef ds:uri="7eb99d4a-0699-406a-90be-909c04467ff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AZ A3_Scientific_Poster_Portrait</Template>
  <TotalTime>1</TotalTime>
  <Words>1220</Words>
  <Application>Microsoft Office PowerPoint</Application>
  <PresentationFormat>Custom</PresentationFormat>
  <Paragraphs>129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AZ IMED Example Presentation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Kuntz, Brendan (University Student)</dc:creator>
  <cp:lastModifiedBy>Scherr, David</cp:lastModifiedBy>
  <cp:revision>2</cp:revision>
  <cp:lastPrinted>2015-04-02T11:06:15Z</cp:lastPrinted>
  <dcterms:created xsi:type="dcterms:W3CDTF">2024-04-02T15:52:03Z</dcterms:created>
  <dcterms:modified xsi:type="dcterms:W3CDTF">2025-07-29T17:30:19Z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0x01010052C78484A9B0294594AC9651DCC5FE86</vt:lpwstr>
  </property>
  <property fmtid="{D5CDD505-2E9C-101B-9397-08002B2CF9AE}" pid="3" name="MediaServiceImageTags">
    <vt:lpwstr/>
  </property>
</Properties>
</file>