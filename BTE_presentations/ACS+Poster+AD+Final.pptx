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345" r:id="rId2"/>
  </p:sldIdLst>
  <p:sldSz cx="37463413" cy="21067713"/>
  <p:notesSz cx="9271000" cy="7010400"/>
  <p:custDataLst>
    <p:tags r:id="rId5"/>
  </p:custDataLst>
  <p:defaultTextStyle>
    <a:defPPr>
      <a:defRPr lang="en-US"/>
    </a:defPPr>
    <a:lvl1pPr marL="0" algn="l" defTabSz="3134644" rtl="0" eaLnBrk="1" latinLnBrk="0" hangingPunct="1">
      <a:defRPr sz="6214" kern="1200">
        <a:solidFill>
          <a:schemeClr val="tx1"/>
        </a:solidFill>
        <a:latin typeface="+mn-lt"/>
        <a:ea typeface="+mn-ea"/>
        <a:cs typeface="+mn-cs"/>
      </a:defRPr>
    </a:lvl1pPr>
    <a:lvl2pPr marL="1567322" algn="l" defTabSz="3134644" rtl="0" eaLnBrk="1" latinLnBrk="0" hangingPunct="1">
      <a:defRPr sz="6214" kern="1200">
        <a:solidFill>
          <a:schemeClr val="tx1"/>
        </a:solidFill>
        <a:latin typeface="+mn-lt"/>
        <a:ea typeface="+mn-ea"/>
        <a:cs typeface="+mn-cs"/>
      </a:defRPr>
    </a:lvl2pPr>
    <a:lvl3pPr marL="3134644" algn="l" defTabSz="3134644" rtl="0" eaLnBrk="1" latinLnBrk="0" hangingPunct="1">
      <a:defRPr sz="6214" kern="1200">
        <a:solidFill>
          <a:schemeClr val="tx1"/>
        </a:solidFill>
        <a:latin typeface="+mn-lt"/>
        <a:ea typeface="+mn-ea"/>
        <a:cs typeface="+mn-cs"/>
      </a:defRPr>
    </a:lvl3pPr>
    <a:lvl4pPr marL="4701966" algn="l" defTabSz="3134644" rtl="0" eaLnBrk="1" latinLnBrk="0" hangingPunct="1">
      <a:defRPr sz="6214" kern="1200">
        <a:solidFill>
          <a:schemeClr val="tx1"/>
        </a:solidFill>
        <a:latin typeface="+mn-lt"/>
        <a:ea typeface="+mn-ea"/>
        <a:cs typeface="+mn-cs"/>
      </a:defRPr>
    </a:lvl4pPr>
    <a:lvl5pPr marL="6269288" algn="l" defTabSz="3134644" rtl="0" eaLnBrk="1" latinLnBrk="0" hangingPunct="1">
      <a:defRPr sz="6214" kern="1200">
        <a:solidFill>
          <a:schemeClr val="tx1"/>
        </a:solidFill>
        <a:latin typeface="+mn-lt"/>
        <a:ea typeface="+mn-ea"/>
        <a:cs typeface="+mn-cs"/>
      </a:defRPr>
    </a:lvl5pPr>
    <a:lvl6pPr marL="7836610" algn="l" defTabSz="3134644" rtl="0" eaLnBrk="1" latinLnBrk="0" hangingPunct="1">
      <a:defRPr sz="6214" kern="1200">
        <a:solidFill>
          <a:schemeClr val="tx1"/>
        </a:solidFill>
        <a:latin typeface="+mn-lt"/>
        <a:ea typeface="+mn-ea"/>
        <a:cs typeface="+mn-cs"/>
      </a:defRPr>
    </a:lvl6pPr>
    <a:lvl7pPr marL="9403932" algn="l" defTabSz="3134644" rtl="0" eaLnBrk="1" latinLnBrk="0" hangingPunct="1">
      <a:defRPr sz="6214" kern="1200">
        <a:solidFill>
          <a:schemeClr val="tx1"/>
        </a:solidFill>
        <a:latin typeface="+mn-lt"/>
        <a:ea typeface="+mn-ea"/>
        <a:cs typeface="+mn-cs"/>
      </a:defRPr>
    </a:lvl7pPr>
    <a:lvl8pPr marL="10971254" algn="l" defTabSz="3134644" rtl="0" eaLnBrk="1" latinLnBrk="0" hangingPunct="1">
      <a:defRPr sz="6214" kern="1200">
        <a:solidFill>
          <a:schemeClr val="tx1"/>
        </a:solidFill>
        <a:latin typeface="+mn-lt"/>
        <a:ea typeface="+mn-ea"/>
        <a:cs typeface="+mn-cs"/>
      </a:defRPr>
    </a:lvl8pPr>
    <a:lvl9pPr marL="12538577" algn="l" defTabSz="3134644" rtl="0" eaLnBrk="1" latinLnBrk="0" hangingPunct="1">
      <a:defRPr sz="621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6" userDrawn="1">
          <p15:clr>
            <a:srgbClr val="A4A3A4"/>
          </p15:clr>
        </p15:guide>
        <p15:guide id="2" pos="1180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E70248C-9A64-9B6B-04DF-80BD6F5C6396}" name="Ramos, Irina" initials="RI" userId="S::klrp961@astrazeneca.net::7b7439c8-8a89-4a36-badd-3ea66a09fedd" providerId="AD"/>
  <p188:author id="{92DE3197-72F7-8791-C34B-5B3E1F08E059}" name="Chen, Michelle" initials="CM" userId="S::kdsl673@astrazeneca.net::3fe8a286-21ee-4a5f-8b59-f225a4b6828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8000"/>
    <a:srgbClr val="8064A2"/>
    <a:srgbClr val="B7C698"/>
    <a:srgbClr val="77933C"/>
    <a:srgbClr val="4F6228"/>
    <a:srgbClr val="830051"/>
    <a:srgbClr val="ED7D31"/>
    <a:srgbClr val="F0AB00"/>
    <a:srgbClr val="77B1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6" d="100"/>
          <a:sy n="16" d="100"/>
        </p:scale>
        <p:origin x="1296" y="148"/>
      </p:cViewPr>
      <p:guideLst>
        <p:guide orient="horz" pos="6636"/>
        <p:guide pos="1180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8/10/relationships/authors" Target="authors.xml"/><Relationship Id="rId5" Type="http://schemas.openxmlformats.org/officeDocument/2006/relationships/tags" Target="tags/tag1.xml"/><Relationship Id="rId10" Type="http://schemas.microsoft.com/office/2016/11/relationships/changesInfo" Target="changesInfos/changesInfo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n, Michelle" userId="3fe8a286-21ee-4a5f-8b59-f225a4b6828a" providerId="ADAL" clId="{335DEE27-7EBA-4CEC-B5BA-B77547C80C67}"/>
    <pc:docChg chg="delSld modSld delSection modSection">
      <pc:chgData name="Chen, Michelle" userId="3fe8a286-21ee-4a5f-8b59-f225a4b6828a" providerId="ADAL" clId="{335DEE27-7EBA-4CEC-B5BA-B77547C80C67}" dt="2025-03-01T19:58:17.835" v="4" actId="113"/>
      <pc:docMkLst>
        <pc:docMk/>
      </pc:docMkLst>
      <pc:sldChg chg="del">
        <pc:chgData name="Chen, Michelle" userId="3fe8a286-21ee-4a5f-8b59-f225a4b6828a" providerId="ADAL" clId="{335DEE27-7EBA-4CEC-B5BA-B77547C80C67}" dt="2025-02-28T12:51:46.764" v="0" actId="47"/>
        <pc:sldMkLst>
          <pc:docMk/>
          <pc:sldMk cId="439158126" sldId="337"/>
        </pc:sldMkLst>
      </pc:sldChg>
      <pc:sldChg chg="del">
        <pc:chgData name="Chen, Michelle" userId="3fe8a286-21ee-4a5f-8b59-f225a4b6828a" providerId="ADAL" clId="{335DEE27-7EBA-4CEC-B5BA-B77547C80C67}" dt="2025-02-28T12:51:46.764" v="0" actId="47"/>
        <pc:sldMkLst>
          <pc:docMk/>
          <pc:sldMk cId="927034932" sldId="338"/>
        </pc:sldMkLst>
      </pc:sldChg>
      <pc:sldChg chg="del">
        <pc:chgData name="Chen, Michelle" userId="3fe8a286-21ee-4a5f-8b59-f225a4b6828a" providerId="ADAL" clId="{335DEE27-7EBA-4CEC-B5BA-B77547C80C67}" dt="2025-02-28T12:51:46.764" v="0" actId="47"/>
        <pc:sldMkLst>
          <pc:docMk/>
          <pc:sldMk cId="1775903711" sldId="339"/>
        </pc:sldMkLst>
      </pc:sldChg>
      <pc:sldChg chg="del">
        <pc:chgData name="Chen, Michelle" userId="3fe8a286-21ee-4a5f-8b59-f225a4b6828a" providerId="ADAL" clId="{335DEE27-7EBA-4CEC-B5BA-B77547C80C67}" dt="2025-02-28T12:51:46.764" v="0" actId="47"/>
        <pc:sldMkLst>
          <pc:docMk/>
          <pc:sldMk cId="454002861" sldId="342"/>
        </pc:sldMkLst>
      </pc:sldChg>
      <pc:sldChg chg="del">
        <pc:chgData name="Chen, Michelle" userId="3fe8a286-21ee-4a5f-8b59-f225a4b6828a" providerId="ADAL" clId="{335DEE27-7EBA-4CEC-B5BA-B77547C80C67}" dt="2025-02-28T12:51:46.764" v="0" actId="47"/>
        <pc:sldMkLst>
          <pc:docMk/>
          <pc:sldMk cId="898222980" sldId="344"/>
        </pc:sldMkLst>
      </pc:sldChg>
      <pc:sldChg chg="modSp mod">
        <pc:chgData name="Chen, Michelle" userId="3fe8a286-21ee-4a5f-8b59-f225a4b6828a" providerId="ADAL" clId="{335DEE27-7EBA-4CEC-B5BA-B77547C80C67}" dt="2025-03-01T19:58:17.835" v="4" actId="113"/>
        <pc:sldMkLst>
          <pc:docMk/>
          <pc:sldMk cId="2806699180" sldId="345"/>
        </pc:sldMkLst>
        <pc:spChg chg="mod">
          <ac:chgData name="Chen, Michelle" userId="3fe8a286-21ee-4a5f-8b59-f225a4b6828a" providerId="ADAL" clId="{335DEE27-7EBA-4CEC-B5BA-B77547C80C67}" dt="2025-03-01T19:58:17.835" v="4" actId="113"/>
          <ac:spMkLst>
            <pc:docMk/>
            <pc:sldMk cId="2806699180" sldId="345"/>
            <ac:spMk id="38" creationId="{00000000-0000-0000-0000-000000000000}"/>
          </ac:spMkLst>
        </pc:spChg>
      </pc:sldChg>
      <pc:sldChg chg="del">
        <pc:chgData name="Chen, Michelle" userId="3fe8a286-21ee-4a5f-8b59-f225a4b6828a" providerId="ADAL" clId="{335DEE27-7EBA-4CEC-B5BA-B77547C80C67}" dt="2025-02-28T12:51:46.764" v="0" actId="47"/>
        <pc:sldMkLst>
          <pc:docMk/>
          <pc:sldMk cId="3498006318" sldId="34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17433" cy="350520"/>
          </a:xfrm>
          <a:prstGeom prst="rect">
            <a:avLst/>
          </a:prstGeom>
        </p:spPr>
        <p:txBody>
          <a:bodyPr vert="horz" lIns="93031" tIns="46516" rIns="93031" bIns="46516" rtlCol="0"/>
          <a:lstStyle>
            <a:defPPr>
              <a:defRPr kern="1200" smtId="4294967295"/>
            </a:defPPr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251421" y="0"/>
            <a:ext cx="4017433" cy="350520"/>
          </a:xfrm>
          <a:prstGeom prst="rect">
            <a:avLst/>
          </a:prstGeom>
        </p:spPr>
        <p:txBody>
          <a:bodyPr vert="horz" lIns="93031" tIns="46516" rIns="93031" bIns="46516" rtlCol="0"/>
          <a:lstStyle>
            <a:defPPr>
              <a:defRPr kern="1200" smtId="4294967295"/>
            </a:defPPr>
            <a:lvl1pPr algn="r">
              <a:defRPr sz="1200"/>
            </a:lvl1pPr>
          </a:lstStyle>
          <a:p>
            <a:fld id="{9281E4DE-EB0E-4FB2-BE29-FC865D9A50FC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658664"/>
            <a:ext cx="4017433" cy="350520"/>
          </a:xfrm>
          <a:prstGeom prst="rect">
            <a:avLst/>
          </a:prstGeom>
        </p:spPr>
        <p:txBody>
          <a:bodyPr vert="horz" lIns="93031" tIns="46516" rIns="93031" bIns="46516" rtlCol="0" anchor="b"/>
          <a:lstStyle>
            <a:defPPr>
              <a:defRPr kern="1200" smtId="4294967295"/>
            </a:defPPr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251421" y="6658664"/>
            <a:ext cx="4017433" cy="350520"/>
          </a:xfrm>
          <a:prstGeom prst="rect">
            <a:avLst/>
          </a:prstGeom>
        </p:spPr>
        <p:txBody>
          <a:bodyPr vert="horz" lIns="93031" tIns="46516" rIns="93031" bIns="46516" rtlCol="0" anchor="b"/>
          <a:lstStyle>
            <a:defPPr>
              <a:defRPr kern="1200" smtId="4294967295"/>
            </a:defPPr>
            <a:lvl1pPr algn="r">
              <a:defRPr sz="1200"/>
            </a:lvl1pPr>
          </a:lstStyle>
          <a:p>
            <a:fld id="{DE247C12-2C6F-4F8F-A764-8CB2FE9A4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7912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17963" cy="350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51450" y="0"/>
            <a:ext cx="4017963" cy="350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B4B646-8DF4-42BF-AB4F-827F32D61657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32063" y="876300"/>
            <a:ext cx="4206875" cy="2365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7100" y="3373438"/>
            <a:ext cx="7416800" cy="2760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9563"/>
            <a:ext cx="4017963" cy="3508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51450" y="6659563"/>
            <a:ext cx="4017963" cy="3508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4A8447-8B90-4C8D-A665-32B6D6978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056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4A8447-8B90-4C8D-A665-32B6D6978AD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15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42008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 smtId="4294967295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defPPr>
              <a:defRPr kern="1200" smtId="4294967295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 smtId="4294967295"/>
            </a:defPPr>
          </a:lstStyle>
          <a:p>
            <a:fld id="{F8E1F909-3568-40F5-8205-05484158C88C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 smtId="4294967295"/>
            </a:def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 smtId="4294967295"/>
            </a:defPPr>
          </a:lstStyle>
          <a:p>
            <a:fld id="{5A40D005-FB29-4DA1-AF6A-7002CDC49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41300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9353" y="13537958"/>
            <a:ext cx="31843903" cy="4184282"/>
          </a:xfrm>
        </p:spPr>
        <p:txBody>
          <a:bodyPr anchor="t"/>
          <a:lstStyle>
            <a:defPPr>
              <a:defRPr kern="1200" smtId="4294967295"/>
            </a:defPPr>
            <a:lvl1pPr algn="l">
              <a:defRPr sz="14569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59353" y="8929399"/>
            <a:ext cx="31843903" cy="4608560"/>
          </a:xfrm>
        </p:spPr>
        <p:txBody>
          <a:bodyPr anchor="b"/>
          <a:lstStyle>
            <a:defPPr>
              <a:defRPr kern="1200" smtId="4294967295"/>
            </a:defPPr>
            <a:lvl1pPr marL="0" indent="0">
              <a:buNone/>
              <a:defRPr sz="7360">
                <a:solidFill>
                  <a:schemeClr val="tx1">
                    <a:tint val="75000"/>
                  </a:schemeClr>
                </a:solidFill>
              </a:defRPr>
            </a:lvl1pPr>
            <a:lvl2pPr marL="1665134" indent="0">
              <a:buNone/>
              <a:defRPr sz="6601">
                <a:solidFill>
                  <a:schemeClr val="tx1">
                    <a:tint val="75000"/>
                  </a:schemeClr>
                </a:solidFill>
              </a:defRPr>
            </a:lvl2pPr>
            <a:lvl3pPr marL="3330268" indent="0">
              <a:buNone/>
              <a:defRPr sz="5843">
                <a:solidFill>
                  <a:schemeClr val="tx1">
                    <a:tint val="75000"/>
                  </a:schemeClr>
                </a:solidFill>
              </a:defRPr>
            </a:lvl3pPr>
            <a:lvl4pPr marL="4995403" indent="0">
              <a:buNone/>
              <a:defRPr sz="5084">
                <a:solidFill>
                  <a:schemeClr val="tx1">
                    <a:tint val="75000"/>
                  </a:schemeClr>
                </a:solidFill>
              </a:defRPr>
            </a:lvl4pPr>
            <a:lvl5pPr marL="6660538" indent="0">
              <a:buNone/>
              <a:defRPr sz="5084">
                <a:solidFill>
                  <a:schemeClr val="tx1">
                    <a:tint val="75000"/>
                  </a:schemeClr>
                </a:solidFill>
              </a:defRPr>
            </a:lvl5pPr>
            <a:lvl6pPr marL="8325672" indent="0">
              <a:buNone/>
              <a:defRPr sz="5084">
                <a:solidFill>
                  <a:schemeClr val="tx1">
                    <a:tint val="75000"/>
                  </a:schemeClr>
                </a:solidFill>
              </a:defRPr>
            </a:lvl6pPr>
            <a:lvl7pPr marL="9990806" indent="0">
              <a:buNone/>
              <a:defRPr sz="5084">
                <a:solidFill>
                  <a:schemeClr val="tx1">
                    <a:tint val="75000"/>
                  </a:schemeClr>
                </a:solidFill>
              </a:defRPr>
            </a:lvl7pPr>
            <a:lvl8pPr marL="11655940" indent="0">
              <a:buNone/>
              <a:defRPr sz="5084">
                <a:solidFill>
                  <a:schemeClr val="tx1">
                    <a:tint val="75000"/>
                  </a:schemeClr>
                </a:solidFill>
              </a:defRPr>
            </a:lvl8pPr>
            <a:lvl9pPr marL="13321075" indent="0">
              <a:buNone/>
              <a:defRPr sz="508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 smtId="4294967295"/>
            </a:defPPr>
          </a:lstStyle>
          <a:p>
            <a:fld id="{F8E1F909-3568-40F5-8205-05484158C88C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 smtId="4294967295"/>
            </a:def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 smtId="4294967295"/>
            </a:defPPr>
          </a:lstStyle>
          <a:p>
            <a:fld id="{5A40D005-FB29-4DA1-AF6A-7002CDC49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968356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 smtId="4294967295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44719" y="15732513"/>
            <a:ext cx="60377234" cy="44490915"/>
          </a:xfrm>
        </p:spPr>
        <p:txBody>
          <a:bodyPr/>
          <a:lstStyle>
            <a:defPPr>
              <a:defRPr kern="1200" smtId="4294967295"/>
            </a:defPPr>
            <a:lvl1pPr>
              <a:defRPr sz="10168"/>
            </a:lvl1pPr>
            <a:lvl2pPr>
              <a:defRPr sz="8726"/>
            </a:lvl2pPr>
            <a:lvl3pPr>
              <a:defRPr sz="7360"/>
            </a:lvl3pPr>
            <a:lvl4pPr>
              <a:defRPr sz="6601"/>
            </a:lvl4pPr>
            <a:lvl5pPr>
              <a:defRPr sz="6601"/>
            </a:lvl5pPr>
            <a:lvl6pPr>
              <a:defRPr sz="6601"/>
            </a:lvl6pPr>
            <a:lvl7pPr>
              <a:defRPr sz="6601"/>
            </a:lvl7pPr>
            <a:lvl8pPr>
              <a:defRPr sz="6601"/>
            </a:lvl8pPr>
            <a:lvl9pPr>
              <a:defRPr sz="660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46341" y="15732513"/>
            <a:ext cx="60377234" cy="44490915"/>
          </a:xfrm>
        </p:spPr>
        <p:txBody>
          <a:bodyPr/>
          <a:lstStyle>
            <a:defPPr>
              <a:defRPr kern="1200" smtId="4294967295"/>
            </a:defPPr>
            <a:lvl1pPr>
              <a:defRPr sz="10168"/>
            </a:lvl1pPr>
            <a:lvl2pPr>
              <a:defRPr sz="8726"/>
            </a:lvl2pPr>
            <a:lvl3pPr>
              <a:defRPr sz="7360"/>
            </a:lvl3pPr>
            <a:lvl4pPr>
              <a:defRPr sz="6601"/>
            </a:lvl4pPr>
            <a:lvl5pPr>
              <a:defRPr sz="6601"/>
            </a:lvl5pPr>
            <a:lvl6pPr>
              <a:defRPr sz="6601"/>
            </a:lvl6pPr>
            <a:lvl7pPr>
              <a:defRPr sz="6601"/>
            </a:lvl7pPr>
            <a:lvl8pPr>
              <a:defRPr sz="6601"/>
            </a:lvl8pPr>
            <a:lvl9pPr>
              <a:defRPr sz="660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 smtId="4294967295"/>
            </a:defPPr>
          </a:lstStyle>
          <a:p>
            <a:fld id="{F8E1F909-3568-40F5-8205-05484158C88C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 smtId="4294967295"/>
            </a:def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 smtId="4294967295"/>
            </a:defPPr>
          </a:lstStyle>
          <a:p>
            <a:fld id="{5A40D005-FB29-4DA1-AF6A-7002CDC49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245142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3172" y="843686"/>
            <a:ext cx="33717069" cy="3511286"/>
          </a:xfrm>
        </p:spPr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3174" y="4715855"/>
            <a:ext cx="16552847" cy="1965343"/>
          </a:xfrm>
        </p:spPr>
        <p:txBody>
          <a:bodyPr anchor="b"/>
          <a:lstStyle>
            <a:defPPr>
              <a:defRPr kern="1200" smtId="4294967295"/>
            </a:defPPr>
            <a:lvl1pPr marL="0" indent="0">
              <a:buNone/>
              <a:defRPr sz="8726" b="1"/>
            </a:lvl1pPr>
            <a:lvl2pPr marL="1665134" indent="0">
              <a:buNone/>
              <a:defRPr sz="7360" b="1"/>
            </a:lvl2pPr>
            <a:lvl3pPr marL="3330268" indent="0">
              <a:buNone/>
              <a:defRPr sz="6601" b="1"/>
            </a:lvl3pPr>
            <a:lvl4pPr marL="4995403" indent="0">
              <a:buNone/>
              <a:defRPr sz="5843" b="1"/>
            </a:lvl4pPr>
            <a:lvl5pPr marL="6660538" indent="0">
              <a:buNone/>
              <a:defRPr sz="5843" b="1"/>
            </a:lvl5pPr>
            <a:lvl6pPr marL="8325672" indent="0">
              <a:buNone/>
              <a:defRPr sz="5843" b="1"/>
            </a:lvl6pPr>
            <a:lvl7pPr marL="9990806" indent="0">
              <a:buNone/>
              <a:defRPr sz="5843" b="1"/>
            </a:lvl7pPr>
            <a:lvl8pPr marL="11655940" indent="0">
              <a:buNone/>
              <a:defRPr sz="5843" b="1"/>
            </a:lvl8pPr>
            <a:lvl9pPr marL="13321075" indent="0">
              <a:buNone/>
              <a:defRPr sz="584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73174" y="6681198"/>
            <a:ext cx="16552847" cy="12138321"/>
          </a:xfrm>
        </p:spPr>
        <p:txBody>
          <a:bodyPr/>
          <a:lstStyle>
            <a:defPPr>
              <a:defRPr kern="1200" smtId="4294967295"/>
            </a:defPPr>
            <a:lvl1pPr>
              <a:defRPr sz="8726"/>
            </a:lvl1pPr>
            <a:lvl2pPr>
              <a:defRPr sz="7360"/>
            </a:lvl2pPr>
            <a:lvl3pPr>
              <a:defRPr sz="6601"/>
            </a:lvl3pPr>
            <a:lvl4pPr>
              <a:defRPr sz="5843"/>
            </a:lvl4pPr>
            <a:lvl5pPr>
              <a:defRPr sz="5843"/>
            </a:lvl5pPr>
            <a:lvl6pPr>
              <a:defRPr sz="5843"/>
            </a:lvl6pPr>
            <a:lvl7pPr>
              <a:defRPr sz="5843"/>
            </a:lvl7pPr>
            <a:lvl8pPr>
              <a:defRPr sz="5843"/>
            </a:lvl8pPr>
            <a:lvl9pPr>
              <a:defRPr sz="584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9030896" y="4715855"/>
            <a:ext cx="16559348" cy="1965343"/>
          </a:xfrm>
        </p:spPr>
        <p:txBody>
          <a:bodyPr anchor="b"/>
          <a:lstStyle>
            <a:defPPr>
              <a:defRPr kern="1200" smtId="4294967295"/>
            </a:defPPr>
            <a:lvl1pPr marL="0" indent="0">
              <a:buNone/>
              <a:defRPr sz="8726" b="1"/>
            </a:lvl1pPr>
            <a:lvl2pPr marL="1665134" indent="0">
              <a:buNone/>
              <a:defRPr sz="7360" b="1"/>
            </a:lvl2pPr>
            <a:lvl3pPr marL="3330268" indent="0">
              <a:buNone/>
              <a:defRPr sz="6601" b="1"/>
            </a:lvl3pPr>
            <a:lvl4pPr marL="4995403" indent="0">
              <a:buNone/>
              <a:defRPr sz="5843" b="1"/>
            </a:lvl4pPr>
            <a:lvl5pPr marL="6660538" indent="0">
              <a:buNone/>
              <a:defRPr sz="5843" b="1"/>
            </a:lvl5pPr>
            <a:lvl6pPr marL="8325672" indent="0">
              <a:buNone/>
              <a:defRPr sz="5843" b="1"/>
            </a:lvl6pPr>
            <a:lvl7pPr marL="9990806" indent="0">
              <a:buNone/>
              <a:defRPr sz="5843" b="1"/>
            </a:lvl7pPr>
            <a:lvl8pPr marL="11655940" indent="0">
              <a:buNone/>
              <a:defRPr sz="5843" b="1"/>
            </a:lvl8pPr>
            <a:lvl9pPr marL="13321075" indent="0">
              <a:buNone/>
              <a:defRPr sz="584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9030896" y="6681198"/>
            <a:ext cx="16559348" cy="12138321"/>
          </a:xfrm>
        </p:spPr>
        <p:txBody>
          <a:bodyPr/>
          <a:lstStyle>
            <a:defPPr>
              <a:defRPr kern="1200" smtId="4294967295"/>
            </a:defPPr>
            <a:lvl1pPr>
              <a:defRPr sz="8726"/>
            </a:lvl1pPr>
            <a:lvl2pPr>
              <a:defRPr sz="7360"/>
            </a:lvl2pPr>
            <a:lvl3pPr>
              <a:defRPr sz="6601"/>
            </a:lvl3pPr>
            <a:lvl4pPr>
              <a:defRPr sz="5843"/>
            </a:lvl4pPr>
            <a:lvl5pPr>
              <a:defRPr sz="5843"/>
            </a:lvl5pPr>
            <a:lvl6pPr>
              <a:defRPr sz="5843"/>
            </a:lvl6pPr>
            <a:lvl7pPr>
              <a:defRPr sz="5843"/>
            </a:lvl7pPr>
            <a:lvl8pPr>
              <a:defRPr sz="5843"/>
            </a:lvl8pPr>
            <a:lvl9pPr>
              <a:defRPr sz="584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 smtId="4294967295"/>
            </a:defPPr>
          </a:lstStyle>
          <a:p>
            <a:fld id="{F8E1F909-3568-40F5-8205-05484158C88C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 smtId="4294967295"/>
            </a:def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 smtId="4294967295"/>
            </a:defPPr>
          </a:lstStyle>
          <a:p>
            <a:fld id="{5A40D005-FB29-4DA1-AF6A-7002CDC49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01948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 smtId="4294967295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 smtId="4294967295"/>
            </a:defPPr>
          </a:lstStyle>
          <a:p>
            <a:fld id="{F8E1F909-3568-40F5-8205-05484158C88C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 smtId="4294967295"/>
            </a:def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 smtId="4294967295"/>
            </a:defPPr>
          </a:lstStyle>
          <a:p>
            <a:fld id="{5A40D005-FB29-4DA1-AF6A-7002CDC49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4232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 smtId="4294967295"/>
            </a:defPPr>
          </a:lstStyle>
          <a:p>
            <a:fld id="{F8E1F909-3568-40F5-8205-05484158C88C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 smtId="4294967295"/>
            </a:def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 smtId="4294967295"/>
            </a:defPPr>
          </a:lstStyle>
          <a:p>
            <a:fld id="{5A40D005-FB29-4DA1-AF6A-7002CDC49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914929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3176" y="838807"/>
            <a:ext cx="12325205" cy="3569807"/>
          </a:xfrm>
        </p:spPr>
        <p:txBody>
          <a:bodyPr anchor="b"/>
          <a:lstStyle>
            <a:defPPr>
              <a:defRPr kern="1200" smtId="4294967295"/>
            </a:defPPr>
            <a:lvl1pPr algn="l">
              <a:defRPr sz="736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47152" y="838809"/>
            <a:ext cx="20943089" cy="17980709"/>
          </a:xfrm>
        </p:spPr>
        <p:txBody>
          <a:bodyPr/>
          <a:lstStyle>
            <a:defPPr>
              <a:defRPr kern="1200" smtId="4294967295"/>
            </a:defPPr>
            <a:lvl1pPr>
              <a:defRPr sz="11685"/>
            </a:lvl1pPr>
            <a:lvl2pPr>
              <a:defRPr sz="10168"/>
            </a:lvl2pPr>
            <a:lvl3pPr>
              <a:defRPr sz="8726"/>
            </a:lvl3pPr>
            <a:lvl4pPr>
              <a:defRPr sz="7360"/>
            </a:lvl4pPr>
            <a:lvl5pPr>
              <a:defRPr sz="7360"/>
            </a:lvl5pPr>
            <a:lvl6pPr>
              <a:defRPr sz="7360"/>
            </a:lvl6pPr>
            <a:lvl7pPr>
              <a:defRPr sz="7360"/>
            </a:lvl7pPr>
            <a:lvl8pPr>
              <a:defRPr sz="7360"/>
            </a:lvl8pPr>
            <a:lvl9pPr>
              <a:defRPr sz="73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73176" y="4408616"/>
            <a:ext cx="12325205" cy="14410903"/>
          </a:xfrm>
        </p:spPr>
        <p:txBody>
          <a:bodyPr/>
          <a:lstStyle>
            <a:defPPr>
              <a:defRPr kern="1200" smtId="4294967295"/>
            </a:defPPr>
            <a:lvl1pPr marL="0" indent="0">
              <a:buNone/>
              <a:defRPr sz="5084"/>
            </a:lvl1pPr>
            <a:lvl2pPr marL="1665134" indent="0">
              <a:buNone/>
              <a:defRPr sz="4325"/>
            </a:lvl2pPr>
            <a:lvl3pPr marL="3330268" indent="0">
              <a:buNone/>
              <a:defRPr sz="3642"/>
            </a:lvl3pPr>
            <a:lvl4pPr marL="4995403" indent="0">
              <a:buNone/>
              <a:defRPr sz="3263"/>
            </a:lvl4pPr>
            <a:lvl5pPr marL="6660538" indent="0">
              <a:buNone/>
              <a:defRPr sz="3263"/>
            </a:lvl5pPr>
            <a:lvl6pPr marL="8325672" indent="0">
              <a:buNone/>
              <a:defRPr sz="3263"/>
            </a:lvl6pPr>
            <a:lvl7pPr marL="9990806" indent="0">
              <a:buNone/>
              <a:defRPr sz="3263"/>
            </a:lvl7pPr>
            <a:lvl8pPr marL="11655940" indent="0">
              <a:buNone/>
              <a:defRPr sz="3263"/>
            </a:lvl8pPr>
            <a:lvl9pPr marL="13321075" indent="0">
              <a:buNone/>
              <a:defRPr sz="32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 smtId="4294967295"/>
            </a:defPPr>
          </a:lstStyle>
          <a:p>
            <a:fld id="{F8E1F909-3568-40F5-8205-05484158C88C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 smtId="4294967295"/>
            </a:def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 smtId="4294967295"/>
            </a:defPPr>
          </a:lstStyle>
          <a:p>
            <a:fld id="{5A40D005-FB29-4DA1-AF6A-7002CDC49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310565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43093" y="14747400"/>
            <a:ext cx="22478049" cy="1741014"/>
          </a:xfrm>
        </p:spPr>
        <p:txBody>
          <a:bodyPr anchor="b"/>
          <a:lstStyle>
            <a:defPPr>
              <a:defRPr kern="1200" smtId="4294967295"/>
            </a:defPPr>
            <a:lvl1pPr algn="l">
              <a:defRPr sz="736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343093" y="1882441"/>
            <a:ext cx="22478049" cy="12640627"/>
          </a:xfrm>
        </p:spPr>
        <p:txBody>
          <a:bodyPr/>
          <a:lstStyle>
            <a:defPPr>
              <a:defRPr kern="1200" smtId="4294967295"/>
            </a:defPPr>
            <a:lvl1pPr marL="0" indent="0">
              <a:buNone/>
              <a:defRPr sz="11685"/>
            </a:lvl1pPr>
            <a:lvl2pPr marL="1665134" indent="0">
              <a:buNone/>
              <a:defRPr sz="10168"/>
            </a:lvl2pPr>
            <a:lvl3pPr marL="3330268" indent="0">
              <a:buNone/>
              <a:defRPr sz="8726"/>
            </a:lvl3pPr>
            <a:lvl4pPr marL="4995403" indent="0">
              <a:buNone/>
              <a:defRPr sz="7360"/>
            </a:lvl4pPr>
            <a:lvl5pPr marL="6660538" indent="0">
              <a:buNone/>
              <a:defRPr sz="7360"/>
            </a:lvl5pPr>
            <a:lvl6pPr marL="8325672" indent="0">
              <a:buNone/>
              <a:defRPr sz="7360"/>
            </a:lvl6pPr>
            <a:lvl7pPr marL="9990806" indent="0">
              <a:buNone/>
              <a:defRPr sz="7360"/>
            </a:lvl7pPr>
            <a:lvl8pPr marL="11655940" indent="0">
              <a:buNone/>
              <a:defRPr sz="7360"/>
            </a:lvl8pPr>
            <a:lvl9pPr marL="13321075" indent="0">
              <a:buNone/>
              <a:defRPr sz="736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43093" y="16488415"/>
            <a:ext cx="22478049" cy="2472528"/>
          </a:xfrm>
        </p:spPr>
        <p:txBody>
          <a:bodyPr/>
          <a:lstStyle>
            <a:defPPr>
              <a:defRPr kern="1200" smtId="4294967295"/>
            </a:defPPr>
            <a:lvl1pPr marL="0" indent="0">
              <a:buNone/>
              <a:defRPr sz="5084"/>
            </a:lvl1pPr>
            <a:lvl2pPr marL="1665134" indent="0">
              <a:buNone/>
              <a:defRPr sz="4325"/>
            </a:lvl2pPr>
            <a:lvl3pPr marL="3330268" indent="0">
              <a:buNone/>
              <a:defRPr sz="3642"/>
            </a:lvl3pPr>
            <a:lvl4pPr marL="4995403" indent="0">
              <a:buNone/>
              <a:defRPr sz="3263"/>
            </a:lvl4pPr>
            <a:lvl5pPr marL="6660538" indent="0">
              <a:buNone/>
              <a:defRPr sz="3263"/>
            </a:lvl5pPr>
            <a:lvl6pPr marL="8325672" indent="0">
              <a:buNone/>
              <a:defRPr sz="3263"/>
            </a:lvl6pPr>
            <a:lvl7pPr marL="9990806" indent="0">
              <a:buNone/>
              <a:defRPr sz="3263"/>
            </a:lvl7pPr>
            <a:lvl8pPr marL="11655940" indent="0">
              <a:buNone/>
              <a:defRPr sz="3263"/>
            </a:lvl8pPr>
            <a:lvl9pPr marL="13321075" indent="0">
              <a:buNone/>
              <a:defRPr sz="32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 smtId="4294967295"/>
            </a:defPPr>
          </a:lstStyle>
          <a:p>
            <a:fld id="{F8E1F909-3568-40F5-8205-05484158C88C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 smtId="4294967295"/>
            </a:def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 smtId="4294967295"/>
            </a:defPPr>
          </a:lstStyle>
          <a:p>
            <a:fld id="{5A40D005-FB29-4DA1-AF6A-7002CDC49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995791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 smtId="4294967295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defPPr>
              <a:defRPr kern="1200" smtId="4294967295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 smtId="4294967295"/>
            </a:defPPr>
          </a:lstStyle>
          <a:p>
            <a:fld id="{F8E1F909-3568-40F5-8205-05484158C88C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 smtId="4294967295"/>
            </a:def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 smtId="4294967295"/>
            </a:defPPr>
          </a:lstStyle>
          <a:p>
            <a:fld id="{5A40D005-FB29-4DA1-AF6A-7002CDC49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4612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782114" y="2701742"/>
            <a:ext cx="30341466" cy="57521684"/>
          </a:xfrm>
        </p:spPr>
        <p:txBody>
          <a:bodyPr vert="eaVert"/>
          <a:lstStyle>
            <a:defPPr>
              <a:defRPr kern="1200" smtId="4294967295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44722" y="2701742"/>
            <a:ext cx="90413000" cy="57521684"/>
          </a:xfrm>
        </p:spPr>
        <p:txBody>
          <a:bodyPr vert="eaVert"/>
          <a:lstStyle>
            <a:defPPr>
              <a:defRPr kern="1200" smtId="4294967295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 smtId="4294967295"/>
            </a:defPPr>
          </a:lstStyle>
          <a:p>
            <a:fld id="{F8E1F909-3568-40F5-8205-05484158C88C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 smtId="4294967295"/>
            </a:def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 smtId="4294967295"/>
            </a:defPPr>
          </a:lstStyle>
          <a:p>
            <a:fld id="{5A40D005-FB29-4DA1-AF6A-7002CDC49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695376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ster Mast 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48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73172" y="843686"/>
            <a:ext cx="33717069" cy="3511286"/>
          </a:xfrm>
          <a:prstGeom prst="rect">
            <a:avLst/>
          </a:prstGeom>
        </p:spPr>
        <p:txBody>
          <a:bodyPr vert="horz" lIns="438903" tIns="219451" rIns="438903" bIns="219451" rtlCol="0" anchor="ctr">
            <a:normAutofit/>
          </a:bodyPr>
          <a:lstStyle>
            <a:defPPr>
              <a:defRPr kern="1200" smtId="4294967295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3172" y="4915803"/>
            <a:ext cx="33717069" cy="13903717"/>
          </a:xfrm>
          <a:prstGeom prst="rect">
            <a:avLst/>
          </a:prstGeom>
        </p:spPr>
        <p:txBody>
          <a:bodyPr vert="horz" lIns="438903" tIns="219451" rIns="438903" bIns="219451" rtlCol="0">
            <a:normAutofit/>
          </a:bodyPr>
          <a:lstStyle>
            <a:defPPr>
              <a:defRPr kern="1200" smtId="4294967295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73171" y="19526650"/>
            <a:ext cx="8741463" cy="1121661"/>
          </a:xfrm>
          <a:prstGeom prst="rect">
            <a:avLst/>
          </a:prstGeom>
        </p:spPr>
        <p:txBody>
          <a:bodyPr vert="horz" lIns="438903" tIns="219451" rIns="438903" bIns="219451" rtlCol="0" anchor="ctr"/>
          <a:lstStyle>
            <a:defPPr>
              <a:defRPr kern="1200" smtId="4294967295"/>
            </a:defPPr>
            <a:lvl1pPr algn="l">
              <a:defRPr sz="43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E1F909-3568-40F5-8205-05484158C88C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800001" y="19526650"/>
            <a:ext cx="11863414" cy="1121661"/>
          </a:xfrm>
          <a:prstGeom prst="rect">
            <a:avLst/>
          </a:prstGeom>
        </p:spPr>
        <p:txBody>
          <a:bodyPr vert="horz" lIns="438903" tIns="219451" rIns="438903" bIns="219451" rtlCol="0" anchor="ctr"/>
          <a:lstStyle>
            <a:defPPr>
              <a:defRPr kern="1200" smtId="4294967295"/>
            </a:defPPr>
            <a:lvl1pPr algn="ctr">
              <a:defRPr sz="43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6848780" y="19526650"/>
            <a:ext cx="8741463" cy="1121661"/>
          </a:xfrm>
          <a:prstGeom prst="rect">
            <a:avLst/>
          </a:prstGeom>
        </p:spPr>
        <p:txBody>
          <a:bodyPr vert="horz" lIns="438903" tIns="219451" rIns="438903" bIns="219451" rtlCol="0" anchor="ctr"/>
          <a:lstStyle>
            <a:defPPr>
              <a:defRPr kern="1200" smtId="4294967295"/>
            </a:defPPr>
            <a:lvl1pPr algn="r">
              <a:defRPr sz="43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0D005-FB29-4DA1-AF6A-7002CDC49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613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ransition/>
  <p:txStyles>
    <p:titleStyle>
      <a:defPPr>
        <a:defRPr kern="1200" smtId="4294967295"/>
      </a:defPPr>
      <a:lvl1pPr algn="ctr" defTabSz="3330268" rtl="0" eaLnBrk="1" latinLnBrk="0" hangingPunct="1">
        <a:spcBef>
          <a:spcPct val="0"/>
        </a:spcBef>
        <a:buNone/>
        <a:defRPr sz="160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defPPr>
        <a:defRPr kern="1200" smtId="4294967295"/>
      </a:defPPr>
      <a:lvl1pPr marL="1248851" indent="-1248851" algn="l" defTabSz="3330268" rtl="0" eaLnBrk="1" latinLnBrk="0" hangingPunct="1">
        <a:spcBef>
          <a:spcPct val="20000"/>
        </a:spcBef>
        <a:buFont typeface="Arial" pitchFamily="34" charset="0"/>
        <a:buChar char="•"/>
        <a:defRPr sz="11685" kern="1200">
          <a:solidFill>
            <a:schemeClr val="tx1"/>
          </a:solidFill>
          <a:latin typeface="+mn-lt"/>
          <a:ea typeface="+mn-ea"/>
          <a:cs typeface="+mn-cs"/>
        </a:defRPr>
      </a:lvl1pPr>
      <a:lvl2pPr marL="2705844" indent="-1040709" algn="l" defTabSz="3330268" rtl="0" eaLnBrk="1" latinLnBrk="0" hangingPunct="1">
        <a:spcBef>
          <a:spcPct val="20000"/>
        </a:spcBef>
        <a:buFont typeface="Arial" pitchFamily="34" charset="0"/>
        <a:buChar char="–"/>
        <a:defRPr sz="10168" kern="1200">
          <a:solidFill>
            <a:schemeClr val="tx1"/>
          </a:solidFill>
          <a:latin typeface="+mn-lt"/>
          <a:ea typeface="+mn-ea"/>
          <a:cs typeface="+mn-cs"/>
        </a:defRPr>
      </a:lvl2pPr>
      <a:lvl3pPr marL="4162836" indent="-832567" algn="l" defTabSz="3330268" rtl="0" eaLnBrk="1" latinLnBrk="0" hangingPunct="1">
        <a:spcBef>
          <a:spcPct val="20000"/>
        </a:spcBef>
        <a:buFont typeface="Arial" pitchFamily="34" charset="0"/>
        <a:buChar char="•"/>
        <a:defRPr sz="8726" kern="1200">
          <a:solidFill>
            <a:schemeClr val="tx1"/>
          </a:solidFill>
          <a:latin typeface="+mn-lt"/>
          <a:ea typeface="+mn-ea"/>
          <a:cs typeface="+mn-cs"/>
        </a:defRPr>
      </a:lvl3pPr>
      <a:lvl4pPr marL="5827970" indent="-832567" algn="l" defTabSz="3330268" rtl="0" eaLnBrk="1" latinLnBrk="0" hangingPunct="1">
        <a:spcBef>
          <a:spcPct val="20000"/>
        </a:spcBef>
        <a:buFont typeface="Arial" pitchFamily="34" charset="0"/>
        <a:buChar char="–"/>
        <a:defRPr sz="7360" kern="1200">
          <a:solidFill>
            <a:schemeClr val="tx1"/>
          </a:solidFill>
          <a:latin typeface="+mn-lt"/>
          <a:ea typeface="+mn-ea"/>
          <a:cs typeface="+mn-cs"/>
        </a:defRPr>
      </a:lvl4pPr>
      <a:lvl5pPr marL="7493105" indent="-832567" algn="l" defTabSz="3330268" rtl="0" eaLnBrk="1" latinLnBrk="0" hangingPunct="1">
        <a:spcBef>
          <a:spcPct val="20000"/>
        </a:spcBef>
        <a:buFont typeface="Arial" pitchFamily="34" charset="0"/>
        <a:buChar char="»"/>
        <a:defRPr sz="7360" kern="1200">
          <a:solidFill>
            <a:schemeClr val="tx1"/>
          </a:solidFill>
          <a:latin typeface="+mn-lt"/>
          <a:ea typeface="+mn-ea"/>
          <a:cs typeface="+mn-cs"/>
        </a:defRPr>
      </a:lvl5pPr>
      <a:lvl6pPr marL="9158238" indent="-832567" algn="l" defTabSz="3330268" rtl="0" eaLnBrk="1" latinLnBrk="0" hangingPunct="1">
        <a:spcBef>
          <a:spcPct val="20000"/>
        </a:spcBef>
        <a:buFont typeface="Arial" pitchFamily="34" charset="0"/>
        <a:buChar char="•"/>
        <a:defRPr sz="7360" kern="1200">
          <a:solidFill>
            <a:schemeClr val="tx1"/>
          </a:solidFill>
          <a:latin typeface="+mn-lt"/>
          <a:ea typeface="+mn-ea"/>
          <a:cs typeface="+mn-cs"/>
        </a:defRPr>
      </a:lvl6pPr>
      <a:lvl7pPr marL="10823373" indent="-832567" algn="l" defTabSz="3330268" rtl="0" eaLnBrk="1" latinLnBrk="0" hangingPunct="1">
        <a:spcBef>
          <a:spcPct val="20000"/>
        </a:spcBef>
        <a:buFont typeface="Arial" pitchFamily="34" charset="0"/>
        <a:buChar char="•"/>
        <a:defRPr sz="7360" kern="1200">
          <a:solidFill>
            <a:schemeClr val="tx1"/>
          </a:solidFill>
          <a:latin typeface="+mn-lt"/>
          <a:ea typeface="+mn-ea"/>
          <a:cs typeface="+mn-cs"/>
        </a:defRPr>
      </a:lvl7pPr>
      <a:lvl8pPr marL="12488508" indent="-832567" algn="l" defTabSz="3330268" rtl="0" eaLnBrk="1" latinLnBrk="0" hangingPunct="1">
        <a:spcBef>
          <a:spcPct val="20000"/>
        </a:spcBef>
        <a:buFont typeface="Arial" pitchFamily="34" charset="0"/>
        <a:buChar char="•"/>
        <a:defRPr sz="7360" kern="1200">
          <a:solidFill>
            <a:schemeClr val="tx1"/>
          </a:solidFill>
          <a:latin typeface="+mn-lt"/>
          <a:ea typeface="+mn-ea"/>
          <a:cs typeface="+mn-cs"/>
        </a:defRPr>
      </a:lvl8pPr>
      <a:lvl9pPr marL="14153641" indent="-832567" algn="l" defTabSz="3330268" rtl="0" eaLnBrk="1" latinLnBrk="0" hangingPunct="1">
        <a:spcBef>
          <a:spcPct val="20000"/>
        </a:spcBef>
        <a:buFont typeface="Arial" pitchFamily="34" charset="0"/>
        <a:buChar char="•"/>
        <a:defRPr sz="73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330268" rtl="0" eaLnBrk="1" latinLnBrk="0" hangingPunct="1">
        <a:defRPr sz="6601" kern="1200">
          <a:solidFill>
            <a:schemeClr val="tx1"/>
          </a:solidFill>
          <a:latin typeface="+mn-lt"/>
          <a:ea typeface="+mn-ea"/>
          <a:cs typeface="+mn-cs"/>
        </a:defRPr>
      </a:lvl1pPr>
      <a:lvl2pPr marL="1665134" algn="l" defTabSz="3330268" rtl="0" eaLnBrk="1" latinLnBrk="0" hangingPunct="1">
        <a:defRPr sz="6601" kern="1200">
          <a:solidFill>
            <a:schemeClr val="tx1"/>
          </a:solidFill>
          <a:latin typeface="+mn-lt"/>
          <a:ea typeface="+mn-ea"/>
          <a:cs typeface="+mn-cs"/>
        </a:defRPr>
      </a:lvl2pPr>
      <a:lvl3pPr marL="3330268" algn="l" defTabSz="3330268" rtl="0" eaLnBrk="1" latinLnBrk="0" hangingPunct="1">
        <a:defRPr sz="6601" kern="1200">
          <a:solidFill>
            <a:schemeClr val="tx1"/>
          </a:solidFill>
          <a:latin typeface="+mn-lt"/>
          <a:ea typeface="+mn-ea"/>
          <a:cs typeface="+mn-cs"/>
        </a:defRPr>
      </a:lvl3pPr>
      <a:lvl4pPr marL="4995403" algn="l" defTabSz="3330268" rtl="0" eaLnBrk="1" latinLnBrk="0" hangingPunct="1">
        <a:defRPr sz="6601" kern="1200">
          <a:solidFill>
            <a:schemeClr val="tx1"/>
          </a:solidFill>
          <a:latin typeface="+mn-lt"/>
          <a:ea typeface="+mn-ea"/>
          <a:cs typeface="+mn-cs"/>
        </a:defRPr>
      </a:lvl4pPr>
      <a:lvl5pPr marL="6660538" algn="l" defTabSz="3330268" rtl="0" eaLnBrk="1" latinLnBrk="0" hangingPunct="1">
        <a:defRPr sz="6601" kern="1200">
          <a:solidFill>
            <a:schemeClr val="tx1"/>
          </a:solidFill>
          <a:latin typeface="+mn-lt"/>
          <a:ea typeface="+mn-ea"/>
          <a:cs typeface="+mn-cs"/>
        </a:defRPr>
      </a:lvl5pPr>
      <a:lvl6pPr marL="8325672" algn="l" defTabSz="3330268" rtl="0" eaLnBrk="1" latinLnBrk="0" hangingPunct="1">
        <a:defRPr sz="6601" kern="1200">
          <a:solidFill>
            <a:schemeClr val="tx1"/>
          </a:solidFill>
          <a:latin typeface="+mn-lt"/>
          <a:ea typeface="+mn-ea"/>
          <a:cs typeface="+mn-cs"/>
        </a:defRPr>
      </a:lvl6pPr>
      <a:lvl7pPr marL="9990806" algn="l" defTabSz="3330268" rtl="0" eaLnBrk="1" latinLnBrk="0" hangingPunct="1">
        <a:defRPr sz="6601" kern="1200">
          <a:solidFill>
            <a:schemeClr val="tx1"/>
          </a:solidFill>
          <a:latin typeface="+mn-lt"/>
          <a:ea typeface="+mn-ea"/>
          <a:cs typeface="+mn-cs"/>
        </a:defRPr>
      </a:lvl7pPr>
      <a:lvl8pPr marL="11655940" algn="l" defTabSz="3330268" rtl="0" eaLnBrk="1" latinLnBrk="0" hangingPunct="1">
        <a:defRPr sz="6601" kern="1200">
          <a:solidFill>
            <a:schemeClr val="tx1"/>
          </a:solidFill>
          <a:latin typeface="+mn-lt"/>
          <a:ea typeface="+mn-ea"/>
          <a:cs typeface="+mn-cs"/>
        </a:defRPr>
      </a:lvl8pPr>
      <a:lvl9pPr marL="13321075" algn="l" defTabSz="3330268" rtl="0" eaLnBrk="1" latinLnBrk="0" hangingPunct="1">
        <a:defRPr sz="66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microsoft.com/office/2007/relationships/hdphoto" Target="../media/hdphoto2.wdp"/><Relationship Id="rId18" Type="http://schemas.openxmlformats.org/officeDocument/2006/relationships/image" Target="../media/image10.png"/><Relationship Id="rId26" Type="http://schemas.openxmlformats.org/officeDocument/2006/relationships/image" Target="../media/image16.png"/><Relationship Id="rId39" Type="http://schemas.openxmlformats.org/officeDocument/2006/relationships/image" Target="../media/image29.svg"/><Relationship Id="rId21" Type="http://schemas.microsoft.com/office/2007/relationships/hdphoto" Target="../media/hdphoto4.wdp"/><Relationship Id="rId34" Type="http://schemas.openxmlformats.org/officeDocument/2006/relationships/image" Target="../media/image24.png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png"/><Relationship Id="rId17" Type="http://schemas.openxmlformats.org/officeDocument/2006/relationships/image" Target="../media/image9.png"/><Relationship Id="rId25" Type="http://schemas.openxmlformats.org/officeDocument/2006/relationships/image" Target="../media/image15.svg"/><Relationship Id="rId33" Type="http://schemas.openxmlformats.org/officeDocument/2006/relationships/image" Target="../media/image23.svg"/><Relationship Id="rId38" Type="http://schemas.openxmlformats.org/officeDocument/2006/relationships/image" Target="../media/image28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8.png"/><Relationship Id="rId20" Type="http://schemas.openxmlformats.org/officeDocument/2006/relationships/image" Target="../media/image11.png"/><Relationship Id="rId29" Type="http://schemas.openxmlformats.org/officeDocument/2006/relationships/image" Target="../media/image19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emf"/><Relationship Id="rId11" Type="http://schemas.openxmlformats.org/officeDocument/2006/relationships/image" Target="../media/image5.jpeg"/><Relationship Id="rId24" Type="http://schemas.openxmlformats.org/officeDocument/2006/relationships/image" Target="../media/image14.png"/><Relationship Id="rId32" Type="http://schemas.openxmlformats.org/officeDocument/2006/relationships/image" Target="../media/image22.png"/><Relationship Id="rId37" Type="http://schemas.openxmlformats.org/officeDocument/2006/relationships/image" Target="../media/image27.svg"/><Relationship Id="rId5" Type="http://schemas.openxmlformats.org/officeDocument/2006/relationships/oleObject" Target="../embeddings/oleObject2.bin"/><Relationship Id="rId15" Type="http://schemas.openxmlformats.org/officeDocument/2006/relationships/image" Target="../media/image7.emf"/><Relationship Id="rId23" Type="http://schemas.openxmlformats.org/officeDocument/2006/relationships/image" Target="../media/image13.svg"/><Relationship Id="rId28" Type="http://schemas.openxmlformats.org/officeDocument/2006/relationships/image" Target="../media/image18.png"/><Relationship Id="rId36" Type="http://schemas.openxmlformats.org/officeDocument/2006/relationships/image" Target="../media/image26.png"/><Relationship Id="rId10" Type="http://schemas.microsoft.com/office/2007/relationships/hdphoto" Target="../media/hdphoto1.wdp"/><Relationship Id="rId19" Type="http://schemas.microsoft.com/office/2007/relationships/hdphoto" Target="../media/hdphoto3.wdp"/><Relationship Id="rId31" Type="http://schemas.openxmlformats.org/officeDocument/2006/relationships/image" Target="../media/image21.svg"/><Relationship Id="rId4" Type="http://schemas.openxmlformats.org/officeDocument/2006/relationships/image" Target="../media/image1.emf"/><Relationship Id="rId9" Type="http://schemas.openxmlformats.org/officeDocument/2006/relationships/image" Target="../media/image4.png"/><Relationship Id="rId14" Type="http://schemas.openxmlformats.org/officeDocument/2006/relationships/oleObject" Target="../embeddings/oleObject4.bin"/><Relationship Id="rId22" Type="http://schemas.openxmlformats.org/officeDocument/2006/relationships/image" Target="../media/image12.png"/><Relationship Id="rId27" Type="http://schemas.openxmlformats.org/officeDocument/2006/relationships/image" Target="../media/image17.svg"/><Relationship Id="rId30" Type="http://schemas.openxmlformats.org/officeDocument/2006/relationships/image" Target="../media/image20.png"/><Relationship Id="rId35" Type="http://schemas.openxmlformats.org/officeDocument/2006/relationships/image" Target="../media/image25.svg"/><Relationship Id="rId8" Type="http://schemas.openxmlformats.org/officeDocument/2006/relationships/image" Target="../media/image3.emf"/><Relationship Id="rId3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Box 56">
            <a:extLst>
              <a:ext uri="{FF2B5EF4-FFF2-40B4-BE49-F238E27FC236}">
                <a16:creationId xmlns:a16="http://schemas.microsoft.com/office/drawing/2014/main" id="{4C966A88-8853-2E5E-C8F9-6990BD96B6E0}"/>
              </a:ext>
            </a:extLst>
          </p:cNvPr>
          <p:cNvSpPr txBox="1"/>
          <p:nvPr/>
        </p:nvSpPr>
        <p:spPr>
          <a:xfrm>
            <a:off x="534484" y="3326330"/>
            <a:ext cx="9509760" cy="4829014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>
                <a:solidFill>
                  <a:srgbClr val="830051"/>
                </a:solidFill>
              </a14:hiddenLine>
            </a:ext>
          </a:extLst>
        </p:spPr>
        <p:txBody>
          <a:bodyPr wrap="square" tIns="91440" rtlCol="0">
            <a:spAutoFit/>
          </a:bodyPr>
          <a:lstStyle/>
          <a:p>
            <a:pPr>
              <a:lnSpc>
                <a:spcPct val="114000"/>
              </a:lnSpc>
              <a:spcAft>
                <a:spcPts val="1600"/>
              </a:spcAft>
            </a:pPr>
            <a:r>
              <a:rPr lang="en-US" sz="2800" dirty="0"/>
              <a:t>Next Generation Manufacturing (NGM) refers the development of new technologies for a </a:t>
            </a:r>
            <a:r>
              <a:rPr lang="en-US" sz="2800" b="1" dirty="0"/>
              <a:t>continuous bioprocess platform</a:t>
            </a:r>
            <a:r>
              <a:rPr lang="en-US" sz="2800" dirty="0"/>
              <a:t> to improve</a:t>
            </a:r>
            <a:r>
              <a:rPr lang="en-US" sz="2800" b="1" dirty="0"/>
              <a:t> efficiency, productivity, and sustainability</a:t>
            </a:r>
            <a:r>
              <a:rPr lang="en-US" sz="2800" dirty="0"/>
              <a:t> compared to the current batch manufacturing process.</a:t>
            </a:r>
          </a:p>
          <a:p>
            <a:pPr>
              <a:lnSpc>
                <a:spcPct val="114000"/>
              </a:lnSpc>
              <a:spcAft>
                <a:spcPts val="1600"/>
              </a:spcAft>
            </a:pPr>
            <a:r>
              <a:rPr lang="en-US" sz="2800" dirty="0"/>
              <a:t>Current-gen, batch diafiltration (DF), performed as a formulation buffer-exchange step, is time- and resource-intensive. Successful evaluation of hollow-fiber membranes for </a:t>
            </a:r>
            <a:r>
              <a:rPr lang="en-US" sz="2800" b="1" dirty="0"/>
              <a:t>continuous, countercurrent dialysis (C3D) can reduce buffer consumption by 80% </a:t>
            </a:r>
            <a:r>
              <a:rPr lang="en-US" sz="2800" dirty="0"/>
              <a:t>but still requires an ultrafiltration (UF) step. </a:t>
            </a:r>
            <a:endParaRPr lang="en-US" sz="2800" dirty="0">
              <a:cs typeface="Calibr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38975" y="432282"/>
            <a:ext cx="36347400" cy="66479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b="1" dirty="0">
                <a:solidFill>
                  <a:srgbClr val="830051"/>
                </a:solidFill>
                <a:latin typeface="Arial"/>
                <a:cs typeface="Arial"/>
              </a:rPr>
              <a:t>Asymmetric Dialysis: 12-Day Scale-Down Simultaneous Single-Pass Concentration and Buffer Exchange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8975" y="1685309"/>
            <a:ext cx="20790511" cy="4431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b="1" dirty="0">
                <a:solidFill>
                  <a:srgbClr val="830051"/>
                </a:solidFill>
                <a:latin typeface="Arial"/>
                <a:cs typeface="Arial"/>
              </a:rPr>
              <a:t>Michelle Chen</a:t>
            </a:r>
            <a:r>
              <a:rPr lang="en-US" sz="3200" b="1" baseline="30000" dirty="0">
                <a:solidFill>
                  <a:srgbClr val="830051"/>
                </a:solidFill>
                <a:latin typeface="Arial"/>
                <a:cs typeface="Arial"/>
              </a:rPr>
              <a:t>1</a:t>
            </a:r>
            <a:r>
              <a:rPr lang="en-US" sz="3200" b="1" dirty="0">
                <a:solidFill>
                  <a:srgbClr val="830051"/>
                </a:solidFill>
                <a:latin typeface="Arial"/>
                <a:cs typeface="Arial"/>
              </a:rPr>
              <a:t>, </a:t>
            </a:r>
            <a:r>
              <a:rPr lang="en-US" sz="3200" dirty="0">
                <a:solidFill>
                  <a:srgbClr val="830051"/>
                </a:solidFill>
                <a:latin typeface="Arial"/>
                <a:cs typeface="Arial"/>
              </a:rPr>
              <a:t>Ujwal Patil</a:t>
            </a:r>
            <a:r>
              <a:rPr lang="en-US" sz="3200" baseline="30000" dirty="0">
                <a:solidFill>
                  <a:srgbClr val="830051"/>
                </a:solidFill>
                <a:latin typeface="Arial"/>
                <a:cs typeface="Arial"/>
              </a:rPr>
              <a:t>1</a:t>
            </a:r>
            <a:r>
              <a:rPr lang="en-US" sz="3200" dirty="0">
                <a:solidFill>
                  <a:srgbClr val="830051"/>
                </a:solidFill>
                <a:latin typeface="Arial"/>
                <a:cs typeface="Arial"/>
              </a:rPr>
              <a:t>, Irina Ramos, Jon Coffman</a:t>
            </a:r>
            <a:r>
              <a:rPr lang="en-US" sz="3200" baseline="30000" dirty="0">
                <a:solidFill>
                  <a:srgbClr val="830051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8975" y="2228724"/>
            <a:ext cx="30023815" cy="3877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aseline="30000" dirty="0">
                <a:solidFill>
                  <a:srgbClr val="830051"/>
                </a:solidFill>
                <a:cs typeface="Arial"/>
              </a:rPr>
              <a:t>1</a:t>
            </a:r>
            <a:r>
              <a:rPr lang="en-US" sz="2800" dirty="0">
                <a:solidFill>
                  <a:srgbClr val="830051"/>
                </a:solidFill>
                <a:cs typeface="Arial"/>
              </a:rPr>
              <a:t>Bioprocess Technologies and Engineering, Biopharmaceutical Development, AstraZeneca, Gaithersburg, MD, USA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864021" y="20456044"/>
            <a:ext cx="13729347" cy="50778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380" i="1" dirty="0">
                <a:solidFill>
                  <a:schemeClr val="tx1"/>
                </a:solidFill>
                <a:cs typeface="Arial"/>
              </a:rPr>
              <a:t>Presented at the ACS Spring 2025 Meeting </a:t>
            </a:r>
          </a:p>
          <a:p>
            <a:pPr algn="ctr"/>
            <a:r>
              <a:rPr lang="it-IT" sz="1380" i="1" dirty="0">
                <a:solidFill>
                  <a:schemeClr val="tx1"/>
                </a:solidFill>
                <a:cs typeface="Arial"/>
              </a:rPr>
              <a:t>March 23-27,</a:t>
            </a:r>
            <a:r>
              <a:rPr lang="en-US" sz="1380" i="1" dirty="0">
                <a:solidFill>
                  <a:schemeClr val="tx1"/>
                </a:solidFill>
                <a:cs typeface="Arial"/>
              </a:rPr>
              <a:t> 2025, at the San Diego Convention Center, </a:t>
            </a:r>
            <a:r>
              <a:rPr lang="it-IT" sz="1380" i="1" dirty="0">
                <a:solidFill>
                  <a:schemeClr val="tx1"/>
                </a:solidFill>
                <a:cs typeface="Arial"/>
              </a:rPr>
              <a:t>San Diego, CA</a:t>
            </a:r>
            <a:endParaRPr lang="en-US" sz="1380" i="1" dirty="0">
              <a:solidFill>
                <a:schemeClr val="tx1"/>
              </a:solidFill>
              <a:cs typeface="Arial"/>
            </a:endParaRPr>
          </a:p>
          <a:p>
            <a:pPr algn="ctr"/>
            <a:endParaRPr lang="en-US" sz="1380" i="1" dirty="0">
              <a:solidFill>
                <a:schemeClr val="tx1"/>
              </a:solidFill>
              <a:cs typeface="Arial"/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39AE179E-F6D5-2056-437D-79F65A58E07C}"/>
              </a:ext>
            </a:extLst>
          </p:cNvPr>
          <p:cNvSpPr/>
          <p:nvPr/>
        </p:nvSpPr>
        <p:spPr>
          <a:xfrm>
            <a:off x="538975" y="2793817"/>
            <a:ext cx="9509760" cy="530352"/>
          </a:xfrm>
          <a:prstGeom prst="rect">
            <a:avLst/>
          </a:prstGeom>
          <a:solidFill>
            <a:srgbClr val="F0AB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1915" tIns="0" rIns="141915" bIns="35479" rtlCol="0" anchor="ctr"/>
          <a:lstStyle/>
          <a:p>
            <a:r>
              <a:rPr lang="en-US" sz="2800" b="1">
                <a:latin typeface="Arial"/>
                <a:cs typeface="Arial"/>
              </a:rPr>
              <a:t>Introduction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A4B1ECD-9E15-22D6-ED89-210F37069EA8}"/>
              </a:ext>
            </a:extLst>
          </p:cNvPr>
          <p:cNvSpPr txBox="1"/>
          <p:nvPr/>
        </p:nvSpPr>
        <p:spPr>
          <a:xfrm>
            <a:off x="10263990" y="3323351"/>
            <a:ext cx="13258800" cy="661720"/>
          </a:xfrm>
          <a:prstGeom prst="rect">
            <a:avLst/>
          </a:prstGeom>
          <a:noFill/>
        </p:spPr>
        <p:txBody>
          <a:bodyPr wrap="square" tIns="18288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800" dirty="0">
                <a:cs typeface="Calibri"/>
              </a:rPr>
              <a:t>In previous work, we have successfully demonstrated:</a:t>
            </a:r>
            <a:endParaRPr lang="en-US" sz="2800" dirty="0"/>
          </a:p>
        </p:txBody>
      </p:sp>
      <p:sp>
        <p:nvSpPr>
          <p:cNvPr id="500" name="Rectangle 499">
            <a:extLst>
              <a:ext uri="{FF2B5EF4-FFF2-40B4-BE49-F238E27FC236}">
                <a16:creationId xmlns:a16="http://schemas.microsoft.com/office/drawing/2014/main" id="{249A2E0C-185C-7B1D-6C8F-7F82DABB2224}"/>
              </a:ext>
            </a:extLst>
          </p:cNvPr>
          <p:cNvSpPr/>
          <p:nvPr/>
        </p:nvSpPr>
        <p:spPr>
          <a:xfrm>
            <a:off x="10263990" y="2793817"/>
            <a:ext cx="13258800" cy="530352"/>
          </a:xfrm>
          <a:prstGeom prst="rect">
            <a:avLst/>
          </a:prstGeom>
          <a:solidFill>
            <a:srgbClr val="F0AB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1915" tIns="0" rIns="141915" bIns="35479" rtlCol="0" anchor="ctr"/>
          <a:lstStyle/>
          <a:p>
            <a:r>
              <a:rPr lang="en-US" sz="2800" b="1" dirty="0">
                <a:latin typeface="Arial"/>
                <a:cs typeface="Arial"/>
              </a:rPr>
              <a:t>Process Intensification</a:t>
            </a:r>
          </a:p>
        </p:txBody>
      </p:sp>
      <p:sp>
        <p:nvSpPr>
          <p:cNvPr id="503" name="TextBox 502">
            <a:extLst>
              <a:ext uri="{FF2B5EF4-FFF2-40B4-BE49-F238E27FC236}">
                <a16:creationId xmlns:a16="http://schemas.microsoft.com/office/drawing/2014/main" id="{ADD7E0BD-E816-5908-3DE5-8B780E1D5DDF}"/>
              </a:ext>
            </a:extLst>
          </p:cNvPr>
          <p:cNvSpPr txBox="1"/>
          <p:nvPr/>
        </p:nvSpPr>
        <p:spPr>
          <a:xfrm>
            <a:off x="10263990" y="8001496"/>
            <a:ext cx="5866255" cy="1954381"/>
          </a:xfrm>
          <a:prstGeom prst="rect">
            <a:avLst/>
          </a:prstGeom>
          <a:noFill/>
        </p:spPr>
        <p:txBody>
          <a:bodyPr wrap="square" tIns="18288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800" dirty="0"/>
              <a:t>The NGM downstream process will require </a:t>
            </a:r>
            <a:r>
              <a:rPr lang="en-US" sz="2800" b="1" dirty="0"/>
              <a:t>at least 10 days of continuous downstream operation, </a:t>
            </a:r>
            <a:r>
              <a:rPr lang="en-US" sz="2800" dirty="0"/>
              <a:t>including the asymmetric dialysis process.</a:t>
            </a:r>
          </a:p>
        </p:txBody>
      </p:sp>
      <p:sp>
        <p:nvSpPr>
          <p:cNvPr id="504" name="Rectangle 503">
            <a:extLst>
              <a:ext uri="{FF2B5EF4-FFF2-40B4-BE49-F238E27FC236}">
                <a16:creationId xmlns:a16="http://schemas.microsoft.com/office/drawing/2014/main" id="{11613F2F-1C20-F9D3-C651-485167E919DE}"/>
              </a:ext>
            </a:extLst>
          </p:cNvPr>
          <p:cNvSpPr/>
          <p:nvPr/>
        </p:nvSpPr>
        <p:spPr>
          <a:xfrm>
            <a:off x="23738046" y="2793817"/>
            <a:ext cx="13167360" cy="530352"/>
          </a:xfrm>
          <a:prstGeom prst="rect">
            <a:avLst/>
          </a:prstGeom>
          <a:solidFill>
            <a:srgbClr val="83005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1915" tIns="0" rIns="141915" bIns="35479" rtlCol="0" anchor="ctr"/>
          <a:lstStyle/>
          <a:p>
            <a:r>
              <a:rPr lang="en-US" sz="2800" b="1" dirty="0">
                <a:latin typeface="Arial"/>
                <a:cs typeface="Arial"/>
              </a:rPr>
              <a:t>Results: Maintained Concentration &amp; Product Specifications at Steady-State</a:t>
            </a:r>
          </a:p>
        </p:txBody>
      </p:sp>
      <p:sp>
        <p:nvSpPr>
          <p:cNvPr id="506" name="Rectangle 505">
            <a:extLst>
              <a:ext uri="{FF2B5EF4-FFF2-40B4-BE49-F238E27FC236}">
                <a16:creationId xmlns:a16="http://schemas.microsoft.com/office/drawing/2014/main" id="{662352BC-CD9E-9CAD-B58F-260BA8283126}"/>
              </a:ext>
            </a:extLst>
          </p:cNvPr>
          <p:cNvSpPr/>
          <p:nvPr/>
        </p:nvSpPr>
        <p:spPr>
          <a:xfrm>
            <a:off x="10263990" y="15932393"/>
            <a:ext cx="18653760" cy="530352"/>
          </a:xfrm>
          <a:prstGeom prst="rect">
            <a:avLst/>
          </a:prstGeom>
          <a:solidFill>
            <a:srgbClr val="83005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1915" tIns="0" rIns="141915" bIns="35479" rtlCol="0" anchor="ctr"/>
          <a:lstStyle/>
          <a:p>
            <a:r>
              <a:rPr lang="en-US" sz="2800" b="1" dirty="0">
                <a:latin typeface="Arial"/>
                <a:cs typeface="Arial"/>
              </a:rPr>
              <a:t>Conclusions</a:t>
            </a:r>
          </a:p>
        </p:txBody>
      </p:sp>
      <p:sp>
        <p:nvSpPr>
          <p:cNvPr id="507" name="Rectangle 506">
            <a:extLst>
              <a:ext uri="{FF2B5EF4-FFF2-40B4-BE49-F238E27FC236}">
                <a16:creationId xmlns:a16="http://schemas.microsoft.com/office/drawing/2014/main" id="{2A1BD684-7115-55F3-666A-903E7F5FB049}"/>
              </a:ext>
            </a:extLst>
          </p:cNvPr>
          <p:cNvSpPr/>
          <p:nvPr/>
        </p:nvSpPr>
        <p:spPr>
          <a:xfrm>
            <a:off x="29133006" y="15932393"/>
            <a:ext cx="7772400" cy="530352"/>
          </a:xfrm>
          <a:prstGeom prst="rect">
            <a:avLst/>
          </a:prstGeom>
          <a:solidFill>
            <a:srgbClr val="83005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1915" tIns="0" rIns="141915" bIns="35479" rtlCol="0" anchor="ctr"/>
          <a:lstStyle/>
          <a:p>
            <a:r>
              <a:rPr lang="en-US" sz="2800" b="1" dirty="0">
                <a:latin typeface="Arial"/>
                <a:cs typeface="Arial"/>
              </a:rPr>
              <a:t>Next Steps</a:t>
            </a:r>
          </a:p>
        </p:txBody>
      </p:sp>
      <p:sp>
        <p:nvSpPr>
          <p:cNvPr id="508" name="TextBox 507">
            <a:extLst>
              <a:ext uri="{FF2B5EF4-FFF2-40B4-BE49-F238E27FC236}">
                <a16:creationId xmlns:a16="http://schemas.microsoft.com/office/drawing/2014/main" id="{32412D36-37C0-4083-A27C-C632F7B101B5}"/>
              </a:ext>
            </a:extLst>
          </p:cNvPr>
          <p:cNvSpPr txBox="1"/>
          <p:nvPr/>
        </p:nvSpPr>
        <p:spPr>
          <a:xfrm>
            <a:off x="29133006" y="16480482"/>
            <a:ext cx="7772400" cy="4047262"/>
          </a:xfrm>
          <a:prstGeom prst="rect">
            <a:avLst/>
          </a:prstGeom>
          <a:noFill/>
        </p:spPr>
        <p:txBody>
          <a:bodyPr wrap="square" tIns="91440" numCol="1" rtlCol="0">
            <a:spAutoFit/>
          </a:bodyPr>
          <a:lstStyle/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+mj-lt"/>
                <a:ea typeface="Open Sans" panose="020B0606030504020204" pitchFamily="34" charset="0"/>
                <a:cs typeface="Times New Roman" panose="02020603050405020304" pitchFamily="18" charset="0"/>
              </a:rPr>
              <a:t>Qualify hemodialyzers for bioprocess use 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/>
                </a:solidFill>
                <a:latin typeface="+mj-lt"/>
                <a:ea typeface="Open Sans" panose="020B0606030504020204" pitchFamily="34" charset="0"/>
                <a:cs typeface="Times New Roman" panose="02020603050405020304" pitchFamily="18" charset="0"/>
              </a:rPr>
              <a:t>Mitigate histidine deficiency </a:t>
            </a:r>
            <a:r>
              <a:rPr lang="en-US" sz="2800" dirty="0">
                <a:solidFill>
                  <a:schemeClr val="tx1"/>
                </a:solidFill>
                <a:latin typeface="+mj-lt"/>
                <a:ea typeface="Open Sans" panose="020B0606030504020204" pitchFamily="34" charset="0"/>
                <a:cs typeface="Times New Roman" panose="02020603050405020304" pitchFamily="18" charset="0"/>
              </a:rPr>
              <a:t>using established dialysis buffer compensation strategy 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/>
                </a:solidFill>
                <a:latin typeface="+mj-lt"/>
                <a:ea typeface="Open Sans" panose="020B0606030504020204" pitchFamily="34" charset="0"/>
                <a:cs typeface="Times New Roman" panose="02020603050405020304" pitchFamily="18" charset="0"/>
              </a:rPr>
              <a:t>Test asymmetric dialysis at-scale </a:t>
            </a:r>
            <a:r>
              <a:rPr lang="en-US" sz="2800" dirty="0">
                <a:solidFill>
                  <a:schemeClr val="tx1"/>
                </a:solidFill>
                <a:latin typeface="+mj-lt"/>
                <a:ea typeface="Open Sans" panose="020B0606030504020204" pitchFamily="34" charset="0"/>
                <a:cs typeface="Times New Roman" panose="02020603050405020304" pitchFamily="18" charset="0"/>
              </a:rPr>
              <a:t>for clinical and commercial-level membrane loading, in tandem with preceding purification process steps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+mj-lt"/>
                <a:ea typeface="Open Sans" panose="020B0606030504020204" pitchFamily="34" charset="0"/>
                <a:cs typeface="Times New Roman" panose="02020603050405020304" pitchFamily="18" charset="0"/>
              </a:rPr>
              <a:t>Test </a:t>
            </a:r>
            <a:r>
              <a:rPr lang="en-US" sz="2800" b="1" dirty="0">
                <a:solidFill>
                  <a:schemeClr val="tx1"/>
                </a:solidFill>
                <a:latin typeface="+mj-lt"/>
                <a:ea typeface="Open Sans" panose="020B0606030504020204" pitchFamily="34" charset="0"/>
                <a:cs typeface="Times New Roman" panose="02020603050405020304" pitchFamily="18" charset="0"/>
              </a:rPr>
              <a:t>flow and pressure regulators</a:t>
            </a:r>
            <a:r>
              <a:rPr lang="en-US" sz="2800" b="1" dirty="0">
                <a:latin typeface="+mj-lt"/>
                <a:ea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+mj-lt"/>
                <a:ea typeface="Open Sans" panose="020B0606030504020204" pitchFamily="34" charset="0"/>
                <a:cs typeface="Times New Roman" panose="02020603050405020304" pitchFamily="18" charset="0"/>
              </a:rPr>
              <a:t>as </a:t>
            </a:r>
            <a:r>
              <a:rPr lang="en-US" sz="2800" dirty="0">
                <a:solidFill>
                  <a:schemeClr val="tx1"/>
                </a:solidFill>
                <a:latin typeface="+mj-lt"/>
                <a:ea typeface="Open Sans" panose="020B0606030504020204" pitchFamily="34" charset="0"/>
                <a:cs typeface="Times New Roman" panose="02020603050405020304" pitchFamily="18" charset="0"/>
              </a:rPr>
              <a:t>product pump alternatives </a:t>
            </a:r>
            <a:endParaRPr lang="en-US" sz="2800" b="1" dirty="0">
              <a:solidFill>
                <a:schemeClr val="tx1"/>
              </a:solidFill>
              <a:latin typeface="+mj-lt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510" name="Object 509">
            <a:extLst>
              <a:ext uri="{FF2B5EF4-FFF2-40B4-BE49-F238E27FC236}">
                <a16:creationId xmlns:a16="http://schemas.microsoft.com/office/drawing/2014/main" id="{1EEA7F2A-5B42-BFDF-D622-95B997125C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55338" y="3856635"/>
          <a:ext cx="7060453" cy="59353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10" r:id="rId3" imgW="3866417" imgH="3251226" progId="Prism10.Document">
                  <p:embed/>
                </p:oleObj>
              </mc:Choice>
              <mc:Fallback>
                <p:oleObj name="Prism 10" r:id="rId3" imgW="3866417" imgH="3251226" progId="Prism10.Document">
                  <p:embed/>
                  <p:pic>
                    <p:nvPicPr>
                      <p:cNvPr id="510" name="Object 509">
                        <a:extLst>
                          <a:ext uri="{FF2B5EF4-FFF2-40B4-BE49-F238E27FC236}">
                            <a16:creationId xmlns:a16="http://schemas.microsoft.com/office/drawing/2014/main" id="{1EEA7F2A-5B42-BFDF-D622-95B997125C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655338" y="3856635"/>
                        <a:ext cx="7060453" cy="59353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1" name="Object 510">
            <a:extLst>
              <a:ext uri="{FF2B5EF4-FFF2-40B4-BE49-F238E27FC236}">
                <a16:creationId xmlns:a16="http://schemas.microsoft.com/office/drawing/2014/main" id="{E6ABE13E-7E0D-23AF-44B8-04B4EC64D4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279300" y="3856635"/>
          <a:ext cx="7218291" cy="582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10" r:id="rId5" imgW="4033880" imgH="3255546" progId="Prism10.Document">
                  <p:embed/>
                </p:oleObj>
              </mc:Choice>
              <mc:Fallback>
                <p:oleObj name="Prism 10" r:id="rId5" imgW="4033880" imgH="3255546" progId="Prism10.Document">
                  <p:embed/>
                  <p:pic>
                    <p:nvPicPr>
                      <p:cNvPr id="511" name="Object 510">
                        <a:extLst>
                          <a:ext uri="{FF2B5EF4-FFF2-40B4-BE49-F238E27FC236}">
                            <a16:creationId xmlns:a16="http://schemas.microsoft.com/office/drawing/2014/main" id="{E6ABE13E-7E0D-23AF-44B8-04B4EC64D4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279300" y="3856635"/>
                        <a:ext cx="7218291" cy="5822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" name="Rectangle 512">
            <a:extLst>
              <a:ext uri="{FF2B5EF4-FFF2-40B4-BE49-F238E27FC236}">
                <a16:creationId xmlns:a16="http://schemas.microsoft.com/office/drawing/2014/main" id="{5EA92E52-D1CB-E408-3A8E-EA0B894589E7}"/>
              </a:ext>
            </a:extLst>
          </p:cNvPr>
          <p:cNvSpPr/>
          <p:nvPr/>
        </p:nvSpPr>
        <p:spPr>
          <a:xfrm>
            <a:off x="10263990" y="7462025"/>
            <a:ext cx="13258800" cy="530352"/>
          </a:xfrm>
          <a:prstGeom prst="rect">
            <a:avLst/>
          </a:prstGeom>
          <a:solidFill>
            <a:srgbClr val="83005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1915" tIns="0" rIns="141915" bIns="35479" rtlCol="0" anchor="ctr"/>
          <a:lstStyle/>
          <a:p>
            <a:r>
              <a:rPr lang="en-US" sz="2800" b="1" dirty="0">
                <a:latin typeface="Arial"/>
                <a:cs typeface="Arial"/>
              </a:rPr>
              <a:t>Evaluating Long-Term Asymmetric Dialysis Operation on Scale-Down Model </a:t>
            </a:r>
          </a:p>
        </p:txBody>
      </p:sp>
      <p:graphicFrame>
        <p:nvGraphicFramePr>
          <p:cNvPr id="515" name="Object 514">
            <a:extLst>
              <a:ext uri="{FF2B5EF4-FFF2-40B4-BE49-F238E27FC236}">
                <a16:creationId xmlns:a16="http://schemas.microsoft.com/office/drawing/2014/main" id="{EBF63C34-DD78-749C-C5BA-9B2F9C8712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55338" y="10359904"/>
          <a:ext cx="7018337" cy="559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10" r:id="rId7" imgW="3790068" imgH="3020795" progId="Prism10.Document">
                  <p:embed/>
                </p:oleObj>
              </mc:Choice>
              <mc:Fallback>
                <p:oleObj name="Prism 10" r:id="rId7" imgW="3790068" imgH="3020795" progId="Prism10.Document">
                  <p:embed/>
                  <p:pic>
                    <p:nvPicPr>
                      <p:cNvPr id="515" name="Object 514">
                        <a:extLst>
                          <a:ext uri="{FF2B5EF4-FFF2-40B4-BE49-F238E27FC236}">
                            <a16:creationId xmlns:a16="http://schemas.microsoft.com/office/drawing/2014/main" id="{EBF63C34-DD78-749C-C5BA-9B2F9C8712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3655338" y="10359904"/>
                        <a:ext cx="7018337" cy="5595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6" name="Text Placeholder 5">
            <a:extLst>
              <a:ext uri="{FF2B5EF4-FFF2-40B4-BE49-F238E27FC236}">
                <a16:creationId xmlns:a16="http://schemas.microsoft.com/office/drawing/2014/main" id="{D2F3529A-6191-3F78-FF09-8983B9034DE5}"/>
              </a:ext>
            </a:extLst>
          </p:cNvPr>
          <p:cNvSpPr txBox="1">
            <a:spLocks/>
          </p:cNvSpPr>
          <p:nvPr/>
        </p:nvSpPr>
        <p:spPr>
          <a:xfrm>
            <a:off x="17853510" y="14702096"/>
            <a:ext cx="5669280" cy="681038"/>
          </a:xfrm>
          <a:prstGeom prst="roundRect">
            <a:avLst/>
          </a:prstGeom>
          <a:noFill/>
          <a:ln>
            <a:solidFill>
              <a:srgbClr val="3F4444"/>
            </a:solidFill>
          </a:ln>
        </p:spPr>
        <p:txBody>
          <a:bodyPr vert="horz" wrap="square" lIns="180000" tIns="91440" rIns="180000" bIns="91440" numCol="1" rtlCol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0800" marR="0" indent="-230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52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800" dirty="0">
                <a:solidFill>
                  <a:srgbClr val="830051"/>
                </a:solidFill>
              </a:rPr>
              <a:t>Product Flow Rate </a:t>
            </a:r>
            <a:r>
              <a:rPr lang="en-US" sz="2800" dirty="0"/>
              <a:t>&lt; 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Feed Flow Rate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56B7B6A-89EE-C7E5-8AF2-B1538C74439F}"/>
              </a:ext>
            </a:extLst>
          </p:cNvPr>
          <p:cNvGrpSpPr/>
          <p:nvPr/>
        </p:nvGrpSpPr>
        <p:grpSpPr>
          <a:xfrm>
            <a:off x="2163213" y="13983840"/>
            <a:ext cx="7138447" cy="2375788"/>
            <a:chOff x="1815288" y="13040821"/>
            <a:chExt cx="7138447" cy="2375788"/>
          </a:xfrm>
        </p:grpSpPr>
        <p:pic>
          <p:nvPicPr>
            <p:cNvPr id="20" name="Picture 2">
              <a:extLst>
                <a:ext uri="{FF2B5EF4-FFF2-40B4-BE49-F238E27FC236}">
                  <a16:creationId xmlns:a16="http://schemas.microsoft.com/office/drawing/2014/main" id="{E5DB4651-3992-0F42-33E8-C3262C4443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3704" b="97778" l="9375" r="94792">
                          <a14:foregroundMark x1="54167" y1="8889" x2="54167" y2="8889"/>
                          <a14:foregroundMark x1="55208" y1="3704" x2="55208" y2="3704"/>
                          <a14:foregroundMark x1="91667" y1="14444" x2="91667" y2="14444"/>
                          <a14:foregroundMark x1="63542" y1="88889" x2="63542" y2="88889"/>
                          <a14:foregroundMark x1="45833" y1="94815" x2="45833" y2="94815"/>
                          <a14:foregroundMark x1="54167" y1="98148" x2="54167" y2="98148"/>
                          <a14:foregroundMark x1="94792" y1="85185" x2="94792" y2="85185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26237" y="13314984"/>
              <a:ext cx="887618" cy="19261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521" name="Group 520">
              <a:extLst>
                <a:ext uri="{FF2B5EF4-FFF2-40B4-BE49-F238E27FC236}">
                  <a16:creationId xmlns:a16="http://schemas.microsoft.com/office/drawing/2014/main" id="{26E31BEF-A289-848A-FFCF-F9B7A1D47F14}"/>
                </a:ext>
              </a:extLst>
            </p:cNvPr>
            <p:cNvGrpSpPr/>
            <p:nvPr/>
          </p:nvGrpSpPr>
          <p:grpSpPr>
            <a:xfrm>
              <a:off x="1815288" y="13040821"/>
              <a:ext cx="7138447" cy="2375788"/>
              <a:chOff x="2729212" y="17801136"/>
              <a:chExt cx="7138447" cy="2375788"/>
            </a:xfrm>
          </p:grpSpPr>
          <p:grpSp>
            <p:nvGrpSpPr>
              <p:cNvPr id="423" name="Group 422">
                <a:extLst>
                  <a:ext uri="{FF2B5EF4-FFF2-40B4-BE49-F238E27FC236}">
                    <a16:creationId xmlns:a16="http://schemas.microsoft.com/office/drawing/2014/main" id="{35D347C5-62CE-97AF-FDC8-93E027AF6D18}"/>
                  </a:ext>
                </a:extLst>
              </p:cNvPr>
              <p:cNvGrpSpPr/>
              <p:nvPr/>
            </p:nvGrpSpPr>
            <p:grpSpPr>
              <a:xfrm>
                <a:off x="2729212" y="17801136"/>
                <a:ext cx="7138447" cy="2375788"/>
                <a:chOff x="10107248" y="17031027"/>
                <a:chExt cx="8307360" cy="2764827"/>
              </a:xfrm>
            </p:grpSpPr>
            <p:grpSp>
              <p:nvGrpSpPr>
                <p:cNvPr id="425" name="Group 424">
                  <a:extLst>
                    <a:ext uri="{FF2B5EF4-FFF2-40B4-BE49-F238E27FC236}">
                      <a16:creationId xmlns:a16="http://schemas.microsoft.com/office/drawing/2014/main" id="{D5A81F96-06BD-4D2D-09F9-8FF2BC41AD6F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0107248" y="17316775"/>
                  <a:ext cx="5061097" cy="2479079"/>
                  <a:chOff x="-6012137" y="15180894"/>
                  <a:chExt cx="9418353" cy="4613399"/>
                </a:xfrm>
              </p:grpSpPr>
              <p:grpSp>
                <p:nvGrpSpPr>
                  <p:cNvPr id="427" name="Group 426">
                    <a:extLst>
                      <a:ext uri="{FF2B5EF4-FFF2-40B4-BE49-F238E27FC236}">
                        <a16:creationId xmlns:a16="http://schemas.microsoft.com/office/drawing/2014/main" id="{4726F443-CC0E-1F32-CE1E-B6E5E82172C9}"/>
                      </a:ext>
                    </a:extLst>
                  </p:cNvPr>
                  <p:cNvGrpSpPr/>
                  <p:nvPr/>
                </p:nvGrpSpPr>
                <p:grpSpPr>
                  <a:xfrm>
                    <a:off x="-6012137" y="15180894"/>
                    <a:ext cx="9418353" cy="4613399"/>
                    <a:chOff x="2099972" y="715682"/>
                    <a:chExt cx="9418353" cy="4613399"/>
                  </a:xfrm>
                </p:grpSpPr>
                <p:cxnSp>
                  <p:nvCxnSpPr>
                    <p:cNvPr id="430" name="Connector: Elbow 429">
                      <a:extLst>
                        <a:ext uri="{FF2B5EF4-FFF2-40B4-BE49-F238E27FC236}">
                          <a16:creationId xmlns:a16="http://schemas.microsoft.com/office/drawing/2014/main" id="{3E8380E3-E68B-0AC7-4A2F-DD6A7291FE6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8247837" y="715682"/>
                      <a:ext cx="3270488" cy="4356621"/>
                    </a:xfrm>
                    <a:prstGeom prst="bentConnector3">
                      <a:avLst>
                        <a:gd name="adj1" fmla="val 50000"/>
                      </a:avLst>
                    </a:prstGeom>
                    <a:ln w="38100">
                      <a:gradFill>
                        <a:gsLst>
                          <a:gs pos="0">
                            <a:srgbClr val="3F4444"/>
                          </a:gs>
                          <a:gs pos="100000">
                            <a:srgbClr val="830051"/>
                          </a:gs>
                        </a:gsLst>
                        <a:lin ang="5400000" scaled="1"/>
                      </a:gradFill>
                      <a:tailEnd type="triangle" w="lg" len="lg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33" name="Connector: Elbow 432">
                      <a:extLst>
                        <a:ext uri="{FF2B5EF4-FFF2-40B4-BE49-F238E27FC236}">
                          <a16:creationId xmlns:a16="http://schemas.microsoft.com/office/drawing/2014/main" id="{8763211C-1D13-12A1-6752-F0110A6A3EF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>
                      <a:off x="9032299" y="2558214"/>
                      <a:ext cx="2971307" cy="551902"/>
                    </a:xfrm>
                    <a:prstGeom prst="bentConnector3">
                      <a:avLst>
                        <a:gd name="adj1" fmla="val 945"/>
                      </a:avLst>
                    </a:prstGeom>
                    <a:solidFill>
                      <a:schemeClr val="accent3">
                        <a:lumMod val="75000"/>
                      </a:schemeClr>
                    </a:solidFill>
                    <a:ln w="38100">
                      <a:solidFill>
                        <a:schemeClr val="accent3">
                          <a:lumMod val="75000"/>
                        </a:schemeClr>
                      </a:solidFill>
                      <a:miter lim="800000"/>
                      <a:tailEnd type="none" w="lg" len="lg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434" name="Content Placeholder 15">
                      <a:extLst>
                        <a:ext uri="{FF2B5EF4-FFF2-40B4-BE49-F238E27FC236}">
                          <a16:creationId xmlns:a16="http://schemas.microsoft.com/office/drawing/2014/main" id="{6F30BF8D-B810-5011-46BA-A7F3BCBA902E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>
                    <a:xfrm>
                      <a:off x="2099972" y="4195963"/>
                      <a:ext cx="6339766" cy="1133118"/>
                    </a:xfrm>
                    <a:prstGeom prst="rect">
                      <a:avLst/>
                    </a:prstGeom>
                  </p:spPr>
                  <p:txBody>
                    <a:bodyPr vert="horz" wrap="square" lIns="91440" tIns="45720" rIns="91440" bIns="45720" rtlCol="0">
                      <a:spAutoFit/>
                    </a:bodyPr>
                    <a:lstStyle>
                      <a:lvl1pPr marL="228600" indent="-2286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Font typeface="Arial" panose="020B0604020202020204" pitchFamily="34" charset="0"/>
                        <a:buChar char="•"/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576000" marR="0" indent="-28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 lang="en-US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792000" indent="-216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972000" indent="-216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defRPr lang="en-US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188000" indent="-2286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514600" indent="-228600" algn="l" defTabSz="914400" rtl="0" eaLnBrk="1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buChar char="•"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971800" indent="-228600" algn="l" defTabSz="914400" rtl="0" eaLnBrk="1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buChar char="•"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429000" indent="-228600" algn="l" defTabSz="914400" rtl="0" eaLnBrk="1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buChar char="•"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886200" indent="-228600" algn="l" defTabSz="914400" rtl="0" eaLnBrk="1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buChar char="•"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Low Conc Feed</a:t>
                      </a:r>
                    </a:p>
                  </p:txBody>
                </p:sp>
              </p:grpSp>
              <p:cxnSp>
                <p:nvCxnSpPr>
                  <p:cNvPr id="428" name="Connector: Elbow 427">
                    <a:extLst>
                      <a:ext uri="{FF2B5EF4-FFF2-40B4-BE49-F238E27FC236}">
                        <a16:creationId xmlns:a16="http://schemas.microsoft.com/office/drawing/2014/main" id="{6E02477D-A627-4E63-C637-6E42D3A1A6C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114855" y="18785025"/>
                    <a:ext cx="1151159" cy="27504"/>
                  </a:xfrm>
                  <a:prstGeom prst="bentConnector3">
                    <a:avLst>
                      <a:gd name="adj1" fmla="val 850"/>
                    </a:avLst>
                  </a:prstGeom>
                  <a:solidFill>
                    <a:schemeClr val="accent3">
                      <a:lumMod val="75000"/>
                    </a:schemeClr>
                  </a:solidFill>
                  <a:ln w="38100">
                    <a:solidFill>
                      <a:schemeClr val="accent3">
                        <a:lumMod val="75000"/>
                      </a:schemeClr>
                    </a:solidFill>
                    <a:miter lim="800000"/>
                    <a:tailEnd type="triangl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26" name="Content Placeholder 15">
                  <a:extLst>
                    <a:ext uri="{FF2B5EF4-FFF2-40B4-BE49-F238E27FC236}">
                      <a16:creationId xmlns:a16="http://schemas.microsoft.com/office/drawing/2014/main" id="{D2774E70-81E5-FFF2-6E63-AAD8544C1B2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4812356" y="17031027"/>
                  <a:ext cx="3602252" cy="1110343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28600" indent="-22860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1200"/>
                    </a:spcAft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576000" marR="0" indent="-28800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800"/>
                    </a:spcAft>
                    <a:buClrTx/>
                    <a:buSzPct val="100000"/>
                    <a:buFont typeface="Arial" panose="020B0604020202020204" pitchFamily="34" charset="0"/>
                    <a:buChar char="•"/>
                    <a:tabLst/>
                    <a:defRPr lang="en-US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92000" indent="-21600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800"/>
                    </a:spcAft>
                    <a:buClrTx/>
                    <a:buSzPct val="100000"/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972000" indent="-21600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800"/>
                    </a:spcAft>
                    <a:buClrTx/>
                    <a:buSzPct val="100000"/>
                    <a:buFont typeface="Arial" panose="020B0604020202020204" pitchFamily="34" charset="0"/>
                    <a:buChar char="•"/>
                    <a:defRPr lang="en-US" sz="2000" kern="1200" dirty="0" smtClean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188000" indent="-22860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800"/>
                    </a:spcAft>
                    <a:buClrTx/>
                    <a:buSzPct val="100000"/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spcAft>
                      <a:spcPts val="0"/>
                    </a:spcAft>
                    <a:buNone/>
                  </a:pPr>
                  <a:r>
                    <a:rPr lang="en-US" sz="2800" b="1" dirty="0">
                      <a:solidFill>
                        <a:srgbClr val="830051"/>
                      </a:solidFill>
                    </a:rPr>
                    <a:t>Concentrated &amp; Dialyzed Product</a:t>
                  </a:r>
                  <a:endParaRPr lang="en-US" sz="2800" dirty="0">
                    <a:solidFill>
                      <a:srgbClr val="830051"/>
                    </a:solidFill>
                  </a:endParaRPr>
                </a:p>
              </p:txBody>
            </p:sp>
          </p:grpSp>
          <p:sp>
            <p:nvSpPr>
              <p:cNvPr id="518" name="Not Equal 517">
                <a:extLst>
                  <a:ext uri="{FF2B5EF4-FFF2-40B4-BE49-F238E27FC236}">
                    <a16:creationId xmlns:a16="http://schemas.microsoft.com/office/drawing/2014/main" id="{50E534B6-FE8E-D775-59AB-30C1F8D169B2}"/>
                  </a:ext>
                </a:extLst>
              </p:cNvPr>
              <p:cNvSpPr/>
              <p:nvPr/>
            </p:nvSpPr>
            <p:spPr>
              <a:xfrm flipH="1">
                <a:off x="6584282" y="18833551"/>
                <a:ext cx="808049" cy="375141"/>
              </a:xfrm>
              <a:prstGeom prst="mathNotEqual">
                <a:avLst>
                  <a:gd name="adj1" fmla="val 13494"/>
                  <a:gd name="adj2" fmla="val 6600000"/>
                  <a:gd name="adj3" fmla="val 28716"/>
                </a:avLst>
              </a:prstGeom>
              <a:solidFill>
                <a:schemeClr val="accent3">
                  <a:lumMod val="75000"/>
                </a:schemeClr>
              </a:solidFill>
              <a:ln w="38100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/>
              </a:bodyPr>
              <a:lstStyle/>
              <a:p>
                <a:pPr algn="ctr">
                  <a:spcAft>
                    <a:spcPts val="600"/>
                  </a:spcAft>
                </a:pPr>
                <a:endParaRPr lang="en-US" sz="70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562" name="Rectangle: Rounded Corners 561">
            <a:extLst>
              <a:ext uri="{FF2B5EF4-FFF2-40B4-BE49-F238E27FC236}">
                <a16:creationId xmlns:a16="http://schemas.microsoft.com/office/drawing/2014/main" id="{B7B8B978-4D8E-3614-FDAF-D507A505F804}"/>
              </a:ext>
            </a:extLst>
          </p:cNvPr>
          <p:cNvSpPr/>
          <p:nvPr/>
        </p:nvSpPr>
        <p:spPr>
          <a:xfrm flipH="1">
            <a:off x="23964478" y="3392241"/>
            <a:ext cx="6400800" cy="681038"/>
          </a:xfrm>
          <a:prstGeom prst="roundRect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3">
                    <a:lumMod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91440" rIns="91440" bIns="91440" rtlCol="0" anchor="ctr">
            <a:sp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(A) Product mAb Concentration</a:t>
            </a:r>
          </a:p>
        </p:txBody>
      </p:sp>
      <p:sp>
        <p:nvSpPr>
          <p:cNvPr id="574" name="Rectangle: Rounded Corners 573">
            <a:extLst>
              <a:ext uri="{FF2B5EF4-FFF2-40B4-BE49-F238E27FC236}">
                <a16:creationId xmlns:a16="http://schemas.microsoft.com/office/drawing/2014/main" id="{D1D29E6C-AA0F-1F61-6089-01F522722992}"/>
              </a:ext>
            </a:extLst>
          </p:cNvPr>
          <p:cNvSpPr/>
          <p:nvPr/>
        </p:nvSpPr>
        <p:spPr>
          <a:xfrm flipH="1">
            <a:off x="30667359" y="3392241"/>
            <a:ext cx="6400800" cy="681038"/>
          </a:xfrm>
          <a:prstGeom prst="roundRect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3">
                    <a:lumMod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91440" rIns="91440" bIns="91440" rtlCol="0" anchor="ctr">
            <a:sp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(C) Product pH and Conductivity </a:t>
            </a:r>
          </a:p>
        </p:txBody>
      </p:sp>
      <p:sp>
        <p:nvSpPr>
          <p:cNvPr id="575" name="Rectangle: Rounded Corners 574">
            <a:extLst>
              <a:ext uri="{FF2B5EF4-FFF2-40B4-BE49-F238E27FC236}">
                <a16:creationId xmlns:a16="http://schemas.microsoft.com/office/drawing/2014/main" id="{EF56DA94-75CB-4A31-7E78-32D4CECF1D68}"/>
              </a:ext>
            </a:extLst>
          </p:cNvPr>
          <p:cNvSpPr/>
          <p:nvPr/>
        </p:nvSpPr>
        <p:spPr>
          <a:xfrm flipH="1">
            <a:off x="30667359" y="9812807"/>
            <a:ext cx="6400800" cy="1157764"/>
          </a:xfrm>
          <a:prstGeom prst="roundRect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3">
                    <a:lumMod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91440" rIns="91440" bIns="91440" rtlCol="0" anchor="ctr">
            <a:sp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(D) Product Quality: Size Exclusion Chromatography % Monomer</a:t>
            </a:r>
          </a:p>
        </p:txBody>
      </p:sp>
      <p:sp>
        <p:nvSpPr>
          <p:cNvPr id="576" name="Rectangle: Rounded Corners 575">
            <a:extLst>
              <a:ext uri="{FF2B5EF4-FFF2-40B4-BE49-F238E27FC236}">
                <a16:creationId xmlns:a16="http://schemas.microsoft.com/office/drawing/2014/main" id="{1B7F49A4-6862-A86E-E027-F2D45D3F5387}"/>
              </a:ext>
            </a:extLst>
          </p:cNvPr>
          <p:cNvSpPr/>
          <p:nvPr/>
        </p:nvSpPr>
        <p:spPr>
          <a:xfrm flipH="1">
            <a:off x="23964478" y="9897013"/>
            <a:ext cx="6400800" cy="681038"/>
          </a:xfrm>
          <a:prstGeom prst="roundRect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3">
                    <a:lumMod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91440" rIns="91440" bIns="91440" rtlCol="0" anchor="ctr">
            <a:sp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(B) Transmembrane Pressure Profile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1730867-90F1-B045-06A2-DFAE44BE41E0}"/>
              </a:ext>
            </a:extLst>
          </p:cNvPr>
          <p:cNvGrpSpPr/>
          <p:nvPr/>
        </p:nvGrpSpPr>
        <p:grpSpPr>
          <a:xfrm>
            <a:off x="1017864" y="14367764"/>
            <a:ext cx="3809137" cy="1469581"/>
            <a:chOff x="492339" y="18237884"/>
            <a:chExt cx="3331915" cy="1469581"/>
          </a:xfrm>
        </p:grpSpPr>
        <p:sp>
          <p:nvSpPr>
            <p:cNvPr id="5" name="Text Placeholder 5">
              <a:extLst>
                <a:ext uri="{FF2B5EF4-FFF2-40B4-BE49-F238E27FC236}">
                  <a16:creationId xmlns:a16="http://schemas.microsoft.com/office/drawing/2014/main" id="{BF4B3921-C467-CF14-1567-04CA1BD9064A}"/>
                </a:ext>
              </a:extLst>
            </p:cNvPr>
            <p:cNvSpPr txBox="1">
              <a:spLocks/>
            </p:cNvSpPr>
            <p:nvPr/>
          </p:nvSpPr>
          <p:spPr>
            <a:xfrm>
              <a:off x="492339" y="18237884"/>
              <a:ext cx="3136948" cy="1115347"/>
            </a:xfrm>
            <a:prstGeom prst="roundRect">
              <a:avLst/>
            </a:prstGeom>
            <a:noFill/>
            <a:ln>
              <a:solidFill>
                <a:srgbClr val="3F4444"/>
              </a:solidFill>
            </a:ln>
          </p:spPr>
          <p:txBody>
            <a:bodyPr vert="horz" wrap="square" lIns="180000" tIns="91440" rIns="180000" bIns="91440" numCol="1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60800" marR="0" indent="-2304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Pct val="100000"/>
                <a:buFont typeface="Arial" panose="020B0604020202020204" pitchFamily="34" charset="0"/>
                <a:buChar char="•"/>
                <a:tabLst/>
                <a:defRPr lang="en-US" sz="24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91200" indent="-2304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Pct val="100000"/>
                <a:buFont typeface="Arial" panose="020B0604020202020204" pitchFamily="34" charset="0"/>
                <a:buChar char="•"/>
                <a:defRPr lang="en-US" sz="20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21600" indent="-2304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Pct val="100000"/>
                <a:buFont typeface="Arial" panose="020B0604020202020204" pitchFamily="34" charset="0"/>
                <a:buChar char="•"/>
                <a:defRPr lang="en-US" sz="20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52000" indent="-2286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Pct val="100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lang="en-US" sz="280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57C97D7-4050-F36D-821E-E57217B4ACBD}"/>
                </a:ext>
              </a:extLst>
            </p:cNvPr>
            <p:cNvGrpSpPr/>
            <p:nvPr/>
          </p:nvGrpSpPr>
          <p:grpSpPr>
            <a:xfrm>
              <a:off x="492497" y="18282890"/>
              <a:ext cx="3331757" cy="1424575"/>
              <a:chOff x="1777459" y="18215395"/>
              <a:chExt cx="3331757" cy="1424575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B922869-4F22-076F-A949-BCB8AF7F0A71}"/>
                  </a:ext>
                </a:extLst>
              </p:cNvPr>
              <p:cNvSpPr txBox="1"/>
              <p:nvPr/>
            </p:nvSpPr>
            <p:spPr>
              <a:xfrm>
                <a:off x="2056967" y="18215395"/>
                <a:ext cx="30522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ctr">
                  <a:spcAft>
                    <a:spcPts val="0"/>
                  </a:spcAft>
                  <a:buNone/>
                </a:pPr>
                <a:r>
                  <a:rPr lang="en-US" sz="2800" dirty="0">
                    <a:solidFill>
                      <a:schemeClr val="accent3">
                        <a:lumMod val="75000"/>
                      </a:schemeClr>
                    </a:solidFill>
                  </a:rPr>
                  <a:t>Fresh Dialysis Buffer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03495A1-53F0-0529-2B44-6D2AA9B57B9A}"/>
                  </a:ext>
                </a:extLst>
              </p:cNvPr>
              <p:cNvSpPr txBox="1"/>
              <p:nvPr/>
            </p:nvSpPr>
            <p:spPr>
              <a:xfrm>
                <a:off x="2285047" y="18685863"/>
                <a:ext cx="2494519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ctr">
                  <a:spcAft>
                    <a:spcPts val="0"/>
                  </a:spcAft>
                  <a:buNone/>
                </a:pPr>
                <a:r>
                  <a:rPr lang="en-US" sz="2800" dirty="0">
                    <a:solidFill>
                      <a:srgbClr val="830051"/>
                    </a:solidFill>
                  </a:rPr>
                  <a:t>Retentate Product</a:t>
                </a:r>
              </a:p>
            </p:txBody>
          </p:sp>
          <p:sp>
            <p:nvSpPr>
              <p:cNvPr id="10" name="Content Placeholder 15">
                <a:extLst>
                  <a:ext uri="{FF2B5EF4-FFF2-40B4-BE49-F238E27FC236}">
                    <a16:creationId xmlns:a16="http://schemas.microsoft.com/office/drawing/2014/main" id="{E83D0851-702C-CCE2-3EDD-DD1484546A5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77459" y="18489375"/>
                <a:ext cx="2146512" cy="523220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76000" marR="0" indent="-2880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Pct val="100000"/>
                  <a:buFont typeface="Arial" panose="020B0604020202020204" pitchFamily="34" charset="0"/>
                  <a:buChar char="•"/>
                  <a:tabLst/>
                  <a:defRPr lang="en-US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92000" indent="-2160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Pct val="100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72000" indent="-2160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Pct val="100000"/>
                  <a:buFont typeface="Arial" panose="020B0604020202020204" pitchFamily="34" charset="0"/>
                  <a:buChar char="•"/>
                  <a:defRPr lang="en-US" sz="2000" kern="1200" dirty="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188000" indent="-2286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Pct val="100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spcAft>
                    <a:spcPts val="0"/>
                  </a:spcAft>
                  <a:buNone/>
                </a:pPr>
                <a:r>
                  <a:rPr lang="el-GR" sz="2800" b="1" dirty="0"/>
                  <a:t>α</a:t>
                </a:r>
                <a:r>
                  <a:rPr lang="en-US" sz="2800" b="1" dirty="0"/>
                  <a:t>’= </a:t>
                </a:r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9F01CA09-8F74-D135-72E9-CC93809209F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35187" y="18679843"/>
                <a:ext cx="2483904" cy="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92" name="Group 491">
            <a:extLst>
              <a:ext uri="{FF2B5EF4-FFF2-40B4-BE49-F238E27FC236}">
                <a16:creationId xmlns:a16="http://schemas.microsoft.com/office/drawing/2014/main" id="{563255BE-FABC-6DBD-6548-310A66EC15A2}"/>
              </a:ext>
            </a:extLst>
          </p:cNvPr>
          <p:cNvGrpSpPr/>
          <p:nvPr/>
        </p:nvGrpSpPr>
        <p:grpSpPr>
          <a:xfrm>
            <a:off x="10150119" y="8265783"/>
            <a:ext cx="14059024" cy="7219871"/>
            <a:chOff x="11534248" y="8723925"/>
            <a:chExt cx="12986006" cy="6848412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8BD04557-DD85-0DF3-659C-D0ABBE9781BC}"/>
                </a:ext>
              </a:extLst>
            </p:cNvPr>
            <p:cNvGrpSpPr/>
            <p:nvPr/>
          </p:nvGrpSpPr>
          <p:grpSpPr>
            <a:xfrm>
              <a:off x="11534248" y="8723925"/>
              <a:ext cx="12986006" cy="6848412"/>
              <a:chOff x="10243777" y="12675327"/>
              <a:chExt cx="12986006" cy="6848412"/>
            </a:xfrm>
          </p:grpSpPr>
          <p:grpSp>
            <p:nvGrpSpPr>
              <p:cNvPr id="186" name="Group 185">
                <a:extLst>
                  <a:ext uri="{FF2B5EF4-FFF2-40B4-BE49-F238E27FC236}">
                    <a16:creationId xmlns:a16="http://schemas.microsoft.com/office/drawing/2014/main" id="{81D90D0E-E224-992D-C4D8-2C80A6AC5290}"/>
                  </a:ext>
                </a:extLst>
              </p:cNvPr>
              <p:cNvGrpSpPr/>
              <p:nvPr/>
            </p:nvGrpSpPr>
            <p:grpSpPr>
              <a:xfrm>
                <a:off x="10243777" y="12675327"/>
                <a:ext cx="12986006" cy="6848412"/>
                <a:chOff x="9866902" y="12319175"/>
                <a:chExt cx="12986006" cy="6848412"/>
              </a:xfrm>
            </p:grpSpPr>
            <p:grpSp>
              <p:nvGrpSpPr>
                <p:cNvPr id="292" name="Group 291">
                  <a:extLst>
                    <a:ext uri="{FF2B5EF4-FFF2-40B4-BE49-F238E27FC236}">
                      <a16:creationId xmlns:a16="http://schemas.microsoft.com/office/drawing/2014/main" id="{5C1C31F5-710E-7F33-4F3B-942E93C803D5}"/>
                    </a:ext>
                  </a:extLst>
                </p:cNvPr>
                <p:cNvGrpSpPr/>
                <p:nvPr/>
              </p:nvGrpSpPr>
              <p:grpSpPr>
                <a:xfrm flipH="1">
                  <a:off x="9866902" y="12319175"/>
                  <a:ext cx="12986006" cy="6848412"/>
                  <a:chOff x="9804217" y="12372789"/>
                  <a:chExt cx="12986006" cy="6848412"/>
                </a:xfrm>
              </p:grpSpPr>
              <p:grpSp>
                <p:nvGrpSpPr>
                  <p:cNvPr id="294" name="Group 293">
                    <a:extLst>
                      <a:ext uri="{FF2B5EF4-FFF2-40B4-BE49-F238E27FC236}">
                        <a16:creationId xmlns:a16="http://schemas.microsoft.com/office/drawing/2014/main" id="{BFBDE362-2D86-DC55-DC85-8514D02EFF61}"/>
                      </a:ext>
                    </a:extLst>
                  </p:cNvPr>
                  <p:cNvGrpSpPr/>
                  <p:nvPr/>
                </p:nvGrpSpPr>
                <p:grpSpPr>
                  <a:xfrm>
                    <a:off x="9804217" y="12372789"/>
                    <a:ext cx="12986006" cy="6848412"/>
                    <a:chOff x="9502265" y="8994607"/>
                    <a:chExt cx="12986006" cy="6848412"/>
                  </a:xfrm>
                </p:grpSpPr>
                <p:pic>
                  <p:nvPicPr>
                    <p:cNvPr id="297" name="Picture 2" descr="What are Pump P&amp;ID Symbols?">
                      <a:extLst>
                        <a:ext uri="{FF2B5EF4-FFF2-40B4-BE49-F238E27FC236}">
                          <a16:creationId xmlns:a16="http://schemas.microsoft.com/office/drawing/2014/main" id="{81F3A16F-7756-A90D-7604-FCEDCA913418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11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25602" t="6253" r="25062" b="34190"/>
                    <a:stretch/>
                  </p:blipFill>
                  <p:spPr bwMode="auto">
                    <a:xfrm>
                      <a:off x="15165355" y="10534355"/>
                      <a:ext cx="963658" cy="827517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298" name="Picture 2" descr="What are Pump P&amp;ID Symbols?">
                      <a:extLst>
                        <a:ext uri="{FF2B5EF4-FFF2-40B4-BE49-F238E27FC236}">
                          <a16:creationId xmlns:a16="http://schemas.microsoft.com/office/drawing/2014/main" id="{AF17EEE9-7F00-8E45-14BF-99EEB2491007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11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25602" t="6253" r="25062" b="34190"/>
                    <a:stretch/>
                  </p:blipFill>
                  <p:spPr bwMode="auto">
                    <a:xfrm>
                      <a:off x="16460772" y="15015502"/>
                      <a:ext cx="963658" cy="827517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299" name="Picture 2" descr="What are Pump P&amp;ID Symbols?">
                      <a:extLst>
                        <a:ext uri="{FF2B5EF4-FFF2-40B4-BE49-F238E27FC236}">
                          <a16:creationId xmlns:a16="http://schemas.microsoft.com/office/drawing/2014/main" id="{9DE500D2-DE4D-0B95-A1C4-A1E3FF983903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11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25602" t="6253" r="25062" b="34190"/>
                    <a:stretch/>
                  </p:blipFill>
                  <p:spPr bwMode="auto">
                    <a:xfrm>
                      <a:off x="14210466" y="11773852"/>
                      <a:ext cx="963658" cy="827517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301" name="Picture 2" descr="What are Pump P&amp;ID Symbols?">
                      <a:extLst>
                        <a:ext uri="{FF2B5EF4-FFF2-40B4-BE49-F238E27FC236}">
                          <a16:creationId xmlns:a16="http://schemas.microsoft.com/office/drawing/2014/main" id="{12F1E2AE-BB84-39DE-5827-CED05901885C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11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25602" t="6253" r="25062" b="34190"/>
                    <a:stretch/>
                  </p:blipFill>
                  <p:spPr bwMode="auto">
                    <a:xfrm>
                      <a:off x="14370259" y="13689602"/>
                      <a:ext cx="963658" cy="827517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cxnSp>
                  <p:nvCxnSpPr>
                    <p:cNvPr id="302" name="Connector: Elbow 301">
                      <a:extLst>
                        <a:ext uri="{FF2B5EF4-FFF2-40B4-BE49-F238E27FC236}">
                          <a16:creationId xmlns:a16="http://schemas.microsoft.com/office/drawing/2014/main" id="{B4804724-B540-B2FD-4792-C22183C24AA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16164068" y="14650941"/>
                      <a:ext cx="1336545" cy="919156"/>
                    </a:xfrm>
                    <a:prstGeom prst="bentConnector2">
                      <a:avLst/>
                    </a:prstGeom>
                    <a:ln w="76200">
                      <a:solidFill>
                        <a:srgbClr val="3F4444"/>
                      </a:solidFill>
                      <a:tailEnd type="triangle"/>
                    </a:ln>
                    <a:effectLst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3" name="Straight Arrow Connector 302">
                      <a:extLst>
                        <a:ext uri="{FF2B5EF4-FFF2-40B4-BE49-F238E27FC236}">
                          <a16:creationId xmlns:a16="http://schemas.microsoft.com/office/drawing/2014/main" id="{60DBD316-DB02-5BFC-22A7-FB77DD41E378}"/>
                        </a:ext>
                      </a:extLst>
                    </p:cNvPr>
                    <p:cNvCxnSpPr>
                      <a:cxnSpLocks/>
                      <a:endCxn id="295" idx="3"/>
                    </p:cNvCxnSpPr>
                    <p:nvPr/>
                  </p:nvCxnSpPr>
                  <p:spPr>
                    <a:xfrm flipH="1">
                      <a:off x="14184991" y="14182737"/>
                      <a:ext cx="2016339" cy="0"/>
                    </a:xfrm>
                    <a:prstGeom prst="straightConnector1">
                      <a:avLst/>
                    </a:prstGeom>
                    <a:solidFill>
                      <a:schemeClr val="accent3">
                        <a:lumMod val="75000"/>
                      </a:schemeClr>
                    </a:solidFill>
                    <a:ln w="76200">
                      <a:solidFill>
                        <a:srgbClr val="77933C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4" name="Straight Arrow Connector 303">
                      <a:extLst>
                        <a:ext uri="{FF2B5EF4-FFF2-40B4-BE49-F238E27FC236}">
                          <a16:creationId xmlns:a16="http://schemas.microsoft.com/office/drawing/2014/main" id="{53ABAD1F-AA52-5C65-025B-203BF29ACB4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3774096" y="12260336"/>
                      <a:ext cx="2051024" cy="14162"/>
                    </a:xfrm>
                    <a:prstGeom prst="straightConnector1">
                      <a:avLst/>
                    </a:prstGeom>
                    <a:solidFill>
                      <a:schemeClr val="accent3">
                        <a:lumMod val="75000"/>
                      </a:schemeClr>
                    </a:solidFill>
                    <a:ln w="38100">
                      <a:solidFill>
                        <a:srgbClr val="77933C"/>
                      </a:solidFill>
                      <a:tailEnd type="triangle" w="lg" len="lg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305" name="Triangle 114">
                      <a:extLst>
                        <a:ext uri="{FF2B5EF4-FFF2-40B4-BE49-F238E27FC236}">
                          <a16:creationId xmlns:a16="http://schemas.microsoft.com/office/drawing/2014/main" id="{83616968-D46A-13D6-3368-A46BC36E982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307582" y="13960562"/>
                      <a:ext cx="481929" cy="496400"/>
                    </a:xfrm>
                    <a:prstGeom prst="triangle">
                      <a:avLst/>
                    </a:prstGeom>
                    <a:solidFill>
                      <a:schemeClr val="accent4"/>
                    </a:solidFill>
                    <a:ln>
                      <a:noFill/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182880" rtlCol="0" anchor="ctr"/>
                    <a:lstStyle/>
                    <a:p>
                      <a:pPr algn="ctr"/>
                      <a:r>
                        <a:rPr lang="en-US" sz="2800"/>
                        <a:t>P</a:t>
                      </a:r>
                    </a:p>
                  </p:txBody>
                </p:sp>
                <p:sp>
                  <p:nvSpPr>
                    <p:cNvPr id="306" name="Rectangle: Rounded Corners 305">
                      <a:extLst>
                        <a:ext uri="{FF2B5EF4-FFF2-40B4-BE49-F238E27FC236}">
                          <a16:creationId xmlns:a16="http://schemas.microsoft.com/office/drawing/2014/main" id="{7808CAB4-57E2-2F0F-F211-FFE3848C3BD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59081" y="8994607"/>
                      <a:ext cx="5723785" cy="581399"/>
                    </a:xfrm>
                    <a:prstGeom prst="roundRect">
                      <a:avLst/>
                    </a:prstGeom>
                    <a:noFill/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square" lIns="91440" tIns="91440" rIns="91440" bIns="91440" rtlCol="0" anchor="ctr">
                      <a:spAutoFit/>
                    </a:bodyPr>
                    <a:lstStyle/>
                    <a:p>
                      <a:pPr algn="ctr"/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FlowVPX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: In-line Concentration Measurement </a:t>
                      </a:r>
                    </a:p>
                  </p:txBody>
                </p:sp>
                <p:sp>
                  <p:nvSpPr>
                    <p:cNvPr id="307" name="Triangle 114">
                      <a:extLst>
                        <a:ext uri="{FF2B5EF4-FFF2-40B4-BE49-F238E27FC236}">
                          <a16:creationId xmlns:a16="http://schemas.microsoft.com/office/drawing/2014/main" id="{1BB07FDB-3195-7DC7-BBDC-A843F5B00CC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923103" y="14983765"/>
                      <a:ext cx="481929" cy="496400"/>
                    </a:xfrm>
                    <a:prstGeom prst="triangle">
                      <a:avLst/>
                    </a:prstGeom>
                    <a:solidFill>
                      <a:schemeClr val="accent4"/>
                    </a:solidFill>
                    <a:ln>
                      <a:noFill/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182880" rtlCol="0" anchor="ctr"/>
                    <a:lstStyle/>
                    <a:p>
                      <a:pPr algn="ctr"/>
                      <a:r>
                        <a:rPr lang="en-US" sz="2800"/>
                        <a:t>P</a:t>
                      </a:r>
                    </a:p>
                  </p:txBody>
                </p:sp>
                <p:sp>
                  <p:nvSpPr>
                    <p:cNvPr id="308" name="Triangle 114">
                      <a:extLst>
                        <a:ext uri="{FF2B5EF4-FFF2-40B4-BE49-F238E27FC236}">
                          <a16:creationId xmlns:a16="http://schemas.microsoft.com/office/drawing/2014/main" id="{768B889B-B0E0-2E05-44D3-BE6290A7BA1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051156" y="11977392"/>
                      <a:ext cx="481929" cy="496400"/>
                    </a:xfrm>
                    <a:prstGeom prst="triangle">
                      <a:avLst/>
                    </a:prstGeom>
                    <a:solidFill>
                      <a:schemeClr val="accent4"/>
                    </a:solidFill>
                    <a:ln>
                      <a:noFill/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182880" rtlCol="0" anchor="ctr"/>
                    <a:lstStyle/>
                    <a:p>
                      <a:pPr algn="ctr"/>
                      <a:r>
                        <a:rPr lang="en-US" sz="2800"/>
                        <a:t>P</a:t>
                      </a:r>
                    </a:p>
                  </p:txBody>
                </p:sp>
                <p:sp>
                  <p:nvSpPr>
                    <p:cNvPr id="309" name="TextBox 308">
                      <a:extLst>
                        <a:ext uri="{FF2B5EF4-FFF2-40B4-BE49-F238E27FC236}">
                          <a16:creationId xmlns:a16="http://schemas.microsoft.com/office/drawing/2014/main" id="{CB5980F2-3206-E49B-25F6-D2281CB621C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7640020" y="14444347"/>
                      <a:ext cx="4848251" cy="131373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/>
                      <a:r>
                        <a:rPr lang="en-US" sz="2800" b="1" dirty="0">
                          <a:solidFill>
                            <a:srgbClr val="3F4444"/>
                          </a:solidFill>
                        </a:rPr>
                        <a:t>Feed Pool</a:t>
                      </a:r>
                    </a:p>
                    <a:p>
                      <a:pPr algn="r"/>
                      <a:r>
                        <a:rPr lang="de-DE" sz="2800" dirty="0">
                          <a:solidFill>
                            <a:srgbClr val="3F4444"/>
                          </a:solidFill>
                        </a:rPr>
                        <a:t>23 g/L mAb, at 1 LMH</a:t>
                      </a:r>
                    </a:p>
                    <a:p>
                      <a:pPr algn="r"/>
                      <a:r>
                        <a:rPr lang="en-US" sz="2800" dirty="0">
                          <a:solidFill>
                            <a:srgbClr val="3F4444"/>
                          </a:solidFill>
                        </a:rPr>
                        <a:t>pH 6.1, 12 mS/cm</a:t>
                      </a:r>
                    </a:p>
                  </p:txBody>
                </p:sp>
                <p:sp>
                  <p:nvSpPr>
                    <p:cNvPr id="310" name="TextBox 309">
                      <a:extLst>
                        <a:ext uri="{FF2B5EF4-FFF2-40B4-BE49-F238E27FC236}">
                          <a16:creationId xmlns:a16="http://schemas.microsoft.com/office/drawing/2014/main" id="{F03CD78D-A18A-ED86-8764-0625BE826F2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093575" y="12048280"/>
                      <a:ext cx="3723357" cy="90501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2800" b="1" dirty="0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Fresh Dialysate</a:t>
                      </a:r>
                    </a:p>
                    <a:p>
                      <a:r>
                        <a:rPr lang="en-US" sz="2800" dirty="0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Histidine buffer, pH 5.75</a:t>
                      </a:r>
                    </a:p>
                  </p:txBody>
                </p:sp>
                <p:sp>
                  <p:nvSpPr>
                    <p:cNvPr id="311" name="TextBox 310">
                      <a:extLst>
                        <a:ext uri="{FF2B5EF4-FFF2-40B4-BE49-F238E27FC236}">
                          <a16:creationId xmlns:a16="http://schemas.microsoft.com/office/drawing/2014/main" id="{3A2A27E4-C3E5-A6F6-E315-18E573959E7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502265" y="9974482"/>
                      <a:ext cx="4348995" cy="172245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2800" b="1" dirty="0">
                          <a:solidFill>
                            <a:srgbClr val="830051"/>
                          </a:solidFill>
                        </a:rPr>
                        <a:t>Concentrated &amp; </a:t>
                      </a:r>
                    </a:p>
                    <a:p>
                      <a:r>
                        <a:rPr lang="en-US" sz="2800" b="1" dirty="0">
                          <a:solidFill>
                            <a:srgbClr val="830051"/>
                          </a:solidFill>
                        </a:rPr>
                        <a:t>Dialyzed Product</a:t>
                      </a:r>
                    </a:p>
                    <a:p>
                      <a:r>
                        <a:rPr lang="en-US" sz="2800" dirty="0">
                          <a:solidFill>
                            <a:srgbClr val="830051"/>
                          </a:solidFill>
                        </a:rPr>
                        <a:t>Target: 220 g/L (9.6x); </a:t>
                      </a:r>
                    </a:p>
                    <a:p>
                      <a:r>
                        <a:rPr lang="en-US" sz="2800" dirty="0">
                          <a:solidFill>
                            <a:srgbClr val="830051"/>
                          </a:solidFill>
                        </a:rPr>
                        <a:t>pH: 5.6-6.2; Cond: &lt;2 mS/cm</a:t>
                      </a:r>
                    </a:p>
                  </p:txBody>
                </p:sp>
              </p:grpSp>
              <p:sp>
                <p:nvSpPr>
                  <p:cNvPr id="295" name="TextBox 294">
                    <a:extLst>
                      <a:ext uri="{FF2B5EF4-FFF2-40B4-BE49-F238E27FC236}">
                        <a16:creationId xmlns:a16="http://schemas.microsoft.com/office/drawing/2014/main" id="{750193E3-7C87-B5D0-0058-63DAC29DD8D0}"/>
                      </a:ext>
                    </a:extLst>
                  </p:cNvPr>
                  <p:cNvSpPr txBox="1"/>
                  <p:nvPr/>
                </p:nvSpPr>
                <p:spPr>
                  <a:xfrm>
                    <a:off x="11463437" y="17299309"/>
                    <a:ext cx="3023506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800" b="1" dirty="0">
                        <a:solidFill>
                          <a:schemeClr val="accent3">
                            <a:lumMod val="75000"/>
                          </a:schemeClr>
                        </a:solidFill>
                      </a:rPr>
                      <a:t>Permeate</a:t>
                    </a:r>
                    <a:r>
                      <a:rPr lang="en-US" sz="2800" dirty="0">
                        <a:solidFill>
                          <a:schemeClr val="accent3">
                            <a:lumMod val="75000"/>
                          </a:schemeClr>
                        </a:solidFill>
                      </a:rPr>
                      <a:t>/Waste</a:t>
                    </a:r>
                  </a:p>
                </p:txBody>
              </p:sp>
              <p:sp>
                <p:nvSpPr>
                  <p:cNvPr id="296" name="Not Equal 295">
                    <a:extLst>
                      <a:ext uri="{FF2B5EF4-FFF2-40B4-BE49-F238E27FC236}">
                        <a16:creationId xmlns:a16="http://schemas.microsoft.com/office/drawing/2014/main" id="{7A1E35BE-EC08-52B4-3CF6-FA98EFE7FF94}"/>
                      </a:ext>
                    </a:extLst>
                  </p:cNvPr>
                  <p:cNvSpPr/>
                  <p:nvPr/>
                </p:nvSpPr>
                <p:spPr>
                  <a:xfrm>
                    <a:off x="14750016" y="16362452"/>
                    <a:ext cx="868239" cy="447808"/>
                  </a:xfrm>
                  <a:prstGeom prst="mathNotEqual">
                    <a:avLst>
                      <a:gd name="adj1" fmla="val 16430"/>
                      <a:gd name="adj2" fmla="val 6600000"/>
                      <a:gd name="adj3" fmla="val 28716"/>
                    </a:avLst>
                  </a:prstGeom>
                  <a:solidFill>
                    <a:schemeClr val="accent3">
                      <a:lumMod val="75000"/>
                    </a:schemeClr>
                  </a:solidFill>
                  <a:ln>
                    <a:solidFill>
                      <a:srgbClr val="77933C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rmAutofit/>
                  </a:bodyPr>
                  <a:lstStyle/>
                  <a:p>
                    <a:pPr algn="ctr">
                      <a:spcAft>
                        <a:spcPts val="600"/>
                      </a:spcAft>
                    </a:pPr>
                    <a:endParaRPr lang="en-US" sz="700">
                      <a:solidFill>
                        <a:schemeClr val="tx1"/>
                      </a:solidFill>
                    </a:endParaRPr>
                  </a:p>
                </p:txBody>
              </p:sp>
            </p:grpSp>
            <p:cxnSp>
              <p:nvCxnSpPr>
                <p:cNvPr id="288" name="Connector: Elbow 287">
                  <a:extLst>
                    <a:ext uri="{FF2B5EF4-FFF2-40B4-BE49-F238E27FC236}">
                      <a16:creationId xmlns:a16="http://schemas.microsoft.com/office/drawing/2014/main" id="{D05EAB28-3783-91E8-237D-A1899D458E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191105" y="14409472"/>
                  <a:ext cx="2267412" cy="754864"/>
                </a:xfrm>
                <a:prstGeom prst="bentConnector3">
                  <a:avLst>
                    <a:gd name="adj1" fmla="val 53"/>
                  </a:avLst>
                </a:prstGeom>
                <a:ln w="28575">
                  <a:solidFill>
                    <a:srgbClr val="830051"/>
                  </a:solidFill>
                  <a:tailEnd type="triangle" w="lg" len="lg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188" name="Picture 2" descr="Spectroscopy system - FlowVPX® - Repligen">
                <a:extLst>
                  <a:ext uri="{FF2B5EF4-FFF2-40B4-BE49-F238E27FC236}">
                    <a16:creationId xmlns:a16="http://schemas.microsoft.com/office/drawing/2014/main" id="{04156295-3249-F426-E8BA-8BAADA1FA41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 cstate="print"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backgroundRemoval t="7800" b="98200" l="10000" r="90000">
                            <a14:foregroundMark x1="34800" y1="48000" x2="46000" y2="19600"/>
                            <a14:foregroundMark x1="46000" y1="19600" x2="62400" y2="19400"/>
                            <a14:foregroundMark x1="40000" y1="8600" x2="38800" y2="8400"/>
                            <a14:foregroundMark x1="28400" y1="16600" x2="28400" y2="16600"/>
                            <a14:foregroundMark x1="30800" y1="11200" x2="30800" y2="11200"/>
                            <a14:foregroundMark x1="34974" y1="16581" x2="34000" y2="20800"/>
                            <a14:foregroundMark x1="37000" y1="7800" x2="36110" y2="11655"/>
                            <a14:foregroundMark x1="69255" y1="18288" x2="70600" y2="20000"/>
                            <a14:foregroundMark x1="61800" y1="8800" x2="62621" y2="9845"/>
                            <a14:foregroundMark x1="36400" y1="93600" x2="62400" y2="90200"/>
                            <a14:foregroundMark x1="62000" y1="89400" x2="59800" y2="91200"/>
                            <a14:foregroundMark x1="59200" y1="91600" x2="60000" y2="90400"/>
                            <a14:foregroundMark x1="61800" y1="90600" x2="61944" y2="93332"/>
                            <a14:foregroundMark x1="74600" y1="76800" x2="73794" y2="81797"/>
                            <a14:foregroundMark x1="73212" y1="76564" x2="74651" y2="81656"/>
                            <a14:foregroundMark x1="74963" y1="76838" x2="73600" y2="81200"/>
                            <a14:foregroundMark x1="24614" y1="76981" x2="32800" y2="78800"/>
                            <a14:foregroundMark x1="24844" y1="76841" x2="25800" y2="80800"/>
                            <a14:foregroundMark x1="31400" y1="19400" x2="31400" y2="19400"/>
                            <a14:foregroundMark x1="31200" y1="10400" x2="31200" y2="10400"/>
                            <a14:foregroundMark x1="33000" y1="9000" x2="33000" y2="9000"/>
                            <a14:foregroundMark x1="35200" y1="8600" x2="35200" y2="8600"/>
                            <a14:foregroundMark x1="32200" y1="10200" x2="32200" y2="10200"/>
                            <a14:foregroundMark x1="29600" y1="12400" x2="29600" y2="12400"/>
                            <a14:foregroundMark x1="29000" y1="13000" x2="28600" y2="13600"/>
                            <a14:foregroundMark x1="28600" y1="15600" x2="28600" y2="15600"/>
                            <a14:backgroundMark x1="33400" y1="15400" x2="33400" y2="15400"/>
                            <a14:backgroundMark x1="33000" y1="13000" x2="34200" y2="15600"/>
                            <a14:backgroundMark x1="66000" y1="14000" x2="66400" y2="15000"/>
                            <a14:backgroundMark x1="67000" y1="14000" x2="63800" y2="14200"/>
                            <a14:backgroundMark x1="61800" y1="98000" x2="62600" y2="97400"/>
                            <a14:backgroundMark x1="64400" y1="96400" x2="61400" y2="97400"/>
                            <a14:backgroundMark x1="76200" y1="81400" x2="76800" y2="85000"/>
                            <a14:backgroundMark x1="76600" y1="73200" x2="76000" y2="77000"/>
                            <a14:backgroundMark x1="20800" y1="75600" x2="22600" y2="78200"/>
                            <a14:backgroundMark x1="34000" y1="14800" x2="35600" y2="16000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288835" y="13520901"/>
                <a:ext cx="1584083" cy="158408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83" name="Triangle 114">
                <a:extLst>
                  <a:ext uri="{FF2B5EF4-FFF2-40B4-BE49-F238E27FC236}">
                    <a16:creationId xmlns:a16="http://schemas.microsoft.com/office/drawing/2014/main" id="{F72F60EF-6D92-2F3F-EB22-3002C3413885}"/>
                  </a:ext>
                </a:extLst>
              </p:cNvPr>
              <p:cNvSpPr/>
              <p:nvPr/>
            </p:nvSpPr>
            <p:spPr>
              <a:xfrm flipH="1">
                <a:off x="16327016" y="14845353"/>
                <a:ext cx="481929" cy="496400"/>
              </a:xfrm>
              <a:prstGeom prst="triangle">
                <a:avLst/>
              </a:prstGeom>
              <a:solidFill>
                <a:schemeClr val="accent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182880" rtlCol="0" anchor="ctr"/>
              <a:lstStyle/>
              <a:p>
                <a:pPr algn="ctr"/>
                <a:r>
                  <a:rPr lang="en-US" sz="2800"/>
                  <a:t>P</a:t>
                </a:r>
              </a:p>
            </p:txBody>
          </p:sp>
        </p:grpSp>
        <p:pic>
          <p:nvPicPr>
            <p:cNvPr id="16" name="Picture 2">
              <a:extLst>
                <a:ext uri="{FF2B5EF4-FFF2-40B4-BE49-F238E27FC236}">
                  <a16:creationId xmlns:a16="http://schemas.microsoft.com/office/drawing/2014/main" id="{08D3755F-4524-2E38-F356-B623CA47DE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3704" b="97778" l="9375" r="94792">
                          <a14:foregroundMark x1="54167" y1="8889" x2="54167" y2="8889"/>
                          <a14:foregroundMark x1="55208" y1="3704" x2="55208" y2="3704"/>
                          <a14:foregroundMark x1="91667" y1="14444" x2="91667" y2="14444"/>
                          <a14:foregroundMark x1="63542" y1="88889" x2="63542" y2="88889"/>
                          <a14:foregroundMark x1="45833" y1="94815" x2="45833" y2="94815"/>
                          <a14:foregroundMark x1="54167" y1="98148" x2="54167" y2="98148"/>
                          <a14:foregroundMark x1="94792" y1="85185" x2="94792" y2="85185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473371" y="11577592"/>
              <a:ext cx="713057" cy="27870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BF958989-AB1D-4104-6126-83D19FD56C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50763" y="10447352"/>
          <a:ext cx="6833993" cy="55084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10" r:id="rId14" imgW="3765579" imgH="3034837" progId="Prism10.Document">
                  <p:embed/>
                </p:oleObj>
              </mc:Choice>
              <mc:Fallback>
                <p:oleObj name="Prism 10" r:id="rId14" imgW="3765579" imgH="3034837" progId="Prism10.Document">
                  <p:embed/>
                  <p:pic>
                    <p:nvPicPr>
                      <p:cNvPr id="18" name="Object 17">
                        <a:extLst>
                          <a:ext uri="{FF2B5EF4-FFF2-40B4-BE49-F238E27FC236}">
                            <a16:creationId xmlns:a16="http://schemas.microsoft.com/office/drawing/2014/main" id="{BF958989-AB1D-4104-6126-83D19FD56C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0450763" y="10447352"/>
                        <a:ext cx="6833993" cy="55084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18">
            <a:extLst>
              <a:ext uri="{FF2B5EF4-FFF2-40B4-BE49-F238E27FC236}">
                <a16:creationId xmlns:a16="http://schemas.microsoft.com/office/drawing/2014/main" id="{06A62FC7-1FB3-26A8-EDC9-F443DBFA470F}"/>
              </a:ext>
            </a:extLst>
          </p:cNvPr>
          <p:cNvSpPr/>
          <p:nvPr/>
        </p:nvSpPr>
        <p:spPr>
          <a:xfrm>
            <a:off x="538975" y="18918626"/>
            <a:ext cx="9509760" cy="365760"/>
          </a:xfrm>
          <a:prstGeom prst="rect">
            <a:avLst/>
          </a:prstGeom>
          <a:solidFill>
            <a:srgbClr val="F0AB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1915" tIns="0" rIns="141915" bIns="35479" rtlCol="0" anchor="ctr"/>
          <a:lstStyle/>
          <a:p>
            <a:r>
              <a:rPr lang="en-US" sz="2400" b="1" dirty="0">
                <a:latin typeface="Arial"/>
                <a:cs typeface="Arial"/>
              </a:rPr>
              <a:t>References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F9BA926B-C58D-60F6-FC9E-04042DF2D3C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42906" y="1183804"/>
            <a:ext cx="4762500" cy="129267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9047EADA-BAA4-F093-67D2-C23472F8A193}"/>
              </a:ext>
            </a:extLst>
          </p:cNvPr>
          <p:cNvSpPr txBox="1"/>
          <p:nvPr/>
        </p:nvSpPr>
        <p:spPr>
          <a:xfrm>
            <a:off x="538975" y="19281248"/>
            <a:ext cx="9509760" cy="707886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spAutoFit/>
          </a:bodyPr>
          <a:lstStyle/>
          <a:p>
            <a:pPr indent="-457200"/>
            <a:r>
              <a:rPr lang="en-US" sz="2000" dirty="0">
                <a:latin typeface="+mj-lt"/>
              </a:rPr>
              <a:t>Coffman, J., Patil, U., Ramos, I., (2023). (US Patent No. WO2023238098A1). U.S. Patent and Trademark Office.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A6EAEFC-C655-4C61-4C29-115F95E3E4A8}"/>
              </a:ext>
            </a:extLst>
          </p:cNvPr>
          <p:cNvSpPr txBox="1"/>
          <p:nvPr/>
        </p:nvSpPr>
        <p:spPr>
          <a:xfrm>
            <a:off x="904735" y="1197295"/>
            <a:ext cx="20790511" cy="3877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i="1" dirty="0">
                <a:solidFill>
                  <a:srgbClr val="830051"/>
                </a:solidFill>
                <a:latin typeface="Arial"/>
                <a:cs typeface="Arial"/>
              </a:rPr>
              <a:t>NEXT GENERATION MANUFACTURING</a:t>
            </a:r>
            <a:endParaRPr lang="en-US" sz="2800" b="1" i="1" baseline="30000" dirty="0">
              <a:solidFill>
                <a:srgbClr val="830051"/>
              </a:solidFill>
              <a:latin typeface="Arial"/>
              <a:cs typeface="Arial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86B9037-2BA6-D9D6-C345-92CCBF47AE9E}"/>
              </a:ext>
            </a:extLst>
          </p:cNvPr>
          <p:cNvGrpSpPr/>
          <p:nvPr/>
        </p:nvGrpSpPr>
        <p:grpSpPr>
          <a:xfrm>
            <a:off x="580204" y="12475375"/>
            <a:ext cx="9418320" cy="3995411"/>
            <a:chOff x="534484" y="12659497"/>
            <a:chExt cx="9418320" cy="3995411"/>
          </a:xfrm>
        </p:grpSpPr>
        <p:sp>
          <p:nvSpPr>
            <p:cNvPr id="421" name="Arrow: Right 420">
              <a:extLst>
                <a:ext uri="{FF2B5EF4-FFF2-40B4-BE49-F238E27FC236}">
                  <a16:creationId xmlns:a16="http://schemas.microsoft.com/office/drawing/2014/main" id="{DD5A4EA4-F78B-9456-1223-F61EA1F50C02}"/>
                </a:ext>
              </a:extLst>
            </p:cNvPr>
            <p:cNvSpPr/>
            <p:nvPr/>
          </p:nvSpPr>
          <p:spPr>
            <a:xfrm rot="5400000" flipV="1">
              <a:off x="4797768" y="12965252"/>
              <a:ext cx="983192" cy="371682"/>
            </a:xfrm>
            <a:prstGeom prst="rightArrow">
              <a:avLst>
                <a:gd name="adj1" fmla="val 50000"/>
                <a:gd name="adj2" fmla="val 116907"/>
              </a:avLst>
            </a:prstGeom>
            <a:solidFill>
              <a:srgbClr val="3F444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422" name="TextBox 421">
              <a:extLst>
                <a:ext uri="{FF2B5EF4-FFF2-40B4-BE49-F238E27FC236}">
                  <a16:creationId xmlns:a16="http://schemas.microsoft.com/office/drawing/2014/main" id="{FC7690DE-6DC5-F1D1-5341-D7CEA2C629FD}"/>
                </a:ext>
              </a:extLst>
            </p:cNvPr>
            <p:cNvSpPr txBox="1"/>
            <p:nvPr/>
          </p:nvSpPr>
          <p:spPr>
            <a:xfrm>
              <a:off x="1475835" y="12852399"/>
              <a:ext cx="370307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i="1" dirty="0"/>
                <a:t>Unified, single-pass</a:t>
              </a: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FD4591DB-0D3E-520C-D9AD-31C41E472F5E}"/>
                </a:ext>
              </a:extLst>
            </p:cNvPr>
            <p:cNvGrpSpPr/>
            <p:nvPr/>
          </p:nvGrpSpPr>
          <p:grpSpPr>
            <a:xfrm>
              <a:off x="534484" y="13607518"/>
              <a:ext cx="9418320" cy="3047390"/>
              <a:chOff x="534484" y="13607518"/>
              <a:chExt cx="9418320" cy="3047390"/>
            </a:xfrm>
          </p:grpSpPr>
          <p:sp>
            <p:nvSpPr>
              <p:cNvPr id="520" name="Content Placeholder 15">
                <a:extLst>
                  <a:ext uri="{FF2B5EF4-FFF2-40B4-BE49-F238E27FC236}">
                    <a16:creationId xmlns:a16="http://schemas.microsoft.com/office/drawing/2014/main" id="{D9C016BF-C6EE-BF6B-931E-FC25724531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437828" y="13691711"/>
                <a:ext cx="3703072" cy="578882"/>
              </a:xfrm>
              <a:prstGeom prst="roundRect">
                <a:avLst/>
              </a:prstGeom>
              <a:ln>
                <a:noFill/>
              </a:ln>
            </p:spPr>
            <p:txBody>
              <a:bodyPr vert="horz" wrap="square" lIns="9144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76000" marR="0" indent="-2880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Pct val="100000"/>
                  <a:buFont typeface="Arial" panose="020B0604020202020204" pitchFamily="34" charset="0"/>
                  <a:buChar char="•"/>
                  <a:tabLst/>
                  <a:defRPr lang="en-US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92000" indent="-2160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Pct val="100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72000" indent="-2160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Pct val="100000"/>
                  <a:buFont typeface="Arial" panose="020B0604020202020204" pitchFamily="34" charset="0"/>
                  <a:buChar char="•"/>
                  <a:defRPr lang="en-US" sz="2000" kern="1200" dirty="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188000" indent="-2286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Pct val="100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spcAft>
                    <a:spcPts val="0"/>
                  </a:spcAft>
                  <a:buNone/>
                </a:pPr>
                <a:r>
                  <a:rPr lang="en-US" sz="2800" b="1" cap="all" dirty="0"/>
                  <a:t>Asymmetric Dialysis </a:t>
                </a:r>
              </a:p>
            </p:txBody>
          </p:sp>
          <p:sp>
            <p:nvSpPr>
              <p:cNvPr id="85" name="Rectangle: Rounded Corners 84">
                <a:extLst>
                  <a:ext uri="{FF2B5EF4-FFF2-40B4-BE49-F238E27FC236}">
                    <a16:creationId xmlns:a16="http://schemas.microsoft.com/office/drawing/2014/main" id="{5D6BB378-EE77-7647-E060-457F0EF52A1B}"/>
                  </a:ext>
                </a:extLst>
              </p:cNvPr>
              <p:cNvSpPr/>
              <p:nvPr/>
            </p:nvSpPr>
            <p:spPr>
              <a:xfrm>
                <a:off x="534484" y="13607518"/>
                <a:ext cx="9418320" cy="3047390"/>
              </a:xfrm>
              <a:prstGeom prst="roundRect">
                <a:avLst/>
              </a:prstGeom>
              <a:noFill/>
              <a:ln w="76200">
                <a:solidFill>
                  <a:srgbClr val="3F4444"/>
                </a:solidFill>
                <a:prstDash val="sysDash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/>
              </a:p>
            </p:txBody>
          </p:sp>
        </p:grp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A49E436F-FFE3-EDF0-DECF-5F49876F47A7}"/>
              </a:ext>
            </a:extLst>
          </p:cNvPr>
          <p:cNvGrpSpPr/>
          <p:nvPr/>
        </p:nvGrpSpPr>
        <p:grpSpPr>
          <a:xfrm>
            <a:off x="730931" y="8067811"/>
            <a:ext cx="9050687" cy="4374612"/>
            <a:chOff x="532457" y="8663431"/>
            <a:chExt cx="9050687" cy="4374612"/>
          </a:xfrm>
        </p:grpSpPr>
        <p:grpSp>
          <p:nvGrpSpPr>
            <p:cNvPr id="484" name="Group 483">
              <a:extLst>
                <a:ext uri="{FF2B5EF4-FFF2-40B4-BE49-F238E27FC236}">
                  <a16:creationId xmlns:a16="http://schemas.microsoft.com/office/drawing/2014/main" id="{DB5B9221-2478-E186-4106-B226765D52F9}"/>
                </a:ext>
              </a:extLst>
            </p:cNvPr>
            <p:cNvGrpSpPr/>
            <p:nvPr/>
          </p:nvGrpSpPr>
          <p:grpSpPr>
            <a:xfrm>
              <a:off x="532457" y="8663431"/>
              <a:ext cx="9050687" cy="4374612"/>
              <a:chOff x="555658" y="8408309"/>
              <a:chExt cx="9050687" cy="4259220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7E46FA2-B864-D0DE-9956-2812DD93BC11}"/>
                  </a:ext>
                </a:extLst>
              </p:cNvPr>
              <p:cNvSpPr txBox="1"/>
              <p:nvPr/>
            </p:nvSpPr>
            <p:spPr>
              <a:xfrm>
                <a:off x="997136" y="8583547"/>
                <a:ext cx="449270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i="1" dirty="0">
                    <a:solidFill>
                      <a:schemeClr val="accent3">
                        <a:lumMod val="50000"/>
                      </a:schemeClr>
                    </a:solidFill>
                  </a:rPr>
                  <a:t>Two step process: UF + DF</a:t>
                </a:r>
              </a:p>
            </p:txBody>
          </p: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B435418F-E14B-F541-9A52-FBC1E14E53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10890" y="10943428"/>
                <a:ext cx="1276076" cy="728893"/>
              </a:xfrm>
              <a:prstGeom prst="straightConnector1">
                <a:avLst/>
              </a:prstGeom>
              <a:ln w="38100">
                <a:solidFill>
                  <a:schemeClr val="accent3"/>
                </a:solidFill>
                <a:prstDash val="sysDash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4C9F77F-BA50-F8CC-1522-EA0AD2F40281}"/>
                  </a:ext>
                </a:extLst>
              </p:cNvPr>
              <p:cNvSpPr txBox="1"/>
              <p:nvPr/>
            </p:nvSpPr>
            <p:spPr>
              <a:xfrm>
                <a:off x="7955137" y="9032894"/>
                <a:ext cx="1645920" cy="4494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DF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23310CD-3FDC-3E9A-D699-3B8C48C54C46}"/>
                  </a:ext>
                </a:extLst>
              </p:cNvPr>
              <p:cNvSpPr txBox="1"/>
              <p:nvPr/>
            </p:nvSpPr>
            <p:spPr>
              <a:xfrm>
                <a:off x="7955137" y="11113591"/>
                <a:ext cx="1645920" cy="4494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C3D</a:t>
                </a:r>
              </a:p>
            </p:txBody>
          </p:sp>
          <p:grpSp>
            <p:nvGrpSpPr>
              <p:cNvPr id="416" name="Group 415">
                <a:extLst>
                  <a:ext uri="{FF2B5EF4-FFF2-40B4-BE49-F238E27FC236}">
                    <a16:creationId xmlns:a16="http://schemas.microsoft.com/office/drawing/2014/main" id="{1C1B494A-FA51-3D19-EC7B-FB8D84F0DB9C}"/>
                  </a:ext>
                </a:extLst>
              </p:cNvPr>
              <p:cNvGrpSpPr/>
              <p:nvPr/>
            </p:nvGrpSpPr>
            <p:grpSpPr>
              <a:xfrm>
                <a:off x="633994" y="10036005"/>
                <a:ext cx="3616604" cy="1536623"/>
                <a:chOff x="2491723" y="10647955"/>
                <a:chExt cx="3527411" cy="1536623"/>
              </a:xfrm>
            </p:grpSpPr>
            <p:grpSp>
              <p:nvGrpSpPr>
                <p:cNvPr id="447" name="Group 446">
                  <a:extLst>
                    <a:ext uri="{FF2B5EF4-FFF2-40B4-BE49-F238E27FC236}">
                      <a16:creationId xmlns:a16="http://schemas.microsoft.com/office/drawing/2014/main" id="{135F559B-CC40-E53D-57AD-FF20AC155AE6}"/>
                    </a:ext>
                  </a:extLst>
                </p:cNvPr>
                <p:cNvGrpSpPr/>
                <p:nvPr/>
              </p:nvGrpSpPr>
              <p:grpSpPr>
                <a:xfrm>
                  <a:off x="2491723" y="10647955"/>
                  <a:ext cx="3527411" cy="1536623"/>
                  <a:chOff x="2491723" y="10647955"/>
                  <a:chExt cx="3527411" cy="1536623"/>
                </a:xfrm>
              </p:grpSpPr>
              <p:grpSp>
                <p:nvGrpSpPr>
                  <p:cNvPr id="449" name="Group 448">
                    <a:extLst>
                      <a:ext uri="{FF2B5EF4-FFF2-40B4-BE49-F238E27FC236}">
                        <a16:creationId xmlns:a16="http://schemas.microsoft.com/office/drawing/2014/main" id="{3C3239FC-0944-BD93-BF9C-A52463C7D37F}"/>
                      </a:ext>
                    </a:extLst>
                  </p:cNvPr>
                  <p:cNvGrpSpPr/>
                  <p:nvPr/>
                </p:nvGrpSpPr>
                <p:grpSpPr>
                  <a:xfrm>
                    <a:off x="3720135" y="11648618"/>
                    <a:ext cx="1429076" cy="535960"/>
                    <a:chOff x="4166145" y="14363555"/>
                    <a:chExt cx="1429076" cy="535960"/>
                  </a:xfrm>
                </p:grpSpPr>
                <p:pic>
                  <p:nvPicPr>
                    <p:cNvPr id="455" name="Picture 2">
                      <a:extLst>
                        <a:ext uri="{FF2B5EF4-FFF2-40B4-BE49-F238E27FC236}">
                          <a16:creationId xmlns:a16="http://schemas.microsoft.com/office/drawing/2014/main" id="{477648B0-D6E7-6A92-6FE0-3D9A35512954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17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5284" t="-1" r="12569" b="1723"/>
                    <a:stretch/>
                  </p:blipFill>
                  <p:spPr bwMode="auto">
                    <a:xfrm>
                      <a:off x="4166145" y="14363555"/>
                      <a:ext cx="1429076" cy="535960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cxnSp>
                  <p:nvCxnSpPr>
                    <p:cNvPr id="456" name="Straight Connector 455">
                      <a:extLst>
                        <a:ext uri="{FF2B5EF4-FFF2-40B4-BE49-F238E27FC236}">
                          <a16:creationId xmlns:a16="http://schemas.microsoft.com/office/drawing/2014/main" id="{31BD7A42-2E90-58BB-AC68-7FF7B718DE5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4291550" y="14453886"/>
                      <a:ext cx="1184969" cy="3622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450" name="Group 449">
                    <a:extLst>
                      <a:ext uri="{FF2B5EF4-FFF2-40B4-BE49-F238E27FC236}">
                        <a16:creationId xmlns:a16="http://schemas.microsoft.com/office/drawing/2014/main" id="{C27BFA6F-56E9-85CF-DA0D-EE20C5AA1EAD}"/>
                      </a:ext>
                    </a:extLst>
                  </p:cNvPr>
                  <p:cNvGrpSpPr/>
                  <p:nvPr/>
                </p:nvGrpSpPr>
                <p:grpSpPr>
                  <a:xfrm>
                    <a:off x="2491723" y="11034911"/>
                    <a:ext cx="1549744" cy="874462"/>
                    <a:chOff x="2316697" y="14271478"/>
                    <a:chExt cx="1549744" cy="874462"/>
                  </a:xfrm>
                </p:grpSpPr>
                <p:sp>
                  <p:nvSpPr>
                    <p:cNvPr id="452" name="Content Placeholder 15">
                      <a:extLst>
                        <a:ext uri="{FF2B5EF4-FFF2-40B4-BE49-F238E27FC236}">
                          <a16:creationId xmlns:a16="http://schemas.microsoft.com/office/drawing/2014/main" id="{018EE35E-FF90-DA29-C099-BDA4BAA0D0CB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>
                    <a:xfrm>
                      <a:off x="2316697" y="14271478"/>
                      <a:ext cx="1549744" cy="809077"/>
                    </a:xfrm>
                    <a:prstGeom prst="rect">
                      <a:avLst/>
                    </a:prstGeom>
                  </p:spPr>
                  <p:txBody>
                    <a:bodyPr vert="horz" wrap="square" lIns="91440" tIns="45720" rIns="91440" bIns="45720" rtlCol="0">
                      <a:spAutoFit/>
                    </a:bodyPr>
                    <a:lstStyle>
                      <a:lvl1pPr marL="228600" indent="-2286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Font typeface="Arial" panose="020B0604020202020204" pitchFamily="34" charset="0"/>
                        <a:buChar char="•"/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576000" marR="0" indent="-28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 lang="en-US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792000" indent="-216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972000" indent="-216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defRPr lang="en-US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188000" indent="-2286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514600" indent="-228600" algn="l" defTabSz="914400" rtl="0" eaLnBrk="1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buChar char="•"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971800" indent="-228600" algn="l" defTabSz="914400" rtl="0" eaLnBrk="1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buChar char="•"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429000" indent="-228600" algn="l" defTabSz="914400" rtl="0" eaLnBrk="1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buChar char="•"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886200" indent="-228600" algn="l" defTabSz="914400" rtl="0" eaLnBrk="1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buChar char="•"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Low Conc Feed</a:t>
                      </a:r>
                    </a:p>
                  </p:txBody>
                </p:sp>
                <p:cxnSp>
                  <p:nvCxnSpPr>
                    <p:cNvPr id="453" name="Straight Arrow Connector 452">
                      <a:extLst>
                        <a:ext uri="{FF2B5EF4-FFF2-40B4-BE49-F238E27FC236}">
                          <a16:creationId xmlns:a16="http://schemas.microsoft.com/office/drawing/2014/main" id="{D5E1C65A-1312-C461-FF99-308C5AD1CDF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803010" y="15145940"/>
                      <a:ext cx="900589" cy="0"/>
                    </a:xfrm>
                    <a:prstGeom prst="straightConnector1">
                      <a:avLst/>
                    </a:prstGeom>
                    <a:ln w="57150">
                      <a:solidFill>
                        <a:srgbClr val="3F4444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451" name="TextBox 450">
                    <a:extLst>
                      <a:ext uri="{FF2B5EF4-FFF2-40B4-BE49-F238E27FC236}">
                        <a16:creationId xmlns:a16="http://schemas.microsoft.com/office/drawing/2014/main" id="{A343AE21-9875-B097-68D5-3647149F01FC}"/>
                      </a:ext>
                    </a:extLst>
                  </p:cNvPr>
                  <p:cNvSpPr txBox="1"/>
                  <p:nvPr/>
                </p:nvSpPr>
                <p:spPr>
                  <a:xfrm>
                    <a:off x="3749220" y="10647955"/>
                    <a:ext cx="2269914" cy="8090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2400" dirty="0"/>
                      <a:t>Concentrated Retentate</a:t>
                    </a:r>
                  </a:p>
                </p:txBody>
              </p:sp>
            </p:grpSp>
            <p:cxnSp>
              <p:nvCxnSpPr>
                <p:cNvPr id="448" name="Connector: Elbow 447">
                  <a:extLst>
                    <a:ext uri="{FF2B5EF4-FFF2-40B4-BE49-F238E27FC236}">
                      <a16:creationId xmlns:a16="http://schemas.microsoft.com/office/drawing/2014/main" id="{3C7BE724-0331-D2BA-9306-3BED0FDE42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4754983" y="11049526"/>
                  <a:ext cx="204364" cy="1082037"/>
                </a:xfrm>
                <a:prstGeom prst="bentConnector2">
                  <a:avLst/>
                </a:prstGeom>
                <a:ln w="38100">
                  <a:solidFill>
                    <a:srgbClr val="830051"/>
                  </a:solidFill>
                  <a:tailEnd type="triangl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17" name="Plus Sign 416">
                <a:extLst>
                  <a:ext uri="{FF2B5EF4-FFF2-40B4-BE49-F238E27FC236}">
                    <a16:creationId xmlns:a16="http://schemas.microsoft.com/office/drawing/2014/main" id="{BD44520A-5F76-FCA1-422B-437F8B145B17}"/>
                  </a:ext>
                </a:extLst>
              </p:cNvPr>
              <p:cNvSpPr/>
              <p:nvPr/>
            </p:nvSpPr>
            <p:spPr>
              <a:xfrm>
                <a:off x="4036734" y="10525461"/>
                <a:ext cx="673966" cy="656973"/>
              </a:xfrm>
              <a:prstGeom prst="mathPlus">
                <a:avLst/>
              </a:prstGeom>
              <a:solidFill>
                <a:srgbClr val="3F4444"/>
              </a:solidFill>
              <a:ln w="25400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25400" cap="flat" cmpd="sng" algn="ctr">
                    <a:solidFill>
                      <a:schemeClr val="accent1">
                        <a:shade val="50000"/>
                      </a:schemeClr>
                    </a:solidFill>
                    <a:prstDash val="soli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/>
              </a:p>
            </p:txBody>
          </p:sp>
          <p:grpSp>
            <p:nvGrpSpPr>
              <p:cNvPr id="482" name="Group 481">
                <a:extLst>
                  <a:ext uri="{FF2B5EF4-FFF2-40B4-BE49-F238E27FC236}">
                    <a16:creationId xmlns:a16="http://schemas.microsoft.com/office/drawing/2014/main" id="{C11AE278-077D-7E75-9782-0A13F874C9B5}"/>
                  </a:ext>
                </a:extLst>
              </p:cNvPr>
              <p:cNvGrpSpPr/>
              <p:nvPr/>
            </p:nvGrpSpPr>
            <p:grpSpPr>
              <a:xfrm>
                <a:off x="6204001" y="10644733"/>
                <a:ext cx="1764707" cy="1357877"/>
                <a:chOff x="6204001" y="10644733"/>
                <a:chExt cx="1764707" cy="1357877"/>
              </a:xfrm>
            </p:grpSpPr>
            <p:pic>
              <p:nvPicPr>
                <p:cNvPr id="17" name="Picture 2">
                  <a:extLst>
                    <a:ext uri="{FF2B5EF4-FFF2-40B4-BE49-F238E27FC236}">
                      <a16:creationId xmlns:a16="http://schemas.microsoft.com/office/drawing/2014/main" id="{5891F12F-D2E3-FAA3-C547-320729C7C5C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9">
                  <a:extLst>
                    <a:ext uri="{BEBA8EAE-BF5A-486C-A8C5-ECC9F3942E4B}">
                      <a14:imgProps xmlns:a14="http://schemas.microsoft.com/office/drawing/2010/main">
                        <a14:imgLayer r:embed="rId10">
                          <a14:imgEffect>
                            <a14:backgroundRemoval t="3704" b="97778" l="9375" r="94792">
                              <a14:foregroundMark x1="54167" y1="8889" x2="54167" y2="8889"/>
                              <a14:foregroundMark x1="55208" y1="3704" x2="55208" y2="3704"/>
                              <a14:foregroundMark x1="91667" y1="14444" x2="91667" y2="14444"/>
                              <a14:foregroundMark x1="63542" y1="88889" x2="63542" y2="88889"/>
                              <a14:foregroundMark x1="45833" y1="94815" x2="45833" y2="94815"/>
                              <a14:foregroundMark x1="54167" y1="98148" x2="54167" y2="98148"/>
                              <a14:foregroundMark x1="94792" y1="85185" x2="94792" y2="85185"/>
                            </a14:backgroundRemoval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710963" y="10644733"/>
                  <a:ext cx="694799" cy="1357877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cxnSp>
              <p:nvCxnSpPr>
                <p:cNvPr id="442" name="Connector: Elbow 441">
                  <a:extLst>
                    <a:ext uri="{FF2B5EF4-FFF2-40B4-BE49-F238E27FC236}">
                      <a16:creationId xmlns:a16="http://schemas.microsoft.com/office/drawing/2014/main" id="{9835E88B-B6F0-616D-64CB-541A62DAD6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204001" y="10655962"/>
                  <a:ext cx="1764707" cy="1335421"/>
                </a:xfrm>
                <a:prstGeom prst="bentConnector3">
                  <a:avLst>
                    <a:gd name="adj1" fmla="val 50000"/>
                  </a:avLst>
                </a:prstGeom>
                <a:ln w="38100">
                  <a:solidFill>
                    <a:srgbClr val="83005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36" name="Content Placeholder 15">
                <a:extLst>
                  <a:ext uri="{FF2B5EF4-FFF2-40B4-BE49-F238E27FC236}">
                    <a16:creationId xmlns:a16="http://schemas.microsoft.com/office/drawing/2014/main" id="{C2C4675C-27C3-7176-BD14-645020DEC42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77706" y="12108499"/>
                <a:ext cx="2984822" cy="523220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76000" marR="0" indent="-2880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Pct val="100000"/>
                  <a:buFont typeface="Arial" panose="020B0604020202020204" pitchFamily="34" charset="0"/>
                  <a:buChar char="•"/>
                  <a:tabLst/>
                  <a:defRPr lang="en-US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92000" indent="-2160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Pct val="100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72000" indent="-2160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Pct val="100000"/>
                  <a:buFont typeface="Arial" panose="020B0604020202020204" pitchFamily="34" charset="0"/>
                  <a:buChar char="•"/>
                  <a:defRPr lang="en-US" sz="2000" kern="1200" dirty="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188000" indent="-2286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Pct val="100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spcAft>
                    <a:spcPts val="0"/>
                  </a:spcAft>
                  <a:buNone/>
                </a:pPr>
                <a:r>
                  <a:rPr lang="en-US" sz="2800" b="1" dirty="0"/>
                  <a:t>Buffer Exchange</a:t>
                </a:r>
              </a:p>
            </p:txBody>
          </p:sp>
          <p:sp>
            <p:nvSpPr>
              <p:cNvPr id="419" name="Rectangle: Rounded Corners 418">
                <a:extLst>
                  <a:ext uri="{FF2B5EF4-FFF2-40B4-BE49-F238E27FC236}">
                    <a16:creationId xmlns:a16="http://schemas.microsoft.com/office/drawing/2014/main" id="{E03279FB-3795-2970-ED58-37E72A1A8047}"/>
                  </a:ext>
                </a:extLst>
              </p:cNvPr>
              <p:cNvSpPr/>
              <p:nvPr/>
            </p:nvSpPr>
            <p:spPr>
              <a:xfrm>
                <a:off x="555658" y="8408309"/>
                <a:ext cx="9050687" cy="4259220"/>
              </a:xfrm>
              <a:prstGeom prst="roundRect">
                <a:avLst/>
              </a:prstGeom>
              <a:noFill/>
              <a:ln>
                <a:solidFill>
                  <a:srgbClr val="3F4444"/>
                </a:solidFill>
                <a:prstDash val="lgDash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/>
              </a:p>
            </p:txBody>
          </p: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50AF6B5D-6498-27EF-7D44-05A417C0F48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10890" y="9457368"/>
                <a:ext cx="1041184" cy="1077878"/>
              </a:xfrm>
              <a:prstGeom prst="straightConnector1">
                <a:avLst/>
              </a:prstGeom>
              <a:ln w="38100">
                <a:solidFill>
                  <a:schemeClr val="accent3"/>
                </a:solidFill>
                <a:prstDash val="sysDash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A7B2EE9F-1AE0-ECAF-7538-737B9FE11C4D}"/>
                  </a:ext>
                </a:extLst>
              </p:cNvPr>
              <p:cNvSpPr/>
              <p:nvPr/>
            </p:nvSpPr>
            <p:spPr>
              <a:xfrm>
                <a:off x="1370427" y="12008704"/>
                <a:ext cx="3045971" cy="442834"/>
              </a:xfrm>
              <a:prstGeom prst="roundRect">
                <a:avLst/>
              </a:prstGeom>
              <a:solidFill>
                <a:schemeClr val="bg1"/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lvl="0" algn="ctr"/>
                <a:r>
                  <a:rPr lang="en-US" sz="2800" b="1" dirty="0">
                    <a:solidFill>
                      <a:srgbClr val="000000"/>
                    </a:solidFill>
                  </a:rPr>
                  <a:t>Ultrafiltration (UF)</a:t>
                </a:r>
              </a:p>
            </p:txBody>
          </p:sp>
          <p:grpSp>
            <p:nvGrpSpPr>
              <p:cNvPr id="483" name="Group 482">
                <a:extLst>
                  <a:ext uri="{FF2B5EF4-FFF2-40B4-BE49-F238E27FC236}">
                    <a16:creationId xmlns:a16="http://schemas.microsoft.com/office/drawing/2014/main" id="{ABBD5FB6-6856-8A27-A5C3-BC97222866F4}"/>
                  </a:ext>
                </a:extLst>
              </p:cNvPr>
              <p:cNvGrpSpPr/>
              <p:nvPr/>
            </p:nvGrpSpPr>
            <p:grpSpPr>
              <a:xfrm>
                <a:off x="6133995" y="8524917"/>
                <a:ext cx="2310652" cy="1869589"/>
                <a:chOff x="6133995" y="8524917"/>
                <a:chExt cx="2310652" cy="1869589"/>
              </a:xfrm>
            </p:grpSpPr>
            <p:pic>
              <p:nvPicPr>
                <p:cNvPr id="23" name="Picture 22" descr="Single-Pass Tangential Flow Filtration">
                  <a:extLst>
                    <a:ext uri="{FF2B5EF4-FFF2-40B4-BE49-F238E27FC236}">
                      <a16:creationId xmlns:a16="http://schemas.microsoft.com/office/drawing/2014/main" id="{C352B8D2-C144-A0F2-192D-99B6E622472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18">
                  <a:extLst>
                    <a:ext uri="{BEBA8EAE-BF5A-486C-A8C5-ECC9F3942E4B}">
                      <a14:imgProps xmlns:a14="http://schemas.microsoft.com/office/drawing/2010/main">
                        <a14:imgLayer r:embed="rId19">
                          <a14:imgEffect>
                            <a14:saturation sat="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6902" t="5427" r="54287" b="53301"/>
                <a:stretch/>
              </p:blipFill>
              <p:spPr bwMode="auto">
                <a:xfrm>
                  <a:off x="6133995" y="8524917"/>
                  <a:ext cx="2310652" cy="186958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cxnSp>
              <p:nvCxnSpPr>
                <p:cNvPr id="53" name="Connector: Elbow 52">
                  <a:extLst>
                    <a:ext uri="{FF2B5EF4-FFF2-40B4-BE49-F238E27FC236}">
                      <a16:creationId xmlns:a16="http://schemas.microsoft.com/office/drawing/2014/main" id="{FA41B4A5-3589-7826-02EC-3319D9E725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6611636" y="8894406"/>
                  <a:ext cx="752372" cy="725269"/>
                </a:xfrm>
                <a:prstGeom prst="bentConnector3">
                  <a:avLst>
                    <a:gd name="adj1" fmla="val 2583"/>
                  </a:avLst>
                </a:prstGeom>
                <a:ln w="38100">
                  <a:solidFill>
                    <a:srgbClr val="83005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Connector: Elbow 61">
                  <a:extLst>
                    <a:ext uri="{FF2B5EF4-FFF2-40B4-BE49-F238E27FC236}">
                      <a16:creationId xmlns:a16="http://schemas.microsoft.com/office/drawing/2014/main" id="{C098012A-AF61-2DCC-91A5-75B50C8E84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6327140" y="9510026"/>
                  <a:ext cx="378443" cy="257960"/>
                </a:xfrm>
                <a:prstGeom prst="bentConnector3">
                  <a:avLst>
                    <a:gd name="adj1" fmla="val 97593"/>
                  </a:avLst>
                </a:prstGeom>
                <a:ln w="38100">
                  <a:solidFill>
                    <a:srgbClr val="83005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9" name="Straight Connector 468">
                  <a:extLst>
                    <a:ext uri="{FF2B5EF4-FFF2-40B4-BE49-F238E27FC236}">
                      <a16:creationId xmlns:a16="http://schemas.microsoft.com/office/drawing/2014/main" id="{F66C192A-F203-3776-1A77-DC64C9C58A7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825479" y="9808130"/>
                  <a:ext cx="341001" cy="0"/>
                </a:xfrm>
                <a:prstGeom prst="line">
                  <a:avLst/>
                </a:prstGeom>
                <a:ln w="38100">
                  <a:solidFill>
                    <a:srgbClr val="83005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25" name="Connector: Elbow 124">
              <a:extLst>
                <a:ext uri="{FF2B5EF4-FFF2-40B4-BE49-F238E27FC236}">
                  <a16:creationId xmlns:a16="http://schemas.microsoft.com/office/drawing/2014/main" id="{D465CF9F-C4E1-101A-3C24-FD7D7DACD2A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865763" y="11478171"/>
              <a:ext cx="925513" cy="305294"/>
            </a:xfrm>
            <a:prstGeom prst="bentConnector3">
              <a:avLst>
                <a:gd name="adj1" fmla="val -993"/>
              </a:avLst>
            </a:prstGeom>
            <a:ln w="38100">
              <a:solidFill>
                <a:schemeClr val="accent3">
                  <a:lumMod val="75000"/>
                </a:schemeClr>
              </a:solidFill>
              <a:miter lim="800000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Connector: Elbow 125">
              <a:extLst>
                <a:ext uri="{FF2B5EF4-FFF2-40B4-BE49-F238E27FC236}">
                  <a16:creationId xmlns:a16="http://schemas.microsoft.com/office/drawing/2014/main" id="{52DD9940-0E50-28E9-780A-1FA9AAB4C0DA}"/>
                </a:ext>
              </a:extLst>
            </p:cNvPr>
            <p:cNvCxnSpPr>
              <a:cxnSpLocks/>
            </p:cNvCxnSpPr>
            <p:nvPr/>
          </p:nvCxnSpPr>
          <p:spPr>
            <a:xfrm>
              <a:off x="7182292" y="11908545"/>
              <a:ext cx="516435" cy="250469"/>
            </a:xfrm>
            <a:prstGeom prst="bentConnector3">
              <a:avLst>
                <a:gd name="adj1" fmla="val 499"/>
              </a:avLst>
            </a:prstGeom>
            <a:ln w="38100">
              <a:solidFill>
                <a:schemeClr val="accent3">
                  <a:lumMod val="75000"/>
                </a:schemeClr>
              </a:solidFill>
              <a:miter lim="800000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Equals 126">
              <a:extLst>
                <a:ext uri="{FF2B5EF4-FFF2-40B4-BE49-F238E27FC236}">
                  <a16:creationId xmlns:a16="http://schemas.microsoft.com/office/drawing/2014/main" id="{C87104BA-6932-695D-25DA-C66A39FDA3EF}"/>
                </a:ext>
              </a:extLst>
            </p:cNvPr>
            <p:cNvSpPr/>
            <p:nvPr/>
          </p:nvSpPr>
          <p:spPr>
            <a:xfrm flipH="1">
              <a:off x="7333636" y="11512691"/>
              <a:ext cx="808049" cy="375141"/>
            </a:xfrm>
            <a:prstGeom prst="mathEqual">
              <a:avLst>
                <a:gd name="adj1" fmla="val 23520"/>
                <a:gd name="adj2" fmla="val 33621"/>
              </a:avLst>
            </a:prstGeom>
            <a:solidFill>
              <a:schemeClr val="accent3">
                <a:lumMod val="75000"/>
              </a:schemeClr>
            </a:solidFill>
            <a:ln w="38100"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>
                <a:spcAft>
                  <a:spcPts val="600"/>
                </a:spcAft>
              </a:pPr>
              <a:endParaRPr lang="en-US" sz="700">
                <a:solidFill>
                  <a:schemeClr val="tx1"/>
                </a:solidFill>
              </a:endParaRPr>
            </a:p>
          </p:txBody>
        </p:sp>
      </p:grpSp>
      <p:cxnSp>
        <p:nvCxnSpPr>
          <p:cNvPr id="549" name="Straight Arrow Connector 548">
            <a:extLst>
              <a:ext uri="{FF2B5EF4-FFF2-40B4-BE49-F238E27FC236}">
                <a16:creationId xmlns:a16="http://schemas.microsoft.com/office/drawing/2014/main" id="{B1D00382-5A5B-2EF7-20A2-FC5EF9C96159}"/>
              </a:ext>
            </a:extLst>
          </p:cNvPr>
          <p:cNvCxnSpPr>
            <a:cxnSpLocks/>
          </p:cNvCxnSpPr>
          <p:nvPr/>
        </p:nvCxnSpPr>
        <p:spPr>
          <a:xfrm>
            <a:off x="7509671" y="10238335"/>
            <a:ext cx="305632" cy="0"/>
          </a:xfrm>
          <a:prstGeom prst="straightConnector1">
            <a:avLst/>
          </a:prstGeom>
          <a:solidFill>
            <a:schemeClr val="accent3">
              <a:lumMod val="75000"/>
            </a:schemeClr>
          </a:solidFill>
          <a:ln w="38100">
            <a:solidFill>
              <a:srgbClr val="77933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0374213-D92F-5B48-6EED-B76F0D417068}"/>
              </a:ext>
            </a:extLst>
          </p:cNvPr>
          <p:cNvGrpSpPr/>
          <p:nvPr/>
        </p:nvGrpSpPr>
        <p:grpSpPr>
          <a:xfrm>
            <a:off x="10263990" y="9767434"/>
            <a:ext cx="2926080" cy="3628643"/>
            <a:chOff x="10317490" y="10287019"/>
            <a:chExt cx="2926080" cy="3628643"/>
          </a:xfrm>
        </p:grpSpPr>
        <p:pic>
          <p:nvPicPr>
            <p:cNvPr id="2" name="Picture 2">
              <a:extLst>
                <a:ext uri="{FF2B5EF4-FFF2-40B4-BE49-F238E27FC236}">
                  <a16:creationId xmlns:a16="http://schemas.microsoft.com/office/drawing/2014/main" id="{0FBFF6FF-ED61-7D6E-5BC6-D82B77F7443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0" cstate="print">
              <a:extLst>
                <a:ext uri="{BEBA8EAE-BF5A-486C-A8C5-ECC9F3942E4B}">
                  <a14:imgProps xmlns:a14="http://schemas.microsoft.com/office/drawing/2010/main">
                    <a14:imgLayer r:embed="rId21">
                      <a14:imgEffect>
                        <a14:backgroundRemoval t="10000" b="90000" l="10000" r="90000">
                          <a14:foregroundMark x1="27679" y1="32474" x2="68477" y2="30423"/>
                          <a14:foregroundMark x1="68477" y1="30423" x2="79638" y2="31019"/>
                          <a14:foregroundMark x1="55060" y1="69114" x2="74380" y2="70999"/>
                          <a14:foregroundMark x1="74380" y1="70999" x2="72470" y2="71197"/>
                          <a14:foregroundMark x1="72470" y1="71197" x2="70114" y2="69940"/>
                          <a14:foregroundMark x1="59276" y1="33102" x2="61260" y2="33003"/>
                          <a14:foregroundMark x1="36830" y1="30522" x2="52183" y2="31151"/>
                          <a14:foregroundMark x1="52183" y1="31151" x2="53447" y2="30721"/>
                          <a14:foregroundMark x1="32143" y1="54464" x2="57738" y2="55754"/>
                          <a14:foregroundMark x1="56250" y1="69511" x2="56250" y2="69511"/>
                          <a14:foregroundMark x1="55704" y1="69577" x2="56920" y2="69577"/>
                          <a14:foregroundMark x1="56969" y1="69345" x2="56969" y2="69345"/>
                          <a14:backgroundMark x1="51687" y1="18651" x2="59425" y2="18552"/>
                          <a14:backgroundMark x1="59425" y1="18552" x2="62996" y2="18816"/>
                          <a14:backgroundMark x1="35888" y1="21065" x2="39732" y2="26488"/>
                          <a14:backgroundMark x1="39732" y1="26488" x2="50149" y2="30159"/>
                          <a14:backgroundMark x1="50149" y1="30159" x2="69866" y2="27546"/>
                          <a14:backgroundMark x1="69866" y1="27546" x2="74678" y2="24239"/>
                          <a14:backgroundMark x1="74678" y1="24239" x2="76761" y2="14749"/>
                          <a14:backgroundMark x1="76761" y1="14749" x2="65451" y2="4563"/>
                          <a14:backgroundMark x1="65451" y1="4563" x2="43502" y2="10516"/>
                          <a14:backgroundMark x1="43502" y1="10516" x2="38318" y2="15906"/>
                          <a14:backgroundMark x1="38318" y1="15906" x2="36458" y2="19544"/>
                          <a14:backgroundMark x1="36458" y1="19544" x2="35045" y2="24107"/>
                          <a14:backgroundMark x1="44692" y1="35516" x2="75025" y2="38657"/>
                          <a14:backgroundMark x1="75025" y1="38657" x2="71131" y2="43022"/>
                          <a14:backgroundMark x1="71131" y1="43022" x2="69792" y2="49735"/>
                          <a14:backgroundMark x1="69792" y1="49735" x2="67039" y2="52050"/>
                          <a14:backgroundMark x1="67039" y1="52050" x2="50546" y2="50827"/>
                          <a14:backgroundMark x1="50546" y1="50827" x2="45238" y2="45635"/>
                          <a14:backgroundMark x1="45238" y1="45635" x2="45660" y2="35516"/>
                          <a14:backgroundMark x1="44792" y1="72817" x2="66915" y2="77017"/>
                          <a14:backgroundMark x1="66915" y1="77017" x2="76612" y2="83036"/>
                          <a14:backgroundMark x1="76612" y1="83036" x2="65303" y2="91964"/>
                          <a14:backgroundMark x1="65303" y1="91964" x2="51265" y2="86673"/>
                          <a14:backgroundMark x1="51265" y1="86673" x2="44370" y2="77149"/>
                          <a14:backgroundMark x1="44370" y1="77149" x2="46156" y2="71329"/>
                          <a14:backgroundMark x1="46156" y1="71329" x2="50744" y2="72057"/>
                          <a14:backgroundMark x1="50744" y1="72057" x2="51786" y2="73942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5262" b="20062"/>
            <a:stretch/>
          </p:blipFill>
          <p:spPr bwMode="auto">
            <a:xfrm rot="5400000">
              <a:off x="10252590" y="11401252"/>
              <a:ext cx="3055881" cy="8274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1EED981-5F41-5932-73C6-89242AB2F580}"/>
                </a:ext>
              </a:extLst>
            </p:cNvPr>
            <p:cNvSpPr txBox="1"/>
            <p:nvPr/>
          </p:nvSpPr>
          <p:spPr>
            <a:xfrm flipH="1">
              <a:off x="10317490" y="13001262"/>
              <a:ext cx="2926080" cy="914400"/>
            </a:xfrm>
            <a:prstGeom prst="roundRect">
              <a:avLst/>
            </a:prstGeom>
            <a:noFill/>
            <a:ln>
              <a:solidFill>
                <a:srgbClr val="3F4444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Benchmark: 1.8 m</a:t>
              </a:r>
              <a:r>
                <a:rPr lang="en-US" sz="2400" baseline="30000" dirty="0"/>
                <a:t>2</a:t>
              </a:r>
            </a:p>
            <a:p>
              <a:pPr algn="ctr"/>
              <a:r>
                <a:rPr lang="en-US" sz="2400" dirty="0"/>
                <a:t>105 mL hold-up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ACCF147-E7BC-85F2-F48C-492AD8A08DF6}"/>
              </a:ext>
            </a:extLst>
          </p:cNvPr>
          <p:cNvGrpSpPr/>
          <p:nvPr/>
        </p:nvGrpSpPr>
        <p:grpSpPr>
          <a:xfrm>
            <a:off x="13318912" y="9768820"/>
            <a:ext cx="3108960" cy="3627257"/>
            <a:chOff x="13050688" y="10288405"/>
            <a:chExt cx="3108960" cy="3627257"/>
          </a:xfrm>
        </p:grpSpPr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id="{0B28955A-B63A-3C1C-E7F3-446BCEA0A1D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0" cstate="print">
              <a:extLst>
                <a:ext uri="{BEBA8EAE-BF5A-486C-A8C5-ECC9F3942E4B}">
                  <a14:imgProps xmlns:a14="http://schemas.microsoft.com/office/drawing/2010/main">
                    <a14:imgLayer r:embed="rId21">
                      <a14:imgEffect>
                        <a14:backgroundRemoval t="10000" b="90000" l="10000" r="90000">
                          <a14:foregroundMark x1="27679" y1="32474" x2="68477" y2="30423"/>
                          <a14:foregroundMark x1="68477" y1="30423" x2="79638" y2="31019"/>
                          <a14:foregroundMark x1="55060" y1="69114" x2="74380" y2="70999"/>
                          <a14:foregroundMark x1="74380" y1="70999" x2="72470" y2="71197"/>
                          <a14:foregroundMark x1="72470" y1="71197" x2="70114" y2="69940"/>
                          <a14:foregroundMark x1="59276" y1="33102" x2="61260" y2="33003"/>
                          <a14:foregroundMark x1="36830" y1="30522" x2="52183" y2="31151"/>
                          <a14:foregroundMark x1="52183" y1="31151" x2="53447" y2="30721"/>
                          <a14:foregroundMark x1="32143" y1="54464" x2="57738" y2="55754"/>
                          <a14:foregroundMark x1="56250" y1="69511" x2="56250" y2="69511"/>
                          <a14:foregroundMark x1="55704" y1="69577" x2="56920" y2="69577"/>
                          <a14:foregroundMark x1="56969" y1="69345" x2="56969" y2="69345"/>
                          <a14:backgroundMark x1="51687" y1="18651" x2="59425" y2="18552"/>
                          <a14:backgroundMark x1="59425" y1="18552" x2="62996" y2="18816"/>
                          <a14:backgroundMark x1="35888" y1="21065" x2="39732" y2="26488"/>
                          <a14:backgroundMark x1="39732" y1="26488" x2="50149" y2="30159"/>
                          <a14:backgroundMark x1="50149" y1="30159" x2="69866" y2="27546"/>
                          <a14:backgroundMark x1="69866" y1="27546" x2="74678" y2="24239"/>
                          <a14:backgroundMark x1="74678" y1="24239" x2="76761" y2="14749"/>
                          <a14:backgroundMark x1="76761" y1="14749" x2="65451" y2="4563"/>
                          <a14:backgroundMark x1="65451" y1="4563" x2="43502" y2="10516"/>
                          <a14:backgroundMark x1="43502" y1="10516" x2="38318" y2="15906"/>
                          <a14:backgroundMark x1="38318" y1="15906" x2="36458" y2="19544"/>
                          <a14:backgroundMark x1="36458" y1="19544" x2="35045" y2="24107"/>
                          <a14:backgroundMark x1="44692" y1="35516" x2="75025" y2="38657"/>
                          <a14:backgroundMark x1="75025" y1="38657" x2="71131" y2="43022"/>
                          <a14:backgroundMark x1="71131" y1="43022" x2="69792" y2="49735"/>
                          <a14:backgroundMark x1="69792" y1="49735" x2="67039" y2="52050"/>
                          <a14:backgroundMark x1="67039" y1="52050" x2="50546" y2="50827"/>
                          <a14:backgroundMark x1="50546" y1="50827" x2="45238" y2="45635"/>
                          <a14:backgroundMark x1="45238" y1="45635" x2="45660" y2="35516"/>
                          <a14:backgroundMark x1="44792" y1="72817" x2="66915" y2="77017"/>
                          <a14:backgroundMark x1="66915" y1="77017" x2="76612" y2="83036"/>
                          <a14:backgroundMark x1="76612" y1="83036" x2="65303" y2="91964"/>
                          <a14:backgroundMark x1="65303" y1="91964" x2="51265" y2="86673"/>
                          <a14:backgroundMark x1="51265" y1="86673" x2="44370" y2="77149"/>
                          <a14:backgroundMark x1="44370" y1="77149" x2="46156" y2="71329"/>
                          <a14:backgroundMark x1="46156" y1="71329" x2="50744" y2="72057"/>
                          <a14:backgroundMark x1="50744" y1="72057" x2="51786" y2="73942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7414" b="60720"/>
            <a:stretch/>
          </p:blipFill>
          <p:spPr bwMode="auto">
            <a:xfrm rot="5400000">
              <a:off x="13077230" y="11555467"/>
              <a:ext cx="3055876" cy="521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55F8F23-657D-39CD-BFEF-05E78156B4B1}"/>
                </a:ext>
              </a:extLst>
            </p:cNvPr>
            <p:cNvSpPr txBox="1"/>
            <p:nvPr/>
          </p:nvSpPr>
          <p:spPr>
            <a:xfrm flipH="1">
              <a:off x="13050688" y="13001262"/>
              <a:ext cx="3108960" cy="914400"/>
            </a:xfrm>
            <a:prstGeom prst="roundRect">
              <a:avLst/>
            </a:prstGeom>
            <a:noFill/>
            <a:ln>
              <a:solidFill>
                <a:srgbClr val="3F4444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Scale-Down: 0.025 m</a:t>
              </a:r>
              <a:r>
                <a:rPr lang="en-US" sz="2400" baseline="30000" dirty="0"/>
                <a:t>2</a:t>
              </a:r>
            </a:p>
            <a:p>
              <a:pPr algn="ctr"/>
              <a:r>
                <a:rPr lang="en-US" sz="2400" dirty="0"/>
                <a:t>1.5 mL hold-up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30A123B5-16B8-224F-E277-D221D6733829}"/>
              </a:ext>
            </a:extLst>
          </p:cNvPr>
          <p:cNvSpPr txBox="1"/>
          <p:nvPr/>
        </p:nvSpPr>
        <p:spPr>
          <a:xfrm>
            <a:off x="534484" y="16642424"/>
            <a:ext cx="9509760" cy="2075376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>
                <a:solidFill>
                  <a:srgbClr val="830051"/>
                </a:solidFill>
              </a14:hiddenLine>
            </a:ext>
          </a:extLst>
        </p:spPr>
        <p:txBody>
          <a:bodyPr wrap="square" tIns="91440" rtlCol="0">
            <a:spAutoFit/>
          </a:bodyPr>
          <a:lstStyle/>
          <a:p>
            <a:pPr>
              <a:lnSpc>
                <a:spcPct val="114000"/>
              </a:lnSpc>
              <a:spcAft>
                <a:spcPts val="1600"/>
              </a:spcAft>
            </a:pPr>
            <a:r>
              <a:rPr lang="en-US" sz="2800" b="1" dirty="0"/>
              <a:t>Asymmetric dialysis </a:t>
            </a:r>
            <a:r>
              <a:rPr lang="en-US" sz="2800" dirty="0"/>
              <a:t>integrates both </a:t>
            </a:r>
            <a:r>
              <a:rPr lang="en-US" sz="2800" b="1" dirty="0"/>
              <a:t>UF and buffer exchange</a:t>
            </a:r>
            <a:r>
              <a:rPr lang="en-US" sz="2800" dirty="0"/>
              <a:t> into a single system by </a:t>
            </a:r>
            <a:r>
              <a:rPr lang="en-US" sz="2800" b="1" dirty="0"/>
              <a:t>proportionately manipulating the flow rates </a:t>
            </a:r>
            <a:r>
              <a:rPr lang="en-US" sz="2800" dirty="0"/>
              <a:t>on a hollow fiber membrane by </a:t>
            </a:r>
            <a:r>
              <a:rPr lang="en-US" sz="2800" dirty="0">
                <a:solidFill>
                  <a:srgbClr val="830051"/>
                </a:solidFill>
              </a:rPr>
              <a:t>reducing retentate flow rate </a:t>
            </a:r>
            <a:r>
              <a:rPr lang="en-US" sz="2800" dirty="0"/>
              <a:t>and </a:t>
            </a:r>
            <a:r>
              <a:rPr lang="en-US" sz="2800" dirty="0">
                <a:solidFill>
                  <a:srgbClr val="00B050"/>
                </a:solidFill>
              </a:rPr>
              <a:t>increasing permeate flow rate</a:t>
            </a:r>
            <a:r>
              <a:rPr lang="en-US" sz="2800" dirty="0"/>
              <a:t>.</a:t>
            </a:r>
            <a:endParaRPr lang="en-US" sz="2800" dirty="0">
              <a:cs typeface="Calibri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3625A99-2958-70A5-261D-90E86523C9E1}"/>
              </a:ext>
            </a:extLst>
          </p:cNvPr>
          <p:cNvGrpSpPr/>
          <p:nvPr/>
        </p:nvGrpSpPr>
        <p:grpSpPr>
          <a:xfrm>
            <a:off x="10268271" y="16756939"/>
            <a:ext cx="18633967" cy="3357092"/>
            <a:chOff x="10268271" y="16441025"/>
            <a:chExt cx="18633967" cy="3357092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B12E5396-FEFA-41B1-81EB-75D8BAA25C29}"/>
                </a:ext>
              </a:extLst>
            </p:cNvPr>
            <p:cNvGrpSpPr/>
            <p:nvPr/>
          </p:nvGrpSpPr>
          <p:grpSpPr>
            <a:xfrm>
              <a:off x="10268271" y="16441025"/>
              <a:ext cx="18633967" cy="3357092"/>
              <a:chOff x="10268271" y="16441025"/>
              <a:chExt cx="18633967" cy="3357092"/>
            </a:xfrm>
          </p:grpSpPr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101D1C4B-E985-E448-BD10-63120FD3AB3B}"/>
                  </a:ext>
                </a:extLst>
              </p:cNvPr>
              <p:cNvGrpSpPr/>
              <p:nvPr/>
            </p:nvGrpSpPr>
            <p:grpSpPr>
              <a:xfrm>
                <a:off x="10268271" y="16441025"/>
                <a:ext cx="18633967" cy="3357092"/>
                <a:chOff x="10268271" y="16441025"/>
                <a:chExt cx="18633967" cy="3357092"/>
              </a:xfrm>
            </p:grpSpPr>
            <p:grpSp>
              <p:nvGrpSpPr>
                <p:cNvPr id="68" name="Group 67">
                  <a:extLst>
                    <a:ext uri="{FF2B5EF4-FFF2-40B4-BE49-F238E27FC236}">
                      <a16:creationId xmlns:a16="http://schemas.microsoft.com/office/drawing/2014/main" id="{AF6EFF4B-1AA5-B98A-A2BB-D968A81CC692}"/>
                    </a:ext>
                  </a:extLst>
                </p:cNvPr>
                <p:cNvGrpSpPr/>
                <p:nvPr/>
              </p:nvGrpSpPr>
              <p:grpSpPr>
                <a:xfrm>
                  <a:off x="10268271" y="16441025"/>
                  <a:ext cx="18633967" cy="3357092"/>
                  <a:chOff x="10296008" y="4292659"/>
                  <a:chExt cx="18633967" cy="3357092"/>
                </a:xfrm>
              </p:grpSpPr>
              <p:sp>
                <p:nvSpPr>
                  <p:cNvPr id="70" name="Rectangle: Rounded Corners 69">
                    <a:extLst>
                      <a:ext uri="{FF2B5EF4-FFF2-40B4-BE49-F238E27FC236}">
                        <a16:creationId xmlns:a16="http://schemas.microsoft.com/office/drawing/2014/main" id="{61C60937-73F6-8682-12D3-7B988FBD4E08}"/>
                      </a:ext>
                    </a:extLst>
                  </p:cNvPr>
                  <p:cNvSpPr/>
                  <p:nvPr/>
                </p:nvSpPr>
                <p:spPr>
                  <a:xfrm>
                    <a:off x="10296008" y="4292659"/>
                    <a:ext cx="8229600" cy="1828800"/>
                  </a:xfrm>
                  <a:prstGeom prst="roundRect">
                    <a:avLst/>
                  </a:prstGeom>
                  <a:noFill/>
                  <a:ln w="19050" cap="flat" cmpd="sng" algn="ctr">
                    <a:solidFill>
                      <a:srgbClr val="830051"/>
                    </a:solidFill>
                    <a:prstDash val="sysDot"/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70AD47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640080" tIns="45720" rIns="0" bIns="0" rtlCol="0" anchor="ctr"/>
                  <a:lstStyle/>
                  <a:p>
                    <a:pPr algn="ctr"/>
                    <a:r>
                      <a:rPr lang="en-US" sz="2800" dirty="0">
                        <a:solidFill>
                          <a:schemeClr val="tx1"/>
                        </a:solidFill>
                      </a:rPr>
                      <a:t>Achieved </a:t>
                    </a:r>
                    <a:r>
                      <a:rPr lang="en-US" sz="2800" b="1" dirty="0">
                        <a:solidFill>
                          <a:schemeClr val="tx1"/>
                        </a:solidFill>
                      </a:rPr>
                      <a:t>12 cumulative days of runtime </a:t>
                    </a:r>
                    <a:r>
                      <a:rPr lang="en-US" sz="2800" dirty="0">
                        <a:solidFill>
                          <a:schemeClr val="tx1"/>
                        </a:solidFill>
                      </a:rPr>
                      <a:t>with process performance and product specifications remaining largely within range</a:t>
                    </a:r>
                  </a:p>
                </p:txBody>
              </p:sp>
              <p:sp>
                <p:nvSpPr>
                  <p:cNvPr id="71" name="Rectangle: Rounded Corners 70">
                    <a:extLst>
                      <a:ext uri="{FF2B5EF4-FFF2-40B4-BE49-F238E27FC236}">
                        <a16:creationId xmlns:a16="http://schemas.microsoft.com/office/drawing/2014/main" id="{20E31502-16D7-1EF8-CC89-F071CD596A17}"/>
                      </a:ext>
                    </a:extLst>
                  </p:cNvPr>
                  <p:cNvSpPr/>
                  <p:nvPr/>
                </p:nvSpPr>
                <p:spPr>
                  <a:xfrm>
                    <a:off x="22163415" y="6461031"/>
                    <a:ext cx="6766560" cy="1188720"/>
                  </a:xfrm>
                  <a:prstGeom prst="roundRect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rgbClr val="830051"/>
                    </a:solidFill>
                    <a:prstDash val="sysDot"/>
                    <a:miter lim="800000"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731520" tIns="0" rIns="0" bIns="0" rtlCol="0" anchor="ctr"/>
                  <a:lstStyle/>
                  <a:p>
                    <a:pPr algn="ctr"/>
                    <a:r>
                      <a:rPr lang="en-US" sz="28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rPr>
                      <a:t>Average product histidine concentration was 68</a:t>
                    </a:r>
                    <a:r>
                      <a:rPr lang="en-US" sz="2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rPr>
                      <a:t>% that of the dialysate</a:t>
                    </a:r>
                  </a:p>
                </p:txBody>
              </p:sp>
              <p:sp>
                <p:nvSpPr>
                  <p:cNvPr id="72" name="Rectangle: Rounded Corners 71">
                    <a:extLst>
                      <a:ext uri="{FF2B5EF4-FFF2-40B4-BE49-F238E27FC236}">
                        <a16:creationId xmlns:a16="http://schemas.microsoft.com/office/drawing/2014/main" id="{5AAF847B-8877-A068-C77E-6789451645EA}"/>
                      </a:ext>
                    </a:extLst>
                  </p:cNvPr>
                  <p:cNvSpPr/>
                  <p:nvPr/>
                </p:nvSpPr>
                <p:spPr>
                  <a:xfrm>
                    <a:off x="18698592" y="4292659"/>
                    <a:ext cx="4389120" cy="1828800"/>
                  </a:xfrm>
                  <a:prstGeom prst="roundRect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rgbClr val="830051"/>
                    </a:solidFill>
                    <a:prstDash val="sysDot"/>
                    <a:miter lim="800000"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640080" tIns="45720" rIns="0" bIns="0" rtlCol="0" anchor="ctr"/>
                  <a:lstStyle/>
                  <a:p>
                    <a:pPr algn="ctr"/>
                    <a:r>
                      <a:rPr lang="en-US" sz="2800" b="1" dirty="0">
                        <a:solidFill>
                          <a:schemeClr val="tx1"/>
                        </a:solidFill>
                      </a:rPr>
                      <a:t>Returned process to steady state</a:t>
                    </a:r>
                    <a:r>
                      <a:rPr lang="en-US" sz="2800" dirty="0">
                        <a:solidFill>
                          <a:schemeClr val="tx1"/>
                        </a:solidFill>
                      </a:rPr>
                      <a:t> after pressurization of &gt;40 psi</a:t>
                    </a:r>
                  </a:p>
                </p:txBody>
              </p:sp>
              <p:sp>
                <p:nvSpPr>
                  <p:cNvPr id="73" name="Rectangle: Rounded Corners 72">
                    <a:extLst>
                      <a:ext uri="{FF2B5EF4-FFF2-40B4-BE49-F238E27FC236}">
                        <a16:creationId xmlns:a16="http://schemas.microsoft.com/office/drawing/2014/main" id="{BD59ED55-A2F1-19C7-9FD1-6534CFFCD839}"/>
                      </a:ext>
                    </a:extLst>
                  </p:cNvPr>
                  <p:cNvSpPr/>
                  <p:nvPr/>
                </p:nvSpPr>
                <p:spPr>
                  <a:xfrm>
                    <a:off x="23260695" y="4292659"/>
                    <a:ext cx="5669280" cy="1828800"/>
                  </a:xfrm>
                  <a:prstGeom prst="roundRect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rgbClr val="830051"/>
                    </a:solidFill>
                    <a:prstDash val="sysDot"/>
                    <a:miter lim="800000"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640080" tIns="45720" rIns="0" bIns="0" rtlCol="0" anchor="ctr"/>
                  <a:lstStyle/>
                  <a:p>
                    <a:pPr algn="ctr"/>
                    <a:r>
                      <a:rPr lang="en-US" sz="2800" b="1" dirty="0">
                        <a:solidFill>
                          <a:schemeClr val="tx1"/>
                        </a:solidFill>
                      </a:rPr>
                      <a:t>No impact on product quality </a:t>
                    </a:r>
                    <a:r>
                      <a:rPr lang="en-US" sz="2800" dirty="0">
                        <a:solidFill>
                          <a:schemeClr val="tx1"/>
                        </a:solidFill>
                      </a:rPr>
                      <a:t>during steady-state</a:t>
                    </a:r>
                    <a:r>
                      <a:rPr lang="en-US" sz="2800" b="1" dirty="0">
                        <a:solidFill>
                          <a:schemeClr val="tx1"/>
                        </a:solidFill>
                      </a:rPr>
                      <a:t>, </a:t>
                    </a:r>
                    <a:r>
                      <a:rPr lang="en-US" sz="2800" dirty="0">
                        <a:solidFill>
                          <a:schemeClr val="tx1"/>
                        </a:solidFill>
                      </a:rPr>
                      <a:t>comparable to legacy UF/DF results</a:t>
                    </a:r>
                  </a:p>
                </p:txBody>
              </p:sp>
              <p:sp>
                <p:nvSpPr>
                  <p:cNvPr id="74" name="Rectangle: Rounded Corners 73">
                    <a:extLst>
                      <a:ext uri="{FF2B5EF4-FFF2-40B4-BE49-F238E27FC236}">
                        <a16:creationId xmlns:a16="http://schemas.microsoft.com/office/drawing/2014/main" id="{E35822CE-2BAF-F740-8C90-847520B75475}"/>
                      </a:ext>
                    </a:extLst>
                  </p:cNvPr>
                  <p:cNvSpPr/>
                  <p:nvPr/>
                </p:nvSpPr>
                <p:spPr>
                  <a:xfrm>
                    <a:off x="10296008" y="6461031"/>
                    <a:ext cx="3657600" cy="1188720"/>
                  </a:xfrm>
                  <a:prstGeom prst="roundRect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rgbClr val="830051"/>
                    </a:solidFill>
                    <a:prstDash val="sysDot"/>
                    <a:miter lim="800000"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731520" tIns="0" rIns="0" bIns="0" rtlCol="0" anchor="ctr"/>
                  <a:lstStyle/>
                  <a:p>
                    <a:pPr algn="ctr"/>
                    <a:r>
                      <a:rPr lang="en-US" sz="2800" b="1" dirty="0">
                        <a:solidFill>
                          <a:schemeClr val="tx1"/>
                        </a:solidFill>
                      </a:rPr>
                      <a:t>7 kg/m</a:t>
                    </a:r>
                    <a:r>
                      <a:rPr lang="en-US" sz="2800" b="1" baseline="30000" dirty="0">
                        <a:solidFill>
                          <a:schemeClr val="tx1"/>
                        </a:solidFill>
                      </a:rPr>
                      <a:t>2</a:t>
                    </a:r>
                    <a:r>
                      <a:rPr lang="en-US" sz="2800" b="1" dirty="0">
                        <a:solidFill>
                          <a:schemeClr val="tx1"/>
                        </a:solidFill>
                      </a:rPr>
                      <a:t> </a:t>
                    </a:r>
                    <a:r>
                      <a:rPr lang="en-US" sz="2800" dirty="0">
                        <a:solidFill>
                          <a:schemeClr val="tx1"/>
                        </a:solidFill>
                      </a:rPr>
                      <a:t>total membrane loading </a:t>
                    </a:r>
                  </a:p>
                </p:txBody>
              </p:sp>
            </p:grpSp>
            <p:pic>
              <p:nvPicPr>
                <p:cNvPr id="58" name="Graphic 57" descr="Chevron arrows with solid fill">
                  <a:extLst>
                    <a:ext uri="{FF2B5EF4-FFF2-40B4-BE49-F238E27FC236}">
                      <a16:creationId xmlns:a16="http://schemas.microsoft.com/office/drawing/2014/main" id="{1674CE00-7599-3C3C-C7DB-BAF66CBB00D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2">
                  <a:extLst>
                    <a:ext uri="{96DAC541-7B7A-43D3-8B79-37D633B846F1}">
                      <asvg:svgBlip xmlns:asvg="http://schemas.microsoft.com/office/drawing/2016/SVG/main" r:embed="rId2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38698" y="18883717"/>
                  <a:ext cx="640080" cy="640080"/>
                </a:xfrm>
                <a:prstGeom prst="rect">
                  <a:avLst/>
                </a:prstGeom>
              </p:spPr>
            </p:pic>
            <p:pic>
              <p:nvPicPr>
                <p:cNvPr id="60" name="Graphic 59" descr="Line arrow: Slight curve with solid fill">
                  <a:extLst>
                    <a:ext uri="{FF2B5EF4-FFF2-40B4-BE49-F238E27FC236}">
                      <a16:creationId xmlns:a16="http://schemas.microsoft.com/office/drawing/2014/main" id="{7D65CE4B-5770-CCE8-6A52-B3F7728DEF7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4">
                  <a:extLst>
                    <a:ext uri="{96DAC541-7B7A-43D3-8B79-37D633B846F1}">
                      <asvg:svgBlip xmlns:asvg="http://schemas.microsoft.com/office/drawing/2016/SVG/main" r:embed="rId2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8729280" y="16943945"/>
                  <a:ext cx="822960" cy="822960"/>
                </a:xfrm>
                <a:prstGeom prst="rect">
                  <a:avLst/>
                </a:prstGeom>
              </p:spPr>
            </p:pic>
            <p:pic>
              <p:nvPicPr>
                <p:cNvPr id="63" name="Graphic 62" descr="Checkbox Checked with solid fill">
                  <a:extLst>
                    <a:ext uri="{FF2B5EF4-FFF2-40B4-BE49-F238E27FC236}">
                      <a16:creationId xmlns:a16="http://schemas.microsoft.com/office/drawing/2014/main" id="{CB6B32B9-5E4D-8392-F6A9-6892D5AB0D3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6">
                  <a:extLst>
                    <a:ext uri="{96DAC541-7B7A-43D3-8B79-37D633B846F1}">
                      <asvg:svgBlip xmlns:asvg="http://schemas.microsoft.com/office/drawing/2016/SVG/main" r:embed="rId2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3225070" y="16898225"/>
                  <a:ext cx="914400" cy="914400"/>
                </a:xfrm>
                <a:prstGeom prst="rect">
                  <a:avLst/>
                </a:prstGeom>
              </p:spPr>
            </p:pic>
            <p:pic>
              <p:nvPicPr>
                <p:cNvPr id="457" name="Graphic 456" descr="Stopwatch with solid fill">
                  <a:extLst>
                    <a:ext uri="{FF2B5EF4-FFF2-40B4-BE49-F238E27FC236}">
                      <a16:creationId xmlns:a16="http://schemas.microsoft.com/office/drawing/2014/main" id="{F00636B2-5F18-E30F-276F-59CCB71791A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8">
                  <a:extLst>
                    <a:ext uri="{96DAC541-7B7A-43D3-8B79-37D633B846F1}">
                      <asvg:svgBlip xmlns:asvg="http://schemas.microsoft.com/office/drawing/2016/SVG/main" r:embed="rId2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68980" y="16989665"/>
                  <a:ext cx="731520" cy="731520"/>
                </a:xfrm>
                <a:prstGeom prst="rect">
                  <a:avLst/>
                </a:prstGeom>
              </p:spPr>
            </p:pic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136D9C28-B708-4D68-1BE0-0773DFFC4D9E}"/>
                    </a:ext>
                  </a:extLst>
                </p:cNvPr>
                <p:cNvSpPr txBox="1"/>
                <p:nvPr/>
              </p:nvSpPr>
              <p:spPr>
                <a:xfrm>
                  <a:off x="22122870" y="18746557"/>
                  <a:ext cx="914400" cy="914400"/>
                </a:xfrm>
                <a:prstGeom prst="rect">
                  <a:avLst/>
                </a:prstGeom>
                <a:noFill/>
              </p:spPr>
              <p:txBody>
                <a:bodyPr wrap="none" lIns="91440" tIns="91440" bIns="91440" rtlCol="0" anchor="ctr" anchorCtr="1">
                  <a:normAutofit/>
                </a:bodyPr>
                <a:lstStyle/>
                <a:p>
                  <a:pPr algn="ctr"/>
                  <a:r>
                    <a:rPr lang="en-US" sz="4400" b="1" dirty="0"/>
                    <a:t>%</a:t>
                  </a:r>
                </a:p>
              </p:txBody>
            </p:sp>
          </p:grpSp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842ECB84-C458-046E-6937-8E6DDB3457C7}"/>
                  </a:ext>
                </a:extLst>
              </p:cNvPr>
              <p:cNvSpPr/>
              <p:nvPr/>
            </p:nvSpPr>
            <p:spPr>
              <a:xfrm>
                <a:off x="14190294" y="18584700"/>
                <a:ext cx="7680960" cy="1188720"/>
              </a:xfrm>
              <a:prstGeom prst="roundRect">
                <a:avLst/>
              </a:prstGeom>
              <a:solidFill>
                <a:schemeClr val="bg1"/>
              </a:solidFill>
              <a:ln w="19050" cap="flat" cmpd="sng" algn="ctr">
                <a:solidFill>
                  <a:srgbClr val="830051"/>
                </a:solidFill>
                <a:prstDash val="sysDot"/>
                <a:miter lim="800000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31520" tIns="0" rIns="0" bIns="0" rtlCol="0" anchor="ctr"/>
              <a:lstStyle/>
              <a:p>
                <a:pPr algn="ctr"/>
                <a:r>
                  <a:rPr lang="en-US" sz="2800" b="1" dirty="0">
                    <a:solidFill>
                      <a:schemeClr val="tx1"/>
                    </a:solidFill>
                  </a:rPr>
                  <a:t>Observed TMP increase over time</a:t>
                </a:r>
                <a:r>
                  <a:rPr lang="en-US" sz="2800" dirty="0">
                    <a:solidFill>
                      <a:schemeClr val="tx1"/>
                    </a:solidFill>
                  </a:rPr>
                  <a:t>, from 3.8 psi up to 5.8 psi during steady state </a:t>
                </a:r>
              </a:p>
            </p:txBody>
          </p:sp>
        </p:grpSp>
        <p:pic>
          <p:nvPicPr>
            <p:cNvPr id="30" name="Graphic 29" descr="Statistics with solid fill">
              <a:extLst>
                <a:ext uri="{FF2B5EF4-FFF2-40B4-BE49-F238E27FC236}">
                  <a16:creationId xmlns:a16="http://schemas.microsoft.com/office/drawing/2014/main" id="{3AA3F34B-7D3A-9511-7622-37E9C9C15B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14267261" y="18767580"/>
              <a:ext cx="822960" cy="822960"/>
            </a:xfrm>
            <a:prstGeom prst="rect">
              <a:avLst/>
            </a:prstGeom>
          </p:spPr>
        </p:pic>
      </p:grpSp>
      <p:grpSp>
        <p:nvGrpSpPr>
          <p:cNvPr id="472" name="Group 471">
            <a:extLst>
              <a:ext uri="{FF2B5EF4-FFF2-40B4-BE49-F238E27FC236}">
                <a16:creationId xmlns:a16="http://schemas.microsoft.com/office/drawing/2014/main" id="{D2F86C1A-E292-9D3F-5974-6F91EFC365B8}"/>
              </a:ext>
            </a:extLst>
          </p:cNvPr>
          <p:cNvGrpSpPr/>
          <p:nvPr/>
        </p:nvGrpSpPr>
        <p:grpSpPr>
          <a:xfrm>
            <a:off x="10368980" y="3973989"/>
            <a:ext cx="13153810" cy="3171965"/>
            <a:chOff x="10368980" y="3973989"/>
            <a:chExt cx="13153810" cy="3171965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B0366E74-B3B2-3427-E5AA-EF385F7870FA}"/>
                </a:ext>
              </a:extLst>
            </p:cNvPr>
            <p:cNvGrpSpPr/>
            <p:nvPr/>
          </p:nvGrpSpPr>
          <p:grpSpPr>
            <a:xfrm>
              <a:off x="10368980" y="3973989"/>
              <a:ext cx="13153810" cy="3171965"/>
              <a:chOff x="10368980" y="3907083"/>
              <a:chExt cx="13153810" cy="3171965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A4A355CF-D53C-698A-CB3A-2D9D8A5B733F}"/>
                  </a:ext>
                </a:extLst>
              </p:cNvPr>
              <p:cNvGrpSpPr/>
              <p:nvPr/>
            </p:nvGrpSpPr>
            <p:grpSpPr>
              <a:xfrm>
                <a:off x="10368980" y="4221860"/>
                <a:ext cx="13153810" cy="2857188"/>
                <a:chOff x="10291727" y="4063861"/>
                <a:chExt cx="13153810" cy="2857188"/>
              </a:xfrm>
            </p:grpSpPr>
            <p:sp>
              <p:nvSpPr>
                <p:cNvPr id="35" name="Rectangle: Rounded Corners 34">
                  <a:extLst>
                    <a:ext uri="{FF2B5EF4-FFF2-40B4-BE49-F238E27FC236}">
                      <a16:creationId xmlns:a16="http://schemas.microsoft.com/office/drawing/2014/main" id="{461E9C30-DDD8-B419-0BDB-08FCB1554160}"/>
                    </a:ext>
                  </a:extLst>
                </p:cNvPr>
                <p:cNvSpPr/>
                <p:nvPr/>
              </p:nvSpPr>
              <p:spPr>
                <a:xfrm>
                  <a:off x="10296008" y="4063861"/>
                  <a:ext cx="6949440" cy="1371600"/>
                </a:xfrm>
                <a:prstGeom prst="roundRect">
                  <a:avLst/>
                </a:prstGeom>
                <a:noFill/>
                <a:ln w="19050" cap="flat" cmpd="sng" algn="ctr">
                  <a:solidFill>
                    <a:srgbClr val="F0AB00"/>
                  </a:solidFill>
                  <a:prstDash val="sysDot"/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70AD47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182880" rIns="0" bIns="0" rtlCol="0" anchor="ctr"/>
                <a:lstStyle/>
                <a:p>
                  <a:pPr algn="ctr"/>
                  <a:r>
                    <a:rPr lang="en-US" sz="2800" b="1" dirty="0">
                      <a:solidFill>
                        <a:schemeClr val="tx1"/>
                      </a:solidFill>
                    </a:rPr>
                    <a:t>Single-pass, integrated buffer exchange and concentration,</a:t>
                  </a:r>
                  <a:r>
                    <a:rPr lang="en-US" sz="2800" dirty="0">
                      <a:solidFill>
                        <a:schemeClr val="tx1"/>
                      </a:solidFill>
                    </a:rPr>
                    <a:t> up to 300 g/L from 7-30 g/L</a:t>
                  </a:r>
                </a:p>
              </p:txBody>
            </p:sp>
            <p:sp>
              <p:nvSpPr>
                <p:cNvPr id="42" name="Rectangle: Rounded Corners 41">
                  <a:extLst>
                    <a:ext uri="{FF2B5EF4-FFF2-40B4-BE49-F238E27FC236}">
                      <a16:creationId xmlns:a16="http://schemas.microsoft.com/office/drawing/2014/main" id="{6EC93007-6FE0-F19A-A981-9F780C3A18ED}"/>
                    </a:ext>
                  </a:extLst>
                </p:cNvPr>
                <p:cNvSpPr/>
                <p:nvPr/>
              </p:nvSpPr>
              <p:spPr>
                <a:xfrm>
                  <a:off x="10291727" y="5732329"/>
                  <a:ext cx="4206240" cy="1188720"/>
                </a:xfrm>
                <a:prstGeom prst="roundRect">
                  <a:avLst/>
                </a:prstGeom>
                <a:noFill/>
                <a:ln w="19050" cap="flat" cmpd="sng" algn="ctr">
                  <a:solidFill>
                    <a:srgbClr val="F0AB00"/>
                  </a:solidFill>
                  <a:prstDash val="sysDot"/>
                  <a:miter lim="800000"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640080" tIns="45720" rIns="0" bIns="0" rtlCol="0" anchor="ctr"/>
                <a:lstStyle/>
                <a:p>
                  <a:pPr algn="ctr"/>
                  <a:r>
                    <a:rPr lang="en-US" sz="2800" b="1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5-day continuous</a:t>
                  </a:r>
                  <a:r>
                    <a:rPr lang="en-US" sz="28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 </a:t>
                  </a:r>
                  <a:r>
                    <a:rPr lang="en-US" sz="2800" b="1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operation</a:t>
                  </a:r>
                  <a:r>
                    <a:rPr lang="en-US" sz="28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 at lab-scale</a:t>
                  </a:r>
                  <a:endParaRPr lang="en-US" sz="28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endParaRPr>
                </a:p>
              </p:txBody>
            </p:sp>
            <p:sp>
              <p:nvSpPr>
                <p:cNvPr id="45" name="Rectangle: Rounded Corners 44">
                  <a:extLst>
                    <a:ext uri="{FF2B5EF4-FFF2-40B4-BE49-F238E27FC236}">
                      <a16:creationId xmlns:a16="http://schemas.microsoft.com/office/drawing/2014/main" id="{BDF6F091-CEF3-BBB1-BB90-19A661D7831F}"/>
                    </a:ext>
                  </a:extLst>
                </p:cNvPr>
                <p:cNvSpPr/>
                <p:nvPr/>
              </p:nvSpPr>
              <p:spPr>
                <a:xfrm>
                  <a:off x="14674072" y="5732329"/>
                  <a:ext cx="3840480" cy="1188720"/>
                </a:xfrm>
                <a:prstGeom prst="roundRect">
                  <a:avLst/>
                </a:prstGeom>
                <a:noFill/>
                <a:ln w="19050" cap="flat" cmpd="sng" algn="ctr">
                  <a:solidFill>
                    <a:srgbClr val="F0AB00"/>
                  </a:solidFill>
                  <a:prstDash val="sysDot"/>
                  <a:miter lim="800000"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640080" tIns="45720" rIns="0" bIns="0" rtlCol="0" anchor="ctr"/>
                <a:lstStyle/>
                <a:p>
                  <a:pPr algn="ctr"/>
                  <a:r>
                    <a:rPr lang="en-US" sz="2800" b="1" dirty="0">
                      <a:solidFill>
                        <a:schemeClr val="tx1"/>
                      </a:solidFill>
                    </a:rPr>
                    <a:t>99.7% </a:t>
                  </a:r>
                  <a:r>
                    <a:rPr lang="en-US" sz="2800" dirty="0">
                      <a:solidFill>
                        <a:schemeClr val="tx1"/>
                      </a:solidFill>
                    </a:rPr>
                    <a:t>B12 impurity clearance</a:t>
                  </a:r>
                </a:p>
              </p:txBody>
            </p:sp>
            <p:sp>
              <p:nvSpPr>
                <p:cNvPr id="46" name="Rectangle: Rounded Corners 45">
                  <a:extLst>
                    <a:ext uri="{FF2B5EF4-FFF2-40B4-BE49-F238E27FC236}">
                      <a16:creationId xmlns:a16="http://schemas.microsoft.com/office/drawing/2014/main" id="{B8328AE3-EB96-A344-BCA8-4BC26B1C2C6B}"/>
                    </a:ext>
                  </a:extLst>
                </p:cNvPr>
                <p:cNvSpPr/>
                <p:nvPr/>
              </p:nvSpPr>
              <p:spPr>
                <a:xfrm>
                  <a:off x="17501937" y="4098188"/>
                  <a:ext cx="5943600" cy="1371600"/>
                </a:xfrm>
                <a:prstGeom prst="roundRect">
                  <a:avLst/>
                </a:prstGeom>
                <a:noFill/>
                <a:ln w="19050" cap="flat" cmpd="sng" algn="ctr">
                  <a:solidFill>
                    <a:srgbClr val="F0AB00"/>
                  </a:solidFill>
                  <a:prstDash val="sysDot"/>
                  <a:miter lim="800000"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182880" rIns="0" bIns="0" rtlCol="0" anchor="ctr"/>
                <a:lstStyle/>
                <a:p>
                  <a:pPr algn="ctr"/>
                  <a:r>
                    <a:rPr lang="en-US" sz="2800" b="1" dirty="0">
                      <a:solidFill>
                        <a:schemeClr val="tx1"/>
                      </a:solidFill>
                    </a:rPr>
                    <a:t>0.7 kg/m</a:t>
                  </a:r>
                  <a:r>
                    <a:rPr lang="en-US" sz="2800" b="1" baseline="30000" dirty="0">
                      <a:solidFill>
                        <a:schemeClr val="tx1"/>
                      </a:solidFill>
                    </a:rPr>
                    <a:t>2</a:t>
                  </a:r>
                  <a:r>
                    <a:rPr lang="en-US" sz="2800" b="1" dirty="0">
                      <a:solidFill>
                        <a:schemeClr val="tx1"/>
                      </a:solidFill>
                    </a:rPr>
                    <a:t>/day productivity, </a:t>
                  </a:r>
                  <a:r>
                    <a:rPr lang="en-US" sz="2800" dirty="0">
                      <a:solidFill>
                        <a:schemeClr val="tx1"/>
                      </a:solidFill>
                    </a:rPr>
                    <a:t>suitable for a 500L perfusion bioreactor</a:t>
                  </a:r>
                </a:p>
              </p:txBody>
            </p:sp>
            <p:sp>
              <p:nvSpPr>
                <p:cNvPr id="47" name="Rectangle: Rounded Corners 46">
                  <a:extLst>
                    <a:ext uri="{FF2B5EF4-FFF2-40B4-BE49-F238E27FC236}">
                      <a16:creationId xmlns:a16="http://schemas.microsoft.com/office/drawing/2014/main" id="{7FFC2538-1BE5-7D54-63E7-86730C3C3F4F}"/>
                    </a:ext>
                  </a:extLst>
                </p:cNvPr>
                <p:cNvSpPr/>
                <p:nvPr/>
              </p:nvSpPr>
              <p:spPr>
                <a:xfrm>
                  <a:off x="18690657" y="5732329"/>
                  <a:ext cx="4754880" cy="1188720"/>
                </a:xfrm>
                <a:prstGeom prst="roundRect">
                  <a:avLst/>
                </a:prstGeom>
                <a:noFill/>
                <a:ln w="19050" cap="flat" cmpd="sng" algn="ctr">
                  <a:solidFill>
                    <a:srgbClr val="F0AB00"/>
                  </a:solidFill>
                  <a:prstDash val="sysDot"/>
                  <a:miter lim="800000"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640080" tIns="45720" rIns="0" bIns="0" rtlCol="0" anchor="ctr"/>
                <a:lstStyle/>
                <a:p>
                  <a:pPr algn="ctr"/>
                  <a:r>
                    <a:rPr lang="en-US" sz="2800" b="1" dirty="0">
                      <a:solidFill>
                        <a:schemeClr val="tx1"/>
                      </a:solidFill>
                    </a:rPr>
                    <a:t>75% less buffer utilization </a:t>
                  </a:r>
                  <a:r>
                    <a:rPr lang="en-US" sz="2800" dirty="0">
                      <a:solidFill>
                        <a:schemeClr val="tx1"/>
                      </a:solidFill>
                    </a:rPr>
                    <a:t>compared to batch DF</a:t>
                  </a:r>
                </a:p>
              </p:txBody>
            </p:sp>
            <p:pic>
              <p:nvPicPr>
                <p:cNvPr id="48" name="Graphic 47" descr="Continuous Improvement with solid fill">
                  <a:extLst>
                    <a:ext uri="{FF2B5EF4-FFF2-40B4-BE49-F238E27FC236}">
                      <a16:creationId xmlns:a16="http://schemas.microsoft.com/office/drawing/2014/main" id="{7AD6142E-79D8-70AC-9974-B7ABE77B019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2">
                  <a:extLst>
                    <a:ext uri="{96DAC541-7B7A-43D3-8B79-37D633B846F1}">
                      <asvg:svgBlip xmlns:asvg="http://schemas.microsoft.com/office/drawing/2016/SVG/main" r:embed="rId3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40800" y="5915209"/>
                  <a:ext cx="822960" cy="822960"/>
                </a:xfrm>
                <a:prstGeom prst="rect">
                  <a:avLst/>
                </a:prstGeom>
              </p:spPr>
            </p:pic>
            <p:sp>
              <p:nvSpPr>
                <p:cNvPr id="49" name="Arrow: Down 48">
                  <a:extLst>
                    <a:ext uri="{FF2B5EF4-FFF2-40B4-BE49-F238E27FC236}">
                      <a16:creationId xmlns:a16="http://schemas.microsoft.com/office/drawing/2014/main" id="{BDE26789-A109-6AA1-6CC7-9464CBA6B061}"/>
                    </a:ext>
                  </a:extLst>
                </p:cNvPr>
                <p:cNvSpPr/>
                <p:nvPr/>
              </p:nvSpPr>
              <p:spPr>
                <a:xfrm>
                  <a:off x="18861660" y="6032452"/>
                  <a:ext cx="548640" cy="603504"/>
                </a:xfrm>
                <a:prstGeom prst="downArrow">
                  <a:avLst>
                    <a:gd name="adj1" fmla="val 43056"/>
                    <a:gd name="adj2" fmla="val 50000"/>
                  </a:avLst>
                </a:prstGeom>
                <a:no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pic>
            <p:nvPicPr>
              <p:cNvPr id="54" name="Graphic 53">
                <a:extLst>
                  <a:ext uri="{FF2B5EF4-FFF2-40B4-BE49-F238E27FC236}">
                    <a16:creationId xmlns:a16="http://schemas.microsoft.com/office/drawing/2014/main" id="{AE31A68C-E524-5119-7817-FB645B05FE2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5"/>
                  </a:ext>
                </a:extLst>
              </a:blip>
              <a:srcRect l="17976" t="27951" r="19685" b="23966"/>
              <a:stretch/>
            </p:blipFill>
            <p:spPr>
              <a:xfrm>
                <a:off x="13527941" y="3946035"/>
                <a:ext cx="640080" cy="640080"/>
              </a:xfrm>
              <a:prstGeom prst="rect">
                <a:avLst/>
              </a:prstGeom>
            </p:spPr>
          </p:pic>
          <p:pic>
            <p:nvPicPr>
              <p:cNvPr id="55" name="Graphic 54" descr="Logarithmic Graph with solid fill">
                <a:extLst>
                  <a:ext uri="{FF2B5EF4-FFF2-40B4-BE49-F238E27FC236}">
                    <a16:creationId xmlns:a16="http://schemas.microsoft.com/office/drawing/2014/main" id="{0BB6B1BF-5EAE-468E-F3C0-DAF5530717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6">
                <a:extLst>
                  <a:ext uri="{96DAC541-7B7A-43D3-8B79-37D633B846F1}">
                    <asvg:svgBlip xmlns:asvg="http://schemas.microsoft.com/office/drawing/2016/SVG/main" r:embed="rId37"/>
                  </a:ext>
                </a:extLst>
              </a:blip>
              <a:stretch>
                <a:fillRect/>
              </a:stretch>
            </p:blipFill>
            <p:spPr>
              <a:xfrm>
                <a:off x="20185230" y="3907083"/>
                <a:ext cx="731520" cy="731520"/>
              </a:xfrm>
              <a:prstGeom prst="rect">
                <a:avLst/>
              </a:prstGeom>
            </p:spPr>
          </p:pic>
        </p:grpSp>
        <p:pic>
          <p:nvPicPr>
            <p:cNvPr id="470" name="Graphic 469" descr="Water outline">
              <a:extLst>
                <a:ext uri="{FF2B5EF4-FFF2-40B4-BE49-F238E27FC236}">
                  <a16:creationId xmlns:a16="http://schemas.microsoft.com/office/drawing/2014/main" id="{F710B6C5-D2B7-2CBB-F86B-CA485EF498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14818381" y="6193349"/>
              <a:ext cx="731520" cy="7315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0669918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16.09.30"/>
  <p:tag name="AS_TITLE" val="Aspose.Slides for .NET 4.0"/>
  <p:tag name="AS_VERSION" val="16.9.0.0"/>
  <p:tag name="MAKESIGNSTEMPLATE" val="deliberatingwatermelon|09-201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8790</TotalTime>
  <Words>586</Words>
  <Application>Microsoft Office PowerPoint</Application>
  <PresentationFormat>Custom</PresentationFormat>
  <Paragraphs>74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Office Theme</vt:lpstr>
      <vt:lpstr>Prism 10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to create a scientific poster</dc:title>
  <dc:subject>Free Research Poster</dc:subject>
  <dc:creator>Graphicsland/MakeSigns.com</dc:creator>
  <cp:keywords>scientific, research, template, custom, poster, presentation, symposium, printing, powerpoint, create, design, example, sample, download</cp:keywords>
  <dc:description>Download our scientific poster templates at no cost to you and get one step closer to making a great research poster.</dc:description>
  <cp:lastModifiedBy>Chen, Michelle</cp:lastModifiedBy>
  <cp:revision>3</cp:revision>
  <cp:lastPrinted>2012-07-31T19:59:21Z</cp:lastPrinted>
  <dcterms:modified xsi:type="dcterms:W3CDTF">2025-03-01T19:58:28Z</dcterms:modified>
  <cp:category>research posters template</cp:category>
</cp:coreProperties>
</file>