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9"/>
  </p:notesMasterIdLst>
  <p:handoutMasterIdLst>
    <p:handoutMasterId r:id="rId10"/>
  </p:handoutMasterIdLst>
  <p:sldIdLst>
    <p:sldId id="1822" r:id="rId6"/>
    <p:sldId id="1823" r:id="rId7"/>
    <p:sldId id="182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0026"/>
    <a:srgbClr val="FF9BB3"/>
    <a:srgbClr val="8DB9CA"/>
    <a:srgbClr val="5192A2"/>
    <a:srgbClr val="6FB9F1"/>
    <a:srgbClr val="1480D1"/>
    <a:srgbClr val="EB95CE"/>
    <a:srgbClr val="80185D"/>
    <a:srgbClr val="2958BE"/>
    <a:srgbClr val="BDC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1355C9-EE6C-4440-8CA0-15DCBD5BC430}" v="585" dt="2024-09-05T12:07:16.8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0" autoAdjust="0"/>
    <p:restoredTop sz="94975" autoAdjust="0"/>
  </p:normalViewPr>
  <p:slideViewPr>
    <p:cSldViewPr snapToGrid="0">
      <p:cViewPr varScale="1">
        <p:scale>
          <a:sx n="150" d="100"/>
          <a:sy n="150" d="100"/>
        </p:scale>
        <p:origin x="54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A65BAE-02CD-5EDE-F7AF-39FF73C635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5190A5-086F-11C6-B6B6-0C67E741FF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50243-5D31-4CFD-920C-3DCB8F675E23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E8342-4B75-369D-27BC-B88F23A62D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933F8-76DE-43D2-FA78-074D49977A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E7E52-6E52-4298-9FA6-35975EBEFD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327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E4CE1D-6146-4A5B-841E-2B6A16CDC79A}" type="datetimeFigureOut">
              <a:rPr lang="en-GB" smtClean="0"/>
              <a:t>09/09/2024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D79B8-A45C-45E5-B0CF-2D6AFE8FD3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99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8287" cy="3724275"/>
          </a:xfrm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xfrm>
            <a:off x="251766" y="4715176"/>
            <a:ext cx="6347644" cy="44678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657" eaLnBrk="0" hangingPunct="0">
              <a:spcBef>
                <a:spcPct val="35000"/>
              </a:spcBef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1836" indent="-285321" defTabSz="952657" eaLnBrk="0" hangingPunct="0">
              <a:spcBef>
                <a:spcPct val="35000"/>
              </a:spcBef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1286" indent="-228257" defTabSz="952657" eaLnBrk="0" hangingPunct="0">
              <a:spcBef>
                <a:spcPct val="35000"/>
              </a:spcBef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597800" indent="-228257" defTabSz="952657" eaLnBrk="0" hangingPunct="0">
              <a:spcBef>
                <a:spcPct val="35000"/>
              </a:spcBef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4314" indent="-228257" defTabSz="952657" eaLnBrk="0" hangingPunct="0">
              <a:spcBef>
                <a:spcPct val="35000"/>
              </a:spcBef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0828" indent="-228257" defTabSz="952657" eaLnBrk="0" fontAlgn="base" hangingPunct="0">
              <a:spcBef>
                <a:spcPct val="35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67342" indent="-228257" defTabSz="952657" eaLnBrk="0" fontAlgn="base" hangingPunct="0">
              <a:spcBef>
                <a:spcPct val="35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3857" indent="-228257" defTabSz="952657" eaLnBrk="0" fontAlgn="base" hangingPunct="0">
              <a:spcBef>
                <a:spcPct val="35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0371" indent="-228257" defTabSz="952657" eaLnBrk="0" fontAlgn="base" hangingPunct="0">
              <a:spcBef>
                <a:spcPct val="35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5265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AB64B-C6BF-4401-A42F-C945B3ADAA66}" type="slidenum">
              <a:rPr kumimoji="0" lang="en-GB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5265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3131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8287" cy="3724275"/>
          </a:xfrm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xfrm>
            <a:off x="251766" y="4715176"/>
            <a:ext cx="6347644" cy="44678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657" eaLnBrk="0" hangingPunct="0">
              <a:spcBef>
                <a:spcPct val="35000"/>
              </a:spcBef>
              <a:defRPr sz="1600" b="1">
                <a:solidFill>
                  <a:schemeClr val="tx1"/>
                </a:solidFill>
                <a:latin typeface="Arial" charset="0"/>
              </a:defRPr>
            </a:lvl1pPr>
            <a:lvl2pPr marL="741836" indent="-285321" defTabSz="952657" eaLnBrk="0" hangingPunct="0">
              <a:spcBef>
                <a:spcPct val="35000"/>
              </a:spcBef>
              <a:defRPr sz="1600" b="1">
                <a:solidFill>
                  <a:schemeClr val="tx1"/>
                </a:solidFill>
                <a:latin typeface="Arial" charset="0"/>
              </a:defRPr>
            </a:lvl2pPr>
            <a:lvl3pPr marL="1141286" indent="-228257" defTabSz="952657" eaLnBrk="0" hangingPunct="0">
              <a:spcBef>
                <a:spcPct val="35000"/>
              </a:spcBef>
              <a:defRPr sz="1600" b="1">
                <a:solidFill>
                  <a:schemeClr val="tx1"/>
                </a:solidFill>
                <a:latin typeface="Arial" charset="0"/>
              </a:defRPr>
            </a:lvl3pPr>
            <a:lvl4pPr marL="1597800" indent="-228257" defTabSz="952657" eaLnBrk="0" hangingPunct="0">
              <a:spcBef>
                <a:spcPct val="35000"/>
              </a:spcBef>
              <a:defRPr sz="1600" b="1">
                <a:solidFill>
                  <a:schemeClr val="tx1"/>
                </a:solidFill>
                <a:latin typeface="Arial" charset="0"/>
              </a:defRPr>
            </a:lvl4pPr>
            <a:lvl5pPr marL="2054314" indent="-228257" defTabSz="952657" eaLnBrk="0" hangingPunct="0">
              <a:spcBef>
                <a:spcPct val="35000"/>
              </a:spcBef>
              <a:defRPr sz="1600" b="1">
                <a:solidFill>
                  <a:schemeClr val="tx1"/>
                </a:solidFill>
                <a:latin typeface="Arial" charset="0"/>
              </a:defRPr>
            </a:lvl5pPr>
            <a:lvl6pPr marL="2510828" indent="-228257" defTabSz="952657" eaLnBrk="0" fontAlgn="base" hangingPunct="0">
              <a:spcBef>
                <a:spcPct val="35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6pPr>
            <a:lvl7pPr marL="2967342" indent="-228257" defTabSz="952657" eaLnBrk="0" fontAlgn="base" hangingPunct="0">
              <a:spcBef>
                <a:spcPct val="35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7pPr>
            <a:lvl8pPr marL="3423857" indent="-228257" defTabSz="952657" eaLnBrk="0" fontAlgn="base" hangingPunct="0">
              <a:spcBef>
                <a:spcPct val="35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8pPr>
            <a:lvl9pPr marL="3880371" indent="-228257" defTabSz="952657" eaLnBrk="0" fontAlgn="base" hangingPunct="0">
              <a:spcBef>
                <a:spcPct val="35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5265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AB64B-C6BF-4401-A42F-C945B3ADAA66}" type="slidenum">
              <a:rPr kumimoji="0" lang="en-GB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52657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0868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Marie Dorn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ICB VI Leesburg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70651"/>
            <a:ext cx="2844800" cy="365125"/>
          </a:xfrm>
          <a:prstGeom prst="rect">
            <a:avLst/>
          </a:prstGeom>
        </p:spPr>
        <p:txBody>
          <a:bodyPr/>
          <a:lstStyle/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90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Marie Dorn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ICB VI Leesburg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92876"/>
            <a:ext cx="2844800" cy="365125"/>
          </a:xfrm>
          <a:prstGeom prst="rect">
            <a:avLst/>
          </a:prstGeom>
        </p:spPr>
        <p:txBody>
          <a:bodyPr/>
          <a:lstStyle/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48506" y="85561"/>
            <a:ext cx="10972800" cy="710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248505" y="972247"/>
            <a:ext cx="11784609" cy="5263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611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Marie Dorn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ICB VI Leesburg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70651"/>
            <a:ext cx="2844800" cy="365125"/>
          </a:xfrm>
          <a:prstGeom prst="rect">
            <a:avLst/>
          </a:prstGeom>
        </p:spPr>
        <p:txBody>
          <a:bodyPr/>
          <a:lstStyle/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15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2656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Marie Dorn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ICB VI Leesburg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47200" y="6470651"/>
            <a:ext cx="2844800" cy="365125"/>
          </a:xfrm>
          <a:prstGeom prst="rect">
            <a:avLst/>
          </a:prstGeom>
        </p:spPr>
        <p:txBody>
          <a:bodyPr/>
          <a:lstStyle/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49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2656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Marie Dorn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ICB VI Leesburg 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347200" y="6470651"/>
            <a:ext cx="2844800" cy="365125"/>
          </a:xfrm>
          <a:prstGeom prst="rect">
            <a:avLst/>
          </a:prstGeom>
        </p:spPr>
        <p:txBody>
          <a:bodyPr/>
          <a:lstStyle/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01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2656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Marie Dorn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ICB VI Leesburg 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47200" y="6470651"/>
            <a:ext cx="2844800" cy="365125"/>
          </a:xfrm>
          <a:prstGeom prst="rect">
            <a:avLst/>
          </a:prstGeom>
        </p:spPr>
        <p:txBody>
          <a:bodyPr/>
          <a:lstStyle/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08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Marie Dorn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ICB VI Leesburg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47200" y="6470651"/>
            <a:ext cx="2844800" cy="365125"/>
          </a:xfrm>
          <a:prstGeom prst="rect">
            <a:avLst/>
          </a:prstGeom>
        </p:spPr>
        <p:txBody>
          <a:bodyPr/>
          <a:lstStyle/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59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Marie Dorn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ICB VI Leesburg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47200" y="6470651"/>
            <a:ext cx="2844800" cy="365125"/>
          </a:xfrm>
          <a:prstGeom prst="rect">
            <a:avLst/>
          </a:prstGeom>
        </p:spPr>
        <p:txBody>
          <a:bodyPr/>
          <a:lstStyle/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17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Marie Dorn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ICB VI Leesburg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47200" y="6470651"/>
            <a:ext cx="2844800" cy="365125"/>
          </a:xfrm>
          <a:prstGeom prst="rect">
            <a:avLst/>
          </a:prstGeom>
        </p:spPr>
        <p:txBody>
          <a:bodyPr/>
          <a:lstStyle/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72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2656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Marie Dorn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ICB VI Leesburg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70651"/>
            <a:ext cx="2844800" cy="365125"/>
          </a:xfrm>
          <a:prstGeom prst="rect">
            <a:avLst/>
          </a:prstGeom>
        </p:spPr>
        <p:txBody>
          <a:bodyPr/>
          <a:lstStyle/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50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Marie Dorn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ICB VI Leesburg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7200" y="6470651"/>
            <a:ext cx="2844800" cy="365125"/>
          </a:xfrm>
          <a:prstGeom prst="rect">
            <a:avLst/>
          </a:prstGeom>
        </p:spPr>
        <p:txBody>
          <a:bodyPr/>
          <a:lstStyle/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345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on 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4400"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</a:defRPr>
            </a:lvl1pPr>
          </a:lstStyle>
          <a:p>
            <a:pPr>
              <a:defRPr/>
            </a:pPr>
            <a:fld id="{277CDF94-194B-4063-ABD2-A12BDA453EFF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59999" y="180000"/>
            <a:ext cx="10440000" cy="6180160"/>
          </a:xfrm>
        </p:spPr>
        <p:txBody>
          <a:bodyPr anchor="ctr" anchorCtr="0"/>
          <a:lstStyle>
            <a:lvl1pPr>
              <a:defRPr baseline="0"/>
            </a:lvl1pPr>
          </a:lstStyle>
          <a:p>
            <a:r>
              <a:rPr lang="en-US"/>
              <a:t>Section Divider page, quote or title here</a:t>
            </a:r>
          </a:p>
        </p:txBody>
      </p:sp>
    </p:spTree>
    <p:extLst>
      <p:ext uri="{BB962C8B-B14F-4D97-AF65-F5344CB8AC3E}">
        <p14:creationId xmlns:p14="http://schemas.microsoft.com/office/powerpoint/2010/main" val="1229935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67000">
              <a:srgbClr val="5192A2"/>
            </a:gs>
            <a:gs pos="0">
              <a:srgbClr val="003D4C"/>
            </a:gs>
            <a:gs pos="18000">
              <a:srgbClr val="E9FBFF"/>
            </a:gs>
            <a:gs pos="42000">
              <a:srgbClr val="A8EEFF"/>
            </a:gs>
            <a:gs pos="90000">
              <a:srgbClr val="003D4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2E0F43-999E-1360-4795-D2B4B2443590}"/>
              </a:ext>
            </a:extLst>
          </p:cNvPr>
          <p:cNvSpPr/>
          <p:nvPr userDrawn="1"/>
        </p:nvSpPr>
        <p:spPr>
          <a:xfrm>
            <a:off x="-2475" y="6392000"/>
            <a:ext cx="12193200" cy="450000"/>
          </a:xfrm>
          <a:prstGeom prst="rect">
            <a:avLst/>
          </a:prstGeom>
          <a:solidFill>
            <a:srgbClr val="003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6483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Marie Dorn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83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ICB VI Leesburg 2024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20200" y="647823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D4013-1023-46E1-9F26-7BFEF5531708}" type="slidenum">
              <a:rPr lang="en-GB" smtClean="0"/>
              <a:t>‹#›</a:t>
            </a:fld>
            <a:endParaRPr lang="en-GB"/>
          </a:p>
        </p:txBody>
      </p:sp>
      <p:pic>
        <p:nvPicPr>
          <p:cNvPr id="2" name="UCL Banner">
            <a:extLst>
              <a:ext uri="{FF2B5EF4-FFF2-40B4-BE49-F238E27FC236}">
                <a16:creationId xmlns:a16="http://schemas.microsoft.com/office/drawing/2014/main" id="{097277DA-5CB4-FB55-6986-BFDDAC49A8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22" b="1"/>
          <a:stretch/>
        </p:blipFill>
        <p:spPr>
          <a:xfrm>
            <a:off x="-2475" y="0"/>
            <a:ext cx="12193200" cy="129831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05027" y="0"/>
            <a:ext cx="10972800" cy="710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05026" y="884698"/>
            <a:ext cx="11847543" cy="5341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034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A4BFF7C-1317-1F1E-BF13-E08EBD4F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06" y="85561"/>
            <a:ext cx="11841894" cy="1095539"/>
          </a:xfrm>
        </p:spPr>
        <p:txBody>
          <a:bodyPr>
            <a:noAutofit/>
          </a:bodyPr>
          <a:lstStyle/>
          <a:p>
            <a:r>
              <a:rPr lang="en-GB" sz="3200" cap="all" dirty="0">
                <a:solidFill>
                  <a:schemeClr val="bg1"/>
                </a:solidFill>
              </a:rPr>
              <a:t>Early Manufacturing Insights and clone selection </a:t>
            </a:r>
            <a:br>
              <a:rPr lang="en-GB" sz="3200" cap="all" dirty="0">
                <a:solidFill>
                  <a:schemeClr val="bg1"/>
                </a:solidFill>
              </a:rPr>
            </a:br>
            <a:r>
              <a:rPr lang="en-GB" sz="3200" cap="all" dirty="0">
                <a:solidFill>
                  <a:schemeClr val="bg1"/>
                </a:solidFill>
              </a:rPr>
              <a:t>for perfusion processes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05A33-57B8-2376-2C99-446F54BB1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07150"/>
            <a:ext cx="3860800" cy="432000"/>
          </a:xfrm>
        </p:spPr>
        <p:txBody>
          <a:bodyPr/>
          <a:lstStyle/>
          <a:p>
            <a:r>
              <a:rPr lang="en-GB" sz="1600" dirty="0">
                <a:solidFill>
                  <a:schemeClr val="bg1"/>
                </a:solidFill>
              </a:rPr>
              <a:t>Integrated Continuous Biomanufacturing VI</a:t>
            </a:r>
          </a:p>
          <a:p>
            <a:r>
              <a:rPr lang="en-GB" sz="1600" dirty="0">
                <a:solidFill>
                  <a:schemeClr val="bg1"/>
                </a:solidFill>
              </a:rPr>
              <a:t> Leesburg Virginia, Oct 20 – 24,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4E5D5-4DDD-4200-2B80-F2B2DF62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600" y="6416674"/>
            <a:ext cx="2844800" cy="432000"/>
          </a:xfrm>
        </p:spPr>
        <p:txBody>
          <a:bodyPr/>
          <a:lstStyle/>
          <a:p>
            <a:fld id="{EC6D4013-1023-46E1-9F26-7BFEF5531708}" type="slidenum">
              <a:rPr lang="en-GB" sz="1600" smtClean="0">
                <a:solidFill>
                  <a:schemeClr val="bg1"/>
                </a:solidFill>
              </a:rPr>
              <a:t>1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D1EF73-D899-8CE8-13CA-E3930B0A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07150"/>
            <a:ext cx="2844800" cy="432000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Marie Dorn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460BB83-1E20-CCF0-F61F-8EB1B5843A33}"/>
              </a:ext>
            </a:extLst>
          </p:cNvPr>
          <p:cNvSpPr/>
          <p:nvPr/>
        </p:nvSpPr>
        <p:spPr>
          <a:xfrm>
            <a:off x="586879" y="1969200"/>
            <a:ext cx="11018243" cy="432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(1) bioreactor, (2) cell and product removal, (3) cell retention device, (4) cell recirculation, (5) medium feed, (6) product removal</a:t>
            </a:r>
          </a:p>
        </p:txBody>
      </p:sp>
      <p:sp>
        <p:nvSpPr>
          <p:cNvPr id="52" name="Rectangle: Top Corners Rounded 51">
            <a:extLst>
              <a:ext uri="{FF2B5EF4-FFF2-40B4-BE49-F238E27FC236}">
                <a16:creationId xmlns:a16="http://schemas.microsoft.com/office/drawing/2014/main" id="{AD38DB4A-AC2F-E003-1D1C-954909633B87}"/>
              </a:ext>
            </a:extLst>
          </p:cNvPr>
          <p:cNvSpPr/>
          <p:nvPr/>
        </p:nvSpPr>
        <p:spPr>
          <a:xfrm>
            <a:off x="586879" y="1483200"/>
            <a:ext cx="11018243" cy="473362"/>
          </a:xfrm>
          <a:prstGeom prst="round2SameRect">
            <a:avLst/>
          </a:prstGeom>
          <a:solidFill>
            <a:srgbClr val="003D4C"/>
          </a:solidFill>
          <a:ln w="12700" cap="flat" cmpd="sng" algn="ctr">
            <a:solidFill>
              <a:srgbClr val="003D4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Knowledge gap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CFA677C-7556-9DA0-5FBB-26928D93000C}"/>
              </a:ext>
            </a:extLst>
          </p:cNvPr>
          <p:cNvSpPr/>
          <p:nvPr/>
        </p:nvSpPr>
        <p:spPr>
          <a:xfrm>
            <a:off x="1030645" y="2038196"/>
            <a:ext cx="2028345" cy="556193"/>
          </a:xfrm>
          <a:prstGeom prst="roundRect">
            <a:avLst/>
          </a:prstGeom>
          <a:solidFill>
            <a:srgbClr val="8DB9CA">
              <a:lumMod val="60000"/>
              <a:lumOff val="40000"/>
              <a:alpha val="50000"/>
            </a:srgbClr>
          </a:solidFill>
          <a:ln w="19050" cap="flat" cmpd="sng" algn="ctr">
            <a:solidFill>
              <a:srgbClr val="8DB9C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Screening in MWP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C36E898-9790-67B7-E935-6204E46A9640}"/>
              </a:ext>
            </a:extLst>
          </p:cNvPr>
          <p:cNvSpPr/>
          <p:nvPr/>
        </p:nvSpPr>
        <p:spPr>
          <a:xfrm>
            <a:off x="2240214" y="2777555"/>
            <a:ext cx="2028345" cy="556193"/>
          </a:xfrm>
          <a:prstGeom prst="roundRect">
            <a:avLst/>
          </a:prstGeom>
          <a:solidFill>
            <a:srgbClr val="8DB9CA">
              <a:lumMod val="60000"/>
              <a:lumOff val="40000"/>
              <a:alpha val="50000"/>
            </a:srgbClr>
          </a:solidFill>
          <a:ln w="19050" cap="flat" cmpd="sng" algn="ctr">
            <a:solidFill>
              <a:srgbClr val="8DB9C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Screening in </a:t>
            </a:r>
            <a:r>
              <a:rPr lang="en-GB" sz="1600" kern="0">
                <a:solidFill>
                  <a:srgbClr val="000000"/>
                </a:solidFill>
                <a:latin typeface="Calibri" panose="020F0502020204030204"/>
              </a:rPr>
              <a:t>mini-bioreactor </a:t>
            </a:r>
            <a:r>
              <a:rPr lang="en-GB" sz="1600" kern="0" dirty="0">
                <a:solidFill>
                  <a:srgbClr val="000000"/>
                </a:solidFill>
                <a:latin typeface="Calibri" panose="020F0502020204030204"/>
              </a:rPr>
              <a:t>(M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BR)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AB9E2BB-ED9F-07DC-C66F-D82B98B9C077}"/>
              </a:ext>
            </a:extLst>
          </p:cNvPr>
          <p:cNvSpPr/>
          <p:nvPr/>
        </p:nvSpPr>
        <p:spPr>
          <a:xfrm>
            <a:off x="3393764" y="3569192"/>
            <a:ext cx="2028345" cy="556193"/>
          </a:xfrm>
          <a:prstGeom prst="roundRect">
            <a:avLst/>
          </a:prstGeom>
          <a:solidFill>
            <a:srgbClr val="8DB9CA">
              <a:lumMod val="60000"/>
              <a:lumOff val="40000"/>
              <a:alpha val="50000"/>
            </a:srgbClr>
          </a:solidFill>
          <a:ln w="19050" cap="flat" cmpd="sng" algn="ctr">
            <a:solidFill>
              <a:srgbClr val="8DB9C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Bench scale optimisation</a:t>
            </a:r>
          </a:p>
        </p:txBody>
      </p:sp>
      <p:sp>
        <p:nvSpPr>
          <p:cNvPr id="56" name="Arrow: Bent-Up 55">
            <a:extLst>
              <a:ext uri="{FF2B5EF4-FFF2-40B4-BE49-F238E27FC236}">
                <a16:creationId xmlns:a16="http://schemas.microsoft.com/office/drawing/2014/main" id="{1E003643-65B5-5C4E-A322-93BD3B3F92DD}"/>
              </a:ext>
            </a:extLst>
          </p:cNvPr>
          <p:cNvSpPr/>
          <p:nvPr/>
        </p:nvSpPr>
        <p:spPr>
          <a:xfrm rot="5400000">
            <a:off x="1541283" y="2653619"/>
            <a:ext cx="476076" cy="578775"/>
          </a:xfrm>
          <a:prstGeom prst="bentUpArrow">
            <a:avLst/>
          </a:prstGeom>
          <a:solidFill>
            <a:srgbClr val="8DB9CA">
              <a:lumMod val="60000"/>
              <a:lumOff val="40000"/>
            </a:srgbClr>
          </a:solidFill>
          <a:ln w="12700" cap="flat" cmpd="sng" algn="ctr">
            <a:solidFill>
              <a:srgbClr val="8DB9C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Arrow: Bent-Up 56">
            <a:extLst>
              <a:ext uri="{FF2B5EF4-FFF2-40B4-BE49-F238E27FC236}">
                <a16:creationId xmlns:a16="http://schemas.microsoft.com/office/drawing/2014/main" id="{60E8CC97-1BEE-7ED6-3D1A-3CA01F079516}"/>
              </a:ext>
            </a:extLst>
          </p:cNvPr>
          <p:cNvSpPr/>
          <p:nvPr/>
        </p:nvSpPr>
        <p:spPr>
          <a:xfrm rot="5400000">
            <a:off x="2671843" y="3425508"/>
            <a:ext cx="556193" cy="608892"/>
          </a:xfrm>
          <a:prstGeom prst="bentUpArrow">
            <a:avLst/>
          </a:prstGeom>
          <a:solidFill>
            <a:srgbClr val="8DB9CA">
              <a:lumMod val="60000"/>
              <a:lumOff val="40000"/>
            </a:srgbClr>
          </a:solidFill>
          <a:ln w="12700" cap="flat" cmpd="sng" algn="ctr">
            <a:solidFill>
              <a:srgbClr val="8DB9CA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77A6ABF-EDDF-9165-00A0-2D48DFF8AEA1}"/>
              </a:ext>
            </a:extLst>
          </p:cNvPr>
          <p:cNvSpPr/>
          <p:nvPr/>
        </p:nvSpPr>
        <p:spPr>
          <a:xfrm>
            <a:off x="3418409" y="2065588"/>
            <a:ext cx="1929230" cy="463871"/>
          </a:xfrm>
          <a:prstGeom prst="roundRect">
            <a:avLst/>
          </a:prstGeom>
          <a:solidFill>
            <a:srgbClr val="8DB9CA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Fed-Batch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079AE87-D364-0930-D38F-CA343B7D31CB}"/>
              </a:ext>
            </a:extLst>
          </p:cNvPr>
          <p:cNvSpPr/>
          <p:nvPr/>
        </p:nvSpPr>
        <p:spPr>
          <a:xfrm>
            <a:off x="4440064" y="2869877"/>
            <a:ext cx="1929230" cy="463871"/>
          </a:xfrm>
          <a:prstGeom prst="roundRect">
            <a:avLst/>
          </a:prstGeom>
          <a:solidFill>
            <a:srgbClr val="8DB9CA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Semi-perfusion/ retro-fitted perfusion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DE39B37-740A-E0C1-2C93-42EEDBA76F67}"/>
              </a:ext>
            </a:extLst>
          </p:cNvPr>
          <p:cNvSpPr/>
          <p:nvPr/>
        </p:nvSpPr>
        <p:spPr>
          <a:xfrm>
            <a:off x="5634100" y="3661514"/>
            <a:ext cx="1929230" cy="463871"/>
          </a:xfrm>
          <a:prstGeom prst="roundRect">
            <a:avLst/>
          </a:prstGeom>
          <a:solidFill>
            <a:srgbClr val="8DB9CA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Perfusion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0510B5-BCF3-656F-6876-B83FC96B5613}"/>
              </a:ext>
            </a:extLst>
          </p:cNvPr>
          <p:cNvSpPr txBox="1"/>
          <p:nvPr/>
        </p:nvSpPr>
        <p:spPr>
          <a:xfrm>
            <a:off x="6057770" y="2088968"/>
            <a:ext cx="51767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Shift of operation mode</a:t>
            </a:r>
            <a:r>
              <a:rPr lang="en-GB" kern="0" dirty="0">
                <a:solidFill>
                  <a:srgbClr val="000000"/>
                </a:solidFill>
              </a:rPr>
              <a:t> </a:t>
            </a:r>
            <a:r>
              <a:rPr kumimoji="0" lang="en-GB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(MO)</a:t>
            </a:r>
          </a:p>
          <a:p>
            <a:pPr marL="742950" marR="0" lvl="1" indent="-28575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Different physiological conditions experienced by the cell culture</a:t>
            </a:r>
          </a:p>
          <a:p>
            <a:pPr marL="1657350" marR="0" lvl="3" indent="-28575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FB to (quasi-)perfusion – changing to (quasi-)constant environment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9A80955-1D93-A317-4461-B68A8AD2749E}"/>
              </a:ext>
            </a:extLst>
          </p:cNvPr>
          <p:cNvSpPr/>
          <p:nvPr/>
        </p:nvSpPr>
        <p:spPr>
          <a:xfrm>
            <a:off x="957528" y="4373052"/>
            <a:ext cx="10276945" cy="540000"/>
          </a:xfrm>
          <a:prstGeom prst="roundRect">
            <a:avLst/>
          </a:prstGeom>
          <a:gradFill rotWithShape="1">
            <a:gsLst>
              <a:gs pos="0">
                <a:srgbClr val="8DB9CA">
                  <a:lumMod val="110000"/>
                  <a:satMod val="105000"/>
                  <a:tint val="67000"/>
                </a:srgbClr>
              </a:gs>
              <a:gs pos="50000">
                <a:srgbClr val="8DB9CA">
                  <a:lumMod val="105000"/>
                  <a:satMod val="103000"/>
                  <a:tint val="73000"/>
                </a:srgbClr>
              </a:gs>
              <a:gs pos="100000">
                <a:srgbClr val="8DB9CA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19050" cap="flat" cmpd="sng" algn="ctr">
            <a:solidFill>
              <a:srgbClr val="5192A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457200"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impact </a:t>
            </a:r>
            <a:r>
              <a:rPr lang="en-GB" sz="2400" b="1" dirty="0"/>
              <a:t>does operation mode have on early-stage clone selection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 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416CCF4-E967-E674-0ED0-24BEA2BB9C20}"/>
              </a:ext>
            </a:extLst>
          </p:cNvPr>
          <p:cNvCxnSpPr>
            <a:cxnSpLocks/>
          </p:cNvCxnSpPr>
          <p:nvPr/>
        </p:nvCxnSpPr>
        <p:spPr>
          <a:xfrm>
            <a:off x="6551973" y="2950078"/>
            <a:ext cx="793497" cy="649856"/>
          </a:xfrm>
          <a:prstGeom prst="straightConnector1">
            <a:avLst/>
          </a:prstGeom>
          <a:noFill/>
          <a:ln w="38100" cap="flat" cmpd="sng" algn="ctr">
            <a:solidFill>
              <a:srgbClr val="5192A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E9613F1-26CD-841A-61F5-92F7E4B138A8}"/>
              </a:ext>
            </a:extLst>
          </p:cNvPr>
          <p:cNvCxnSpPr>
            <a:cxnSpLocks/>
          </p:cNvCxnSpPr>
          <p:nvPr/>
        </p:nvCxnSpPr>
        <p:spPr>
          <a:xfrm>
            <a:off x="5609368" y="2125077"/>
            <a:ext cx="793497" cy="649856"/>
          </a:xfrm>
          <a:prstGeom prst="straightConnector1">
            <a:avLst/>
          </a:prstGeom>
          <a:noFill/>
          <a:ln w="38100" cap="flat" cmpd="sng" algn="ctr">
            <a:solidFill>
              <a:srgbClr val="8DB9CA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A0DA3F-758A-079D-DAA3-D54EA4003602}"/>
              </a:ext>
            </a:extLst>
          </p:cNvPr>
          <p:cNvSpPr/>
          <p:nvPr/>
        </p:nvSpPr>
        <p:spPr>
          <a:xfrm>
            <a:off x="728214" y="5523096"/>
            <a:ext cx="3024000" cy="432000"/>
          </a:xfrm>
          <a:prstGeom prst="roundRect">
            <a:avLst/>
          </a:prstGeom>
          <a:solidFill>
            <a:srgbClr val="BDCDF1"/>
          </a:solidFill>
          <a:ln w="19050" cap="flat" cmpd="sng" algn="ctr">
            <a:solidFill>
              <a:srgbClr val="2958B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to</a:t>
            </a:r>
            <a:r>
              <a:rPr kumimoji="0" lang="en-GB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compare the MOs?</a:t>
            </a:r>
            <a:endParaRPr kumimoji="0" lang="en-GB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0D51722-19F1-6E3D-A2CC-2055426E6A02}"/>
              </a:ext>
            </a:extLst>
          </p:cNvPr>
          <p:cNvSpPr/>
          <p:nvPr/>
        </p:nvSpPr>
        <p:spPr>
          <a:xfrm>
            <a:off x="3893549" y="5525323"/>
            <a:ext cx="3024000" cy="432000"/>
          </a:xfrm>
          <a:prstGeom prst="roundRect">
            <a:avLst/>
          </a:prstGeom>
          <a:solidFill>
            <a:srgbClr val="6FB9F1"/>
          </a:solidFill>
          <a:ln w="19050" cap="flat" cmpd="sng" algn="ctr">
            <a:solidFill>
              <a:srgbClr val="1480D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the clone rankings</a:t>
            </a:r>
            <a:r>
              <a:rPr kumimoji="0" lang="en-GB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GB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C3944B-8393-F1EA-ED5C-6CE817444E48}"/>
              </a:ext>
            </a:extLst>
          </p:cNvPr>
          <p:cNvSpPr/>
          <p:nvPr/>
        </p:nvSpPr>
        <p:spPr>
          <a:xfrm>
            <a:off x="7415477" y="5272608"/>
            <a:ext cx="4068000" cy="432000"/>
          </a:xfrm>
          <a:prstGeom prst="roundRect">
            <a:avLst/>
          </a:prstGeom>
          <a:solidFill>
            <a:srgbClr val="EB95CE"/>
          </a:solidFill>
          <a:ln w="19050" cap="flat" cmpd="sng" algn="ctr">
            <a:solidFill>
              <a:srgbClr val="80185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to</a:t>
            </a:r>
            <a:r>
              <a:rPr kumimoji="0" lang="en-GB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improve the ranking procedure?</a:t>
            </a:r>
            <a:endParaRPr kumimoji="0" lang="en-GB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E7FBB2-94D7-60AA-FE43-BF72B30F96D4}"/>
              </a:ext>
            </a:extLst>
          </p:cNvPr>
          <p:cNvCxnSpPr>
            <a:cxnSpLocks/>
          </p:cNvCxnSpPr>
          <p:nvPr/>
        </p:nvCxnSpPr>
        <p:spPr>
          <a:xfrm>
            <a:off x="5404679" y="4957639"/>
            <a:ext cx="0" cy="438326"/>
          </a:xfrm>
          <a:prstGeom prst="straightConnector1">
            <a:avLst/>
          </a:prstGeom>
          <a:noFill/>
          <a:ln w="28575" cap="flat" cmpd="sng" algn="ctr">
            <a:solidFill>
              <a:srgbClr val="8DB9CA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B68E17-C055-65AC-3BC3-A9DE63FC72CF}"/>
              </a:ext>
            </a:extLst>
          </p:cNvPr>
          <p:cNvSpPr/>
          <p:nvPr/>
        </p:nvSpPr>
        <p:spPr>
          <a:xfrm>
            <a:off x="7415477" y="5784504"/>
            <a:ext cx="4068000" cy="432000"/>
          </a:xfrm>
          <a:prstGeom prst="roundRect">
            <a:avLst/>
          </a:prstGeom>
          <a:solidFill>
            <a:srgbClr val="FF9BB3"/>
          </a:solidFill>
          <a:ln w="19050" cap="flat" cmpd="sng" algn="ctr">
            <a:solidFill>
              <a:srgbClr val="A0002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reproducible are </a:t>
            </a:r>
            <a:r>
              <a:rPr kumimoji="0" lang="en-GB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ranking?</a:t>
            </a:r>
            <a:endParaRPr kumimoji="0" lang="en-GB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399C5F-88BE-B217-7D4F-C1121C9BF8E3}"/>
              </a:ext>
            </a:extLst>
          </p:cNvPr>
          <p:cNvCxnSpPr>
            <a:cxnSpLocks/>
          </p:cNvCxnSpPr>
          <p:nvPr/>
        </p:nvCxnSpPr>
        <p:spPr>
          <a:xfrm flipV="1">
            <a:off x="7058884" y="5439213"/>
            <a:ext cx="313523" cy="167767"/>
          </a:xfrm>
          <a:prstGeom prst="straightConnector1">
            <a:avLst/>
          </a:prstGeom>
          <a:noFill/>
          <a:ln w="28575" cap="flat" cmpd="sng" algn="ctr">
            <a:solidFill>
              <a:srgbClr val="8DB9CA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3CDC0C-D12D-05DA-E30B-3C2ABA8E3AD0}"/>
              </a:ext>
            </a:extLst>
          </p:cNvPr>
          <p:cNvCxnSpPr>
            <a:cxnSpLocks/>
          </p:cNvCxnSpPr>
          <p:nvPr/>
        </p:nvCxnSpPr>
        <p:spPr>
          <a:xfrm>
            <a:off x="7058883" y="5849035"/>
            <a:ext cx="313523" cy="175298"/>
          </a:xfrm>
          <a:prstGeom prst="straightConnector1">
            <a:avLst/>
          </a:prstGeom>
          <a:noFill/>
          <a:ln w="28575" cap="flat" cmpd="sng" algn="ctr">
            <a:solidFill>
              <a:srgbClr val="8DB9CA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B5DCC6-FD9E-6013-0C8F-AB77D5F62860}"/>
              </a:ext>
            </a:extLst>
          </p:cNvPr>
          <p:cNvCxnSpPr>
            <a:cxnSpLocks/>
          </p:cNvCxnSpPr>
          <p:nvPr/>
        </p:nvCxnSpPr>
        <p:spPr>
          <a:xfrm>
            <a:off x="2240214" y="5000887"/>
            <a:ext cx="0" cy="438326"/>
          </a:xfrm>
          <a:prstGeom prst="straightConnector1">
            <a:avLst/>
          </a:prstGeom>
          <a:noFill/>
          <a:ln w="28575" cap="flat" cmpd="sng" algn="ctr">
            <a:solidFill>
              <a:srgbClr val="8DB9CA">
                <a:lumMod val="75000"/>
              </a:srgbClr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005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/>
      <p:bldP spid="62" grpId="0" animBg="1"/>
      <p:bldP spid="3" grpId="0" animBg="1"/>
      <p:bldP spid="5" grpId="0" animBg="1"/>
      <p:bldP spid="9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A4BFF7C-1317-1F1E-BF13-E08EBD4F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06" y="85561"/>
            <a:ext cx="11841894" cy="1095539"/>
          </a:xfrm>
        </p:spPr>
        <p:txBody>
          <a:bodyPr>
            <a:noAutofit/>
          </a:bodyPr>
          <a:lstStyle/>
          <a:p>
            <a:r>
              <a:rPr lang="en-GB" sz="3200" cap="all" dirty="0">
                <a:solidFill>
                  <a:schemeClr val="bg1"/>
                </a:solidFill>
              </a:rPr>
              <a:t>Early Manufacturing Insights and clone selection </a:t>
            </a:r>
            <a:br>
              <a:rPr lang="en-GB" sz="3200" cap="all" dirty="0">
                <a:solidFill>
                  <a:schemeClr val="bg1"/>
                </a:solidFill>
              </a:rPr>
            </a:br>
            <a:r>
              <a:rPr lang="en-GB" sz="3200" cap="all" dirty="0">
                <a:solidFill>
                  <a:schemeClr val="bg1"/>
                </a:solidFill>
              </a:rPr>
              <a:t>for perfusion processes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05A33-57B8-2376-2C99-446F54BB1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07150"/>
            <a:ext cx="3860800" cy="432000"/>
          </a:xfrm>
        </p:spPr>
        <p:txBody>
          <a:bodyPr/>
          <a:lstStyle/>
          <a:p>
            <a:r>
              <a:rPr lang="en-GB" sz="1600" dirty="0">
                <a:solidFill>
                  <a:schemeClr val="bg1"/>
                </a:solidFill>
              </a:rPr>
              <a:t>Integrated Continuous Biomanufacturing VI</a:t>
            </a:r>
          </a:p>
          <a:p>
            <a:r>
              <a:rPr lang="en-GB" sz="1600" dirty="0">
                <a:solidFill>
                  <a:schemeClr val="bg1"/>
                </a:solidFill>
              </a:rPr>
              <a:t> Leesburg Virginia, Oct 20 – 24,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4E5D5-4DDD-4200-2B80-F2B2DF62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600" y="6416674"/>
            <a:ext cx="2844800" cy="432000"/>
          </a:xfrm>
        </p:spPr>
        <p:txBody>
          <a:bodyPr/>
          <a:lstStyle/>
          <a:p>
            <a:fld id="{EC6D4013-1023-46E1-9F26-7BFEF5531708}" type="slidenum">
              <a:rPr lang="en-GB" sz="1600" smtClean="0">
                <a:solidFill>
                  <a:schemeClr val="bg1"/>
                </a:solidFill>
              </a:rPr>
              <a:t>2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D1EF73-D899-8CE8-13CA-E3930B0A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07150"/>
            <a:ext cx="2844800" cy="432000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Marie Dorn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460BB83-1E20-CCF0-F61F-8EB1B5843A33}"/>
              </a:ext>
            </a:extLst>
          </p:cNvPr>
          <p:cNvSpPr/>
          <p:nvPr/>
        </p:nvSpPr>
        <p:spPr>
          <a:xfrm>
            <a:off x="586879" y="1968604"/>
            <a:ext cx="11018243" cy="4327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(1) bioreactor, (2) cell and product removal, (3) cell retention device, (4) cell recirculation, (5) medium feed, (6) product removal</a:t>
            </a:r>
          </a:p>
        </p:txBody>
      </p:sp>
      <p:sp>
        <p:nvSpPr>
          <p:cNvPr id="52" name="Rectangle: Top Corners Rounded 51">
            <a:extLst>
              <a:ext uri="{FF2B5EF4-FFF2-40B4-BE49-F238E27FC236}">
                <a16:creationId xmlns:a16="http://schemas.microsoft.com/office/drawing/2014/main" id="{AD38DB4A-AC2F-E003-1D1C-954909633B87}"/>
              </a:ext>
            </a:extLst>
          </p:cNvPr>
          <p:cNvSpPr/>
          <p:nvPr/>
        </p:nvSpPr>
        <p:spPr>
          <a:xfrm>
            <a:off x="586878" y="1483375"/>
            <a:ext cx="11018243" cy="473362"/>
          </a:xfrm>
          <a:prstGeom prst="round2SameRect">
            <a:avLst/>
          </a:prstGeom>
          <a:solidFill>
            <a:srgbClr val="003D4C"/>
          </a:solidFill>
          <a:ln w="12700" cap="flat" cmpd="sng" algn="ctr">
            <a:solidFill>
              <a:srgbClr val="003D4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</a:t>
            </a:r>
          </a:p>
        </p:txBody>
      </p:sp>
      <p:pic>
        <p:nvPicPr>
          <p:cNvPr id="11" name="Picture 10" descr="Project Path: C:\Users\Marie\OneDrive - University College London\O_Origin\Projects\AZ cell lines.opju&#10;PE Folder: /AZ cell lines/mAb/&#10;Short Name: C12-growth">
            <a:extLst>
              <a:ext uri="{FF2B5EF4-FFF2-40B4-BE49-F238E27FC236}">
                <a16:creationId xmlns:a16="http://schemas.microsoft.com/office/drawing/2014/main" id="{842AA24E-EC1B-F53D-D19A-A594FA7E2C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9" t="3080" r="1762" b="2155"/>
          <a:stretch/>
        </p:blipFill>
        <p:spPr bwMode="auto">
          <a:xfrm>
            <a:off x="869043" y="2598478"/>
            <a:ext cx="3266835" cy="2592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 descr="Project Path: C:\Users\Marie\OneDrive - University College London\O_Origin\Projects\AZ cell lines.opju&#10;PE Folder: /AZ cell lines/mAb/&#10;Short Name: C16-growth">
            <a:extLst>
              <a:ext uri="{FF2B5EF4-FFF2-40B4-BE49-F238E27FC236}">
                <a16:creationId xmlns:a16="http://schemas.microsoft.com/office/drawing/2014/main" id="{1F371E7D-C7D7-2BB7-CCF0-3480BCEE962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6" t="3624" r="1753" b="1964"/>
          <a:stretch/>
        </p:blipFill>
        <p:spPr bwMode="auto">
          <a:xfrm>
            <a:off x="4461380" y="2599544"/>
            <a:ext cx="3269241" cy="2592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 descr="Project Path: C:\Users\Marie\OneDrive - University College London\O_Origin\Projects\AZ cell lines.opju&#10;PE Folder: /AZ cell lines/mAb/&#10;Short Name: C24-growth">
            <a:extLst>
              <a:ext uri="{FF2B5EF4-FFF2-40B4-BE49-F238E27FC236}">
                <a16:creationId xmlns:a16="http://schemas.microsoft.com/office/drawing/2014/main" id="{B19EE08B-AD3A-99CC-B7A6-4BEF4FE2687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7" t="3625" r="1342" b="2329"/>
          <a:stretch/>
        </p:blipFill>
        <p:spPr bwMode="auto">
          <a:xfrm>
            <a:off x="8056119" y="2598478"/>
            <a:ext cx="3301973" cy="2592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AD32720-B14B-E005-60D7-1A4E1AA9665F}"/>
              </a:ext>
            </a:extLst>
          </p:cNvPr>
          <p:cNvSpPr/>
          <p:nvPr/>
        </p:nvSpPr>
        <p:spPr>
          <a:xfrm>
            <a:off x="3575999" y="2026368"/>
            <a:ext cx="5040000" cy="432000"/>
          </a:xfrm>
          <a:prstGeom prst="roundRect">
            <a:avLst/>
          </a:prstGeom>
          <a:solidFill>
            <a:srgbClr val="BDCDF1"/>
          </a:solidFill>
          <a:ln w="19050" cap="flat" cmpd="sng" algn="ctr">
            <a:solidFill>
              <a:srgbClr val="2958BE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to compare the MOs?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407940B-9665-517E-2A2D-F57B6E07C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039671"/>
              </p:ext>
            </p:extLst>
          </p:nvPr>
        </p:nvGraphicFramePr>
        <p:xfrm>
          <a:off x="918162" y="5209237"/>
          <a:ext cx="10389839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5337">
                  <a:extLst>
                    <a:ext uri="{9D8B030D-6E8A-4147-A177-3AD203B41FA5}">
                      <a16:colId xmlns:a16="http://schemas.microsoft.com/office/drawing/2014/main" val="3334416265"/>
                    </a:ext>
                  </a:extLst>
                </a:gridCol>
                <a:gridCol w="6424502">
                  <a:extLst>
                    <a:ext uri="{9D8B030D-6E8A-4147-A177-3AD203B41FA5}">
                      <a16:colId xmlns:a16="http://schemas.microsoft.com/office/drawing/2014/main" val="149309514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Fed-Batch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/>
                        <a:t>Semi-perfusion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23528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Fed-batch specific (CD CHO) medium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Fed-batch specific (CD CHO) and perfusion specific (HIP) media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852636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Feed steps from day 3 to 10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Total (1 RV d</a:t>
                      </a:r>
                      <a:r>
                        <a:rPr lang="en-GB" sz="1600" baseline="30000" dirty="0"/>
                        <a:t>-1</a:t>
                      </a:r>
                      <a:r>
                        <a:rPr lang="en-GB" sz="1600" dirty="0"/>
                        <a:t>) and partial (0.75 RV d</a:t>
                      </a:r>
                      <a:r>
                        <a:rPr lang="en-GB" sz="1600" baseline="30000" dirty="0"/>
                        <a:t>-1</a:t>
                      </a:r>
                      <a:r>
                        <a:rPr lang="en-GB" sz="1600" dirty="0"/>
                        <a:t>) medium exchanges from day 3 to 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680402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3DAB75F5-00FA-990F-A93F-FA1B3E979E04}"/>
              </a:ext>
            </a:extLst>
          </p:cNvPr>
          <p:cNvSpPr txBox="1"/>
          <p:nvPr/>
        </p:nvSpPr>
        <p:spPr>
          <a:xfrm>
            <a:off x="2028684" y="2525843"/>
            <a:ext cx="945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mAb1_C4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2433F9-1106-DC60-9B27-2DD43265BFB1}"/>
              </a:ext>
            </a:extLst>
          </p:cNvPr>
          <p:cNvSpPr txBox="1"/>
          <p:nvPr/>
        </p:nvSpPr>
        <p:spPr>
          <a:xfrm>
            <a:off x="5623423" y="2513153"/>
            <a:ext cx="945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mAb1_C5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A43C01-EBDA-D1EE-49C7-37B4FDC3B91C}"/>
              </a:ext>
            </a:extLst>
          </p:cNvPr>
          <p:cNvSpPr txBox="1"/>
          <p:nvPr/>
        </p:nvSpPr>
        <p:spPr>
          <a:xfrm>
            <a:off x="9218165" y="2511085"/>
            <a:ext cx="945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mAb1_C7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3683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4E89555-BA3F-5E77-4AD7-C98B5C5FC851}"/>
              </a:ext>
            </a:extLst>
          </p:cNvPr>
          <p:cNvSpPr/>
          <p:nvPr/>
        </p:nvSpPr>
        <p:spPr>
          <a:xfrm>
            <a:off x="7594598" y="1502476"/>
            <a:ext cx="4368801" cy="4827108"/>
          </a:xfrm>
          <a:prstGeom prst="roundRect">
            <a:avLst>
              <a:gd name="adj" fmla="val 12016"/>
            </a:avLst>
          </a:prstGeom>
          <a:solidFill>
            <a:schemeClr val="bg1"/>
          </a:solidFill>
          <a:ln w="38100">
            <a:solidFill>
              <a:srgbClr val="003D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Graphic 7" descr="Social network outline">
            <a:extLst>
              <a:ext uri="{FF2B5EF4-FFF2-40B4-BE49-F238E27FC236}">
                <a16:creationId xmlns:a16="http://schemas.microsoft.com/office/drawing/2014/main" id="{290373A4-490B-C78F-212D-E3DED8E89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2370" y="5189647"/>
            <a:ext cx="866637" cy="866637"/>
          </a:xfrm>
          <a:prstGeom prst="rect">
            <a:avLst/>
          </a:prstGeom>
        </p:spPr>
      </p:pic>
      <p:pic>
        <p:nvPicPr>
          <p:cNvPr id="10" name="Graphic 9" descr="Email outline">
            <a:extLst>
              <a:ext uri="{FF2B5EF4-FFF2-40B4-BE49-F238E27FC236}">
                <a16:creationId xmlns:a16="http://schemas.microsoft.com/office/drawing/2014/main" id="{388B32BB-EEFA-6FB5-A002-2A092E8D6E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2370" y="3950881"/>
            <a:ext cx="866637" cy="866637"/>
          </a:xfrm>
          <a:prstGeom prst="rect">
            <a:avLst/>
          </a:prstGeom>
        </p:spPr>
      </p:pic>
      <p:pic>
        <p:nvPicPr>
          <p:cNvPr id="13" name="Graphic 12" descr="Teacher with solid fill">
            <a:extLst>
              <a:ext uri="{FF2B5EF4-FFF2-40B4-BE49-F238E27FC236}">
                <a16:creationId xmlns:a16="http://schemas.microsoft.com/office/drawing/2014/main" id="{CFCAD657-E49F-0D05-8794-D50A0F7BB8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862371" y="2789399"/>
            <a:ext cx="866637" cy="866637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C6AD75F9-1E68-AEDD-E0A8-8643D4BCE04C}"/>
              </a:ext>
            </a:extLst>
          </p:cNvPr>
          <p:cNvSpPr txBox="1">
            <a:spLocks/>
          </p:cNvSpPr>
          <p:nvPr/>
        </p:nvSpPr>
        <p:spPr>
          <a:xfrm>
            <a:off x="8959398" y="2789399"/>
            <a:ext cx="2898776" cy="9589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cap="none" dirty="0"/>
              <a:t>Come by my poster</a:t>
            </a:r>
          </a:p>
          <a:p>
            <a:r>
              <a:rPr lang="en-GB" sz="3200" cap="none" dirty="0"/>
              <a:t>No: </a:t>
            </a:r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0DD8EBFF-6E54-A526-1729-DEE7887B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07150"/>
            <a:ext cx="3860800" cy="432000"/>
          </a:xfrm>
        </p:spPr>
        <p:txBody>
          <a:bodyPr/>
          <a:lstStyle/>
          <a:p>
            <a:r>
              <a:rPr lang="en-GB" sz="1600" dirty="0">
                <a:solidFill>
                  <a:schemeClr val="bg1"/>
                </a:solidFill>
              </a:rPr>
              <a:t>Integrated Continuous Biomanufacturing VI</a:t>
            </a:r>
          </a:p>
          <a:p>
            <a:r>
              <a:rPr lang="en-GB" sz="1600" dirty="0">
                <a:solidFill>
                  <a:schemeClr val="bg1"/>
                </a:solidFill>
              </a:rPr>
              <a:t> Leesburg Virginia, Oct 20 – 24, 2024</a:t>
            </a:r>
          </a:p>
        </p:txBody>
      </p:sp>
      <p:pic>
        <p:nvPicPr>
          <p:cNvPr id="16" name="Graphic 15" descr="Question mark outline">
            <a:extLst>
              <a:ext uri="{FF2B5EF4-FFF2-40B4-BE49-F238E27FC236}">
                <a16:creationId xmlns:a16="http://schemas.microsoft.com/office/drawing/2014/main" id="{23D9A9FD-545E-53FB-9790-DFA8221278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9632" y="1576862"/>
            <a:ext cx="1227051" cy="1227051"/>
          </a:xfrm>
          <a:prstGeom prst="rect">
            <a:avLst/>
          </a:prstGeom>
        </p:spPr>
      </p:pic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C9DA5E21-8298-B3B7-6DB9-92293D573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600" y="6416674"/>
            <a:ext cx="2844800" cy="432000"/>
          </a:xfrm>
        </p:spPr>
        <p:txBody>
          <a:bodyPr/>
          <a:lstStyle/>
          <a:p>
            <a:fld id="{EC6D4013-1023-46E1-9F26-7BFEF5531708}" type="slidenum">
              <a:rPr lang="en-GB" sz="1600" smtClean="0">
                <a:solidFill>
                  <a:schemeClr val="bg1"/>
                </a:solidFill>
              </a:rPr>
              <a:t>3</a:t>
            </a:fld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3" name="Date Placeholder 7">
            <a:extLst>
              <a:ext uri="{FF2B5EF4-FFF2-40B4-BE49-F238E27FC236}">
                <a16:creationId xmlns:a16="http://schemas.microsoft.com/office/drawing/2014/main" id="{B7D1C48D-52B7-142E-8A66-1F80BCEEDC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8600" y="6407150"/>
            <a:ext cx="2844800" cy="432000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Marie Dorn</a:t>
            </a:r>
            <a:endParaRPr lang="en-GB" sz="1600" dirty="0">
              <a:solidFill>
                <a:schemeClr val="bg1"/>
              </a:solidFill>
            </a:endParaRPr>
          </a:p>
        </p:txBody>
      </p:sp>
      <p:pic>
        <p:nvPicPr>
          <p:cNvPr id="25" name="Graphic 24" descr="Question mark outline">
            <a:extLst>
              <a:ext uri="{FF2B5EF4-FFF2-40B4-BE49-F238E27FC236}">
                <a16:creationId xmlns:a16="http://schemas.microsoft.com/office/drawing/2014/main" id="{B56A4AC9-CBC0-91FE-3984-875C5DD8909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19987" y="1431718"/>
            <a:ext cx="1227051" cy="1227051"/>
          </a:xfrm>
          <a:prstGeom prst="rect">
            <a:avLst/>
          </a:prstGeom>
        </p:spPr>
      </p:pic>
      <p:pic>
        <p:nvPicPr>
          <p:cNvPr id="24" name="Graphic 23" descr="Question mark outline">
            <a:extLst>
              <a:ext uri="{FF2B5EF4-FFF2-40B4-BE49-F238E27FC236}">
                <a16:creationId xmlns:a16="http://schemas.microsoft.com/office/drawing/2014/main" id="{3F158C24-024D-BB15-10B0-901736EA71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66202" y="1502476"/>
            <a:ext cx="1227051" cy="1227051"/>
          </a:xfrm>
          <a:prstGeom prst="rect">
            <a:avLst/>
          </a:prstGeom>
        </p:spPr>
      </p:pic>
      <p:sp>
        <p:nvSpPr>
          <p:cNvPr id="26" name="Title 4">
            <a:extLst>
              <a:ext uri="{FF2B5EF4-FFF2-40B4-BE49-F238E27FC236}">
                <a16:creationId xmlns:a16="http://schemas.microsoft.com/office/drawing/2014/main" id="{8E82DF7C-235B-900A-C713-0B689AE8A88E}"/>
              </a:ext>
            </a:extLst>
          </p:cNvPr>
          <p:cNvSpPr txBox="1">
            <a:spLocks/>
          </p:cNvSpPr>
          <p:nvPr/>
        </p:nvSpPr>
        <p:spPr>
          <a:xfrm>
            <a:off x="8959397" y="4021872"/>
            <a:ext cx="2898776" cy="9589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0" cap="none" dirty="0"/>
              <a:t>marie.dorn.21@ucl.ac.uk</a:t>
            </a:r>
            <a:endParaRPr lang="en-GB" sz="2800" b="0" cap="none" dirty="0"/>
          </a:p>
        </p:txBody>
      </p:sp>
      <p:sp>
        <p:nvSpPr>
          <p:cNvPr id="27" name="Title 4">
            <a:extLst>
              <a:ext uri="{FF2B5EF4-FFF2-40B4-BE49-F238E27FC236}">
                <a16:creationId xmlns:a16="http://schemas.microsoft.com/office/drawing/2014/main" id="{C37F4E0F-419B-9904-5BA4-E5DAF02B29C3}"/>
              </a:ext>
            </a:extLst>
          </p:cNvPr>
          <p:cNvSpPr txBox="1">
            <a:spLocks/>
          </p:cNvSpPr>
          <p:nvPr/>
        </p:nvSpPr>
        <p:spPr>
          <a:xfrm>
            <a:off x="8959397" y="5248923"/>
            <a:ext cx="2898776" cy="958911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0" cap="none" dirty="0"/>
              <a:t>Connect with me on LinkedIn</a:t>
            </a:r>
            <a:endParaRPr lang="en-GB" sz="2800" b="0" cap="none" dirty="0"/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88A2FDD8-2765-DE22-03D7-34FD94B21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506" y="85561"/>
            <a:ext cx="11841894" cy="1095539"/>
          </a:xfrm>
        </p:spPr>
        <p:txBody>
          <a:bodyPr>
            <a:noAutofit/>
          </a:bodyPr>
          <a:lstStyle/>
          <a:p>
            <a:r>
              <a:rPr lang="en-GB" sz="3200" cap="all" dirty="0">
                <a:solidFill>
                  <a:schemeClr val="bg1"/>
                </a:solidFill>
              </a:rPr>
              <a:t>Early Manufacturing Insights and clone selection </a:t>
            </a:r>
            <a:br>
              <a:rPr lang="en-GB" sz="3200" cap="all" dirty="0">
                <a:solidFill>
                  <a:schemeClr val="bg1"/>
                </a:solidFill>
              </a:rPr>
            </a:br>
            <a:r>
              <a:rPr lang="en-GB" sz="3200" cap="all" dirty="0">
                <a:solidFill>
                  <a:schemeClr val="bg1"/>
                </a:solidFill>
              </a:rPr>
              <a:t>for perfusion processes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7AD4AF-E340-92F7-8D02-33432091A096}"/>
              </a:ext>
            </a:extLst>
          </p:cNvPr>
          <p:cNvSpPr/>
          <p:nvPr/>
        </p:nvSpPr>
        <p:spPr>
          <a:xfrm>
            <a:off x="586800" y="1969200"/>
            <a:ext cx="6681149" cy="4328454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(1) bioreactor, (2) cell and product removal, (3) cell retention device, (4) cell recirculation, (5) medium feed, (6) product removal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5147338-3775-9170-923C-DBA22F40ABB3}"/>
              </a:ext>
            </a:extLst>
          </p:cNvPr>
          <p:cNvSpPr/>
          <p:nvPr/>
        </p:nvSpPr>
        <p:spPr>
          <a:xfrm>
            <a:off x="586800" y="1483200"/>
            <a:ext cx="6681149" cy="481998"/>
          </a:xfrm>
          <a:prstGeom prst="round2SameRect">
            <a:avLst/>
          </a:prstGeom>
          <a:solidFill>
            <a:srgbClr val="003D4C"/>
          </a:solidFill>
          <a:ln w="12700" cap="flat" cmpd="sng" algn="ctr">
            <a:solidFill>
              <a:srgbClr val="003D4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</a:t>
            </a:r>
          </a:p>
        </p:txBody>
      </p:sp>
      <p:pic>
        <p:nvPicPr>
          <p:cNvPr id="4" name="Picture 3" descr="Project Path: C:\Users\Marie\OneDrive - University College London\O_Origin\Projects\AZ cell lines.opju&#10;PE Folder: /AZ cell lines/mAb/&#10;Short Name: Graph1">
            <a:extLst>
              <a:ext uri="{FF2B5EF4-FFF2-40B4-BE49-F238E27FC236}">
                <a16:creationId xmlns:a16="http://schemas.microsoft.com/office/drawing/2014/main" id="{433706D7-EC1D-266C-2A75-11BE51EA8325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6" t="3472" r="1617" b="2460"/>
          <a:stretch/>
        </p:blipFill>
        <p:spPr bwMode="auto">
          <a:xfrm>
            <a:off x="574097" y="2487787"/>
            <a:ext cx="4025117" cy="3060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7FA9943-7A78-3699-03FB-23E1F99CEDC5}"/>
              </a:ext>
            </a:extLst>
          </p:cNvPr>
          <p:cNvCxnSpPr>
            <a:cxnSpLocks/>
          </p:cNvCxnSpPr>
          <p:nvPr/>
        </p:nvCxnSpPr>
        <p:spPr>
          <a:xfrm>
            <a:off x="3113592" y="2646421"/>
            <a:ext cx="0" cy="2218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CEB049-BD32-918C-0A17-BFFD1842D9E5}"/>
              </a:ext>
            </a:extLst>
          </p:cNvPr>
          <p:cNvCxnSpPr>
            <a:cxnSpLocks/>
          </p:cNvCxnSpPr>
          <p:nvPr/>
        </p:nvCxnSpPr>
        <p:spPr>
          <a:xfrm>
            <a:off x="3942579" y="2629988"/>
            <a:ext cx="0" cy="2362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C972F5-205F-EBB4-C7C8-88D12C516864}"/>
              </a:ext>
            </a:extLst>
          </p:cNvPr>
          <p:cNvCxnSpPr>
            <a:cxnSpLocks/>
          </p:cNvCxnSpPr>
          <p:nvPr/>
        </p:nvCxnSpPr>
        <p:spPr>
          <a:xfrm>
            <a:off x="2694341" y="2629988"/>
            <a:ext cx="0" cy="217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FE4300E-B65F-05BD-E012-234EF67CF43A}"/>
              </a:ext>
            </a:extLst>
          </p:cNvPr>
          <p:cNvSpPr txBox="1"/>
          <p:nvPr/>
        </p:nvSpPr>
        <p:spPr>
          <a:xfrm>
            <a:off x="1301312" y="2691050"/>
            <a:ext cx="1165556" cy="67710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36000" tIns="0" rIns="0" bIns="0">
            <a:spAutoFit/>
          </a:bodyPr>
          <a:lstStyle/>
          <a:p>
            <a:r>
              <a:rPr lang="en-GB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FB CD CHO </a:t>
            </a:r>
          </a:p>
          <a:p>
            <a:r>
              <a:rPr lang="en-GB" sz="1100" dirty="0">
                <a:solidFill>
                  <a:srgbClr val="006DDB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 1 RVd</a:t>
            </a:r>
            <a:r>
              <a:rPr lang="en-GB" sz="1100" baseline="30000" dirty="0">
                <a:solidFill>
                  <a:srgbClr val="006DDB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GB" sz="1100" dirty="0">
                <a:solidFill>
                  <a:srgbClr val="006DDB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CD CHO </a:t>
            </a:r>
          </a:p>
          <a:p>
            <a:r>
              <a:rPr lang="en-GB" sz="1100" dirty="0">
                <a:solidFill>
                  <a:srgbClr val="92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 1 RVd</a:t>
            </a:r>
            <a:r>
              <a:rPr lang="en-GB" sz="1100" baseline="30000" dirty="0">
                <a:solidFill>
                  <a:srgbClr val="92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GB" sz="1100" dirty="0">
                <a:solidFill>
                  <a:srgbClr val="92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HIP</a:t>
            </a:r>
          </a:p>
          <a:p>
            <a:r>
              <a:rPr lang="en-GB" sz="1100" dirty="0">
                <a:solidFill>
                  <a:srgbClr val="FF595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 0.75 RVd</a:t>
            </a:r>
            <a:r>
              <a:rPr lang="en-GB" sz="1100" baseline="30000" dirty="0">
                <a:solidFill>
                  <a:srgbClr val="FF595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r>
              <a:rPr lang="en-GB" sz="1100" dirty="0">
                <a:solidFill>
                  <a:srgbClr val="FF5959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HIP</a:t>
            </a:r>
            <a:endParaRPr lang="en-GB" sz="1100" dirty="0">
              <a:solidFill>
                <a:srgbClr val="FF5959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672876B-BBBD-1CA6-C3A7-148DA788CF72}"/>
              </a:ext>
            </a:extLst>
          </p:cNvPr>
          <p:cNvSpPr/>
          <p:nvPr/>
        </p:nvSpPr>
        <p:spPr>
          <a:xfrm>
            <a:off x="1402259" y="5777541"/>
            <a:ext cx="5040000" cy="432000"/>
          </a:xfrm>
          <a:prstGeom prst="roundRect">
            <a:avLst/>
          </a:prstGeom>
          <a:solidFill>
            <a:srgbClr val="6FB9F1"/>
          </a:solidFill>
          <a:ln w="19050" cap="flat" cmpd="sng" algn="ctr">
            <a:solidFill>
              <a:srgbClr val="1480D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the clone rankings</a:t>
            </a:r>
            <a:r>
              <a:rPr kumimoji="0" lang="en-GB" sz="20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6EA02B3-7C72-F315-2DC2-6300704C2836}"/>
              </a:ext>
            </a:extLst>
          </p:cNvPr>
          <p:cNvSpPr/>
          <p:nvPr/>
        </p:nvSpPr>
        <p:spPr>
          <a:xfrm>
            <a:off x="1402259" y="2046023"/>
            <a:ext cx="5040000" cy="432000"/>
          </a:xfrm>
          <a:prstGeom prst="roundRect">
            <a:avLst/>
          </a:prstGeom>
          <a:solidFill>
            <a:srgbClr val="BDCDF1"/>
          </a:solidFill>
          <a:ln w="19050" cap="flat" cmpd="sng" algn="ctr">
            <a:solidFill>
              <a:srgbClr val="2958BE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to compare the MOs?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623E7B-D88A-8FF5-E94A-EB3DCF2097B0}"/>
              </a:ext>
            </a:extLst>
          </p:cNvPr>
          <p:cNvSpPr txBox="1"/>
          <p:nvPr/>
        </p:nvSpPr>
        <p:spPr>
          <a:xfrm>
            <a:off x="4692257" y="2591512"/>
            <a:ext cx="24589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kern="0" noProof="0" dirty="0">
                <a:solidFill>
                  <a:srgbClr val="000000"/>
                </a:solidFill>
              </a:rPr>
              <a:t>Pr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oductivity</a:t>
            </a:r>
            <a:r>
              <a:rPr kumimoji="0" lang="en-GB" sz="1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is compared using cell-specific productivity (q</a:t>
            </a:r>
            <a:r>
              <a:rPr kumimoji="0" lang="en-GB" sz="16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</a:t>
            </a:r>
            <a:r>
              <a:rPr kumimoji="0" lang="en-GB" sz="1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 to account for different feed and medium exchange protocols. 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2324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8"/>
    </mc:Choice>
    <mc:Fallback xmlns="">
      <p:transition advTm="11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8" grpId="0"/>
    </p:bldLst>
  </p:timing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80185D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588F8A9E3F834993FE7121E63CD4E6" ma:contentTypeVersion="18" ma:contentTypeDescription="Create a new document." ma:contentTypeScope="" ma:versionID="1e450a6bae8dd8a81acd90b9e6f6c54d">
  <xsd:schema xmlns:xsd="http://www.w3.org/2001/XMLSchema" xmlns:xs="http://www.w3.org/2001/XMLSchema" xmlns:p="http://schemas.microsoft.com/office/2006/metadata/properties" xmlns:ns3="44a56295-c29e-4898-8136-a54736c65b82" xmlns:ns4="6804b9a2-d5d7-482f-88a4-0d0a3ba1b34a" xmlns:ns5="e9918bc8-da7f-45f7-a309-d743a3d9e4de" targetNamespace="http://schemas.microsoft.com/office/2006/metadata/properties" ma:root="true" ma:fieldsID="9e103df890a55fc29ada110aa2fe93f2" ns3:_="" ns4:_="" ns5:_="">
    <xsd:import namespace="44a56295-c29e-4898-8136-a54736c65b82"/>
    <xsd:import namespace="6804b9a2-d5d7-482f-88a4-0d0a3ba1b34a"/>
    <xsd:import namespace="e9918bc8-da7f-45f7-a309-d743a3d9e4de"/>
    <xsd:element name="properties">
      <xsd:complexType>
        <xsd:sequence>
          <xsd:element name="documentManagement">
            <xsd:complexType>
              <xsd:all>
                <xsd:element ref="ns3:Descriptions" minOccurs="0"/>
                <xsd:element ref="ns3:Keyword" minOccurs="0"/>
                <xsd:element ref="ns4:MediaServiceDateTaken" minOccurs="0"/>
                <xsd:element ref="ns5:SharedWithUsers" minOccurs="0"/>
                <xsd:element ref="ns5:SharedWithDetails" minOccurs="0"/>
                <xsd:element ref="ns5:SharingHintHash" minOccurs="0"/>
                <xsd:element ref="ns4:MediaServiceAutoTags" minOccurs="0"/>
                <xsd:element ref="ns4:MediaServiceLocation" minOccurs="0"/>
                <xsd:element ref="ns4:MediaServiceOCR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a56295-c29e-4898-8136-a54736c65b82" elementFormDefault="qualified">
    <xsd:import namespace="http://schemas.microsoft.com/office/2006/documentManagement/types"/>
    <xsd:import namespace="http://schemas.microsoft.com/office/infopath/2007/PartnerControls"/>
    <xsd:element name="Descriptions" ma:index="8" nillable="true" ma:displayName="Descriptions" ma:description="Describe your document to make it appear at the top of search results" ma:internalName="Descriptions">
      <xsd:simpleType>
        <xsd:restriction base="dms:Note">
          <xsd:maxLength value="255"/>
        </xsd:restriction>
      </xsd:simpleType>
    </xsd:element>
    <xsd:element name="Keyword" ma:index="9" nillable="true" ma:displayName="Keyword" ma:description="Enter list of terms separated by semi-colon(;)" ma:internalName="Keywor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04b9a2-d5d7-482f-88a4-0d0a3ba1b34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Metadata" ma:index="17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8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18bc8-da7f-45f7-a309-d743a3d9e4d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1ee89e71-04cd-405e-9ca3-99e020c1694d" ContentTypeId="0x01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eyword xmlns="44a56295-c29e-4898-8136-a54736c65b82" xsi:nil="true"/>
    <_activity xmlns="6804b9a2-d5d7-482f-88a4-0d0a3ba1b34a" xsi:nil="true"/>
    <Descriptions xmlns="44a56295-c29e-4898-8136-a54736c65b82" xsi:nil="true"/>
  </documentManagement>
</p:properties>
</file>

<file path=customXml/itemProps1.xml><?xml version="1.0" encoding="utf-8"?>
<ds:datastoreItem xmlns:ds="http://schemas.openxmlformats.org/officeDocument/2006/customXml" ds:itemID="{4624244D-AA13-498C-AE1F-748E548CFC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a56295-c29e-4898-8136-a54736c65b82"/>
    <ds:schemaRef ds:uri="6804b9a2-d5d7-482f-88a4-0d0a3ba1b34a"/>
    <ds:schemaRef ds:uri="e9918bc8-da7f-45f7-a309-d743a3d9e4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E1E51E-0EC1-4DED-8B72-75639363A923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0DD180E3-A7FE-41FC-8AF3-448BDC7922E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009A2F2-1639-499F-AE26-520D8F24222D}">
  <ds:schemaRefs>
    <ds:schemaRef ds:uri="http://schemas.microsoft.com/office/2006/documentManagement/types"/>
    <ds:schemaRef ds:uri="http://www.w3.org/XML/1998/namespace"/>
    <ds:schemaRef ds:uri="http://purl.org/dc/terms/"/>
    <ds:schemaRef ds:uri="http://schemas.openxmlformats.org/package/2006/metadata/core-properties"/>
    <ds:schemaRef ds:uri="6804b9a2-d5d7-482f-88a4-0d0a3ba1b34a"/>
    <ds:schemaRef ds:uri="44a56295-c29e-4898-8136-a54736c65b82"/>
    <ds:schemaRef ds:uri="http://purl.org/dc/elements/1.1/"/>
    <ds:schemaRef ds:uri="http://schemas.microsoft.com/office/infopath/2007/PartnerControls"/>
    <ds:schemaRef ds:uri="e9918bc8-da7f-45f7-a309-d743a3d9e4de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28047</TotalTime>
  <Words>414</Words>
  <Application>Microsoft Office PowerPoint</Application>
  <PresentationFormat>Widescreen</PresentationFormat>
  <Paragraphs>58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1_Office Theme</vt:lpstr>
      <vt:lpstr>Early Manufacturing Insights and clone selection  for perfusion processes</vt:lpstr>
      <vt:lpstr>Early Manufacturing Insights and clone selection  for perfusion processes</vt:lpstr>
      <vt:lpstr>Early Manufacturing Insights and clone selection  for perfusion processes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Farid</dc:creator>
  <cp:lastModifiedBy>Lee, Ken</cp:lastModifiedBy>
  <cp:revision>11</cp:revision>
  <dcterms:created xsi:type="dcterms:W3CDTF">2021-11-04T16:24:01Z</dcterms:created>
  <dcterms:modified xsi:type="dcterms:W3CDTF">2024-09-09T11:31:00Z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0x010100A3588F8A9E3F834993FE7121E63CD4E6</vt:lpwstr>
  </property>
</Properties>
</file>