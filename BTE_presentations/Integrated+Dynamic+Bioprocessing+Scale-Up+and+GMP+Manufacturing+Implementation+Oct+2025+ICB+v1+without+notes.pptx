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6.xml" ContentType="application/vnd.openxmlformats-officedocument.them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8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9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0.xml" ContentType="application/vnd.openxmlformats-officedocument.theme+xml"/>
  <Override PartName="/ppt/theme/theme11.xml" ContentType="application/vnd.openxmlformats-officedocument.theme+xml"/>
  <Override PartName="/ppt/tags/tag97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tags/tag98.xml" ContentType="application/vnd.openxmlformats-officedocument.presentationml.tags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4"/>
    <p:sldMasterId id="2147483975" r:id="rId15"/>
    <p:sldMasterId id="2147484082" r:id="rId16"/>
    <p:sldMasterId id="2147484000" r:id="rId17"/>
    <p:sldMasterId id="2147484009" r:id="rId18"/>
    <p:sldMasterId id="2147484020" r:id="rId19"/>
    <p:sldMasterId id="2147484026" r:id="rId20"/>
    <p:sldMasterId id="2147484051" r:id="rId21"/>
    <p:sldMasterId id="2147484032" r:id="rId22"/>
  </p:sldMasterIdLst>
  <p:notesMasterIdLst>
    <p:notesMasterId r:id="rId44"/>
  </p:notesMasterIdLst>
  <p:handoutMasterIdLst>
    <p:handoutMasterId r:id="rId45"/>
  </p:handoutMasterIdLst>
  <p:sldIdLst>
    <p:sldId id="2147472865" r:id="rId23"/>
    <p:sldId id="2147472860" r:id="rId24"/>
    <p:sldId id="2147471295" r:id="rId25"/>
    <p:sldId id="2147472886" r:id="rId26"/>
    <p:sldId id="2147472868" r:id="rId27"/>
    <p:sldId id="2565" r:id="rId28"/>
    <p:sldId id="2147472893" r:id="rId29"/>
    <p:sldId id="2147472862" r:id="rId30"/>
    <p:sldId id="2147472883" r:id="rId31"/>
    <p:sldId id="2147472884" r:id="rId32"/>
    <p:sldId id="2147472899" r:id="rId33"/>
    <p:sldId id="2147472897" r:id="rId34"/>
    <p:sldId id="2147472896" r:id="rId35"/>
    <p:sldId id="2147472891" r:id="rId36"/>
    <p:sldId id="759" r:id="rId37"/>
    <p:sldId id="743" r:id="rId38"/>
    <p:sldId id="2147472859" r:id="rId39"/>
    <p:sldId id="274" r:id="rId40"/>
    <p:sldId id="2147472900" r:id="rId41"/>
    <p:sldId id="2147472894" r:id="rId42"/>
    <p:sldId id="2147472901" r:id="rId43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0CBC25-F00A-E9B5-2BFB-98CF7C0A8112}" name="Edmunds, Carrington" initials="CE" userId="S::khfx922@astrazeneca.net::bbfc7866-db82-412a-8f38-0e01cde40cc1" providerId="AD"/>
  <p188:author id="{CC5FDA56-9CA2-469A-C516-25995899E51E}" name="Bleckwenn, Nicole" initials="NB" userId="S::kvkt968@astrazeneca.net::ee79ce6e-4dd6-4116-a53c-13c6fc86de8a" providerId="AD"/>
  <p188:author id="{2D99CBD3-00D3-4A84-62AD-009B61D22B34}" name="Ludman, Andrea" initials="AL" userId="S::kskb872@astrazeneca.net::e47d972e-f079-4137-a411-1f116ac31108" providerId="AD"/>
  <p188:author id="{6B26D6F1-440E-265A-40AB-AE3ACFB4131F}" name="Sharda, Nikunj" initials="SN" userId="S::ktrl801@astrazeneca.net::8249073c-b788-4506-a90a-98a8094aea3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3733" autoAdjust="0"/>
  </p:normalViewPr>
  <p:slideViewPr>
    <p:cSldViewPr snapToGrid="0">
      <p:cViewPr varScale="1">
        <p:scale>
          <a:sx n="93" d="100"/>
          <a:sy n="93" d="100"/>
        </p:scale>
        <p:origin x="1550" y="29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5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21" Type="http://schemas.openxmlformats.org/officeDocument/2006/relationships/slideMaster" Target="slideMasters/slideMaster8.xml"/><Relationship Id="rId34" Type="http://schemas.openxmlformats.org/officeDocument/2006/relationships/slide" Target="slides/slide12.xml"/><Relationship Id="rId42" Type="http://schemas.openxmlformats.org/officeDocument/2006/relationships/slide" Target="slides/slide20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3.xml"/><Relationship Id="rId29" Type="http://schemas.openxmlformats.org/officeDocument/2006/relationships/slide" Target="slides/slide7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handoutMaster" Target="handoutMasters/handoutMaster1.xml"/><Relationship Id="rId53" Type="http://schemas.microsoft.com/office/2018/10/relationships/authors" Target="author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6.xml"/><Relationship Id="rId31" Type="http://schemas.openxmlformats.org/officeDocument/2006/relationships/slide" Target="slides/slide9.xml"/><Relationship Id="rId44" Type="http://schemas.openxmlformats.org/officeDocument/2006/relationships/notesMaster" Target="notesMasters/notesMaster1.xml"/><Relationship Id="rId52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Master" Target="slideMasters/slideMaster9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4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tags" Target="tags/tag1.xml"/><Relationship Id="rId20" Type="http://schemas.openxmlformats.org/officeDocument/2006/relationships/slideMaster" Target="slideMasters/slideMaster7.xml"/><Relationship Id="rId41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Master" Target="slideMasters/slideMaster2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ckwenn, Nicole" userId="ee79ce6e-4dd6-4116-a53c-13c6fc86de8a" providerId="ADAL" clId="{B4084B7D-302F-4D05-BD00-7B6D9BB884D7}"/>
    <pc:docChg chg="modSld">
      <pc:chgData name="Bleckwenn, Nicole" userId="ee79ce6e-4dd6-4116-a53c-13c6fc86de8a" providerId="ADAL" clId="{B4084B7D-302F-4D05-BD00-7B6D9BB884D7}" dt="2025-10-01T21:45:32.084" v="7" actId="20577"/>
      <pc:docMkLst>
        <pc:docMk/>
      </pc:docMkLst>
      <pc:sldChg chg="modNotesTx">
        <pc:chgData name="Bleckwenn, Nicole" userId="ee79ce6e-4dd6-4116-a53c-13c6fc86de8a" providerId="ADAL" clId="{B4084B7D-302F-4D05-BD00-7B6D9BB884D7}" dt="2025-10-01T21:45:32.084" v="7" actId="20577"/>
        <pc:sldMkLst>
          <pc:docMk/>
          <pc:sldMk cId="3982727795" sldId="743"/>
        </pc:sldMkLst>
      </pc:sldChg>
      <pc:sldChg chg="modNotesTx">
        <pc:chgData name="Bleckwenn, Nicole" userId="ee79ce6e-4dd6-4116-a53c-13c6fc86de8a" providerId="ADAL" clId="{B4084B7D-302F-4D05-BD00-7B6D9BB884D7}" dt="2025-10-01T21:45:11.582" v="3" actId="20577"/>
        <pc:sldMkLst>
          <pc:docMk/>
          <pc:sldMk cId="3814984171" sldId="2565"/>
        </pc:sldMkLst>
      </pc:sldChg>
      <pc:sldChg chg="modNotesTx">
        <pc:chgData name="Bleckwenn, Nicole" userId="ee79ce6e-4dd6-4116-a53c-13c6fc86de8a" providerId="ADAL" clId="{B4084B7D-302F-4D05-BD00-7B6D9BB884D7}" dt="2025-10-01T21:45:01.584" v="0" actId="20577"/>
        <pc:sldMkLst>
          <pc:docMk/>
          <pc:sldMk cId="1270314180" sldId="2147471295"/>
        </pc:sldMkLst>
      </pc:sldChg>
      <pc:sldChg chg="modNotesTx">
        <pc:chgData name="Bleckwenn, Nicole" userId="ee79ce6e-4dd6-4116-a53c-13c6fc86de8a" providerId="ADAL" clId="{B4084B7D-302F-4D05-BD00-7B6D9BB884D7}" dt="2025-10-01T21:45:15.630" v="4" actId="20577"/>
        <pc:sldMkLst>
          <pc:docMk/>
          <pc:sldMk cId="1475187349" sldId="2147472862"/>
        </pc:sldMkLst>
      </pc:sldChg>
      <pc:sldChg chg="modNotesTx">
        <pc:chgData name="Bleckwenn, Nicole" userId="ee79ce6e-4dd6-4116-a53c-13c6fc86de8a" providerId="ADAL" clId="{B4084B7D-302F-4D05-BD00-7B6D9BB884D7}" dt="2025-10-01T21:45:09.230" v="2" actId="20577"/>
        <pc:sldMkLst>
          <pc:docMk/>
          <pc:sldMk cId="2624860466" sldId="2147472868"/>
        </pc:sldMkLst>
      </pc:sldChg>
      <pc:sldChg chg="modNotesTx">
        <pc:chgData name="Bleckwenn, Nicole" userId="ee79ce6e-4dd6-4116-a53c-13c6fc86de8a" providerId="ADAL" clId="{B4084B7D-302F-4D05-BD00-7B6D9BB884D7}" dt="2025-10-01T21:45:06.578" v="1" actId="20577"/>
        <pc:sldMkLst>
          <pc:docMk/>
          <pc:sldMk cId="4080609381" sldId="2147472886"/>
        </pc:sldMkLst>
      </pc:sldChg>
      <pc:sldChg chg="modNotesTx">
        <pc:chgData name="Bleckwenn, Nicole" userId="ee79ce6e-4dd6-4116-a53c-13c6fc86de8a" providerId="ADAL" clId="{B4084B7D-302F-4D05-BD00-7B6D9BB884D7}" dt="2025-10-01T21:45:27.623" v="6" actId="20577"/>
        <pc:sldMkLst>
          <pc:docMk/>
          <pc:sldMk cId="3405328083" sldId="2147472891"/>
        </pc:sldMkLst>
      </pc:sldChg>
      <pc:sldChg chg="modNotesTx">
        <pc:chgData name="Bleckwenn, Nicole" userId="ee79ce6e-4dd6-4116-a53c-13c6fc86de8a" providerId="ADAL" clId="{B4084B7D-302F-4D05-BD00-7B6D9BB884D7}" dt="2025-10-01T21:45:21.741" v="5" actId="20577"/>
        <pc:sldMkLst>
          <pc:docMk/>
          <pc:sldMk cId="1629206638" sldId="214747289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zcollaboration.sharepoint.com/sites/NextGenerationManufacturingandDevelopment/Shared%20Documents/NGM%20upstream/Experiments%20folder/B3314%20-%20GPF%20Engineering%20Run%20-%20MEDI0618/Sample%20Sheet/B3314%20Engineering%20Run%20Sample%20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zcollaboration.sharepoint.com/sites/NextGenerationManufacturingandDevelopment/Shared%20Documents/NGM%20upstream/Experiments%20folder/B3314%20-%20GPF%20Engineering%20Run%20-%20MEDI0618/Sample%20Sheet/B3314%20Engineering%20Run%20Sample%20Sheet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zcollaboration-my.sharepoint.com/personal/kjhn429_astrazeneca_net/Documents/Desktop/NGM/MEDI0618/WL8074%20PQ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zcollaboration-my.sharepoint.com/personal/kjhn429_astrazeneca_net/Documents/Desktop/NGM/MEDI0618/WL8074%20PQ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VCD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'[B3314 Engineering Run Sample Sheet.xlsx]Runs Comparison Analysis'!$A$18</c:f>
              <c:strCache>
                <c:ptCount val="1"/>
                <c:pt idx="0">
                  <c:v>B2953-D48 - 3L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'[B3314 Engineering Run Sample Sheet.xlsx]Runs Comparison Analysis'!$B$18:$B$32</c:f>
              <c:numCache>
                <c:formatCode>General</c:formatCode>
                <c:ptCount val="15"/>
                <c:pt idx="0">
                  <c:v>0</c:v>
                </c:pt>
                <c:pt idx="1">
                  <c:v>0.9</c:v>
                </c:pt>
                <c:pt idx="2">
                  <c:v>1.93</c:v>
                </c:pt>
                <c:pt idx="3">
                  <c:v>2.91</c:v>
                </c:pt>
                <c:pt idx="4">
                  <c:v>4</c:v>
                </c:pt>
                <c:pt idx="5">
                  <c:v>4.99</c:v>
                </c:pt>
                <c:pt idx="6">
                  <c:v>5.93</c:v>
                </c:pt>
                <c:pt idx="7">
                  <c:v>6.92</c:v>
                </c:pt>
                <c:pt idx="8">
                  <c:v>7.9</c:v>
                </c:pt>
                <c:pt idx="9">
                  <c:v>8.91</c:v>
                </c:pt>
                <c:pt idx="10">
                  <c:v>9.92</c:v>
                </c:pt>
                <c:pt idx="11">
                  <c:v>11.01</c:v>
                </c:pt>
                <c:pt idx="12">
                  <c:v>12</c:v>
                </c:pt>
                <c:pt idx="13">
                  <c:v>12.9</c:v>
                </c:pt>
                <c:pt idx="14">
                  <c:v>13.9</c:v>
                </c:pt>
              </c:numCache>
            </c:numRef>
          </c:xVal>
          <c:yVal>
            <c:numRef>
              <c:f>'[B3314 Engineering Run Sample Sheet.xlsx]Runs Comparison Analysis'!$C$18:$C$32</c:f>
              <c:numCache>
                <c:formatCode>General</c:formatCode>
                <c:ptCount val="15"/>
                <c:pt idx="0">
                  <c:v>10.3</c:v>
                </c:pt>
                <c:pt idx="1">
                  <c:v>19.2</c:v>
                </c:pt>
                <c:pt idx="2">
                  <c:v>36.799999999999997</c:v>
                </c:pt>
                <c:pt idx="3">
                  <c:v>63.5</c:v>
                </c:pt>
                <c:pt idx="4">
                  <c:v>94.5</c:v>
                </c:pt>
                <c:pt idx="5">
                  <c:v>118.1</c:v>
                </c:pt>
                <c:pt idx="6">
                  <c:v>104.1</c:v>
                </c:pt>
                <c:pt idx="7">
                  <c:v>90.3</c:v>
                </c:pt>
                <c:pt idx="8">
                  <c:v>80.7</c:v>
                </c:pt>
                <c:pt idx="9">
                  <c:v>67.900000000000006</c:v>
                </c:pt>
                <c:pt idx="10">
                  <c:v>67.56</c:v>
                </c:pt>
                <c:pt idx="11">
                  <c:v>47.1</c:v>
                </c:pt>
                <c:pt idx="12">
                  <c:v>43</c:v>
                </c:pt>
                <c:pt idx="13">
                  <c:v>53.9</c:v>
                </c:pt>
                <c:pt idx="14">
                  <c:v>47.6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7B-4F40-9D0E-5F1090B7CD0A}"/>
            </c:ext>
          </c:extLst>
        </c:ser>
        <c:ser>
          <c:idx val="2"/>
          <c:order val="2"/>
          <c:tx>
            <c:strRef>
              <c:f>'[B3314 Engineering Run Sample Sheet.xlsx]Runs Comparison Analysis'!$A$34</c:f>
              <c:strCache>
                <c:ptCount val="1"/>
                <c:pt idx="0">
                  <c:v>B2992 - 50L Stainless Steel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'[B3314 Engineering Run Sample Sheet.xlsx]Runs Comparison Analysis'!$B$34:$B$48</c:f>
              <c:numCache>
                <c:formatCode>General</c:formatCode>
                <c:ptCount val="15"/>
                <c:pt idx="0">
                  <c:v>0</c:v>
                </c:pt>
                <c:pt idx="1">
                  <c:v>0.85</c:v>
                </c:pt>
                <c:pt idx="2">
                  <c:v>1.81</c:v>
                </c:pt>
                <c:pt idx="3">
                  <c:v>2.89</c:v>
                </c:pt>
                <c:pt idx="4">
                  <c:v>3.86</c:v>
                </c:pt>
                <c:pt idx="5">
                  <c:v>4.8600000000000003</c:v>
                </c:pt>
                <c:pt idx="6">
                  <c:v>5.86</c:v>
                </c:pt>
                <c:pt idx="7">
                  <c:v>6.81</c:v>
                </c:pt>
                <c:pt idx="8">
                  <c:v>7.88</c:v>
                </c:pt>
                <c:pt idx="9">
                  <c:v>8.8699999999999992</c:v>
                </c:pt>
                <c:pt idx="10">
                  <c:v>9.86</c:v>
                </c:pt>
                <c:pt idx="11">
                  <c:v>10.96</c:v>
                </c:pt>
                <c:pt idx="12">
                  <c:v>11.85</c:v>
                </c:pt>
                <c:pt idx="13">
                  <c:v>12.85</c:v>
                </c:pt>
                <c:pt idx="14">
                  <c:v>13.86</c:v>
                </c:pt>
              </c:numCache>
            </c:numRef>
          </c:xVal>
          <c:yVal>
            <c:numRef>
              <c:f>'[B3314 Engineering Run Sample Sheet.xlsx]Runs Comparison Analysis'!$C$34:$C$48</c:f>
              <c:numCache>
                <c:formatCode>0.00</c:formatCode>
                <c:ptCount val="15"/>
                <c:pt idx="0">
                  <c:v>11.1</c:v>
                </c:pt>
                <c:pt idx="1">
                  <c:v>18.600000000000001</c:v>
                </c:pt>
                <c:pt idx="2">
                  <c:v>34.299999999999997</c:v>
                </c:pt>
                <c:pt idx="3">
                  <c:v>75.2</c:v>
                </c:pt>
                <c:pt idx="4">
                  <c:v>103.6</c:v>
                </c:pt>
                <c:pt idx="5">
                  <c:v>112.1</c:v>
                </c:pt>
                <c:pt idx="6">
                  <c:v>116.5</c:v>
                </c:pt>
                <c:pt idx="7">
                  <c:v>77.900000000000006</c:v>
                </c:pt>
                <c:pt idx="8">
                  <c:v>74.3</c:v>
                </c:pt>
                <c:pt idx="9">
                  <c:v>75.92</c:v>
                </c:pt>
                <c:pt idx="10" formatCode="General">
                  <c:v>60.879999999999995</c:v>
                </c:pt>
                <c:pt idx="11" formatCode="General">
                  <c:v>53.3</c:v>
                </c:pt>
                <c:pt idx="12" formatCode="General">
                  <c:v>47.8</c:v>
                </c:pt>
                <c:pt idx="13" formatCode="General">
                  <c:v>48.8</c:v>
                </c:pt>
                <c:pt idx="14" formatCode="General">
                  <c:v>36.4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77B-4F40-9D0E-5F1090B7CD0A}"/>
            </c:ext>
          </c:extLst>
        </c:ser>
        <c:ser>
          <c:idx val="3"/>
          <c:order val="3"/>
          <c:tx>
            <c:strRef>
              <c:f>'[B3314 Engineering Run Sample Sheet.xlsx]Runs Comparison Analysis'!$A$50</c:f>
              <c:strCache>
                <c:ptCount val="1"/>
                <c:pt idx="0">
                  <c:v>B3314 - 500L GPF ABEC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'[B3314 Engineering Run Sample Sheet.xlsx]Runs Comparison Analysis'!$B$50:$B$62</c:f>
              <c:numCache>
                <c:formatCode>0.00</c:formatCode>
                <c:ptCount val="13"/>
                <c:pt idx="0">
                  <c:v>0</c:v>
                </c:pt>
                <c:pt idx="1">
                  <c:v>0.98124999999708962</c:v>
                </c:pt>
                <c:pt idx="2">
                  <c:v>1.984027777776646</c:v>
                </c:pt>
                <c:pt idx="3">
                  <c:v>2.9777777777781012</c:v>
                </c:pt>
                <c:pt idx="4">
                  <c:v>3.9229166666627862</c:v>
                </c:pt>
                <c:pt idx="5">
                  <c:v>4.9187499999970896</c:v>
                </c:pt>
                <c:pt idx="6">
                  <c:v>5.8680555555547471</c:v>
                </c:pt>
                <c:pt idx="7">
                  <c:v>6.9715277777722804</c:v>
                </c:pt>
                <c:pt idx="8">
                  <c:v>7.9368055555532919</c:v>
                </c:pt>
                <c:pt idx="9">
                  <c:v>9.0138888888832298</c:v>
                </c:pt>
                <c:pt idx="10">
                  <c:v>9.8888888888832298</c:v>
                </c:pt>
              </c:numCache>
            </c:numRef>
          </c:xVal>
          <c:yVal>
            <c:numRef>
              <c:f>'[B3314 Engineering Run Sample Sheet.xlsx]Runs Comparison Analysis'!$C$50:$C$62</c:f>
              <c:numCache>
                <c:formatCode>0.0</c:formatCode>
                <c:ptCount val="13"/>
                <c:pt idx="0">
                  <c:v>10.7</c:v>
                </c:pt>
                <c:pt idx="1">
                  <c:v>17.7</c:v>
                </c:pt>
                <c:pt idx="2">
                  <c:v>33.200000000000003</c:v>
                </c:pt>
                <c:pt idx="3">
                  <c:v>59.9</c:v>
                </c:pt>
                <c:pt idx="4">
                  <c:v>80.900000000000006</c:v>
                </c:pt>
                <c:pt idx="5">
                  <c:v>84.6</c:v>
                </c:pt>
                <c:pt idx="6">
                  <c:v>81.5</c:v>
                </c:pt>
                <c:pt idx="7">
                  <c:v>93.2</c:v>
                </c:pt>
                <c:pt idx="8">
                  <c:v>79.7</c:v>
                </c:pt>
                <c:pt idx="9">
                  <c:v>88.4</c:v>
                </c:pt>
                <c:pt idx="10">
                  <c:v>66.400000000000006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77B-4F40-9D0E-5F1090B7C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2624095"/>
        <c:axId val="115083311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'[B3314 Engineering Run Sample Sheet.xlsx]Runs Comparison Analysis'!$A$1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'[B3314 Engineering Run Sample Sheet.xlsx]Runs Comparison Analysis'!$B$2:$B$16</c15:sqref>
                        </c15:formulaRef>
                      </c:ext>
                    </c:extLst>
                    <c:numCache>
                      <c:formatCode>General</c:formatCode>
                      <c:ptCount val="15"/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'[B3314 Engineering Run Sample Sheet.xlsx]Runs Comparison Analysis'!$C$2:$C$16</c15:sqref>
                        </c15:formulaRef>
                      </c:ext>
                    </c:extLst>
                    <c:numCache>
                      <c:formatCode>General</c:formatCode>
                      <c:ptCount val="15"/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E77B-4F40-9D0E-5F1090B7CD0A}"/>
                  </c:ext>
                </c:extLst>
              </c15:ser>
            </c15:filteredScatterSeries>
          </c:ext>
        </c:extLst>
      </c:scatterChart>
      <c:valAx>
        <c:axId val="1832624095"/>
        <c:scaling>
          <c:orientation val="minMax"/>
          <c:max val="1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50000"/>
                      </a:schemeClr>
                    </a:solidFill>
                  </a:rPr>
                  <a:t>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0833119"/>
        <c:crosses val="autoZero"/>
        <c:crossBetween val="midCat"/>
      </c:valAx>
      <c:valAx>
        <c:axId val="1150833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50000"/>
                      </a:schemeClr>
                    </a:solidFill>
                  </a:rPr>
                  <a:t>VCD</a:t>
                </a:r>
                <a:r>
                  <a:rPr lang="en-US" baseline="0">
                    <a:solidFill>
                      <a:schemeClr val="tx1">
                        <a:lumMod val="50000"/>
                      </a:schemeClr>
                    </a:solidFill>
                  </a:rPr>
                  <a:t> (x10e6 VC/mL)</a:t>
                </a:r>
                <a:endParaRPr lang="en-US">
                  <a:solidFill>
                    <a:schemeClr val="tx1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624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>
                    <a:lumMod val="50000"/>
                  </a:schemeClr>
                </a:solidFill>
              </a:rPr>
              <a:t>Osmolality</a:t>
            </a:r>
          </a:p>
        </c:rich>
      </c:tx>
      <c:layout>
        <c:manualLayout>
          <c:xMode val="edge"/>
          <c:yMode val="edge"/>
          <c:x val="0.41827196232823838"/>
          <c:y val="1.9040061088112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'[B3314 Engineering Run Sample Sheet.xlsx]Runs Comparison Analysis'!$A$18</c:f>
              <c:strCache>
                <c:ptCount val="1"/>
                <c:pt idx="0">
                  <c:v>B2953-D48 - 3L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'[B3314 Engineering Run Sample Sheet.xlsx]Runs Comparison Analysis'!$B$18:$B$32</c:f>
              <c:numCache>
                <c:formatCode>General</c:formatCode>
                <c:ptCount val="15"/>
                <c:pt idx="0">
                  <c:v>0</c:v>
                </c:pt>
                <c:pt idx="1">
                  <c:v>0.9</c:v>
                </c:pt>
                <c:pt idx="2">
                  <c:v>1.93</c:v>
                </c:pt>
                <c:pt idx="3">
                  <c:v>2.91</c:v>
                </c:pt>
                <c:pt idx="4">
                  <c:v>4</c:v>
                </c:pt>
                <c:pt idx="5">
                  <c:v>4.99</c:v>
                </c:pt>
                <c:pt idx="6">
                  <c:v>5.93</c:v>
                </c:pt>
                <c:pt idx="7">
                  <c:v>6.92</c:v>
                </c:pt>
                <c:pt idx="8">
                  <c:v>7.9</c:v>
                </c:pt>
                <c:pt idx="9">
                  <c:v>8.91</c:v>
                </c:pt>
                <c:pt idx="10">
                  <c:v>9.92</c:v>
                </c:pt>
                <c:pt idx="11">
                  <c:v>11.01</c:v>
                </c:pt>
                <c:pt idx="12">
                  <c:v>12</c:v>
                </c:pt>
                <c:pt idx="13">
                  <c:v>12.9</c:v>
                </c:pt>
                <c:pt idx="14">
                  <c:v>13.9</c:v>
                </c:pt>
              </c:numCache>
            </c:numRef>
          </c:xVal>
          <c:yVal>
            <c:numRef>
              <c:f>'[B3314 Engineering Run Sample Sheet.xlsx]Runs Comparison Analysis'!$H$18:$H$32</c:f>
              <c:numCache>
                <c:formatCode>General</c:formatCode>
                <c:ptCount val="15"/>
                <c:pt idx="0">
                  <c:v>322</c:v>
                </c:pt>
                <c:pt idx="1">
                  <c:v>341</c:v>
                </c:pt>
                <c:pt idx="2">
                  <c:v>307</c:v>
                </c:pt>
                <c:pt idx="3">
                  <c:v>310</c:v>
                </c:pt>
                <c:pt idx="4">
                  <c:v>313</c:v>
                </c:pt>
                <c:pt idx="5">
                  <c:v>328</c:v>
                </c:pt>
                <c:pt idx="6">
                  <c:v>345</c:v>
                </c:pt>
                <c:pt idx="7">
                  <c:v>355</c:v>
                </c:pt>
                <c:pt idx="8">
                  <c:v>357</c:v>
                </c:pt>
                <c:pt idx="9">
                  <c:v>362</c:v>
                </c:pt>
                <c:pt idx="10">
                  <c:v>370</c:v>
                </c:pt>
                <c:pt idx="11">
                  <c:v>374</c:v>
                </c:pt>
                <c:pt idx="12">
                  <c:v>379</c:v>
                </c:pt>
                <c:pt idx="13">
                  <c:v>381</c:v>
                </c:pt>
                <c:pt idx="14">
                  <c:v>382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38-42C5-A92E-4A0E61804A7B}"/>
            </c:ext>
          </c:extLst>
        </c:ser>
        <c:ser>
          <c:idx val="2"/>
          <c:order val="2"/>
          <c:tx>
            <c:strRef>
              <c:f>'[B3314 Engineering Run Sample Sheet.xlsx]Runs Comparison Analysis'!$A$34</c:f>
              <c:strCache>
                <c:ptCount val="1"/>
                <c:pt idx="0">
                  <c:v>B2992 - 50L Stainless Steel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'[B3314 Engineering Run Sample Sheet.xlsx]Runs Comparison Analysis'!$B$34:$B$48</c:f>
              <c:numCache>
                <c:formatCode>General</c:formatCode>
                <c:ptCount val="15"/>
                <c:pt idx="0">
                  <c:v>0</c:v>
                </c:pt>
                <c:pt idx="1">
                  <c:v>0.85</c:v>
                </c:pt>
                <c:pt idx="2">
                  <c:v>1.81</c:v>
                </c:pt>
                <c:pt idx="3">
                  <c:v>2.89</c:v>
                </c:pt>
                <c:pt idx="4">
                  <c:v>3.86</c:v>
                </c:pt>
                <c:pt idx="5">
                  <c:v>4.8600000000000003</c:v>
                </c:pt>
                <c:pt idx="6">
                  <c:v>5.86</c:v>
                </c:pt>
                <c:pt idx="7">
                  <c:v>6.81</c:v>
                </c:pt>
                <c:pt idx="8">
                  <c:v>7.88</c:v>
                </c:pt>
                <c:pt idx="9">
                  <c:v>8.8699999999999992</c:v>
                </c:pt>
                <c:pt idx="10">
                  <c:v>9.86</c:v>
                </c:pt>
                <c:pt idx="11">
                  <c:v>10.96</c:v>
                </c:pt>
                <c:pt idx="12">
                  <c:v>11.85</c:v>
                </c:pt>
                <c:pt idx="13">
                  <c:v>12.85</c:v>
                </c:pt>
                <c:pt idx="14">
                  <c:v>13.86</c:v>
                </c:pt>
              </c:numCache>
            </c:numRef>
          </c:xVal>
          <c:yVal>
            <c:numRef>
              <c:f>'[B3314 Engineering Run Sample Sheet.xlsx]Runs Comparison Analysis'!$H$34:$H$48</c:f>
              <c:numCache>
                <c:formatCode>General</c:formatCode>
                <c:ptCount val="15"/>
                <c:pt idx="0">
                  <c:v>312</c:v>
                </c:pt>
                <c:pt idx="1">
                  <c:v>292</c:v>
                </c:pt>
                <c:pt idx="2">
                  <c:v>310</c:v>
                </c:pt>
                <c:pt idx="3">
                  <c:v>318</c:v>
                </c:pt>
                <c:pt idx="4">
                  <c:v>323</c:v>
                </c:pt>
                <c:pt idx="5">
                  <c:v>336</c:v>
                </c:pt>
                <c:pt idx="6">
                  <c:v>347</c:v>
                </c:pt>
                <c:pt idx="7">
                  <c:v>326</c:v>
                </c:pt>
                <c:pt idx="8">
                  <c:v>340</c:v>
                </c:pt>
                <c:pt idx="9">
                  <c:v>334</c:v>
                </c:pt>
                <c:pt idx="10">
                  <c:v>343</c:v>
                </c:pt>
                <c:pt idx="11">
                  <c:v>350</c:v>
                </c:pt>
                <c:pt idx="12">
                  <c:v>376</c:v>
                </c:pt>
                <c:pt idx="13">
                  <c:v>367</c:v>
                </c:pt>
                <c:pt idx="14">
                  <c:v>389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838-42C5-A92E-4A0E61804A7B}"/>
            </c:ext>
          </c:extLst>
        </c:ser>
        <c:ser>
          <c:idx val="3"/>
          <c:order val="3"/>
          <c:tx>
            <c:strRef>
              <c:f>'[B3314 Engineering Run Sample Sheet.xlsx]Runs Comparison Analysis'!$A$50</c:f>
              <c:strCache>
                <c:ptCount val="1"/>
                <c:pt idx="0">
                  <c:v>B3314 - 500L GPF ABEC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'[B3314 Engineering Run Sample Sheet.xlsx]Runs Comparison Analysis'!$B$50:$B$62</c:f>
              <c:numCache>
                <c:formatCode>0.00</c:formatCode>
                <c:ptCount val="13"/>
                <c:pt idx="0">
                  <c:v>0</c:v>
                </c:pt>
                <c:pt idx="1">
                  <c:v>0.98124999999708962</c:v>
                </c:pt>
                <c:pt idx="2">
                  <c:v>1.984027777776646</c:v>
                </c:pt>
                <c:pt idx="3">
                  <c:v>2.9777777777781012</c:v>
                </c:pt>
                <c:pt idx="4">
                  <c:v>3.9229166666627862</c:v>
                </c:pt>
                <c:pt idx="5">
                  <c:v>4.9187499999970896</c:v>
                </c:pt>
                <c:pt idx="6">
                  <c:v>5.8680555555547471</c:v>
                </c:pt>
                <c:pt idx="7">
                  <c:v>6.9715277777722804</c:v>
                </c:pt>
                <c:pt idx="8">
                  <c:v>7.9368055555532919</c:v>
                </c:pt>
                <c:pt idx="9">
                  <c:v>9.0138888888832298</c:v>
                </c:pt>
                <c:pt idx="10">
                  <c:v>9.8888888888832298</c:v>
                </c:pt>
              </c:numCache>
            </c:numRef>
          </c:xVal>
          <c:yVal>
            <c:numRef>
              <c:f>'[B3314 Engineering Run Sample Sheet.xlsx]Runs Comparison Analysis'!$H$50:$H$61</c:f>
              <c:numCache>
                <c:formatCode>General</c:formatCode>
                <c:ptCount val="12"/>
                <c:pt idx="0">
                  <c:v>337</c:v>
                </c:pt>
                <c:pt idx="1">
                  <c:v>288</c:v>
                </c:pt>
                <c:pt idx="2">
                  <c:v>271</c:v>
                </c:pt>
                <c:pt idx="3">
                  <c:v>283</c:v>
                </c:pt>
                <c:pt idx="4">
                  <c:v>276</c:v>
                </c:pt>
                <c:pt idx="5">
                  <c:v>301</c:v>
                </c:pt>
                <c:pt idx="6">
                  <c:v>336</c:v>
                </c:pt>
                <c:pt idx="7">
                  <c:v>362</c:v>
                </c:pt>
                <c:pt idx="8">
                  <c:v>369</c:v>
                </c:pt>
                <c:pt idx="9">
                  <c:v>383</c:v>
                </c:pt>
                <c:pt idx="10">
                  <c:v>379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838-42C5-A92E-4A0E61804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2624095"/>
        <c:axId val="115083311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'[B3314 Engineering Run Sample Sheet.xlsx]Runs Comparison Analysis'!$A$1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'[B3314 Engineering Run Sample Sheet.xlsx]Runs Comparison Analysis'!$B$2:$B$16</c15:sqref>
                        </c15:formulaRef>
                      </c:ext>
                    </c:extLst>
                    <c:numCache>
                      <c:formatCode>General</c:formatCode>
                      <c:ptCount val="15"/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'[B3314 Engineering Run Sample Sheet.xlsx]Runs Comparison Analysis'!$H$2:$H$16</c15:sqref>
                        </c15:formulaRef>
                      </c:ext>
                    </c:extLst>
                    <c:numCache>
                      <c:formatCode>General</c:formatCode>
                      <c:ptCount val="15"/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3838-42C5-A92E-4A0E61804A7B}"/>
                  </c:ext>
                </c:extLst>
              </c15:ser>
            </c15:filteredScatterSeries>
          </c:ext>
        </c:extLst>
      </c:scatterChart>
      <c:valAx>
        <c:axId val="1832624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50000"/>
                      </a:schemeClr>
                    </a:solidFill>
                  </a:rPr>
                  <a:t>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0833119"/>
        <c:crosses val="autoZero"/>
        <c:crossBetween val="midCat"/>
      </c:valAx>
      <c:valAx>
        <c:axId val="1150833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50000"/>
                      </a:schemeClr>
                    </a:solidFill>
                  </a:rPr>
                  <a:t>Osmolality</a:t>
                </a:r>
                <a:r>
                  <a:rPr lang="en-US" baseline="0">
                    <a:solidFill>
                      <a:schemeClr val="tx1">
                        <a:lumMod val="50000"/>
                      </a:schemeClr>
                    </a:solidFill>
                  </a:rPr>
                  <a:t> (mosm/kg H2O)</a:t>
                </a:r>
                <a:endParaRPr lang="en-US">
                  <a:solidFill>
                    <a:schemeClr val="tx1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624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CM Tank Titer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WL8074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'[WL8074 PQ Data.xlsx]Graph Math'!$G$5:$G$35</c:f>
              <c:numCache>
                <c:formatCode>0.00</c:formatCode>
                <c:ptCount val="31"/>
                <c:pt idx="0">
                  <c:v>0.63541666666666663</c:v>
                </c:pt>
                <c:pt idx="1">
                  <c:v>0.8125</c:v>
                </c:pt>
                <c:pt idx="2">
                  <c:v>1.3180555555555555</c:v>
                </c:pt>
                <c:pt idx="3">
                  <c:v>1.5194444444444444</c:v>
                </c:pt>
                <c:pt idx="4">
                  <c:v>1.7194444444444446</c:v>
                </c:pt>
                <c:pt idx="5">
                  <c:v>2.3159722222222223</c:v>
                </c:pt>
                <c:pt idx="6">
                  <c:v>2.7381944444444444</c:v>
                </c:pt>
                <c:pt idx="7">
                  <c:v>3.3138888888888891</c:v>
                </c:pt>
                <c:pt idx="8">
                  <c:v>3.7291666666666665</c:v>
                </c:pt>
                <c:pt idx="9">
                  <c:v>4.3159722222222223</c:v>
                </c:pt>
                <c:pt idx="10">
                  <c:v>4.5534722222222221</c:v>
                </c:pt>
                <c:pt idx="11">
                  <c:v>4.865277777777778</c:v>
                </c:pt>
                <c:pt idx="12">
                  <c:v>5.3145833333333332</c:v>
                </c:pt>
                <c:pt idx="13">
                  <c:v>5.5465277777777775</c:v>
                </c:pt>
                <c:pt idx="14">
                  <c:v>5.8805555555555555</c:v>
                </c:pt>
                <c:pt idx="15">
                  <c:v>6.354166666666667</c:v>
                </c:pt>
                <c:pt idx="16">
                  <c:v>6.5645833333333332</c:v>
                </c:pt>
                <c:pt idx="17">
                  <c:v>6.8493055555555555</c:v>
                </c:pt>
                <c:pt idx="18">
                  <c:v>7.3104166666666668</c:v>
                </c:pt>
                <c:pt idx="19">
                  <c:v>7.5604166666666668</c:v>
                </c:pt>
                <c:pt idx="20">
                  <c:v>7.7062499999999998</c:v>
                </c:pt>
                <c:pt idx="21">
                  <c:v>7.7458333333333336</c:v>
                </c:pt>
                <c:pt idx="22">
                  <c:v>7.8041666666666671</c:v>
                </c:pt>
                <c:pt idx="23">
                  <c:v>7.8361111111111112</c:v>
                </c:pt>
                <c:pt idx="24">
                  <c:v>7.8784722222222223</c:v>
                </c:pt>
                <c:pt idx="25">
                  <c:v>8.3152777777777782</c:v>
                </c:pt>
                <c:pt idx="26">
                  <c:v>8.5472222222222225</c:v>
                </c:pt>
                <c:pt idx="27">
                  <c:v>8.7645833333333343</c:v>
                </c:pt>
                <c:pt idx="28">
                  <c:v>8.8472222222222214</c:v>
                </c:pt>
                <c:pt idx="29">
                  <c:v>9.4034722222222218</c:v>
                </c:pt>
                <c:pt idx="30">
                  <c:v>10.39861111111111</c:v>
                </c:pt>
              </c:numCache>
            </c:numRef>
          </c:xVal>
          <c:yVal>
            <c:numRef>
              <c:f>'[WL8074 PQ Data.xlsx]Graph Math'!$H$5:$H$35</c:f>
              <c:numCache>
                <c:formatCode>General</c:formatCode>
                <c:ptCount val="31"/>
                <c:pt idx="0">
                  <c:v>7.0000000000000007E-2</c:v>
                </c:pt>
                <c:pt idx="1">
                  <c:v>0.08</c:v>
                </c:pt>
                <c:pt idx="2">
                  <c:v>0.12</c:v>
                </c:pt>
                <c:pt idx="3">
                  <c:v>0.14000000000000001</c:v>
                </c:pt>
                <c:pt idx="4">
                  <c:v>0.16</c:v>
                </c:pt>
                <c:pt idx="5">
                  <c:v>0.25</c:v>
                </c:pt>
                <c:pt idx="6">
                  <c:v>0.34</c:v>
                </c:pt>
                <c:pt idx="7">
                  <c:v>0.45</c:v>
                </c:pt>
                <c:pt idx="8">
                  <c:v>0.59</c:v>
                </c:pt>
                <c:pt idx="9">
                  <c:v>0.76</c:v>
                </c:pt>
                <c:pt idx="10">
                  <c:v>0.81</c:v>
                </c:pt>
                <c:pt idx="11">
                  <c:v>0.86</c:v>
                </c:pt>
                <c:pt idx="12" formatCode="0.00">
                  <c:v>0.9</c:v>
                </c:pt>
                <c:pt idx="13">
                  <c:v>0.91</c:v>
                </c:pt>
                <c:pt idx="14">
                  <c:v>0.95</c:v>
                </c:pt>
                <c:pt idx="15">
                  <c:v>0.99</c:v>
                </c:pt>
                <c:pt idx="16">
                  <c:v>1.07</c:v>
                </c:pt>
                <c:pt idx="17">
                  <c:v>1.1100000000000001</c:v>
                </c:pt>
                <c:pt idx="18">
                  <c:v>1.1100000000000001</c:v>
                </c:pt>
                <c:pt idx="19">
                  <c:v>1.1399999999999999</c:v>
                </c:pt>
                <c:pt idx="20">
                  <c:v>1.18</c:v>
                </c:pt>
                <c:pt idx="21">
                  <c:v>1.28</c:v>
                </c:pt>
                <c:pt idx="22">
                  <c:v>1.77</c:v>
                </c:pt>
                <c:pt idx="23">
                  <c:v>1.96</c:v>
                </c:pt>
                <c:pt idx="24" formatCode="0.00">
                  <c:v>2.1</c:v>
                </c:pt>
                <c:pt idx="25">
                  <c:v>2.2599999999999998</c:v>
                </c:pt>
                <c:pt idx="26">
                  <c:v>2.09</c:v>
                </c:pt>
                <c:pt idx="27">
                  <c:v>1.97</c:v>
                </c:pt>
                <c:pt idx="28">
                  <c:v>1.95</c:v>
                </c:pt>
                <c:pt idx="29">
                  <c:v>1.87</c:v>
                </c:pt>
                <c:pt idx="30">
                  <c:v>1.72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A2-4726-87C3-9389489FCC33}"/>
            </c:ext>
          </c:extLst>
        </c:ser>
        <c:ser>
          <c:idx val="1"/>
          <c:order val="1"/>
          <c:tx>
            <c:v>BTE 3L Data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'[WL8074 PQ Data.xlsx]Graph Math'!$A$40:$A$54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'[WL8074 PQ Data.xlsx]Graph Math'!$B$40:$B$54</c:f>
              <c:numCache>
                <c:formatCode>0.000</c:formatCode>
                <c:ptCount val="15"/>
                <c:pt idx="0">
                  <c:v>0.11</c:v>
                </c:pt>
                <c:pt idx="1">
                  <c:v>0.15333333333333335</c:v>
                </c:pt>
                <c:pt idx="2">
                  <c:v>0.25</c:v>
                </c:pt>
                <c:pt idx="3">
                  <c:v>0.4366666666666667</c:v>
                </c:pt>
                <c:pt idx="4">
                  <c:v>0.7400000000000001</c:v>
                </c:pt>
                <c:pt idx="5">
                  <c:v>0.96333333333333337</c:v>
                </c:pt>
                <c:pt idx="6">
                  <c:v>1.1266666666666667</c:v>
                </c:pt>
                <c:pt idx="7">
                  <c:v>1.4466666666666665</c:v>
                </c:pt>
                <c:pt idx="8">
                  <c:v>1.4166666666666667</c:v>
                </c:pt>
                <c:pt idx="9">
                  <c:v>1.5766666666666669</c:v>
                </c:pt>
                <c:pt idx="10">
                  <c:v>1.8233333333333335</c:v>
                </c:pt>
                <c:pt idx="11">
                  <c:v>1.6933333333333334</c:v>
                </c:pt>
                <c:pt idx="12">
                  <c:v>2.0066666666666664</c:v>
                </c:pt>
                <c:pt idx="13">
                  <c:v>1.8933333333333333</c:v>
                </c:pt>
                <c:pt idx="14">
                  <c:v>1.9433333333333334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2A2-4726-87C3-9389489FCC33}"/>
            </c:ext>
          </c:extLst>
        </c:ser>
        <c:ser>
          <c:idx val="3"/>
          <c:order val="2"/>
          <c:tx>
            <c:v>SUL Run #1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'[WL8074 PQ Data.xlsx]Graph Math'!$A$40:$A$54</c:f>
              <c:numCache>
                <c:formatCode>General</c:formatCode>
                <c:ptCount val="1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</c:numCache>
            </c:numRef>
          </c:xVal>
          <c:yVal>
            <c:numRef>
              <c:f>'[WL8074 PQ Data.xlsx]Graph Math'!$D$40:$D$54</c:f>
              <c:numCache>
                <c:formatCode>0.000</c:formatCode>
                <c:ptCount val="15"/>
                <c:pt idx="0">
                  <c:v>0.08</c:v>
                </c:pt>
                <c:pt idx="1">
                  <c:v>0.13800000000000001</c:v>
                </c:pt>
                <c:pt idx="2">
                  <c:v>0.32</c:v>
                </c:pt>
                <c:pt idx="3">
                  <c:v>0.61599999999999999</c:v>
                </c:pt>
                <c:pt idx="4">
                  <c:v>1.107</c:v>
                </c:pt>
                <c:pt idx="5">
                  <c:v>1.494</c:v>
                </c:pt>
                <c:pt idx="6">
                  <c:v>1.633</c:v>
                </c:pt>
                <c:pt idx="7">
                  <c:v>1.3879999999999999</c:v>
                </c:pt>
                <c:pt idx="8">
                  <c:v>1.2849999999999999</c:v>
                </c:pt>
                <c:pt idx="9">
                  <c:v>1.2909999999999999</c:v>
                </c:pt>
                <c:pt idx="10">
                  <c:v>1.3120000000000001</c:v>
                </c:pt>
                <c:pt idx="11">
                  <c:v>1.327</c:v>
                </c:pt>
                <c:pt idx="12">
                  <c:v>1.3129999999999999</c:v>
                </c:pt>
                <c:pt idx="13">
                  <c:v>1.3680000000000001</c:v>
                </c:pt>
                <c:pt idx="14">
                  <c:v>1.3640000000000001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2A2-4726-87C3-9389489FC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4861088"/>
        <c:axId val="1064861568"/>
      </c:scatterChart>
      <c:valAx>
        <c:axId val="106486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861568"/>
        <c:crosses val="autoZero"/>
        <c:crossBetween val="midCat"/>
        <c:majorUnit val="1"/>
      </c:valAx>
      <c:valAx>
        <c:axId val="106486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/>
                  <a:t>CM Tank Titer (g/L)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861088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Engr Run Concentration by SOLO_A280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222247954299829"/>
          <c:y val="0.12771133468329532"/>
          <c:w val="0.76269106067623893"/>
          <c:h val="0.62351685484341202"/>
        </c:manualLayout>
      </c:layout>
      <c:scatterChart>
        <c:scatterStyle val="lineMarker"/>
        <c:varyColors val="0"/>
        <c:ser>
          <c:idx val="0"/>
          <c:order val="0"/>
          <c:tx>
            <c:v>ProA Product</c:v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'[WL8074 PQ Data.xlsx]Graph Math'!$D$142:$D$149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numCache>
            </c:numRef>
          </c:xVal>
          <c:yVal>
            <c:numRef>
              <c:f>'[WL8074 PQ Data.xlsx]Graph Math'!$G$142:$G$149</c:f>
              <c:numCache>
                <c:formatCode>General</c:formatCode>
                <c:ptCount val="8"/>
                <c:pt idx="0">
                  <c:v>16.884679999999999</c:v>
                </c:pt>
                <c:pt idx="1">
                  <c:v>16.972860000000001</c:v>
                </c:pt>
                <c:pt idx="2">
                  <c:v>16.79982</c:v>
                </c:pt>
                <c:pt idx="3">
                  <c:v>16.81681</c:v>
                </c:pt>
                <c:pt idx="4">
                  <c:v>16.789639999999999</c:v>
                </c:pt>
                <c:pt idx="5">
                  <c:v>16.262619999999998</c:v>
                </c:pt>
                <c:pt idx="6">
                  <c:v>16.279810000000001</c:v>
                </c:pt>
                <c:pt idx="7">
                  <c:v>16.318660000000001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23-4FD0-BD9A-13F73F9CA741}"/>
            </c:ext>
          </c:extLst>
        </c:ser>
        <c:ser>
          <c:idx val="1"/>
          <c:order val="1"/>
          <c:tx>
            <c:v>AEX Product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'[WL8074 PQ Data.xlsx]Graph Math'!$O$142:$O$146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xVal>
          <c:yVal>
            <c:numRef>
              <c:f>'[WL8074 PQ Data.xlsx]Graph Math'!$R$142:$R$146</c:f>
              <c:numCache>
                <c:formatCode>General</c:formatCode>
                <c:ptCount val="5"/>
                <c:pt idx="0">
                  <c:v>12.85718</c:v>
                </c:pt>
                <c:pt idx="1">
                  <c:v>12.87327</c:v>
                </c:pt>
                <c:pt idx="2">
                  <c:v>12.968070000000001</c:v>
                </c:pt>
                <c:pt idx="3">
                  <c:v>12.940110000000001</c:v>
                </c:pt>
                <c:pt idx="4">
                  <c:v>12.90419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123-4FD0-BD9A-13F73F9CA741}"/>
            </c:ext>
          </c:extLst>
        </c:ser>
        <c:ser>
          <c:idx val="2"/>
          <c:order val="2"/>
          <c:tx>
            <c:v>CEX Product</c:v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xVal>
            <c:numRef>
              <c:f>'[WL8074 PQ Data.xlsx]Graph Math'!$Z$142</c:f>
              <c:numCache>
                <c:formatCode>General</c:formatCode>
                <c:ptCount val="1"/>
                <c:pt idx="0">
                  <c:v>12</c:v>
                </c:pt>
              </c:numCache>
            </c:numRef>
          </c:xVal>
          <c:yVal>
            <c:numRef>
              <c:f>'[WL8074 PQ Data.xlsx]Graph Math'!$AC$142</c:f>
              <c:numCache>
                <c:formatCode>General</c:formatCode>
                <c:ptCount val="1"/>
                <c:pt idx="0">
                  <c:v>16.75215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123-4FD0-BD9A-13F73F9CA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2875136"/>
        <c:axId val="428224656"/>
      </c:scatterChart>
      <c:valAx>
        <c:axId val="3528751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224656"/>
        <c:crosses val="autoZero"/>
        <c:crossBetween val="midCat"/>
        <c:majorUnit val="1"/>
      </c:valAx>
      <c:valAx>
        <c:axId val="42822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Concentration (g/L)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8751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4619422572178484E-2"/>
          <c:y val="0.89193865802051342"/>
          <c:w val="0.86959626370233134"/>
          <c:h val="0.106340740133650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7.5109470460420005E-2"/>
          <c:y val="5.4189997083697872E-2"/>
          <c:w val="0.87808412831063309"/>
          <c:h val="0.79222884670279192"/>
        </c:manualLayout>
      </c:layout>
      <c:scatterChart>
        <c:scatterStyle val="smoothMarker"/>
        <c:varyColors val="0"/>
        <c:ser>
          <c:idx val="0"/>
          <c:order val="0"/>
          <c:tx>
            <c:v>Bench Scale 1x Flux</c:v>
          </c:tx>
          <c:spPr>
            <a:ln w="19050" cap="rnd">
              <a:solidFill>
                <a:srgbClr val="9DB0AC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9DB0AC"/>
              </a:solidFill>
              <a:ln w="9525">
                <a:solidFill>
                  <a:srgbClr val="9DB0AC"/>
                </a:solidFill>
              </a:ln>
              <a:effectLst/>
            </c:spPr>
          </c:marker>
          <c:xVal>
            <c:numRef>
              <c:f>'[B3513 -  50L ABEC 3529 - TFF Regen Sample Sheet.xlsx]Sieving Complete'!$R$77:$R$91</c:f>
              <c:numCache>
                <c:formatCode>General</c:formatCode>
                <c:ptCount val="15"/>
                <c:pt idx="0">
                  <c:v>0.03</c:v>
                </c:pt>
                <c:pt idx="1">
                  <c:v>0.86</c:v>
                </c:pt>
                <c:pt idx="2">
                  <c:v>1.83</c:v>
                </c:pt>
                <c:pt idx="3">
                  <c:v>2.89</c:v>
                </c:pt>
                <c:pt idx="4">
                  <c:v>3.99</c:v>
                </c:pt>
                <c:pt idx="5">
                  <c:v>4.91</c:v>
                </c:pt>
                <c:pt idx="6">
                  <c:v>5.85</c:v>
                </c:pt>
                <c:pt idx="7">
                  <c:v>6.93</c:v>
                </c:pt>
                <c:pt idx="8">
                  <c:v>7.83</c:v>
                </c:pt>
                <c:pt idx="9">
                  <c:v>8.84</c:v>
                </c:pt>
                <c:pt idx="10">
                  <c:v>9.85</c:v>
                </c:pt>
                <c:pt idx="11">
                  <c:v>10.93</c:v>
                </c:pt>
                <c:pt idx="12">
                  <c:v>11.86</c:v>
                </c:pt>
                <c:pt idx="13">
                  <c:v>12.92</c:v>
                </c:pt>
                <c:pt idx="14">
                  <c:v>13.84</c:v>
                </c:pt>
              </c:numCache>
            </c:numRef>
          </c:xVal>
          <c:yVal>
            <c:numRef>
              <c:f>'[B3513 -  50L ABEC 3529 - TFF Regen Sample Sheet.xlsx]Sieving Complete'!$S$77:$S$91</c:f>
              <c:numCache>
                <c:formatCode>General</c:formatCode>
                <c:ptCount val="15"/>
                <c:pt idx="0">
                  <c:v>102.18</c:v>
                </c:pt>
                <c:pt idx="1">
                  <c:v>98.98</c:v>
                </c:pt>
                <c:pt idx="2">
                  <c:v>85.9</c:v>
                </c:pt>
                <c:pt idx="3">
                  <c:v>91.1</c:v>
                </c:pt>
                <c:pt idx="4">
                  <c:v>89.6</c:v>
                </c:pt>
                <c:pt idx="5">
                  <c:v>89</c:v>
                </c:pt>
                <c:pt idx="6">
                  <c:v>84.15</c:v>
                </c:pt>
                <c:pt idx="7">
                  <c:v>76.12</c:v>
                </c:pt>
                <c:pt idx="8">
                  <c:v>72.8</c:v>
                </c:pt>
                <c:pt idx="9">
                  <c:v>64.41</c:v>
                </c:pt>
                <c:pt idx="10">
                  <c:v>60.24</c:v>
                </c:pt>
                <c:pt idx="11">
                  <c:v>47.42</c:v>
                </c:pt>
                <c:pt idx="12">
                  <c:v>37.89</c:v>
                </c:pt>
                <c:pt idx="13">
                  <c:v>43.37</c:v>
                </c:pt>
                <c:pt idx="14">
                  <c:v>41.63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20C-4D21-A004-6973938A3C47}"/>
            </c:ext>
          </c:extLst>
        </c:ser>
        <c:ser>
          <c:idx val="1"/>
          <c:order val="1"/>
          <c:tx>
            <c:v>Bench Scale 3-4x Flux</c:v>
          </c:tx>
          <c:spPr>
            <a:ln w="19050" cap="rnd">
              <a:solidFill>
                <a:srgbClr val="4D003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4D0030"/>
              </a:solidFill>
              <a:ln w="9525">
                <a:solidFill>
                  <a:srgbClr val="4D0030"/>
                </a:solidFill>
              </a:ln>
              <a:effectLst/>
            </c:spPr>
          </c:marker>
          <c:xVal>
            <c:numRef>
              <c:f>'[B3513 -  50L ABEC 3529 - TFF Regen Sample Sheet.xlsx]Sieving Complete'!$R$60:$R$74</c:f>
              <c:numCache>
                <c:formatCode>0.00</c:formatCode>
                <c:ptCount val="15"/>
                <c:pt idx="0">
                  <c:v>0</c:v>
                </c:pt>
                <c:pt idx="1">
                  <c:v>0.82361111111094942</c:v>
                </c:pt>
                <c:pt idx="2">
                  <c:v>1.6430555555562023</c:v>
                </c:pt>
                <c:pt idx="3">
                  <c:v>2.6555555555532919</c:v>
                </c:pt>
                <c:pt idx="4">
                  <c:v>3.6576388888861402</c:v>
                </c:pt>
                <c:pt idx="5">
                  <c:v>4.6770833333284827</c:v>
                </c:pt>
                <c:pt idx="6">
                  <c:v>5.71875</c:v>
                </c:pt>
                <c:pt idx="7">
                  <c:v>6.6812500000014552</c:v>
                </c:pt>
                <c:pt idx="8">
                  <c:v>7.6694444444437977</c:v>
                </c:pt>
                <c:pt idx="9">
                  <c:v>8.6555555555532919</c:v>
                </c:pt>
                <c:pt idx="10">
                  <c:v>9.8104166666671517</c:v>
                </c:pt>
                <c:pt idx="11">
                  <c:v>10.811111111106584</c:v>
                </c:pt>
                <c:pt idx="12">
                  <c:v>11.660416666665697</c:v>
                </c:pt>
                <c:pt idx="13">
                  <c:v>12.647222222221899</c:v>
                </c:pt>
                <c:pt idx="14">
                  <c:v>13.676388888889051</c:v>
                </c:pt>
              </c:numCache>
            </c:numRef>
          </c:xVal>
          <c:yVal>
            <c:numRef>
              <c:f>'[B3513 -  50L ABEC 3529 - TFF Regen Sample Sheet.xlsx]Sieving Complete'!$S$60:$S$74</c:f>
              <c:numCache>
                <c:formatCode>General</c:formatCode>
                <c:ptCount val="15"/>
                <c:pt idx="0">
                  <c:v>97.057935846824336</c:v>
                </c:pt>
                <c:pt idx="1">
                  <c:v>86.880298942379142</c:v>
                </c:pt>
                <c:pt idx="2">
                  <c:v>90.222493993480697</c:v>
                </c:pt>
                <c:pt idx="3">
                  <c:v>95.144378078152002</c:v>
                </c:pt>
                <c:pt idx="4">
                  <c:v>90.182108151766442</c:v>
                </c:pt>
                <c:pt idx="5">
                  <c:v>84.909184232221818</c:v>
                </c:pt>
                <c:pt idx="6">
                  <c:v>80.771704165096594</c:v>
                </c:pt>
                <c:pt idx="7">
                  <c:v>70.688519940216636</c:v>
                </c:pt>
                <c:pt idx="8">
                  <c:v>63.075346568492598</c:v>
                </c:pt>
                <c:pt idx="9">
                  <c:v>48.993775116756694</c:v>
                </c:pt>
                <c:pt idx="10">
                  <c:v>40.257059097209869</c:v>
                </c:pt>
                <c:pt idx="11">
                  <c:v>44.662229256385736</c:v>
                </c:pt>
                <c:pt idx="12">
                  <c:v>25.03554923954691</c:v>
                </c:pt>
                <c:pt idx="13">
                  <c:v>17.558692669007765</c:v>
                </c:pt>
                <c:pt idx="14">
                  <c:v>8.0613756821299738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20C-4D21-A004-6973938A3C47}"/>
            </c:ext>
          </c:extLst>
        </c:ser>
        <c:ser>
          <c:idx val="2"/>
          <c:order val="2"/>
          <c:tx>
            <c:v>Large Bench 3-4x Flux</c:v>
          </c:tx>
          <c:spPr>
            <a:ln w="19050" cap="rnd">
              <a:solidFill>
                <a:srgbClr val="D0006F"/>
              </a:solidFill>
              <a:prstDash val="solid"/>
              <a:round/>
            </a:ln>
            <a:effectLst/>
          </c:spPr>
          <c:marker>
            <c:symbol val="diamond"/>
            <c:size val="7"/>
            <c:spPr>
              <a:solidFill>
                <a:srgbClr val="D0006F"/>
              </a:solidFill>
              <a:ln w="9525">
                <a:solidFill>
                  <a:srgbClr val="D0006F"/>
                </a:solidFill>
              </a:ln>
              <a:effectLst/>
            </c:spPr>
          </c:marker>
          <c:xVal>
            <c:numRef>
              <c:f>'[B3513 -  50L ABEC 3529 - TFF Regen Sample Sheet.xlsx]Sieving Complete'!$R$41:$R$55</c:f>
              <c:numCache>
                <c:formatCode>General</c:formatCode>
                <c:ptCount val="15"/>
                <c:pt idx="0">
                  <c:v>0</c:v>
                </c:pt>
                <c:pt idx="1">
                  <c:v>0.78055555555329192</c:v>
                </c:pt>
                <c:pt idx="2">
                  <c:v>1.78125</c:v>
                </c:pt>
                <c:pt idx="3">
                  <c:v>2.8527777777781012</c:v>
                </c:pt>
                <c:pt idx="4">
                  <c:v>3.9312499999941792</c:v>
                </c:pt>
                <c:pt idx="5">
                  <c:v>4.7631944444437977</c:v>
                </c:pt>
                <c:pt idx="6">
                  <c:v>5.7715277777751908</c:v>
                </c:pt>
                <c:pt idx="7">
                  <c:v>6.7541666666656965</c:v>
                </c:pt>
                <c:pt idx="8">
                  <c:v>7.7583333333313931</c:v>
                </c:pt>
                <c:pt idx="9">
                  <c:v>8.7444444444408873</c:v>
                </c:pt>
                <c:pt idx="10">
                  <c:v>10.066666666665697</c:v>
                </c:pt>
                <c:pt idx="11">
                  <c:v>10.969444444439432</c:v>
                </c:pt>
                <c:pt idx="12">
                  <c:v>11.742361111108039</c:v>
                </c:pt>
                <c:pt idx="13">
                  <c:v>12.741666666661331</c:v>
                </c:pt>
                <c:pt idx="14">
                  <c:v>13.748611111106584</c:v>
                </c:pt>
              </c:numCache>
            </c:numRef>
          </c:xVal>
          <c:yVal>
            <c:numRef>
              <c:f>'[B3513 -  50L ABEC 3529 - TFF Regen Sample Sheet.xlsx]Sieving Complete'!$S$41:$S$55</c:f>
              <c:numCache>
                <c:formatCode>General</c:formatCode>
                <c:ptCount val="15"/>
                <c:pt idx="0">
                  <c:v>266.66666666666669</c:v>
                </c:pt>
                <c:pt idx="1">
                  <c:v>75</c:v>
                </c:pt>
                <c:pt idx="2">
                  <c:v>100</c:v>
                </c:pt>
                <c:pt idx="3">
                  <c:v>88.888888888888886</c:v>
                </c:pt>
                <c:pt idx="4">
                  <c:v>84.615384615384613</c:v>
                </c:pt>
                <c:pt idx="5">
                  <c:v>77.083333333333343</c:v>
                </c:pt>
                <c:pt idx="6">
                  <c:v>64.285714285714278</c:v>
                </c:pt>
                <c:pt idx="7">
                  <c:v>58.333333333333336</c:v>
                </c:pt>
                <c:pt idx="8">
                  <c:v>63.46153846153846</c:v>
                </c:pt>
                <c:pt idx="9">
                  <c:v>50.819672131147541</c:v>
                </c:pt>
                <c:pt idx="10">
                  <c:v>41.666666666666664</c:v>
                </c:pt>
                <c:pt idx="11">
                  <c:v>33.944954128440365</c:v>
                </c:pt>
                <c:pt idx="12">
                  <c:v>28.125</c:v>
                </c:pt>
                <c:pt idx="13">
                  <c:v>26.143790849673206</c:v>
                </c:pt>
                <c:pt idx="14">
                  <c:v>21.5962441314554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20C-4D21-A004-6973938A3C47}"/>
            </c:ext>
          </c:extLst>
        </c:ser>
        <c:ser>
          <c:idx val="3"/>
          <c:order val="3"/>
          <c:tx>
            <c:v>Large Bench 3-4x Flux w/ Regeneration</c:v>
          </c:tx>
          <c:spPr>
            <a:ln w="19050" cap="rnd">
              <a:solidFill>
                <a:srgbClr val="D0006F"/>
              </a:solidFill>
              <a:prstDash val="sysDash"/>
              <a:round/>
            </a:ln>
            <a:effectLst/>
          </c:spPr>
          <c:marker>
            <c:symbol val="diamond"/>
            <c:size val="7"/>
            <c:spPr>
              <a:solidFill>
                <a:srgbClr val="D0006F"/>
              </a:solidFill>
              <a:ln w="9525">
                <a:solidFill>
                  <a:srgbClr val="D0006F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Lit>
                <c:ptCount val="0"/>
              </c:numLit>
            </c:plus>
            <c:minus>
              <c:numLit>
                <c:ptCount val="0"/>
              </c:numLit>
            </c:minus>
            <c:spPr>
              <a:ln>
                <a:solidFill>
                  <a:srgbClr val="0067A5"/>
                </a:solidFill>
                <a:prstDash val="solid"/>
              </a:ln>
            </c:spPr>
          </c:errBars>
          <c:errBars>
            <c:errDir val="x"/>
            <c:errBarType val="both"/>
            <c:errValType val="cust"/>
            <c:noEndCap val="0"/>
            <c:plus>
              <c:numLit>
                <c:ptCount val="0"/>
              </c:numLit>
            </c:plus>
            <c:minus>
              <c:numLit>
                <c:ptCount val="0"/>
              </c:numLit>
            </c:minus>
            <c:spPr>
              <a:ln>
                <a:solidFill>
                  <a:srgbClr val="0067A5"/>
                </a:solidFill>
                <a:prstDash val="solid"/>
              </a:ln>
            </c:spPr>
          </c:errBars>
          <c:xVal>
            <c:numRef>
              <c:f>'[B3513 -  50L ABEC 3529 - TFF Regen Sample Sheet.xlsx]Sieving Complete'!$F$6:$F$37</c:f>
              <c:numCache>
                <c:formatCode>0.00</c:formatCode>
                <c:ptCount val="32"/>
                <c:pt idx="0">
                  <c:v>0</c:v>
                </c:pt>
                <c:pt idx="1">
                  <c:v>1.0201388888890506</c:v>
                </c:pt>
                <c:pt idx="2">
                  <c:v>1.9395833333328483</c:v>
                </c:pt>
                <c:pt idx="3">
                  <c:v>3.0801041666636593</c:v>
                </c:pt>
                <c:pt idx="4">
                  <c:v>4.0374999999985448</c:v>
                </c:pt>
                <c:pt idx="5">
                  <c:v>4.9513888888832298</c:v>
                </c:pt>
                <c:pt idx="6">
                  <c:v>6.0840277777751908</c:v>
                </c:pt>
                <c:pt idx="7">
                  <c:v>7.0064583333296468</c:v>
                </c:pt>
                <c:pt idx="8">
                  <c:v>7.0884027777719893</c:v>
                </c:pt>
                <c:pt idx="9">
                  <c:v>7.0953472222172422</c:v>
                </c:pt>
                <c:pt idx="10">
                  <c:v>7.1057638888887595</c:v>
                </c:pt>
                <c:pt idx="11">
                  <c:v>7.1161805555530009</c:v>
                </c:pt>
                <c:pt idx="12">
                  <c:v>7.1265972222172422</c:v>
                </c:pt>
                <c:pt idx="13">
                  <c:v>8.1034722222175333</c:v>
                </c:pt>
                <c:pt idx="14">
                  <c:v>9.088414351848769</c:v>
                </c:pt>
                <c:pt idx="15">
                  <c:v>9.7884259259226383</c:v>
                </c:pt>
                <c:pt idx="16">
                  <c:v>9.8231481481416267</c:v>
                </c:pt>
                <c:pt idx="17">
                  <c:v>9.833564814813144</c:v>
                </c:pt>
                <c:pt idx="18">
                  <c:v>9.8439814814773854</c:v>
                </c:pt>
                <c:pt idx="19">
                  <c:v>9.8300925925868796</c:v>
                </c:pt>
                <c:pt idx="20">
                  <c:v>9.8543981481416267</c:v>
                </c:pt>
                <c:pt idx="21">
                  <c:v>9.896064814813144</c:v>
                </c:pt>
                <c:pt idx="22">
                  <c:v>11.360034722216369</c:v>
                </c:pt>
                <c:pt idx="23">
                  <c:v>11.75138888888614</c:v>
                </c:pt>
                <c:pt idx="24">
                  <c:v>12.772916666661331</c:v>
                </c:pt>
                <c:pt idx="25">
                  <c:v>12.799305555556202</c:v>
                </c:pt>
                <c:pt idx="26">
                  <c:v>12.806249999994179</c:v>
                </c:pt>
                <c:pt idx="27">
                  <c:v>12.816666666665697</c:v>
                </c:pt>
                <c:pt idx="28">
                  <c:v>12.827083333329938</c:v>
                </c:pt>
                <c:pt idx="29">
                  <c:v>12.837499999994179</c:v>
                </c:pt>
                <c:pt idx="30">
                  <c:v>12.879166666665697</c:v>
                </c:pt>
                <c:pt idx="31">
                  <c:v>13.78263888888614</c:v>
                </c:pt>
              </c:numCache>
            </c:numRef>
          </c:xVal>
          <c:yVal>
            <c:numRef>
              <c:f>'[B3513 -  50L ABEC 3529 - TFF Regen Sample Sheet.xlsx]Sieving Complete'!$N$6:$N$37</c:f>
              <c:numCache>
                <c:formatCode>0.0</c:formatCode>
                <c:ptCount val="32"/>
                <c:pt idx="0">
                  <c:v>100</c:v>
                </c:pt>
                <c:pt idx="1">
                  <c:v>72.727272727272734</c:v>
                </c:pt>
                <c:pt idx="2">
                  <c:v>88.8888888888889</c:v>
                </c:pt>
                <c:pt idx="3">
                  <c:v>89.473684210526315</c:v>
                </c:pt>
                <c:pt idx="4">
                  <c:v>78.571428571428584</c:v>
                </c:pt>
                <c:pt idx="5">
                  <c:v>66.393442622950829</c:v>
                </c:pt>
                <c:pt idx="6">
                  <c:v>59.259259259259252</c:v>
                </c:pt>
                <c:pt idx="7">
                  <c:v>55.244755244755254</c:v>
                </c:pt>
                <c:pt idx="8">
                  <c:v>88.732394366197184</c:v>
                </c:pt>
                <c:pt idx="9">
                  <c:v>89.510489510489521</c:v>
                </c:pt>
                <c:pt idx="10">
                  <c:v>89.510489510489521</c:v>
                </c:pt>
                <c:pt idx="11">
                  <c:v>85.416666666666671</c:v>
                </c:pt>
                <c:pt idx="12">
                  <c:v>82.758620689655174</c:v>
                </c:pt>
                <c:pt idx="13">
                  <c:v>61.764705882352935</c:v>
                </c:pt>
                <c:pt idx="14">
                  <c:v>59.154929577464785</c:v>
                </c:pt>
                <c:pt idx="15">
                  <c:v>53.01204819277109</c:v>
                </c:pt>
                <c:pt idx="16">
                  <c:v>83.832335329341305</c:v>
                </c:pt>
                <c:pt idx="17">
                  <c:v>82.530120481927725</c:v>
                </c:pt>
                <c:pt idx="18">
                  <c:v>80.120481927710856</c:v>
                </c:pt>
                <c:pt idx="19">
                  <c:v>77.710843373493972</c:v>
                </c:pt>
                <c:pt idx="20">
                  <c:v>76.363636363636374</c:v>
                </c:pt>
                <c:pt idx="21">
                  <c:v>70.238095238095227</c:v>
                </c:pt>
                <c:pt idx="22">
                  <c:v>49.714285714285715</c:v>
                </c:pt>
                <c:pt idx="23">
                  <c:v>42.564102564102562</c:v>
                </c:pt>
                <c:pt idx="24">
                  <c:v>38.805970149253739</c:v>
                </c:pt>
                <c:pt idx="25">
                  <c:v>78.86597938144331</c:v>
                </c:pt>
                <c:pt idx="26">
                  <c:v>78.86597938144331</c:v>
                </c:pt>
                <c:pt idx="27">
                  <c:v>74.742268041237111</c:v>
                </c:pt>
                <c:pt idx="28">
                  <c:v>71.649484536082468</c:v>
                </c:pt>
                <c:pt idx="29">
                  <c:v>70.103092783505161</c:v>
                </c:pt>
                <c:pt idx="30">
                  <c:v>64.432989690721655</c:v>
                </c:pt>
                <c:pt idx="31">
                  <c:v>45.652173913043477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20C-4D21-A004-6973938A3C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3379663"/>
        <c:axId val="683375823"/>
      </c:scatterChart>
      <c:valAx>
        <c:axId val="683379663"/>
        <c:scaling>
          <c:orientation val="minMax"/>
          <c:max val="14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r>
                  <a:rPr lang="en-US"/>
                  <a:t>Elapsed Culture Time (Days)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683375823"/>
        <c:crosses val="autoZero"/>
        <c:crossBetween val="midCat"/>
        <c:majorUnit val="2"/>
      </c:valAx>
      <c:valAx>
        <c:axId val="683375823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r>
                  <a:rPr lang="en-US"/>
                  <a:t>Sieving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683379663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ysClr val="window" lastClr="FFFFFF"/>
    </a:solidFill>
    <a:ln>
      <a:noFill/>
    </a:ln>
    <a:effectLst/>
  </c:spPr>
  <c:txPr>
    <a:bodyPr/>
    <a:lstStyle/>
    <a:p>
      <a:pPr>
        <a:defRPr sz="1200" b="1" i="0" baseline="0">
          <a:solidFill>
            <a:sysClr val="windowText" lastClr="000000"/>
          </a:solidFill>
          <a:latin typeface="Arial" panose="020B0604020202020204" pitchFamily="34" charset="0"/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237DA6-1AF5-4433-83FE-3B3C5D9540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86E81DF-F343-4AF3-933E-43A6D67002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cap="none" spc="0" dirty="0">
              <a:solidFill>
                <a:schemeClr val="tx1"/>
              </a:solidFill>
            </a:rPr>
            <a:t>Background - IDB platform</a:t>
          </a:r>
          <a:endParaRPr lang="en-US" dirty="0"/>
        </a:p>
      </dgm:t>
    </dgm:pt>
    <dgm:pt modelId="{4D825753-9204-47D2-971D-DF4E0C682BC7}" type="parTrans" cxnId="{0BB6BCDB-B40D-4B7A-B779-37B6AE0CE594}">
      <dgm:prSet/>
      <dgm:spPr/>
      <dgm:t>
        <a:bodyPr/>
        <a:lstStyle/>
        <a:p>
          <a:endParaRPr lang="en-US"/>
        </a:p>
      </dgm:t>
    </dgm:pt>
    <dgm:pt modelId="{938200D1-7B52-487C-87FF-28715C67766C}" type="sibTrans" cxnId="{0BB6BCDB-B40D-4B7A-B779-37B6AE0CE594}">
      <dgm:prSet/>
      <dgm:spPr/>
      <dgm:t>
        <a:bodyPr/>
        <a:lstStyle/>
        <a:p>
          <a:endParaRPr lang="en-US"/>
        </a:p>
      </dgm:t>
    </dgm:pt>
    <dgm:pt modelId="{4CF4280E-40A6-421C-BB1B-9610DC1C17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cap="none" spc="0" dirty="0">
              <a:solidFill>
                <a:schemeClr val="tx1"/>
              </a:solidFill>
            </a:rPr>
            <a:t>Implementation strategy</a:t>
          </a:r>
          <a:endParaRPr lang="en-US" dirty="0"/>
        </a:p>
      </dgm:t>
    </dgm:pt>
    <dgm:pt modelId="{DBE3F9B7-85C6-49EE-91E6-B358747FE581}" type="parTrans" cxnId="{50987CB5-3CCC-40D5-BF08-C463FD857082}">
      <dgm:prSet/>
      <dgm:spPr/>
      <dgm:t>
        <a:bodyPr/>
        <a:lstStyle/>
        <a:p>
          <a:endParaRPr lang="en-US"/>
        </a:p>
      </dgm:t>
    </dgm:pt>
    <dgm:pt modelId="{68A056EA-30C6-4435-89AD-584C712DEFC3}" type="sibTrans" cxnId="{50987CB5-3CCC-40D5-BF08-C463FD857082}">
      <dgm:prSet/>
      <dgm:spPr/>
      <dgm:t>
        <a:bodyPr/>
        <a:lstStyle/>
        <a:p>
          <a:endParaRPr lang="en-US"/>
        </a:p>
      </dgm:t>
    </dgm:pt>
    <dgm:pt modelId="{47F4D9CE-A751-48C0-ACB1-217D55444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cap="none" spc="0" dirty="0">
              <a:solidFill>
                <a:schemeClr val="tx1"/>
              </a:solidFill>
            </a:rPr>
            <a:t>Scale-up and GMP implementation challenges and lessons learned</a:t>
          </a:r>
          <a:endParaRPr lang="en-US" dirty="0"/>
        </a:p>
      </dgm:t>
    </dgm:pt>
    <dgm:pt modelId="{E32AD4A4-AB5C-4CF3-9922-78C72A14C538}" type="parTrans" cxnId="{86DBE11F-D653-4CD1-B87A-5D924E52D11E}">
      <dgm:prSet/>
      <dgm:spPr/>
      <dgm:t>
        <a:bodyPr/>
        <a:lstStyle/>
        <a:p>
          <a:endParaRPr lang="en-US"/>
        </a:p>
      </dgm:t>
    </dgm:pt>
    <dgm:pt modelId="{F489FE89-4C71-401B-A62B-4770B1872BEB}" type="sibTrans" cxnId="{86DBE11F-D653-4CD1-B87A-5D924E52D11E}">
      <dgm:prSet/>
      <dgm:spPr/>
      <dgm:t>
        <a:bodyPr/>
        <a:lstStyle/>
        <a:p>
          <a:endParaRPr lang="en-US"/>
        </a:p>
      </dgm:t>
    </dgm:pt>
    <dgm:pt modelId="{BC69696A-95F1-40F4-8398-F83E3AC3F0E8}">
      <dgm:prSet/>
      <dgm:spPr/>
      <dgm:t>
        <a:bodyPr/>
        <a:lstStyle/>
        <a:p>
          <a:pPr>
            <a:lnSpc>
              <a:spcPct val="100000"/>
            </a:lnSpc>
            <a:buClrTx/>
            <a:buSzTx/>
            <a:buFontTx/>
            <a:buNone/>
          </a:pPr>
          <a:r>
            <a:rPr lang="en-US" b="0" cap="none" spc="0">
              <a:solidFill>
                <a:schemeClr val="tx1"/>
              </a:solidFill>
            </a:rPr>
            <a:t>Future direction and a challenge </a:t>
          </a:r>
          <a:br>
            <a:rPr lang="en-US" b="0" cap="none" spc="0">
              <a:solidFill>
                <a:schemeClr val="tx1"/>
              </a:solidFill>
            </a:rPr>
          </a:br>
          <a:r>
            <a:rPr lang="en-US" b="0" cap="none" spc="0">
              <a:solidFill>
                <a:schemeClr val="tx1"/>
              </a:solidFill>
            </a:rPr>
            <a:t>to our industry</a:t>
          </a:r>
          <a:endParaRPr lang="en-US"/>
        </a:p>
      </dgm:t>
    </dgm:pt>
    <dgm:pt modelId="{DE405E7C-EED6-4748-8E63-5AC99C025614}" type="parTrans" cxnId="{1C551041-4B4D-48A8-9F20-1A87699D58B2}">
      <dgm:prSet/>
      <dgm:spPr/>
      <dgm:t>
        <a:bodyPr/>
        <a:lstStyle/>
        <a:p>
          <a:endParaRPr lang="en-US"/>
        </a:p>
      </dgm:t>
    </dgm:pt>
    <dgm:pt modelId="{3CCCA066-AAD4-4F96-953D-48E41D0EE559}" type="sibTrans" cxnId="{1C551041-4B4D-48A8-9F20-1A87699D58B2}">
      <dgm:prSet/>
      <dgm:spPr/>
      <dgm:t>
        <a:bodyPr/>
        <a:lstStyle/>
        <a:p>
          <a:endParaRPr lang="en-US"/>
        </a:p>
      </dgm:t>
    </dgm:pt>
    <dgm:pt modelId="{484CD5EB-021C-4975-8BD4-4272408A61D6}" type="pres">
      <dgm:prSet presAssocID="{86237DA6-1AF5-4433-83FE-3B3C5D9540CA}" presName="root" presStyleCnt="0">
        <dgm:presLayoutVars>
          <dgm:dir/>
          <dgm:resizeHandles val="exact"/>
        </dgm:presLayoutVars>
      </dgm:prSet>
      <dgm:spPr/>
    </dgm:pt>
    <dgm:pt modelId="{930A7E83-4FDA-4674-B088-120A450E6907}" type="pres">
      <dgm:prSet presAssocID="{986E81DF-F343-4AF3-933E-43A6D67002C3}" presName="compNode" presStyleCnt="0"/>
      <dgm:spPr/>
    </dgm:pt>
    <dgm:pt modelId="{F0330769-77BC-47F5-B01C-79C8D921781D}" type="pres">
      <dgm:prSet presAssocID="{986E81DF-F343-4AF3-933E-43A6D67002C3}" presName="bgRect" presStyleLbl="bgShp" presStyleIdx="0" presStyleCnt="4"/>
      <dgm:spPr/>
    </dgm:pt>
    <dgm:pt modelId="{628229C4-866F-4918-B6A2-25811857B0DB}" type="pres">
      <dgm:prSet presAssocID="{986E81DF-F343-4AF3-933E-43A6D67002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EE537424-ADA2-428C-913B-58C0364CD995}" type="pres">
      <dgm:prSet presAssocID="{986E81DF-F343-4AF3-933E-43A6D67002C3}" presName="spaceRect" presStyleCnt="0"/>
      <dgm:spPr/>
    </dgm:pt>
    <dgm:pt modelId="{1F6B4C6C-831D-4D08-B32A-7AD298C8A833}" type="pres">
      <dgm:prSet presAssocID="{986E81DF-F343-4AF3-933E-43A6D67002C3}" presName="parTx" presStyleLbl="revTx" presStyleIdx="0" presStyleCnt="4">
        <dgm:presLayoutVars>
          <dgm:chMax val="0"/>
          <dgm:chPref val="0"/>
        </dgm:presLayoutVars>
      </dgm:prSet>
      <dgm:spPr/>
    </dgm:pt>
    <dgm:pt modelId="{979D7CFE-5E9C-4E3B-BCA2-C1B9C2EEDB72}" type="pres">
      <dgm:prSet presAssocID="{938200D1-7B52-487C-87FF-28715C67766C}" presName="sibTrans" presStyleCnt="0"/>
      <dgm:spPr/>
    </dgm:pt>
    <dgm:pt modelId="{7B96CDBB-AC97-44CB-8586-AA5A3C85D938}" type="pres">
      <dgm:prSet presAssocID="{4CF4280E-40A6-421C-BB1B-9610DC1C17E5}" presName="compNode" presStyleCnt="0"/>
      <dgm:spPr/>
    </dgm:pt>
    <dgm:pt modelId="{F11DBF61-75D3-4E0B-886C-FB599D4E0E2B}" type="pres">
      <dgm:prSet presAssocID="{4CF4280E-40A6-421C-BB1B-9610DC1C17E5}" presName="bgRect" presStyleLbl="bgShp" presStyleIdx="1" presStyleCnt="4"/>
      <dgm:spPr/>
    </dgm:pt>
    <dgm:pt modelId="{246B1163-F95F-44DD-9418-AB25F8E94F96}" type="pres">
      <dgm:prSet presAssocID="{4CF4280E-40A6-421C-BB1B-9610DC1C17E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4B55E5FF-C3F2-43C8-B6A2-C39C968186FA}" type="pres">
      <dgm:prSet presAssocID="{4CF4280E-40A6-421C-BB1B-9610DC1C17E5}" presName="spaceRect" presStyleCnt="0"/>
      <dgm:spPr/>
    </dgm:pt>
    <dgm:pt modelId="{1C9B078F-9CD8-4F1B-86C6-58B66AEAED06}" type="pres">
      <dgm:prSet presAssocID="{4CF4280E-40A6-421C-BB1B-9610DC1C17E5}" presName="parTx" presStyleLbl="revTx" presStyleIdx="1" presStyleCnt="4">
        <dgm:presLayoutVars>
          <dgm:chMax val="0"/>
          <dgm:chPref val="0"/>
        </dgm:presLayoutVars>
      </dgm:prSet>
      <dgm:spPr/>
    </dgm:pt>
    <dgm:pt modelId="{83E5082F-9CBE-48C6-8EE2-6B01C0CD1E7B}" type="pres">
      <dgm:prSet presAssocID="{68A056EA-30C6-4435-89AD-584C712DEFC3}" presName="sibTrans" presStyleCnt="0"/>
      <dgm:spPr/>
    </dgm:pt>
    <dgm:pt modelId="{904E830C-8FA1-4711-8972-D0C603E211B9}" type="pres">
      <dgm:prSet presAssocID="{47F4D9CE-A751-48C0-ACB1-217D554446E0}" presName="compNode" presStyleCnt="0"/>
      <dgm:spPr/>
    </dgm:pt>
    <dgm:pt modelId="{C5655F15-8A2C-4921-9C1D-2D39F09C7122}" type="pres">
      <dgm:prSet presAssocID="{47F4D9CE-A751-48C0-ACB1-217D554446E0}" presName="bgRect" presStyleLbl="bgShp" presStyleIdx="2" presStyleCnt="4"/>
      <dgm:spPr/>
    </dgm:pt>
    <dgm:pt modelId="{161C8E9B-6906-43A6-8ECF-4B66BDB40B15}" type="pres">
      <dgm:prSet presAssocID="{47F4D9CE-A751-48C0-ACB1-217D554446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Barricade with solid fill"/>
        </a:ext>
      </dgm:extLst>
    </dgm:pt>
    <dgm:pt modelId="{8662ABED-5355-400B-ABEE-37BD981F4435}" type="pres">
      <dgm:prSet presAssocID="{47F4D9CE-A751-48C0-ACB1-217D554446E0}" presName="spaceRect" presStyleCnt="0"/>
      <dgm:spPr/>
    </dgm:pt>
    <dgm:pt modelId="{56DD2534-B033-40F9-BFB3-D36617A7D929}" type="pres">
      <dgm:prSet presAssocID="{47F4D9CE-A751-48C0-ACB1-217D554446E0}" presName="parTx" presStyleLbl="revTx" presStyleIdx="2" presStyleCnt="4">
        <dgm:presLayoutVars>
          <dgm:chMax val="0"/>
          <dgm:chPref val="0"/>
        </dgm:presLayoutVars>
      </dgm:prSet>
      <dgm:spPr/>
    </dgm:pt>
    <dgm:pt modelId="{601DF130-EB37-485C-89EC-D94C5A840048}" type="pres">
      <dgm:prSet presAssocID="{F489FE89-4C71-401B-A62B-4770B1872BEB}" presName="sibTrans" presStyleCnt="0"/>
      <dgm:spPr/>
    </dgm:pt>
    <dgm:pt modelId="{4CEF5816-0103-4C48-8A14-FD29CA4DE02F}" type="pres">
      <dgm:prSet presAssocID="{BC69696A-95F1-40F4-8398-F83E3AC3F0E8}" presName="compNode" presStyleCnt="0"/>
      <dgm:spPr/>
    </dgm:pt>
    <dgm:pt modelId="{75F517E5-D7F1-499E-AF4D-412E1F803298}" type="pres">
      <dgm:prSet presAssocID="{BC69696A-95F1-40F4-8398-F83E3AC3F0E8}" presName="bgRect" presStyleLbl="bgShp" presStyleIdx="3" presStyleCnt="4"/>
      <dgm:spPr/>
    </dgm:pt>
    <dgm:pt modelId="{BC013F31-8C0D-4961-87DA-3E89CBCCCC0B}" type="pres">
      <dgm:prSet presAssocID="{BC69696A-95F1-40F4-8398-F83E3AC3F0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 and gear with solid fill"/>
        </a:ext>
      </dgm:extLst>
    </dgm:pt>
    <dgm:pt modelId="{E9F67119-DD75-45CB-A5B8-343CC67608A7}" type="pres">
      <dgm:prSet presAssocID="{BC69696A-95F1-40F4-8398-F83E3AC3F0E8}" presName="spaceRect" presStyleCnt="0"/>
      <dgm:spPr/>
    </dgm:pt>
    <dgm:pt modelId="{CBCC3A06-487A-426C-B504-ED561B3DA670}" type="pres">
      <dgm:prSet presAssocID="{BC69696A-95F1-40F4-8398-F83E3AC3F0E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7F78215-29C8-4731-8340-DB16C1E435CA}" type="presOf" srcId="{BC69696A-95F1-40F4-8398-F83E3AC3F0E8}" destId="{CBCC3A06-487A-426C-B504-ED561B3DA670}" srcOrd="0" destOrd="0" presId="urn:microsoft.com/office/officeart/2018/2/layout/IconVerticalSolidList"/>
    <dgm:cxn modelId="{86DBE11F-D653-4CD1-B87A-5D924E52D11E}" srcId="{86237DA6-1AF5-4433-83FE-3B3C5D9540CA}" destId="{47F4D9CE-A751-48C0-ACB1-217D554446E0}" srcOrd="2" destOrd="0" parTransId="{E32AD4A4-AB5C-4CF3-9922-78C72A14C538}" sibTransId="{F489FE89-4C71-401B-A62B-4770B1872BEB}"/>
    <dgm:cxn modelId="{1C551041-4B4D-48A8-9F20-1A87699D58B2}" srcId="{86237DA6-1AF5-4433-83FE-3B3C5D9540CA}" destId="{BC69696A-95F1-40F4-8398-F83E3AC3F0E8}" srcOrd="3" destOrd="0" parTransId="{DE405E7C-EED6-4748-8E63-5AC99C025614}" sibTransId="{3CCCA066-AAD4-4F96-953D-48E41D0EE559}"/>
    <dgm:cxn modelId="{9FBCAA89-AC61-49C2-B835-87370C67022F}" type="presOf" srcId="{47F4D9CE-A751-48C0-ACB1-217D554446E0}" destId="{56DD2534-B033-40F9-BFB3-D36617A7D929}" srcOrd="0" destOrd="0" presId="urn:microsoft.com/office/officeart/2018/2/layout/IconVerticalSolidList"/>
    <dgm:cxn modelId="{3F27DF9E-2453-42B7-AD13-BD86C11F04FD}" type="presOf" srcId="{4CF4280E-40A6-421C-BB1B-9610DC1C17E5}" destId="{1C9B078F-9CD8-4F1B-86C6-58B66AEAED06}" srcOrd="0" destOrd="0" presId="urn:microsoft.com/office/officeart/2018/2/layout/IconVerticalSolidList"/>
    <dgm:cxn modelId="{50987CB5-3CCC-40D5-BF08-C463FD857082}" srcId="{86237DA6-1AF5-4433-83FE-3B3C5D9540CA}" destId="{4CF4280E-40A6-421C-BB1B-9610DC1C17E5}" srcOrd="1" destOrd="0" parTransId="{DBE3F9B7-85C6-49EE-91E6-B358747FE581}" sibTransId="{68A056EA-30C6-4435-89AD-584C712DEFC3}"/>
    <dgm:cxn modelId="{AB8E68CB-4409-4567-9024-D01F78A3711A}" type="presOf" srcId="{86237DA6-1AF5-4433-83FE-3B3C5D9540CA}" destId="{484CD5EB-021C-4975-8BD4-4272408A61D6}" srcOrd="0" destOrd="0" presId="urn:microsoft.com/office/officeart/2018/2/layout/IconVerticalSolidList"/>
    <dgm:cxn modelId="{22B84BD3-45DE-4EEC-A2FD-585209C7FA85}" type="presOf" srcId="{986E81DF-F343-4AF3-933E-43A6D67002C3}" destId="{1F6B4C6C-831D-4D08-B32A-7AD298C8A833}" srcOrd="0" destOrd="0" presId="urn:microsoft.com/office/officeart/2018/2/layout/IconVerticalSolidList"/>
    <dgm:cxn modelId="{0BB6BCDB-B40D-4B7A-B779-37B6AE0CE594}" srcId="{86237DA6-1AF5-4433-83FE-3B3C5D9540CA}" destId="{986E81DF-F343-4AF3-933E-43A6D67002C3}" srcOrd="0" destOrd="0" parTransId="{4D825753-9204-47D2-971D-DF4E0C682BC7}" sibTransId="{938200D1-7B52-487C-87FF-28715C67766C}"/>
    <dgm:cxn modelId="{AF95D1F8-DDC0-4164-A341-FE19A1D55126}" type="presParOf" srcId="{484CD5EB-021C-4975-8BD4-4272408A61D6}" destId="{930A7E83-4FDA-4674-B088-120A450E6907}" srcOrd="0" destOrd="0" presId="urn:microsoft.com/office/officeart/2018/2/layout/IconVerticalSolidList"/>
    <dgm:cxn modelId="{759786D8-F5F3-4CF0-85BA-5244F13AD756}" type="presParOf" srcId="{930A7E83-4FDA-4674-B088-120A450E6907}" destId="{F0330769-77BC-47F5-B01C-79C8D921781D}" srcOrd="0" destOrd="0" presId="urn:microsoft.com/office/officeart/2018/2/layout/IconVerticalSolidList"/>
    <dgm:cxn modelId="{1D09573E-E673-417A-AE61-2D9B66F4D592}" type="presParOf" srcId="{930A7E83-4FDA-4674-B088-120A450E6907}" destId="{628229C4-866F-4918-B6A2-25811857B0DB}" srcOrd="1" destOrd="0" presId="urn:microsoft.com/office/officeart/2018/2/layout/IconVerticalSolidList"/>
    <dgm:cxn modelId="{E1C75046-F604-4C3B-9884-6CE5AA6EDA54}" type="presParOf" srcId="{930A7E83-4FDA-4674-B088-120A450E6907}" destId="{EE537424-ADA2-428C-913B-58C0364CD995}" srcOrd="2" destOrd="0" presId="urn:microsoft.com/office/officeart/2018/2/layout/IconVerticalSolidList"/>
    <dgm:cxn modelId="{39E0C3EF-F0A5-409D-B6DA-04F991CA922A}" type="presParOf" srcId="{930A7E83-4FDA-4674-B088-120A450E6907}" destId="{1F6B4C6C-831D-4D08-B32A-7AD298C8A833}" srcOrd="3" destOrd="0" presId="urn:microsoft.com/office/officeart/2018/2/layout/IconVerticalSolidList"/>
    <dgm:cxn modelId="{5A93190E-8AA7-439B-884B-0468F05C37A9}" type="presParOf" srcId="{484CD5EB-021C-4975-8BD4-4272408A61D6}" destId="{979D7CFE-5E9C-4E3B-BCA2-C1B9C2EEDB72}" srcOrd="1" destOrd="0" presId="urn:microsoft.com/office/officeart/2018/2/layout/IconVerticalSolidList"/>
    <dgm:cxn modelId="{79BA9A97-DD7E-4A6C-ABD9-520F30813990}" type="presParOf" srcId="{484CD5EB-021C-4975-8BD4-4272408A61D6}" destId="{7B96CDBB-AC97-44CB-8586-AA5A3C85D938}" srcOrd="2" destOrd="0" presId="urn:microsoft.com/office/officeart/2018/2/layout/IconVerticalSolidList"/>
    <dgm:cxn modelId="{BA8BC6CD-2B0D-43B2-A459-DDB64FE17E3D}" type="presParOf" srcId="{7B96CDBB-AC97-44CB-8586-AA5A3C85D938}" destId="{F11DBF61-75D3-4E0B-886C-FB599D4E0E2B}" srcOrd="0" destOrd="0" presId="urn:microsoft.com/office/officeart/2018/2/layout/IconVerticalSolidList"/>
    <dgm:cxn modelId="{E468240E-81F3-48F8-8E12-7FAE7AFF0533}" type="presParOf" srcId="{7B96CDBB-AC97-44CB-8586-AA5A3C85D938}" destId="{246B1163-F95F-44DD-9418-AB25F8E94F96}" srcOrd="1" destOrd="0" presId="urn:microsoft.com/office/officeart/2018/2/layout/IconVerticalSolidList"/>
    <dgm:cxn modelId="{57C5F1EA-CB4D-43F4-BCCE-C56AFF99A70F}" type="presParOf" srcId="{7B96CDBB-AC97-44CB-8586-AA5A3C85D938}" destId="{4B55E5FF-C3F2-43C8-B6A2-C39C968186FA}" srcOrd="2" destOrd="0" presId="urn:microsoft.com/office/officeart/2018/2/layout/IconVerticalSolidList"/>
    <dgm:cxn modelId="{F0513C3E-2993-4ED3-A8A9-9D5681862DF3}" type="presParOf" srcId="{7B96CDBB-AC97-44CB-8586-AA5A3C85D938}" destId="{1C9B078F-9CD8-4F1B-86C6-58B66AEAED06}" srcOrd="3" destOrd="0" presId="urn:microsoft.com/office/officeart/2018/2/layout/IconVerticalSolidList"/>
    <dgm:cxn modelId="{6D870DBF-24CE-4010-8CBD-40DEDEDF40C5}" type="presParOf" srcId="{484CD5EB-021C-4975-8BD4-4272408A61D6}" destId="{83E5082F-9CBE-48C6-8EE2-6B01C0CD1E7B}" srcOrd="3" destOrd="0" presId="urn:microsoft.com/office/officeart/2018/2/layout/IconVerticalSolidList"/>
    <dgm:cxn modelId="{D0F00D3F-CEE0-4DE9-95A4-EF7AAFAA5DC8}" type="presParOf" srcId="{484CD5EB-021C-4975-8BD4-4272408A61D6}" destId="{904E830C-8FA1-4711-8972-D0C603E211B9}" srcOrd="4" destOrd="0" presId="urn:microsoft.com/office/officeart/2018/2/layout/IconVerticalSolidList"/>
    <dgm:cxn modelId="{8A67DE99-6CC4-4A33-8F4E-A177A9767CA1}" type="presParOf" srcId="{904E830C-8FA1-4711-8972-D0C603E211B9}" destId="{C5655F15-8A2C-4921-9C1D-2D39F09C7122}" srcOrd="0" destOrd="0" presId="urn:microsoft.com/office/officeart/2018/2/layout/IconVerticalSolidList"/>
    <dgm:cxn modelId="{6AEF2039-1A00-49B7-96E1-8DBDDE26EF8E}" type="presParOf" srcId="{904E830C-8FA1-4711-8972-D0C603E211B9}" destId="{161C8E9B-6906-43A6-8ECF-4B66BDB40B15}" srcOrd="1" destOrd="0" presId="urn:microsoft.com/office/officeart/2018/2/layout/IconVerticalSolidList"/>
    <dgm:cxn modelId="{A794F811-4264-413B-9FEF-3C9C90D0FD4F}" type="presParOf" srcId="{904E830C-8FA1-4711-8972-D0C603E211B9}" destId="{8662ABED-5355-400B-ABEE-37BD981F4435}" srcOrd="2" destOrd="0" presId="urn:microsoft.com/office/officeart/2018/2/layout/IconVerticalSolidList"/>
    <dgm:cxn modelId="{7D74D611-562B-4468-BD13-25F15191F06F}" type="presParOf" srcId="{904E830C-8FA1-4711-8972-D0C603E211B9}" destId="{56DD2534-B033-40F9-BFB3-D36617A7D929}" srcOrd="3" destOrd="0" presId="urn:microsoft.com/office/officeart/2018/2/layout/IconVerticalSolidList"/>
    <dgm:cxn modelId="{C5DD88CC-2252-4860-B820-7D2CB2095877}" type="presParOf" srcId="{484CD5EB-021C-4975-8BD4-4272408A61D6}" destId="{601DF130-EB37-485C-89EC-D94C5A840048}" srcOrd="5" destOrd="0" presId="urn:microsoft.com/office/officeart/2018/2/layout/IconVerticalSolidList"/>
    <dgm:cxn modelId="{7C08FE87-FD0F-4B47-99F1-3EE510DE71D1}" type="presParOf" srcId="{484CD5EB-021C-4975-8BD4-4272408A61D6}" destId="{4CEF5816-0103-4C48-8A14-FD29CA4DE02F}" srcOrd="6" destOrd="0" presId="urn:microsoft.com/office/officeart/2018/2/layout/IconVerticalSolidList"/>
    <dgm:cxn modelId="{806A4AD2-058E-430F-B557-95D1C7F096B5}" type="presParOf" srcId="{4CEF5816-0103-4C48-8A14-FD29CA4DE02F}" destId="{75F517E5-D7F1-499E-AF4D-412E1F803298}" srcOrd="0" destOrd="0" presId="urn:microsoft.com/office/officeart/2018/2/layout/IconVerticalSolidList"/>
    <dgm:cxn modelId="{4C3FCF5F-4831-4E48-B118-C2FDBBF9D438}" type="presParOf" srcId="{4CEF5816-0103-4C48-8A14-FD29CA4DE02F}" destId="{BC013F31-8C0D-4961-87DA-3E89CBCCCC0B}" srcOrd="1" destOrd="0" presId="urn:microsoft.com/office/officeart/2018/2/layout/IconVerticalSolidList"/>
    <dgm:cxn modelId="{1B65FC4E-3640-474C-AA3E-E198E1C2DCF4}" type="presParOf" srcId="{4CEF5816-0103-4C48-8A14-FD29CA4DE02F}" destId="{E9F67119-DD75-45CB-A5B8-343CC67608A7}" srcOrd="2" destOrd="0" presId="urn:microsoft.com/office/officeart/2018/2/layout/IconVerticalSolidList"/>
    <dgm:cxn modelId="{52058A03-6C3E-4A41-A2E3-59F98C3EFE66}" type="presParOf" srcId="{4CEF5816-0103-4C48-8A14-FD29CA4DE02F}" destId="{CBCC3A06-487A-426C-B504-ED561B3DA6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9FEAEC-B601-41E4-BDBC-7E53667AC2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768409A-538E-4986-8CA9-5B696B5BF9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Speed of the pipeline</a:t>
          </a:r>
        </a:p>
      </dgm:t>
    </dgm:pt>
    <dgm:pt modelId="{452653D2-29BF-4406-96BC-A80F4609D992}" type="parTrans" cxnId="{4DA92C04-D841-49FC-AE1F-A47383C8D345}">
      <dgm:prSet/>
      <dgm:spPr/>
      <dgm:t>
        <a:bodyPr/>
        <a:lstStyle/>
        <a:p>
          <a:endParaRPr lang="en-US"/>
        </a:p>
      </dgm:t>
    </dgm:pt>
    <dgm:pt modelId="{BFFF622B-E123-4A0A-B6BD-90AA451DBDCB}" type="sibTrans" cxnId="{4DA92C04-D841-49FC-AE1F-A47383C8D345}">
      <dgm:prSet/>
      <dgm:spPr/>
      <dgm:t>
        <a:bodyPr/>
        <a:lstStyle/>
        <a:p>
          <a:endParaRPr lang="en-US"/>
        </a:p>
      </dgm:t>
    </dgm:pt>
    <dgm:pt modelId="{76257475-7A24-40F4-AFFE-E51E3768D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Biopharma and V&amp;I therapeutic areas can be more sensitive to margin than oncology or rare disease areas</a:t>
          </a:r>
        </a:p>
      </dgm:t>
    </dgm:pt>
    <dgm:pt modelId="{610189C3-1445-4306-9CAE-3659349EB721}" type="parTrans" cxnId="{C6DA2666-A94A-48BA-92C7-5341EFFC40C1}">
      <dgm:prSet/>
      <dgm:spPr/>
      <dgm:t>
        <a:bodyPr/>
        <a:lstStyle/>
        <a:p>
          <a:endParaRPr lang="en-US"/>
        </a:p>
      </dgm:t>
    </dgm:pt>
    <dgm:pt modelId="{30FB726B-B7B5-43A9-ABDF-1925BEE54E4A}" type="sibTrans" cxnId="{C6DA2666-A94A-48BA-92C7-5341EFFC40C1}">
      <dgm:prSet/>
      <dgm:spPr/>
      <dgm:t>
        <a:bodyPr/>
        <a:lstStyle/>
        <a:p>
          <a:endParaRPr lang="en-US"/>
        </a:p>
      </dgm:t>
    </dgm:pt>
    <dgm:pt modelId="{AE7DCE77-5BC4-4945-98B2-5C5132B6B1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Account for upside and downside risks</a:t>
          </a:r>
        </a:p>
      </dgm:t>
    </dgm:pt>
    <dgm:pt modelId="{7E92C81F-4F32-554B-B3FD-163925ED900E}" type="parTrans" cxnId="{086FC599-B7F6-284F-9C7F-5A53E929F9FB}">
      <dgm:prSet/>
      <dgm:spPr/>
      <dgm:t>
        <a:bodyPr/>
        <a:lstStyle/>
        <a:p>
          <a:endParaRPr lang="en-US"/>
        </a:p>
      </dgm:t>
    </dgm:pt>
    <dgm:pt modelId="{AAAAACBA-A68C-D94F-BF0A-DD7BDC410315}" type="sibTrans" cxnId="{086FC599-B7F6-284F-9C7F-5A53E929F9FB}">
      <dgm:prSet/>
      <dgm:spPr/>
      <dgm:t>
        <a:bodyPr/>
        <a:lstStyle/>
        <a:p>
          <a:endParaRPr lang="en-US"/>
        </a:p>
      </dgm:t>
    </dgm:pt>
    <dgm:pt modelId="{9A2319BF-C103-46E5-B5DE-C3D4304A5D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Limited initial capital</a:t>
          </a:r>
        </a:p>
      </dgm:t>
    </dgm:pt>
    <dgm:pt modelId="{ECE19134-C028-4557-8E2B-E9B0B1CE4A9F}" type="parTrans" cxnId="{E6048860-7C88-4CBB-8332-7569BF0ED499}">
      <dgm:prSet/>
      <dgm:spPr/>
      <dgm:t>
        <a:bodyPr/>
        <a:lstStyle/>
        <a:p>
          <a:endParaRPr lang="en-US"/>
        </a:p>
      </dgm:t>
    </dgm:pt>
    <dgm:pt modelId="{90FFF640-24F4-41DE-B803-854B426AD08D}" type="sibTrans" cxnId="{E6048860-7C88-4CBB-8332-7569BF0ED499}">
      <dgm:prSet/>
      <dgm:spPr/>
      <dgm:t>
        <a:bodyPr/>
        <a:lstStyle/>
        <a:p>
          <a:endParaRPr lang="en-US"/>
        </a:p>
      </dgm:t>
    </dgm:pt>
    <dgm:pt modelId="{1753A189-E6FC-4E43-AAB9-99B845E144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Plant capacity and CMO capability</a:t>
          </a:r>
        </a:p>
      </dgm:t>
    </dgm:pt>
    <dgm:pt modelId="{EB73D756-01EB-415D-952A-27A0CE5FD895}" type="parTrans" cxnId="{49EA4EFC-5BFC-4739-B33F-AAE992B047F6}">
      <dgm:prSet/>
      <dgm:spPr/>
      <dgm:t>
        <a:bodyPr/>
        <a:lstStyle/>
        <a:p>
          <a:endParaRPr lang="en-US"/>
        </a:p>
      </dgm:t>
    </dgm:pt>
    <dgm:pt modelId="{51A98654-D266-4AE3-BBDD-0BB3672B1DA8}" type="sibTrans" cxnId="{49EA4EFC-5BFC-4739-B33F-AAE992B047F6}">
      <dgm:prSet/>
      <dgm:spPr/>
      <dgm:t>
        <a:bodyPr/>
        <a:lstStyle/>
        <a:p>
          <a:endParaRPr lang="en-US"/>
        </a:p>
      </dgm:t>
    </dgm:pt>
    <dgm:pt modelId="{110FFA15-CA88-435C-9C89-6D9F86A53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Diverse product portfolio with wide ranging demand</a:t>
          </a:r>
        </a:p>
      </dgm:t>
    </dgm:pt>
    <dgm:pt modelId="{6EADA2F7-D601-4CF4-BCB3-1602A5A7B036}" type="parTrans" cxnId="{BBB74B83-CECE-4BFE-AF8B-2AD219C70662}">
      <dgm:prSet/>
      <dgm:spPr/>
      <dgm:t>
        <a:bodyPr/>
        <a:lstStyle/>
        <a:p>
          <a:endParaRPr lang="en-US"/>
        </a:p>
      </dgm:t>
    </dgm:pt>
    <dgm:pt modelId="{283AAFFE-1B77-4B1F-8445-C7D82D0B4F7C}" type="sibTrans" cxnId="{BBB74B83-CECE-4BFE-AF8B-2AD219C70662}">
      <dgm:prSet/>
      <dgm:spPr/>
      <dgm:t>
        <a:bodyPr/>
        <a:lstStyle/>
        <a:p>
          <a:endParaRPr lang="en-US"/>
        </a:p>
      </dgm:t>
    </dgm:pt>
    <dgm:pt modelId="{633C9BD2-91B7-45A0-AD6D-6FE7B5299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Product quality (labile molecules)</a:t>
          </a:r>
        </a:p>
      </dgm:t>
    </dgm:pt>
    <dgm:pt modelId="{F43B4D35-1822-47C1-955B-BD14C38EA80F}" type="parTrans" cxnId="{9B50A05E-4911-4117-93B9-30988732E51B}">
      <dgm:prSet/>
      <dgm:spPr/>
      <dgm:t>
        <a:bodyPr/>
        <a:lstStyle/>
        <a:p>
          <a:endParaRPr lang="en-US"/>
        </a:p>
      </dgm:t>
    </dgm:pt>
    <dgm:pt modelId="{44916586-A5DF-4C56-9593-1B88A25FBA8E}" type="sibTrans" cxnId="{9B50A05E-4911-4117-93B9-30988732E51B}">
      <dgm:prSet/>
      <dgm:spPr/>
      <dgm:t>
        <a:bodyPr/>
        <a:lstStyle/>
        <a:p>
          <a:endParaRPr lang="en-US"/>
        </a:p>
      </dgm:t>
    </dgm:pt>
    <dgm:pt modelId="{9AD895AE-389D-431A-A0ED-76B1AC5EEDBB}" type="pres">
      <dgm:prSet presAssocID="{F79FEAEC-B601-41E4-BDBC-7E53667AC25A}" presName="root" presStyleCnt="0">
        <dgm:presLayoutVars>
          <dgm:dir/>
          <dgm:resizeHandles val="exact"/>
        </dgm:presLayoutVars>
      </dgm:prSet>
      <dgm:spPr/>
    </dgm:pt>
    <dgm:pt modelId="{3F005056-DAFE-43A7-B9BC-8074818207CA}" type="pres">
      <dgm:prSet presAssocID="{0768409A-538E-4986-8CA9-5B696B5BF9AA}" presName="compNode" presStyleCnt="0"/>
      <dgm:spPr/>
    </dgm:pt>
    <dgm:pt modelId="{0DD14BFB-8A9C-45C7-9B20-AD6BD50A379D}" type="pres">
      <dgm:prSet presAssocID="{0768409A-538E-4986-8CA9-5B696B5BF9AA}" presName="bgRect" presStyleLbl="bgShp" presStyleIdx="0" presStyleCnt="7"/>
      <dgm:spPr/>
    </dgm:pt>
    <dgm:pt modelId="{18F1354C-1E7A-48FE-93B7-C1C125C59EB0}" type="pres">
      <dgm:prSet presAssocID="{0768409A-538E-4986-8CA9-5B696B5BF9A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ED65350D-B0AD-43D8-8668-4A937E3A10BC}" type="pres">
      <dgm:prSet presAssocID="{0768409A-538E-4986-8CA9-5B696B5BF9AA}" presName="spaceRect" presStyleCnt="0"/>
      <dgm:spPr/>
    </dgm:pt>
    <dgm:pt modelId="{40701DFB-FACC-42D1-ACF0-DC6EC28F8AE2}" type="pres">
      <dgm:prSet presAssocID="{0768409A-538E-4986-8CA9-5B696B5BF9AA}" presName="parTx" presStyleLbl="revTx" presStyleIdx="0" presStyleCnt="7">
        <dgm:presLayoutVars>
          <dgm:chMax val="0"/>
          <dgm:chPref val="0"/>
        </dgm:presLayoutVars>
      </dgm:prSet>
      <dgm:spPr/>
    </dgm:pt>
    <dgm:pt modelId="{F70DE4AE-6CA2-422C-8213-30E6484E5633}" type="pres">
      <dgm:prSet presAssocID="{BFFF622B-E123-4A0A-B6BD-90AA451DBDCB}" presName="sibTrans" presStyleCnt="0"/>
      <dgm:spPr/>
    </dgm:pt>
    <dgm:pt modelId="{D8379378-1332-4D72-B639-AC14A56555EB}" type="pres">
      <dgm:prSet presAssocID="{76257475-7A24-40F4-AFFE-E51E3768D1E3}" presName="compNode" presStyleCnt="0"/>
      <dgm:spPr/>
    </dgm:pt>
    <dgm:pt modelId="{2890D04D-9D3D-407F-8AEF-4DE25FA9B3A8}" type="pres">
      <dgm:prSet presAssocID="{76257475-7A24-40F4-AFFE-E51E3768D1E3}" presName="bgRect" presStyleLbl="bgShp" presStyleIdx="1" presStyleCnt="7"/>
      <dgm:spPr/>
    </dgm:pt>
    <dgm:pt modelId="{CEE7AF43-9F73-41F2-A4D4-B22BEA1E22B5}" type="pres">
      <dgm:prSet presAssocID="{76257475-7A24-40F4-AFFE-E51E3768D1E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 outline"/>
        </a:ext>
      </dgm:extLst>
    </dgm:pt>
    <dgm:pt modelId="{373D0401-EB37-40F8-8CCE-B024991A5B19}" type="pres">
      <dgm:prSet presAssocID="{76257475-7A24-40F4-AFFE-E51E3768D1E3}" presName="spaceRect" presStyleCnt="0"/>
      <dgm:spPr/>
    </dgm:pt>
    <dgm:pt modelId="{FFF487CB-AC35-4F67-B6B2-5D1A3201888B}" type="pres">
      <dgm:prSet presAssocID="{76257475-7A24-40F4-AFFE-E51E3768D1E3}" presName="parTx" presStyleLbl="revTx" presStyleIdx="1" presStyleCnt="7">
        <dgm:presLayoutVars>
          <dgm:chMax val="0"/>
          <dgm:chPref val="0"/>
        </dgm:presLayoutVars>
      </dgm:prSet>
      <dgm:spPr/>
    </dgm:pt>
    <dgm:pt modelId="{FE247C93-B5A5-497F-9F04-8D014AA23ABA}" type="pres">
      <dgm:prSet presAssocID="{30FB726B-B7B5-43A9-ABDF-1925BEE54E4A}" presName="sibTrans" presStyleCnt="0"/>
      <dgm:spPr/>
    </dgm:pt>
    <dgm:pt modelId="{E0906175-DE56-4F41-AF9B-88479657D252}" type="pres">
      <dgm:prSet presAssocID="{110FFA15-CA88-435C-9C89-6D9F86A53793}" presName="compNode" presStyleCnt="0"/>
      <dgm:spPr/>
    </dgm:pt>
    <dgm:pt modelId="{362DF86A-89D1-4E0F-8499-D9F4DE35E641}" type="pres">
      <dgm:prSet presAssocID="{110FFA15-CA88-435C-9C89-6D9F86A53793}" presName="bgRect" presStyleLbl="bgShp" presStyleIdx="2" presStyleCnt="7"/>
      <dgm:spPr/>
    </dgm:pt>
    <dgm:pt modelId="{746877D6-B417-4C3E-8802-0BBEFA53016A}" type="pres">
      <dgm:prSet presAssocID="{110FFA15-CA88-435C-9C89-6D9F86A53793}" presName="iconRect" presStyleLbl="node1" presStyleIdx="2" presStyleCnt="7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F91A9AFE-A9EF-431B-94BC-3FE55CC52770}" type="pres">
      <dgm:prSet presAssocID="{110FFA15-CA88-435C-9C89-6D9F86A53793}" presName="spaceRect" presStyleCnt="0"/>
      <dgm:spPr/>
    </dgm:pt>
    <dgm:pt modelId="{744140A9-0671-4211-81C2-2197936D69BD}" type="pres">
      <dgm:prSet presAssocID="{110FFA15-CA88-435C-9C89-6D9F86A53793}" presName="parTx" presStyleLbl="revTx" presStyleIdx="2" presStyleCnt="7">
        <dgm:presLayoutVars>
          <dgm:chMax val="0"/>
          <dgm:chPref val="0"/>
        </dgm:presLayoutVars>
      </dgm:prSet>
      <dgm:spPr/>
    </dgm:pt>
    <dgm:pt modelId="{B89708D5-4100-4AE8-A919-D5BE1E0F5DEB}" type="pres">
      <dgm:prSet presAssocID="{283AAFFE-1B77-4B1F-8445-C7D82D0B4F7C}" presName="sibTrans" presStyleCnt="0"/>
      <dgm:spPr/>
    </dgm:pt>
    <dgm:pt modelId="{2962C68F-9BDB-448E-84E7-713198D49873}" type="pres">
      <dgm:prSet presAssocID="{9A2319BF-C103-46E5-B5DE-C3D4304A5D2D}" presName="compNode" presStyleCnt="0"/>
      <dgm:spPr/>
    </dgm:pt>
    <dgm:pt modelId="{23B607C8-DCE6-45D0-A44E-D62EC95EDE09}" type="pres">
      <dgm:prSet presAssocID="{9A2319BF-C103-46E5-B5DE-C3D4304A5D2D}" presName="bgRect" presStyleLbl="bgShp" presStyleIdx="3" presStyleCnt="7" custLinFactNeighborY="-1423"/>
      <dgm:spPr/>
    </dgm:pt>
    <dgm:pt modelId="{7D1DD67C-C91B-425A-B8C9-63EE4AEFB386}" type="pres">
      <dgm:prSet presAssocID="{9A2319BF-C103-46E5-B5DE-C3D4304A5D2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6CE24E5-D1BD-4934-AACA-351B3BB22807}" type="pres">
      <dgm:prSet presAssocID="{9A2319BF-C103-46E5-B5DE-C3D4304A5D2D}" presName="spaceRect" presStyleCnt="0"/>
      <dgm:spPr/>
    </dgm:pt>
    <dgm:pt modelId="{DE82A802-D03F-4CF0-BB8F-266EAAD2FED9}" type="pres">
      <dgm:prSet presAssocID="{9A2319BF-C103-46E5-B5DE-C3D4304A5D2D}" presName="parTx" presStyleLbl="revTx" presStyleIdx="3" presStyleCnt="7">
        <dgm:presLayoutVars>
          <dgm:chMax val="0"/>
          <dgm:chPref val="0"/>
        </dgm:presLayoutVars>
      </dgm:prSet>
      <dgm:spPr/>
    </dgm:pt>
    <dgm:pt modelId="{237F139A-C7D6-4DB2-8123-615F2B30F6CB}" type="pres">
      <dgm:prSet presAssocID="{90FFF640-24F4-41DE-B803-854B426AD08D}" presName="sibTrans" presStyleCnt="0"/>
      <dgm:spPr/>
    </dgm:pt>
    <dgm:pt modelId="{AC1E995A-61F3-438C-95DC-74B3E8AF7A49}" type="pres">
      <dgm:prSet presAssocID="{1753A189-E6FC-4E43-AAB9-99B845E14458}" presName="compNode" presStyleCnt="0"/>
      <dgm:spPr/>
    </dgm:pt>
    <dgm:pt modelId="{0146E78F-8A29-44B2-8ECD-F4BF79CF813A}" type="pres">
      <dgm:prSet presAssocID="{1753A189-E6FC-4E43-AAB9-99B845E14458}" presName="bgRect" presStyleLbl="bgShp" presStyleIdx="4" presStyleCnt="7"/>
      <dgm:spPr/>
    </dgm:pt>
    <dgm:pt modelId="{3BE57B3D-F67C-4E38-9234-0B11998ACAF5}" type="pres">
      <dgm:prSet presAssocID="{1753A189-E6FC-4E43-AAB9-99B845E1445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 outline"/>
        </a:ext>
      </dgm:extLst>
    </dgm:pt>
    <dgm:pt modelId="{821EBA76-D31D-4066-8E63-FDC2DD153591}" type="pres">
      <dgm:prSet presAssocID="{1753A189-E6FC-4E43-AAB9-99B845E14458}" presName="spaceRect" presStyleCnt="0"/>
      <dgm:spPr/>
    </dgm:pt>
    <dgm:pt modelId="{463CE9BB-67BC-4F8B-A7FD-147EDBED6CB8}" type="pres">
      <dgm:prSet presAssocID="{1753A189-E6FC-4E43-AAB9-99B845E14458}" presName="parTx" presStyleLbl="revTx" presStyleIdx="4" presStyleCnt="7">
        <dgm:presLayoutVars>
          <dgm:chMax val="0"/>
          <dgm:chPref val="0"/>
        </dgm:presLayoutVars>
      </dgm:prSet>
      <dgm:spPr/>
    </dgm:pt>
    <dgm:pt modelId="{A6361E04-AE7C-4F02-B873-E2F120A06056}" type="pres">
      <dgm:prSet presAssocID="{51A98654-D266-4AE3-BBDD-0BB3672B1DA8}" presName="sibTrans" presStyleCnt="0"/>
      <dgm:spPr/>
    </dgm:pt>
    <dgm:pt modelId="{25E0761E-9D10-43A7-95DF-C419D85EEBBC}" type="pres">
      <dgm:prSet presAssocID="{633C9BD2-91B7-45A0-AD6D-6FE7B529951E}" presName="compNode" presStyleCnt="0"/>
      <dgm:spPr/>
    </dgm:pt>
    <dgm:pt modelId="{88884678-FB35-4F98-9904-177E340AC36E}" type="pres">
      <dgm:prSet presAssocID="{633C9BD2-91B7-45A0-AD6D-6FE7B529951E}" presName="bgRect" presStyleLbl="bgShp" presStyleIdx="5" presStyleCnt="7"/>
      <dgm:spPr/>
    </dgm:pt>
    <dgm:pt modelId="{10F6EE70-0310-4311-8B54-8AEBF9271EDC}" type="pres">
      <dgm:prSet presAssocID="{633C9BD2-91B7-45A0-AD6D-6FE7B529951E}" presName="iconRect" presStyleLbl="node1" presStyleIdx="5" presStyleCnt="7"/>
      <dgm:spPr/>
    </dgm:pt>
    <dgm:pt modelId="{69619A83-C6DB-4D56-92E4-CC0AB6966D6D}" type="pres">
      <dgm:prSet presAssocID="{633C9BD2-91B7-45A0-AD6D-6FE7B529951E}" presName="spaceRect" presStyleCnt="0"/>
      <dgm:spPr/>
    </dgm:pt>
    <dgm:pt modelId="{92313FF2-02B6-4D08-B1FE-4C2781BC70F3}" type="pres">
      <dgm:prSet presAssocID="{633C9BD2-91B7-45A0-AD6D-6FE7B529951E}" presName="parTx" presStyleLbl="revTx" presStyleIdx="5" presStyleCnt="7">
        <dgm:presLayoutVars>
          <dgm:chMax val="0"/>
          <dgm:chPref val="0"/>
        </dgm:presLayoutVars>
      </dgm:prSet>
      <dgm:spPr/>
    </dgm:pt>
    <dgm:pt modelId="{D45E5C94-41A6-4735-9927-EE97BB777366}" type="pres">
      <dgm:prSet presAssocID="{44916586-A5DF-4C56-9593-1B88A25FBA8E}" presName="sibTrans" presStyleCnt="0"/>
      <dgm:spPr/>
    </dgm:pt>
    <dgm:pt modelId="{D31030D5-091F-4147-AE8B-FAC624DCBF67}" type="pres">
      <dgm:prSet presAssocID="{AE7DCE77-5BC4-4945-98B2-5C5132B6B116}" presName="compNode" presStyleCnt="0"/>
      <dgm:spPr/>
    </dgm:pt>
    <dgm:pt modelId="{5266CF54-6768-AE40-BA9C-4D5E7486B67D}" type="pres">
      <dgm:prSet presAssocID="{AE7DCE77-5BC4-4945-98B2-5C5132B6B116}" presName="bgRect" presStyleLbl="bgShp" presStyleIdx="6" presStyleCnt="7"/>
      <dgm:spPr/>
    </dgm:pt>
    <dgm:pt modelId="{C7278DC7-BFE4-364D-B197-507153B8FEAD}" type="pres">
      <dgm:prSet presAssocID="{AE7DCE77-5BC4-4945-98B2-5C5132B6B116}" presName="iconRect" presStyleLbl="node1" presStyleIdx="6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Question Mark with solid fill"/>
        </a:ext>
      </dgm:extLst>
    </dgm:pt>
    <dgm:pt modelId="{9A1DF6C6-816A-8A40-AE52-773BA146DB12}" type="pres">
      <dgm:prSet presAssocID="{AE7DCE77-5BC4-4945-98B2-5C5132B6B116}" presName="spaceRect" presStyleCnt="0"/>
      <dgm:spPr/>
    </dgm:pt>
    <dgm:pt modelId="{0CB7BADF-E126-C04B-86C6-6C339E6769C1}" type="pres">
      <dgm:prSet presAssocID="{AE7DCE77-5BC4-4945-98B2-5C5132B6B11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DA92C04-D841-49FC-AE1F-A47383C8D345}" srcId="{F79FEAEC-B601-41E4-BDBC-7E53667AC25A}" destId="{0768409A-538E-4986-8CA9-5B696B5BF9AA}" srcOrd="0" destOrd="0" parTransId="{452653D2-29BF-4406-96BC-A80F4609D992}" sibTransId="{BFFF622B-E123-4A0A-B6BD-90AA451DBDCB}"/>
    <dgm:cxn modelId="{9B50A05E-4911-4117-93B9-30988732E51B}" srcId="{F79FEAEC-B601-41E4-BDBC-7E53667AC25A}" destId="{633C9BD2-91B7-45A0-AD6D-6FE7B529951E}" srcOrd="5" destOrd="0" parTransId="{F43B4D35-1822-47C1-955B-BD14C38EA80F}" sibTransId="{44916586-A5DF-4C56-9593-1B88A25FBA8E}"/>
    <dgm:cxn modelId="{E6048860-7C88-4CBB-8332-7569BF0ED499}" srcId="{F79FEAEC-B601-41E4-BDBC-7E53667AC25A}" destId="{9A2319BF-C103-46E5-B5DE-C3D4304A5D2D}" srcOrd="3" destOrd="0" parTransId="{ECE19134-C028-4557-8E2B-E9B0B1CE4A9F}" sibTransId="{90FFF640-24F4-41DE-B803-854B426AD08D}"/>
    <dgm:cxn modelId="{C6DA2666-A94A-48BA-92C7-5341EFFC40C1}" srcId="{F79FEAEC-B601-41E4-BDBC-7E53667AC25A}" destId="{76257475-7A24-40F4-AFFE-E51E3768D1E3}" srcOrd="1" destOrd="0" parTransId="{610189C3-1445-4306-9CAE-3659349EB721}" sibTransId="{30FB726B-B7B5-43A9-ABDF-1925BEE54E4A}"/>
    <dgm:cxn modelId="{17AFD068-011E-4387-B9CB-A695B9162D2E}" type="presOf" srcId="{9A2319BF-C103-46E5-B5DE-C3D4304A5D2D}" destId="{DE82A802-D03F-4CF0-BB8F-266EAAD2FED9}" srcOrd="0" destOrd="0" presId="urn:microsoft.com/office/officeart/2018/2/layout/IconVerticalSolidList"/>
    <dgm:cxn modelId="{B6F12070-2745-1647-8FFC-F122E1BDF941}" type="presOf" srcId="{AE7DCE77-5BC4-4945-98B2-5C5132B6B116}" destId="{0CB7BADF-E126-C04B-86C6-6C339E6769C1}" srcOrd="0" destOrd="0" presId="urn:microsoft.com/office/officeart/2018/2/layout/IconVerticalSolidList"/>
    <dgm:cxn modelId="{1B4E2E54-3B73-4938-9D42-0638BFBDCDF7}" type="presOf" srcId="{76257475-7A24-40F4-AFFE-E51E3768D1E3}" destId="{FFF487CB-AC35-4F67-B6B2-5D1A3201888B}" srcOrd="0" destOrd="0" presId="urn:microsoft.com/office/officeart/2018/2/layout/IconVerticalSolidList"/>
    <dgm:cxn modelId="{BBB74B83-CECE-4BFE-AF8B-2AD219C70662}" srcId="{F79FEAEC-B601-41E4-BDBC-7E53667AC25A}" destId="{110FFA15-CA88-435C-9C89-6D9F86A53793}" srcOrd="2" destOrd="0" parTransId="{6EADA2F7-D601-4CF4-BCB3-1602A5A7B036}" sibTransId="{283AAFFE-1B77-4B1F-8445-C7D82D0B4F7C}"/>
    <dgm:cxn modelId="{10B24684-859B-4701-81E0-210485594E10}" type="presOf" srcId="{1753A189-E6FC-4E43-AAB9-99B845E14458}" destId="{463CE9BB-67BC-4F8B-A7FD-147EDBED6CB8}" srcOrd="0" destOrd="0" presId="urn:microsoft.com/office/officeart/2018/2/layout/IconVerticalSolidList"/>
    <dgm:cxn modelId="{19A3F192-88A7-44F6-B29C-A5E83D919FFB}" type="presOf" srcId="{110FFA15-CA88-435C-9C89-6D9F86A53793}" destId="{744140A9-0671-4211-81C2-2197936D69BD}" srcOrd="0" destOrd="0" presId="urn:microsoft.com/office/officeart/2018/2/layout/IconVerticalSolidList"/>
    <dgm:cxn modelId="{086FC599-B7F6-284F-9C7F-5A53E929F9FB}" srcId="{F79FEAEC-B601-41E4-BDBC-7E53667AC25A}" destId="{AE7DCE77-5BC4-4945-98B2-5C5132B6B116}" srcOrd="6" destOrd="0" parTransId="{7E92C81F-4F32-554B-B3FD-163925ED900E}" sibTransId="{AAAAACBA-A68C-D94F-BF0A-DD7BDC410315}"/>
    <dgm:cxn modelId="{6CE7C89D-6EE8-44EE-AB9A-EC5BF1736950}" type="presOf" srcId="{F79FEAEC-B601-41E4-BDBC-7E53667AC25A}" destId="{9AD895AE-389D-431A-A0ED-76B1AC5EEDBB}" srcOrd="0" destOrd="0" presId="urn:microsoft.com/office/officeart/2018/2/layout/IconVerticalSolidList"/>
    <dgm:cxn modelId="{2F3399B1-F5F5-41BF-BABB-433E5CA65E72}" type="presOf" srcId="{633C9BD2-91B7-45A0-AD6D-6FE7B529951E}" destId="{92313FF2-02B6-4D08-B1FE-4C2781BC70F3}" srcOrd="0" destOrd="0" presId="urn:microsoft.com/office/officeart/2018/2/layout/IconVerticalSolidList"/>
    <dgm:cxn modelId="{531DECCA-5421-4398-B8EA-73684BFD793A}" type="presOf" srcId="{0768409A-538E-4986-8CA9-5B696B5BF9AA}" destId="{40701DFB-FACC-42D1-ACF0-DC6EC28F8AE2}" srcOrd="0" destOrd="0" presId="urn:microsoft.com/office/officeart/2018/2/layout/IconVerticalSolidList"/>
    <dgm:cxn modelId="{49EA4EFC-5BFC-4739-B33F-AAE992B047F6}" srcId="{F79FEAEC-B601-41E4-BDBC-7E53667AC25A}" destId="{1753A189-E6FC-4E43-AAB9-99B845E14458}" srcOrd="4" destOrd="0" parTransId="{EB73D756-01EB-415D-952A-27A0CE5FD895}" sibTransId="{51A98654-D266-4AE3-BBDD-0BB3672B1DA8}"/>
    <dgm:cxn modelId="{81DE756D-C6C0-4058-AF7E-37AD5021ECAC}" type="presParOf" srcId="{9AD895AE-389D-431A-A0ED-76B1AC5EEDBB}" destId="{3F005056-DAFE-43A7-B9BC-8074818207CA}" srcOrd="0" destOrd="0" presId="urn:microsoft.com/office/officeart/2018/2/layout/IconVerticalSolidList"/>
    <dgm:cxn modelId="{CCA459F1-E5C2-45D0-9967-EB1B6EA3ED71}" type="presParOf" srcId="{3F005056-DAFE-43A7-B9BC-8074818207CA}" destId="{0DD14BFB-8A9C-45C7-9B20-AD6BD50A379D}" srcOrd="0" destOrd="0" presId="urn:microsoft.com/office/officeart/2018/2/layout/IconVerticalSolidList"/>
    <dgm:cxn modelId="{09299885-CAB8-4E57-9D36-7674D864C913}" type="presParOf" srcId="{3F005056-DAFE-43A7-B9BC-8074818207CA}" destId="{18F1354C-1E7A-48FE-93B7-C1C125C59EB0}" srcOrd="1" destOrd="0" presId="urn:microsoft.com/office/officeart/2018/2/layout/IconVerticalSolidList"/>
    <dgm:cxn modelId="{8A3861DF-7BAC-4EDC-BBF3-228FB5591BE5}" type="presParOf" srcId="{3F005056-DAFE-43A7-B9BC-8074818207CA}" destId="{ED65350D-B0AD-43D8-8668-4A937E3A10BC}" srcOrd="2" destOrd="0" presId="urn:microsoft.com/office/officeart/2018/2/layout/IconVerticalSolidList"/>
    <dgm:cxn modelId="{C3F2B905-5C5B-49C7-8A71-2C6866381F66}" type="presParOf" srcId="{3F005056-DAFE-43A7-B9BC-8074818207CA}" destId="{40701DFB-FACC-42D1-ACF0-DC6EC28F8AE2}" srcOrd="3" destOrd="0" presId="urn:microsoft.com/office/officeart/2018/2/layout/IconVerticalSolidList"/>
    <dgm:cxn modelId="{E700DEB9-8FA1-4798-9F40-D725B8CE62DF}" type="presParOf" srcId="{9AD895AE-389D-431A-A0ED-76B1AC5EEDBB}" destId="{F70DE4AE-6CA2-422C-8213-30E6484E5633}" srcOrd="1" destOrd="0" presId="urn:microsoft.com/office/officeart/2018/2/layout/IconVerticalSolidList"/>
    <dgm:cxn modelId="{E425F6C6-CA63-4E00-8479-39F16D8064FE}" type="presParOf" srcId="{9AD895AE-389D-431A-A0ED-76B1AC5EEDBB}" destId="{D8379378-1332-4D72-B639-AC14A56555EB}" srcOrd="2" destOrd="0" presId="urn:microsoft.com/office/officeart/2018/2/layout/IconVerticalSolidList"/>
    <dgm:cxn modelId="{23D53E67-5223-431C-B288-52D4AFED4BE0}" type="presParOf" srcId="{D8379378-1332-4D72-B639-AC14A56555EB}" destId="{2890D04D-9D3D-407F-8AEF-4DE25FA9B3A8}" srcOrd="0" destOrd="0" presId="urn:microsoft.com/office/officeart/2018/2/layout/IconVerticalSolidList"/>
    <dgm:cxn modelId="{E5D28B52-A63D-46E5-92AC-6FECE5A85B2A}" type="presParOf" srcId="{D8379378-1332-4D72-B639-AC14A56555EB}" destId="{CEE7AF43-9F73-41F2-A4D4-B22BEA1E22B5}" srcOrd="1" destOrd="0" presId="urn:microsoft.com/office/officeart/2018/2/layout/IconVerticalSolidList"/>
    <dgm:cxn modelId="{4E160122-F5AE-4E98-86AC-7CA71F81C661}" type="presParOf" srcId="{D8379378-1332-4D72-B639-AC14A56555EB}" destId="{373D0401-EB37-40F8-8CCE-B024991A5B19}" srcOrd="2" destOrd="0" presId="urn:microsoft.com/office/officeart/2018/2/layout/IconVerticalSolidList"/>
    <dgm:cxn modelId="{BED6E236-BA12-4AAD-90DD-7A076D27C50A}" type="presParOf" srcId="{D8379378-1332-4D72-B639-AC14A56555EB}" destId="{FFF487CB-AC35-4F67-B6B2-5D1A3201888B}" srcOrd="3" destOrd="0" presId="urn:microsoft.com/office/officeart/2018/2/layout/IconVerticalSolidList"/>
    <dgm:cxn modelId="{41C1B812-43E7-451C-902E-36C45BEB36AA}" type="presParOf" srcId="{9AD895AE-389D-431A-A0ED-76B1AC5EEDBB}" destId="{FE247C93-B5A5-497F-9F04-8D014AA23ABA}" srcOrd="3" destOrd="0" presId="urn:microsoft.com/office/officeart/2018/2/layout/IconVerticalSolidList"/>
    <dgm:cxn modelId="{C9144A52-22D1-462A-B070-311572D1D25E}" type="presParOf" srcId="{9AD895AE-389D-431A-A0ED-76B1AC5EEDBB}" destId="{E0906175-DE56-4F41-AF9B-88479657D252}" srcOrd="4" destOrd="0" presId="urn:microsoft.com/office/officeart/2018/2/layout/IconVerticalSolidList"/>
    <dgm:cxn modelId="{5B4C3ED7-CD53-4213-940A-444F4CCE326F}" type="presParOf" srcId="{E0906175-DE56-4F41-AF9B-88479657D252}" destId="{362DF86A-89D1-4E0F-8499-D9F4DE35E641}" srcOrd="0" destOrd="0" presId="urn:microsoft.com/office/officeart/2018/2/layout/IconVerticalSolidList"/>
    <dgm:cxn modelId="{D21949BD-9006-429E-A0E6-55191E7AC816}" type="presParOf" srcId="{E0906175-DE56-4F41-AF9B-88479657D252}" destId="{746877D6-B417-4C3E-8802-0BBEFA53016A}" srcOrd="1" destOrd="0" presId="urn:microsoft.com/office/officeart/2018/2/layout/IconVerticalSolidList"/>
    <dgm:cxn modelId="{D88CB948-5DC5-4BC7-9929-F4144FD98DB6}" type="presParOf" srcId="{E0906175-DE56-4F41-AF9B-88479657D252}" destId="{F91A9AFE-A9EF-431B-94BC-3FE55CC52770}" srcOrd="2" destOrd="0" presId="urn:microsoft.com/office/officeart/2018/2/layout/IconVerticalSolidList"/>
    <dgm:cxn modelId="{29C352E3-AB29-4239-AD14-AC7F0A731B7A}" type="presParOf" srcId="{E0906175-DE56-4F41-AF9B-88479657D252}" destId="{744140A9-0671-4211-81C2-2197936D69BD}" srcOrd="3" destOrd="0" presId="urn:microsoft.com/office/officeart/2018/2/layout/IconVerticalSolidList"/>
    <dgm:cxn modelId="{D5955775-6C6B-4DF6-9D23-72F68045C270}" type="presParOf" srcId="{9AD895AE-389D-431A-A0ED-76B1AC5EEDBB}" destId="{B89708D5-4100-4AE8-A919-D5BE1E0F5DEB}" srcOrd="5" destOrd="0" presId="urn:microsoft.com/office/officeart/2018/2/layout/IconVerticalSolidList"/>
    <dgm:cxn modelId="{546D0252-A612-4D35-B233-B0400C48AC1E}" type="presParOf" srcId="{9AD895AE-389D-431A-A0ED-76B1AC5EEDBB}" destId="{2962C68F-9BDB-448E-84E7-713198D49873}" srcOrd="6" destOrd="0" presId="urn:microsoft.com/office/officeart/2018/2/layout/IconVerticalSolidList"/>
    <dgm:cxn modelId="{D26421D9-0B9D-421F-8A1F-06DB32BC8C07}" type="presParOf" srcId="{2962C68F-9BDB-448E-84E7-713198D49873}" destId="{23B607C8-DCE6-45D0-A44E-D62EC95EDE09}" srcOrd="0" destOrd="0" presId="urn:microsoft.com/office/officeart/2018/2/layout/IconVerticalSolidList"/>
    <dgm:cxn modelId="{AD25D460-BF2C-4FE6-9A7A-712B31E170D6}" type="presParOf" srcId="{2962C68F-9BDB-448E-84E7-713198D49873}" destId="{7D1DD67C-C91B-425A-B8C9-63EE4AEFB386}" srcOrd="1" destOrd="0" presId="urn:microsoft.com/office/officeart/2018/2/layout/IconVerticalSolidList"/>
    <dgm:cxn modelId="{58C009C1-D7B6-428C-89ED-0CEA8612F2D6}" type="presParOf" srcId="{2962C68F-9BDB-448E-84E7-713198D49873}" destId="{96CE24E5-D1BD-4934-AACA-351B3BB22807}" srcOrd="2" destOrd="0" presId="urn:microsoft.com/office/officeart/2018/2/layout/IconVerticalSolidList"/>
    <dgm:cxn modelId="{DC2F379B-A732-4369-B3D9-E0B46E55B938}" type="presParOf" srcId="{2962C68F-9BDB-448E-84E7-713198D49873}" destId="{DE82A802-D03F-4CF0-BB8F-266EAAD2FED9}" srcOrd="3" destOrd="0" presId="urn:microsoft.com/office/officeart/2018/2/layout/IconVerticalSolidList"/>
    <dgm:cxn modelId="{4C30E596-588A-497F-B07C-4ABB80E32914}" type="presParOf" srcId="{9AD895AE-389D-431A-A0ED-76B1AC5EEDBB}" destId="{237F139A-C7D6-4DB2-8123-615F2B30F6CB}" srcOrd="7" destOrd="0" presId="urn:microsoft.com/office/officeart/2018/2/layout/IconVerticalSolidList"/>
    <dgm:cxn modelId="{7C10682D-C63F-4C77-8A04-89AB9FA68D76}" type="presParOf" srcId="{9AD895AE-389D-431A-A0ED-76B1AC5EEDBB}" destId="{AC1E995A-61F3-438C-95DC-74B3E8AF7A49}" srcOrd="8" destOrd="0" presId="urn:microsoft.com/office/officeart/2018/2/layout/IconVerticalSolidList"/>
    <dgm:cxn modelId="{FA0DE771-8C69-4FB6-9A41-5ABB2624B5E1}" type="presParOf" srcId="{AC1E995A-61F3-438C-95DC-74B3E8AF7A49}" destId="{0146E78F-8A29-44B2-8ECD-F4BF79CF813A}" srcOrd="0" destOrd="0" presId="urn:microsoft.com/office/officeart/2018/2/layout/IconVerticalSolidList"/>
    <dgm:cxn modelId="{A7805BF1-FB07-4528-BB9E-66F31CFDD1CE}" type="presParOf" srcId="{AC1E995A-61F3-438C-95DC-74B3E8AF7A49}" destId="{3BE57B3D-F67C-4E38-9234-0B11998ACAF5}" srcOrd="1" destOrd="0" presId="urn:microsoft.com/office/officeart/2018/2/layout/IconVerticalSolidList"/>
    <dgm:cxn modelId="{D2FB582A-8A26-4584-BF25-AE741D7F4F30}" type="presParOf" srcId="{AC1E995A-61F3-438C-95DC-74B3E8AF7A49}" destId="{821EBA76-D31D-4066-8E63-FDC2DD153591}" srcOrd="2" destOrd="0" presId="urn:microsoft.com/office/officeart/2018/2/layout/IconVerticalSolidList"/>
    <dgm:cxn modelId="{5E950892-84FA-43E1-949A-FD158245B791}" type="presParOf" srcId="{AC1E995A-61F3-438C-95DC-74B3E8AF7A49}" destId="{463CE9BB-67BC-4F8B-A7FD-147EDBED6CB8}" srcOrd="3" destOrd="0" presId="urn:microsoft.com/office/officeart/2018/2/layout/IconVerticalSolidList"/>
    <dgm:cxn modelId="{87AC5AB9-0855-420C-A0A6-E089BECC2A8D}" type="presParOf" srcId="{9AD895AE-389D-431A-A0ED-76B1AC5EEDBB}" destId="{A6361E04-AE7C-4F02-B873-E2F120A06056}" srcOrd="9" destOrd="0" presId="urn:microsoft.com/office/officeart/2018/2/layout/IconVerticalSolidList"/>
    <dgm:cxn modelId="{FB198C48-32C1-4068-9F5A-081A578F8BE9}" type="presParOf" srcId="{9AD895AE-389D-431A-A0ED-76B1AC5EEDBB}" destId="{25E0761E-9D10-43A7-95DF-C419D85EEBBC}" srcOrd="10" destOrd="0" presId="urn:microsoft.com/office/officeart/2018/2/layout/IconVerticalSolidList"/>
    <dgm:cxn modelId="{EC0FF2B7-CCD4-41E6-81E3-FC4610EEB281}" type="presParOf" srcId="{25E0761E-9D10-43A7-95DF-C419D85EEBBC}" destId="{88884678-FB35-4F98-9904-177E340AC36E}" srcOrd="0" destOrd="0" presId="urn:microsoft.com/office/officeart/2018/2/layout/IconVerticalSolidList"/>
    <dgm:cxn modelId="{41B3BC13-54BF-4157-904D-FD4731FC3336}" type="presParOf" srcId="{25E0761E-9D10-43A7-95DF-C419D85EEBBC}" destId="{10F6EE70-0310-4311-8B54-8AEBF9271EDC}" srcOrd="1" destOrd="0" presId="urn:microsoft.com/office/officeart/2018/2/layout/IconVerticalSolidList"/>
    <dgm:cxn modelId="{94E1574F-A452-46E6-8476-961572ECAB32}" type="presParOf" srcId="{25E0761E-9D10-43A7-95DF-C419D85EEBBC}" destId="{69619A83-C6DB-4D56-92E4-CC0AB6966D6D}" srcOrd="2" destOrd="0" presId="urn:microsoft.com/office/officeart/2018/2/layout/IconVerticalSolidList"/>
    <dgm:cxn modelId="{4B100F89-6B3F-45F4-B68C-8A193068204E}" type="presParOf" srcId="{25E0761E-9D10-43A7-95DF-C419D85EEBBC}" destId="{92313FF2-02B6-4D08-B1FE-4C2781BC70F3}" srcOrd="3" destOrd="0" presId="urn:microsoft.com/office/officeart/2018/2/layout/IconVerticalSolidList"/>
    <dgm:cxn modelId="{5228DA34-7F78-4D9A-9E7A-D29399A5A017}" type="presParOf" srcId="{9AD895AE-389D-431A-A0ED-76B1AC5EEDBB}" destId="{D45E5C94-41A6-4735-9927-EE97BB777366}" srcOrd="11" destOrd="0" presId="urn:microsoft.com/office/officeart/2018/2/layout/IconVerticalSolidList"/>
    <dgm:cxn modelId="{99AE6236-04A9-0643-81B1-8F7A74AB6A8B}" type="presParOf" srcId="{9AD895AE-389D-431A-A0ED-76B1AC5EEDBB}" destId="{D31030D5-091F-4147-AE8B-FAC624DCBF67}" srcOrd="12" destOrd="0" presId="urn:microsoft.com/office/officeart/2018/2/layout/IconVerticalSolidList"/>
    <dgm:cxn modelId="{E0499AD9-0E56-FB4E-BA21-7B2D87A8CF0F}" type="presParOf" srcId="{D31030D5-091F-4147-AE8B-FAC624DCBF67}" destId="{5266CF54-6768-AE40-BA9C-4D5E7486B67D}" srcOrd="0" destOrd="0" presId="urn:microsoft.com/office/officeart/2018/2/layout/IconVerticalSolidList"/>
    <dgm:cxn modelId="{AEBEAA87-FE55-C743-A5CA-10EF8627FFC3}" type="presParOf" srcId="{D31030D5-091F-4147-AE8B-FAC624DCBF67}" destId="{C7278DC7-BFE4-364D-B197-507153B8FEAD}" srcOrd="1" destOrd="0" presId="urn:microsoft.com/office/officeart/2018/2/layout/IconVerticalSolidList"/>
    <dgm:cxn modelId="{000B44B7-1830-A542-801E-4545F39D2948}" type="presParOf" srcId="{D31030D5-091F-4147-AE8B-FAC624DCBF67}" destId="{9A1DF6C6-816A-8A40-AE52-773BA146DB12}" srcOrd="2" destOrd="0" presId="urn:microsoft.com/office/officeart/2018/2/layout/IconVerticalSolidList"/>
    <dgm:cxn modelId="{3576E09C-CF01-9040-8786-5ED534E6BBD0}" type="presParOf" srcId="{D31030D5-091F-4147-AE8B-FAC624DCBF67}" destId="{0CB7BADF-E126-C04B-86C6-6C339E6769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76FB2D-0B52-4A20-92A5-C663345250F3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185132-2F2D-493A-9119-8A6FA2D21A16}">
      <dgm:prSet/>
      <dgm:spPr/>
      <dgm:t>
        <a:bodyPr/>
        <a:lstStyle/>
        <a:p>
          <a:r>
            <a:rPr lang="en-US" dirty="0"/>
            <a:t>The highest cost</a:t>
          </a:r>
          <a:r>
            <a:rPr lang="en-US" b="0" dirty="0"/>
            <a:t> consumables in the IDB process are TFF membranes ​</a:t>
          </a:r>
          <a:endParaRPr lang="en-US" dirty="0"/>
        </a:p>
      </dgm:t>
    </dgm:pt>
    <dgm:pt modelId="{0D1B3556-3634-451A-947F-1289FDC2D89C}" type="parTrans" cxnId="{88AE718C-B355-417E-BB9D-FFE9C72838D5}">
      <dgm:prSet/>
      <dgm:spPr/>
      <dgm:t>
        <a:bodyPr/>
        <a:lstStyle/>
        <a:p>
          <a:endParaRPr lang="en-US"/>
        </a:p>
      </dgm:t>
    </dgm:pt>
    <dgm:pt modelId="{03EF7F1F-C3AC-44C3-BBC2-93E300574688}" type="sibTrans" cxnId="{88AE718C-B355-417E-BB9D-FFE9C72838D5}">
      <dgm:prSet/>
      <dgm:spPr/>
      <dgm:t>
        <a:bodyPr/>
        <a:lstStyle/>
        <a:p>
          <a:endParaRPr lang="en-US"/>
        </a:p>
      </dgm:t>
    </dgm:pt>
    <dgm:pt modelId="{974D3F32-CB9F-4827-80CD-6CB8837F9A22}">
      <dgm:prSet/>
      <dgm:spPr/>
      <dgm:t>
        <a:bodyPr/>
        <a:lstStyle/>
        <a:p>
          <a:r>
            <a:rPr lang="en-US" b="0" dirty="0"/>
            <a:t>Directionally, cell culture and titer continue to </a:t>
          </a:r>
          <a:r>
            <a:rPr lang="en-US" b="1" u="sng" dirty="0"/>
            <a:t>increase</a:t>
          </a:r>
          <a:r>
            <a:rPr lang="en-US" b="0" dirty="0"/>
            <a:t> resulting in </a:t>
          </a:r>
          <a:r>
            <a:rPr lang="en-US" b="1" u="sng" dirty="0"/>
            <a:t>greater</a:t>
          </a:r>
          <a:r>
            <a:rPr lang="en-US" b="0" dirty="0"/>
            <a:t> filter area demand</a:t>
          </a:r>
          <a:endParaRPr lang="en-US" dirty="0"/>
        </a:p>
      </dgm:t>
    </dgm:pt>
    <dgm:pt modelId="{063D78FB-A2AE-4442-8B8D-FA29FB9A1833}" type="parTrans" cxnId="{68E627B8-9293-48F2-86CE-B5CA6CED728E}">
      <dgm:prSet/>
      <dgm:spPr/>
      <dgm:t>
        <a:bodyPr/>
        <a:lstStyle/>
        <a:p>
          <a:endParaRPr lang="en-US"/>
        </a:p>
      </dgm:t>
    </dgm:pt>
    <dgm:pt modelId="{A6D498ED-6B45-4244-9814-D7F80855353A}" type="sibTrans" cxnId="{68E627B8-9293-48F2-86CE-B5CA6CED728E}">
      <dgm:prSet/>
      <dgm:spPr/>
      <dgm:t>
        <a:bodyPr/>
        <a:lstStyle/>
        <a:p>
          <a:endParaRPr lang="en-US"/>
        </a:p>
      </dgm:t>
    </dgm:pt>
    <dgm:pt modelId="{C888A357-32E5-4B0B-983E-62CC1B324FF6}">
      <dgm:prSet/>
      <dgm:spPr>
        <a:solidFill>
          <a:schemeClr val="accent2"/>
        </a:solidFill>
      </dgm:spPr>
      <dgm:t>
        <a:bodyPr/>
        <a:lstStyle/>
        <a:p>
          <a:r>
            <a:rPr lang="en-GB" dirty="0"/>
            <a:t>TFF Regeneration </a:t>
          </a:r>
          <a:r>
            <a:rPr lang="en-GB" b="0" dirty="0"/>
            <a:t>is a process to remove foulants from the membrane without stopping perfusion</a:t>
          </a:r>
          <a:endParaRPr lang="en-US" dirty="0"/>
        </a:p>
      </dgm:t>
    </dgm:pt>
    <dgm:pt modelId="{89237333-2A65-4B8D-B546-D29CA3207BB2}" type="parTrans" cxnId="{A6429B0E-0F1C-41C2-A992-AAA28B47633F}">
      <dgm:prSet/>
      <dgm:spPr/>
      <dgm:t>
        <a:bodyPr/>
        <a:lstStyle/>
        <a:p>
          <a:endParaRPr lang="en-US"/>
        </a:p>
      </dgm:t>
    </dgm:pt>
    <dgm:pt modelId="{7ECF5769-8C9A-4814-AB46-90B7FBD9660C}" type="sibTrans" cxnId="{A6429B0E-0F1C-41C2-A992-AAA28B47633F}">
      <dgm:prSet/>
      <dgm:spPr/>
      <dgm:t>
        <a:bodyPr/>
        <a:lstStyle/>
        <a:p>
          <a:endParaRPr lang="en-US"/>
        </a:p>
      </dgm:t>
    </dgm:pt>
    <dgm:pt modelId="{F7DB8EB7-E1DD-40A3-B24A-DA2145C3AEA7}">
      <dgm:prSet/>
      <dgm:spPr/>
      <dgm:t>
        <a:bodyPr/>
        <a:lstStyle/>
        <a:p>
          <a:r>
            <a:rPr lang="en-GB"/>
            <a:t>TFF Regeneration employs swapping between two sets of TFFs, so that one set is always operating perfusion, while the second set is being cleaned and equilibrated</a:t>
          </a:r>
          <a:endParaRPr lang="en-US"/>
        </a:p>
      </dgm:t>
    </dgm:pt>
    <dgm:pt modelId="{06C8A47F-D630-45D2-9863-A7A1A0FEA7B4}" type="parTrans" cxnId="{15DA90DF-9440-47A6-9344-72D9DBA85140}">
      <dgm:prSet/>
      <dgm:spPr/>
      <dgm:t>
        <a:bodyPr/>
        <a:lstStyle/>
        <a:p>
          <a:endParaRPr lang="en-US"/>
        </a:p>
      </dgm:t>
    </dgm:pt>
    <dgm:pt modelId="{4EAB8EE6-56F2-425D-8712-D2663AC9644C}" type="sibTrans" cxnId="{15DA90DF-9440-47A6-9344-72D9DBA85140}">
      <dgm:prSet/>
      <dgm:spPr/>
      <dgm:t>
        <a:bodyPr/>
        <a:lstStyle/>
        <a:p>
          <a:endParaRPr lang="en-US"/>
        </a:p>
      </dgm:t>
    </dgm:pt>
    <dgm:pt modelId="{8E8AB075-A37A-45DD-B2A8-7444D119D383}">
      <dgm:prSet/>
      <dgm:spPr/>
      <dgm:t>
        <a:bodyPr/>
        <a:lstStyle/>
        <a:p>
          <a:r>
            <a:rPr lang="en-GB" b="0" dirty="0"/>
            <a:t>TFF Regeneration will </a:t>
          </a:r>
          <a:r>
            <a:rPr lang="en-GB" b="1" u="sng" dirty="0"/>
            <a:t>reduce</a:t>
          </a:r>
          <a:r>
            <a:rPr lang="en-GB" b="0" dirty="0"/>
            <a:t> the required filter area and </a:t>
          </a:r>
          <a:r>
            <a:rPr lang="en-GB" b="1" u="sng" dirty="0"/>
            <a:t>improve</a:t>
          </a:r>
          <a:r>
            <a:rPr lang="en-GB" b="0" dirty="0"/>
            <a:t> facility fit design</a:t>
          </a:r>
          <a:endParaRPr lang="en-US" dirty="0"/>
        </a:p>
      </dgm:t>
    </dgm:pt>
    <dgm:pt modelId="{8F2E777D-BD0D-477C-B95E-5D6F231F5996}" type="parTrans" cxnId="{0F115E5D-850E-413B-8A78-959BB26C3E84}">
      <dgm:prSet/>
      <dgm:spPr/>
      <dgm:t>
        <a:bodyPr/>
        <a:lstStyle/>
        <a:p>
          <a:endParaRPr lang="en-US"/>
        </a:p>
      </dgm:t>
    </dgm:pt>
    <dgm:pt modelId="{A0F20259-FDE6-462D-8567-69D78BB027AC}" type="sibTrans" cxnId="{0F115E5D-850E-413B-8A78-959BB26C3E84}">
      <dgm:prSet/>
      <dgm:spPr/>
      <dgm:t>
        <a:bodyPr/>
        <a:lstStyle/>
        <a:p>
          <a:endParaRPr lang="en-US"/>
        </a:p>
      </dgm:t>
    </dgm:pt>
    <dgm:pt modelId="{BCEC2F11-BC53-4B5D-B0B5-B61644D38907}" type="pres">
      <dgm:prSet presAssocID="{A376FB2D-0B52-4A20-92A5-C663345250F3}" presName="linear" presStyleCnt="0">
        <dgm:presLayoutVars>
          <dgm:animLvl val="lvl"/>
          <dgm:resizeHandles val="exact"/>
        </dgm:presLayoutVars>
      </dgm:prSet>
      <dgm:spPr/>
    </dgm:pt>
    <dgm:pt modelId="{BD452821-EACF-4D23-9F03-3883FB1EC9E3}" type="pres">
      <dgm:prSet presAssocID="{06185132-2F2D-493A-9119-8A6FA2D21A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AD172F0-1574-4DC5-87C6-D551AC48E8B9}" type="pres">
      <dgm:prSet presAssocID="{03EF7F1F-C3AC-44C3-BBC2-93E300574688}" presName="spacer" presStyleCnt="0"/>
      <dgm:spPr/>
    </dgm:pt>
    <dgm:pt modelId="{0404C79E-12D9-4EBD-BE0A-8A0E188928FF}" type="pres">
      <dgm:prSet presAssocID="{974D3F32-CB9F-4827-80CD-6CB8837F9A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77E270-7133-4167-89CB-87376AD9C16B}" type="pres">
      <dgm:prSet presAssocID="{A6D498ED-6B45-4244-9814-D7F80855353A}" presName="spacer" presStyleCnt="0"/>
      <dgm:spPr/>
    </dgm:pt>
    <dgm:pt modelId="{CAF3A861-B1E5-497E-AACB-B7AD74A1C562}" type="pres">
      <dgm:prSet presAssocID="{C888A357-32E5-4B0B-983E-62CC1B324F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2210D58-32AC-4C14-BC37-C5134BCB9D3D}" type="pres">
      <dgm:prSet presAssocID="{C888A357-32E5-4B0B-983E-62CC1B324FF6}" presName="childText" presStyleLbl="revTx" presStyleIdx="0" presStyleCnt="1">
        <dgm:presLayoutVars>
          <dgm:bulletEnabled val="1"/>
        </dgm:presLayoutVars>
      </dgm:prSet>
      <dgm:spPr/>
    </dgm:pt>
    <dgm:pt modelId="{18565C0A-F869-4688-85CB-5AEF34B5AB40}" type="pres">
      <dgm:prSet presAssocID="{8E8AB075-A37A-45DD-B2A8-7444D119D3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6429B0E-0F1C-41C2-A992-AAA28B47633F}" srcId="{A376FB2D-0B52-4A20-92A5-C663345250F3}" destId="{C888A357-32E5-4B0B-983E-62CC1B324FF6}" srcOrd="2" destOrd="0" parTransId="{89237333-2A65-4B8D-B546-D29CA3207BB2}" sibTransId="{7ECF5769-8C9A-4814-AB46-90B7FBD9660C}"/>
    <dgm:cxn modelId="{BA4FA71D-AE9A-44C0-A2A3-101622713445}" type="presOf" srcId="{F7DB8EB7-E1DD-40A3-B24A-DA2145C3AEA7}" destId="{D2210D58-32AC-4C14-BC37-C5134BCB9D3D}" srcOrd="0" destOrd="0" presId="urn:microsoft.com/office/officeart/2005/8/layout/vList2"/>
    <dgm:cxn modelId="{A62F3A29-EEDF-4505-BEF1-7AEDB0FA6447}" type="presOf" srcId="{A376FB2D-0B52-4A20-92A5-C663345250F3}" destId="{BCEC2F11-BC53-4B5D-B0B5-B61644D38907}" srcOrd="0" destOrd="0" presId="urn:microsoft.com/office/officeart/2005/8/layout/vList2"/>
    <dgm:cxn modelId="{0F115E5D-850E-413B-8A78-959BB26C3E84}" srcId="{A376FB2D-0B52-4A20-92A5-C663345250F3}" destId="{8E8AB075-A37A-45DD-B2A8-7444D119D383}" srcOrd="3" destOrd="0" parTransId="{8F2E777D-BD0D-477C-B95E-5D6F231F5996}" sibTransId="{A0F20259-FDE6-462D-8567-69D78BB027AC}"/>
    <dgm:cxn modelId="{8710524A-4E5A-4E09-862C-D79E2019A549}" type="presOf" srcId="{06185132-2F2D-493A-9119-8A6FA2D21A16}" destId="{BD452821-EACF-4D23-9F03-3883FB1EC9E3}" srcOrd="0" destOrd="0" presId="urn:microsoft.com/office/officeart/2005/8/layout/vList2"/>
    <dgm:cxn modelId="{88AE718C-B355-417E-BB9D-FFE9C72838D5}" srcId="{A376FB2D-0B52-4A20-92A5-C663345250F3}" destId="{06185132-2F2D-493A-9119-8A6FA2D21A16}" srcOrd="0" destOrd="0" parTransId="{0D1B3556-3634-451A-947F-1289FDC2D89C}" sibTransId="{03EF7F1F-C3AC-44C3-BBC2-93E300574688}"/>
    <dgm:cxn modelId="{D93E3896-EEE7-4F6D-8BD6-A59578615475}" type="presOf" srcId="{8E8AB075-A37A-45DD-B2A8-7444D119D383}" destId="{18565C0A-F869-4688-85CB-5AEF34B5AB40}" srcOrd="0" destOrd="0" presId="urn:microsoft.com/office/officeart/2005/8/layout/vList2"/>
    <dgm:cxn modelId="{0E3A84B3-2850-48E0-A207-500E1266E949}" type="presOf" srcId="{C888A357-32E5-4B0B-983E-62CC1B324FF6}" destId="{CAF3A861-B1E5-497E-AACB-B7AD74A1C562}" srcOrd="0" destOrd="0" presId="urn:microsoft.com/office/officeart/2005/8/layout/vList2"/>
    <dgm:cxn modelId="{68E627B8-9293-48F2-86CE-B5CA6CED728E}" srcId="{A376FB2D-0B52-4A20-92A5-C663345250F3}" destId="{974D3F32-CB9F-4827-80CD-6CB8837F9A22}" srcOrd="1" destOrd="0" parTransId="{063D78FB-A2AE-4442-8B8D-FA29FB9A1833}" sibTransId="{A6D498ED-6B45-4244-9814-D7F80855353A}"/>
    <dgm:cxn modelId="{15DA90DF-9440-47A6-9344-72D9DBA85140}" srcId="{C888A357-32E5-4B0B-983E-62CC1B324FF6}" destId="{F7DB8EB7-E1DD-40A3-B24A-DA2145C3AEA7}" srcOrd="0" destOrd="0" parTransId="{06C8A47F-D630-45D2-9863-A7A1A0FEA7B4}" sibTransId="{4EAB8EE6-56F2-425D-8712-D2663AC9644C}"/>
    <dgm:cxn modelId="{F80077F5-FE6D-48C7-AC45-21BCCF96D379}" type="presOf" srcId="{974D3F32-CB9F-4827-80CD-6CB8837F9A22}" destId="{0404C79E-12D9-4EBD-BE0A-8A0E188928FF}" srcOrd="0" destOrd="0" presId="urn:microsoft.com/office/officeart/2005/8/layout/vList2"/>
    <dgm:cxn modelId="{D689FCDA-82F7-4229-A0F4-55CAD1BB1D4A}" type="presParOf" srcId="{BCEC2F11-BC53-4B5D-B0B5-B61644D38907}" destId="{BD452821-EACF-4D23-9F03-3883FB1EC9E3}" srcOrd="0" destOrd="0" presId="urn:microsoft.com/office/officeart/2005/8/layout/vList2"/>
    <dgm:cxn modelId="{08386BB6-9041-4F41-8287-C73035318491}" type="presParOf" srcId="{BCEC2F11-BC53-4B5D-B0B5-B61644D38907}" destId="{BAD172F0-1574-4DC5-87C6-D551AC48E8B9}" srcOrd="1" destOrd="0" presId="urn:microsoft.com/office/officeart/2005/8/layout/vList2"/>
    <dgm:cxn modelId="{C5860E78-0534-4F9B-BE91-D0BE7C46E8D0}" type="presParOf" srcId="{BCEC2F11-BC53-4B5D-B0B5-B61644D38907}" destId="{0404C79E-12D9-4EBD-BE0A-8A0E188928FF}" srcOrd="2" destOrd="0" presId="urn:microsoft.com/office/officeart/2005/8/layout/vList2"/>
    <dgm:cxn modelId="{193862A8-04A9-4788-9B5D-1DFDE949BF2B}" type="presParOf" srcId="{BCEC2F11-BC53-4B5D-B0B5-B61644D38907}" destId="{D277E270-7133-4167-89CB-87376AD9C16B}" srcOrd="3" destOrd="0" presId="urn:microsoft.com/office/officeart/2005/8/layout/vList2"/>
    <dgm:cxn modelId="{45E61EBC-8633-4712-BAB3-4ECCD0C082B6}" type="presParOf" srcId="{BCEC2F11-BC53-4B5D-B0B5-B61644D38907}" destId="{CAF3A861-B1E5-497E-AACB-B7AD74A1C562}" srcOrd="4" destOrd="0" presId="urn:microsoft.com/office/officeart/2005/8/layout/vList2"/>
    <dgm:cxn modelId="{E7C4CADE-D6A1-4D2D-AF48-62E37BAAB9AA}" type="presParOf" srcId="{BCEC2F11-BC53-4B5D-B0B5-B61644D38907}" destId="{D2210D58-32AC-4C14-BC37-C5134BCB9D3D}" srcOrd="5" destOrd="0" presId="urn:microsoft.com/office/officeart/2005/8/layout/vList2"/>
    <dgm:cxn modelId="{6A09F596-0ECE-4467-9120-CC90F011FD0D}" type="presParOf" srcId="{BCEC2F11-BC53-4B5D-B0B5-B61644D38907}" destId="{18565C0A-F869-4688-85CB-5AEF34B5AB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30769-77BC-47F5-B01C-79C8D921781D}">
      <dsp:nvSpPr>
        <dsp:cNvPr id="0" name=""/>
        <dsp:cNvSpPr/>
      </dsp:nvSpPr>
      <dsp:spPr>
        <a:xfrm>
          <a:off x="0" y="2405"/>
          <a:ext cx="6096000" cy="12191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8229C4-866F-4918-B6A2-25811857B0DB}">
      <dsp:nvSpPr>
        <dsp:cNvPr id="0" name=""/>
        <dsp:cNvSpPr/>
      </dsp:nvSpPr>
      <dsp:spPr>
        <a:xfrm>
          <a:off x="368807" y="276725"/>
          <a:ext cx="670558" cy="670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B4C6C-831D-4D08-B32A-7AD298C8A833}">
      <dsp:nvSpPr>
        <dsp:cNvPr id="0" name=""/>
        <dsp:cNvSpPr/>
      </dsp:nvSpPr>
      <dsp:spPr>
        <a:xfrm>
          <a:off x="1408173" y="2405"/>
          <a:ext cx="4687826" cy="121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032" tIns="129032" rIns="129032" bIns="12903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cap="none" spc="0" dirty="0">
              <a:solidFill>
                <a:schemeClr val="tx1"/>
              </a:solidFill>
            </a:rPr>
            <a:t>Background - IDB platform</a:t>
          </a:r>
          <a:endParaRPr lang="en-US" sz="2200" kern="1200" dirty="0"/>
        </a:p>
      </dsp:txBody>
      <dsp:txXfrm>
        <a:off x="1408173" y="2405"/>
        <a:ext cx="4687826" cy="1219197"/>
      </dsp:txXfrm>
    </dsp:sp>
    <dsp:sp modelId="{F11DBF61-75D3-4E0B-886C-FB599D4E0E2B}">
      <dsp:nvSpPr>
        <dsp:cNvPr id="0" name=""/>
        <dsp:cNvSpPr/>
      </dsp:nvSpPr>
      <dsp:spPr>
        <a:xfrm>
          <a:off x="0" y="1526402"/>
          <a:ext cx="6096000" cy="12191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B1163-F95F-44DD-9418-AB25F8E94F96}">
      <dsp:nvSpPr>
        <dsp:cNvPr id="0" name=""/>
        <dsp:cNvSpPr/>
      </dsp:nvSpPr>
      <dsp:spPr>
        <a:xfrm>
          <a:off x="368807" y="1800722"/>
          <a:ext cx="670558" cy="670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B078F-9CD8-4F1B-86C6-58B66AEAED06}">
      <dsp:nvSpPr>
        <dsp:cNvPr id="0" name=""/>
        <dsp:cNvSpPr/>
      </dsp:nvSpPr>
      <dsp:spPr>
        <a:xfrm>
          <a:off x="1408173" y="1526402"/>
          <a:ext cx="4687826" cy="121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032" tIns="129032" rIns="129032" bIns="12903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cap="none" spc="0" dirty="0">
              <a:solidFill>
                <a:schemeClr val="tx1"/>
              </a:solidFill>
            </a:rPr>
            <a:t>Implementation strategy</a:t>
          </a:r>
          <a:endParaRPr lang="en-US" sz="2200" kern="1200" dirty="0"/>
        </a:p>
      </dsp:txBody>
      <dsp:txXfrm>
        <a:off x="1408173" y="1526402"/>
        <a:ext cx="4687826" cy="1219197"/>
      </dsp:txXfrm>
    </dsp:sp>
    <dsp:sp modelId="{C5655F15-8A2C-4921-9C1D-2D39F09C7122}">
      <dsp:nvSpPr>
        <dsp:cNvPr id="0" name=""/>
        <dsp:cNvSpPr/>
      </dsp:nvSpPr>
      <dsp:spPr>
        <a:xfrm>
          <a:off x="0" y="3050399"/>
          <a:ext cx="6096000" cy="12191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C8E9B-6906-43A6-8ECF-4B66BDB40B15}">
      <dsp:nvSpPr>
        <dsp:cNvPr id="0" name=""/>
        <dsp:cNvSpPr/>
      </dsp:nvSpPr>
      <dsp:spPr>
        <a:xfrm>
          <a:off x="368807" y="3324719"/>
          <a:ext cx="670558" cy="6705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D2534-B033-40F9-BFB3-D36617A7D929}">
      <dsp:nvSpPr>
        <dsp:cNvPr id="0" name=""/>
        <dsp:cNvSpPr/>
      </dsp:nvSpPr>
      <dsp:spPr>
        <a:xfrm>
          <a:off x="1408173" y="3050399"/>
          <a:ext cx="4687826" cy="121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032" tIns="129032" rIns="129032" bIns="12903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cap="none" spc="0" dirty="0">
              <a:solidFill>
                <a:schemeClr val="tx1"/>
              </a:solidFill>
            </a:rPr>
            <a:t>Scale-up and GMP implementation challenges and lessons learned</a:t>
          </a:r>
          <a:endParaRPr lang="en-US" sz="2200" kern="1200" dirty="0"/>
        </a:p>
      </dsp:txBody>
      <dsp:txXfrm>
        <a:off x="1408173" y="3050399"/>
        <a:ext cx="4687826" cy="1219197"/>
      </dsp:txXfrm>
    </dsp:sp>
    <dsp:sp modelId="{75F517E5-D7F1-499E-AF4D-412E1F803298}">
      <dsp:nvSpPr>
        <dsp:cNvPr id="0" name=""/>
        <dsp:cNvSpPr/>
      </dsp:nvSpPr>
      <dsp:spPr>
        <a:xfrm>
          <a:off x="0" y="4574396"/>
          <a:ext cx="6096000" cy="12191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13F31-8C0D-4961-87DA-3E89CBCCCC0B}">
      <dsp:nvSpPr>
        <dsp:cNvPr id="0" name=""/>
        <dsp:cNvSpPr/>
      </dsp:nvSpPr>
      <dsp:spPr>
        <a:xfrm>
          <a:off x="368807" y="4848716"/>
          <a:ext cx="670558" cy="6705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C3A06-487A-426C-B504-ED561B3DA670}">
      <dsp:nvSpPr>
        <dsp:cNvPr id="0" name=""/>
        <dsp:cNvSpPr/>
      </dsp:nvSpPr>
      <dsp:spPr>
        <a:xfrm>
          <a:off x="1408173" y="4574396"/>
          <a:ext cx="4687826" cy="121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032" tIns="129032" rIns="129032" bIns="12903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2200" b="0" kern="1200" cap="none" spc="0">
              <a:solidFill>
                <a:schemeClr val="tx1"/>
              </a:solidFill>
            </a:rPr>
            <a:t>Future direction and a challenge </a:t>
          </a:r>
          <a:br>
            <a:rPr lang="en-US" sz="2200" b="0" kern="1200" cap="none" spc="0">
              <a:solidFill>
                <a:schemeClr val="tx1"/>
              </a:solidFill>
            </a:rPr>
          </a:br>
          <a:r>
            <a:rPr lang="en-US" sz="2200" b="0" kern="1200" cap="none" spc="0">
              <a:solidFill>
                <a:schemeClr val="tx1"/>
              </a:solidFill>
            </a:rPr>
            <a:t>to our industry</a:t>
          </a:r>
          <a:endParaRPr lang="en-US" sz="2200" kern="1200"/>
        </a:p>
      </dsp:txBody>
      <dsp:txXfrm>
        <a:off x="1408173" y="4574396"/>
        <a:ext cx="4687826" cy="1219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14BFB-8A9C-45C7-9B20-AD6BD50A379D}">
      <dsp:nvSpPr>
        <dsp:cNvPr id="0" name=""/>
        <dsp:cNvSpPr/>
      </dsp:nvSpPr>
      <dsp:spPr>
        <a:xfrm>
          <a:off x="0" y="404"/>
          <a:ext cx="10972800" cy="5564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1354C-1E7A-48FE-93B7-C1C125C59EB0}">
      <dsp:nvSpPr>
        <dsp:cNvPr id="0" name=""/>
        <dsp:cNvSpPr/>
      </dsp:nvSpPr>
      <dsp:spPr>
        <a:xfrm>
          <a:off x="168330" y="125608"/>
          <a:ext cx="306055" cy="306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01DFB-FACC-42D1-ACF0-DC6EC28F8AE2}">
      <dsp:nvSpPr>
        <dsp:cNvPr id="0" name=""/>
        <dsp:cNvSpPr/>
      </dsp:nvSpPr>
      <dsp:spPr>
        <a:xfrm>
          <a:off x="642715" y="404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Speed of the pipeline</a:t>
          </a:r>
        </a:p>
      </dsp:txBody>
      <dsp:txXfrm>
        <a:off x="642715" y="404"/>
        <a:ext cx="10330084" cy="556463"/>
      </dsp:txXfrm>
    </dsp:sp>
    <dsp:sp modelId="{2890D04D-9D3D-407F-8AEF-4DE25FA9B3A8}">
      <dsp:nvSpPr>
        <dsp:cNvPr id="0" name=""/>
        <dsp:cNvSpPr/>
      </dsp:nvSpPr>
      <dsp:spPr>
        <a:xfrm>
          <a:off x="0" y="695983"/>
          <a:ext cx="10972800" cy="5564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7AF43-9F73-41F2-A4D4-B22BEA1E22B5}">
      <dsp:nvSpPr>
        <dsp:cNvPr id="0" name=""/>
        <dsp:cNvSpPr/>
      </dsp:nvSpPr>
      <dsp:spPr>
        <a:xfrm>
          <a:off x="168330" y="821188"/>
          <a:ext cx="306055" cy="306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487CB-AC35-4F67-B6B2-5D1A3201888B}">
      <dsp:nvSpPr>
        <dsp:cNvPr id="0" name=""/>
        <dsp:cNvSpPr/>
      </dsp:nvSpPr>
      <dsp:spPr>
        <a:xfrm>
          <a:off x="642715" y="695983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Biopharma and V&amp;I therapeutic areas can be more sensitive to margin than oncology or rare disease areas</a:t>
          </a:r>
        </a:p>
      </dsp:txBody>
      <dsp:txXfrm>
        <a:off x="642715" y="695983"/>
        <a:ext cx="10330084" cy="556463"/>
      </dsp:txXfrm>
    </dsp:sp>
    <dsp:sp modelId="{362DF86A-89D1-4E0F-8499-D9F4DE35E641}">
      <dsp:nvSpPr>
        <dsp:cNvPr id="0" name=""/>
        <dsp:cNvSpPr/>
      </dsp:nvSpPr>
      <dsp:spPr>
        <a:xfrm>
          <a:off x="0" y="1391563"/>
          <a:ext cx="10972800" cy="5564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877D6-B417-4C3E-8802-0BBEFA53016A}">
      <dsp:nvSpPr>
        <dsp:cNvPr id="0" name=""/>
        <dsp:cNvSpPr/>
      </dsp:nvSpPr>
      <dsp:spPr>
        <a:xfrm>
          <a:off x="168330" y="1516767"/>
          <a:ext cx="306055" cy="306055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140A9-0671-4211-81C2-2197936D69BD}">
      <dsp:nvSpPr>
        <dsp:cNvPr id="0" name=""/>
        <dsp:cNvSpPr/>
      </dsp:nvSpPr>
      <dsp:spPr>
        <a:xfrm>
          <a:off x="642715" y="1391563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Diverse product portfolio with wide ranging demand</a:t>
          </a:r>
        </a:p>
      </dsp:txBody>
      <dsp:txXfrm>
        <a:off x="642715" y="1391563"/>
        <a:ext cx="10330084" cy="556463"/>
      </dsp:txXfrm>
    </dsp:sp>
    <dsp:sp modelId="{23B607C8-DCE6-45D0-A44E-D62EC95EDE09}">
      <dsp:nvSpPr>
        <dsp:cNvPr id="0" name=""/>
        <dsp:cNvSpPr/>
      </dsp:nvSpPr>
      <dsp:spPr>
        <a:xfrm>
          <a:off x="0" y="2079224"/>
          <a:ext cx="10972800" cy="5564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DD67C-C91B-425A-B8C9-63EE4AEFB386}">
      <dsp:nvSpPr>
        <dsp:cNvPr id="0" name=""/>
        <dsp:cNvSpPr/>
      </dsp:nvSpPr>
      <dsp:spPr>
        <a:xfrm>
          <a:off x="168330" y="2212347"/>
          <a:ext cx="306055" cy="3060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2A802-D03F-4CF0-BB8F-266EAAD2FED9}">
      <dsp:nvSpPr>
        <dsp:cNvPr id="0" name=""/>
        <dsp:cNvSpPr/>
      </dsp:nvSpPr>
      <dsp:spPr>
        <a:xfrm>
          <a:off x="642715" y="2087143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Limited initial capital</a:t>
          </a:r>
        </a:p>
      </dsp:txBody>
      <dsp:txXfrm>
        <a:off x="642715" y="2087143"/>
        <a:ext cx="10330084" cy="556463"/>
      </dsp:txXfrm>
    </dsp:sp>
    <dsp:sp modelId="{0146E78F-8A29-44B2-8ECD-F4BF79CF813A}">
      <dsp:nvSpPr>
        <dsp:cNvPr id="0" name=""/>
        <dsp:cNvSpPr/>
      </dsp:nvSpPr>
      <dsp:spPr>
        <a:xfrm>
          <a:off x="0" y="2782722"/>
          <a:ext cx="10972800" cy="5564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57B3D-F67C-4E38-9234-0B11998ACAF5}">
      <dsp:nvSpPr>
        <dsp:cNvPr id="0" name=""/>
        <dsp:cNvSpPr/>
      </dsp:nvSpPr>
      <dsp:spPr>
        <a:xfrm>
          <a:off x="168330" y="2907927"/>
          <a:ext cx="306055" cy="3060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CE9BB-67BC-4F8B-A7FD-147EDBED6CB8}">
      <dsp:nvSpPr>
        <dsp:cNvPr id="0" name=""/>
        <dsp:cNvSpPr/>
      </dsp:nvSpPr>
      <dsp:spPr>
        <a:xfrm>
          <a:off x="642715" y="2782722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Plant capacity and CMO capability</a:t>
          </a:r>
        </a:p>
      </dsp:txBody>
      <dsp:txXfrm>
        <a:off x="642715" y="2782722"/>
        <a:ext cx="10330084" cy="556463"/>
      </dsp:txXfrm>
    </dsp:sp>
    <dsp:sp modelId="{88884678-FB35-4F98-9904-177E340AC36E}">
      <dsp:nvSpPr>
        <dsp:cNvPr id="0" name=""/>
        <dsp:cNvSpPr/>
      </dsp:nvSpPr>
      <dsp:spPr>
        <a:xfrm>
          <a:off x="0" y="3478302"/>
          <a:ext cx="10972800" cy="5564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6EE70-0310-4311-8B54-8AEBF9271EDC}">
      <dsp:nvSpPr>
        <dsp:cNvPr id="0" name=""/>
        <dsp:cNvSpPr/>
      </dsp:nvSpPr>
      <dsp:spPr>
        <a:xfrm>
          <a:off x="168330" y="3603506"/>
          <a:ext cx="306055" cy="306055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13FF2-02B6-4D08-B1FE-4C2781BC70F3}">
      <dsp:nvSpPr>
        <dsp:cNvPr id="0" name=""/>
        <dsp:cNvSpPr/>
      </dsp:nvSpPr>
      <dsp:spPr>
        <a:xfrm>
          <a:off x="642715" y="3478302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Product quality (labile molecules)</a:t>
          </a:r>
        </a:p>
      </dsp:txBody>
      <dsp:txXfrm>
        <a:off x="642715" y="3478302"/>
        <a:ext cx="10330084" cy="556463"/>
      </dsp:txXfrm>
    </dsp:sp>
    <dsp:sp modelId="{5266CF54-6768-AE40-BA9C-4D5E7486B67D}">
      <dsp:nvSpPr>
        <dsp:cNvPr id="0" name=""/>
        <dsp:cNvSpPr/>
      </dsp:nvSpPr>
      <dsp:spPr>
        <a:xfrm>
          <a:off x="0" y="4173882"/>
          <a:ext cx="10972800" cy="5564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78DC7-BFE4-364D-B197-507153B8FEAD}">
      <dsp:nvSpPr>
        <dsp:cNvPr id="0" name=""/>
        <dsp:cNvSpPr/>
      </dsp:nvSpPr>
      <dsp:spPr>
        <a:xfrm>
          <a:off x="168330" y="4299086"/>
          <a:ext cx="306055" cy="3060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7BADF-E126-C04B-86C6-6C339E6769C1}">
      <dsp:nvSpPr>
        <dsp:cNvPr id="0" name=""/>
        <dsp:cNvSpPr/>
      </dsp:nvSpPr>
      <dsp:spPr>
        <a:xfrm>
          <a:off x="642715" y="4173882"/>
          <a:ext cx="10330084" cy="556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92" tIns="58892" rIns="58892" bIns="5889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Account for upside and downside risks</a:t>
          </a:r>
        </a:p>
      </dsp:txBody>
      <dsp:txXfrm>
        <a:off x="642715" y="4173882"/>
        <a:ext cx="10330084" cy="5564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52821-EACF-4D23-9F03-3883FB1EC9E3}">
      <dsp:nvSpPr>
        <dsp:cNvPr id="0" name=""/>
        <dsp:cNvSpPr/>
      </dsp:nvSpPr>
      <dsp:spPr>
        <a:xfrm>
          <a:off x="0" y="82530"/>
          <a:ext cx="7545387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The highest cost</a:t>
          </a:r>
          <a:r>
            <a:rPr lang="en-US" sz="2800" b="0" kern="1200" dirty="0"/>
            <a:t> consumables in the IDB process are TFF membranes ​</a:t>
          </a:r>
          <a:endParaRPr lang="en-US" sz="2800" kern="1200" dirty="0"/>
        </a:p>
      </dsp:txBody>
      <dsp:txXfrm>
        <a:off x="54373" y="136903"/>
        <a:ext cx="7436641" cy="1005094"/>
      </dsp:txXfrm>
    </dsp:sp>
    <dsp:sp modelId="{0404C79E-12D9-4EBD-BE0A-8A0E188928FF}">
      <dsp:nvSpPr>
        <dsp:cNvPr id="0" name=""/>
        <dsp:cNvSpPr/>
      </dsp:nvSpPr>
      <dsp:spPr>
        <a:xfrm>
          <a:off x="0" y="1277010"/>
          <a:ext cx="7545387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Directionally, cell culture and titer continue to </a:t>
          </a:r>
          <a:r>
            <a:rPr lang="en-US" sz="2800" b="1" u="sng" kern="1200" dirty="0"/>
            <a:t>increase</a:t>
          </a:r>
          <a:r>
            <a:rPr lang="en-US" sz="2800" b="0" kern="1200" dirty="0"/>
            <a:t> resulting in </a:t>
          </a:r>
          <a:r>
            <a:rPr lang="en-US" sz="2800" b="1" u="sng" kern="1200" dirty="0"/>
            <a:t>greater</a:t>
          </a:r>
          <a:r>
            <a:rPr lang="en-US" sz="2800" b="0" kern="1200" dirty="0"/>
            <a:t> filter area demand</a:t>
          </a:r>
          <a:endParaRPr lang="en-US" sz="2800" kern="1200" dirty="0"/>
        </a:p>
      </dsp:txBody>
      <dsp:txXfrm>
        <a:off x="54373" y="1331383"/>
        <a:ext cx="7436641" cy="1005094"/>
      </dsp:txXfrm>
    </dsp:sp>
    <dsp:sp modelId="{CAF3A861-B1E5-497E-AACB-B7AD74A1C562}">
      <dsp:nvSpPr>
        <dsp:cNvPr id="0" name=""/>
        <dsp:cNvSpPr/>
      </dsp:nvSpPr>
      <dsp:spPr>
        <a:xfrm>
          <a:off x="0" y="2471490"/>
          <a:ext cx="7545387" cy="111384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TFF Regeneration </a:t>
          </a:r>
          <a:r>
            <a:rPr lang="en-GB" sz="2800" b="0" kern="1200" dirty="0"/>
            <a:t>is a process to remove foulants from the membrane without stopping perfusion</a:t>
          </a:r>
          <a:endParaRPr lang="en-US" sz="2800" kern="1200" dirty="0"/>
        </a:p>
      </dsp:txBody>
      <dsp:txXfrm>
        <a:off x="54373" y="2525863"/>
        <a:ext cx="7436641" cy="1005094"/>
      </dsp:txXfrm>
    </dsp:sp>
    <dsp:sp modelId="{D2210D58-32AC-4C14-BC37-C5134BCB9D3D}">
      <dsp:nvSpPr>
        <dsp:cNvPr id="0" name=""/>
        <dsp:cNvSpPr/>
      </dsp:nvSpPr>
      <dsp:spPr>
        <a:xfrm>
          <a:off x="0" y="3585330"/>
          <a:ext cx="7545387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6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TFF Regeneration employs swapping between two sets of TFFs, so that one set is always operating perfusion, while the second set is being cleaned and equilibrated</a:t>
          </a:r>
          <a:endParaRPr lang="en-US" sz="2200" kern="1200"/>
        </a:p>
      </dsp:txBody>
      <dsp:txXfrm>
        <a:off x="0" y="3585330"/>
        <a:ext cx="7545387" cy="1014300"/>
      </dsp:txXfrm>
    </dsp:sp>
    <dsp:sp modelId="{18565C0A-F869-4688-85CB-5AEF34B5AB40}">
      <dsp:nvSpPr>
        <dsp:cNvPr id="0" name=""/>
        <dsp:cNvSpPr/>
      </dsp:nvSpPr>
      <dsp:spPr>
        <a:xfrm>
          <a:off x="0" y="4599630"/>
          <a:ext cx="7545387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kern="1200" dirty="0"/>
            <a:t>TFF Regeneration will </a:t>
          </a:r>
          <a:r>
            <a:rPr lang="en-GB" sz="2800" b="1" u="sng" kern="1200" dirty="0"/>
            <a:t>reduce</a:t>
          </a:r>
          <a:r>
            <a:rPr lang="en-GB" sz="2800" b="0" kern="1200" dirty="0"/>
            <a:t> the required filter area and </a:t>
          </a:r>
          <a:r>
            <a:rPr lang="en-GB" sz="2800" b="1" u="sng" kern="1200" dirty="0"/>
            <a:t>improve</a:t>
          </a:r>
          <a:r>
            <a:rPr lang="en-GB" sz="2800" b="0" kern="1200" dirty="0"/>
            <a:t> facility fit design</a:t>
          </a:r>
          <a:endParaRPr lang="en-US" sz="2800" kern="1200" dirty="0"/>
        </a:p>
      </dsp:txBody>
      <dsp:txXfrm>
        <a:off x="54373" y="4654003"/>
        <a:ext cx="7436641" cy="1005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0.38732</cdr:x>
      <cdr:y>0.432</cdr:y>
    </cdr:from>
    <cdr:to>
      <cdr:x>0.74155</cdr:x>
      <cdr:y>0.5312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F3420CB-F661-7E1F-0F3C-425CB5DAB581}"/>
            </a:ext>
          </a:extLst>
        </cdr:cNvPr>
        <cdr:cNvSpPr txBox="1"/>
      </cdr:nvSpPr>
      <cdr:spPr>
        <a:xfrm xmlns:a="http://schemas.openxmlformats.org/drawingml/2006/main">
          <a:off x="2006923" y="1728883"/>
          <a:ext cx="1835501" cy="39703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1"/>
          </a:solidFill>
        </a:ln>
      </cdr:spPr>
      <cdr:txBody>
        <a:bodyPr xmlns:a="http://schemas.openxmlformats.org/drawingml/2006/main" vertOverflow="clip" wrap="square" rtlCol="0">
          <a:spAutoFit/>
        </a:bodyPr>
        <a:lstStyle xmlns:a="http://schemas.openxmlformats.org/drawingml/2006/main"/>
        <a:p xmlns:a="http://schemas.openxmlformats.org/drawingml/2006/main">
          <a:pPr algn="l">
            <a:lnSpc>
              <a:spcPct val="90000"/>
            </a:lnSpc>
            <a:spcAft>
              <a:spcPts val="600"/>
            </a:spcAft>
          </a:pPr>
          <a:r>
            <a:rPr lang="en-US" sz="1100" dirty="0"/>
            <a:t>Day 5: Increased concentrated media flowrate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97.xml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670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886A5-7439-D44D-8ABD-CE87FEB397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8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019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08038" y="304800"/>
            <a:ext cx="5241925" cy="2949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95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086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Building the plane as you attempt to fly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Scaling protocols from lab to pilot scale often reveals unexpected challenges related to equipment and process dynamics that must be addressed.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
Maintaining process reproducibility while adhering to GMP standards is essential to build confidence for full-scale manufacturing.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84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404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509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626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135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7B18-A2BC-48E1-C77D-CB82A62F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320D8-9561-FDAE-321C-725F13DB1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94D0A-AD19-2293-5134-7CCC668E5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90AE-22D6-6B50-A023-1AE334F89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42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957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147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3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284A-6CF5-701F-4D3D-DCBBFD29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FCC04-ED42-E791-1414-0EA30802C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E3745-12C0-4943-09F9-AC51A382A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2A1D0-724B-2CA8-012B-5F49852AA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1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customXml" Target="../../customXml/item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customXml" Target="../../customXml/item6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6.xml"/><Relationship Id="rId4" Type="http://schemas.openxmlformats.org/officeDocument/2006/relationships/image" Target="../media/image2.sv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9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0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1.xml"/><Relationship Id="rId1" Type="http://schemas.openxmlformats.org/officeDocument/2006/relationships/customXml" Target="../../customXml/item7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6.xml"/><Relationship Id="rId4" Type="http://schemas.openxmlformats.org/officeDocument/2006/relationships/image" Target="../media/image2.sv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9.xml"/><Relationship Id="rId1" Type="http://schemas.openxmlformats.org/officeDocument/2006/relationships/customXml" Target="../../customXml/item8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6.xml"/><Relationship Id="rId1" Type="http://schemas.openxmlformats.org/officeDocument/2006/relationships/customXml" Target="../../customXml/item9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70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7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2.xml"/><Relationship Id="rId1" Type="http://schemas.openxmlformats.org/officeDocument/2006/relationships/customXml" Target="../../customXml/item10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8.xml"/><Relationship Id="rId1" Type="http://schemas.openxmlformats.org/officeDocument/2006/relationships/customXml" Target="../../customXml/item1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80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8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82.xml"/><Relationship Id="rId1" Type="http://schemas.openxmlformats.org/officeDocument/2006/relationships/customXml" Target="../../customXml/item1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0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96.xml"/><Relationship Id="rId1" Type="http://schemas.openxmlformats.org/officeDocument/2006/relationships/customXml" Target="../../customXml/item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18288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4876799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48767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4876799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noFill/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" y="-1"/>
            <a:ext cx="4267200" cy="68580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360000" bIns="14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612570"/>
            <a:ext cx="6095999" cy="1829883"/>
          </a:xfrm>
          <a:prstGeom prst="rect">
            <a:avLst/>
          </a:prstGeom>
          <a:noFill/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86400" y="2093120"/>
            <a:ext cx="1219200" cy="367044"/>
          </a:xfrm>
          <a:prstGeom prst="rect">
            <a:avLst/>
          </a:prstGeom>
          <a:noFill/>
        </p:spPr>
        <p:txBody>
          <a:bodyPr wrap="square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86400" y="4594860"/>
            <a:ext cx="6095999" cy="1604328"/>
          </a:xfrm>
          <a:prstGeom prst="rect">
            <a:avLst/>
          </a:prstGeom>
          <a:noFill/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8FFD6-F80A-6FE7-F2DA-B84894F847B1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EE6A-C1CE-C4DD-14D1-07032B63EED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9329-DEE2-6B5B-9C1F-745C3F42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696F-FE62-7DC6-CF45-AC2C07C7F1E1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9" y="1847640"/>
            <a:ext cx="10363199" cy="3162720"/>
          </a:xfrm>
          <a:prstGeom prst="rect">
            <a:avLst/>
          </a:prstGeom>
          <a:noFill/>
        </p:spPr>
        <p:txBody>
          <a:bodyPr lIns="576000" rIns="576000"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D26F7D8-035B-2F1A-15EB-A70A1725659A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72FF70-061B-854A-B511-EE108BDB1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0C8DA3-851F-55FD-7B74-6FCAE0E03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609600" y="4731068"/>
            <a:ext cx="7924800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remove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b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unlawful. </a:t>
            </a: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AstraZeneca PLC,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 dirty="0">
                <a:solidFill>
                  <a:schemeClr val="tx1"/>
                </a:solidFill>
                <a:latin typeface="+mn-lt"/>
                <a:cs typeface="Arial"/>
              </a:rPr>
              <a:t>Campus,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Cambridge, CB2 0AA, UK</a:t>
            </a:r>
          </a:p>
          <a:p>
            <a:pPr marL="26670" marR="5080">
              <a:lnSpc>
                <a:spcPct val="100000"/>
              </a:lnSpc>
              <a:spcBef>
                <a:spcPts val="20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+44(0)203 749 5000</a:t>
            </a:r>
            <a:b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u="none" spc="10" dirty="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u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54864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58"/>
            <a:ext cx="1828800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pic>
        <p:nvPicPr>
          <p:cNvPr id="5" name="Picture 2" descr="Image result for ASTRAZENECA LOGO">
            <a:extLst>
              <a:ext uri="{FF2B5EF4-FFF2-40B4-BE49-F238E27FC236}">
                <a16:creationId xmlns:a16="http://schemas.microsoft.com/office/drawing/2014/main" id="{05391862-9B15-7D95-620B-0163161D69A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970160-AA31-20E0-0840-74BEF55D3FB8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793324"/>
            <a:ext cx="5486400" cy="2649133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15200" y="0"/>
            <a:ext cx="4878036" cy="6865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0" tIns="72000" rIns="0" bIns="108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5486400" cy="12417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67200" y="427377"/>
            <a:ext cx="243840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 dirty="0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ernati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7924801" y="5989058"/>
            <a:ext cx="1279358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24801" y="6349213"/>
            <a:ext cx="3657600" cy="161583"/>
          </a:xfrm>
        </p:spPr>
        <p:txBody>
          <a:bodyPr wrap="square"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91440" tIns="432000" rIns="91440" bIns="1404000" rtlCol="0"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16A261-40A9-4E3C-8184-C41208C9782A}"/>
              </a:ext>
            </a:extLst>
          </p:cNvPr>
          <p:cNvGrpSpPr/>
          <p:nvPr userDrawn="1"/>
        </p:nvGrpSpPr>
        <p:grpSpPr>
          <a:xfrm>
            <a:off x="9168234" y="436310"/>
            <a:ext cx="2416181" cy="585338"/>
            <a:chOff x="9168234" y="436310"/>
            <a:chExt cx="2416181" cy="58533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B6D089-790C-9B8D-F460-C1567878F945}"/>
                </a:ext>
              </a:extLst>
            </p:cNvPr>
            <p:cNvSpPr/>
            <p:nvPr/>
          </p:nvSpPr>
          <p:spPr>
            <a:xfrm>
              <a:off x="9168234" y="755229"/>
              <a:ext cx="1961045" cy="263764"/>
            </a:xfrm>
            <a:custGeom>
              <a:avLst/>
              <a:gdLst>
                <a:gd name="connsiteX0" fmla="*/ 76969 w 1961045"/>
                <a:gd name="connsiteY0" fmla="*/ 151125 h 263764"/>
                <a:gd name="connsiteX1" fmla="*/ 116775 w 1961045"/>
                <a:gd name="connsiteY1" fmla="*/ 43130 h 263764"/>
                <a:gd name="connsiteX2" fmla="*/ 154620 w 1961045"/>
                <a:gd name="connsiteY2" fmla="*/ 151125 h 263764"/>
                <a:gd name="connsiteX3" fmla="*/ 193232 w 1961045"/>
                <a:gd name="connsiteY3" fmla="*/ 259973 h 263764"/>
                <a:gd name="connsiteX4" fmla="*/ 229714 w 1961045"/>
                <a:gd name="connsiteY4" fmla="*/ 259973 h 263764"/>
                <a:gd name="connsiteX5" fmla="*/ 135101 w 1961045"/>
                <a:gd name="connsiteY5" fmla="*/ 0 h 263764"/>
                <a:gd name="connsiteX6" fmla="*/ 99045 w 1961045"/>
                <a:gd name="connsiteY6" fmla="*/ 0 h 263764"/>
                <a:gd name="connsiteX7" fmla="*/ 0 w 1961045"/>
                <a:gd name="connsiteY7" fmla="*/ 259973 h 263764"/>
                <a:gd name="connsiteX8" fmla="*/ 36822 w 1961045"/>
                <a:gd name="connsiteY8" fmla="*/ 259973 h 263764"/>
                <a:gd name="connsiteX9" fmla="*/ 65888 w 1961045"/>
                <a:gd name="connsiteY9" fmla="*/ 180276 h 263764"/>
                <a:gd name="connsiteX10" fmla="*/ 164933 w 1961045"/>
                <a:gd name="connsiteY10" fmla="*/ 180276 h 263764"/>
                <a:gd name="connsiteX11" fmla="*/ 366263 w 1961045"/>
                <a:gd name="connsiteY11" fmla="*/ 204910 h 263764"/>
                <a:gd name="connsiteX12" fmla="*/ 319724 w 1961045"/>
                <a:gd name="connsiteY12" fmla="*/ 237385 h 263764"/>
                <a:gd name="connsiteX13" fmla="*/ 271309 w 1961045"/>
                <a:gd name="connsiteY13" fmla="*/ 215394 h 263764"/>
                <a:gd name="connsiteX14" fmla="*/ 236192 w 1961045"/>
                <a:gd name="connsiteY14" fmla="*/ 221531 h 263764"/>
                <a:gd name="connsiteX15" fmla="*/ 318275 w 1961045"/>
                <a:gd name="connsiteY15" fmla="*/ 262871 h 263764"/>
                <a:gd name="connsiteX16" fmla="*/ 400955 w 1961045"/>
                <a:gd name="connsiteY16" fmla="*/ 200733 h 263764"/>
                <a:gd name="connsiteX17" fmla="*/ 319383 w 1961045"/>
                <a:gd name="connsiteY17" fmla="*/ 139618 h 263764"/>
                <a:gd name="connsiteX18" fmla="*/ 273525 w 1961045"/>
                <a:gd name="connsiteY18" fmla="*/ 108848 h 263764"/>
                <a:gd name="connsiteX19" fmla="*/ 312479 w 1961045"/>
                <a:gd name="connsiteY19" fmla="*/ 80208 h 263764"/>
                <a:gd name="connsiteX20" fmla="*/ 357398 w 1961045"/>
                <a:gd name="connsiteY20" fmla="*/ 105779 h 263764"/>
                <a:gd name="connsiteX21" fmla="*/ 388169 w 1961045"/>
                <a:gd name="connsiteY21" fmla="*/ 92908 h 263764"/>
                <a:gd name="connsiteX22" fmla="*/ 316314 w 1961045"/>
                <a:gd name="connsiteY22" fmla="*/ 55063 h 263764"/>
                <a:gd name="connsiteX23" fmla="*/ 240283 w 1961045"/>
                <a:gd name="connsiteY23" fmla="*/ 113365 h 263764"/>
                <a:gd name="connsiteX24" fmla="*/ 308984 w 1961045"/>
                <a:gd name="connsiteY24" fmla="*/ 169451 h 263764"/>
                <a:gd name="connsiteX25" fmla="*/ 366263 w 1961045"/>
                <a:gd name="connsiteY25" fmla="*/ 204910 h 263764"/>
                <a:gd name="connsiteX26" fmla="*/ 473747 w 1961045"/>
                <a:gd name="connsiteY26" fmla="*/ 341 h 263764"/>
                <a:gd name="connsiteX27" fmla="*/ 439652 w 1961045"/>
                <a:gd name="connsiteY27" fmla="*/ 14661 h 263764"/>
                <a:gd name="connsiteX28" fmla="*/ 439652 w 1961045"/>
                <a:gd name="connsiteY28" fmla="*/ 62649 h 263764"/>
                <a:gd name="connsiteX29" fmla="*/ 408200 w 1961045"/>
                <a:gd name="connsiteY29" fmla="*/ 62649 h 263764"/>
                <a:gd name="connsiteX30" fmla="*/ 408200 w 1961045"/>
                <a:gd name="connsiteY30" fmla="*/ 90266 h 263764"/>
                <a:gd name="connsiteX31" fmla="*/ 439567 w 1961045"/>
                <a:gd name="connsiteY31" fmla="*/ 90266 h 263764"/>
                <a:gd name="connsiteX32" fmla="*/ 439567 w 1961045"/>
                <a:gd name="connsiteY32" fmla="*/ 216843 h 263764"/>
                <a:gd name="connsiteX33" fmla="*/ 477583 w 1961045"/>
                <a:gd name="connsiteY33" fmla="*/ 261337 h 263764"/>
                <a:gd name="connsiteX34" fmla="*/ 509717 w 1961045"/>
                <a:gd name="connsiteY34" fmla="*/ 258012 h 263764"/>
                <a:gd name="connsiteX35" fmla="*/ 509717 w 1961045"/>
                <a:gd name="connsiteY35" fmla="*/ 230651 h 263764"/>
                <a:gd name="connsiteX36" fmla="*/ 487981 w 1961045"/>
                <a:gd name="connsiteY36" fmla="*/ 235169 h 263764"/>
                <a:gd name="connsiteX37" fmla="*/ 473747 w 1961045"/>
                <a:gd name="connsiteY37" fmla="*/ 201841 h 263764"/>
                <a:gd name="connsiteX38" fmla="*/ 473747 w 1961045"/>
                <a:gd name="connsiteY38" fmla="*/ 89925 h 263764"/>
                <a:gd name="connsiteX39" fmla="*/ 509717 w 1961045"/>
                <a:gd name="connsiteY39" fmla="*/ 89925 h 263764"/>
                <a:gd name="connsiteX40" fmla="*/ 509717 w 1961045"/>
                <a:gd name="connsiteY40" fmla="*/ 62308 h 263764"/>
                <a:gd name="connsiteX41" fmla="*/ 473747 w 1961045"/>
                <a:gd name="connsiteY41" fmla="*/ 62308 h 263764"/>
                <a:gd name="connsiteX42" fmla="*/ 539635 w 1961045"/>
                <a:gd name="connsiteY42" fmla="*/ 62649 h 263764"/>
                <a:gd name="connsiteX43" fmla="*/ 539635 w 1961045"/>
                <a:gd name="connsiteY43" fmla="*/ 259973 h 263764"/>
                <a:gd name="connsiteX44" fmla="*/ 573048 w 1961045"/>
                <a:gd name="connsiteY44" fmla="*/ 259973 h 263764"/>
                <a:gd name="connsiteX45" fmla="*/ 573048 w 1961045"/>
                <a:gd name="connsiteY45" fmla="*/ 168769 h 263764"/>
                <a:gd name="connsiteX46" fmla="*/ 581572 w 1961045"/>
                <a:gd name="connsiteY46" fmla="*/ 117627 h 263764"/>
                <a:gd name="connsiteX47" fmla="*/ 641237 w 1961045"/>
                <a:gd name="connsiteY47" fmla="*/ 93249 h 263764"/>
                <a:gd name="connsiteX48" fmla="*/ 641237 w 1961045"/>
                <a:gd name="connsiteY48" fmla="*/ 59154 h 263764"/>
                <a:gd name="connsiteX49" fmla="*/ 573645 w 1961045"/>
                <a:gd name="connsiteY49" fmla="*/ 97767 h 263764"/>
                <a:gd name="connsiteX50" fmla="*/ 573645 w 1961045"/>
                <a:gd name="connsiteY50" fmla="*/ 62308 h 263764"/>
                <a:gd name="connsiteX51" fmla="*/ 836686 w 1961045"/>
                <a:gd name="connsiteY51" fmla="*/ 426 h 263764"/>
                <a:gd name="connsiteX52" fmla="*/ 836686 w 1961045"/>
                <a:gd name="connsiteY52" fmla="*/ 32390 h 263764"/>
                <a:gd name="connsiteX53" fmla="*/ 984401 w 1961045"/>
                <a:gd name="connsiteY53" fmla="*/ 32390 h 263764"/>
                <a:gd name="connsiteX54" fmla="*/ 836515 w 1961045"/>
                <a:gd name="connsiteY54" fmla="*/ 226219 h 263764"/>
                <a:gd name="connsiteX55" fmla="*/ 836515 w 1961045"/>
                <a:gd name="connsiteY55" fmla="*/ 260314 h 263764"/>
                <a:gd name="connsiteX56" fmla="*/ 1027446 w 1961045"/>
                <a:gd name="connsiteY56" fmla="*/ 260314 h 263764"/>
                <a:gd name="connsiteX57" fmla="*/ 1027446 w 1961045"/>
                <a:gd name="connsiteY57" fmla="*/ 228435 h 263764"/>
                <a:gd name="connsiteX58" fmla="*/ 876662 w 1961045"/>
                <a:gd name="connsiteY58" fmla="*/ 228435 h 263764"/>
                <a:gd name="connsiteX59" fmla="*/ 1023781 w 1961045"/>
                <a:gd name="connsiteY59" fmla="*/ 32390 h 263764"/>
                <a:gd name="connsiteX60" fmla="*/ 1023781 w 1961045"/>
                <a:gd name="connsiteY60" fmla="*/ 0 h 263764"/>
                <a:gd name="connsiteX61" fmla="*/ 1235339 w 1961045"/>
                <a:gd name="connsiteY61" fmla="*/ 62649 h 263764"/>
                <a:gd name="connsiteX62" fmla="*/ 1235339 w 1961045"/>
                <a:gd name="connsiteY62" fmla="*/ 259973 h 263764"/>
                <a:gd name="connsiteX63" fmla="*/ 1268496 w 1961045"/>
                <a:gd name="connsiteY63" fmla="*/ 259973 h 263764"/>
                <a:gd name="connsiteX64" fmla="*/ 1268496 w 1961045"/>
                <a:gd name="connsiteY64" fmla="*/ 147886 h 263764"/>
                <a:gd name="connsiteX65" fmla="*/ 1283157 w 1961045"/>
                <a:gd name="connsiteY65" fmla="*/ 103648 h 263764"/>
                <a:gd name="connsiteX66" fmla="*/ 1320831 w 1961045"/>
                <a:gd name="connsiteY66" fmla="*/ 88646 h 263764"/>
                <a:gd name="connsiteX67" fmla="*/ 1363450 w 1961045"/>
                <a:gd name="connsiteY67" fmla="*/ 115752 h 263764"/>
                <a:gd name="connsiteX68" fmla="*/ 1365581 w 1961045"/>
                <a:gd name="connsiteY68" fmla="*/ 148227 h 263764"/>
                <a:gd name="connsiteX69" fmla="*/ 1365581 w 1961045"/>
                <a:gd name="connsiteY69" fmla="*/ 259973 h 263764"/>
                <a:gd name="connsiteX70" fmla="*/ 1398653 w 1961045"/>
                <a:gd name="connsiteY70" fmla="*/ 259973 h 263764"/>
                <a:gd name="connsiteX71" fmla="*/ 1398653 w 1961045"/>
                <a:gd name="connsiteY71" fmla="*/ 143198 h 263764"/>
                <a:gd name="connsiteX72" fmla="*/ 1395243 w 1961045"/>
                <a:gd name="connsiteY72" fmla="*/ 102711 h 263764"/>
                <a:gd name="connsiteX73" fmla="*/ 1330293 w 1961045"/>
                <a:gd name="connsiteY73" fmla="*/ 57535 h 263764"/>
                <a:gd name="connsiteX74" fmla="*/ 1268496 w 1961045"/>
                <a:gd name="connsiteY74" fmla="*/ 92056 h 263764"/>
                <a:gd name="connsiteX75" fmla="*/ 1268496 w 1961045"/>
                <a:gd name="connsiteY75" fmla="*/ 62308 h 263764"/>
                <a:gd name="connsiteX76" fmla="*/ 1750426 w 1961045"/>
                <a:gd name="connsiteY76" fmla="*/ 212496 h 263764"/>
                <a:gd name="connsiteX77" fmla="*/ 1704824 w 1961045"/>
                <a:gd name="connsiteY77" fmla="*/ 238067 h 263764"/>
                <a:gd name="connsiteX78" fmla="*/ 1645158 w 1961045"/>
                <a:gd name="connsiteY78" fmla="*/ 158882 h 263764"/>
                <a:gd name="connsiteX79" fmla="*/ 1702863 w 1961045"/>
                <a:gd name="connsiteY79" fmla="*/ 79185 h 263764"/>
                <a:gd name="connsiteX80" fmla="*/ 1748891 w 1961045"/>
                <a:gd name="connsiteY80" fmla="*/ 107143 h 263764"/>
                <a:gd name="connsiteX81" fmla="*/ 1780003 w 1961045"/>
                <a:gd name="connsiteY81" fmla="*/ 94187 h 263764"/>
                <a:gd name="connsiteX82" fmla="*/ 1701670 w 1961045"/>
                <a:gd name="connsiteY82" fmla="*/ 54807 h 263764"/>
                <a:gd name="connsiteX83" fmla="*/ 1607909 w 1961045"/>
                <a:gd name="connsiteY83" fmla="*/ 161354 h 263764"/>
                <a:gd name="connsiteX84" fmla="*/ 1704057 w 1961045"/>
                <a:gd name="connsiteY84" fmla="*/ 263638 h 263764"/>
                <a:gd name="connsiteX85" fmla="*/ 1779406 w 1961045"/>
                <a:gd name="connsiteY85" fmla="*/ 224685 h 263764"/>
                <a:gd name="connsiteX86" fmla="*/ 1075179 w 1961045"/>
                <a:gd name="connsiteY86" fmla="*/ 140641 h 263764"/>
                <a:gd name="connsiteX87" fmla="*/ 1179935 w 1961045"/>
                <a:gd name="connsiteY87" fmla="*/ 140641 h 263764"/>
                <a:gd name="connsiteX88" fmla="*/ 1127344 w 1961045"/>
                <a:gd name="connsiteY88" fmla="*/ 80208 h 263764"/>
                <a:gd name="connsiteX89" fmla="*/ 1075179 w 1961045"/>
                <a:gd name="connsiteY89" fmla="*/ 140641 h 263764"/>
                <a:gd name="connsiteX90" fmla="*/ 1207211 w 1961045"/>
                <a:gd name="connsiteY90" fmla="*/ 222128 h 263764"/>
                <a:gd name="connsiteX91" fmla="*/ 1131094 w 1961045"/>
                <a:gd name="connsiteY91" fmla="*/ 263382 h 263764"/>
                <a:gd name="connsiteX92" fmla="*/ 1039123 w 1961045"/>
                <a:gd name="connsiteY92" fmla="*/ 157348 h 263764"/>
                <a:gd name="connsiteX93" fmla="*/ 1129816 w 1961045"/>
                <a:gd name="connsiteY93" fmla="*/ 55063 h 263764"/>
                <a:gd name="connsiteX94" fmla="*/ 1212495 w 1961045"/>
                <a:gd name="connsiteY94" fmla="*/ 124702 h 263764"/>
                <a:gd name="connsiteX95" fmla="*/ 1216246 w 1961045"/>
                <a:gd name="connsiteY95" fmla="*/ 164763 h 263764"/>
                <a:gd name="connsiteX96" fmla="*/ 1074326 w 1961045"/>
                <a:gd name="connsiteY96" fmla="*/ 164763 h 263764"/>
                <a:gd name="connsiteX97" fmla="*/ 1133992 w 1961045"/>
                <a:gd name="connsiteY97" fmla="*/ 238749 h 263764"/>
                <a:gd name="connsiteX98" fmla="*/ 1174991 w 1961045"/>
                <a:gd name="connsiteY98" fmla="*/ 216246 h 263764"/>
                <a:gd name="connsiteX99" fmla="*/ 1452182 w 1961045"/>
                <a:gd name="connsiteY99" fmla="*/ 140641 h 263764"/>
                <a:gd name="connsiteX100" fmla="*/ 1556938 w 1961045"/>
                <a:gd name="connsiteY100" fmla="*/ 140641 h 263764"/>
                <a:gd name="connsiteX101" fmla="*/ 1504347 w 1961045"/>
                <a:gd name="connsiteY101" fmla="*/ 80208 h 263764"/>
                <a:gd name="connsiteX102" fmla="*/ 1452182 w 1961045"/>
                <a:gd name="connsiteY102" fmla="*/ 140641 h 263764"/>
                <a:gd name="connsiteX103" fmla="*/ 1584214 w 1961045"/>
                <a:gd name="connsiteY103" fmla="*/ 222128 h 263764"/>
                <a:gd name="connsiteX104" fmla="*/ 1508097 w 1961045"/>
                <a:gd name="connsiteY104" fmla="*/ 263382 h 263764"/>
                <a:gd name="connsiteX105" fmla="*/ 1416212 w 1961045"/>
                <a:gd name="connsiteY105" fmla="*/ 157348 h 263764"/>
                <a:gd name="connsiteX106" fmla="*/ 1506818 w 1961045"/>
                <a:gd name="connsiteY106" fmla="*/ 55063 h 263764"/>
                <a:gd name="connsiteX107" fmla="*/ 1589498 w 1961045"/>
                <a:gd name="connsiteY107" fmla="*/ 124702 h 263764"/>
                <a:gd name="connsiteX108" fmla="*/ 1593249 w 1961045"/>
                <a:gd name="connsiteY108" fmla="*/ 164763 h 263764"/>
                <a:gd name="connsiteX109" fmla="*/ 1450988 w 1961045"/>
                <a:gd name="connsiteY109" fmla="*/ 164763 h 263764"/>
                <a:gd name="connsiteX110" fmla="*/ 1510654 w 1961045"/>
                <a:gd name="connsiteY110" fmla="*/ 238749 h 263764"/>
                <a:gd name="connsiteX111" fmla="*/ 1551653 w 1961045"/>
                <a:gd name="connsiteY111" fmla="*/ 216246 h 263764"/>
                <a:gd name="connsiteX112" fmla="*/ 1961046 w 1961045"/>
                <a:gd name="connsiteY112" fmla="*/ 259973 h 263764"/>
                <a:gd name="connsiteX113" fmla="*/ 1926525 w 1961045"/>
                <a:gd name="connsiteY113" fmla="*/ 259973 h 263764"/>
                <a:gd name="connsiteX114" fmla="*/ 1922604 w 1961045"/>
                <a:gd name="connsiteY114" fmla="*/ 230822 h 263764"/>
                <a:gd name="connsiteX115" fmla="*/ 1856460 w 1961045"/>
                <a:gd name="connsiteY115" fmla="*/ 262530 h 263764"/>
                <a:gd name="connsiteX116" fmla="*/ 1789549 w 1961045"/>
                <a:gd name="connsiteY116" fmla="*/ 206444 h 263764"/>
                <a:gd name="connsiteX117" fmla="*/ 1798073 w 1961045"/>
                <a:gd name="connsiteY117" fmla="*/ 176696 h 263764"/>
                <a:gd name="connsiteX118" fmla="*/ 1889106 w 1961045"/>
                <a:gd name="connsiteY118" fmla="*/ 142005 h 263764"/>
                <a:gd name="connsiteX119" fmla="*/ 1920388 w 1961045"/>
                <a:gd name="connsiteY119" fmla="*/ 139533 h 263764"/>
                <a:gd name="connsiteX120" fmla="*/ 1920388 w 1961045"/>
                <a:gd name="connsiteY120" fmla="*/ 134675 h 263764"/>
                <a:gd name="connsiteX121" fmla="*/ 1876320 w 1961045"/>
                <a:gd name="connsiteY121" fmla="*/ 79952 h 263764"/>
                <a:gd name="connsiteX122" fmla="*/ 1836003 w 1961045"/>
                <a:gd name="connsiteY122" fmla="*/ 105523 h 263764"/>
                <a:gd name="connsiteX123" fmla="*/ 1805489 w 1961045"/>
                <a:gd name="connsiteY123" fmla="*/ 92738 h 263764"/>
                <a:gd name="connsiteX124" fmla="*/ 1807023 w 1961045"/>
                <a:gd name="connsiteY124" fmla="*/ 89499 h 263764"/>
                <a:gd name="connsiteX125" fmla="*/ 1875212 w 1961045"/>
                <a:gd name="connsiteY125" fmla="*/ 54466 h 263764"/>
                <a:gd name="connsiteX126" fmla="*/ 1932662 w 1961045"/>
                <a:gd name="connsiteY126" fmla="*/ 71514 h 263764"/>
                <a:gd name="connsiteX127" fmla="*/ 1954142 w 1961045"/>
                <a:gd name="connsiteY127" fmla="*/ 121037 h 263764"/>
                <a:gd name="connsiteX128" fmla="*/ 1955506 w 1961045"/>
                <a:gd name="connsiteY128" fmla="*/ 222383 h 263764"/>
                <a:gd name="connsiteX129" fmla="*/ 1961046 w 1961045"/>
                <a:gd name="connsiteY129" fmla="*/ 259973 h 263764"/>
                <a:gd name="connsiteX130" fmla="*/ 1915700 w 1961045"/>
                <a:gd name="connsiteY130" fmla="*/ 205506 h 263764"/>
                <a:gd name="connsiteX131" fmla="*/ 1921070 w 1961045"/>
                <a:gd name="connsiteY131" fmla="*/ 161183 h 263764"/>
                <a:gd name="connsiteX132" fmla="*/ 1869331 w 1961045"/>
                <a:gd name="connsiteY132" fmla="*/ 170389 h 263764"/>
                <a:gd name="connsiteX133" fmla="*/ 1826713 w 1961045"/>
                <a:gd name="connsiteY133" fmla="*/ 205933 h 263764"/>
                <a:gd name="connsiteX134" fmla="*/ 1863791 w 1961045"/>
                <a:gd name="connsiteY134" fmla="*/ 235169 h 263764"/>
                <a:gd name="connsiteX135" fmla="*/ 1915700 w 1961045"/>
                <a:gd name="connsiteY135" fmla="*/ 205506 h 263764"/>
                <a:gd name="connsiteX136" fmla="*/ 813160 w 1961045"/>
                <a:gd name="connsiteY136" fmla="*/ 259973 h 263764"/>
                <a:gd name="connsiteX137" fmla="*/ 779066 w 1961045"/>
                <a:gd name="connsiteY137" fmla="*/ 259973 h 263764"/>
                <a:gd name="connsiteX138" fmla="*/ 775145 w 1961045"/>
                <a:gd name="connsiteY138" fmla="*/ 230822 h 263764"/>
                <a:gd name="connsiteX139" fmla="*/ 708575 w 1961045"/>
                <a:gd name="connsiteY139" fmla="*/ 262530 h 263764"/>
                <a:gd name="connsiteX140" fmla="*/ 641664 w 1961045"/>
                <a:gd name="connsiteY140" fmla="*/ 206444 h 263764"/>
                <a:gd name="connsiteX141" fmla="*/ 650187 w 1961045"/>
                <a:gd name="connsiteY141" fmla="*/ 176696 h 263764"/>
                <a:gd name="connsiteX142" fmla="*/ 741306 w 1961045"/>
                <a:gd name="connsiteY142" fmla="*/ 142005 h 263764"/>
                <a:gd name="connsiteX143" fmla="*/ 772502 w 1961045"/>
                <a:gd name="connsiteY143" fmla="*/ 139533 h 263764"/>
                <a:gd name="connsiteX144" fmla="*/ 772502 w 1961045"/>
                <a:gd name="connsiteY144" fmla="*/ 134675 h 263764"/>
                <a:gd name="connsiteX145" fmla="*/ 728435 w 1961045"/>
                <a:gd name="connsiteY145" fmla="*/ 79952 h 263764"/>
                <a:gd name="connsiteX146" fmla="*/ 688032 w 1961045"/>
                <a:gd name="connsiteY146" fmla="*/ 105523 h 263764"/>
                <a:gd name="connsiteX147" fmla="*/ 657518 w 1961045"/>
                <a:gd name="connsiteY147" fmla="*/ 92738 h 263764"/>
                <a:gd name="connsiteX148" fmla="*/ 659137 w 1961045"/>
                <a:gd name="connsiteY148" fmla="*/ 89499 h 263764"/>
                <a:gd name="connsiteX149" fmla="*/ 727327 w 1961045"/>
                <a:gd name="connsiteY149" fmla="*/ 54466 h 263764"/>
                <a:gd name="connsiteX150" fmla="*/ 784776 w 1961045"/>
                <a:gd name="connsiteY150" fmla="*/ 71514 h 263764"/>
                <a:gd name="connsiteX151" fmla="*/ 806256 w 1961045"/>
                <a:gd name="connsiteY151" fmla="*/ 121037 h 263764"/>
                <a:gd name="connsiteX152" fmla="*/ 807535 w 1961045"/>
                <a:gd name="connsiteY152" fmla="*/ 222383 h 263764"/>
                <a:gd name="connsiteX153" fmla="*/ 813160 w 1961045"/>
                <a:gd name="connsiteY153" fmla="*/ 259973 h 263764"/>
                <a:gd name="connsiteX154" fmla="*/ 767814 w 1961045"/>
                <a:gd name="connsiteY154" fmla="*/ 205506 h 263764"/>
                <a:gd name="connsiteX155" fmla="*/ 773184 w 1961045"/>
                <a:gd name="connsiteY155" fmla="*/ 161183 h 263764"/>
                <a:gd name="connsiteX156" fmla="*/ 721531 w 1961045"/>
                <a:gd name="connsiteY156" fmla="*/ 170389 h 263764"/>
                <a:gd name="connsiteX157" fmla="*/ 678912 w 1961045"/>
                <a:gd name="connsiteY157" fmla="*/ 205933 h 263764"/>
                <a:gd name="connsiteX158" fmla="*/ 716075 w 1961045"/>
                <a:gd name="connsiteY158" fmla="*/ 235169 h 263764"/>
                <a:gd name="connsiteX159" fmla="*/ 767814 w 1961045"/>
                <a:gd name="connsiteY159" fmla="*/ 205506 h 26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961045" h="263764">
                  <a:moveTo>
                    <a:pt x="76969" y="151125"/>
                  </a:moveTo>
                  <a:lnTo>
                    <a:pt x="116775" y="43130"/>
                  </a:lnTo>
                  <a:lnTo>
                    <a:pt x="154620" y="151125"/>
                  </a:lnTo>
                  <a:close/>
                  <a:moveTo>
                    <a:pt x="193232" y="259973"/>
                  </a:moveTo>
                  <a:lnTo>
                    <a:pt x="229714" y="259973"/>
                  </a:lnTo>
                  <a:lnTo>
                    <a:pt x="135101" y="0"/>
                  </a:lnTo>
                  <a:lnTo>
                    <a:pt x="99045" y="0"/>
                  </a:lnTo>
                  <a:lnTo>
                    <a:pt x="0" y="259973"/>
                  </a:lnTo>
                  <a:lnTo>
                    <a:pt x="36822" y="259973"/>
                  </a:lnTo>
                  <a:lnTo>
                    <a:pt x="65888" y="180276"/>
                  </a:lnTo>
                  <a:lnTo>
                    <a:pt x="164933" y="180276"/>
                  </a:lnTo>
                  <a:close/>
                  <a:moveTo>
                    <a:pt x="366263" y="204910"/>
                  </a:moveTo>
                  <a:cubicBezTo>
                    <a:pt x="366263" y="226134"/>
                    <a:pt x="349216" y="237385"/>
                    <a:pt x="319724" y="237385"/>
                  </a:cubicBezTo>
                  <a:cubicBezTo>
                    <a:pt x="296028" y="237385"/>
                    <a:pt x="280089" y="230737"/>
                    <a:pt x="271309" y="215394"/>
                  </a:cubicBezTo>
                  <a:lnTo>
                    <a:pt x="236192" y="221531"/>
                  </a:lnTo>
                  <a:cubicBezTo>
                    <a:pt x="249829" y="249489"/>
                    <a:pt x="278299" y="262871"/>
                    <a:pt x="318275" y="262871"/>
                  </a:cubicBezTo>
                  <a:cubicBezTo>
                    <a:pt x="372656" y="262871"/>
                    <a:pt x="400955" y="232782"/>
                    <a:pt x="400955" y="200733"/>
                  </a:cubicBezTo>
                  <a:cubicBezTo>
                    <a:pt x="400955" y="159564"/>
                    <a:pt x="363024" y="148398"/>
                    <a:pt x="319383" y="139618"/>
                  </a:cubicBezTo>
                  <a:cubicBezTo>
                    <a:pt x="298244" y="135356"/>
                    <a:pt x="273525" y="127600"/>
                    <a:pt x="273525" y="108848"/>
                  </a:cubicBezTo>
                  <a:cubicBezTo>
                    <a:pt x="273525" y="95551"/>
                    <a:pt x="286481" y="80208"/>
                    <a:pt x="312479" y="80208"/>
                  </a:cubicBezTo>
                  <a:cubicBezTo>
                    <a:pt x="331060" y="79641"/>
                    <a:pt x="348399" y="89512"/>
                    <a:pt x="357398" y="105779"/>
                  </a:cubicBezTo>
                  <a:lnTo>
                    <a:pt x="388169" y="92908"/>
                  </a:lnTo>
                  <a:cubicBezTo>
                    <a:pt x="374105" y="66059"/>
                    <a:pt x="345551" y="55063"/>
                    <a:pt x="316314" y="55063"/>
                  </a:cubicBezTo>
                  <a:cubicBezTo>
                    <a:pt x="270627" y="55063"/>
                    <a:pt x="240283" y="77566"/>
                    <a:pt x="240283" y="113365"/>
                  </a:cubicBezTo>
                  <a:cubicBezTo>
                    <a:pt x="240283" y="154109"/>
                    <a:pt x="275230" y="162121"/>
                    <a:pt x="308984" y="169451"/>
                  </a:cubicBezTo>
                  <a:cubicBezTo>
                    <a:pt x="338135" y="175333"/>
                    <a:pt x="366263" y="182492"/>
                    <a:pt x="366263" y="204910"/>
                  </a:cubicBezTo>
                  <a:close/>
                  <a:moveTo>
                    <a:pt x="473747" y="341"/>
                  </a:moveTo>
                  <a:lnTo>
                    <a:pt x="439652" y="14661"/>
                  </a:lnTo>
                  <a:lnTo>
                    <a:pt x="439652" y="62649"/>
                  </a:lnTo>
                  <a:lnTo>
                    <a:pt x="408200" y="62649"/>
                  </a:lnTo>
                  <a:lnTo>
                    <a:pt x="408200" y="90266"/>
                  </a:lnTo>
                  <a:lnTo>
                    <a:pt x="439567" y="90266"/>
                  </a:lnTo>
                  <a:lnTo>
                    <a:pt x="439567" y="216843"/>
                  </a:lnTo>
                  <a:cubicBezTo>
                    <a:pt x="439141" y="242414"/>
                    <a:pt x="439141" y="261337"/>
                    <a:pt x="477583" y="261337"/>
                  </a:cubicBezTo>
                  <a:cubicBezTo>
                    <a:pt x="488357" y="260967"/>
                    <a:pt x="499095" y="259856"/>
                    <a:pt x="509717" y="258012"/>
                  </a:cubicBezTo>
                  <a:lnTo>
                    <a:pt x="509717" y="230651"/>
                  </a:lnTo>
                  <a:cubicBezTo>
                    <a:pt x="502698" y="233090"/>
                    <a:pt x="495391" y="234608"/>
                    <a:pt x="487981" y="235169"/>
                  </a:cubicBezTo>
                  <a:cubicBezTo>
                    <a:pt x="473747" y="235169"/>
                    <a:pt x="473747" y="225196"/>
                    <a:pt x="473747" y="201841"/>
                  </a:cubicBezTo>
                  <a:lnTo>
                    <a:pt x="473747" y="89925"/>
                  </a:lnTo>
                  <a:lnTo>
                    <a:pt x="509717" y="89925"/>
                  </a:lnTo>
                  <a:lnTo>
                    <a:pt x="509717" y="62308"/>
                  </a:lnTo>
                  <a:lnTo>
                    <a:pt x="473747" y="62308"/>
                  </a:lnTo>
                  <a:close/>
                  <a:moveTo>
                    <a:pt x="539635" y="62649"/>
                  </a:moveTo>
                  <a:lnTo>
                    <a:pt x="539635" y="259973"/>
                  </a:lnTo>
                  <a:lnTo>
                    <a:pt x="573048" y="259973"/>
                  </a:lnTo>
                  <a:lnTo>
                    <a:pt x="573048" y="168769"/>
                  </a:lnTo>
                  <a:cubicBezTo>
                    <a:pt x="573048" y="151722"/>
                    <a:pt x="573048" y="131691"/>
                    <a:pt x="581572" y="117627"/>
                  </a:cubicBezTo>
                  <a:cubicBezTo>
                    <a:pt x="592311" y="100580"/>
                    <a:pt x="608336" y="93505"/>
                    <a:pt x="641237" y="93249"/>
                  </a:cubicBezTo>
                  <a:lnTo>
                    <a:pt x="641237" y="59154"/>
                  </a:lnTo>
                  <a:cubicBezTo>
                    <a:pt x="627940" y="59154"/>
                    <a:pt x="592482" y="60433"/>
                    <a:pt x="573645" y="97767"/>
                  </a:cubicBezTo>
                  <a:lnTo>
                    <a:pt x="573645" y="62308"/>
                  </a:lnTo>
                  <a:close/>
                  <a:moveTo>
                    <a:pt x="836686" y="426"/>
                  </a:moveTo>
                  <a:lnTo>
                    <a:pt x="836686" y="32390"/>
                  </a:lnTo>
                  <a:lnTo>
                    <a:pt x="984401" y="32390"/>
                  </a:lnTo>
                  <a:lnTo>
                    <a:pt x="836515" y="226219"/>
                  </a:lnTo>
                  <a:lnTo>
                    <a:pt x="836515" y="260314"/>
                  </a:lnTo>
                  <a:lnTo>
                    <a:pt x="1027446" y="260314"/>
                  </a:lnTo>
                  <a:lnTo>
                    <a:pt x="1027446" y="228435"/>
                  </a:lnTo>
                  <a:lnTo>
                    <a:pt x="876662" y="228435"/>
                  </a:lnTo>
                  <a:lnTo>
                    <a:pt x="1023781" y="32390"/>
                  </a:lnTo>
                  <a:lnTo>
                    <a:pt x="1023781" y="0"/>
                  </a:lnTo>
                  <a:close/>
                  <a:moveTo>
                    <a:pt x="1235339" y="62649"/>
                  </a:moveTo>
                  <a:lnTo>
                    <a:pt x="1235339" y="259973"/>
                  </a:lnTo>
                  <a:lnTo>
                    <a:pt x="1268496" y="259973"/>
                  </a:lnTo>
                  <a:lnTo>
                    <a:pt x="1268496" y="147886"/>
                  </a:lnTo>
                  <a:cubicBezTo>
                    <a:pt x="1268496" y="133225"/>
                    <a:pt x="1268496" y="118224"/>
                    <a:pt x="1283157" y="103648"/>
                  </a:cubicBezTo>
                  <a:cubicBezTo>
                    <a:pt x="1293112" y="93670"/>
                    <a:pt x="1306742" y="88242"/>
                    <a:pt x="1320831" y="88646"/>
                  </a:cubicBezTo>
                  <a:cubicBezTo>
                    <a:pt x="1338902" y="88646"/>
                    <a:pt x="1357398" y="97170"/>
                    <a:pt x="1363450" y="115752"/>
                  </a:cubicBezTo>
                  <a:cubicBezTo>
                    <a:pt x="1365802" y="126406"/>
                    <a:pt x="1366527" y="137357"/>
                    <a:pt x="1365581" y="148227"/>
                  </a:cubicBezTo>
                  <a:lnTo>
                    <a:pt x="1365581" y="259973"/>
                  </a:lnTo>
                  <a:lnTo>
                    <a:pt x="1398653" y="259973"/>
                  </a:lnTo>
                  <a:lnTo>
                    <a:pt x="1398653" y="143198"/>
                  </a:lnTo>
                  <a:cubicBezTo>
                    <a:pt x="1399437" y="129609"/>
                    <a:pt x="1398295" y="115977"/>
                    <a:pt x="1395243" y="102711"/>
                  </a:cubicBezTo>
                  <a:cubicBezTo>
                    <a:pt x="1386293" y="74701"/>
                    <a:pt x="1359665" y="56179"/>
                    <a:pt x="1330293" y="57535"/>
                  </a:cubicBezTo>
                  <a:cubicBezTo>
                    <a:pt x="1304943" y="56916"/>
                    <a:pt x="1281264" y="70144"/>
                    <a:pt x="1268496" y="92056"/>
                  </a:cubicBezTo>
                  <a:lnTo>
                    <a:pt x="1268496" y="62308"/>
                  </a:lnTo>
                  <a:close/>
                  <a:moveTo>
                    <a:pt x="1750426" y="212496"/>
                  </a:moveTo>
                  <a:cubicBezTo>
                    <a:pt x="1741851" y="229508"/>
                    <a:pt x="1723815" y="239621"/>
                    <a:pt x="1704824" y="238067"/>
                  </a:cubicBezTo>
                  <a:cubicBezTo>
                    <a:pt x="1682492" y="238067"/>
                    <a:pt x="1645158" y="224003"/>
                    <a:pt x="1645158" y="158882"/>
                  </a:cubicBezTo>
                  <a:cubicBezTo>
                    <a:pt x="1645158" y="141323"/>
                    <a:pt x="1648312" y="79185"/>
                    <a:pt x="1702863" y="79185"/>
                  </a:cubicBezTo>
                  <a:cubicBezTo>
                    <a:pt x="1722587" y="77780"/>
                    <a:pt x="1741049" y="88992"/>
                    <a:pt x="1748891" y="107143"/>
                  </a:cubicBezTo>
                  <a:lnTo>
                    <a:pt x="1780003" y="94187"/>
                  </a:lnTo>
                  <a:cubicBezTo>
                    <a:pt x="1760825" y="62308"/>
                    <a:pt x="1726304" y="54807"/>
                    <a:pt x="1701670" y="54807"/>
                  </a:cubicBezTo>
                  <a:cubicBezTo>
                    <a:pt x="1638680" y="54807"/>
                    <a:pt x="1607909" y="105438"/>
                    <a:pt x="1607909" y="161354"/>
                  </a:cubicBezTo>
                  <a:cubicBezTo>
                    <a:pt x="1607909" y="209683"/>
                    <a:pt x="1634248" y="263638"/>
                    <a:pt x="1704057" y="263638"/>
                  </a:cubicBezTo>
                  <a:cubicBezTo>
                    <a:pt x="1734384" y="265302"/>
                    <a:pt x="1763228" y="250391"/>
                    <a:pt x="1779406" y="224685"/>
                  </a:cubicBezTo>
                  <a:close/>
                  <a:moveTo>
                    <a:pt x="1075179" y="140641"/>
                  </a:moveTo>
                  <a:lnTo>
                    <a:pt x="1179935" y="140641"/>
                  </a:lnTo>
                  <a:cubicBezTo>
                    <a:pt x="1176952" y="88902"/>
                    <a:pt x="1147204" y="80208"/>
                    <a:pt x="1127344" y="80208"/>
                  </a:cubicBezTo>
                  <a:cubicBezTo>
                    <a:pt x="1098960" y="80208"/>
                    <a:pt x="1078844" y="101006"/>
                    <a:pt x="1075179" y="140641"/>
                  </a:cubicBezTo>
                  <a:close/>
                  <a:moveTo>
                    <a:pt x="1207211" y="222128"/>
                  </a:moveTo>
                  <a:cubicBezTo>
                    <a:pt x="1195874" y="241391"/>
                    <a:pt x="1174139" y="263382"/>
                    <a:pt x="1131094" y="263382"/>
                  </a:cubicBezTo>
                  <a:cubicBezTo>
                    <a:pt x="1072707" y="263382"/>
                    <a:pt x="1039123" y="223747"/>
                    <a:pt x="1039123" y="157348"/>
                  </a:cubicBezTo>
                  <a:cubicBezTo>
                    <a:pt x="1039123" y="83106"/>
                    <a:pt x="1088135" y="55063"/>
                    <a:pt x="1129816" y="55063"/>
                  </a:cubicBezTo>
                  <a:cubicBezTo>
                    <a:pt x="1166041" y="55063"/>
                    <a:pt x="1200818" y="75094"/>
                    <a:pt x="1212495" y="124702"/>
                  </a:cubicBezTo>
                  <a:cubicBezTo>
                    <a:pt x="1215249" y="137872"/>
                    <a:pt x="1216510" y="151311"/>
                    <a:pt x="1216246" y="164763"/>
                  </a:cubicBezTo>
                  <a:lnTo>
                    <a:pt x="1074326" y="164763"/>
                  </a:lnTo>
                  <a:cubicBezTo>
                    <a:pt x="1073474" y="197750"/>
                    <a:pt x="1087282" y="239516"/>
                    <a:pt x="1133992" y="238749"/>
                  </a:cubicBezTo>
                  <a:cubicBezTo>
                    <a:pt x="1150690" y="239087"/>
                    <a:pt x="1166305" y="230515"/>
                    <a:pt x="1174991" y="216246"/>
                  </a:cubicBezTo>
                  <a:close/>
                  <a:moveTo>
                    <a:pt x="1452182" y="140641"/>
                  </a:moveTo>
                  <a:lnTo>
                    <a:pt x="1556938" y="140641"/>
                  </a:lnTo>
                  <a:cubicBezTo>
                    <a:pt x="1554040" y="88902"/>
                    <a:pt x="1524207" y="80208"/>
                    <a:pt x="1504347" y="80208"/>
                  </a:cubicBezTo>
                  <a:cubicBezTo>
                    <a:pt x="1475963" y="80208"/>
                    <a:pt x="1455847" y="101006"/>
                    <a:pt x="1452182" y="140641"/>
                  </a:cubicBezTo>
                  <a:close/>
                  <a:moveTo>
                    <a:pt x="1584214" y="222128"/>
                  </a:moveTo>
                  <a:cubicBezTo>
                    <a:pt x="1572877" y="241391"/>
                    <a:pt x="1551142" y="263382"/>
                    <a:pt x="1508097" y="263382"/>
                  </a:cubicBezTo>
                  <a:cubicBezTo>
                    <a:pt x="1449710" y="263382"/>
                    <a:pt x="1416212" y="223747"/>
                    <a:pt x="1416212" y="157348"/>
                  </a:cubicBezTo>
                  <a:cubicBezTo>
                    <a:pt x="1416212" y="83106"/>
                    <a:pt x="1465138" y="55063"/>
                    <a:pt x="1506818" y="55063"/>
                  </a:cubicBezTo>
                  <a:cubicBezTo>
                    <a:pt x="1543129" y="55063"/>
                    <a:pt x="1577821" y="75094"/>
                    <a:pt x="1589498" y="124702"/>
                  </a:cubicBezTo>
                  <a:cubicBezTo>
                    <a:pt x="1592251" y="137872"/>
                    <a:pt x="1593513" y="151311"/>
                    <a:pt x="1593249" y="164763"/>
                  </a:cubicBezTo>
                  <a:lnTo>
                    <a:pt x="1450988" y="164763"/>
                  </a:lnTo>
                  <a:cubicBezTo>
                    <a:pt x="1450221" y="197750"/>
                    <a:pt x="1464029" y="239516"/>
                    <a:pt x="1510654" y="238749"/>
                  </a:cubicBezTo>
                  <a:cubicBezTo>
                    <a:pt x="1527352" y="239087"/>
                    <a:pt x="1542967" y="230515"/>
                    <a:pt x="1551653" y="216246"/>
                  </a:cubicBezTo>
                  <a:close/>
                  <a:moveTo>
                    <a:pt x="1961046" y="259973"/>
                  </a:moveTo>
                  <a:lnTo>
                    <a:pt x="1926525" y="259973"/>
                  </a:lnTo>
                  <a:cubicBezTo>
                    <a:pt x="1924582" y="250352"/>
                    <a:pt x="1923269" y="240614"/>
                    <a:pt x="1922604" y="230822"/>
                  </a:cubicBezTo>
                  <a:cubicBezTo>
                    <a:pt x="1906460" y="250823"/>
                    <a:pt x="1882159" y="262473"/>
                    <a:pt x="1856460" y="262530"/>
                  </a:cubicBezTo>
                  <a:cubicBezTo>
                    <a:pt x="1818018" y="262530"/>
                    <a:pt x="1789549" y="239772"/>
                    <a:pt x="1789549" y="206444"/>
                  </a:cubicBezTo>
                  <a:cubicBezTo>
                    <a:pt x="1789439" y="195910"/>
                    <a:pt x="1792405" y="185574"/>
                    <a:pt x="1798073" y="176696"/>
                  </a:cubicBezTo>
                  <a:cubicBezTo>
                    <a:pt x="1809410" y="159649"/>
                    <a:pt x="1830293" y="146693"/>
                    <a:pt x="1889106" y="142005"/>
                  </a:cubicBezTo>
                  <a:lnTo>
                    <a:pt x="1920388" y="139533"/>
                  </a:lnTo>
                  <a:lnTo>
                    <a:pt x="1920388" y="134675"/>
                  </a:lnTo>
                  <a:cubicBezTo>
                    <a:pt x="1920388" y="114132"/>
                    <a:pt x="1920388" y="79952"/>
                    <a:pt x="1876320" y="79952"/>
                  </a:cubicBezTo>
                  <a:cubicBezTo>
                    <a:pt x="1848618" y="79952"/>
                    <a:pt x="1839157" y="93335"/>
                    <a:pt x="1836003" y="105523"/>
                  </a:cubicBezTo>
                  <a:lnTo>
                    <a:pt x="1805489" y="92738"/>
                  </a:lnTo>
                  <a:cubicBezTo>
                    <a:pt x="1805489" y="91715"/>
                    <a:pt x="1806426" y="90607"/>
                    <a:pt x="1807023" y="89499"/>
                  </a:cubicBezTo>
                  <a:cubicBezTo>
                    <a:pt x="1818786" y="67849"/>
                    <a:pt x="1841800" y="54466"/>
                    <a:pt x="1875212" y="54466"/>
                  </a:cubicBezTo>
                  <a:cubicBezTo>
                    <a:pt x="1895669" y="54058"/>
                    <a:pt x="1915743" y="60015"/>
                    <a:pt x="1932662" y="71514"/>
                  </a:cubicBezTo>
                  <a:cubicBezTo>
                    <a:pt x="1954653" y="88561"/>
                    <a:pt x="1954142" y="121037"/>
                    <a:pt x="1954142" y="121037"/>
                  </a:cubicBezTo>
                  <a:lnTo>
                    <a:pt x="1955506" y="222383"/>
                  </a:lnTo>
                  <a:cubicBezTo>
                    <a:pt x="1955506" y="222383"/>
                    <a:pt x="1956784" y="251705"/>
                    <a:pt x="1961046" y="259973"/>
                  </a:cubicBezTo>
                  <a:close/>
                  <a:moveTo>
                    <a:pt x="1915700" y="205506"/>
                  </a:moveTo>
                  <a:cubicBezTo>
                    <a:pt x="1920644" y="194596"/>
                    <a:pt x="1921070" y="190079"/>
                    <a:pt x="1921070" y="161183"/>
                  </a:cubicBezTo>
                  <a:cubicBezTo>
                    <a:pt x="1908199" y="163229"/>
                    <a:pt x="1890726" y="165786"/>
                    <a:pt x="1869331" y="170389"/>
                  </a:cubicBezTo>
                  <a:cubicBezTo>
                    <a:pt x="1832679" y="178316"/>
                    <a:pt x="1826713" y="192124"/>
                    <a:pt x="1826713" y="205933"/>
                  </a:cubicBezTo>
                  <a:cubicBezTo>
                    <a:pt x="1826713" y="221787"/>
                    <a:pt x="1839242" y="235169"/>
                    <a:pt x="1863791" y="235169"/>
                  </a:cubicBezTo>
                  <a:cubicBezTo>
                    <a:pt x="1886549" y="235169"/>
                    <a:pt x="1906068" y="225963"/>
                    <a:pt x="1915700" y="205506"/>
                  </a:cubicBezTo>
                  <a:close/>
                  <a:moveTo>
                    <a:pt x="813160" y="259973"/>
                  </a:moveTo>
                  <a:lnTo>
                    <a:pt x="779066" y="259973"/>
                  </a:lnTo>
                  <a:cubicBezTo>
                    <a:pt x="777123" y="250352"/>
                    <a:pt x="775813" y="240614"/>
                    <a:pt x="775145" y="230822"/>
                  </a:cubicBezTo>
                  <a:cubicBezTo>
                    <a:pt x="758910" y="250939"/>
                    <a:pt x="734424" y="262602"/>
                    <a:pt x="708575" y="262530"/>
                  </a:cubicBezTo>
                  <a:cubicBezTo>
                    <a:pt x="670133" y="262530"/>
                    <a:pt x="641664" y="239772"/>
                    <a:pt x="641664" y="206444"/>
                  </a:cubicBezTo>
                  <a:cubicBezTo>
                    <a:pt x="641514" y="195905"/>
                    <a:pt x="644479" y="185557"/>
                    <a:pt x="650187" y="176696"/>
                  </a:cubicBezTo>
                  <a:cubicBezTo>
                    <a:pt x="661439" y="159649"/>
                    <a:pt x="682492" y="146693"/>
                    <a:pt x="741306" y="142005"/>
                  </a:cubicBezTo>
                  <a:lnTo>
                    <a:pt x="772502" y="139533"/>
                  </a:lnTo>
                  <a:lnTo>
                    <a:pt x="772502" y="134675"/>
                  </a:lnTo>
                  <a:cubicBezTo>
                    <a:pt x="772502" y="114132"/>
                    <a:pt x="772502" y="79952"/>
                    <a:pt x="728435" y="79952"/>
                  </a:cubicBezTo>
                  <a:cubicBezTo>
                    <a:pt x="700733" y="79952"/>
                    <a:pt x="691357" y="93335"/>
                    <a:pt x="688032" y="105523"/>
                  </a:cubicBezTo>
                  <a:lnTo>
                    <a:pt x="657518" y="92738"/>
                  </a:lnTo>
                  <a:lnTo>
                    <a:pt x="659137" y="89499"/>
                  </a:lnTo>
                  <a:cubicBezTo>
                    <a:pt x="670900" y="67849"/>
                    <a:pt x="693914" y="54466"/>
                    <a:pt x="727327" y="54466"/>
                  </a:cubicBezTo>
                  <a:cubicBezTo>
                    <a:pt x="747780" y="54058"/>
                    <a:pt x="767856" y="60015"/>
                    <a:pt x="784776" y="71514"/>
                  </a:cubicBezTo>
                  <a:cubicBezTo>
                    <a:pt x="806768" y="88561"/>
                    <a:pt x="806256" y="121037"/>
                    <a:pt x="806256" y="121037"/>
                  </a:cubicBezTo>
                  <a:lnTo>
                    <a:pt x="807535" y="222383"/>
                  </a:lnTo>
                  <a:cubicBezTo>
                    <a:pt x="807905" y="235093"/>
                    <a:pt x="809793" y="247712"/>
                    <a:pt x="813160" y="259973"/>
                  </a:cubicBezTo>
                  <a:close/>
                  <a:moveTo>
                    <a:pt x="767814" y="205506"/>
                  </a:moveTo>
                  <a:cubicBezTo>
                    <a:pt x="772758" y="194596"/>
                    <a:pt x="773184" y="190079"/>
                    <a:pt x="773184" y="161183"/>
                  </a:cubicBezTo>
                  <a:cubicBezTo>
                    <a:pt x="760313" y="163229"/>
                    <a:pt x="742840" y="165786"/>
                    <a:pt x="721531" y="170389"/>
                  </a:cubicBezTo>
                  <a:cubicBezTo>
                    <a:pt x="684793" y="178316"/>
                    <a:pt x="678912" y="192124"/>
                    <a:pt x="678912" y="205933"/>
                  </a:cubicBezTo>
                  <a:cubicBezTo>
                    <a:pt x="678912" y="221787"/>
                    <a:pt x="691442" y="235169"/>
                    <a:pt x="716075" y="235169"/>
                  </a:cubicBezTo>
                  <a:cubicBezTo>
                    <a:pt x="738578" y="235169"/>
                    <a:pt x="758268" y="225963"/>
                    <a:pt x="767814" y="205506"/>
                  </a:cubicBezTo>
                  <a:close/>
                </a:path>
              </a:pathLst>
            </a:custGeom>
            <a:solidFill>
              <a:srgbClr val="FFFFFF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992E83A-3237-63F8-CCF9-7CAA80071C18}"/>
                </a:ext>
              </a:extLst>
            </p:cNvPr>
            <p:cNvSpPr/>
            <p:nvPr/>
          </p:nvSpPr>
          <p:spPr>
            <a:xfrm>
              <a:off x="11101014" y="436310"/>
              <a:ext cx="483401" cy="585338"/>
            </a:xfrm>
            <a:custGeom>
              <a:avLst/>
              <a:gdLst>
                <a:gd name="connsiteX0" fmla="*/ 244171 w 483401"/>
                <a:gd name="connsiteY0" fmla="*/ 412509 h 585338"/>
                <a:gd name="connsiteX1" fmla="*/ 228743 w 483401"/>
                <a:gd name="connsiteY1" fmla="*/ 422482 h 585338"/>
                <a:gd name="connsiteX2" fmla="*/ 30141 w 483401"/>
                <a:gd name="connsiteY2" fmla="*/ 320198 h 585338"/>
                <a:gd name="connsiteX3" fmla="*/ 223 w 483401"/>
                <a:gd name="connsiteY3" fmla="*/ 286103 h 585338"/>
                <a:gd name="connsiteX4" fmla="*/ 72248 w 483401"/>
                <a:gd name="connsiteY4" fmla="*/ 172311 h 585338"/>
                <a:gd name="connsiteX5" fmla="*/ 264798 w 483401"/>
                <a:gd name="connsiteY5" fmla="*/ 303 h 585338"/>
                <a:gd name="connsiteX6" fmla="*/ 321566 w 483401"/>
                <a:gd name="connsiteY6" fmla="*/ 210242 h 585338"/>
                <a:gd name="connsiteX7" fmla="*/ 257553 w 483401"/>
                <a:gd name="connsiteY7" fmla="*/ 192257 h 585338"/>
                <a:gd name="connsiteX8" fmla="*/ 249030 w 483401"/>
                <a:gd name="connsiteY8" fmla="*/ 117760 h 585338"/>
                <a:gd name="connsiteX9" fmla="*/ 238375 w 483401"/>
                <a:gd name="connsiteY9" fmla="*/ 97047 h 585338"/>
                <a:gd name="connsiteX10" fmla="*/ 201126 w 483401"/>
                <a:gd name="connsiteY10" fmla="*/ 126539 h 585338"/>
                <a:gd name="connsiteX11" fmla="*/ 155013 w 483401"/>
                <a:gd name="connsiteY11" fmla="*/ 173164 h 585338"/>
                <a:gd name="connsiteX12" fmla="*/ 119725 w 483401"/>
                <a:gd name="connsiteY12" fmla="*/ 184074 h 585338"/>
                <a:gd name="connsiteX13" fmla="*/ 116571 w 483401"/>
                <a:gd name="connsiteY13" fmla="*/ 211861 h 585338"/>
                <a:gd name="connsiteX14" fmla="*/ 89722 w 483401"/>
                <a:gd name="connsiteY14" fmla="*/ 238796 h 585338"/>
                <a:gd name="connsiteX15" fmla="*/ 41052 w 483401"/>
                <a:gd name="connsiteY15" fmla="*/ 289939 h 585338"/>
                <a:gd name="connsiteX16" fmla="*/ 68327 w 483401"/>
                <a:gd name="connsiteY16" fmla="*/ 315510 h 585338"/>
                <a:gd name="connsiteX17" fmla="*/ 244171 w 483401"/>
                <a:gd name="connsiteY17" fmla="*/ 412509 h 585338"/>
                <a:gd name="connsiteX18" fmla="*/ 399047 w 483401"/>
                <a:gd name="connsiteY18" fmla="*/ 243655 h 585338"/>
                <a:gd name="connsiteX19" fmla="*/ 162344 w 483401"/>
                <a:gd name="connsiteY19" fmla="*/ 180835 h 585338"/>
                <a:gd name="connsiteX20" fmla="*/ 127737 w 483401"/>
                <a:gd name="connsiteY20" fmla="*/ 221919 h 585338"/>
                <a:gd name="connsiteX21" fmla="*/ 217236 w 483401"/>
                <a:gd name="connsiteY21" fmla="*/ 351139 h 585338"/>
                <a:gd name="connsiteX22" fmla="*/ 310997 w 483401"/>
                <a:gd name="connsiteY22" fmla="*/ 339973 h 585338"/>
                <a:gd name="connsiteX23" fmla="*/ 312446 w 483401"/>
                <a:gd name="connsiteY23" fmla="*/ 333154 h 585338"/>
                <a:gd name="connsiteX24" fmla="*/ 319265 w 483401"/>
                <a:gd name="connsiteY24" fmla="*/ 287041 h 585338"/>
                <a:gd name="connsiteX25" fmla="*/ 263861 w 483401"/>
                <a:gd name="connsiteY25" fmla="*/ 262918 h 585338"/>
                <a:gd name="connsiteX26" fmla="*/ 267526 w 483401"/>
                <a:gd name="connsiteY26" fmla="*/ 322158 h 585338"/>
                <a:gd name="connsiteX27" fmla="*/ 267526 w 483401"/>
                <a:gd name="connsiteY27" fmla="*/ 329318 h 585338"/>
                <a:gd name="connsiteX28" fmla="*/ 240165 w 483401"/>
                <a:gd name="connsiteY28" fmla="*/ 347815 h 585338"/>
                <a:gd name="connsiteX29" fmla="*/ 148280 w 483401"/>
                <a:gd name="connsiteY29" fmla="*/ 211435 h 585338"/>
                <a:gd name="connsiteX30" fmla="*/ 150411 w 483401"/>
                <a:gd name="connsiteY30" fmla="*/ 209304 h 585338"/>
                <a:gd name="connsiteX31" fmla="*/ 151945 w 483401"/>
                <a:gd name="connsiteY31" fmla="*/ 209901 h 585338"/>
                <a:gd name="connsiteX32" fmla="*/ 151945 w 483401"/>
                <a:gd name="connsiteY32" fmla="*/ 209901 h 585338"/>
                <a:gd name="connsiteX33" fmla="*/ 262753 w 483401"/>
                <a:gd name="connsiteY33" fmla="*/ 254906 h 585338"/>
                <a:gd name="connsiteX34" fmla="*/ 319265 w 483401"/>
                <a:gd name="connsiteY34" fmla="*/ 279454 h 585338"/>
                <a:gd name="connsiteX35" fmla="*/ 363332 w 483401"/>
                <a:gd name="connsiteY35" fmla="*/ 300678 h 585338"/>
                <a:gd name="connsiteX36" fmla="*/ 383704 w 483401"/>
                <a:gd name="connsiteY36" fmla="*/ 328551 h 585338"/>
                <a:gd name="connsiteX37" fmla="*/ 134301 w 483401"/>
                <a:gd name="connsiteY37" fmla="*/ 514368 h 585338"/>
                <a:gd name="connsiteX38" fmla="*/ 133789 w 483401"/>
                <a:gd name="connsiteY38" fmla="*/ 515135 h 585338"/>
                <a:gd name="connsiteX39" fmla="*/ 132085 w 483401"/>
                <a:gd name="connsiteY39" fmla="*/ 517948 h 585338"/>
                <a:gd name="connsiteX40" fmla="*/ 131573 w 483401"/>
                <a:gd name="connsiteY40" fmla="*/ 518800 h 585338"/>
                <a:gd name="connsiteX41" fmla="*/ 123987 w 483401"/>
                <a:gd name="connsiteY41" fmla="*/ 541985 h 585338"/>
                <a:gd name="connsiteX42" fmla="*/ 155099 w 483401"/>
                <a:gd name="connsiteY42" fmla="*/ 581279 h 585338"/>
                <a:gd name="connsiteX43" fmla="*/ 175982 w 483401"/>
                <a:gd name="connsiteY43" fmla="*/ 585200 h 585338"/>
                <a:gd name="connsiteX44" fmla="*/ 180243 w 483401"/>
                <a:gd name="connsiteY44" fmla="*/ 585200 h 585338"/>
                <a:gd name="connsiteX45" fmla="*/ 386943 w 483401"/>
                <a:gd name="connsiteY45" fmla="*/ 544115 h 585338"/>
                <a:gd name="connsiteX46" fmla="*/ 402712 w 483401"/>
                <a:gd name="connsiteY46" fmla="*/ 501497 h 585338"/>
                <a:gd name="connsiteX47" fmla="*/ 330772 w 483401"/>
                <a:gd name="connsiteY47" fmla="*/ 459475 h 585338"/>
                <a:gd name="connsiteX48" fmla="*/ 315429 w 483401"/>
                <a:gd name="connsiteY48" fmla="*/ 469363 h 585338"/>
                <a:gd name="connsiteX49" fmla="*/ 372964 w 483401"/>
                <a:gd name="connsiteY49" fmla="*/ 507975 h 585338"/>
                <a:gd name="connsiteX50" fmla="*/ 369725 w 483401"/>
                <a:gd name="connsiteY50" fmla="*/ 513771 h 585338"/>
                <a:gd name="connsiteX51" fmla="*/ 365975 w 483401"/>
                <a:gd name="connsiteY51" fmla="*/ 513771 h 585338"/>
                <a:gd name="connsiteX52" fmla="*/ 238972 w 483401"/>
                <a:gd name="connsiteY52" fmla="*/ 522295 h 585338"/>
                <a:gd name="connsiteX53" fmla="*/ 226868 w 483401"/>
                <a:gd name="connsiteY53" fmla="*/ 522891 h 585338"/>
                <a:gd name="connsiteX54" fmla="*/ 246728 w 483401"/>
                <a:gd name="connsiteY54" fmla="*/ 506782 h 585338"/>
                <a:gd name="connsiteX55" fmla="*/ 448314 w 483401"/>
                <a:gd name="connsiteY55" fmla="*/ 371681 h 585338"/>
                <a:gd name="connsiteX56" fmla="*/ 399047 w 483401"/>
                <a:gd name="connsiteY56" fmla="*/ 243655 h 58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3401" h="585338">
                  <a:moveTo>
                    <a:pt x="244171" y="412509"/>
                  </a:moveTo>
                  <a:cubicBezTo>
                    <a:pt x="239057" y="415834"/>
                    <a:pt x="233858" y="419073"/>
                    <a:pt x="228743" y="422482"/>
                  </a:cubicBezTo>
                  <a:cubicBezTo>
                    <a:pt x="169077" y="389410"/>
                    <a:pt x="41222" y="325653"/>
                    <a:pt x="30141" y="320198"/>
                  </a:cubicBezTo>
                  <a:cubicBezTo>
                    <a:pt x="19060" y="314743"/>
                    <a:pt x="-2419" y="305707"/>
                    <a:pt x="223" y="286103"/>
                  </a:cubicBezTo>
                  <a:cubicBezTo>
                    <a:pt x="4059" y="257975"/>
                    <a:pt x="51791" y="197883"/>
                    <a:pt x="72248" y="172311"/>
                  </a:cubicBezTo>
                  <a:cubicBezTo>
                    <a:pt x="183056" y="37637"/>
                    <a:pt x="232068" y="-4044"/>
                    <a:pt x="264798" y="303"/>
                  </a:cubicBezTo>
                  <a:cubicBezTo>
                    <a:pt x="299831" y="4906"/>
                    <a:pt x="319180" y="41046"/>
                    <a:pt x="321566" y="210242"/>
                  </a:cubicBezTo>
                  <a:cubicBezTo>
                    <a:pt x="302047" y="204190"/>
                    <a:pt x="280482" y="197968"/>
                    <a:pt x="257553" y="192257"/>
                  </a:cubicBezTo>
                  <a:cubicBezTo>
                    <a:pt x="255678" y="167709"/>
                    <a:pt x="251075" y="130545"/>
                    <a:pt x="249030" y="117760"/>
                  </a:cubicBezTo>
                  <a:cubicBezTo>
                    <a:pt x="247069" y="103269"/>
                    <a:pt x="244256" y="97814"/>
                    <a:pt x="238375" y="97047"/>
                  </a:cubicBezTo>
                  <a:cubicBezTo>
                    <a:pt x="232494" y="96280"/>
                    <a:pt x="215702" y="111623"/>
                    <a:pt x="201126" y="126539"/>
                  </a:cubicBezTo>
                  <a:cubicBezTo>
                    <a:pt x="194478" y="133358"/>
                    <a:pt x="175555" y="152110"/>
                    <a:pt x="155013" y="173164"/>
                  </a:cubicBezTo>
                  <a:cubicBezTo>
                    <a:pt x="137966" y="172056"/>
                    <a:pt x="126118" y="175636"/>
                    <a:pt x="119725" y="184074"/>
                  </a:cubicBezTo>
                  <a:cubicBezTo>
                    <a:pt x="114415" y="192343"/>
                    <a:pt x="113247" y="202612"/>
                    <a:pt x="116571" y="211861"/>
                  </a:cubicBezTo>
                  <a:lnTo>
                    <a:pt x="89722" y="238796"/>
                  </a:lnTo>
                  <a:cubicBezTo>
                    <a:pt x="66623" y="261725"/>
                    <a:pt x="42330" y="280733"/>
                    <a:pt x="41052" y="289939"/>
                  </a:cubicBezTo>
                  <a:cubicBezTo>
                    <a:pt x="40114" y="297525"/>
                    <a:pt x="51706" y="305452"/>
                    <a:pt x="68327" y="315510"/>
                  </a:cubicBezTo>
                  <a:cubicBezTo>
                    <a:pt x="109156" y="339632"/>
                    <a:pt x="208627" y="393928"/>
                    <a:pt x="244171" y="412509"/>
                  </a:cubicBezTo>
                  <a:close/>
                  <a:moveTo>
                    <a:pt x="399047" y="243655"/>
                  </a:moveTo>
                  <a:cubicBezTo>
                    <a:pt x="360179" y="230102"/>
                    <a:pt x="263861" y="194217"/>
                    <a:pt x="162344" y="180835"/>
                  </a:cubicBezTo>
                  <a:cubicBezTo>
                    <a:pt x="127397" y="176232"/>
                    <a:pt x="113333" y="188677"/>
                    <a:pt x="127737" y="221919"/>
                  </a:cubicBezTo>
                  <a:cubicBezTo>
                    <a:pt x="142143" y="255162"/>
                    <a:pt x="178880" y="309884"/>
                    <a:pt x="217236" y="351139"/>
                  </a:cubicBezTo>
                  <a:cubicBezTo>
                    <a:pt x="255593" y="392393"/>
                    <a:pt x="297529" y="403560"/>
                    <a:pt x="310997" y="339973"/>
                  </a:cubicBezTo>
                  <a:cubicBezTo>
                    <a:pt x="311508" y="337671"/>
                    <a:pt x="311935" y="335370"/>
                    <a:pt x="312446" y="333154"/>
                  </a:cubicBezTo>
                  <a:cubicBezTo>
                    <a:pt x="315600" y="316788"/>
                    <a:pt x="317986" y="300934"/>
                    <a:pt x="319265" y="287041"/>
                  </a:cubicBezTo>
                  <a:cubicBezTo>
                    <a:pt x="302218" y="279284"/>
                    <a:pt x="283039" y="271016"/>
                    <a:pt x="263861" y="262918"/>
                  </a:cubicBezTo>
                  <a:cubicBezTo>
                    <a:pt x="264884" y="277579"/>
                    <a:pt x="266588" y="302724"/>
                    <a:pt x="267526" y="322158"/>
                  </a:cubicBezTo>
                  <a:cubicBezTo>
                    <a:pt x="267526" y="324630"/>
                    <a:pt x="267526" y="327017"/>
                    <a:pt x="267526" y="329318"/>
                  </a:cubicBezTo>
                  <a:cubicBezTo>
                    <a:pt x="268719" y="360771"/>
                    <a:pt x="257980" y="360600"/>
                    <a:pt x="240165" y="347815"/>
                  </a:cubicBezTo>
                  <a:cubicBezTo>
                    <a:pt x="219282" y="332983"/>
                    <a:pt x="155610" y="248769"/>
                    <a:pt x="148280" y="211435"/>
                  </a:cubicBezTo>
                  <a:cubicBezTo>
                    <a:pt x="148280" y="208963"/>
                    <a:pt x="149132" y="208878"/>
                    <a:pt x="150411" y="209304"/>
                  </a:cubicBezTo>
                  <a:lnTo>
                    <a:pt x="151945" y="209901"/>
                  </a:lnTo>
                  <a:lnTo>
                    <a:pt x="151945" y="209901"/>
                  </a:lnTo>
                  <a:cubicBezTo>
                    <a:pt x="166350" y="215527"/>
                    <a:pt x="214253" y="234449"/>
                    <a:pt x="262753" y="254906"/>
                  </a:cubicBezTo>
                  <a:cubicBezTo>
                    <a:pt x="282187" y="263430"/>
                    <a:pt x="301706" y="271954"/>
                    <a:pt x="319265" y="279454"/>
                  </a:cubicBezTo>
                  <a:cubicBezTo>
                    <a:pt x="336824" y="286955"/>
                    <a:pt x="351825" y="294541"/>
                    <a:pt x="363332" y="300678"/>
                  </a:cubicBezTo>
                  <a:cubicBezTo>
                    <a:pt x="384386" y="311930"/>
                    <a:pt x="392483" y="319601"/>
                    <a:pt x="383704" y="328551"/>
                  </a:cubicBezTo>
                  <a:cubicBezTo>
                    <a:pt x="339892" y="373045"/>
                    <a:pt x="187062" y="436205"/>
                    <a:pt x="134301" y="514368"/>
                  </a:cubicBezTo>
                  <a:lnTo>
                    <a:pt x="133789" y="515135"/>
                  </a:lnTo>
                  <a:cubicBezTo>
                    <a:pt x="133150" y="516030"/>
                    <a:pt x="132579" y="516970"/>
                    <a:pt x="132085" y="517948"/>
                  </a:cubicBezTo>
                  <a:lnTo>
                    <a:pt x="131573" y="518800"/>
                  </a:lnTo>
                  <a:cubicBezTo>
                    <a:pt x="127669" y="526009"/>
                    <a:pt x="125104" y="533863"/>
                    <a:pt x="123987" y="541985"/>
                  </a:cubicBezTo>
                  <a:cubicBezTo>
                    <a:pt x="121771" y="559032"/>
                    <a:pt x="130636" y="574715"/>
                    <a:pt x="155099" y="581279"/>
                  </a:cubicBezTo>
                  <a:cubicBezTo>
                    <a:pt x="161918" y="583252"/>
                    <a:pt x="168907" y="584565"/>
                    <a:pt x="175982" y="585200"/>
                  </a:cubicBezTo>
                  <a:lnTo>
                    <a:pt x="180243" y="585200"/>
                  </a:lnTo>
                  <a:cubicBezTo>
                    <a:pt x="227379" y="587501"/>
                    <a:pt x="349694" y="560651"/>
                    <a:pt x="386943" y="544115"/>
                  </a:cubicBezTo>
                  <a:cubicBezTo>
                    <a:pt x="424192" y="527579"/>
                    <a:pt x="413878" y="510021"/>
                    <a:pt x="402712" y="501497"/>
                  </a:cubicBezTo>
                  <a:cubicBezTo>
                    <a:pt x="394188" y="494848"/>
                    <a:pt x="351570" y="470982"/>
                    <a:pt x="330772" y="459475"/>
                  </a:cubicBezTo>
                  <a:lnTo>
                    <a:pt x="315429" y="469363"/>
                  </a:lnTo>
                  <a:cubicBezTo>
                    <a:pt x="335341" y="481106"/>
                    <a:pt x="354553" y="493999"/>
                    <a:pt x="372964" y="507975"/>
                  </a:cubicBezTo>
                  <a:cubicBezTo>
                    <a:pt x="376118" y="510447"/>
                    <a:pt x="374413" y="513430"/>
                    <a:pt x="369725" y="513771"/>
                  </a:cubicBezTo>
                  <a:lnTo>
                    <a:pt x="365975" y="513771"/>
                  </a:lnTo>
                  <a:cubicBezTo>
                    <a:pt x="332391" y="516072"/>
                    <a:pt x="268805" y="520505"/>
                    <a:pt x="238972" y="522295"/>
                  </a:cubicBezTo>
                  <a:lnTo>
                    <a:pt x="226868" y="522891"/>
                  </a:lnTo>
                  <a:cubicBezTo>
                    <a:pt x="233150" y="517123"/>
                    <a:pt x="239790" y="511742"/>
                    <a:pt x="246728" y="506782"/>
                  </a:cubicBezTo>
                  <a:cubicBezTo>
                    <a:pt x="310486" y="461947"/>
                    <a:pt x="417202" y="398872"/>
                    <a:pt x="448314" y="371681"/>
                  </a:cubicBezTo>
                  <a:cubicBezTo>
                    <a:pt x="471668" y="352162"/>
                    <a:pt x="534659" y="290961"/>
                    <a:pt x="399047" y="243655"/>
                  </a:cubicBezTo>
                  <a:close/>
                </a:path>
              </a:pathLst>
            </a:custGeom>
            <a:solidFill>
              <a:schemeClr val="accent4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1" y="1793322"/>
            <a:ext cx="3657600" cy="264913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4801" y="4604040"/>
            <a:ext cx="3657600" cy="12326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147DF-959C-A99D-F9A7-CBCDA8343CC6}"/>
              </a:ext>
            </a:extLst>
          </p:cNvPr>
          <p:cNvSpPr/>
          <p:nvPr userDrawn="1"/>
        </p:nvSpPr>
        <p:spPr>
          <a:xfrm>
            <a:off x="67056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30480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1" y="6349213"/>
            <a:ext cx="30480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BEE9BC2-1793-BC12-7E5A-32F97B371B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76800" y="0"/>
            <a:ext cx="18288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30479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1" y="4594860"/>
            <a:ext cx="3048000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954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11238"/>
            <a:ext cx="3048000" cy="123110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</a:extLst>
          </p:cNvPr>
          <p:cNvCxnSpPr>
            <a:cxnSpLocks/>
          </p:cNvCxnSpPr>
          <p:nvPr userDrawn="1"/>
        </p:nvCxnSpPr>
        <p:spPr>
          <a:xfrm>
            <a:off x="3962399" y="1011238"/>
            <a:ext cx="0" cy="5055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7199" y="1011237"/>
            <a:ext cx="7315199" cy="503713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6" cy="657225"/>
          </a:xfrm>
        </p:spPr>
        <p:txBody>
          <a:bodyPr lIns="0"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2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0802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99677D-2644-C9E2-BB27-265AB899D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3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0401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04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1202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3312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A49FA7-EA74-8C49-4922-2D151594411E}"/>
              </a:ext>
            </a:extLst>
          </p:cNvPr>
          <p:cNvCxnSpPr>
            <a:cxnSpLocks/>
          </p:cNvCxnSpPr>
          <p:nvPr userDrawn="1"/>
        </p:nvCxnSpPr>
        <p:spPr>
          <a:xfrm>
            <a:off x="41656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70A84-6DA0-6CB3-B12D-3755839BA1FD}"/>
              </a:ext>
            </a:extLst>
          </p:cNvPr>
          <p:cNvCxnSpPr>
            <a:cxnSpLocks/>
          </p:cNvCxnSpPr>
          <p:nvPr userDrawn="1"/>
        </p:nvCxnSpPr>
        <p:spPr>
          <a:xfrm>
            <a:off x="8026401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883DC25-A305-1276-59B3-C41F9BD3D1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9002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29001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8404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48402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5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67805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837AC6-F22C-2C57-04C1-6C8A31933164}"/>
              </a:ext>
            </a:extLst>
          </p:cNvPr>
          <p:cNvCxnSpPr>
            <a:cxnSpLocks/>
          </p:cNvCxnSpPr>
          <p:nvPr userDrawn="1"/>
        </p:nvCxnSpPr>
        <p:spPr>
          <a:xfrm>
            <a:off x="3276598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111F7-3968-1080-FC95-15A217523030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F38660-D6CE-77CB-B812-54D74B5C4D75}"/>
              </a:ext>
            </a:extLst>
          </p:cNvPr>
          <p:cNvCxnSpPr>
            <a:cxnSpLocks/>
          </p:cNvCxnSpPr>
          <p:nvPr userDrawn="1"/>
        </p:nvCxnSpPr>
        <p:spPr>
          <a:xfrm>
            <a:off x="89154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96811E1B-4DFB-8C77-61C4-6722F309D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438"/>
            <a:ext cx="6705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4801" y="1468438"/>
            <a:ext cx="3657600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4801" y="2044699"/>
            <a:ext cx="3657600" cy="36933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6705600" cy="40020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4800" y="4034387"/>
            <a:ext cx="3657599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</a:t>
            </a:r>
            <a:br>
              <a:rPr lang="en-US" dirty="0"/>
            </a:br>
            <a:r>
              <a:rPr lang="en-US" dirty="0"/>
              <a:t>or key figure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9D5544-E482-784E-19C5-157B93F4CBA4}"/>
              </a:ext>
            </a:extLst>
          </p:cNvPr>
          <p:cNvCxnSpPr>
            <a:cxnSpLocks/>
          </p:cNvCxnSpPr>
          <p:nvPr userDrawn="1"/>
        </p:nvCxnSpPr>
        <p:spPr>
          <a:xfrm>
            <a:off x="7620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33800B1B-EDDC-DA77-45C5-2CF8CC925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5" y="1468438"/>
            <a:ext cx="6705596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044699"/>
            <a:ext cx="3657600" cy="369332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68438"/>
            <a:ext cx="3657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76805" y="2044698"/>
            <a:ext cx="6705596" cy="400208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4034382"/>
            <a:ext cx="3657600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86FB4-3DE1-8A48-1A75-1ECACF70F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1966D-8FCF-F1C1-579C-4BCC5E36507D}"/>
              </a:ext>
            </a:extLst>
          </p:cNvPr>
          <p:cNvCxnSpPr>
            <a:cxnSpLocks/>
          </p:cNvCxnSpPr>
          <p:nvPr userDrawn="1"/>
        </p:nvCxnSpPr>
        <p:spPr>
          <a:xfrm>
            <a:off x="4572003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1097280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1097280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74FAE0-84B7-4520-A8FF-5F7E3FA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5181976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518197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0424" y="2285774"/>
            <a:ext cx="5181976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424" y="1468438"/>
            <a:ext cx="5181976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23D907-3C73-D52B-957D-6283C143D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2285774"/>
            <a:ext cx="325145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468438"/>
            <a:ext cx="325145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0276" y="2285774"/>
            <a:ext cx="3251450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276" y="1468438"/>
            <a:ext cx="3251450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0950" y="2285774"/>
            <a:ext cx="3251450" cy="3761003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0950" y="1468438"/>
            <a:ext cx="3251450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B845E6-1A8A-93E0-8ACC-3D2F7C09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7237"/>
            <a:ext cx="2514225" cy="375953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70037"/>
            <a:ext cx="2514225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125" y="2287237"/>
            <a:ext cx="2514225" cy="375953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9125" y="1470037"/>
            <a:ext cx="2514225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8650" y="2287237"/>
            <a:ext cx="2514225" cy="3759539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8650" y="1470037"/>
            <a:ext cx="2514225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8175" y="2287237"/>
            <a:ext cx="2514225" cy="3759539"/>
          </a:xfrm>
          <a:noFill/>
          <a:ln>
            <a:solidFill>
              <a:srgbClr val="C4D0CD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8175" y="1470037"/>
            <a:ext cx="2514225" cy="817200"/>
          </a:xfrm>
          <a:solidFill>
            <a:srgbClr val="C4D0CD"/>
          </a:solidFill>
          <a:ln>
            <a:solidFill>
              <a:srgbClr val="C4D0CD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9E7D8-FC5E-3964-17F2-8561D6E60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52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7646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77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52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6">
            <a:extLst>
              <a:ext uri="{FF2B5EF4-FFF2-40B4-BE49-F238E27FC236}">
                <a16:creationId xmlns:a16="http://schemas.microsoft.com/office/drawing/2014/main" id="{BDBD642F-8BE2-C7DD-8982-68470D1BC5B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B07C7-65F1-A7EE-23B3-392D25D15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9B13E-D526-80BB-7D3E-333CBF95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592F-1CFF-2044-8354-CE33B1D1D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8E41CDE-A8E2-9D16-F3A2-8578F39C06C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088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4B19887-1896-F380-B43C-1848D8715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3B2985D-BEB4-3823-9DD4-01A8319BE13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96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56A32DB-610E-E691-BEFF-0507E1E827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EA1CDC5D-52A5-FB93-9ABA-613C1001A8B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8304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513A1F3-5FF9-F3C7-0FB1-47040C0FC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59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3521B5E2-A95F-4E1E-259C-31E868EDB69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3928E-C27C-B98B-CBBA-C5DF141A3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3132-FD70-6F1A-7A9A-17160DA0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DAEE0-15F6-99A4-BA58-BA5B2DD1B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28D0956-CA25-8A55-A594-256222492AB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405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2CACC68-32AD-F079-C7FC-15554FF2B5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25CB9A4-7A9E-0560-B2F0-362FDD46CE29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599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6E424D4-D75C-EDE6-FA38-E18583CA06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0A89B30-8D8C-FF5B-2BA9-88ED83411598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793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653661-ABAC-40E2-3974-BE55497167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3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CF8363C-AC84-782F-C4B1-FF669F1C91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1987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5598C18-5C5E-DE7B-D710-32149ABBD9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7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4738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99D084DC-173B-8CA7-4822-4F3ED5EDE36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B56D2-BB81-4064-3AA3-DF4C64B70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45F0C-B678-A03C-DBF5-2B5421CC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C001A-1DB0-4A27-A984-FA113B365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C5AB9A7-0AB6-019D-19CC-C54FD35E5CBD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7763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D153482-DCD4-673A-D89C-9105394DDF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B39C6A77-85AA-5059-537D-1987035D71D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93315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3B69E7A-FF69-2061-9D63-887CE347C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1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CA85777-B227-49B0-C4BB-38A30AB92D0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6E0F8A-0AFD-AF15-0C62-755FD7EE37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3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F246884-FD35-9856-0FE3-46AFF72047C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44419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A767B7-468F-8E4E-1C32-6CD44E3066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5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163B4D9-9C81-86CC-7D56-70C1E36C85E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69971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E7B1FAC-1A78-52E2-4332-509608AE39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7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7612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756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9602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VALID LAYOUT : [Title in Lens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360000" rIns="90000" bIns="360000" anchor="ctr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25" y="404813"/>
            <a:ext cx="7545387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3730171"/>
            <a:ext cx="0" cy="247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43322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5" pos="2661">
          <p15:clr>
            <a:srgbClr val="C35E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9207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434015"/>
            <a:ext cx="6705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76800" y="1468438"/>
            <a:ext cx="6705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8D31C-DCAE-C47D-D5D2-ADBFFC545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3721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434015"/>
            <a:ext cx="6705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76800" y="1468438"/>
            <a:ext cx="6705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8D31C-DCAE-C47D-D5D2-ADBFFC545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924800" y="5434015"/>
            <a:ext cx="3657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315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584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924800" y="1468438"/>
            <a:ext cx="3657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551309-C685-A1F5-C2C6-49B85FEF1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0" y="401638"/>
            <a:ext cx="3657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37A4CB-10E5-A1D6-DDA9-1CB79A3D63A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2" cy="6857999"/>
          </a:xfrm>
          <a:custGeom>
            <a:avLst/>
            <a:gdLst>
              <a:gd name="connsiteX0" fmla="*/ 5707734 w 6096002"/>
              <a:gd name="connsiteY0" fmla="*/ 6429739 h 6857999"/>
              <a:gd name="connsiteX1" fmla="*/ 5686402 w 6096002"/>
              <a:gd name="connsiteY1" fmla="*/ 6454897 h 6857999"/>
              <a:gd name="connsiteX2" fmla="*/ 5741033 w 6096002"/>
              <a:gd name="connsiteY2" fmla="*/ 6533484 h 6857999"/>
              <a:gd name="connsiteX3" fmla="*/ 5798266 w 6096002"/>
              <a:gd name="connsiteY3" fmla="*/ 6526481 h 6857999"/>
              <a:gd name="connsiteX4" fmla="*/ 5799046 w 6096002"/>
              <a:gd name="connsiteY4" fmla="*/ 6522332 h 6857999"/>
              <a:gd name="connsiteX5" fmla="*/ 5803209 w 6096002"/>
              <a:gd name="connsiteY5" fmla="*/ 6494320 h 6857999"/>
              <a:gd name="connsiteX6" fmla="*/ 5769389 w 6096002"/>
              <a:gd name="connsiteY6" fmla="*/ 6479796 h 6857999"/>
              <a:gd name="connsiteX7" fmla="*/ 5771731 w 6096002"/>
              <a:gd name="connsiteY7" fmla="*/ 6515848 h 6857999"/>
              <a:gd name="connsiteX8" fmla="*/ 5771731 w 6096002"/>
              <a:gd name="connsiteY8" fmla="*/ 6520257 h 6857999"/>
              <a:gd name="connsiteX9" fmla="*/ 5755081 w 6096002"/>
              <a:gd name="connsiteY9" fmla="*/ 6531409 h 6857999"/>
              <a:gd name="connsiteX10" fmla="*/ 5699149 w 6096002"/>
              <a:gd name="connsiteY10" fmla="*/ 6448413 h 6857999"/>
              <a:gd name="connsiteX11" fmla="*/ 5700450 w 6096002"/>
              <a:gd name="connsiteY11" fmla="*/ 6447117 h 6857999"/>
              <a:gd name="connsiteX12" fmla="*/ 5701230 w 6096002"/>
              <a:gd name="connsiteY12" fmla="*/ 6447635 h 6857999"/>
              <a:gd name="connsiteX13" fmla="*/ 5701491 w 6096002"/>
              <a:gd name="connsiteY13" fmla="*/ 6447635 h 6857999"/>
              <a:gd name="connsiteX14" fmla="*/ 5769129 w 6096002"/>
              <a:gd name="connsiteY14" fmla="*/ 6475128 h 6857999"/>
              <a:gd name="connsiteX15" fmla="*/ 5803469 w 6096002"/>
              <a:gd name="connsiteY15" fmla="*/ 6489911 h 6857999"/>
              <a:gd name="connsiteX16" fmla="*/ 5830524 w 6096002"/>
              <a:gd name="connsiteY16" fmla="*/ 6502879 h 6857999"/>
              <a:gd name="connsiteX17" fmla="*/ 5842751 w 6096002"/>
              <a:gd name="connsiteY17" fmla="*/ 6519738 h 6857999"/>
              <a:gd name="connsiteX18" fmla="*/ 5690824 w 6096002"/>
              <a:gd name="connsiteY18" fmla="*/ 6632820 h 6857999"/>
              <a:gd name="connsiteX19" fmla="*/ 5690304 w 6096002"/>
              <a:gd name="connsiteY19" fmla="*/ 6633339 h 6857999"/>
              <a:gd name="connsiteX20" fmla="*/ 5689264 w 6096002"/>
              <a:gd name="connsiteY20" fmla="*/ 6634895 h 6857999"/>
              <a:gd name="connsiteX21" fmla="*/ 5689003 w 6096002"/>
              <a:gd name="connsiteY21" fmla="*/ 6635414 h 6857999"/>
              <a:gd name="connsiteX22" fmla="*/ 5684321 w 6096002"/>
              <a:gd name="connsiteY22" fmla="*/ 6649678 h 6857999"/>
              <a:gd name="connsiteX23" fmla="*/ 5703312 w 6096002"/>
              <a:gd name="connsiteY23" fmla="*/ 6673540 h 6857999"/>
              <a:gd name="connsiteX24" fmla="*/ 5716059 w 6096002"/>
              <a:gd name="connsiteY24" fmla="*/ 6675874 h 6857999"/>
              <a:gd name="connsiteX25" fmla="*/ 5718660 w 6096002"/>
              <a:gd name="connsiteY25" fmla="*/ 6676133 h 6857999"/>
              <a:gd name="connsiteX26" fmla="*/ 5844833 w 6096002"/>
              <a:gd name="connsiteY26" fmla="*/ 6651235 h 6857999"/>
              <a:gd name="connsiteX27" fmla="*/ 5854458 w 6096002"/>
              <a:gd name="connsiteY27" fmla="*/ 6625039 h 6857999"/>
              <a:gd name="connsiteX28" fmla="*/ 5810493 w 6096002"/>
              <a:gd name="connsiteY28" fmla="*/ 6599362 h 6857999"/>
              <a:gd name="connsiteX29" fmla="*/ 5801128 w 6096002"/>
              <a:gd name="connsiteY29" fmla="*/ 6605587 h 6857999"/>
              <a:gd name="connsiteX30" fmla="*/ 5836248 w 6096002"/>
              <a:gd name="connsiteY30" fmla="*/ 6628929 h 6857999"/>
              <a:gd name="connsiteX31" fmla="*/ 5834427 w 6096002"/>
              <a:gd name="connsiteY31" fmla="*/ 6632561 h 6857999"/>
              <a:gd name="connsiteX32" fmla="*/ 5832085 w 6096002"/>
              <a:gd name="connsiteY32" fmla="*/ 6632561 h 6857999"/>
              <a:gd name="connsiteX33" fmla="*/ 5754561 w 6096002"/>
              <a:gd name="connsiteY33" fmla="*/ 6637748 h 6857999"/>
              <a:gd name="connsiteX34" fmla="*/ 5747277 w 6096002"/>
              <a:gd name="connsiteY34" fmla="*/ 6638007 h 6857999"/>
              <a:gd name="connsiteX35" fmla="*/ 5759244 w 6096002"/>
              <a:gd name="connsiteY35" fmla="*/ 6628411 h 6857999"/>
              <a:gd name="connsiteX36" fmla="*/ 5882294 w 6096002"/>
              <a:gd name="connsiteY36" fmla="*/ 6546193 h 6857999"/>
              <a:gd name="connsiteX37" fmla="*/ 5852117 w 6096002"/>
              <a:gd name="connsiteY37" fmla="*/ 6467865 h 6857999"/>
              <a:gd name="connsiteX38" fmla="*/ 5707734 w 6096002"/>
              <a:gd name="connsiteY38" fmla="*/ 6429739 h 6857999"/>
              <a:gd name="connsiteX39" fmla="*/ 5770169 w 6096002"/>
              <a:gd name="connsiteY39" fmla="*/ 6319844 h 6857999"/>
              <a:gd name="connsiteX40" fmla="*/ 5652460 w 6096002"/>
              <a:gd name="connsiteY40" fmla="*/ 6424685 h 6857999"/>
              <a:gd name="connsiteX41" fmla="*/ 5608450 w 6096002"/>
              <a:gd name="connsiteY41" fmla="*/ 6493454 h 6857999"/>
              <a:gd name="connsiteX42" fmla="*/ 5626939 w 6096002"/>
              <a:gd name="connsiteY42" fmla="*/ 6514214 h 6857999"/>
              <a:gd name="connsiteX43" fmla="*/ 5748034 w 6096002"/>
              <a:gd name="connsiteY43" fmla="*/ 6576755 h 6857999"/>
              <a:gd name="connsiteX44" fmla="*/ 5757669 w 6096002"/>
              <a:gd name="connsiteY44" fmla="*/ 6570787 h 6857999"/>
              <a:gd name="connsiteX45" fmla="*/ 5650377 w 6096002"/>
              <a:gd name="connsiteY45" fmla="*/ 6511619 h 6857999"/>
              <a:gd name="connsiteX46" fmla="*/ 5633710 w 6096002"/>
              <a:gd name="connsiteY46" fmla="*/ 6496049 h 6857999"/>
              <a:gd name="connsiteX47" fmla="*/ 5663398 w 6096002"/>
              <a:gd name="connsiteY47" fmla="*/ 6464908 h 6857999"/>
              <a:gd name="connsiteX48" fmla="*/ 5679804 w 6096002"/>
              <a:gd name="connsiteY48" fmla="*/ 6448559 h 6857999"/>
              <a:gd name="connsiteX49" fmla="*/ 5681888 w 6096002"/>
              <a:gd name="connsiteY49" fmla="*/ 6431691 h 6857999"/>
              <a:gd name="connsiteX50" fmla="*/ 5703242 w 6096002"/>
              <a:gd name="connsiteY50" fmla="*/ 6424944 h 6857999"/>
              <a:gd name="connsiteX51" fmla="*/ 5731367 w 6096002"/>
              <a:gd name="connsiteY51" fmla="*/ 6396658 h 6857999"/>
              <a:gd name="connsiteX52" fmla="*/ 5754284 w 6096002"/>
              <a:gd name="connsiteY52" fmla="*/ 6378752 h 6857999"/>
              <a:gd name="connsiteX53" fmla="*/ 5760794 w 6096002"/>
              <a:gd name="connsiteY53" fmla="*/ 6391208 h 6857999"/>
              <a:gd name="connsiteX54" fmla="*/ 5765742 w 6096002"/>
              <a:gd name="connsiteY54" fmla="*/ 6436622 h 6857999"/>
              <a:gd name="connsiteX55" fmla="*/ 5804805 w 6096002"/>
              <a:gd name="connsiteY55" fmla="*/ 6447521 h 6857999"/>
              <a:gd name="connsiteX56" fmla="*/ 5770169 w 6096002"/>
              <a:gd name="connsiteY56" fmla="*/ 6319844 h 6857999"/>
              <a:gd name="connsiteX57" fmla="*/ 0 w 6096002"/>
              <a:gd name="connsiteY57" fmla="*/ 0 h 6857999"/>
              <a:gd name="connsiteX58" fmla="*/ 6096002 w 6096002"/>
              <a:gd name="connsiteY58" fmla="*/ 0 h 6857999"/>
              <a:gd name="connsiteX59" fmla="*/ 6096002 w 6096002"/>
              <a:gd name="connsiteY59" fmla="*/ 6857999 h 6857999"/>
              <a:gd name="connsiteX60" fmla="*/ 0 w 6096002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96002" h="6857999">
                <a:moveTo>
                  <a:pt x="5707734" y="6429739"/>
                </a:moveTo>
                <a:cubicBezTo>
                  <a:pt x="5686402" y="6426886"/>
                  <a:pt x="5677817" y="6434667"/>
                  <a:pt x="5686402" y="6454897"/>
                </a:cubicBezTo>
                <a:cubicBezTo>
                  <a:pt x="5695247" y="6474868"/>
                  <a:pt x="5717620" y="6508326"/>
                  <a:pt x="5741033" y="6533484"/>
                </a:cubicBezTo>
                <a:cubicBezTo>
                  <a:pt x="5764707" y="6558383"/>
                  <a:pt x="5790201" y="6565386"/>
                  <a:pt x="5798266" y="6526481"/>
                </a:cubicBezTo>
                <a:cubicBezTo>
                  <a:pt x="5798526" y="6525185"/>
                  <a:pt x="5798786" y="6523888"/>
                  <a:pt x="5799046" y="6522332"/>
                </a:cubicBezTo>
                <a:cubicBezTo>
                  <a:pt x="5800867" y="6512476"/>
                  <a:pt x="5802428" y="6502879"/>
                  <a:pt x="5803209" y="6494320"/>
                </a:cubicBezTo>
                <a:cubicBezTo>
                  <a:pt x="5792803" y="6489652"/>
                  <a:pt x="5781096" y="6484724"/>
                  <a:pt x="5769389" y="6479796"/>
                </a:cubicBezTo>
                <a:cubicBezTo>
                  <a:pt x="5770170" y="6488614"/>
                  <a:pt x="5771210" y="6503917"/>
                  <a:pt x="5771731" y="6515848"/>
                </a:cubicBezTo>
                <a:cubicBezTo>
                  <a:pt x="5771731" y="6517144"/>
                  <a:pt x="5771731" y="6518701"/>
                  <a:pt x="5771731" y="6520257"/>
                </a:cubicBezTo>
                <a:cubicBezTo>
                  <a:pt x="5772511" y="6539190"/>
                  <a:pt x="5766007" y="6539190"/>
                  <a:pt x="5755081" y="6531409"/>
                </a:cubicBezTo>
                <a:cubicBezTo>
                  <a:pt x="5742334" y="6522332"/>
                  <a:pt x="5703572" y="6471237"/>
                  <a:pt x="5699149" y="6448413"/>
                </a:cubicBezTo>
                <a:cubicBezTo>
                  <a:pt x="5698889" y="6447117"/>
                  <a:pt x="5699669" y="6446857"/>
                  <a:pt x="5700450" y="6447117"/>
                </a:cubicBezTo>
                <a:cubicBezTo>
                  <a:pt x="5700710" y="6447376"/>
                  <a:pt x="5700970" y="6447376"/>
                  <a:pt x="5701230" y="6447635"/>
                </a:cubicBezTo>
                <a:cubicBezTo>
                  <a:pt x="5701230" y="6447635"/>
                  <a:pt x="5701230" y="6447635"/>
                  <a:pt x="5701491" y="6447635"/>
                </a:cubicBezTo>
                <a:cubicBezTo>
                  <a:pt x="5710075" y="6451007"/>
                  <a:pt x="5739472" y="6462678"/>
                  <a:pt x="5769129" y="6475128"/>
                </a:cubicBezTo>
                <a:cubicBezTo>
                  <a:pt x="5780836" y="6480056"/>
                  <a:pt x="5792803" y="6485243"/>
                  <a:pt x="5803469" y="6489911"/>
                </a:cubicBezTo>
                <a:cubicBezTo>
                  <a:pt x="5814135" y="6494580"/>
                  <a:pt x="5823500" y="6499248"/>
                  <a:pt x="5830524" y="6502879"/>
                </a:cubicBezTo>
                <a:cubicBezTo>
                  <a:pt x="5843272" y="6509623"/>
                  <a:pt x="5848214" y="6514291"/>
                  <a:pt x="5842751" y="6519738"/>
                </a:cubicBezTo>
                <a:cubicBezTo>
                  <a:pt x="5816216" y="6546971"/>
                  <a:pt x="5722823" y="6585357"/>
                  <a:pt x="5690824" y="6632820"/>
                </a:cubicBezTo>
                <a:cubicBezTo>
                  <a:pt x="5690824" y="6632820"/>
                  <a:pt x="5690564" y="6633079"/>
                  <a:pt x="5690304" y="6633339"/>
                </a:cubicBezTo>
                <a:cubicBezTo>
                  <a:pt x="5690044" y="6633857"/>
                  <a:pt x="5689524" y="6634376"/>
                  <a:pt x="5689264" y="6634895"/>
                </a:cubicBezTo>
                <a:cubicBezTo>
                  <a:pt x="5689264" y="6635154"/>
                  <a:pt x="5689264" y="6635414"/>
                  <a:pt x="5689003" y="6635414"/>
                </a:cubicBezTo>
                <a:cubicBezTo>
                  <a:pt x="5687443" y="6638526"/>
                  <a:pt x="5685101" y="6643454"/>
                  <a:pt x="5684321" y="6649678"/>
                </a:cubicBezTo>
                <a:cubicBezTo>
                  <a:pt x="5683020" y="6660053"/>
                  <a:pt x="5688483" y="6669649"/>
                  <a:pt x="5703312" y="6673540"/>
                </a:cubicBezTo>
                <a:cubicBezTo>
                  <a:pt x="5707214" y="6674577"/>
                  <a:pt x="5711376" y="6675355"/>
                  <a:pt x="5716059" y="6675874"/>
                </a:cubicBezTo>
                <a:cubicBezTo>
                  <a:pt x="5716839" y="6676133"/>
                  <a:pt x="5717880" y="6676133"/>
                  <a:pt x="5718660" y="6676133"/>
                </a:cubicBezTo>
                <a:cubicBezTo>
                  <a:pt x="5747537" y="6677430"/>
                  <a:pt x="5822200" y="6661090"/>
                  <a:pt x="5844833" y="6651235"/>
                </a:cubicBezTo>
                <a:cubicBezTo>
                  <a:pt x="5868246" y="6640860"/>
                  <a:pt x="5861222" y="6630486"/>
                  <a:pt x="5854458" y="6625039"/>
                </a:cubicBezTo>
                <a:cubicBezTo>
                  <a:pt x="5849255" y="6620889"/>
                  <a:pt x="5823240" y="6606365"/>
                  <a:pt x="5810493" y="6599362"/>
                </a:cubicBezTo>
                <a:cubicBezTo>
                  <a:pt x="5807111" y="6601696"/>
                  <a:pt x="5804509" y="6603253"/>
                  <a:pt x="5801128" y="6605587"/>
                </a:cubicBezTo>
                <a:cubicBezTo>
                  <a:pt x="5822720" y="6618555"/>
                  <a:pt x="5831305" y="6625039"/>
                  <a:pt x="5836248" y="6628929"/>
                </a:cubicBezTo>
                <a:cubicBezTo>
                  <a:pt x="5838329" y="6630486"/>
                  <a:pt x="5837288" y="6632301"/>
                  <a:pt x="5834427" y="6632561"/>
                </a:cubicBezTo>
                <a:cubicBezTo>
                  <a:pt x="5833646" y="6632561"/>
                  <a:pt x="5832866" y="6632561"/>
                  <a:pt x="5832085" y="6632561"/>
                </a:cubicBezTo>
                <a:cubicBezTo>
                  <a:pt x="5811533" y="6634117"/>
                  <a:pt x="5772771" y="6636710"/>
                  <a:pt x="5754561" y="6637748"/>
                </a:cubicBezTo>
                <a:cubicBezTo>
                  <a:pt x="5751959" y="6638007"/>
                  <a:pt x="5748838" y="6638007"/>
                  <a:pt x="5747277" y="6638007"/>
                </a:cubicBezTo>
                <a:cubicBezTo>
                  <a:pt x="5751699" y="6633857"/>
                  <a:pt x="5756642" y="6630226"/>
                  <a:pt x="5759244" y="6628411"/>
                </a:cubicBezTo>
                <a:cubicBezTo>
                  <a:pt x="5798266" y="6600918"/>
                  <a:pt x="5863043" y="6562533"/>
                  <a:pt x="5882294" y="6546193"/>
                </a:cubicBezTo>
                <a:cubicBezTo>
                  <a:pt x="5896342" y="6534003"/>
                  <a:pt x="5934844" y="6496914"/>
                  <a:pt x="5852117" y="6467865"/>
                </a:cubicBezTo>
                <a:cubicBezTo>
                  <a:pt x="5828443" y="6459825"/>
                  <a:pt x="5769650" y="6438039"/>
                  <a:pt x="5707734" y="6429739"/>
                </a:cubicBezTo>
                <a:close/>
                <a:moveTo>
                  <a:pt x="5770169" y="6319844"/>
                </a:moveTo>
                <a:cubicBezTo>
                  <a:pt x="5750117" y="6317249"/>
                  <a:pt x="5719909" y="6342421"/>
                  <a:pt x="5652460" y="6424685"/>
                </a:cubicBezTo>
                <a:cubicBezTo>
                  <a:pt x="5639960" y="6439736"/>
                  <a:pt x="5610793" y="6476586"/>
                  <a:pt x="5608450" y="6493454"/>
                </a:cubicBezTo>
                <a:cubicBezTo>
                  <a:pt x="5606887" y="6505391"/>
                  <a:pt x="5619648" y="6510581"/>
                  <a:pt x="5626939" y="6514214"/>
                </a:cubicBezTo>
                <a:cubicBezTo>
                  <a:pt x="5633710" y="6517847"/>
                  <a:pt x="5711836" y="6556514"/>
                  <a:pt x="5748034" y="6576755"/>
                </a:cubicBezTo>
                <a:cubicBezTo>
                  <a:pt x="5751159" y="6574679"/>
                  <a:pt x="5754284" y="6572603"/>
                  <a:pt x="5757669" y="6570787"/>
                </a:cubicBezTo>
                <a:cubicBezTo>
                  <a:pt x="5736055" y="6559109"/>
                  <a:pt x="5675117" y="6526411"/>
                  <a:pt x="5650377" y="6511619"/>
                </a:cubicBezTo>
                <a:cubicBezTo>
                  <a:pt x="5640221" y="6505651"/>
                  <a:pt x="5633189" y="6500720"/>
                  <a:pt x="5633710" y="6496049"/>
                </a:cubicBezTo>
                <a:cubicBezTo>
                  <a:pt x="5634491" y="6490340"/>
                  <a:pt x="5649335" y="6478921"/>
                  <a:pt x="5663398" y="6464908"/>
                </a:cubicBezTo>
                <a:cubicBezTo>
                  <a:pt x="5667044" y="6461275"/>
                  <a:pt x="5673033" y="6455306"/>
                  <a:pt x="5679804" y="6448559"/>
                </a:cubicBezTo>
                <a:cubicBezTo>
                  <a:pt x="5677981" y="6441553"/>
                  <a:pt x="5678762" y="6435843"/>
                  <a:pt x="5681888" y="6431691"/>
                </a:cubicBezTo>
                <a:cubicBezTo>
                  <a:pt x="5685794" y="6426501"/>
                  <a:pt x="5692825" y="6424425"/>
                  <a:pt x="5703242" y="6424944"/>
                </a:cubicBezTo>
                <a:cubicBezTo>
                  <a:pt x="5716002" y="6412228"/>
                  <a:pt x="5727461" y="6400810"/>
                  <a:pt x="5731367" y="6396658"/>
                </a:cubicBezTo>
                <a:cubicBezTo>
                  <a:pt x="5740482" y="6387575"/>
                  <a:pt x="5750117" y="6378233"/>
                  <a:pt x="5754284" y="6378752"/>
                </a:cubicBezTo>
                <a:cubicBezTo>
                  <a:pt x="5757669" y="6379271"/>
                  <a:pt x="5759492" y="6382385"/>
                  <a:pt x="5760794" y="6391208"/>
                </a:cubicBezTo>
                <a:cubicBezTo>
                  <a:pt x="5761836" y="6398994"/>
                  <a:pt x="5764440" y="6421571"/>
                  <a:pt x="5765742" y="6436622"/>
                </a:cubicBezTo>
                <a:cubicBezTo>
                  <a:pt x="5779805" y="6439996"/>
                  <a:pt x="5792826" y="6443888"/>
                  <a:pt x="5804805" y="6447521"/>
                </a:cubicBezTo>
                <a:cubicBezTo>
                  <a:pt x="5803242" y="6344497"/>
                  <a:pt x="5791524" y="6322699"/>
                  <a:pt x="5770169" y="6319844"/>
                </a:cubicBezTo>
                <a:close/>
                <a:moveTo>
                  <a:pt x="0" y="0"/>
                </a:moveTo>
                <a:lnTo>
                  <a:pt x="6096002" y="0"/>
                </a:lnTo>
                <a:lnTo>
                  <a:pt x="609600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432000" rIns="252000" bIns="1440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219200" y="6200775"/>
            <a:ext cx="42672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F76E4-7FCD-B4FC-22CE-0FF27714AF3A}"/>
              </a:ext>
            </a:extLst>
          </p:cNvPr>
          <p:cNvSpPr/>
          <p:nvPr userDrawn="1"/>
        </p:nvSpPr>
        <p:spPr>
          <a:xfrm>
            <a:off x="0" y="0"/>
            <a:ext cx="609602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200" y="1468438"/>
            <a:ext cx="4267200" cy="76517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219200" y="2386012"/>
            <a:ext cx="4267200" cy="3660763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C4ACB4-2CDA-3712-52B3-809DC1E3B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401638"/>
            <a:ext cx="42672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FF25D0A-3CFC-95B8-4E49-2FCEBF87C32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9EC0709-DFCA-4192-F0C0-BDE674A8FB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3" y="6200775"/>
            <a:ext cx="73151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BC7BEA-0D4D-3618-0BB9-17A4914CA83F}"/>
              </a:ext>
            </a:extLst>
          </p:cNvPr>
          <p:cNvSpPr/>
          <p:nvPr userDrawn="1"/>
        </p:nvSpPr>
        <p:spPr>
          <a:xfrm>
            <a:off x="8534398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0" y="1468438"/>
            <a:ext cx="3352801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602" y="1468438"/>
            <a:ext cx="3352800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BCE9CB-F32B-3701-9C5D-E48448959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315201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DD8127-9AE7-E3BB-4F07-E7038A3E5696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3F9B225-97C4-5D8B-4C3B-C102B06B10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527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600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59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935F5E-5B9A-28AA-2F36-0DDB4BEB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924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32512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70400" y="1470035"/>
            <a:ext cx="32512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31200" y="1470035"/>
            <a:ext cx="32512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DE877E6-19A3-9CDB-6917-328A96A3D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1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25146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29000" y="1470035"/>
            <a:ext cx="25146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8400" y="1470035"/>
            <a:ext cx="25146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67800" y="1470035"/>
            <a:ext cx="2514600" cy="221057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90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FEAEA71-7FEF-7144-F5E1-53D6946C57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68437"/>
            <a:ext cx="1950720" cy="22105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65120" y="1468437"/>
            <a:ext cx="1950720" cy="2210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20640" y="1468437"/>
            <a:ext cx="1950720" cy="22105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76160" y="1468437"/>
            <a:ext cx="1950720" cy="22105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631680" y="1468437"/>
            <a:ext cx="1950720" cy="221058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2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4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6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8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53780E30-FF24-C3EC-27E9-F2A103A6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609751-3768-DF2E-D9AC-98074A4A96AF}"/>
              </a:ext>
            </a:extLst>
          </p:cNvPr>
          <p:cNvSpPr/>
          <p:nvPr userDrawn="1"/>
        </p:nvSpPr>
        <p:spPr>
          <a:xfrm>
            <a:off x="0" y="-1"/>
            <a:ext cx="60960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D8DFDE"/>
          </a:solidFill>
        </p:spPr>
        <p:txBody>
          <a:bodyPr wrap="square" lIns="0" tIns="0" bIns="936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5486400" cy="6858000"/>
          </a:xfrm>
          <a:prstGeom prst="rect">
            <a:avLst/>
          </a:prstGeom>
          <a:solidFill>
            <a:schemeClr val="accent1"/>
          </a:solidFill>
        </p:spPr>
        <p:txBody>
          <a:bodyPr wrap="square" lIns="608400" tIns="608400" rIns="608400" anchor="t" anchorCtr="0">
            <a:normAutofit/>
          </a:bodyPr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C80CC8-CC90-EB89-6F83-461192B0FFB4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5A9CEC-A00C-3897-A983-6DFF92EE7CB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803733 w 12192000"/>
              <a:gd name="connsiteY0" fmla="*/ 6429742 h 6858001"/>
              <a:gd name="connsiteX1" fmla="*/ 11782401 w 12192000"/>
              <a:gd name="connsiteY1" fmla="*/ 6454900 h 6858001"/>
              <a:gd name="connsiteX2" fmla="*/ 11837032 w 12192000"/>
              <a:gd name="connsiteY2" fmla="*/ 6533487 h 6858001"/>
              <a:gd name="connsiteX3" fmla="*/ 11894265 w 12192000"/>
              <a:gd name="connsiteY3" fmla="*/ 6526484 h 6858001"/>
              <a:gd name="connsiteX4" fmla="*/ 11895045 w 12192000"/>
              <a:gd name="connsiteY4" fmla="*/ 6522335 h 6858001"/>
              <a:gd name="connsiteX5" fmla="*/ 11899208 w 12192000"/>
              <a:gd name="connsiteY5" fmla="*/ 6494323 h 6858001"/>
              <a:gd name="connsiteX6" fmla="*/ 11865388 w 12192000"/>
              <a:gd name="connsiteY6" fmla="*/ 6479799 h 6858001"/>
              <a:gd name="connsiteX7" fmla="*/ 11867730 w 12192000"/>
              <a:gd name="connsiteY7" fmla="*/ 6515851 h 6858001"/>
              <a:gd name="connsiteX8" fmla="*/ 11867730 w 12192000"/>
              <a:gd name="connsiteY8" fmla="*/ 6520260 h 6858001"/>
              <a:gd name="connsiteX9" fmla="*/ 11851080 w 12192000"/>
              <a:gd name="connsiteY9" fmla="*/ 6531412 h 6858001"/>
              <a:gd name="connsiteX10" fmla="*/ 11795148 w 12192000"/>
              <a:gd name="connsiteY10" fmla="*/ 6448416 h 6858001"/>
              <a:gd name="connsiteX11" fmla="*/ 11796449 w 12192000"/>
              <a:gd name="connsiteY11" fmla="*/ 6447120 h 6858001"/>
              <a:gd name="connsiteX12" fmla="*/ 11797229 w 12192000"/>
              <a:gd name="connsiteY12" fmla="*/ 6447638 h 6858001"/>
              <a:gd name="connsiteX13" fmla="*/ 11797490 w 12192000"/>
              <a:gd name="connsiteY13" fmla="*/ 6447638 h 6858001"/>
              <a:gd name="connsiteX14" fmla="*/ 11865128 w 12192000"/>
              <a:gd name="connsiteY14" fmla="*/ 6475131 h 6858001"/>
              <a:gd name="connsiteX15" fmla="*/ 11899468 w 12192000"/>
              <a:gd name="connsiteY15" fmla="*/ 6489914 h 6858001"/>
              <a:gd name="connsiteX16" fmla="*/ 11926523 w 12192000"/>
              <a:gd name="connsiteY16" fmla="*/ 6502882 h 6858001"/>
              <a:gd name="connsiteX17" fmla="*/ 11938750 w 12192000"/>
              <a:gd name="connsiteY17" fmla="*/ 6519741 h 6858001"/>
              <a:gd name="connsiteX18" fmla="*/ 11786823 w 12192000"/>
              <a:gd name="connsiteY18" fmla="*/ 6632823 h 6858001"/>
              <a:gd name="connsiteX19" fmla="*/ 11786303 w 12192000"/>
              <a:gd name="connsiteY19" fmla="*/ 6633342 h 6858001"/>
              <a:gd name="connsiteX20" fmla="*/ 11785263 w 12192000"/>
              <a:gd name="connsiteY20" fmla="*/ 6634898 h 6858001"/>
              <a:gd name="connsiteX21" fmla="*/ 11785002 w 12192000"/>
              <a:gd name="connsiteY21" fmla="*/ 6635417 h 6858001"/>
              <a:gd name="connsiteX22" fmla="*/ 11780320 w 12192000"/>
              <a:gd name="connsiteY22" fmla="*/ 6649681 h 6858001"/>
              <a:gd name="connsiteX23" fmla="*/ 11799311 w 12192000"/>
              <a:gd name="connsiteY23" fmla="*/ 6673543 h 6858001"/>
              <a:gd name="connsiteX24" fmla="*/ 11812058 w 12192000"/>
              <a:gd name="connsiteY24" fmla="*/ 6675877 h 6858001"/>
              <a:gd name="connsiteX25" fmla="*/ 11814659 w 12192000"/>
              <a:gd name="connsiteY25" fmla="*/ 6676136 h 6858001"/>
              <a:gd name="connsiteX26" fmla="*/ 11940832 w 12192000"/>
              <a:gd name="connsiteY26" fmla="*/ 6651238 h 6858001"/>
              <a:gd name="connsiteX27" fmla="*/ 11950457 w 12192000"/>
              <a:gd name="connsiteY27" fmla="*/ 6625042 h 6858001"/>
              <a:gd name="connsiteX28" fmla="*/ 11906492 w 12192000"/>
              <a:gd name="connsiteY28" fmla="*/ 6599365 h 6858001"/>
              <a:gd name="connsiteX29" fmla="*/ 11897127 w 12192000"/>
              <a:gd name="connsiteY29" fmla="*/ 6605590 h 6858001"/>
              <a:gd name="connsiteX30" fmla="*/ 11932247 w 12192000"/>
              <a:gd name="connsiteY30" fmla="*/ 6628932 h 6858001"/>
              <a:gd name="connsiteX31" fmla="*/ 11930426 w 12192000"/>
              <a:gd name="connsiteY31" fmla="*/ 6632564 h 6858001"/>
              <a:gd name="connsiteX32" fmla="*/ 11928084 w 12192000"/>
              <a:gd name="connsiteY32" fmla="*/ 6632564 h 6858001"/>
              <a:gd name="connsiteX33" fmla="*/ 11850560 w 12192000"/>
              <a:gd name="connsiteY33" fmla="*/ 6637751 h 6858001"/>
              <a:gd name="connsiteX34" fmla="*/ 11843276 w 12192000"/>
              <a:gd name="connsiteY34" fmla="*/ 6638010 h 6858001"/>
              <a:gd name="connsiteX35" fmla="*/ 11855243 w 12192000"/>
              <a:gd name="connsiteY35" fmla="*/ 6628414 h 6858001"/>
              <a:gd name="connsiteX36" fmla="*/ 11978293 w 12192000"/>
              <a:gd name="connsiteY36" fmla="*/ 6546196 h 6858001"/>
              <a:gd name="connsiteX37" fmla="*/ 11948116 w 12192000"/>
              <a:gd name="connsiteY37" fmla="*/ 6467868 h 6858001"/>
              <a:gd name="connsiteX38" fmla="*/ 11803733 w 12192000"/>
              <a:gd name="connsiteY38" fmla="*/ 6429742 h 6858001"/>
              <a:gd name="connsiteX39" fmla="*/ 11866168 w 12192000"/>
              <a:gd name="connsiteY39" fmla="*/ 6319847 h 6858001"/>
              <a:gd name="connsiteX40" fmla="*/ 11748459 w 12192000"/>
              <a:gd name="connsiteY40" fmla="*/ 6424688 h 6858001"/>
              <a:gd name="connsiteX41" fmla="*/ 11704449 w 12192000"/>
              <a:gd name="connsiteY41" fmla="*/ 6493457 h 6858001"/>
              <a:gd name="connsiteX42" fmla="*/ 11722938 w 12192000"/>
              <a:gd name="connsiteY42" fmla="*/ 6514217 h 6858001"/>
              <a:gd name="connsiteX43" fmla="*/ 11844033 w 12192000"/>
              <a:gd name="connsiteY43" fmla="*/ 6576758 h 6858001"/>
              <a:gd name="connsiteX44" fmla="*/ 11853668 w 12192000"/>
              <a:gd name="connsiteY44" fmla="*/ 6570790 h 6858001"/>
              <a:gd name="connsiteX45" fmla="*/ 11746376 w 12192000"/>
              <a:gd name="connsiteY45" fmla="*/ 6511622 h 6858001"/>
              <a:gd name="connsiteX46" fmla="*/ 11729709 w 12192000"/>
              <a:gd name="connsiteY46" fmla="*/ 6496052 h 6858001"/>
              <a:gd name="connsiteX47" fmla="*/ 11759397 w 12192000"/>
              <a:gd name="connsiteY47" fmla="*/ 6464911 h 6858001"/>
              <a:gd name="connsiteX48" fmla="*/ 11775803 w 12192000"/>
              <a:gd name="connsiteY48" fmla="*/ 6448562 h 6858001"/>
              <a:gd name="connsiteX49" fmla="*/ 11777887 w 12192000"/>
              <a:gd name="connsiteY49" fmla="*/ 6431694 h 6858001"/>
              <a:gd name="connsiteX50" fmla="*/ 11799241 w 12192000"/>
              <a:gd name="connsiteY50" fmla="*/ 6424947 h 6858001"/>
              <a:gd name="connsiteX51" fmla="*/ 11827366 w 12192000"/>
              <a:gd name="connsiteY51" fmla="*/ 6396661 h 6858001"/>
              <a:gd name="connsiteX52" fmla="*/ 11850283 w 12192000"/>
              <a:gd name="connsiteY52" fmla="*/ 6378755 h 6858001"/>
              <a:gd name="connsiteX53" fmla="*/ 11856793 w 12192000"/>
              <a:gd name="connsiteY53" fmla="*/ 6391211 h 6858001"/>
              <a:gd name="connsiteX54" fmla="*/ 11861741 w 12192000"/>
              <a:gd name="connsiteY54" fmla="*/ 6436625 h 6858001"/>
              <a:gd name="connsiteX55" fmla="*/ 11900804 w 12192000"/>
              <a:gd name="connsiteY55" fmla="*/ 6447524 h 6858001"/>
              <a:gd name="connsiteX56" fmla="*/ 11866168 w 12192000"/>
              <a:gd name="connsiteY56" fmla="*/ 6319847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609601 w 12192000"/>
              <a:gd name="connsiteY60" fmla="*/ 6858001 h 6858001"/>
              <a:gd name="connsiteX61" fmla="*/ 609601 w 12192000"/>
              <a:gd name="connsiteY61" fmla="*/ 1 h 6858001"/>
              <a:gd name="connsiteX62" fmla="*/ 0 w 12192000"/>
              <a:gd name="connsiteY62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192000" h="6858001">
                <a:moveTo>
                  <a:pt x="11803733" y="6429742"/>
                </a:moveTo>
                <a:cubicBezTo>
                  <a:pt x="11782401" y="6426889"/>
                  <a:pt x="11773816" y="6434670"/>
                  <a:pt x="11782401" y="6454900"/>
                </a:cubicBezTo>
                <a:cubicBezTo>
                  <a:pt x="11791246" y="6474871"/>
                  <a:pt x="11813619" y="6508329"/>
                  <a:pt x="11837032" y="6533487"/>
                </a:cubicBezTo>
                <a:cubicBezTo>
                  <a:pt x="11860706" y="6558386"/>
                  <a:pt x="11886200" y="6565389"/>
                  <a:pt x="11894265" y="6526484"/>
                </a:cubicBezTo>
                <a:cubicBezTo>
                  <a:pt x="11894525" y="6525188"/>
                  <a:pt x="11894785" y="6523891"/>
                  <a:pt x="11895045" y="6522335"/>
                </a:cubicBezTo>
                <a:cubicBezTo>
                  <a:pt x="11896866" y="6512479"/>
                  <a:pt x="11898427" y="6502882"/>
                  <a:pt x="11899208" y="6494323"/>
                </a:cubicBezTo>
                <a:cubicBezTo>
                  <a:pt x="11888802" y="6489655"/>
                  <a:pt x="11877095" y="6484727"/>
                  <a:pt x="11865388" y="6479799"/>
                </a:cubicBezTo>
                <a:cubicBezTo>
                  <a:pt x="11866169" y="6488617"/>
                  <a:pt x="11867209" y="6503920"/>
                  <a:pt x="11867730" y="6515851"/>
                </a:cubicBezTo>
                <a:cubicBezTo>
                  <a:pt x="11867730" y="6517147"/>
                  <a:pt x="11867730" y="6518704"/>
                  <a:pt x="11867730" y="6520260"/>
                </a:cubicBezTo>
                <a:cubicBezTo>
                  <a:pt x="11868510" y="6539193"/>
                  <a:pt x="11862006" y="6539193"/>
                  <a:pt x="11851080" y="6531412"/>
                </a:cubicBezTo>
                <a:cubicBezTo>
                  <a:pt x="11838333" y="6522335"/>
                  <a:pt x="11799571" y="6471240"/>
                  <a:pt x="11795148" y="6448416"/>
                </a:cubicBezTo>
                <a:cubicBezTo>
                  <a:pt x="11794888" y="6447120"/>
                  <a:pt x="11795668" y="6446860"/>
                  <a:pt x="11796449" y="6447120"/>
                </a:cubicBezTo>
                <a:cubicBezTo>
                  <a:pt x="11796709" y="6447379"/>
                  <a:pt x="11796969" y="6447379"/>
                  <a:pt x="11797229" y="6447638"/>
                </a:cubicBezTo>
                <a:cubicBezTo>
                  <a:pt x="11797229" y="6447638"/>
                  <a:pt x="11797229" y="6447638"/>
                  <a:pt x="11797490" y="6447638"/>
                </a:cubicBezTo>
                <a:cubicBezTo>
                  <a:pt x="11806074" y="6451010"/>
                  <a:pt x="11835471" y="6462681"/>
                  <a:pt x="11865128" y="6475131"/>
                </a:cubicBezTo>
                <a:cubicBezTo>
                  <a:pt x="11876835" y="6480059"/>
                  <a:pt x="11888802" y="6485246"/>
                  <a:pt x="11899468" y="6489914"/>
                </a:cubicBezTo>
                <a:cubicBezTo>
                  <a:pt x="11910134" y="6494583"/>
                  <a:pt x="11919499" y="6499251"/>
                  <a:pt x="11926523" y="6502882"/>
                </a:cubicBezTo>
                <a:cubicBezTo>
                  <a:pt x="11939271" y="6509626"/>
                  <a:pt x="11944213" y="6514294"/>
                  <a:pt x="11938750" y="6519741"/>
                </a:cubicBezTo>
                <a:cubicBezTo>
                  <a:pt x="11912215" y="6546974"/>
                  <a:pt x="11818822" y="6585360"/>
                  <a:pt x="11786823" y="6632823"/>
                </a:cubicBezTo>
                <a:cubicBezTo>
                  <a:pt x="11786823" y="6632823"/>
                  <a:pt x="11786563" y="6633082"/>
                  <a:pt x="11786303" y="6633342"/>
                </a:cubicBezTo>
                <a:cubicBezTo>
                  <a:pt x="11786043" y="6633860"/>
                  <a:pt x="11785523" y="6634379"/>
                  <a:pt x="11785263" y="6634898"/>
                </a:cubicBezTo>
                <a:cubicBezTo>
                  <a:pt x="11785263" y="6635157"/>
                  <a:pt x="11785263" y="6635417"/>
                  <a:pt x="11785002" y="6635417"/>
                </a:cubicBezTo>
                <a:cubicBezTo>
                  <a:pt x="11783442" y="6638529"/>
                  <a:pt x="11781100" y="6643457"/>
                  <a:pt x="11780320" y="6649681"/>
                </a:cubicBezTo>
                <a:cubicBezTo>
                  <a:pt x="11779019" y="6660056"/>
                  <a:pt x="11784482" y="6669652"/>
                  <a:pt x="11799311" y="6673543"/>
                </a:cubicBezTo>
                <a:cubicBezTo>
                  <a:pt x="11803213" y="6674580"/>
                  <a:pt x="11807375" y="6675358"/>
                  <a:pt x="11812058" y="6675877"/>
                </a:cubicBezTo>
                <a:cubicBezTo>
                  <a:pt x="11812838" y="6676136"/>
                  <a:pt x="11813879" y="6676136"/>
                  <a:pt x="11814659" y="6676136"/>
                </a:cubicBezTo>
                <a:cubicBezTo>
                  <a:pt x="11843536" y="6677433"/>
                  <a:pt x="11918199" y="6661093"/>
                  <a:pt x="11940832" y="6651238"/>
                </a:cubicBezTo>
                <a:cubicBezTo>
                  <a:pt x="11964245" y="6640863"/>
                  <a:pt x="11957221" y="6630489"/>
                  <a:pt x="11950457" y="6625042"/>
                </a:cubicBezTo>
                <a:cubicBezTo>
                  <a:pt x="11945254" y="6620892"/>
                  <a:pt x="11919239" y="6606368"/>
                  <a:pt x="11906492" y="6599365"/>
                </a:cubicBezTo>
                <a:cubicBezTo>
                  <a:pt x="11903110" y="6601699"/>
                  <a:pt x="11900508" y="6603256"/>
                  <a:pt x="11897127" y="6605590"/>
                </a:cubicBezTo>
                <a:cubicBezTo>
                  <a:pt x="11918719" y="6618558"/>
                  <a:pt x="11927304" y="6625042"/>
                  <a:pt x="11932247" y="6628932"/>
                </a:cubicBezTo>
                <a:cubicBezTo>
                  <a:pt x="11934328" y="6630489"/>
                  <a:pt x="11933287" y="6632304"/>
                  <a:pt x="11930426" y="6632564"/>
                </a:cubicBezTo>
                <a:cubicBezTo>
                  <a:pt x="11929645" y="6632564"/>
                  <a:pt x="11928865" y="6632564"/>
                  <a:pt x="11928084" y="6632564"/>
                </a:cubicBezTo>
                <a:cubicBezTo>
                  <a:pt x="11907532" y="6634120"/>
                  <a:pt x="11868770" y="6636713"/>
                  <a:pt x="11850560" y="6637751"/>
                </a:cubicBezTo>
                <a:cubicBezTo>
                  <a:pt x="11847958" y="6638010"/>
                  <a:pt x="11844837" y="6638010"/>
                  <a:pt x="11843276" y="6638010"/>
                </a:cubicBezTo>
                <a:cubicBezTo>
                  <a:pt x="11847698" y="6633860"/>
                  <a:pt x="11852641" y="6630229"/>
                  <a:pt x="11855243" y="6628414"/>
                </a:cubicBezTo>
                <a:cubicBezTo>
                  <a:pt x="11894265" y="6600921"/>
                  <a:pt x="11959042" y="6562536"/>
                  <a:pt x="11978293" y="6546196"/>
                </a:cubicBezTo>
                <a:cubicBezTo>
                  <a:pt x="11992341" y="6534006"/>
                  <a:pt x="12030843" y="6496917"/>
                  <a:pt x="11948116" y="6467868"/>
                </a:cubicBezTo>
                <a:cubicBezTo>
                  <a:pt x="11924442" y="6459828"/>
                  <a:pt x="11865649" y="6438042"/>
                  <a:pt x="11803733" y="6429742"/>
                </a:cubicBezTo>
                <a:close/>
                <a:moveTo>
                  <a:pt x="11866168" y="6319847"/>
                </a:moveTo>
                <a:cubicBezTo>
                  <a:pt x="11846116" y="6317252"/>
                  <a:pt x="11815908" y="6342424"/>
                  <a:pt x="11748459" y="6424688"/>
                </a:cubicBezTo>
                <a:cubicBezTo>
                  <a:pt x="11735959" y="6439739"/>
                  <a:pt x="11706792" y="6476589"/>
                  <a:pt x="11704449" y="6493457"/>
                </a:cubicBezTo>
                <a:cubicBezTo>
                  <a:pt x="11702886" y="6505394"/>
                  <a:pt x="11715647" y="6510584"/>
                  <a:pt x="11722938" y="6514217"/>
                </a:cubicBezTo>
                <a:cubicBezTo>
                  <a:pt x="11729709" y="6517850"/>
                  <a:pt x="11807835" y="6556517"/>
                  <a:pt x="11844033" y="6576758"/>
                </a:cubicBezTo>
                <a:cubicBezTo>
                  <a:pt x="11847158" y="6574682"/>
                  <a:pt x="11850283" y="6572606"/>
                  <a:pt x="11853668" y="6570790"/>
                </a:cubicBezTo>
                <a:cubicBezTo>
                  <a:pt x="11832054" y="6559112"/>
                  <a:pt x="11771116" y="6526414"/>
                  <a:pt x="11746376" y="6511622"/>
                </a:cubicBezTo>
                <a:cubicBezTo>
                  <a:pt x="11736220" y="6505654"/>
                  <a:pt x="11729188" y="6500723"/>
                  <a:pt x="11729709" y="6496052"/>
                </a:cubicBezTo>
                <a:cubicBezTo>
                  <a:pt x="11730490" y="6490343"/>
                  <a:pt x="11745334" y="6478924"/>
                  <a:pt x="11759397" y="6464911"/>
                </a:cubicBezTo>
                <a:cubicBezTo>
                  <a:pt x="11763043" y="6461278"/>
                  <a:pt x="11769032" y="6455309"/>
                  <a:pt x="11775803" y="6448562"/>
                </a:cubicBezTo>
                <a:cubicBezTo>
                  <a:pt x="11773980" y="6441556"/>
                  <a:pt x="11774761" y="6435846"/>
                  <a:pt x="11777887" y="6431694"/>
                </a:cubicBezTo>
                <a:cubicBezTo>
                  <a:pt x="11781793" y="6426504"/>
                  <a:pt x="11788824" y="6424428"/>
                  <a:pt x="11799241" y="6424947"/>
                </a:cubicBezTo>
                <a:cubicBezTo>
                  <a:pt x="11812001" y="6412231"/>
                  <a:pt x="11823460" y="6400813"/>
                  <a:pt x="11827366" y="6396661"/>
                </a:cubicBezTo>
                <a:cubicBezTo>
                  <a:pt x="11836481" y="6387578"/>
                  <a:pt x="11846116" y="6378236"/>
                  <a:pt x="11850283" y="6378755"/>
                </a:cubicBezTo>
                <a:cubicBezTo>
                  <a:pt x="11853668" y="6379274"/>
                  <a:pt x="11855491" y="6382388"/>
                  <a:pt x="11856793" y="6391211"/>
                </a:cubicBezTo>
                <a:cubicBezTo>
                  <a:pt x="11857835" y="6398997"/>
                  <a:pt x="11860439" y="6421574"/>
                  <a:pt x="11861741" y="6436625"/>
                </a:cubicBezTo>
                <a:cubicBezTo>
                  <a:pt x="11875804" y="6439999"/>
                  <a:pt x="11888825" y="6443891"/>
                  <a:pt x="11900804" y="6447524"/>
                </a:cubicBezTo>
                <a:cubicBezTo>
                  <a:pt x="11899241" y="6344500"/>
                  <a:pt x="11887523" y="6322702"/>
                  <a:pt x="11866168" y="63198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609601" y="6858001"/>
                </a:lnTo>
                <a:lnTo>
                  <a:pt x="60960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6588000" tIns="0" rIns="0" bIns="97200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0"/>
            <a:ext cx="4267200" cy="6858000"/>
          </a:xfrm>
          <a:prstGeom prst="rect">
            <a:avLst/>
          </a:prstGeom>
          <a:noFill/>
          <a:effectLst/>
        </p:spPr>
        <p:txBody>
          <a:bodyPr wrap="square"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4800" baseline="0">
                <a:solidFill>
                  <a:schemeClr val="bg1"/>
                </a:solidFill>
                <a:effectLst>
                  <a:outerShdw blurRad="241300" sx="101000" sy="101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key 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486399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1" y="2505670"/>
            <a:ext cx="4876800" cy="1846659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accent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FF180-69F1-D9CE-F7AE-C67F44B963FF}"/>
              </a:ext>
            </a:extLst>
          </p:cNvPr>
          <p:cNvSpPr/>
          <p:nvPr userDrawn="1"/>
        </p:nvSpPr>
        <p:spPr>
          <a:xfrm>
            <a:off x="548640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54C43-AE7C-6A78-FB38-0C731C493714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05601" y="3059668"/>
            <a:ext cx="42672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2A7FED29-3BD1-8702-003D-AECEAB4F0291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1219200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8534399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C38F01-C88C-66E4-D496-EE6F4DA6D0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19200" y="2078979"/>
            <a:ext cx="1828800" cy="1828800"/>
          </a:xfrm>
          <a:solidFill>
            <a:srgbClr val="C4D0CD"/>
          </a:solidFill>
        </p:spPr>
        <p:txBody>
          <a:bodyPr lIns="180000" tIns="108000" rIns="180000"/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Click to add image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1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7201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3657601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10972800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36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41963"/>
            <a:ext cx="6705599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92206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314100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4357201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0" y="1906500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3124201"/>
            <a:ext cx="609599" cy="609599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4340402"/>
            <a:ext cx="609599" cy="609599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53712-A247-D64C-1DBA-F05D2671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39988"/>
            <a:ext cx="6705600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768551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685286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5982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45126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1751751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2668486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358140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495800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A47C52-FB27-86CD-F04A-AE8DE1BB8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799" y="5541963"/>
            <a:ext cx="6705601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61411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377735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141357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3904979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1200" y="466860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1597313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2358570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76800" y="3122063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6800" y="388332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6800" y="4651803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98B9145-89B6-BF4B-242D-0153106E7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tIns="0" r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1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1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001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1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9999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19999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9999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9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19999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05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05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05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05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05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8C46D-1CDC-84FE-8F70-284EF7D57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1600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1600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160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33083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3083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3083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3083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0574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1082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71082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71082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71082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71082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27431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89432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27431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89432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27431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89432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7431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9432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7431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89432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1C908-772C-2C85-0826-8BEB74003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417758-BEA0-8420-BFE3-8DCADBD82F44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3777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2504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1231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9958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8685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8" y="13960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2" y="22687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2" y="31414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2" y="40141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2" y="48868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BAEDD-5CFC-8A7E-EBA9-4C210BFBB09F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94839-4297-4B2C-9E5E-9464FC4D347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D8CF5-4E47-A043-B226-76001EF5E10A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D1584-DE2E-3E29-5277-526BF3D5340E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B04FC-C558-9D9C-44CA-215EF2B47E86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38800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7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1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1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1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1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2000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2638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2000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42638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0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2638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82000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2638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82000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2638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FF99C-677F-6CCC-96DF-B9FFF30E5BA7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9B219-1E94-7054-C344-988D43A2F2C6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1C63F-9159-B0A0-E328-9A43A435C19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9156" y="1488522"/>
            <a:ext cx="6703241" cy="424732"/>
          </a:xfrm>
          <a:noFill/>
          <a:ln w="12700"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9156" y="23612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9156" y="32339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156" y="41066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156" y="49793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5839B-4648-3E32-D8EF-46628E284EB6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23A4F-804E-0578-B208-3DA49BE29974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C52F-FE4A-E728-9592-09099EF0FC10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0" y="14885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6800" y="23612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32339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0" y="41066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800" y="49793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8" y="14885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8" y="23612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8" y="32339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81998" y="41066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8" y="49793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  <a:noFill/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0DD2977-1B98-C8CC-3C2E-4E4D084E068E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wrap="square"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C44839-40A6-908A-30D5-FAFFDE645937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D69BAC-3FF2-BED1-918F-3937EE16BB59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B142DA-6D97-E8D9-1635-883092A8E37B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95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81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67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53599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E6B730-5A42-208D-B433-6B6B39E47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7561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4162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0763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73639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9260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5861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2462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89063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7561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34162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0763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73639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A832-AF78-1D3F-183D-D1C1FAD9D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1" name="Text Placeholder 96">
            <a:extLst>
              <a:ext uri="{FF2B5EF4-FFF2-40B4-BE49-F238E27FC236}">
                <a16:creationId xmlns:a16="http://schemas.microsoft.com/office/drawing/2014/main" id="{E5E4BB74-DA2D-41B2-AA1D-6A62934140E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A1BF01-A79B-4385-8031-297EE30136DC}"/>
              </a:ext>
            </a:extLst>
          </p:cNvPr>
          <p:cNvGrpSpPr/>
          <p:nvPr userDrawn="1"/>
        </p:nvGrpSpPr>
        <p:grpSpPr>
          <a:xfrm>
            <a:off x="4702794" y="2368567"/>
            <a:ext cx="2786412" cy="2786898"/>
            <a:chOff x="4702794" y="1940301"/>
            <a:chExt cx="2786412" cy="278689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0997DD-D22B-4EFC-9126-67C2C54698BB}"/>
                </a:ext>
              </a:extLst>
            </p:cNvPr>
            <p:cNvSpPr/>
            <p:nvPr/>
          </p:nvSpPr>
          <p:spPr>
            <a:xfrm>
              <a:off x="4702794" y="1940301"/>
              <a:ext cx="2786412" cy="278689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29FAD213-61FD-4539-A69F-3C32018A24DB}"/>
                </a:ext>
              </a:extLst>
            </p:cNvPr>
            <p:cNvSpPr>
              <a:spLocks/>
            </p:cNvSpPr>
            <p:nvPr/>
          </p:nvSpPr>
          <p:spPr bwMode="auto">
            <a:xfrm rot="2035772" flipH="1">
              <a:off x="6585832" y="2580721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98D6951D-FE9A-4665-95E2-3F19B0E744E3}"/>
                </a:ext>
              </a:extLst>
            </p:cNvPr>
            <p:cNvSpPr>
              <a:spLocks/>
            </p:cNvSpPr>
            <p:nvPr/>
          </p:nvSpPr>
          <p:spPr bwMode="auto">
            <a:xfrm rot="16435772" flipH="1">
              <a:off x="4698038" y="2693600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2768B24A-1E90-4139-8E9B-B4B117E517F1}"/>
                </a:ext>
              </a:extLst>
            </p:cNvPr>
            <p:cNvSpPr>
              <a:spLocks/>
            </p:cNvSpPr>
            <p:nvPr/>
          </p:nvSpPr>
          <p:spPr bwMode="auto">
            <a:xfrm rot="9235772" flipH="1">
              <a:off x="5739691" y="4272038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25B7881-80A4-4DE1-92CC-18F43E2DBF8A}"/>
              </a:ext>
            </a:extLst>
          </p:cNvPr>
          <p:cNvSpPr/>
          <p:nvPr/>
        </p:nvSpPr>
        <p:spPr>
          <a:xfrm flipH="1">
            <a:off x="4010019" y="1340375"/>
            <a:ext cx="4171962" cy="417195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3600" b="1">
              <a:latin typeface="+mj-lt"/>
            </a:endParaRP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66890" y="1703838"/>
            <a:ext cx="1658270" cy="1658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67158" y="3634224"/>
            <a:ext cx="1658270" cy="16582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36020" y="3634224"/>
            <a:ext cx="1658270" cy="16582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9D7DC-907E-8D70-ABA4-33299889E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34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4" name="Text Placeholder 96">
            <a:extLst>
              <a:ext uri="{FF2B5EF4-FFF2-40B4-BE49-F238E27FC236}">
                <a16:creationId xmlns:a16="http://schemas.microsoft.com/office/drawing/2014/main" id="{CE8C3807-87D9-42F7-9FDA-C83B7DA9469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131E32-D591-4D01-92AB-485CBED924ED}"/>
              </a:ext>
            </a:extLst>
          </p:cNvPr>
          <p:cNvGrpSpPr/>
          <p:nvPr/>
        </p:nvGrpSpPr>
        <p:grpSpPr>
          <a:xfrm>
            <a:off x="4382752" y="2025571"/>
            <a:ext cx="3499796" cy="3499894"/>
            <a:chOff x="4490400" y="1728106"/>
            <a:chExt cx="3211200" cy="321129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289433E-E4BD-447F-A5D3-E923FF48D138}"/>
                </a:ext>
              </a:extLst>
            </p:cNvPr>
            <p:cNvSpPr/>
            <p:nvPr/>
          </p:nvSpPr>
          <p:spPr>
            <a:xfrm>
              <a:off x="4490400" y="1728106"/>
              <a:ext cx="3211200" cy="321129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2772CDC-6E6C-420D-900E-FDB16E44FD16}"/>
                </a:ext>
              </a:extLst>
            </p:cNvPr>
            <p:cNvSpPr>
              <a:spLocks/>
            </p:cNvSpPr>
            <p:nvPr/>
          </p:nvSpPr>
          <p:spPr bwMode="auto">
            <a:xfrm rot="19854777" flipH="1">
              <a:off x="5535147" y="1908953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0D540155-5B59-4189-895D-F8654D5FF389}"/>
                </a:ext>
              </a:extLst>
            </p:cNvPr>
            <p:cNvSpPr>
              <a:spLocks/>
            </p:cNvSpPr>
            <p:nvPr/>
          </p:nvSpPr>
          <p:spPr bwMode="auto">
            <a:xfrm rot="13554777" flipH="1">
              <a:off x="4504235" y="361806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E10B99A-BD03-430A-9F22-CFE36F812487}"/>
                </a:ext>
              </a:extLst>
            </p:cNvPr>
            <p:cNvSpPr>
              <a:spLocks/>
            </p:cNvSpPr>
            <p:nvPr/>
          </p:nvSpPr>
          <p:spPr bwMode="auto">
            <a:xfrm rot="9054777" flipH="1">
              <a:off x="5815679" y="4409107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D6D7828-85FD-428A-B05F-5C2C1BC9BEF4}"/>
                </a:ext>
              </a:extLst>
            </p:cNvPr>
            <p:cNvSpPr>
              <a:spLocks/>
            </p:cNvSpPr>
            <p:nvPr/>
          </p:nvSpPr>
          <p:spPr bwMode="auto">
            <a:xfrm rot="2754777" flipH="1">
              <a:off x="6846591" y="270000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98447" y="3791095"/>
            <a:ext cx="1915200" cy="1915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71325" y="4079859"/>
            <a:ext cx="1317600" cy="1317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44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344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97247" y="2133195"/>
            <a:ext cx="1317600" cy="131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172926" y="1834797"/>
            <a:ext cx="1914398" cy="19143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BAB4B-6164-4B6B-A4AF-AFBC4A747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56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8" name="Text Placeholder 96">
            <a:extLst>
              <a:ext uri="{FF2B5EF4-FFF2-40B4-BE49-F238E27FC236}">
                <a16:creationId xmlns:a16="http://schemas.microsoft.com/office/drawing/2014/main" id="{5D62670B-0564-448A-81BB-05FE5CE78A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E9D534-D83A-4B31-A3BE-9427DD348BAF}"/>
              </a:ext>
            </a:extLst>
          </p:cNvPr>
          <p:cNvGrpSpPr/>
          <p:nvPr userDrawn="1"/>
        </p:nvGrpSpPr>
        <p:grpSpPr>
          <a:xfrm>
            <a:off x="4500562" y="2232668"/>
            <a:ext cx="3267076" cy="3267070"/>
            <a:chOff x="4500562" y="1662253"/>
            <a:chExt cx="3267076" cy="326707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512217-6459-4660-9829-4DE5567187F7}"/>
                </a:ext>
              </a:extLst>
            </p:cNvPr>
            <p:cNvSpPr/>
            <p:nvPr/>
          </p:nvSpPr>
          <p:spPr>
            <a:xfrm rot="1639321">
              <a:off x="4500562" y="1662253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59D28C0B-069A-4D30-B857-D43033D72094}"/>
                </a:ext>
              </a:extLst>
            </p:cNvPr>
            <p:cNvSpPr>
              <a:spLocks/>
            </p:cNvSpPr>
            <p:nvPr/>
          </p:nvSpPr>
          <p:spPr bwMode="auto">
            <a:xfrm rot="1405703" flipH="1">
              <a:off x="6695740" y="20103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245FE08A-350D-4ADF-B528-DE0441A1AB41}"/>
                </a:ext>
              </a:extLst>
            </p:cNvPr>
            <p:cNvSpPr>
              <a:spLocks/>
            </p:cNvSpPr>
            <p:nvPr/>
          </p:nvSpPr>
          <p:spPr bwMode="auto">
            <a:xfrm rot="14365703" flipH="1">
              <a:off x="4628605" y="3890961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E0CA3E0-C143-41E0-AF74-49D1F216DF07}"/>
                </a:ext>
              </a:extLst>
            </p:cNvPr>
            <p:cNvSpPr>
              <a:spLocks/>
            </p:cNvSpPr>
            <p:nvPr/>
          </p:nvSpPr>
          <p:spPr bwMode="auto">
            <a:xfrm rot="18685703" flipH="1">
              <a:off x="4959962" y="22135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D2153C8F-EEA8-494D-A76E-24CE12EDC97D}"/>
                </a:ext>
              </a:extLst>
            </p:cNvPr>
            <p:cNvSpPr>
              <a:spLocks/>
            </p:cNvSpPr>
            <p:nvPr/>
          </p:nvSpPr>
          <p:spPr bwMode="auto">
            <a:xfrm rot="10045703" flipH="1">
              <a:off x="6121494" y="4724438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CD30E02F-8444-4044-9031-40722B9986B9}"/>
                </a:ext>
              </a:extLst>
            </p:cNvPr>
            <p:cNvSpPr>
              <a:spLocks/>
            </p:cNvSpPr>
            <p:nvPr/>
          </p:nvSpPr>
          <p:spPr bwMode="auto">
            <a:xfrm rot="5725703" flipH="1">
              <a:off x="7375506" y="3562176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812362" y="197799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812362" y="157390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615503" y="4283154"/>
            <a:ext cx="1382400" cy="1382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4106791" y="2766804"/>
            <a:ext cx="1382400" cy="138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096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96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096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96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214837" y="4268148"/>
            <a:ext cx="1382400" cy="138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 rot="5400000">
            <a:off x="5391956" y="1814412"/>
            <a:ext cx="1382400" cy="138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85344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85344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85344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85344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 userDrawn="1">
            <p:ph type="pic" sz="quarter" idx="45" hasCustomPrompt="1"/>
          </p:nvPr>
        </p:nvSpPr>
        <p:spPr>
          <a:xfrm>
            <a:off x="6694800" y="2742382"/>
            <a:ext cx="1382400" cy="138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2F3452-8ED7-BB43-4637-565A9C094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391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44" name="Text Placeholder 96">
            <a:extLst>
              <a:ext uri="{FF2B5EF4-FFF2-40B4-BE49-F238E27FC236}">
                <a16:creationId xmlns:a16="http://schemas.microsoft.com/office/drawing/2014/main" id="{5767C5E8-2550-48B3-B38B-4A113100B1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434940-7559-4041-A9F9-0DF5F3567311}"/>
              </a:ext>
            </a:extLst>
          </p:cNvPr>
          <p:cNvGrpSpPr/>
          <p:nvPr userDrawn="1"/>
        </p:nvGrpSpPr>
        <p:grpSpPr>
          <a:xfrm>
            <a:off x="3962400" y="1656710"/>
            <a:ext cx="4343400" cy="4343392"/>
            <a:chOff x="3962400" y="1182148"/>
            <a:chExt cx="4343400" cy="4343392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7068049-9E9C-4AB6-9ED8-B5CB565293A5}"/>
                </a:ext>
              </a:extLst>
            </p:cNvPr>
            <p:cNvSpPr/>
            <p:nvPr/>
          </p:nvSpPr>
          <p:spPr>
            <a:xfrm>
              <a:off x="4500562" y="1720309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42CFC9C-095F-4B94-A8F5-C216A77EFFF4}"/>
                </a:ext>
              </a:extLst>
            </p:cNvPr>
            <p:cNvGrpSpPr/>
            <p:nvPr/>
          </p:nvGrpSpPr>
          <p:grpSpPr>
            <a:xfrm rot="20663140">
              <a:off x="4928258" y="2358665"/>
              <a:ext cx="2665070" cy="2434571"/>
              <a:chOff x="5344949" y="2692885"/>
              <a:chExt cx="1655223" cy="1512065"/>
            </a:xfrm>
          </p:grpSpPr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5A557AD1-06A3-429C-A17C-67C2D6FC16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344949" y="2692885"/>
                <a:ext cx="106835" cy="148144"/>
              </a:xfrm>
              <a:custGeom>
                <a:avLst/>
                <a:gdLst>
                  <a:gd name="T0" fmla="*/ 110 w 110"/>
                  <a:gd name="T1" fmla="*/ 153 h 153"/>
                  <a:gd name="T2" fmla="*/ 110 w 110"/>
                  <a:gd name="T3" fmla="*/ 153 h 153"/>
                  <a:gd name="T4" fmla="*/ 0 w 110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3">
                    <a:moveTo>
                      <a:pt x="110" y="153"/>
                    </a:moveTo>
                    <a:cubicBezTo>
                      <a:pt x="110" y="153"/>
                      <a:pt x="110" y="153"/>
                      <a:pt x="110" y="153"/>
                    </a:cubicBezTo>
                    <a:cubicBezTo>
                      <a:pt x="79" y="98"/>
                      <a:pt x="41" y="47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2" name="Freeform 20">
                <a:extLst>
                  <a:ext uri="{FF2B5EF4-FFF2-40B4-BE49-F238E27FC236}">
                    <a16:creationId xmlns:a16="http://schemas.microsoft.com/office/drawing/2014/main" id="{B070BC1C-33C1-4074-AC0D-8088E6060A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924676" y="2841029"/>
                <a:ext cx="75496" cy="167374"/>
              </a:xfrm>
              <a:custGeom>
                <a:avLst/>
                <a:gdLst>
                  <a:gd name="T0" fmla="*/ 78 w 78"/>
                  <a:gd name="T1" fmla="*/ 0 h 173"/>
                  <a:gd name="T2" fmla="*/ 77 w 78"/>
                  <a:gd name="T3" fmla="*/ 0 h 173"/>
                  <a:gd name="T4" fmla="*/ 0 w 78"/>
                  <a:gd name="T5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3">
                    <a:moveTo>
                      <a:pt x="78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46" y="55"/>
                      <a:pt x="20" y="113"/>
                      <a:pt x="0" y="173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7E226681-5C0D-4724-8383-5DC8F39D29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951769" y="4186432"/>
                <a:ext cx="182331" cy="18518"/>
              </a:xfrm>
              <a:custGeom>
                <a:avLst/>
                <a:gdLst>
                  <a:gd name="T0" fmla="*/ 0 w 188"/>
                  <a:gd name="T1" fmla="*/ 18 h 19"/>
                  <a:gd name="T2" fmla="*/ 0 w 188"/>
                  <a:gd name="T3" fmla="*/ 19 h 19"/>
                  <a:gd name="T4" fmla="*/ 188 w 188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19">
                    <a:moveTo>
                      <a:pt x="0" y="18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63" y="19"/>
                      <a:pt x="126" y="12"/>
                      <a:pt x="18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6A6398B-0687-499A-A3EF-3864749ECD92}"/>
                </a:ext>
              </a:extLst>
            </p:cNvPr>
            <p:cNvGrpSpPr/>
            <p:nvPr/>
          </p:nvGrpSpPr>
          <p:grpSpPr>
            <a:xfrm rot="21366382">
              <a:off x="4721545" y="1896038"/>
              <a:ext cx="2667364" cy="2439158"/>
              <a:chOff x="5268028" y="2386626"/>
              <a:chExt cx="1656648" cy="1514914"/>
            </a:xfrm>
          </p:grpSpPr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52B27D6F-750C-4E87-9F46-CB20F0ACCC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134100" y="2386626"/>
                <a:ext cx="183043" cy="19230"/>
              </a:xfrm>
              <a:custGeom>
                <a:avLst/>
                <a:gdLst>
                  <a:gd name="T0" fmla="*/ 188 w 188"/>
                  <a:gd name="T1" fmla="*/ 1 h 20"/>
                  <a:gd name="T2" fmla="*/ 188 w 188"/>
                  <a:gd name="T3" fmla="*/ 0 h 20"/>
                  <a:gd name="T4" fmla="*/ 0 w 188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20">
                    <a:moveTo>
                      <a:pt x="188" y="1"/>
                    </a:moveTo>
                    <a:cubicBezTo>
                      <a:pt x="188" y="0"/>
                      <a:pt x="188" y="0"/>
                      <a:pt x="188" y="0"/>
                    </a:cubicBezTo>
                    <a:cubicBezTo>
                      <a:pt x="124" y="0"/>
                      <a:pt x="61" y="7"/>
                      <a:pt x="0" y="2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89" name="Freeform 21">
                <a:extLst>
                  <a:ext uri="{FF2B5EF4-FFF2-40B4-BE49-F238E27FC236}">
                    <a16:creationId xmlns:a16="http://schemas.microsoft.com/office/drawing/2014/main" id="{0148AA9A-F791-4EE1-8751-874899E875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17841" y="3751972"/>
                <a:ext cx="106835" cy="149568"/>
              </a:xfrm>
              <a:custGeom>
                <a:avLst/>
                <a:gdLst>
                  <a:gd name="T0" fmla="*/ 0 w 110"/>
                  <a:gd name="T1" fmla="*/ 0 h 154"/>
                  <a:gd name="T2" fmla="*/ 0 w 110"/>
                  <a:gd name="T3" fmla="*/ 1 h 154"/>
                  <a:gd name="T4" fmla="*/ 110 w 110"/>
                  <a:gd name="T5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4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2" y="56"/>
                      <a:pt x="69" y="107"/>
                      <a:pt x="110" y="154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0465E06E-A8C3-45A2-A1D6-6C0A7EBA54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268028" y="3583173"/>
                <a:ext cx="76209" cy="165950"/>
              </a:xfrm>
              <a:custGeom>
                <a:avLst/>
                <a:gdLst>
                  <a:gd name="T0" fmla="*/ 0 w 78"/>
                  <a:gd name="T1" fmla="*/ 172 h 172"/>
                  <a:gd name="T2" fmla="*/ 0 w 78"/>
                  <a:gd name="T3" fmla="*/ 172 h 172"/>
                  <a:gd name="T4" fmla="*/ 78 w 78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2">
                    <a:moveTo>
                      <a:pt x="0" y="172"/>
                    </a:moveTo>
                    <a:cubicBezTo>
                      <a:pt x="0" y="172"/>
                      <a:pt x="0" y="172"/>
                      <a:pt x="0" y="172"/>
                    </a:cubicBezTo>
                    <a:cubicBezTo>
                      <a:pt x="32" y="117"/>
                      <a:pt x="58" y="60"/>
                      <a:pt x="7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C7739D-8BC1-4056-B29E-95C7CA15BDCF}"/>
                </a:ext>
              </a:extLst>
            </p:cNvPr>
            <p:cNvSpPr/>
            <p:nvPr/>
          </p:nvSpPr>
          <p:spPr>
            <a:xfrm>
              <a:off x="3962400" y="1182148"/>
              <a:ext cx="4343400" cy="43433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26491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22402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14516" y="4308980"/>
            <a:ext cx="1479600" cy="14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18562" y="3358161"/>
            <a:ext cx="939600" cy="93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3732450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328361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5142435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4738346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399" y="5142435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399" y="4738346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24558" y="4673294"/>
            <a:ext cx="939600" cy="939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714516" y="1909879"/>
            <a:ext cx="1479600" cy="147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34399" y="3732450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34399" y="3328361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34399" y="2326491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34399" y="1922402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04" name="Picture Placeholder 18">
            <a:extLst>
              <a:ext uri="{FF2B5EF4-FFF2-40B4-BE49-F238E27FC236}">
                <a16:creationId xmlns:a16="http://schemas.microsoft.com/office/drawing/2014/main" id="{EE46A045-14C2-4E61-8827-7C151F1AAFD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755362" y="3088161"/>
            <a:ext cx="1479600" cy="1479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426189" y="2043918"/>
            <a:ext cx="939600" cy="93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16B8BE-255A-3EBA-708C-FD156B68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625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2128A043-8396-4954-A094-3A77D92F8D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3586142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4CD8BC7-181D-40C3-B655-0B1389F83D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3710172" cy="817200"/>
          </a:xfrm>
          <a:custGeom>
            <a:avLst/>
            <a:gdLst>
              <a:gd name="connsiteX0" fmla="*/ 0 w 3846513"/>
              <a:gd name="connsiteY0" fmla="*/ 0 h 817200"/>
              <a:gd name="connsiteX1" fmla="*/ 752 w 3846513"/>
              <a:gd name="connsiteY1" fmla="*/ 0 h 817200"/>
              <a:gd name="connsiteX2" fmla="*/ 2175412 w 3846513"/>
              <a:gd name="connsiteY2" fmla="*/ 0 h 817200"/>
              <a:gd name="connsiteX3" fmla="*/ 2785012 w 3846513"/>
              <a:gd name="connsiteY3" fmla="*/ 0 h 817200"/>
              <a:gd name="connsiteX4" fmla="*/ 3715287 w 3846513"/>
              <a:gd name="connsiteY4" fmla="*/ 0 h 817200"/>
              <a:gd name="connsiteX5" fmla="*/ 3846513 w 3846513"/>
              <a:gd name="connsiteY5" fmla="*/ 408600 h 817200"/>
              <a:gd name="connsiteX6" fmla="*/ 3715287 w 3846513"/>
              <a:gd name="connsiteY6" fmla="*/ 817200 h 817200"/>
              <a:gd name="connsiteX7" fmla="*/ 2785012 w 3846513"/>
              <a:gd name="connsiteY7" fmla="*/ 817200 h 817200"/>
              <a:gd name="connsiteX8" fmla="*/ 2175412 w 3846513"/>
              <a:gd name="connsiteY8" fmla="*/ 817200 h 817200"/>
              <a:gd name="connsiteX9" fmla="*/ 752 w 3846513"/>
              <a:gd name="connsiteY9" fmla="*/ 817200 h 817200"/>
              <a:gd name="connsiteX10" fmla="*/ 0 w 3846513"/>
              <a:gd name="connsiteY10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46513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3715287" y="0"/>
                </a:lnTo>
                <a:lnTo>
                  <a:pt x="3846513" y="408600"/>
                </a:lnTo>
                <a:lnTo>
                  <a:pt x="3715287" y="8172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9053" y="2849450"/>
            <a:ext cx="3586142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D429AD1-93FE-42C9-ACB6-DC8300212E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9054" y="2032113"/>
            <a:ext cx="3697922" cy="817200"/>
          </a:xfrm>
          <a:custGeom>
            <a:avLst/>
            <a:gdLst>
              <a:gd name="connsiteX0" fmla="*/ 0 w 3833812"/>
              <a:gd name="connsiteY0" fmla="*/ 0 h 817200"/>
              <a:gd name="connsiteX1" fmla="*/ 932575 w 3833812"/>
              <a:gd name="connsiteY1" fmla="*/ 0 h 817200"/>
              <a:gd name="connsiteX2" fmla="*/ 1533695 w 3833812"/>
              <a:gd name="connsiteY2" fmla="*/ 0 h 817200"/>
              <a:gd name="connsiteX3" fmla="*/ 3713545 w 3833812"/>
              <a:gd name="connsiteY3" fmla="*/ 0 h 817200"/>
              <a:gd name="connsiteX4" fmla="*/ 3713546 w 3833812"/>
              <a:gd name="connsiteY4" fmla="*/ 0 h 817200"/>
              <a:gd name="connsiteX5" fmla="*/ 3833812 w 3833812"/>
              <a:gd name="connsiteY5" fmla="*/ 408600 h 817200"/>
              <a:gd name="connsiteX6" fmla="*/ 3713545 w 3833812"/>
              <a:gd name="connsiteY6" fmla="*/ 817200 h 817200"/>
              <a:gd name="connsiteX7" fmla="*/ 1533695 w 3833812"/>
              <a:gd name="connsiteY7" fmla="*/ 817200 h 817200"/>
              <a:gd name="connsiteX8" fmla="*/ 932575 w 3833812"/>
              <a:gd name="connsiteY8" fmla="*/ 817200 h 817200"/>
              <a:gd name="connsiteX9" fmla="*/ 0 w 3833812"/>
              <a:gd name="connsiteY9" fmla="*/ 817200 h 817200"/>
              <a:gd name="connsiteX10" fmla="*/ 120267 w 3833812"/>
              <a:gd name="connsiteY10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3812" h="817200">
                <a:moveTo>
                  <a:pt x="0" y="0"/>
                </a:moveTo>
                <a:lnTo>
                  <a:pt x="932575" y="0"/>
                </a:lnTo>
                <a:lnTo>
                  <a:pt x="1533695" y="0"/>
                </a:lnTo>
                <a:lnTo>
                  <a:pt x="3713545" y="0"/>
                </a:lnTo>
                <a:lnTo>
                  <a:pt x="3713546" y="0"/>
                </a:lnTo>
                <a:lnTo>
                  <a:pt x="3833812" y="408600"/>
                </a:lnTo>
                <a:lnTo>
                  <a:pt x="3713545" y="817200"/>
                </a:lnTo>
                <a:lnTo>
                  <a:pt x="1533695" y="817200"/>
                </a:lnTo>
                <a:lnTo>
                  <a:pt x="932575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96257" y="2849450"/>
            <a:ext cx="3586142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A12C4F6-CA5C-4C9A-BF79-F0FD42EF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96258" y="2032113"/>
            <a:ext cx="3586142" cy="817200"/>
          </a:xfrm>
          <a:custGeom>
            <a:avLst/>
            <a:gdLst>
              <a:gd name="connsiteX0" fmla="*/ 0 w 3717925"/>
              <a:gd name="connsiteY0" fmla="*/ 0 h 817200"/>
              <a:gd name="connsiteX1" fmla="*/ 104986 w 3717925"/>
              <a:gd name="connsiteY1" fmla="*/ 0 h 817200"/>
              <a:gd name="connsiteX2" fmla="*/ 604460 w 3717925"/>
              <a:gd name="connsiteY2" fmla="*/ 0 h 817200"/>
              <a:gd name="connsiteX3" fmla="*/ 818271 w 3717925"/>
              <a:gd name="connsiteY3" fmla="*/ 0 h 817200"/>
              <a:gd name="connsiteX4" fmla="*/ 1417808 w 3717925"/>
              <a:gd name="connsiteY4" fmla="*/ 0 h 817200"/>
              <a:gd name="connsiteX5" fmla="*/ 3597658 w 3717925"/>
              <a:gd name="connsiteY5" fmla="*/ 0 h 817200"/>
              <a:gd name="connsiteX6" fmla="*/ 3597659 w 3717925"/>
              <a:gd name="connsiteY6" fmla="*/ 0 h 817200"/>
              <a:gd name="connsiteX7" fmla="*/ 3717925 w 3717925"/>
              <a:gd name="connsiteY7" fmla="*/ 0 h 817200"/>
              <a:gd name="connsiteX8" fmla="*/ 3717925 w 3717925"/>
              <a:gd name="connsiteY8" fmla="*/ 408600 h 817200"/>
              <a:gd name="connsiteX9" fmla="*/ 3717925 w 3717925"/>
              <a:gd name="connsiteY9" fmla="*/ 817200 h 817200"/>
              <a:gd name="connsiteX10" fmla="*/ 3597658 w 3717925"/>
              <a:gd name="connsiteY10" fmla="*/ 817200 h 817200"/>
              <a:gd name="connsiteX11" fmla="*/ 1417808 w 3717925"/>
              <a:gd name="connsiteY11" fmla="*/ 817200 h 817200"/>
              <a:gd name="connsiteX12" fmla="*/ 818271 w 3717925"/>
              <a:gd name="connsiteY12" fmla="*/ 817200 h 817200"/>
              <a:gd name="connsiteX13" fmla="*/ 61231 w 3717925"/>
              <a:gd name="connsiteY13" fmla="*/ 817200 h 817200"/>
              <a:gd name="connsiteX14" fmla="*/ 61231 w 3717925"/>
              <a:gd name="connsiteY14" fmla="*/ 817199 h 817200"/>
              <a:gd name="connsiteX15" fmla="*/ 104985 w 3717925"/>
              <a:gd name="connsiteY15" fmla="*/ 817199 h 817200"/>
              <a:gd name="connsiteX16" fmla="*/ 104985 w 3717925"/>
              <a:gd name="connsiteY16" fmla="*/ 817198 h 817200"/>
              <a:gd name="connsiteX17" fmla="*/ 0 w 3717925"/>
              <a:gd name="connsiteY17" fmla="*/ 817198 h 817200"/>
              <a:gd name="connsiteX18" fmla="*/ 134895 w 3717925"/>
              <a:gd name="connsiteY18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17925" h="817200">
                <a:moveTo>
                  <a:pt x="0" y="0"/>
                </a:moveTo>
                <a:lnTo>
                  <a:pt x="104986" y="0"/>
                </a:lnTo>
                <a:lnTo>
                  <a:pt x="604460" y="0"/>
                </a:lnTo>
                <a:lnTo>
                  <a:pt x="818271" y="0"/>
                </a:lnTo>
                <a:lnTo>
                  <a:pt x="1417808" y="0"/>
                </a:lnTo>
                <a:lnTo>
                  <a:pt x="3597658" y="0"/>
                </a:lnTo>
                <a:lnTo>
                  <a:pt x="3597659" y="0"/>
                </a:lnTo>
                <a:lnTo>
                  <a:pt x="3717925" y="0"/>
                </a:lnTo>
                <a:lnTo>
                  <a:pt x="3717925" y="408600"/>
                </a:lnTo>
                <a:lnTo>
                  <a:pt x="3717925" y="817200"/>
                </a:lnTo>
                <a:lnTo>
                  <a:pt x="3597658" y="817200"/>
                </a:lnTo>
                <a:lnTo>
                  <a:pt x="1417808" y="817200"/>
                </a:lnTo>
                <a:lnTo>
                  <a:pt x="818271" y="817200"/>
                </a:lnTo>
                <a:lnTo>
                  <a:pt x="61231" y="817200"/>
                </a:lnTo>
                <a:lnTo>
                  <a:pt x="61231" y="817199"/>
                </a:lnTo>
                <a:lnTo>
                  <a:pt x="104985" y="817199"/>
                </a:lnTo>
                <a:lnTo>
                  <a:pt x="104985" y="817198"/>
                </a:lnTo>
                <a:lnTo>
                  <a:pt x="0" y="817198"/>
                </a:lnTo>
                <a:lnTo>
                  <a:pt x="134895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42FEAC-F445-5176-FA40-B34E9F0ED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228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9BF63BD-24FC-4FB2-B627-3C8094934CB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83CC72-343E-4818-B724-8F9FEE0BFD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8536" y="2032113"/>
            <a:ext cx="2798402" cy="817198"/>
          </a:xfrm>
          <a:custGeom>
            <a:avLst/>
            <a:gdLst>
              <a:gd name="connsiteX0" fmla="*/ 0 w 2901237"/>
              <a:gd name="connsiteY0" fmla="*/ 0 h 817198"/>
              <a:gd name="connsiteX1" fmla="*/ 601120 w 2901237"/>
              <a:gd name="connsiteY1" fmla="*/ 0 h 817198"/>
              <a:gd name="connsiteX2" fmla="*/ 2772401 w 2901237"/>
              <a:gd name="connsiteY2" fmla="*/ 0 h 817198"/>
              <a:gd name="connsiteX3" fmla="*/ 2896346 w 2901237"/>
              <a:gd name="connsiteY3" fmla="*/ 391982 h 817198"/>
              <a:gd name="connsiteX4" fmla="*/ 2901237 w 2901237"/>
              <a:gd name="connsiteY4" fmla="*/ 408600 h 817198"/>
              <a:gd name="connsiteX5" fmla="*/ 2896353 w 2901237"/>
              <a:gd name="connsiteY5" fmla="*/ 425192 h 817198"/>
              <a:gd name="connsiteX6" fmla="*/ 2772401 w 2901237"/>
              <a:gd name="connsiteY6" fmla="*/ 817198 h 817198"/>
              <a:gd name="connsiteX7" fmla="*/ 1 w 2901237"/>
              <a:gd name="connsiteY7" fmla="*/ 817198 h 817198"/>
              <a:gd name="connsiteX8" fmla="*/ 9 w 2901237"/>
              <a:gd name="connsiteY8" fmla="*/ 817171 h 817198"/>
              <a:gd name="connsiteX9" fmla="*/ 129199 w 2901237"/>
              <a:gd name="connsiteY9" fmla="*/ 408599 h 81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01237" h="817198">
                <a:moveTo>
                  <a:pt x="0" y="0"/>
                </a:moveTo>
                <a:lnTo>
                  <a:pt x="601120" y="0"/>
                </a:lnTo>
                <a:lnTo>
                  <a:pt x="2772401" y="0"/>
                </a:lnTo>
                <a:lnTo>
                  <a:pt x="2896346" y="391982"/>
                </a:lnTo>
                <a:lnTo>
                  <a:pt x="2901237" y="408600"/>
                </a:lnTo>
                <a:lnTo>
                  <a:pt x="2896353" y="425192"/>
                </a:lnTo>
                <a:lnTo>
                  <a:pt x="2772401" y="817198"/>
                </a:lnTo>
                <a:lnTo>
                  <a:pt x="1" y="817198"/>
                </a:lnTo>
                <a:lnTo>
                  <a:pt x="9" y="817171"/>
                </a:lnTo>
                <a:lnTo>
                  <a:pt x="129199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tIns="0" rIns="18000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686630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A375546-B5E2-4A34-9E57-6FD13BAC4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812872" cy="817200"/>
          </a:xfrm>
          <a:custGeom>
            <a:avLst/>
            <a:gdLst>
              <a:gd name="connsiteX0" fmla="*/ 0 w 2916238"/>
              <a:gd name="connsiteY0" fmla="*/ 0 h 817200"/>
              <a:gd name="connsiteX1" fmla="*/ 752 w 2916238"/>
              <a:gd name="connsiteY1" fmla="*/ 0 h 817200"/>
              <a:gd name="connsiteX2" fmla="*/ 2175412 w 2916238"/>
              <a:gd name="connsiteY2" fmla="*/ 0 h 817200"/>
              <a:gd name="connsiteX3" fmla="*/ 2785012 w 2916238"/>
              <a:gd name="connsiteY3" fmla="*/ 0 h 817200"/>
              <a:gd name="connsiteX4" fmla="*/ 2916238 w 2916238"/>
              <a:gd name="connsiteY4" fmla="*/ 408600 h 817200"/>
              <a:gd name="connsiteX5" fmla="*/ 2785012 w 2916238"/>
              <a:gd name="connsiteY5" fmla="*/ 817200 h 817200"/>
              <a:gd name="connsiteX6" fmla="*/ 2175412 w 2916238"/>
              <a:gd name="connsiteY6" fmla="*/ 817200 h 817200"/>
              <a:gd name="connsiteX7" fmla="*/ 752 w 2916238"/>
              <a:gd name="connsiteY7" fmla="*/ 817200 h 817200"/>
              <a:gd name="connsiteX8" fmla="*/ 0 w 2916238"/>
              <a:gd name="connsiteY8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6238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2916238" y="4086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03" y="2849450"/>
            <a:ext cx="2686630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7D4CF97-9894-4D12-B5CD-6E7A0BEFE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1303" y="2032113"/>
            <a:ext cx="2798402" cy="817200"/>
          </a:xfrm>
          <a:custGeom>
            <a:avLst/>
            <a:gdLst>
              <a:gd name="connsiteX0" fmla="*/ 0 w 2901237"/>
              <a:gd name="connsiteY0" fmla="*/ 0 h 817200"/>
              <a:gd name="connsiteX1" fmla="*/ 601120 w 2901237"/>
              <a:gd name="connsiteY1" fmla="*/ 0 h 817200"/>
              <a:gd name="connsiteX2" fmla="*/ 2780970 w 2901237"/>
              <a:gd name="connsiteY2" fmla="*/ 0 h 817200"/>
              <a:gd name="connsiteX3" fmla="*/ 2780971 w 2901237"/>
              <a:gd name="connsiteY3" fmla="*/ 0 h 817200"/>
              <a:gd name="connsiteX4" fmla="*/ 2901237 w 2901237"/>
              <a:gd name="connsiteY4" fmla="*/ 408600 h 817200"/>
              <a:gd name="connsiteX5" fmla="*/ 2780970 w 2901237"/>
              <a:gd name="connsiteY5" fmla="*/ 817200 h 817200"/>
              <a:gd name="connsiteX6" fmla="*/ 601120 w 2901237"/>
              <a:gd name="connsiteY6" fmla="*/ 817200 h 817200"/>
              <a:gd name="connsiteX7" fmla="*/ 0 w 2901237"/>
              <a:gd name="connsiteY7" fmla="*/ 817200 h 817200"/>
              <a:gd name="connsiteX8" fmla="*/ 120267 w 2901237"/>
              <a:gd name="connsiteY8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237" h="817200">
                <a:moveTo>
                  <a:pt x="0" y="0"/>
                </a:moveTo>
                <a:lnTo>
                  <a:pt x="601120" y="0"/>
                </a:lnTo>
                <a:lnTo>
                  <a:pt x="2780970" y="0"/>
                </a:lnTo>
                <a:lnTo>
                  <a:pt x="2780971" y="0"/>
                </a:lnTo>
                <a:lnTo>
                  <a:pt x="2901237" y="408600"/>
                </a:lnTo>
                <a:lnTo>
                  <a:pt x="2780970" y="817200"/>
                </a:lnTo>
                <a:lnTo>
                  <a:pt x="60112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8536" y="2849450"/>
            <a:ext cx="2686630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693F23D-9700-4C2B-8C74-EC7DABC03D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5770" y="2849312"/>
            <a:ext cx="2686630" cy="2876549"/>
          </a:xfrm>
          <a:prstGeom prst="rect">
            <a:avLst/>
          </a:prstGeom>
          <a:noFill/>
          <a:ln>
            <a:solidFill>
              <a:srgbClr val="D8DFDE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A2D96A-3279-4543-B199-078C69DB5E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95769" y="2032113"/>
            <a:ext cx="2686631" cy="817200"/>
          </a:xfrm>
          <a:custGeom>
            <a:avLst/>
            <a:gdLst>
              <a:gd name="connsiteX0" fmla="*/ 0 w 2785358"/>
              <a:gd name="connsiteY0" fmla="*/ 0 h 817200"/>
              <a:gd name="connsiteX1" fmla="*/ 75364 w 2785358"/>
              <a:gd name="connsiteY1" fmla="*/ 0 h 817200"/>
              <a:gd name="connsiteX2" fmla="*/ 450010 w 2785358"/>
              <a:gd name="connsiteY2" fmla="*/ 0 h 817200"/>
              <a:gd name="connsiteX3" fmla="*/ 485241 w 2785358"/>
              <a:gd name="connsiteY3" fmla="*/ 0 h 817200"/>
              <a:gd name="connsiteX4" fmla="*/ 2665092 w 2785358"/>
              <a:gd name="connsiteY4" fmla="*/ 0 h 817200"/>
              <a:gd name="connsiteX5" fmla="*/ 2785358 w 2785358"/>
              <a:gd name="connsiteY5" fmla="*/ 0 h 817200"/>
              <a:gd name="connsiteX6" fmla="*/ 2785358 w 2785358"/>
              <a:gd name="connsiteY6" fmla="*/ 408600 h 817200"/>
              <a:gd name="connsiteX7" fmla="*/ 2785358 w 2785358"/>
              <a:gd name="connsiteY7" fmla="*/ 817200 h 817200"/>
              <a:gd name="connsiteX8" fmla="*/ 2665091 w 2785358"/>
              <a:gd name="connsiteY8" fmla="*/ 817200 h 817200"/>
              <a:gd name="connsiteX9" fmla="*/ 485241 w 2785358"/>
              <a:gd name="connsiteY9" fmla="*/ 817200 h 817200"/>
              <a:gd name="connsiteX10" fmla="*/ 42544 w 2785358"/>
              <a:gd name="connsiteY10" fmla="*/ 817200 h 817200"/>
              <a:gd name="connsiteX11" fmla="*/ 42544 w 2785358"/>
              <a:gd name="connsiteY11" fmla="*/ 817199 h 817200"/>
              <a:gd name="connsiteX12" fmla="*/ 75363 w 2785358"/>
              <a:gd name="connsiteY12" fmla="*/ 817199 h 817200"/>
              <a:gd name="connsiteX13" fmla="*/ 75363 w 2785358"/>
              <a:gd name="connsiteY13" fmla="*/ 817198 h 817200"/>
              <a:gd name="connsiteX14" fmla="*/ 0 w 2785358"/>
              <a:gd name="connsiteY14" fmla="*/ 817198 h 817200"/>
              <a:gd name="connsiteX15" fmla="*/ 135060 w 2785358"/>
              <a:gd name="connsiteY15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5358" h="817200">
                <a:moveTo>
                  <a:pt x="0" y="0"/>
                </a:moveTo>
                <a:lnTo>
                  <a:pt x="75364" y="0"/>
                </a:lnTo>
                <a:lnTo>
                  <a:pt x="450010" y="0"/>
                </a:lnTo>
                <a:lnTo>
                  <a:pt x="485241" y="0"/>
                </a:lnTo>
                <a:lnTo>
                  <a:pt x="2665092" y="0"/>
                </a:lnTo>
                <a:lnTo>
                  <a:pt x="2785358" y="0"/>
                </a:lnTo>
                <a:lnTo>
                  <a:pt x="2785358" y="408600"/>
                </a:lnTo>
                <a:lnTo>
                  <a:pt x="2785358" y="817200"/>
                </a:lnTo>
                <a:lnTo>
                  <a:pt x="2665091" y="817200"/>
                </a:lnTo>
                <a:lnTo>
                  <a:pt x="485241" y="817200"/>
                </a:lnTo>
                <a:lnTo>
                  <a:pt x="42544" y="817200"/>
                </a:lnTo>
                <a:lnTo>
                  <a:pt x="42544" y="817199"/>
                </a:lnTo>
                <a:lnTo>
                  <a:pt x="75363" y="817199"/>
                </a:lnTo>
                <a:lnTo>
                  <a:pt x="75363" y="817198"/>
                </a:lnTo>
                <a:lnTo>
                  <a:pt x="0" y="817198"/>
                </a:lnTo>
                <a:lnTo>
                  <a:pt x="135060" y="408599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86A654-81DD-9D81-F84F-289D9BD8B7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79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7790730A-1804-4570-8AF0-4427D8EE38D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097825" cy="2876549"/>
          </a:xfrm>
          <a:noFill/>
          <a:ln>
            <a:solidFill>
              <a:schemeClr val="accent2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D6CB9D3-FFF8-41F8-AB84-829079938E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224300" cy="817200"/>
          </a:xfrm>
          <a:custGeom>
            <a:avLst/>
            <a:gdLst>
              <a:gd name="connsiteX0" fmla="*/ 0 w 2305886"/>
              <a:gd name="connsiteY0" fmla="*/ 0 h 817200"/>
              <a:gd name="connsiteX1" fmla="*/ 2174660 w 2305886"/>
              <a:gd name="connsiteY1" fmla="*/ 0 h 817200"/>
              <a:gd name="connsiteX2" fmla="*/ 2305886 w 2305886"/>
              <a:gd name="connsiteY2" fmla="*/ 408600 h 817200"/>
              <a:gd name="connsiteX3" fmla="*/ 2174660 w 2305886"/>
              <a:gd name="connsiteY3" fmla="*/ 817200 h 817200"/>
              <a:gd name="connsiteX4" fmla="*/ 0 w 2305886"/>
              <a:gd name="connsiteY4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886" h="817200">
                <a:moveTo>
                  <a:pt x="0" y="0"/>
                </a:moveTo>
                <a:lnTo>
                  <a:pt x="2174660" y="0"/>
                </a:lnTo>
                <a:lnTo>
                  <a:pt x="2305886" y="408600"/>
                </a:lnTo>
                <a:lnTo>
                  <a:pt x="2174660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6952" y="2849450"/>
            <a:ext cx="2097825" cy="287654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6C0C20F-32BB-4C0E-AAF8-A6A7691478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1126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4304" y="2849450"/>
            <a:ext cx="2097825" cy="287654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B90539-6EE8-4A3B-99A2-131BECE1E8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7087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tIns="180000" rIns="180000" b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E232F59-5ADC-46E3-9697-CA7EA3C216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1656" y="2849312"/>
            <a:ext cx="2097825" cy="2876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F6D8DE-FDAF-4886-9A00-5D9F036F05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3049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84ACBA5-0874-4C39-B8D4-EE3612F7CE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9008" y="2032112"/>
            <a:ext cx="2103392" cy="817201"/>
          </a:xfrm>
          <a:custGeom>
            <a:avLst/>
            <a:gdLst>
              <a:gd name="connsiteX0" fmla="*/ 0 w 2180543"/>
              <a:gd name="connsiteY0" fmla="*/ 0 h 817201"/>
              <a:gd name="connsiteX1" fmla="*/ 49503 w 2180543"/>
              <a:gd name="connsiteY1" fmla="*/ 0 h 817201"/>
              <a:gd name="connsiteX2" fmla="*/ 344110 w 2180543"/>
              <a:gd name="connsiteY2" fmla="*/ 0 h 817201"/>
              <a:gd name="connsiteX3" fmla="*/ 2180543 w 2180543"/>
              <a:gd name="connsiteY3" fmla="*/ 0 h 817201"/>
              <a:gd name="connsiteX4" fmla="*/ 2180543 w 2180543"/>
              <a:gd name="connsiteY4" fmla="*/ 408601 h 817201"/>
              <a:gd name="connsiteX5" fmla="*/ 2180543 w 2180543"/>
              <a:gd name="connsiteY5" fmla="*/ 817201 h 817201"/>
              <a:gd name="connsiteX6" fmla="*/ 2079387 w 2180543"/>
              <a:gd name="connsiteY6" fmla="*/ 817201 h 817201"/>
              <a:gd name="connsiteX7" fmla="*/ 245924 w 2180543"/>
              <a:gd name="connsiteY7" fmla="*/ 817201 h 817201"/>
              <a:gd name="connsiteX8" fmla="*/ 23694 w 2180543"/>
              <a:gd name="connsiteY8" fmla="*/ 817201 h 817201"/>
              <a:gd name="connsiteX9" fmla="*/ 23694 w 2180543"/>
              <a:gd name="connsiteY9" fmla="*/ 817200 h 817201"/>
              <a:gd name="connsiteX10" fmla="*/ 49502 w 2180543"/>
              <a:gd name="connsiteY10" fmla="*/ 817200 h 817201"/>
              <a:gd name="connsiteX11" fmla="*/ 49502 w 2180543"/>
              <a:gd name="connsiteY11" fmla="*/ 817199 h 817201"/>
              <a:gd name="connsiteX12" fmla="*/ 0 w 2180543"/>
              <a:gd name="connsiteY12" fmla="*/ 817199 h 817201"/>
              <a:gd name="connsiteX13" fmla="*/ 135079 w 2180543"/>
              <a:gd name="connsiteY13" fmla="*/ 408600 h 81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80543" h="817201">
                <a:moveTo>
                  <a:pt x="0" y="0"/>
                </a:moveTo>
                <a:lnTo>
                  <a:pt x="49503" y="0"/>
                </a:lnTo>
                <a:lnTo>
                  <a:pt x="344110" y="0"/>
                </a:lnTo>
                <a:lnTo>
                  <a:pt x="2180543" y="0"/>
                </a:lnTo>
                <a:lnTo>
                  <a:pt x="2180543" y="408601"/>
                </a:lnTo>
                <a:lnTo>
                  <a:pt x="2180543" y="817201"/>
                </a:lnTo>
                <a:lnTo>
                  <a:pt x="2079387" y="817201"/>
                </a:lnTo>
                <a:lnTo>
                  <a:pt x="245924" y="817201"/>
                </a:lnTo>
                <a:lnTo>
                  <a:pt x="23694" y="817201"/>
                </a:lnTo>
                <a:lnTo>
                  <a:pt x="23694" y="817200"/>
                </a:lnTo>
                <a:lnTo>
                  <a:pt x="49502" y="817200"/>
                </a:lnTo>
                <a:lnTo>
                  <a:pt x="49502" y="817199"/>
                </a:lnTo>
                <a:lnTo>
                  <a:pt x="0" y="817199"/>
                </a:lnTo>
                <a:lnTo>
                  <a:pt x="135079" y="408600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5D5D2A3B-816B-4063-BC86-43FC874466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9009" y="2849450"/>
            <a:ext cx="2103392" cy="2876550"/>
          </a:xfrm>
          <a:noFill/>
          <a:ln>
            <a:solidFill>
              <a:srgbClr val="D8DFDE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D00D93-A803-412A-9193-2BC38522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8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1D798A16-3930-4F04-AFA2-82EA4BFB259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28305"/>
            <a:ext cx="2614971" cy="3344218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0531" y="1628305"/>
            <a:ext cx="2774479" cy="3344218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22971" y="1628305"/>
            <a:ext cx="2759429" cy="3344218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DEBEC-636B-315D-963E-349CBF9C1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D3C580-A9B8-4489-B9AC-6B1A250A2E2D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0208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3E274903-3C98-4D30-B827-CF2B37D16C9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1" y="1628309"/>
            <a:ext cx="1918632" cy="3344210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780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2836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4892" y="1628307"/>
            <a:ext cx="2057509" cy="3344214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048F-6BD4-24E9-B4F5-DD3805454B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8E916-5694-2B2A-F817-C6A0B1B43DB7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77093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663299E0-114F-4CE4-B2F9-405E73283CF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30680"/>
            <a:ext cx="1533535" cy="3344222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1092" y="1630680"/>
            <a:ext cx="1634697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5745" y="1630680"/>
            <a:ext cx="1645051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205E639-54B0-4870-A015-7D3CAC5DF4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0752" y="1630680"/>
            <a:ext cx="1636680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7389" y="1630686"/>
            <a:ext cx="1635009" cy="3344222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323AF-0939-977A-4444-593F7D690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08AB3A-2620-C701-340D-6FC2DE40C086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06061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32A8305-0A77-4646-B111-53EF169406A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0" y="5721531"/>
            <a:ext cx="4876800" cy="479244"/>
          </a:xfrm>
        </p:spPr>
        <p:txBody>
          <a:bodyPr rIns="0" anchor="ctr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7601" y="413521"/>
            <a:ext cx="4876799" cy="479244"/>
          </a:xfrm>
        </p:spPr>
        <p:txBody>
          <a:bodyPr rIns="0" anchor="ctr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7601" y="1025840"/>
            <a:ext cx="4551996" cy="4551996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0403" y="1025840"/>
            <a:ext cx="4551996" cy="4551996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F8CB4-4CB9-190D-08A8-B455A7315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DE70DD-47EB-1030-FD70-D3ABD48777AC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36808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2135C828-3151-41FA-8348-153EF07735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4400" y="5762415"/>
            <a:ext cx="3047999" cy="424732"/>
          </a:xfrm>
        </p:spPr>
        <p:txBody>
          <a:bodyPr tIns="0" anchor="b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97200" y="413521"/>
            <a:ext cx="3008400" cy="424732"/>
          </a:xfrm>
        </p:spPr>
        <p:txBody>
          <a:bodyPr tIns="0" anchor="t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48800" y="450000"/>
            <a:ext cx="3322800" cy="3322800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04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4FC366A-0CEA-4CD0-9B38-E42E5FC1B9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97200" y="5762415"/>
            <a:ext cx="3008400" cy="424732"/>
          </a:xfrm>
        </p:spPr>
        <p:txBody>
          <a:bodyPr tIns="0" anchor="b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F52DAA3-7E10-4B57-9351-33AF3DEFB4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72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56EA3-D364-C533-10D3-893A65FA0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AF0C82-6917-BA47-1ABB-92D8583FA868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8993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088BE6C7-1108-0041-AA63-83BBB3C54183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14258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tags" Target="../tags/tag13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theme" Target="../theme/theme2.xml"/><Relationship Id="rId30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tags" Target="../tags/tag42.xml"/><Relationship Id="rId5" Type="http://schemas.openxmlformats.org/officeDocument/2006/relationships/slideLayout" Target="../slideLayouts/slideLayout4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8.xml"/><Relationship Id="rId9" Type="http://schemas.openxmlformats.org/officeDocument/2006/relationships/tags" Target="../tags/tag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slideLayout" Target="../slideLayouts/slideLayout54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7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5.xml"/><Relationship Id="rId7" Type="http://schemas.openxmlformats.org/officeDocument/2006/relationships/tags" Target="../tags/tag73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1.png"/><Relationship Id="rId5" Type="http://schemas.openxmlformats.org/officeDocument/2006/relationships/tags" Target="../tags/tag79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7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ags" Target="../tags/tag83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</a:extLst>
          </p:cNvPr>
          <p:cNvSpPr txBox="1">
            <a:spLocks/>
          </p:cNvSpPr>
          <p:nvPr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61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C8D178E0-FA5A-256D-475A-9B5B395083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28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04" r:id="rId2"/>
    <p:sldLayoutId id="2147484121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3" r:id="rId14"/>
    <p:sldLayoutId id="2147484124" r:id="rId15"/>
    <p:sldLayoutId id="2147484125" r:id="rId16"/>
    <p:sldLayoutId id="2147484126" r:id="rId17"/>
    <p:sldLayoutId id="2147484127" r:id="rId18"/>
    <p:sldLayoutId id="2147484128" r:id="rId19"/>
    <p:sldLayoutId id="2147484129" r:id="rId20"/>
    <p:sldLayoutId id="2147483985" r:id="rId21"/>
    <p:sldLayoutId id="2147484130" r:id="rId22"/>
    <p:sldLayoutId id="2147484131" r:id="rId23"/>
    <p:sldLayoutId id="2147484133" r:id="rId24"/>
    <p:sldLayoutId id="2147484134" r:id="rId25"/>
    <p:sldLayoutId id="2147484135" r:id="rId2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B29A5C8-68FC-296D-D70C-338F68D2DF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1" r:id="rId3"/>
    <p:sldLayoutId id="2147484105" r:id="rId4"/>
    <p:sldLayoutId id="2147484092" r:id="rId5"/>
    <p:sldLayoutId id="2147484095" r:id="rId6"/>
    <p:sldLayoutId id="2147484096" r:id="rId7"/>
    <p:sldLayoutId id="2147484097" r:id="rId8"/>
    <p:sldLayoutId id="2147484100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816682-2D7A-900A-8934-80B459110B2F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9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122" r:id="rId6"/>
    <p:sldLayoutId id="2147484008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C7F3F9A-2916-1C3D-166C-04E5D6242B67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73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E2F71DA-E675-50C9-A90B-CBD9F699B854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FCACAAB-1F89-129B-3008-E3560755D6C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4F1528C-DCE1-FEE1-18B7-428B1E9E5140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F40B718-E799-4CD2-5777-8BF8209267C2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2956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7" r:id="rId12"/>
    <p:sldLayoutId id="214748404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8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56D50C-8A8C-A57F-E225-3D4180E6049B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6027536"/>
            <a:ext cx="1828800" cy="169277"/>
          </a:xfrm>
        </p:spPr>
        <p:txBody>
          <a:bodyPr/>
          <a:lstStyle/>
          <a:p>
            <a:r>
              <a:rPr lang="en-GB" dirty="0"/>
              <a:t>08OOCT25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99994-6BFD-42B1-3C7E-45F3270E596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ICB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AEE25C-E2A8-F975-9F6E-344887B0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Overcoming challenges with scale-up and GMP implementation of an integrated dynamic bioprocessing (IDB) platform for multiple products</a:t>
            </a:r>
            <a:endParaRPr lang="en-US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75033E-E428-6DAF-9F20-FE906A7908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Nicole A. Bleckwenn, Ph.D. </a:t>
            </a:r>
          </a:p>
          <a:p>
            <a:r>
              <a:rPr lang="en-US" dirty="0"/>
              <a:t>Kate Harvey &amp; MTD team, Jon Coffman, Carrington Edmunds, Ken Lee &amp; BTE team, CCFS team, PPS team, Dan Pappas &amp; MS team, QA team, and Operations and Regulatory Colleagues  </a:t>
            </a:r>
          </a:p>
          <a:p>
            <a:r>
              <a:rPr lang="en-US" i="1" dirty="0"/>
              <a:t>On behalf of the entire AZ organization developing and supporting IDB implementation</a:t>
            </a:r>
          </a:p>
        </p:txBody>
      </p:sp>
      <p:pic>
        <p:nvPicPr>
          <p:cNvPr id="61" name="Picture Placeholder 57">
            <a:extLst>
              <a:ext uri="{FF2B5EF4-FFF2-40B4-BE49-F238E27FC236}">
                <a16:creationId xmlns:a16="http://schemas.microsoft.com/office/drawing/2014/main" id="{5E8FB6A1-8A3A-BACB-EFAF-6C4953944B8C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r="2333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40000"/>
                    <a:lumOff val="60000"/>
                  </a:schemeClr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62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550DF21-D408-EADF-DDD9-F998F324024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5486400" y="6200775"/>
            <a:ext cx="4876799" cy="6572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22962C03-5CF6-9CAC-8582-F111DBA7D13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363200" y="6344085"/>
            <a:ext cx="1219199" cy="309145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2D05B3F1-974E-D606-1F4A-44E98401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2"/>
            <a:ext cx="4267201" cy="68580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E21E6-0EBE-1E01-4467-2E411232421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344085"/>
            <a:ext cx="487680" cy="30914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5F5CFC17-494A-286C-DA1E-E34D6A9B5359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1866931474"/>
              </p:ext>
            </p:extLst>
          </p:nvPr>
        </p:nvGraphicFramePr>
        <p:xfrm>
          <a:off x="5486400" y="404813"/>
          <a:ext cx="6096000" cy="57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956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Title 1">
            <a:extLst>
              <a:ext uri="{FF2B5EF4-FFF2-40B4-BE49-F238E27FC236}">
                <a16:creationId xmlns:a16="http://schemas.microsoft.com/office/drawing/2014/main" id="{26ECD40D-9A1B-88C3-933C-0F10C207BA2D}"/>
              </a:ext>
            </a:extLst>
          </p:cNvPr>
          <p:cNvSpPr txBox="1">
            <a:spLocks/>
          </p:cNvSpPr>
          <p:nvPr/>
        </p:nvSpPr>
        <p:spPr>
          <a:xfrm>
            <a:off x="326864" y="317134"/>
            <a:ext cx="1097280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Integrated Dynamic Bioprocessing (IDB) </a:t>
            </a:r>
            <a:r>
              <a:rPr lang="en-US"/>
              <a:t>Platform</a:t>
            </a:r>
            <a:endParaRPr lang="en-US" dirty="0"/>
          </a:p>
        </p:txBody>
      </p:sp>
      <p:grpSp>
        <p:nvGrpSpPr>
          <p:cNvPr id="4123" name="Group 4122">
            <a:extLst>
              <a:ext uri="{FF2B5EF4-FFF2-40B4-BE49-F238E27FC236}">
                <a16:creationId xmlns:a16="http://schemas.microsoft.com/office/drawing/2014/main" id="{01070D70-47A3-B9E1-B7C3-99EA40C58A28}"/>
              </a:ext>
            </a:extLst>
          </p:cNvPr>
          <p:cNvGrpSpPr/>
          <p:nvPr/>
        </p:nvGrpSpPr>
        <p:grpSpPr>
          <a:xfrm>
            <a:off x="1021937" y="2273292"/>
            <a:ext cx="9930102" cy="2311415"/>
            <a:chOff x="960858" y="661499"/>
            <a:chExt cx="9930102" cy="2311415"/>
          </a:xfrm>
        </p:grpSpPr>
        <p:cxnSp>
          <p:nvCxnSpPr>
            <p:cNvPr id="4125" name="Connector: Elbow 172">
              <a:extLst>
                <a:ext uri="{FF2B5EF4-FFF2-40B4-BE49-F238E27FC236}">
                  <a16:creationId xmlns:a16="http://schemas.microsoft.com/office/drawing/2014/main" id="{5F119DC7-CEDA-9C8A-44BA-F81AEC2AFEB5}"/>
                </a:ext>
              </a:extLst>
            </p:cNvPr>
            <p:cNvCxnSpPr>
              <a:stCxn id="1086" idx="2"/>
              <a:endCxn id="1040" idx="0"/>
            </p:cNvCxnSpPr>
            <p:nvPr/>
          </p:nvCxnSpPr>
          <p:spPr>
            <a:xfrm rot="5400000" flipH="1" flipV="1">
              <a:off x="8831251" y="1882995"/>
              <a:ext cx="385254" cy="635766"/>
            </a:xfrm>
            <a:prstGeom prst="bentConnector5">
              <a:avLst>
                <a:gd name="adj1" fmla="val -50274"/>
                <a:gd name="adj2" fmla="val 50166"/>
                <a:gd name="adj3" fmla="val 150274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127">
              <a:extLst>
                <a:ext uri="{FF2B5EF4-FFF2-40B4-BE49-F238E27FC236}">
                  <a16:creationId xmlns:a16="http://schemas.microsoft.com/office/drawing/2014/main" id="{3D7C71A4-ECA0-0AFF-6D45-68292D13EF6C}"/>
                </a:ext>
              </a:extLst>
            </p:cNvPr>
            <p:cNvCxnSpPr>
              <a:cxnSpLocks/>
              <a:stCxn id="1086" idx="0"/>
            </p:cNvCxnSpPr>
            <p:nvPr/>
          </p:nvCxnSpPr>
          <p:spPr>
            <a:xfrm flipV="1">
              <a:off x="8705995" y="1810277"/>
              <a:ext cx="0" cy="234602"/>
            </a:xfrm>
            <a:prstGeom prst="line">
              <a:avLst/>
            </a:prstGeom>
            <a:ln w="19050">
              <a:solidFill>
                <a:schemeClr val="bg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128">
              <a:extLst>
                <a:ext uri="{FF2B5EF4-FFF2-40B4-BE49-F238E27FC236}">
                  <a16:creationId xmlns:a16="http://schemas.microsoft.com/office/drawing/2014/main" id="{345E2461-3B9C-D2C3-D124-3C47ADAA0F45}"/>
                </a:ext>
              </a:extLst>
            </p:cNvPr>
            <p:cNvCxnSpPr>
              <a:cxnSpLocks/>
              <a:stCxn id="1034" idx="2"/>
            </p:cNvCxnSpPr>
            <p:nvPr/>
          </p:nvCxnSpPr>
          <p:spPr>
            <a:xfrm>
              <a:off x="9396753" y="2511184"/>
              <a:ext cx="0" cy="148795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131">
              <a:extLst>
                <a:ext uri="{FF2B5EF4-FFF2-40B4-BE49-F238E27FC236}">
                  <a16:creationId xmlns:a16="http://schemas.microsoft.com/office/drawing/2014/main" id="{79CC7157-93B5-2ED6-BB5A-11D89728BDC3}"/>
                </a:ext>
              </a:extLst>
            </p:cNvPr>
            <p:cNvCxnSpPr>
              <a:cxnSpLocks/>
              <a:stCxn id="150" idx="2"/>
            </p:cNvCxnSpPr>
            <p:nvPr/>
          </p:nvCxnSpPr>
          <p:spPr>
            <a:xfrm flipH="1">
              <a:off x="3885373" y="2740212"/>
              <a:ext cx="311" cy="168866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Connector: Elbow 20">
              <a:extLst>
                <a:ext uri="{FF2B5EF4-FFF2-40B4-BE49-F238E27FC236}">
                  <a16:creationId xmlns:a16="http://schemas.microsoft.com/office/drawing/2014/main" id="{2565C186-89FA-163F-C60D-73DCA0F2A263}"/>
                </a:ext>
              </a:extLst>
            </p:cNvPr>
            <p:cNvCxnSpPr>
              <a:stCxn id="154" idx="2"/>
              <a:endCxn id="1065" idx="0"/>
            </p:cNvCxnSpPr>
            <p:nvPr/>
          </p:nvCxnSpPr>
          <p:spPr>
            <a:xfrm rot="5400000" flipH="1" flipV="1">
              <a:off x="3840725" y="1977561"/>
              <a:ext cx="595834" cy="658892"/>
            </a:xfrm>
            <a:prstGeom prst="bentConnector5">
              <a:avLst>
                <a:gd name="adj1" fmla="val -50565"/>
                <a:gd name="adj2" fmla="val 52894"/>
                <a:gd name="adj3" fmla="val 132506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35" name="Group 4134">
              <a:extLst>
                <a:ext uri="{FF2B5EF4-FFF2-40B4-BE49-F238E27FC236}">
                  <a16:creationId xmlns:a16="http://schemas.microsoft.com/office/drawing/2014/main" id="{D66F88A9-3A78-D410-23E3-3FBF6452C76B}"/>
                </a:ext>
              </a:extLst>
            </p:cNvPr>
            <p:cNvGrpSpPr/>
            <p:nvPr/>
          </p:nvGrpSpPr>
          <p:grpSpPr>
            <a:xfrm>
              <a:off x="10394595" y="1942494"/>
              <a:ext cx="496365" cy="682286"/>
              <a:chOff x="8312397" y="3465518"/>
              <a:chExt cx="429115" cy="482228"/>
            </a:xfrm>
          </p:grpSpPr>
          <p:sp>
            <p:nvSpPr>
              <p:cNvPr id="159" name="Rectangle: Top Corners Rounded 23">
                <a:extLst>
                  <a:ext uri="{FF2B5EF4-FFF2-40B4-BE49-F238E27FC236}">
                    <a16:creationId xmlns:a16="http://schemas.microsoft.com/office/drawing/2014/main" id="{B181317F-C28B-9FF0-1AC7-9CE81B6E68E3}"/>
                  </a:ext>
                </a:extLst>
              </p:cNvPr>
              <p:cNvSpPr/>
              <p:nvPr/>
            </p:nvSpPr>
            <p:spPr>
              <a:xfrm flipV="1">
                <a:off x="8315014" y="3711248"/>
                <a:ext cx="425485" cy="236498"/>
              </a:xfrm>
              <a:prstGeom prst="round2SameRect">
                <a:avLst>
                  <a:gd name="adj1" fmla="val 24408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97E68D58-760B-1EF4-62D3-766710C7CA47}"/>
                  </a:ext>
                </a:extLst>
              </p:cNvPr>
              <p:cNvGrpSpPr/>
              <p:nvPr/>
            </p:nvGrpSpPr>
            <p:grpSpPr>
              <a:xfrm>
                <a:off x="8312397" y="3465518"/>
                <a:ext cx="429115" cy="482228"/>
                <a:chOff x="4316929" y="2454595"/>
                <a:chExt cx="877454" cy="744904"/>
              </a:xfrm>
            </p:grpSpPr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BFF9506A-4415-9918-AB71-BE2FC4E48D55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DB0FD7A9-5770-B345-ECE7-E94803F255ED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875EBF71-DD8E-7026-8504-8CCA4E026C43}"/>
                    </a:ext>
                  </a:extLst>
                </p:cNvPr>
                <p:cNvCxnSpPr>
                  <a:cxnSpLocks/>
                  <a:stCxn id="165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Flowchart: Alternate Process 28">
                  <a:extLst>
                    <a:ext uri="{FF2B5EF4-FFF2-40B4-BE49-F238E27FC236}">
                      <a16:creationId xmlns:a16="http://schemas.microsoft.com/office/drawing/2014/main" id="{953CBB6C-121C-B335-A511-6BEFA97F06D6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4140" name="Connector: Elbow 29">
              <a:extLst>
                <a:ext uri="{FF2B5EF4-FFF2-40B4-BE49-F238E27FC236}">
                  <a16:creationId xmlns:a16="http://schemas.microsoft.com/office/drawing/2014/main" id="{51EA09FB-B66B-E335-C56E-46B49906E7C3}"/>
                </a:ext>
              </a:extLst>
            </p:cNvPr>
            <p:cNvCxnSpPr>
              <a:stCxn id="1053" idx="3"/>
              <a:endCxn id="130" idx="0"/>
            </p:cNvCxnSpPr>
            <p:nvPr/>
          </p:nvCxnSpPr>
          <p:spPr>
            <a:xfrm flipV="1">
              <a:off x="2227935" y="2007633"/>
              <a:ext cx="424652" cy="212438"/>
            </a:xfrm>
            <a:prstGeom prst="bentConnector4">
              <a:avLst>
                <a:gd name="adj1" fmla="val 40103"/>
                <a:gd name="adj2" fmla="val 191491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41" name="Group 4140">
              <a:extLst>
                <a:ext uri="{FF2B5EF4-FFF2-40B4-BE49-F238E27FC236}">
                  <a16:creationId xmlns:a16="http://schemas.microsoft.com/office/drawing/2014/main" id="{B27DC53E-158E-C37D-D223-0DFA900C1340}"/>
                </a:ext>
              </a:extLst>
            </p:cNvPr>
            <p:cNvGrpSpPr>
              <a:grpSpLocks/>
            </p:cNvGrpSpPr>
            <p:nvPr/>
          </p:nvGrpSpPr>
          <p:grpSpPr>
            <a:xfrm>
              <a:off x="3651442" y="1828380"/>
              <a:ext cx="391994" cy="911832"/>
              <a:chOff x="2925988" y="3152534"/>
              <a:chExt cx="550787" cy="1076223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77D7C6DE-3043-58C6-2AB8-7A9495EC454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925988" y="3152534"/>
                <a:ext cx="443316" cy="916544"/>
                <a:chOff x="2925988" y="3152534"/>
                <a:chExt cx="443316" cy="916544"/>
              </a:xfrm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3502CC27-E14B-D547-219D-074A692B4F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26742" y="3152534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56D27191-C485-4B29-82CA-F4A5F30EA7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5988" y="3152534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A73D4E90-E5CB-A2B6-B7B7-57A4D3802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5988" y="4069078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426A8B1D-DEBB-58BC-3A14-EB257712408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033459" y="3312213"/>
                <a:ext cx="443316" cy="916544"/>
                <a:chOff x="3033459" y="3312213"/>
                <a:chExt cx="443316" cy="916544"/>
              </a:xfrm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FEF03375-8F8D-F85E-D6CF-93133BB2FEE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34213" y="3312213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EF2C0B4-B181-E858-4BFB-6035CC137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3459" y="3312213"/>
                  <a:ext cx="443316" cy="0"/>
                </a:xfrm>
                <a:prstGeom prst="line">
                  <a:avLst/>
                </a:prstGeom>
                <a:solidFill>
                  <a:schemeClr val="accent6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161F22D3-BB6B-2DAC-E001-AAA39A888C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3459" y="4228757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47" name="Group 4146">
              <a:extLst>
                <a:ext uri="{FF2B5EF4-FFF2-40B4-BE49-F238E27FC236}">
                  <a16:creationId xmlns:a16="http://schemas.microsoft.com/office/drawing/2014/main" id="{13B2A5C2-BC01-14AB-CFAB-D9884F168E45}"/>
                </a:ext>
              </a:extLst>
            </p:cNvPr>
            <p:cNvGrpSpPr/>
            <p:nvPr/>
          </p:nvGrpSpPr>
          <p:grpSpPr>
            <a:xfrm>
              <a:off x="2508273" y="2007634"/>
              <a:ext cx="288629" cy="432076"/>
              <a:chOff x="2563215" y="3459873"/>
              <a:chExt cx="429115" cy="482228"/>
            </a:xfrm>
          </p:grpSpPr>
          <p:sp>
            <p:nvSpPr>
              <p:cNvPr id="124" name="Rectangle: Top Corners Rounded 41">
                <a:extLst>
                  <a:ext uri="{FF2B5EF4-FFF2-40B4-BE49-F238E27FC236}">
                    <a16:creationId xmlns:a16="http://schemas.microsoft.com/office/drawing/2014/main" id="{367E977B-A10E-6EAE-354C-DED49FF5A68F}"/>
                  </a:ext>
                </a:extLst>
              </p:cNvPr>
              <p:cNvSpPr/>
              <p:nvPr/>
            </p:nvSpPr>
            <p:spPr>
              <a:xfrm flipV="1">
                <a:off x="2564868" y="3705602"/>
                <a:ext cx="424101" cy="236498"/>
              </a:xfrm>
              <a:prstGeom prst="round2SameRect">
                <a:avLst>
                  <a:gd name="adj1" fmla="val 22911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00695392-101D-77B7-9022-64243829AA0E}"/>
                  </a:ext>
                </a:extLst>
              </p:cNvPr>
              <p:cNvGrpSpPr/>
              <p:nvPr/>
            </p:nvGrpSpPr>
            <p:grpSpPr>
              <a:xfrm>
                <a:off x="2563215" y="3459873"/>
                <a:ext cx="429115" cy="482228"/>
                <a:chOff x="4316929" y="2454595"/>
                <a:chExt cx="877454" cy="744904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FA2E3C6E-FB06-73D8-5376-2B5706EEA45F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9DBAD00C-3FB2-35B3-47A3-BCA1E1042917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79926163-BEDD-BA16-11E1-F39624AF8DF3}"/>
                    </a:ext>
                  </a:extLst>
                </p:cNvPr>
                <p:cNvCxnSpPr>
                  <a:cxnSpLocks/>
                  <a:stCxn id="127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lowchart: Alternate Process 46">
                  <a:extLst>
                    <a:ext uri="{FF2B5EF4-FFF2-40B4-BE49-F238E27FC236}">
                      <a16:creationId xmlns:a16="http://schemas.microsoft.com/office/drawing/2014/main" id="{EA3D9344-8BFC-5B8D-A88E-EF92A1F585BF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4148" name="Straight Connector 4147">
              <a:extLst>
                <a:ext uri="{FF2B5EF4-FFF2-40B4-BE49-F238E27FC236}">
                  <a16:creationId xmlns:a16="http://schemas.microsoft.com/office/drawing/2014/main" id="{634D703A-15EC-D63C-CF83-018FCFFD2257}"/>
                </a:ext>
              </a:extLst>
            </p:cNvPr>
            <p:cNvCxnSpPr>
              <a:cxnSpLocks/>
              <a:stCxn id="108" idx="2"/>
            </p:cNvCxnSpPr>
            <p:nvPr/>
          </p:nvCxnSpPr>
          <p:spPr>
            <a:xfrm flipH="1">
              <a:off x="6309445" y="2740831"/>
              <a:ext cx="523" cy="168866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48">
              <a:extLst>
                <a:ext uri="{FF2B5EF4-FFF2-40B4-BE49-F238E27FC236}">
                  <a16:creationId xmlns:a16="http://schemas.microsoft.com/office/drawing/2014/main" id="{F2251901-2D7D-B542-6FA1-6C199F678349}"/>
                </a:ext>
              </a:extLst>
            </p:cNvPr>
            <p:cNvCxnSpPr>
              <a:stCxn id="117" idx="2"/>
              <a:endCxn id="1073" idx="0"/>
            </p:cNvCxnSpPr>
            <p:nvPr/>
          </p:nvCxnSpPr>
          <p:spPr>
            <a:xfrm rot="5400000" flipH="1" flipV="1">
              <a:off x="6265009" y="1978179"/>
              <a:ext cx="595834" cy="658892"/>
            </a:xfrm>
            <a:prstGeom prst="bentConnector5">
              <a:avLst>
                <a:gd name="adj1" fmla="val -50565"/>
                <a:gd name="adj2" fmla="val 52562"/>
                <a:gd name="adj3" fmla="val 132506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743A28A-F85F-346F-FBB3-611B4A4BC646}"/>
                </a:ext>
              </a:extLst>
            </p:cNvPr>
            <p:cNvGrpSpPr/>
            <p:nvPr/>
          </p:nvGrpSpPr>
          <p:grpSpPr>
            <a:xfrm>
              <a:off x="6075727" y="1828999"/>
              <a:ext cx="391994" cy="911832"/>
              <a:chOff x="2925988" y="3152534"/>
              <a:chExt cx="550787" cy="1076223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27C2691E-5599-1C70-C96C-454E70FC7166}"/>
                  </a:ext>
                </a:extLst>
              </p:cNvPr>
              <p:cNvGrpSpPr/>
              <p:nvPr/>
            </p:nvGrpSpPr>
            <p:grpSpPr>
              <a:xfrm>
                <a:off x="2925988" y="3152534"/>
                <a:ext cx="443316" cy="916544"/>
                <a:chOff x="2925988" y="3152534"/>
                <a:chExt cx="443316" cy="916544"/>
              </a:xfrm>
            </p:grpSpPr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E1C0899B-A852-F3B1-EF1A-BC9AA2244DAA}"/>
                    </a:ext>
                  </a:extLst>
                </p:cNvPr>
                <p:cNvSpPr/>
                <p:nvPr/>
              </p:nvSpPr>
              <p:spPr>
                <a:xfrm>
                  <a:off x="3026742" y="3152534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400E1306-A07E-97C4-6FA9-EE3BFACA922B}"/>
                    </a:ext>
                  </a:extLst>
                </p:cNvPr>
                <p:cNvCxnSpPr/>
                <p:nvPr/>
              </p:nvCxnSpPr>
              <p:spPr>
                <a:xfrm>
                  <a:off x="2925988" y="3152534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0555272C-B52D-72A4-37A7-F40293D6885E}"/>
                    </a:ext>
                  </a:extLst>
                </p:cNvPr>
                <p:cNvCxnSpPr/>
                <p:nvPr/>
              </p:nvCxnSpPr>
              <p:spPr>
                <a:xfrm>
                  <a:off x="2925988" y="4069078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B6CCEF16-1143-DF51-9E88-206EB9091108}"/>
                  </a:ext>
                </a:extLst>
              </p:cNvPr>
              <p:cNvGrpSpPr/>
              <p:nvPr/>
            </p:nvGrpSpPr>
            <p:grpSpPr>
              <a:xfrm>
                <a:off x="3033459" y="3312213"/>
                <a:ext cx="443316" cy="916544"/>
                <a:chOff x="3033459" y="3312213"/>
                <a:chExt cx="443316" cy="916544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5BAC7CBD-7AEF-80F7-D79C-8D739E6864E1}"/>
                    </a:ext>
                  </a:extLst>
                </p:cNvPr>
                <p:cNvSpPr/>
                <p:nvPr/>
              </p:nvSpPr>
              <p:spPr>
                <a:xfrm>
                  <a:off x="3134213" y="3312213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5E480774-8C18-74D6-9149-B85D2321EDF5}"/>
                    </a:ext>
                  </a:extLst>
                </p:cNvPr>
                <p:cNvCxnSpPr/>
                <p:nvPr/>
              </p:nvCxnSpPr>
              <p:spPr>
                <a:xfrm>
                  <a:off x="3033459" y="3312213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5D426731-67B8-B3CD-012A-4C28BCFA1015}"/>
                    </a:ext>
                  </a:extLst>
                </p:cNvPr>
                <p:cNvCxnSpPr/>
                <p:nvPr/>
              </p:nvCxnSpPr>
              <p:spPr>
                <a:xfrm>
                  <a:off x="3033459" y="4228757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149" name="Straight Connector 4148">
              <a:extLst>
                <a:ext uri="{FF2B5EF4-FFF2-40B4-BE49-F238E27FC236}">
                  <a16:creationId xmlns:a16="http://schemas.microsoft.com/office/drawing/2014/main" id="{F515B300-E60F-6361-B661-E9509CC79BE6}"/>
                </a:ext>
              </a:extLst>
            </p:cNvPr>
            <p:cNvCxnSpPr>
              <a:cxnSpLocks/>
              <a:stCxn id="110" idx="2"/>
            </p:cNvCxnSpPr>
            <p:nvPr/>
          </p:nvCxnSpPr>
          <p:spPr>
            <a:xfrm flipH="1">
              <a:off x="7550935" y="2740831"/>
              <a:ext cx="955" cy="168866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Connector: Elbow 60">
              <a:extLst>
                <a:ext uri="{FF2B5EF4-FFF2-40B4-BE49-F238E27FC236}">
                  <a16:creationId xmlns:a16="http://schemas.microsoft.com/office/drawing/2014/main" id="{F16462E2-0042-9EDC-0A6D-52BFF5B10731}"/>
                </a:ext>
              </a:extLst>
            </p:cNvPr>
            <p:cNvCxnSpPr>
              <a:stCxn id="163" idx="2"/>
              <a:endCxn id="201" idx="0"/>
            </p:cNvCxnSpPr>
            <p:nvPr/>
          </p:nvCxnSpPr>
          <p:spPr>
            <a:xfrm rot="5400000" flipH="1" flipV="1">
              <a:off x="7506931" y="1978179"/>
              <a:ext cx="595834" cy="658892"/>
            </a:xfrm>
            <a:prstGeom prst="bentConnector5">
              <a:avLst>
                <a:gd name="adj1" fmla="val -50565"/>
                <a:gd name="adj2" fmla="val 54266"/>
                <a:gd name="adj3" fmla="val 132506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6E31CE9-005F-52C7-D498-95AEEE1378B1}"/>
                </a:ext>
              </a:extLst>
            </p:cNvPr>
            <p:cNvGrpSpPr/>
            <p:nvPr/>
          </p:nvGrpSpPr>
          <p:grpSpPr>
            <a:xfrm>
              <a:off x="7317648" y="1828999"/>
              <a:ext cx="391994" cy="911832"/>
              <a:chOff x="2925988" y="3152534"/>
              <a:chExt cx="550787" cy="1076223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FCF1362-0126-DA1D-EC69-BB6B8FCBB65B}"/>
                  </a:ext>
                </a:extLst>
              </p:cNvPr>
              <p:cNvGrpSpPr/>
              <p:nvPr/>
            </p:nvGrpSpPr>
            <p:grpSpPr>
              <a:xfrm>
                <a:off x="2925988" y="3152534"/>
                <a:ext cx="443316" cy="916544"/>
                <a:chOff x="2925988" y="3152534"/>
                <a:chExt cx="443316" cy="916544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5FFD1BF5-52F1-70AC-AFB6-6B55D1286957}"/>
                    </a:ext>
                  </a:extLst>
                </p:cNvPr>
                <p:cNvSpPr/>
                <p:nvPr/>
              </p:nvSpPr>
              <p:spPr>
                <a:xfrm>
                  <a:off x="3026742" y="3152534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BB3513BC-12D3-0743-B0AD-A31838057513}"/>
                    </a:ext>
                  </a:extLst>
                </p:cNvPr>
                <p:cNvCxnSpPr/>
                <p:nvPr/>
              </p:nvCxnSpPr>
              <p:spPr>
                <a:xfrm>
                  <a:off x="2925988" y="3152534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42AC638B-C3AA-DBB4-A679-D88B0ECA7CB6}"/>
                    </a:ext>
                  </a:extLst>
                </p:cNvPr>
                <p:cNvCxnSpPr/>
                <p:nvPr/>
              </p:nvCxnSpPr>
              <p:spPr>
                <a:xfrm>
                  <a:off x="2925988" y="4069078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CEFBA6F-27B6-CA89-9D7C-D68C72885E75}"/>
                  </a:ext>
                </a:extLst>
              </p:cNvPr>
              <p:cNvGrpSpPr/>
              <p:nvPr/>
            </p:nvGrpSpPr>
            <p:grpSpPr>
              <a:xfrm>
                <a:off x="3033459" y="3312213"/>
                <a:ext cx="443316" cy="916544"/>
                <a:chOff x="3033459" y="3312213"/>
                <a:chExt cx="443316" cy="916544"/>
              </a:xfrm>
            </p:grpSpPr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9F9011D-4959-DABA-5B02-9A4D09C5D233}"/>
                    </a:ext>
                  </a:extLst>
                </p:cNvPr>
                <p:cNvSpPr/>
                <p:nvPr/>
              </p:nvSpPr>
              <p:spPr>
                <a:xfrm>
                  <a:off x="3134213" y="3312213"/>
                  <a:ext cx="241809" cy="916544"/>
                </a:xfrm>
                <a:prstGeom prst="rect">
                  <a:avLst/>
                </a:prstGeom>
                <a:solidFill>
                  <a:schemeClr val="accent6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884F9D1F-F4F8-8389-0A16-372DD3BD6099}"/>
                    </a:ext>
                  </a:extLst>
                </p:cNvPr>
                <p:cNvCxnSpPr/>
                <p:nvPr/>
              </p:nvCxnSpPr>
              <p:spPr>
                <a:xfrm>
                  <a:off x="3033459" y="3312213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ABBE36FC-7BA4-A604-377B-36E975DA4435}"/>
                    </a:ext>
                  </a:extLst>
                </p:cNvPr>
                <p:cNvCxnSpPr/>
                <p:nvPr/>
              </p:nvCxnSpPr>
              <p:spPr>
                <a:xfrm>
                  <a:off x="3033459" y="4228757"/>
                  <a:ext cx="443316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152" name="Connector: Elbow 103">
              <a:extLst>
                <a:ext uri="{FF2B5EF4-FFF2-40B4-BE49-F238E27FC236}">
                  <a16:creationId xmlns:a16="http://schemas.microsoft.com/office/drawing/2014/main" id="{339DE3A0-B153-066C-0F29-8234B56C91CF}"/>
                </a:ext>
              </a:extLst>
            </p:cNvPr>
            <p:cNvCxnSpPr>
              <a:stCxn id="4153" idx="2"/>
              <a:endCxn id="167" idx="0"/>
            </p:cNvCxnSpPr>
            <p:nvPr/>
          </p:nvCxnSpPr>
          <p:spPr>
            <a:xfrm rot="5400000" flipH="1" flipV="1">
              <a:off x="10072572" y="1837752"/>
              <a:ext cx="465463" cy="674947"/>
            </a:xfrm>
            <a:prstGeom prst="bentConnector5">
              <a:avLst>
                <a:gd name="adj1" fmla="val -54712"/>
                <a:gd name="adj2" fmla="val 43152"/>
                <a:gd name="adj3" fmla="val 141611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3" name="Rectangle 4152">
              <a:extLst>
                <a:ext uri="{FF2B5EF4-FFF2-40B4-BE49-F238E27FC236}">
                  <a16:creationId xmlns:a16="http://schemas.microsoft.com/office/drawing/2014/main" id="{B939B2DE-4F5E-8EE4-9ACB-205DE16C45D8}"/>
                </a:ext>
              </a:extLst>
            </p:cNvPr>
            <p:cNvSpPr/>
            <p:nvPr/>
          </p:nvSpPr>
          <p:spPr>
            <a:xfrm>
              <a:off x="9821406" y="2059330"/>
              <a:ext cx="292850" cy="348627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endParaRPr lang="en-US" sz="1155" err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7D6E6326-4DCF-4503-9959-50B589BC152F}"/>
                </a:ext>
              </a:extLst>
            </p:cNvPr>
            <p:cNvCxnSpPr>
              <a:cxnSpLocks/>
            </p:cNvCxnSpPr>
            <p:nvPr/>
          </p:nvCxnSpPr>
          <p:spPr>
            <a:xfrm>
              <a:off x="6232958" y="1665112"/>
              <a:ext cx="0" cy="163887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9C8C8A0-FA8F-9E48-0C0C-970AFE9591C8}"/>
                </a:ext>
              </a:extLst>
            </p:cNvPr>
            <p:cNvCxnSpPr>
              <a:cxnSpLocks/>
            </p:cNvCxnSpPr>
            <p:nvPr/>
          </p:nvCxnSpPr>
          <p:spPr>
            <a:xfrm>
              <a:off x="3808886" y="1664493"/>
              <a:ext cx="0" cy="163887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9C05716-4ABB-BF31-5AF1-0CAA40A8DA20}"/>
                </a:ext>
              </a:extLst>
            </p:cNvPr>
            <p:cNvCxnSpPr>
              <a:cxnSpLocks/>
            </p:cNvCxnSpPr>
            <p:nvPr/>
          </p:nvCxnSpPr>
          <p:spPr>
            <a:xfrm>
              <a:off x="7474448" y="1665112"/>
              <a:ext cx="0" cy="163887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AC1C993-6092-4221-C881-861F95CEA285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>
              <a:off x="2907210" y="1828379"/>
              <a:ext cx="0" cy="820339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87497F7-EB1D-CA68-2209-46BFB7153B79}"/>
                </a:ext>
              </a:extLst>
            </p:cNvPr>
            <p:cNvSpPr txBox="1"/>
            <p:nvPr/>
          </p:nvSpPr>
          <p:spPr>
            <a:xfrm>
              <a:off x="2233824" y="787159"/>
              <a:ext cx="121049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Virus Inactivation</a:t>
              </a:r>
            </a:p>
          </p:txBody>
        </p:sp>
        <p:cxnSp>
          <p:nvCxnSpPr>
            <p:cNvPr id="72" name="Connector: Elbow 126">
              <a:extLst>
                <a:ext uri="{FF2B5EF4-FFF2-40B4-BE49-F238E27FC236}">
                  <a16:creationId xmlns:a16="http://schemas.microsoft.com/office/drawing/2014/main" id="{3E53C31D-FBF8-1DE3-0728-D02E447DAF7B}"/>
                </a:ext>
              </a:extLst>
            </p:cNvPr>
            <p:cNvCxnSpPr>
              <a:stCxn id="1040" idx="2"/>
              <a:endCxn id="4153" idx="0"/>
            </p:cNvCxnSpPr>
            <p:nvPr/>
          </p:nvCxnSpPr>
          <p:spPr>
            <a:xfrm rot="5400000" flipH="1" flipV="1">
              <a:off x="9464297" y="1936793"/>
              <a:ext cx="380997" cy="626070"/>
            </a:xfrm>
            <a:prstGeom prst="bentConnector5">
              <a:avLst>
                <a:gd name="adj1" fmla="val -59308"/>
                <a:gd name="adj2" fmla="val 54643"/>
                <a:gd name="adj3" fmla="val 150835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192CA1B3-9CB8-54DF-86FB-7B546156A14E}"/>
                </a:ext>
              </a:extLst>
            </p:cNvPr>
            <p:cNvGrpSpPr/>
            <p:nvPr/>
          </p:nvGrpSpPr>
          <p:grpSpPr>
            <a:xfrm>
              <a:off x="9197447" y="2008252"/>
              <a:ext cx="343622" cy="502933"/>
              <a:chOff x="8945474" y="2772979"/>
              <a:chExt cx="482820" cy="593605"/>
            </a:xfrm>
          </p:grpSpPr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0F47BDBE-9D8F-0CFE-F760-B374347B6EF5}"/>
                  </a:ext>
                </a:extLst>
              </p:cNvPr>
              <p:cNvGrpSpPr/>
              <p:nvPr/>
            </p:nvGrpSpPr>
            <p:grpSpPr>
              <a:xfrm>
                <a:off x="8945474" y="2772979"/>
                <a:ext cx="405550" cy="509974"/>
                <a:chOff x="8312397" y="3465518"/>
                <a:chExt cx="429115" cy="482228"/>
              </a:xfrm>
            </p:grpSpPr>
            <p:sp>
              <p:nvSpPr>
                <p:cNvPr id="1035" name="Rectangle: Top Corners Rounded 8">
                  <a:extLst>
                    <a:ext uri="{FF2B5EF4-FFF2-40B4-BE49-F238E27FC236}">
                      <a16:creationId xmlns:a16="http://schemas.microsoft.com/office/drawing/2014/main" id="{5C81C8CD-C8B6-C0A5-27B9-DDFED30F29D9}"/>
                    </a:ext>
                  </a:extLst>
                </p:cNvPr>
                <p:cNvSpPr/>
                <p:nvPr/>
              </p:nvSpPr>
              <p:spPr>
                <a:xfrm flipV="1">
                  <a:off x="8316398" y="3711248"/>
                  <a:ext cx="424101" cy="236498"/>
                </a:xfrm>
                <a:prstGeom prst="round2SameRect">
                  <a:avLst>
                    <a:gd name="adj1" fmla="val 27989"/>
                    <a:gd name="adj2" fmla="val 0"/>
                  </a:avLst>
                </a:prstGeom>
                <a:solidFill>
                  <a:schemeClr val="accent2">
                    <a:lumMod val="25000"/>
                    <a:lumOff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775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1036" name="Group 1035">
                  <a:extLst>
                    <a:ext uri="{FF2B5EF4-FFF2-40B4-BE49-F238E27FC236}">
                      <a16:creationId xmlns:a16="http://schemas.microsoft.com/office/drawing/2014/main" id="{274718AB-919B-EB4B-D6F5-461916950BB6}"/>
                    </a:ext>
                  </a:extLst>
                </p:cNvPr>
                <p:cNvGrpSpPr/>
                <p:nvPr/>
              </p:nvGrpSpPr>
              <p:grpSpPr>
                <a:xfrm>
                  <a:off x="8312397" y="3465518"/>
                  <a:ext cx="429115" cy="482228"/>
                  <a:chOff x="4316929" y="2454595"/>
                  <a:chExt cx="877454" cy="744904"/>
                </a:xfrm>
              </p:grpSpPr>
              <p:sp>
                <p:nvSpPr>
                  <p:cNvPr id="1037" name="Oval 1036">
                    <a:extLst>
                      <a:ext uri="{FF2B5EF4-FFF2-40B4-BE49-F238E27FC236}">
                        <a16:creationId xmlns:a16="http://schemas.microsoft.com/office/drawing/2014/main" id="{913CFFE0-D80D-CB95-B553-ACE27DF3909A}"/>
                      </a:ext>
                    </a:extLst>
                  </p:cNvPr>
                  <p:cNvSpPr/>
                  <p:nvPr/>
                </p:nvSpPr>
                <p:spPr>
                  <a:xfrm>
                    <a:off x="4487801" y="3015350"/>
                    <a:ext cx="267855" cy="8312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1A733DDA-CDBD-EF53-0DF7-2E61E680977A}"/>
                      </a:ext>
                    </a:extLst>
                  </p:cNvPr>
                  <p:cNvSpPr/>
                  <p:nvPr/>
                </p:nvSpPr>
                <p:spPr>
                  <a:xfrm>
                    <a:off x="4755656" y="3015350"/>
                    <a:ext cx="267855" cy="8312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39" name="Straight Connector 1038">
                    <a:extLst>
                      <a:ext uri="{FF2B5EF4-FFF2-40B4-BE49-F238E27FC236}">
                        <a16:creationId xmlns:a16="http://schemas.microsoft.com/office/drawing/2014/main" id="{0AB8C23E-780A-6D9B-5CBB-9B1976A65D1E}"/>
                      </a:ext>
                    </a:extLst>
                  </p:cNvPr>
                  <p:cNvCxnSpPr>
                    <a:cxnSpLocks/>
                    <a:stCxn id="1038" idx="2"/>
                  </p:cNvCxnSpPr>
                  <p:nvPr/>
                </p:nvCxnSpPr>
                <p:spPr>
                  <a:xfrm>
                    <a:off x="4755656" y="3056914"/>
                    <a:ext cx="0" cy="14258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0" name="Flowchart: Alternate Process 13">
                    <a:extLst>
                      <a:ext uri="{FF2B5EF4-FFF2-40B4-BE49-F238E27FC236}">
                        <a16:creationId xmlns:a16="http://schemas.microsoft.com/office/drawing/2014/main" id="{0968A295-5F10-C487-C35F-BF5FC71A00DB}"/>
                      </a:ext>
                    </a:extLst>
                  </p:cNvPr>
                  <p:cNvSpPr/>
                  <p:nvPr/>
                </p:nvSpPr>
                <p:spPr>
                  <a:xfrm>
                    <a:off x="4316929" y="2454595"/>
                    <a:ext cx="877454" cy="744903"/>
                  </a:xfrm>
                  <a:prstGeom prst="flowChartAlternateProcess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b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1026" name="Group 1025">
                <a:extLst>
                  <a:ext uri="{FF2B5EF4-FFF2-40B4-BE49-F238E27FC236}">
                    <a16:creationId xmlns:a16="http://schemas.microsoft.com/office/drawing/2014/main" id="{17FEA3D4-9AAC-1B72-B90A-3B0C8C6E7BD2}"/>
                  </a:ext>
                </a:extLst>
              </p:cNvPr>
              <p:cNvGrpSpPr/>
              <p:nvPr/>
            </p:nvGrpSpPr>
            <p:grpSpPr>
              <a:xfrm>
                <a:off x="9022744" y="2856610"/>
                <a:ext cx="405550" cy="509974"/>
                <a:chOff x="8064162" y="2391202"/>
                <a:chExt cx="405550" cy="509974"/>
              </a:xfrm>
            </p:grpSpPr>
            <p:sp>
              <p:nvSpPr>
                <p:cNvPr id="1027" name="Rectangle: Rounded Corners 128">
                  <a:extLst>
                    <a:ext uri="{FF2B5EF4-FFF2-40B4-BE49-F238E27FC236}">
                      <a16:creationId xmlns:a16="http://schemas.microsoft.com/office/drawing/2014/main" id="{91C8455D-3962-B4E6-BBE0-A8ECB1A43FE7}"/>
                    </a:ext>
                  </a:extLst>
                </p:cNvPr>
                <p:cNvSpPr/>
                <p:nvPr/>
              </p:nvSpPr>
              <p:spPr>
                <a:xfrm>
                  <a:off x="8064162" y="2391202"/>
                  <a:ext cx="400811" cy="50997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029" name="Rectangle: Top Corners Rounded 129">
                  <a:extLst>
                    <a:ext uri="{FF2B5EF4-FFF2-40B4-BE49-F238E27FC236}">
                      <a16:creationId xmlns:a16="http://schemas.microsoft.com/office/drawing/2014/main" id="{0EF6C241-BFA4-C55E-1803-710DDBA5DC1E}"/>
                    </a:ext>
                  </a:extLst>
                </p:cNvPr>
                <p:cNvSpPr/>
                <p:nvPr/>
              </p:nvSpPr>
              <p:spPr>
                <a:xfrm flipV="1">
                  <a:off x="8067943" y="2651071"/>
                  <a:ext cx="400811" cy="250105"/>
                </a:xfrm>
                <a:prstGeom prst="round2SameRect">
                  <a:avLst>
                    <a:gd name="adj1" fmla="val 27989"/>
                    <a:gd name="adj2" fmla="val 0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775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483D4354-AD50-D21D-8B9D-C362BD4F3BAC}"/>
                    </a:ext>
                  </a:extLst>
                </p:cNvPr>
                <p:cNvGrpSpPr/>
                <p:nvPr/>
              </p:nvGrpSpPr>
              <p:grpSpPr>
                <a:xfrm>
                  <a:off x="8064162" y="2391202"/>
                  <a:ext cx="405550" cy="509974"/>
                  <a:chOff x="4316929" y="2454595"/>
                  <a:chExt cx="877454" cy="744904"/>
                </a:xfrm>
              </p:grpSpPr>
              <p:sp>
                <p:nvSpPr>
                  <p:cNvPr id="1031" name="Oval 1030">
                    <a:extLst>
                      <a:ext uri="{FF2B5EF4-FFF2-40B4-BE49-F238E27FC236}">
                        <a16:creationId xmlns:a16="http://schemas.microsoft.com/office/drawing/2014/main" id="{AED80C32-C9C9-C85A-4A1C-C22AC8C6DEB0}"/>
                      </a:ext>
                    </a:extLst>
                  </p:cNvPr>
                  <p:cNvSpPr/>
                  <p:nvPr/>
                </p:nvSpPr>
                <p:spPr>
                  <a:xfrm>
                    <a:off x="4487801" y="3015350"/>
                    <a:ext cx="267855" cy="8312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1032" name="Oval 1031">
                    <a:extLst>
                      <a:ext uri="{FF2B5EF4-FFF2-40B4-BE49-F238E27FC236}">
                        <a16:creationId xmlns:a16="http://schemas.microsoft.com/office/drawing/2014/main" id="{BFCBC4A3-D31D-29F2-0EAB-128150269D67}"/>
                      </a:ext>
                    </a:extLst>
                  </p:cNvPr>
                  <p:cNvSpPr/>
                  <p:nvPr/>
                </p:nvSpPr>
                <p:spPr>
                  <a:xfrm>
                    <a:off x="4755656" y="3015350"/>
                    <a:ext cx="267855" cy="8312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33" name="Straight Connector 1032">
                    <a:extLst>
                      <a:ext uri="{FF2B5EF4-FFF2-40B4-BE49-F238E27FC236}">
                        <a16:creationId xmlns:a16="http://schemas.microsoft.com/office/drawing/2014/main" id="{B2AC2C15-1C28-186D-D570-107FFADDB923}"/>
                      </a:ext>
                    </a:extLst>
                  </p:cNvPr>
                  <p:cNvCxnSpPr>
                    <a:cxnSpLocks/>
                    <a:stCxn id="1032" idx="2"/>
                  </p:cNvCxnSpPr>
                  <p:nvPr/>
                </p:nvCxnSpPr>
                <p:spPr>
                  <a:xfrm>
                    <a:off x="4755656" y="3056914"/>
                    <a:ext cx="0" cy="14258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4" name="Flowchart: Alternate Process 134">
                    <a:extLst>
                      <a:ext uri="{FF2B5EF4-FFF2-40B4-BE49-F238E27FC236}">
                        <a16:creationId xmlns:a16="http://schemas.microsoft.com/office/drawing/2014/main" id="{7D056304-0947-B769-50CB-BC07EAA36154}"/>
                      </a:ext>
                    </a:extLst>
                  </p:cNvPr>
                  <p:cNvSpPr/>
                  <p:nvPr/>
                </p:nvSpPr>
                <p:spPr>
                  <a:xfrm>
                    <a:off x="4316929" y="2454595"/>
                    <a:ext cx="877454" cy="744903"/>
                  </a:xfrm>
                  <a:prstGeom prst="flowChartAlternateProcess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b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0D734CEA-09F8-F6EC-BFB2-9BEACD2D48B8}"/>
                </a:ext>
              </a:extLst>
            </p:cNvPr>
            <p:cNvGrpSpPr/>
            <p:nvPr/>
          </p:nvGrpSpPr>
          <p:grpSpPr>
            <a:xfrm>
              <a:off x="1366607" y="1463551"/>
              <a:ext cx="861328" cy="1509363"/>
              <a:chOff x="522829" y="2130807"/>
              <a:chExt cx="1210245" cy="1781480"/>
            </a:xfrm>
          </p:grpSpPr>
          <p:sp>
            <p:nvSpPr>
              <p:cNvPr id="1042" name="Rectangle: Top Corners Rounded 86">
                <a:extLst>
                  <a:ext uri="{FF2B5EF4-FFF2-40B4-BE49-F238E27FC236}">
                    <a16:creationId xmlns:a16="http://schemas.microsoft.com/office/drawing/2014/main" id="{E58ABAA6-7FA4-C46F-FE82-9CC16F1A8835}"/>
                  </a:ext>
                </a:extLst>
              </p:cNvPr>
              <p:cNvSpPr/>
              <p:nvPr/>
            </p:nvSpPr>
            <p:spPr>
              <a:xfrm flipV="1">
                <a:off x="522875" y="3124738"/>
                <a:ext cx="742261" cy="499823"/>
              </a:xfrm>
              <a:prstGeom prst="round2SameRect">
                <a:avLst>
                  <a:gd name="adj1" fmla="val 22553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043" name="Group 1042">
                <a:extLst>
                  <a:ext uri="{FF2B5EF4-FFF2-40B4-BE49-F238E27FC236}">
                    <a16:creationId xmlns:a16="http://schemas.microsoft.com/office/drawing/2014/main" id="{8928B2C9-15C0-494E-34C7-256AB18EE2DA}"/>
                  </a:ext>
                </a:extLst>
              </p:cNvPr>
              <p:cNvGrpSpPr/>
              <p:nvPr/>
            </p:nvGrpSpPr>
            <p:grpSpPr>
              <a:xfrm>
                <a:off x="669264" y="3435618"/>
                <a:ext cx="449484" cy="192945"/>
                <a:chOff x="1100473" y="2716070"/>
                <a:chExt cx="535710" cy="184149"/>
              </a:xfrm>
            </p:grpSpPr>
            <p:sp>
              <p:nvSpPr>
                <p:cNvPr id="1055" name="Oval 1054">
                  <a:extLst>
                    <a:ext uri="{FF2B5EF4-FFF2-40B4-BE49-F238E27FC236}">
                      <a16:creationId xmlns:a16="http://schemas.microsoft.com/office/drawing/2014/main" id="{90C5F9A9-C855-DCC5-303E-453B8EF6302F}"/>
                    </a:ext>
                  </a:extLst>
                </p:cNvPr>
                <p:cNvSpPr/>
                <p:nvPr/>
              </p:nvSpPr>
              <p:spPr>
                <a:xfrm>
                  <a:off x="1100473" y="2716070"/>
                  <a:ext cx="267855" cy="8312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056" name="Oval 1055">
                  <a:extLst>
                    <a:ext uri="{FF2B5EF4-FFF2-40B4-BE49-F238E27FC236}">
                      <a16:creationId xmlns:a16="http://schemas.microsoft.com/office/drawing/2014/main" id="{AB763188-CED5-EE91-395B-B7AA28E1B1E6}"/>
                    </a:ext>
                  </a:extLst>
                </p:cNvPr>
                <p:cNvSpPr/>
                <p:nvPr/>
              </p:nvSpPr>
              <p:spPr>
                <a:xfrm>
                  <a:off x="1368328" y="2716070"/>
                  <a:ext cx="267855" cy="83128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057" name="Straight Connector 1056">
                  <a:extLst>
                    <a:ext uri="{FF2B5EF4-FFF2-40B4-BE49-F238E27FC236}">
                      <a16:creationId xmlns:a16="http://schemas.microsoft.com/office/drawing/2014/main" id="{74DE16D1-A745-C1FE-1A9A-2FC28A09763E}"/>
                    </a:ext>
                  </a:extLst>
                </p:cNvPr>
                <p:cNvCxnSpPr>
                  <a:cxnSpLocks/>
                  <a:stCxn id="1056" idx="2"/>
                </p:cNvCxnSpPr>
                <p:nvPr/>
              </p:nvCxnSpPr>
              <p:spPr>
                <a:xfrm>
                  <a:off x="1368328" y="2757634"/>
                  <a:ext cx="0" cy="14258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44" name="Connector: Elbow 89">
                <a:extLst>
                  <a:ext uri="{FF2B5EF4-FFF2-40B4-BE49-F238E27FC236}">
                    <a16:creationId xmlns:a16="http://schemas.microsoft.com/office/drawing/2014/main" id="{965DE223-C32F-FE26-44C4-33A968A154F9}"/>
                  </a:ext>
                </a:extLst>
              </p:cNvPr>
              <p:cNvCxnSpPr/>
              <p:nvPr/>
            </p:nvCxnSpPr>
            <p:spPr>
              <a:xfrm>
                <a:off x="522829" y="2134842"/>
                <a:ext cx="244374" cy="283875"/>
              </a:xfrm>
              <a:prstGeom prst="bentConnector3">
                <a:avLst>
                  <a:gd name="adj1" fmla="val 100146"/>
                </a:avLst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5" name="Connector: Elbow 91">
                <a:extLst>
                  <a:ext uri="{FF2B5EF4-FFF2-40B4-BE49-F238E27FC236}">
                    <a16:creationId xmlns:a16="http://schemas.microsoft.com/office/drawing/2014/main" id="{7BB106C0-9170-C6C4-D675-5488F1E04B9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015544" y="2130807"/>
                <a:ext cx="510613" cy="287754"/>
              </a:xfrm>
              <a:prstGeom prst="bentConnector3">
                <a:avLst>
                  <a:gd name="adj1" fmla="val 99774"/>
                </a:avLst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B7C5D41F-8501-FB24-DB99-839C7993AF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7537" y="2134842"/>
                <a:ext cx="0" cy="423195"/>
              </a:xfrm>
              <a:prstGeom prst="line">
                <a:avLst/>
              </a:prstGeom>
              <a:ln w="190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5F7207B0-01D9-FCD1-1320-1139D3CF8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538" y="3628563"/>
                <a:ext cx="0" cy="283724"/>
              </a:xfrm>
              <a:prstGeom prst="line">
                <a:avLst/>
              </a:prstGeom>
              <a:ln w="1905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Connector: Elbow 94">
                <a:extLst>
                  <a:ext uri="{FF2B5EF4-FFF2-40B4-BE49-F238E27FC236}">
                    <a16:creationId xmlns:a16="http://schemas.microsoft.com/office/drawing/2014/main" id="{40B113C1-DB3A-394D-BA83-CF62F2AD63A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525895" y="3624864"/>
                <a:ext cx="245511" cy="287423"/>
              </a:xfrm>
              <a:prstGeom prst="bentConnector3">
                <a:avLst>
                  <a:gd name="adj1" fmla="val 1399"/>
                </a:avLst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Connector: Elbow 95">
                <a:extLst>
                  <a:ext uri="{FF2B5EF4-FFF2-40B4-BE49-F238E27FC236}">
                    <a16:creationId xmlns:a16="http://schemas.microsoft.com/office/drawing/2014/main" id="{C3EE258E-1795-4544-806C-7D2BA6C3F3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2230" y="3486022"/>
                <a:ext cx="505063" cy="426265"/>
              </a:xfrm>
              <a:prstGeom prst="bentConnector3">
                <a:avLst>
                  <a:gd name="adj1" fmla="val 100321"/>
                </a:avLst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0" name="Flowchart: Alternate Process 96">
                <a:extLst>
                  <a:ext uri="{FF2B5EF4-FFF2-40B4-BE49-F238E27FC236}">
                    <a16:creationId xmlns:a16="http://schemas.microsoft.com/office/drawing/2014/main" id="{8C67EFDA-0E33-5980-FFF9-B067EB34CF58}"/>
                  </a:ext>
                </a:extLst>
              </p:cNvPr>
              <p:cNvSpPr/>
              <p:nvPr/>
            </p:nvSpPr>
            <p:spPr>
              <a:xfrm>
                <a:off x="525895" y="2418868"/>
                <a:ext cx="736223" cy="1209695"/>
              </a:xfrm>
              <a:prstGeom prst="flowChartAlternateProcess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b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051" name="Group 1050">
                <a:extLst>
                  <a:ext uri="{FF2B5EF4-FFF2-40B4-BE49-F238E27FC236}">
                    <a16:creationId xmlns:a16="http://schemas.microsoft.com/office/drawing/2014/main" id="{2771CD9A-97ED-1329-B611-544A75BE7862}"/>
                  </a:ext>
                </a:extLst>
              </p:cNvPr>
              <p:cNvGrpSpPr/>
              <p:nvPr/>
            </p:nvGrpSpPr>
            <p:grpSpPr>
              <a:xfrm>
                <a:off x="1445366" y="2561409"/>
                <a:ext cx="287708" cy="920579"/>
                <a:chOff x="1445366" y="2561409"/>
                <a:chExt cx="287708" cy="920579"/>
              </a:xfrm>
            </p:grpSpPr>
            <p:sp>
              <p:nvSpPr>
                <p:cNvPr id="1052" name="Rectangle 1051">
                  <a:extLst>
                    <a:ext uri="{FF2B5EF4-FFF2-40B4-BE49-F238E27FC236}">
                      <a16:creationId xmlns:a16="http://schemas.microsoft.com/office/drawing/2014/main" id="{4B11C5CA-F863-7C56-DD0B-92488F7AB5A1}"/>
                    </a:ext>
                  </a:extLst>
                </p:cNvPr>
                <p:cNvSpPr/>
                <p:nvPr/>
              </p:nvSpPr>
              <p:spPr>
                <a:xfrm>
                  <a:off x="1445366" y="2561409"/>
                  <a:ext cx="142186" cy="916544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053" name="Rectangle 1052">
                  <a:extLst>
                    <a:ext uri="{FF2B5EF4-FFF2-40B4-BE49-F238E27FC236}">
                      <a16:creationId xmlns:a16="http://schemas.microsoft.com/office/drawing/2014/main" id="{C79396B8-4C0F-48DF-D700-6693BC49491E}"/>
                    </a:ext>
                  </a:extLst>
                </p:cNvPr>
                <p:cNvSpPr/>
                <p:nvPr/>
              </p:nvSpPr>
              <p:spPr>
                <a:xfrm>
                  <a:off x="1445366" y="2565443"/>
                  <a:ext cx="287708" cy="91654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7CAB76C3-5B2A-8832-603D-D35D61A72D1D}"/>
                    </a:ext>
                  </a:extLst>
                </p:cNvPr>
                <p:cNvCxnSpPr>
                  <a:stCxn id="1053" idx="0"/>
                  <a:endCxn id="1053" idx="2"/>
                </p:cNvCxnSpPr>
                <p:nvPr/>
              </p:nvCxnSpPr>
              <p:spPr>
                <a:xfrm>
                  <a:off x="1589220" y="2565443"/>
                  <a:ext cx="0" cy="9165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58" name="Connector: Elbow 98">
              <a:extLst>
                <a:ext uri="{FF2B5EF4-FFF2-40B4-BE49-F238E27FC236}">
                  <a16:creationId xmlns:a16="http://schemas.microsoft.com/office/drawing/2014/main" id="{17EC1928-04BA-C98D-2E8B-1A3133CC7CE3}"/>
                </a:ext>
              </a:extLst>
            </p:cNvPr>
            <p:cNvCxnSpPr>
              <a:cxnSpLocks/>
              <a:stCxn id="231" idx="2"/>
              <a:endCxn id="108" idx="0"/>
            </p:cNvCxnSpPr>
            <p:nvPr/>
          </p:nvCxnSpPr>
          <p:spPr>
            <a:xfrm rot="5400000" flipH="1" flipV="1">
              <a:off x="5779810" y="1937999"/>
              <a:ext cx="503869" cy="556445"/>
            </a:xfrm>
            <a:prstGeom prst="bentConnector5">
              <a:avLst>
                <a:gd name="adj1" fmla="val -38439"/>
                <a:gd name="adj2" fmla="val 47439"/>
                <a:gd name="adj3" fmla="val 161502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320F369E-BF40-DE64-CEF2-CBA77C704F96}"/>
                </a:ext>
              </a:extLst>
            </p:cNvPr>
            <p:cNvGrpSpPr/>
            <p:nvPr/>
          </p:nvGrpSpPr>
          <p:grpSpPr>
            <a:xfrm>
              <a:off x="4323774" y="2009090"/>
              <a:ext cx="289253" cy="432076"/>
              <a:chOff x="4479609" y="3465519"/>
              <a:chExt cx="430042" cy="482228"/>
            </a:xfrm>
          </p:grpSpPr>
          <p:sp>
            <p:nvSpPr>
              <p:cNvPr id="1060" name="Rectangle: Top Corners Rounded 72">
                <a:extLst>
                  <a:ext uri="{FF2B5EF4-FFF2-40B4-BE49-F238E27FC236}">
                    <a16:creationId xmlns:a16="http://schemas.microsoft.com/office/drawing/2014/main" id="{6E5EAF45-2D2C-BC8C-4248-5E8FB56183EB}"/>
                  </a:ext>
                </a:extLst>
              </p:cNvPr>
              <p:cNvSpPr/>
              <p:nvPr/>
            </p:nvSpPr>
            <p:spPr>
              <a:xfrm flipV="1">
                <a:off x="4485550" y="3711249"/>
                <a:ext cx="424101" cy="236498"/>
              </a:xfrm>
              <a:prstGeom prst="round2SameRect">
                <a:avLst>
                  <a:gd name="adj1" fmla="val 27989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061" name="Group 1060">
                <a:extLst>
                  <a:ext uri="{FF2B5EF4-FFF2-40B4-BE49-F238E27FC236}">
                    <a16:creationId xmlns:a16="http://schemas.microsoft.com/office/drawing/2014/main" id="{EF0C803F-9B5B-03D5-C1EB-CD2D1C013D67}"/>
                  </a:ext>
                </a:extLst>
              </p:cNvPr>
              <p:cNvGrpSpPr/>
              <p:nvPr/>
            </p:nvGrpSpPr>
            <p:grpSpPr>
              <a:xfrm>
                <a:off x="4479609" y="3465519"/>
                <a:ext cx="429115" cy="482228"/>
                <a:chOff x="4316929" y="2454595"/>
                <a:chExt cx="877454" cy="744904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0208FACC-F465-FD7A-F748-3587B680BD81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063" name="Oval 1062">
                  <a:extLst>
                    <a:ext uri="{FF2B5EF4-FFF2-40B4-BE49-F238E27FC236}">
                      <a16:creationId xmlns:a16="http://schemas.microsoft.com/office/drawing/2014/main" id="{43D89A81-D0F7-42E7-9C67-EDA71BEACB12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064" name="Straight Connector 1063">
                  <a:extLst>
                    <a:ext uri="{FF2B5EF4-FFF2-40B4-BE49-F238E27FC236}">
                      <a16:creationId xmlns:a16="http://schemas.microsoft.com/office/drawing/2014/main" id="{8E698027-0C67-5CC3-4D34-22964B5446ED}"/>
                    </a:ext>
                  </a:extLst>
                </p:cNvPr>
                <p:cNvCxnSpPr>
                  <a:cxnSpLocks/>
                  <a:stCxn id="1063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5" name="Flowchart: Alternate Process 77">
                  <a:extLst>
                    <a:ext uri="{FF2B5EF4-FFF2-40B4-BE49-F238E27FC236}">
                      <a16:creationId xmlns:a16="http://schemas.microsoft.com/office/drawing/2014/main" id="{748BE96B-66F7-7AA5-DB0E-1128955654D9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1066" name="Connector: Elbow 152">
              <a:extLst>
                <a:ext uri="{FF2B5EF4-FFF2-40B4-BE49-F238E27FC236}">
                  <a16:creationId xmlns:a16="http://schemas.microsoft.com/office/drawing/2014/main" id="{33BA987D-121B-95E9-B216-868B0B1B2CE7}"/>
                </a:ext>
              </a:extLst>
            </p:cNvPr>
            <p:cNvCxnSpPr>
              <a:stCxn id="1073" idx="2"/>
              <a:endCxn id="110" idx="0"/>
            </p:cNvCxnSpPr>
            <p:nvPr/>
          </p:nvCxnSpPr>
          <p:spPr>
            <a:xfrm rot="5400000" flipH="1" flipV="1">
              <a:off x="6983382" y="1873277"/>
              <a:ext cx="477497" cy="659517"/>
            </a:xfrm>
            <a:prstGeom prst="bentConnector5">
              <a:avLst>
                <a:gd name="adj1" fmla="val -40562"/>
                <a:gd name="adj2" fmla="val 41626"/>
                <a:gd name="adj3" fmla="val 162345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4CCFB1EE-EB3F-D796-BD92-6F4FEE9C724E}"/>
                </a:ext>
              </a:extLst>
            </p:cNvPr>
            <p:cNvGrpSpPr/>
            <p:nvPr/>
          </p:nvGrpSpPr>
          <p:grpSpPr>
            <a:xfrm>
              <a:off x="6748058" y="2009709"/>
              <a:ext cx="289253" cy="432076"/>
              <a:chOff x="4479609" y="3465519"/>
              <a:chExt cx="430042" cy="482228"/>
            </a:xfrm>
          </p:grpSpPr>
          <p:sp>
            <p:nvSpPr>
              <p:cNvPr id="1068" name="Rectangle: Top Corners Rounded 79">
                <a:extLst>
                  <a:ext uri="{FF2B5EF4-FFF2-40B4-BE49-F238E27FC236}">
                    <a16:creationId xmlns:a16="http://schemas.microsoft.com/office/drawing/2014/main" id="{8B27B637-B4EB-FEE9-636B-B0885059EDBC}"/>
                  </a:ext>
                </a:extLst>
              </p:cNvPr>
              <p:cNvSpPr/>
              <p:nvPr/>
            </p:nvSpPr>
            <p:spPr>
              <a:xfrm flipV="1">
                <a:off x="4485550" y="3711249"/>
                <a:ext cx="424101" cy="236498"/>
              </a:xfrm>
              <a:prstGeom prst="round2SameRect">
                <a:avLst>
                  <a:gd name="adj1" fmla="val 27989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20201315-71FD-6DD1-D3D8-CC24E4E559DC}"/>
                  </a:ext>
                </a:extLst>
              </p:cNvPr>
              <p:cNvGrpSpPr/>
              <p:nvPr/>
            </p:nvGrpSpPr>
            <p:grpSpPr>
              <a:xfrm>
                <a:off x="4479609" y="3465519"/>
                <a:ext cx="429115" cy="482228"/>
                <a:chOff x="4316929" y="2454595"/>
                <a:chExt cx="877454" cy="744904"/>
              </a:xfrm>
            </p:grpSpPr>
            <p:sp>
              <p:nvSpPr>
                <p:cNvPr id="1070" name="Oval 1069">
                  <a:extLst>
                    <a:ext uri="{FF2B5EF4-FFF2-40B4-BE49-F238E27FC236}">
                      <a16:creationId xmlns:a16="http://schemas.microsoft.com/office/drawing/2014/main" id="{BB6951DD-F3F5-6AB8-EA40-F7F47B06F63E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071" name="Oval 1070">
                  <a:extLst>
                    <a:ext uri="{FF2B5EF4-FFF2-40B4-BE49-F238E27FC236}">
                      <a16:creationId xmlns:a16="http://schemas.microsoft.com/office/drawing/2014/main" id="{2004E96A-F9A1-BBA6-CE56-94E8EFA34040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1072" name="Straight Connector 1071">
                  <a:extLst>
                    <a:ext uri="{FF2B5EF4-FFF2-40B4-BE49-F238E27FC236}">
                      <a16:creationId xmlns:a16="http://schemas.microsoft.com/office/drawing/2014/main" id="{84C2B45A-B332-4610-7600-8AC4C8FB3A29}"/>
                    </a:ext>
                  </a:extLst>
                </p:cNvPr>
                <p:cNvCxnSpPr>
                  <a:cxnSpLocks/>
                  <a:stCxn id="1071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3" name="Flowchart: Alternate Process 84">
                  <a:extLst>
                    <a:ext uri="{FF2B5EF4-FFF2-40B4-BE49-F238E27FC236}">
                      <a16:creationId xmlns:a16="http://schemas.microsoft.com/office/drawing/2014/main" id="{4A9B4C2A-9F03-DB1D-36B3-5F9D4E04B0C1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1074" name="Connector: Elbow 175">
              <a:extLst>
                <a:ext uri="{FF2B5EF4-FFF2-40B4-BE49-F238E27FC236}">
                  <a16:creationId xmlns:a16="http://schemas.microsoft.com/office/drawing/2014/main" id="{F58147FD-2225-3A9E-AA83-3CBAFADB2746}"/>
                </a:ext>
              </a:extLst>
            </p:cNvPr>
            <p:cNvCxnSpPr>
              <a:stCxn id="1081" idx="2"/>
              <a:endCxn id="1034" idx="0"/>
            </p:cNvCxnSpPr>
            <p:nvPr/>
          </p:nvCxnSpPr>
          <p:spPr>
            <a:xfrm rot="5400000" flipH="1" flipV="1">
              <a:off x="8886044" y="1957446"/>
              <a:ext cx="389048" cy="632373"/>
            </a:xfrm>
            <a:prstGeom prst="bentConnector5">
              <a:avLst>
                <a:gd name="adj1" fmla="val -49784"/>
                <a:gd name="adj2" fmla="val 50167"/>
                <a:gd name="adj3" fmla="val 149784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5" name="Group 1074">
              <a:extLst>
                <a:ext uri="{FF2B5EF4-FFF2-40B4-BE49-F238E27FC236}">
                  <a16:creationId xmlns:a16="http://schemas.microsoft.com/office/drawing/2014/main" id="{3DE65E77-E112-8457-5D0A-F14E16D467EC}"/>
                </a:ext>
              </a:extLst>
            </p:cNvPr>
            <p:cNvGrpSpPr/>
            <p:nvPr/>
          </p:nvGrpSpPr>
          <p:grpSpPr>
            <a:xfrm>
              <a:off x="8559570" y="2034674"/>
              <a:ext cx="357539" cy="433483"/>
              <a:chOff x="8065423" y="2804164"/>
              <a:chExt cx="502374" cy="511634"/>
            </a:xfrm>
          </p:grpSpPr>
          <p:grpSp>
            <p:nvGrpSpPr>
              <p:cNvPr id="1076" name="Group 1075">
                <a:extLst>
                  <a:ext uri="{FF2B5EF4-FFF2-40B4-BE49-F238E27FC236}">
                    <a16:creationId xmlns:a16="http://schemas.microsoft.com/office/drawing/2014/main" id="{D5F8324F-7C2F-A3D7-600E-16E917609EF4}"/>
                  </a:ext>
                </a:extLst>
              </p:cNvPr>
              <p:cNvGrpSpPr/>
              <p:nvPr/>
            </p:nvGrpSpPr>
            <p:grpSpPr>
              <a:xfrm>
                <a:off x="8065423" y="2804164"/>
                <a:ext cx="420337" cy="423525"/>
                <a:chOff x="8072950" y="1956572"/>
                <a:chExt cx="420337" cy="423525"/>
              </a:xfrm>
            </p:grpSpPr>
            <p:sp>
              <p:nvSpPr>
                <p:cNvPr id="1083" name="Rectangle 1082">
                  <a:extLst>
                    <a:ext uri="{FF2B5EF4-FFF2-40B4-BE49-F238E27FC236}">
                      <a16:creationId xmlns:a16="http://schemas.microsoft.com/office/drawing/2014/main" id="{9E2E3637-7B14-2DFD-92B0-AC29926DAD85}"/>
                    </a:ext>
                  </a:extLst>
                </p:cNvPr>
                <p:cNvSpPr/>
                <p:nvPr/>
              </p:nvSpPr>
              <p:spPr>
                <a:xfrm>
                  <a:off x="8083515" y="1956572"/>
                  <a:ext cx="409772" cy="41148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1084" name="Group 1083">
                  <a:extLst>
                    <a:ext uri="{FF2B5EF4-FFF2-40B4-BE49-F238E27FC236}">
                      <a16:creationId xmlns:a16="http://schemas.microsoft.com/office/drawing/2014/main" id="{8FCA96A4-EF81-43B3-F7AF-0CBD8C8875A0}"/>
                    </a:ext>
                  </a:extLst>
                </p:cNvPr>
                <p:cNvGrpSpPr/>
                <p:nvPr/>
              </p:nvGrpSpPr>
              <p:grpSpPr>
                <a:xfrm>
                  <a:off x="8072950" y="1968617"/>
                  <a:ext cx="411480" cy="411480"/>
                  <a:chOff x="9229317" y="3504770"/>
                  <a:chExt cx="399467" cy="400475"/>
                </a:xfrm>
              </p:grpSpPr>
              <p:sp>
                <p:nvSpPr>
                  <p:cNvPr id="1085" name="Right Triangle 1084">
                    <a:extLst>
                      <a:ext uri="{FF2B5EF4-FFF2-40B4-BE49-F238E27FC236}">
                        <a16:creationId xmlns:a16="http://schemas.microsoft.com/office/drawing/2014/main" id="{5715C60A-D60A-5056-FCAD-7707D692E26F}"/>
                      </a:ext>
                    </a:extLst>
                  </p:cNvPr>
                  <p:cNvSpPr/>
                  <p:nvPr/>
                </p:nvSpPr>
                <p:spPr>
                  <a:xfrm flipH="1">
                    <a:off x="9230969" y="3504770"/>
                    <a:ext cx="397815" cy="400475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1086" name="Rectangle 1085">
                    <a:extLst>
                      <a:ext uri="{FF2B5EF4-FFF2-40B4-BE49-F238E27FC236}">
                        <a16:creationId xmlns:a16="http://schemas.microsoft.com/office/drawing/2014/main" id="{AC9BA383-785B-8F0E-7308-2D426594ED40}"/>
                      </a:ext>
                    </a:extLst>
                  </p:cNvPr>
                  <p:cNvSpPr/>
                  <p:nvPr/>
                </p:nvSpPr>
                <p:spPr>
                  <a:xfrm>
                    <a:off x="9229317" y="3504770"/>
                    <a:ext cx="399467" cy="4004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4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87" name="Straight Connector 1086">
                    <a:extLst>
                      <a:ext uri="{FF2B5EF4-FFF2-40B4-BE49-F238E27FC236}">
                        <a16:creationId xmlns:a16="http://schemas.microsoft.com/office/drawing/2014/main" id="{F0AABE1B-37CF-F1C3-5D74-7CF64CEDD9B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229317" y="3504770"/>
                    <a:ext cx="399467" cy="40047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077" name="Group 1076">
                <a:extLst>
                  <a:ext uri="{FF2B5EF4-FFF2-40B4-BE49-F238E27FC236}">
                    <a16:creationId xmlns:a16="http://schemas.microsoft.com/office/drawing/2014/main" id="{61154BA6-E160-7165-59E0-9FDC1D627809}"/>
                  </a:ext>
                </a:extLst>
              </p:cNvPr>
              <p:cNvGrpSpPr/>
              <p:nvPr/>
            </p:nvGrpSpPr>
            <p:grpSpPr>
              <a:xfrm>
                <a:off x="8147460" y="2892273"/>
                <a:ext cx="420337" cy="423525"/>
                <a:chOff x="8072950" y="1956572"/>
                <a:chExt cx="420337" cy="423525"/>
              </a:xfrm>
            </p:grpSpPr>
            <p:sp>
              <p:nvSpPr>
                <p:cNvPr id="1078" name="Rectangle 1077">
                  <a:extLst>
                    <a:ext uri="{FF2B5EF4-FFF2-40B4-BE49-F238E27FC236}">
                      <a16:creationId xmlns:a16="http://schemas.microsoft.com/office/drawing/2014/main" id="{F94316EE-9C8B-A9D9-E4C2-9FB412917DB3}"/>
                    </a:ext>
                  </a:extLst>
                </p:cNvPr>
                <p:cNvSpPr/>
                <p:nvPr/>
              </p:nvSpPr>
              <p:spPr>
                <a:xfrm>
                  <a:off x="8083515" y="1956572"/>
                  <a:ext cx="409772" cy="41148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1079" name="Group 1078">
                  <a:extLst>
                    <a:ext uri="{FF2B5EF4-FFF2-40B4-BE49-F238E27FC236}">
                      <a16:creationId xmlns:a16="http://schemas.microsoft.com/office/drawing/2014/main" id="{FA06E626-DF24-A48C-22D0-14637214DCEE}"/>
                    </a:ext>
                  </a:extLst>
                </p:cNvPr>
                <p:cNvGrpSpPr/>
                <p:nvPr/>
              </p:nvGrpSpPr>
              <p:grpSpPr>
                <a:xfrm>
                  <a:off x="8072950" y="1968617"/>
                  <a:ext cx="411480" cy="411480"/>
                  <a:chOff x="9229317" y="3504770"/>
                  <a:chExt cx="399467" cy="400475"/>
                </a:xfrm>
              </p:grpSpPr>
              <p:sp>
                <p:nvSpPr>
                  <p:cNvPr id="1080" name="Right Triangle 1079">
                    <a:extLst>
                      <a:ext uri="{FF2B5EF4-FFF2-40B4-BE49-F238E27FC236}">
                        <a16:creationId xmlns:a16="http://schemas.microsoft.com/office/drawing/2014/main" id="{73F1E6B5-697F-E145-5E36-1DF6C0DE4DC8}"/>
                      </a:ext>
                    </a:extLst>
                  </p:cNvPr>
                  <p:cNvSpPr/>
                  <p:nvPr/>
                </p:nvSpPr>
                <p:spPr>
                  <a:xfrm flipH="1">
                    <a:off x="9230969" y="3504770"/>
                    <a:ext cx="397815" cy="400475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1081" name="Rectangle 1080">
                    <a:extLst>
                      <a:ext uri="{FF2B5EF4-FFF2-40B4-BE49-F238E27FC236}">
                        <a16:creationId xmlns:a16="http://schemas.microsoft.com/office/drawing/2014/main" id="{8C677632-D819-3EAC-1BFA-B0ED38188773}"/>
                      </a:ext>
                    </a:extLst>
                  </p:cNvPr>
                  <p:cNvSpPr/>
                  <p:nvPr/>
                </p:nvSpPr>
                <p:spPr>
                  <a:xfrm>
                    <a:off x="9229317" y="3504770"/>
                    <a:ext cx="399467" cy="4004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4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82" name="Straight Connector 1081">
                    <a:extLst>
                      <a:ext uri="{FF2B5EF4-FFF2-40B4-BE49-F238E27FC236}">
                        <a16:creationId xmlns:a16="http://schemas.microsoft.com/office/drawing/2014/main" id="{31BFFF2A-1211-A953-963A-E1BFF6F43F1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229317" y="3504770"/>
                    <a:ext cx="399467" cy="40047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194" name="Connector: Elbow 167">
              <a:extLst>
                <a:ext uri="{FF2B5EF4-FFF2-40B4-BE49-F238E27FC236}">
                  <a16:creationId xmlns:a16="http://schemas.microsoft.com/office/drawing/2014/main" id="{0733C5DD-A889-88A2-5963-8EDF640BA578}"/>
                </a:ext>
              </a:extLst>
            </p:cNvPr>
            <p:cNvCxnSpPr>
              <a:stCxn id="201" idx="2"/>
              <a:endCxn id="1078" idx="0"/>
            </p:cNvCxnSpPr>
            <p:nvPr/>
          </p:nvCxnSpPr>
          <p:spPr>
            <a:xfrm rot="5400000" flipH="1" flipV="1">
              <a:off x="8286563" y="1957055"/>
              <a:ext cx="332460" cy="636997"/>
            </a:xfrm>
            <a:prstGeom prst="bentConnector5">
              <a:avLst>
                <a:gd name="adj1" fmla="val -62573"/>
                <a:gd name="adj2" fmla="val 44722"/>
                <a:gd name="adj3" fmla="val 188465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8110ACB-12B4-0C85-B2E0-FFFBC70FAD74}"/>
                </a:ext>
              </a:extLst>
            </p:cNvPr>
            <p:cNvGrpSpPr/>
            <p:nvPr/>
          </p:nvGrpSpPr>
          <p:grpSpPr>
            <a:xfrm>
              <a:off x="7989980" y="2009709"/>
              <a:ext cx="289253" cy="432076"/>
              <a:chOff x="4479609" y="3465519"/>
              <a:chExt cx="430042" cy="482228"/>
            </a:xfrm>
          </p:grpSpPr>
          <p:sp>
            <p:nvSpPr>
              <p:cNvPr id="196" name="Rectangle: Top Corners Rounded 144">
                <a:extLst>
                  <a:ext uri="{FF2B5EF4-FFF2-40B4-BE49-F238E27FC236}">
                    <a16:creationId xmlns:a16="http://schemas.microsoft.com/office/drawing/2014/main" id="{FD250B30-BC65-A017-62F0-087DB16204BC}"/>
                  </a:ext>
                </a:extLst>
              </p:cNvPr>
              <p:cNvSpPr/>
              <p:nvPr/>
            </p:nvSpPr>
            <p:spPr>
              <a:xfrm flipV="1">
                <a:off x="4485550" y="3711249"/>
                <a:ext cx="424101" cy="236498"/>
              </a:xfrm>
              <a:prstGeom prst="round2SameRect">
                <a:avLst>
                  <a:gd name="adj1" fmla="val 27989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036F1E1A-0E24-FC2D-F2BD-7622EF1544F5}"/>
                  </a:ext>
                </a:extLst>
              </p:cNvPr>
              <p:cNvGrpSpPr/>
              <p:nvPr/>
            </p:nvGrpSpPr>
            <p:grpSpPr>
              <a:xfrm>
                <a:off x="4479609" y="3465519"/>
                <a:ext cx="429115" cy="482228"/>
                <a:chOff x="4316929" y="2454595"/>
                <a:chExt cx="877454" cy="744904"/>
              </a:xfrm>
            </p:grpSpPr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CB81E553-65FD-EDE9-F780-9700840A2576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09A3B85-B661-9047-F1BC-F92047CD55EC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3F2A9979-897D-C053-B66A-CD6CD365333F}"/>
                    </a:ext>
                  </a:extLst>
                </p:cNvPr>
                <p:cNvCxnSpPr>
                  <a:cxnSpLocks/>
                  <a:stCxn id="199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Flowchart: Alternate Process 149">
                  <a:extLst>
                    <a:ext uri="{FF2B5EF4-FFF2-40B4-BE49-F238E27FC236}">
                      <a16:creationId xmlns:a16="http://schemas.microsoft.com/office/drawing/2014/main" id="{C2EAAF59-F299-D4DD-E208-F1FC430C6D1B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500B553D-1B61-FF74-7032-308D11E5D124}"/>
                </a:ext>
              </a:extLst>
            </p:cNvPr>
            <p:cNvCxnSpPr>
              <a:cxnSpLocks/>
              <a:stCxn id="95" idx="0"/>
            </p:cNvCxnSpPr>
            <p:nvPr/>
          </p:nvCxnSpPr>
          <p:spPr>
            <a:xfrm flipV="1">
              <a:off x="5042817" y="1786669"/>
              <a:ext cx="0" cy="234602"/>
            </a:xfrm>
            <a:prstGeom prst="line">
              <a:avLst/>
            </a:prstGeom>
            <a:ln w="19050">
              <a:solidFill>
                <a:schemeClr val="bg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3A5DCADF-CDC3-CAB2-1130-DB6E9391EC3C}"/>
                </a:ext>
              </a:extLst>
            </p:cNvPr>
            <p:cNvGrpSpPr/>
            <p:nvPr/>
          </p:nvGrpSpPr>
          <p:grpSpPr>
            <a:xfrm>
              <a:off x="4896393" y="2011066"/>
              <a:ext cx="357539" cy="433483"/>
              <a:chOff x="8065423" y="2804164"/>
              <a:chExt cx="502374" cy="51163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B54DE2B5-6DC2-4190-45DF-FC5BFA16E91D}"/>
                  </a:ext>
                </a:extLst>
              </p:cNvPr>
              <p:cNvGrpSpPr/>
              <p:nvPr/>
            </p:nvGrpSpPr>
            <p:grpSpPr>
              <a:xfrm>
                <a:off x="8065423" y="2804164"/>
                <a:ext cx="420337" cy="423525"/>
                <a:chOff x="8072950" y="1956572"/>
                <a:chExt cx="420337" cy="423525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1A96E841-0921-E4A2-BB63-D3D39B09EBBD}"/>
                    </a:ext>
                  </a:extLst>
                </p:cNvPr>
                <p:cNvSpPr/>
                <p:nvPr/>
              </p:nvSpPr>
              <p:spPr>
                <a:xfrm>
                  <a:off x="8083515" y="1956572"/>
                  <a:ext cx="409772" cy="41148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E8A6FC9B-6F0E-0F4B-E9D5-AADA35A38D50}"/>
                    </a:ext>
                  </a:extLst>
                </p:cNvPr>
                <p:cNvGrpSpPr/>
                <p:nvPr/>
              </p:nvGrpSpPr>
              <p:grpSpPr>
                <a:xfrm>
                  <a:off x="8072950" y="1968617"/>
                  <a:ext cx="411480" cy="411480"/>
                  <a:chOff x="9229317" y="3504770"/>
                  <a:chExt cx="399467" cy="400475"/>
                </a:xfrm>
              </p:grpSpPr>
              <p:sp>
                <p:nvSpPr>
                  <p:cNvPr id="219" name="Right Triangle 218">
                    <a:extLst>
                      <a:ext uri="{FF2B5EF4-FFF2-40B4-BE49-F238E27FC236}">
                        <a16:creationId xmlns:a16="http://schemas.microsoft.com/office/drawing/2014/main" id="{69116B81-2965-273D-6608-C0AC6FB7FAB2}"/>
                      </a:ext>
                    </a:extLst>
                  </p:cNvPr>
                  <p:cNvSpPr/>
                  <p:nvPr/>
                </p:nvSpPr>
                <p:spPr>
                  <a:xfrm flipH="1">
                    <a:off x="9230969" y="3504770"/>
                    <a:ext cx="397815" cy="400475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4A0FF6E6-D73D-6D0F-0378-111C26BD2C47}"/>
                      </a:ext>
                    </a:extLst>
                  </p:cNvPr>
                  <p:cNvSpPr/>
                  <p:nvPr/>
                </p:nvSpPr>
                <p:spPr>
                  <a:xfrm>
                    <a:off x="9229317" y="3504770"/>
                    <a:ext cx="399467" cy="4004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4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980984A-7CB0-E299-BC9C-EEAD71A34D5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229317" y="3504770"/>
                    <a:ext cx="399467" cy="40047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DC85CE14-73F3-091C-72BB-D11BCED4DC1A}"/>
                  </a:ext>
                </a:extLst>
              </p:cNvPr>
              <p:cNvGrpSpPr/>
              <p:nvPr/>
            </p:nvGrpSpPr>
            <p:grpSpPr>
              <a:xfrm>
                <a:off x="8147460" y="2892273"/>
                <a:ext cx="420337" cy="423525"/>
                <a:chOff x="8072950" y="1956572"/>
                <a:chExt cx="420337" cy="42352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49BD97A-E6C8-1F35-784A-37E1AD1D2C64}"/>
                    </a:ext>
                  </a:extLst>
                </p:cNvPr>
                <p:cNvSpPr/>
                <p:nvPr/>
              </p:nvSpPr>
              <p:spPr>
                <a:xfrm>
                  <a:off x="8083515" y="1956572"/>
                  <a:ext cx="409772" cy="41148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17CB9A04-FFCD-A716-3FFA-D94EBE391514}"/>
                    </a:ext>
                  </a:extLst>
                </p:cNvPr>
                <p:cNvGrpSpPr/>
                <p:nvPr/>
              </p:nvGrpSpPr>
              <p:grpSpPr>
                <a:xfrm>
                  <a:off x="8072950" y="1968617"/>
                  <a:ext cx="411480" cy="411480"/>
                  <a:chOff x="9229317" y="3504770"/>
                  <a:chExt cx="399467" cy="400475"/>
                </a:xfrm>
              </p:grpSpPr>
              <p:sp>
                <p:nvSpPr>
                  <p:cNvPr id="213" name="Right Triangle 212">
                    <a:extLst>
                      <a:ext uri="{FF2B5EF4-FFF2-40B4-BE49-F238E27FC236}">
                        <a16:creationId xmlns:a16="http://schemas.microsoft.com/office/drawing/2014/main" id="{7B9B82E1-9D8B-1967-F3B3-0ECC366D63DF}"/>
                      </a:ext>
                    </a:extLst>
                  </p:cNvPr>
                  <p:cNvSpPr/>
                  <p:nvPr/>
                </p:nvSpPr>
                <p:spPr>
                  <a:xfrm flipH="1">
                    <a:off x="9230969" y="3504770"/>
                    <a:ext cx="397815" cy="400475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 fontScale="25000" lnSpcReduction="20000"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sp>
                <p:nvSpPr>
                  <p:cNvPr id="215" name="Rectangle 214">
                    <a:extLst>
                      <a:ext uri="{FF2B5EF4-FFF2-40B4-BE49-F238E27FC236}">
                        <a16:creationId xmlns:a16="http://schemas.microsoft.com/office/drawing/2014/main" id="{1B27567E-E7E9-78C6-378B-105B5406F89D}"/>
                      </a:ext>
                    </a:extLst>
                  </p:cNvPr>
                  <p:cNvSpPr/>
                  <p:nvPr/>
                </p:nvSpPr>
                <p:spPr>
                  <a:xfrm>
                    <a:off x="9229317" y="3504770"/>
                    <a:ext cx="399467" cy="4004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4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rmAutofit/>
                  </a:bodyPr>
                  <a:lstStyle/>
                  <a:p>
                    <a:pPr algn="ctr">
                      <a:lnSpc>
                        <a:spcPct val="90000"/>
                      </a:lnSpc>
                      <a:spcAft>
                        <a:spcPts val="385"/>
                      </a:spcAft>
                    </a:pPr>
                    <a:endParaRPr lang="en-US" sz="1155" err="1">
                      <a:solidFill>
                        <a:schemeClr val="bg1">
                          <a:lumMod val="6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1DE4A860-1728-7FF5-7712-7F30CF79A32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229317" y="3504770"/>
                    <a:ext cx="399467" cy="40047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73" name="Connector: Elbow 167">
              <a:extLst>
                <a:ext uri="{FF2B5EF4-FFF2-40B4-BE49-F238E27FC236}">
                  <a16:creationId xmlns:a16="http://schemas.microsoft.com/office/drawing/2014/main" id="{4BC0960C-07E5-286B-9D4D-C7E8BC9E0E4A}"/>
                </a:ext>
              </a:extLst>
            </p:cNvPr>
            <p:cNvCxnSpPr>
              <a:endCxn id="211" idx="0"/>
            </p:cNvCxnSpPr>
            <p:nvPr/>
          </p:nvCxnSpPr>
          <p:spPr>
            <a:xfrm rot="5400000" flipH="1" flipV="1">
              <a:off x="4623385" y="1933447"/>
              <a:ext cx="332460" cy="636997"/>
            </a:xfrm>
            <a:prstGeom prst="bentConnector5">
              <a:avLst>
                <a:gd name="adj1" fmla="val -62573"/>
                <a:gd name="adj2" fmla="val 44722"/>
                <a:gd name="adj3" fmla="val 188465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ctor: Elbow 48">
              <a:extLst>
                <a:ext uri="{FF2B5EF4-FFF2-40B4-BE49-F238E27FC236}">
                  <a16:creationId xmlns:a16="http://schemas.microsoft.com/office/drawing/2014/main" id="{3C373075-42EA-0788-18BB-A467DE7FA905}"/>
                </a:ext>
              </a:extLst>
            </p:cNvPr>
            <p:cNvCxnSpPr>
              <a:cxnSpLocks/>
              <a:stCxn id="215" idx="2"/>
              <a:endCxn id="231" idx="0"/>
            </p:cNvCxnSpPr>
            <p:nvPr/>
          </p:nvCxnSpPr>
          <p:spPr>
            <a:xfrm rot="5400000" flipH="1" flipV="1">
              <a:off x="5223129" y="1914154"/>
              <a:ext cx="408469" cy="652321"/>
            </a:xfrm>
            <a:prstGeom prst="bentConnector5">
              <a:avLst>
                <a:gd name="adj1" fmla="val -47417"/>
                <a:gd name="adj2" fmla="val 50162"/>
                <a:gd name="adj3" fmla="val 147417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D995C8F7-40F3-3D7A-135C-5148EF6BFC27}"/>
                </a:ext>
              </a:extLst>
            </p:cNvPr>
            <p:cNvGrpSpPr/>
            <p:nvPr/>
          </p:nvGrpSpPr>
          <p:grpSpPr>
            <a:xfrm>
              <a:off x="5609209" y="2036081"/>
              <a:ext cx="289253" cy="432076"/>
              <a:chOff x="4479609" y="3465519"/>
              <a:chExt cx="430042" cy="482228"/>
            </a:xfrm>
          </p:grpSpPr>
          <p:sp>
            <p:nvSpPr>
              <p:cNvPr id="226" name="Rectangle: Top Corners Rounded 79">
                <a:extLst>
                  <a:ext uri="{FF2B5EF4-FFF2-40B4-BE49-F238E27FC236}">
                    <a16:creationId xmlns:a16="http://schemas.microsoft.com/office/drawing/2014/main" id="{B22B8335-90BD-5418-DF15-739CEF6CF471}"/>
                  </a:ext>
                </a:extLst>
              </p:cNvPr>
              <p:cNvSpPr/>
              <p:nvPr/>
            </p:nvSpPr>
            <p:spPr>
              <a:xfrm flipV="1">
                <a:off x="4485550" y="3711249"/>
                <a:ext cx="424101" cy="236498"/>
              </a:xfrm>
              <a:prstGeom prst="round2SameRect">
                <a:avLst>
                  <a:gd name="adj1" fmla="val 27989"/>
                  <a:gd name="adj2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34C16EA0-26FD-6E50-5E4C-6DA7D9F11B99}"/>
                  </a:ext>
                </a:extLst>
              </p:cNvPr>
              <p:cNvGrpSpPr/>
              <p:nvPr/>
            </p:nvGrpSpPr>
            <p:grpSpPr>
              <a:xfrm>
                <a:off x="4479609" y="3465519"/>
                <a:ext cx="429115" cy="482228"/>
                <a:chOff x="4316929" y="2454595"/>
                <a:chExt cx="877454" cy="744904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ECBD437B-07AA-C743-3C67-EDE09D4DBB5A}"/>
                    </a:ext>
                  </a:extLst>
                </p:cNvPr>
                <p:cNvSpPr/>
                <p:nvPr/>
              </p:nvSpPr>
              <p:spPr>
                <a:xfrm>
                  <a:off x="4487801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EBB9341B-AA3B-8DB2-1966-C90FB6C7DBA7}"/>
                    </a:ext>
                  </a:extLst>
                </p:cNvPr>
                <p:cNvSpPr/>
                <p:nvPr/>
              </p:nvSpPr>
              <p:spPr>
                <a:xfrm>
                  <a:off x="4755656" y="3015350"/>
                  <a:ext cx="267855" cy="8312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err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0EDFBBCE-FFD9-60FB-A2F1-FC5CC4FEDB6F}"/>
                    </a:ext>
                  </a:extLst>
                </p:cNvPr>
                <p:cNvCxnSpPr>
                  <a:cxnSpLocks/>
                  <a:stCxn id="229" idx="2"/>
                </p:cNvCxnSpPr>
                <p:nvPr/>
              </p:nvCxnSpPr>
              <p:spPr>
                <a:xfrm>
                  <a:off x="4755656" y="3056914"/>
                  <a:ext cx="0" cy="1425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1" name="Flowchart: Alternate Process 84">
                  <a:extLst>
                    <a:ext uri="{FF2B5EF4-FFF2-40B4-BE49-F238E27FC236}">
                      <a16:creationId xmlns:a16="http://schemas.microsoft.com/office/drawing/2014/main" id="{02D7F4BE-F802-46B1-1DD0-5F30EAA83AD4}"/>
                    </a:ext>
                  </a:extLst>
                </p:cNvPr>
                <p:cNvSpPr/>
                <p:nvPr/>
              </p:nvSpPr>
              <p:spPr>
                <a:xfrm>
                  <a:off x="4316929" y="2454595"/>
                  <a:ext cx="877454" cy="744903"/>
                </a:xfrm>
                <a:prstGeom prst="flowChartAlternateProcess">
                  <a:avLst/>
                </a:prstGeom>
                <a:noFill/>
                <a:ln w="285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385"/>
                    </a:spcAft>
                  </a:pPr>
                  <a:endParaRPr lang="en-US" sz="1155" b="1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</p:grp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01F27958-39E1-52A4-BC8D-14ADF41F83AA}"/>
                </a:ext>
              </a:extLst>
            </p:cNvPr>
            <p:cNvCxnSpPr/>
            <p:nvPr/>
          </p:nvCxnSpPr>
          <p:spPr>
            <a:xfrm>
              <a:off x="4925340" y="1584647"/>
              <a:ext cx="0" cy="197522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2C20D693-9729-4E11-F5FE-87046C681067}"/>
                </a:ext>
              </a:extLst>
            </p:cNvPr>
            <p:cNvSpPr txBox="1"/>
            <p:nvPr/>
          </p:nvSpPr>
          <p:spPr>
            <a:xfrm>
              <a:off x="3968405" y="1447144"/>
              <a:ext cx="1003985" cy="376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Aft>
                  <a:spcPts val="385"/>
                </a:spcAft>
              </a:pPr>
              <a:r>
                <a:rPr lang="en-US" sz="1027" b="1" dirty="0"/>
                <a:t>Load Adjustment</a:t>
              </a:r>
            </a:p>
          </p:txBody>
        </p: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B606AA27-D180-2361-3ED9-4B3E9C1FBB76}"/>
                </a:ext>
              </a:extLst>
            </p:cNvPr>
            <p:cNvCxnSpPr/>
            <p:nvPr/>
          </p:nvCxnSpPr>
          <p:spPr>
            <a:xfrm>
              <a:off x="7257571" y="1415819"/>
              <a:ext cx="0" cy="197522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70EC51EC-7985-C7DB-C64C-CCB7DAB84750}"/>
                </a:ext>
              </a:extLst>
            </p:cNvPr>
            <p:cNvCxnSpPr/>
            <p:nvPr/>
          </p:nvCxnSpPr>
          <p:spPr>
            <a:xfrm>
              <a:off x="8594497" y="1623630"/>
              <a:ext cx="0" cy="197522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5B643FE8-059E-AF6E-A588-5EBB1DD33813}"/>
                </a:ext>
              </a:extLst>
            </p:cNvPr>
            <p:cNvSpPr txBox="1"/>
            <p:nvPr/>
          </p:nvSpPr>
          <p:spPr>
            <a:xfrm>
              <a:off x="7628900" y="1439652"/>
              <a:ext cx="1025403" cy="376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Aft>
                  <a:spcPts val="385"/>
                </a:spcAft>
              </a:pPr>
              <a:r>
                <a:rPr lang="en-US" sz="1027" b="1" dirty="0"/>
                <a:t>Load Adjustment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0C07B5F0-34BD-EA4E-882F-1EC831C55C4B}"/>
                </a:ext>
              </a:extLst>
            </p:cNvPr>
            <p:cNvSpPr txBox="1"/>
            <p:nvPr/>
          </p:nvSpPr>
          <p:spPr>
            <a:xfrm>
              <a:off x="3140823" y="690013"/>
              <a:ext cx="149576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Dual Column Affinity </a:t>
              </a:r>
              <a:br>
                <a:rPr lang="en-US" sz="1600" b="1" dirty="0"/>
              </a:br>
              <a:r>
                <a:rPr lang="en-US" sz="1600" b="1" dirty="0"/>
                <a:t>Capture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65EC20C-A3B6-E7B8-553E-21BDBE58D695}"/>
                </a:ext>
              </a:extLst>
            </p:cNvPr>
            <p:cNvSpPr txBox="1"/>
            <p:nvPr/>
          </p:nvSpPr>
          <p:spPr>
            <a:xfrm>
              <a:off x="4351604" y="661499"/>
              <a:ext cx="149576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Dual Depth </a:t>
              </a:r>
              <a:br>
                <a:rPr lang="en-US" sz="1600" b="1" dirty="0"/>
              </a:br>
              <a:r>
                <a:rPr lang="en-US" sz="1600" b="1" dirty="0"/>
                <a:t>Filtration (Optional)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ECB34AA9-9F98-C29E-5DFB-45621BE4E0E3}"/>
                </a:ext>
              </a:extLst>
            </p:cNvPr>
            <p:cNvSpPr txBox="1"/>
            <p:nvPr/>
          </p:nvSpPr>
          <p:spPr>
            <a:xfrm>
              <a:off x="5485075" y="783543"/>
              <a:ext cx="1495766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Dual Column</a:t>
              </a:r>
              <a:br>
                <a:rPr lang="en-US" sz="1600" b="1" dirty="0"/>
              </a:br>
              <a:r>
                <a:rPr lang="en-US" sz="1600" b="1" dirty="0"/>
                <a:t>FT-Polishing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5CA31F86-7203-6C82-41E6-3000CCE15743}"/>
                </a:ext>
              </a:extLst>
            </p:cNvPr>
            <p:cNvSpPr txBox="1"/>
            <p:nvPr/>
          </p:nvSpPr>
          <p:spPr>
            <a:xfrm>
              <a:off x="6695856" y="790984"/>
              <a:ext cx="1595043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Dual Column</a:t>
              </a:r>
              <a:br>
                <a:rPr lang="en-US" sz="1600" b="1" dirty="0"/>
              </a:br>
              <a:r>
                <a:rPr lang="en-US" sz="1600" b="1" dirty="0"/>
                <a:t>B&amp;E-Polishing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7C136A3A-CFAF-C981-1F3E-B9216F014EBE}"/>
                </a:ext>
              </a:extLst>
            </p:cNvPr>
            <p:cNvSpPr txBox="1"/>
            <p:nvPr/>
          </p:nvSpPr>
          <p:spPr>
            <a:xfrm>
              <a:off x="7958112" y="781370"/>
              <a:ext cx="1495766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Dual Virus </a:t>
              </a:r>
              <a:br>
                <a:rPr lang="en-US" sz="1600" b="1" dirty="0"/>
              </a:br>
              <a:r>
                <a:rPr lang="en-US" sz="1600" b="1" dirty="0"/>
                <a:t>Filtration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68CD1514-1003-4847-1E15-E1E9CFCD4626}"/>
                </a:ext>
              </a:extLst>
            </p:cNvPr>
            <p:cNvSpPr txBox="1"/>
            <p:nvPr/>
          </p:nvSpPr>
          <p:spPr>
            <a:xfrm>
              <a:off x="9091583" y="773355"/>
              <a:ext cx="1495766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Asymmetric</a:t>
              </a:r>
              <a:br>
                <a:rPr lang="en-US" sz="1600" b="1" dirty="0"/>
              </a:br>
              <a:r>
                <a:rPr lang="en-US" sz="1600" b="1" dirty="0"/>
                <a:t>Dialysis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7AAD6E3-2393-D9F9-D010-41E02D90842E}"/>
                </a:ext>
              </a:extLst>
            </p:cNvPr>
            <p:cNvSpPr txBox="1"/>
            <p:nvPr/>
          </p:nvSpPr>
          <p:spPr>
            <a:xfrm>
              <a:off x="960858" y="680184"/>
              <a:ext cx="149576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r>
                <a:rPr lang="en-US" sz="1600" b="1" dirty="0"/>
                <a:t>Variable Perfusion </a:t>
              </a:r>
              <a:br>
                <a:rPr lang="en-US" sz="1600" b="1" dirty="0"/>
              </a:br>
              <a:r>
                <a:rPr lang="en-US" sz="1600" b="1" dirty="0"/>
                <a:t>Bioreactor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8BA9AF1-8539-B8E0-A14F-370EAB975587}"/>
                </a:ext>
              </a:extLst>
            </p:cNvPr>
            <p:cNvSpPr txBox="1"/>
            <p:nvPr/>
          </p:nvSpPr>
          <p:spPr>
            <a:xfrm>
              <a:off x="6336005" y="1318405"/>
              <a:ext cx="937908" cy="376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90000"/>
                </a:lnSpc>
                <a:spcAft>
                  <a:spcPts val="385"/>
                </a:spcAft>
              </a:pPr>
              <a:r>
                <a:rPr lang="en-US" sz="1027" b="1" dirty="0"/>
                <a:t>Load Adjustment</a:t>
              </a:r>
            </a:p>
          </p:txBody>
        </p:sp>
        <p:sp>
          <p:nvSpPr>
            <p:cNvPr id="76" name="Freeform 3">
              <a:extLst>
                <a:ext uri="{FF2B5EF4-FFF2-40B4-BE49-F238E27FC236}">
                  <a16:creationId xmlns:a16="http://schemas.microsoft.com/office/drawing/2014/main" id="{62EC8466-6903-4855-1FD7-65454960906A}"/>
                </a:ext>
              </a:extLst>
            </p:cNvPr>
            <p:cNvSpPr/>
            <p:nvPr/>
          </p:nvSpPr>
          <p:spPr>
            <a:xfrm>
              <a:off x="2907210" y="2271594"/>
              <a:ext cx="559609" cy="378068"/>
            </a:xfrm>
            <a:custGeom>
              <a:avLst/>
              <a:gdLst>
                <a:gd name="connsiteX0" fmla="*/ 0 w 2570546"/>
                <a:gd name="connsiteY0" fmla="*/ 5477512 h 5592140"/>
                <a:gd name="connsiteX1" fmla="*/ 2470826 w 2570546"/>
                <a:gd name="connsiteY1" fmla="*/ 5535878 h 5592140"/>
                <a:gd name="connsiteX2" fmla="*/ 389106 w 2570546"/>
                <a:gd name="connsiteY2" fmla="*/ 4777120 h 5592140"/>
                <a:gd name="connsiteX3" fmla="*/ 2393004 w 2570546"/>
                <a:gd name="connsiteY3" fmla="*/ 3998908 h 5592140"/>
                <a:gd name="connsiteX4" fmla="*/ 486383 w 2570546"/>
                <a:gd name="connsiteY4" fmla="*/ 3279061 h 5592140"/>
                <a:gd name="connsiteX5" fmla="*/ 2431915 w 2570546"/>
                <a:gd name="connsiteY5" fmla="*/ 2598125 h 5592140"/>
                <a:gd name="connsiteX6" fmla="*/ 486383 w 2570546"/>
                <a:gd name="connsiteY6" fmla="*/ 2189563 h 5592140"/>
                <a:gd name="connsiteX7" fmla="*/ 2373549 w 2570546"/>
                <a:gd name="connsiteY7" fmla="*/ 1469716 h 5592140"/>
                <a:gd name="connsiteX8" fmla="*/ 622570 w 2570546"/>
                <a:gd name="connsiteY8" fmla="*/ 963878 h 5592140"/>
                <a:gd name="connsiteX9" fmla="*/ 2373549 w 2570546"/>
                <a:gd name="connsiteY9" fmla="*/ 88389 h 5592140"/>
                <a:gd name="connsiteX10" fmla="*/ 2529192 w 2570546"/>
                <a:gd name="connsiteY10" fmla="*/ 30023 h 5592140"/>
                <a:gd name="connsiteX11" fmla="*/ 2529192 w 2570546"/>
                <a:gd name="connsiteY11" fmla="*/ 30023 h 5592140"/>
                <a:gd name="connsiteX12" fmla="*/ 2529192 w 2570546"/>
                <a:gd name="connsiteY12" fmla="*/ 30023 h 5592140"/>
                <a:gd name="connsiteX0" fmla="*/ 0 w 2473269"/>
                <a:gd name="connsiteY0" fmla="*/ 5963895 h 5978820"/>
                <a:gd name="connsiteX1" fmla="*/ 2373549 w 2473269"/>
                <a:gd name="connsiteY1" fmla="*/ 5535878 h 5978820"/>
                <a:gd name="connsiteX2" fmla="*/ 291829 w 2473269"/>
                <a:gd name="connsiteY2" fmla="*/ 4777120 h 5978820"/>
                <a:gd name="connsiteX3" fmla="*/ 2295727 w 2473269"/>
                <a:gd name="connsiteY3" fmla="*/ 3998908 h 5978820"/>
                <a:gd name="connsiteX4" fmla="*/ 389106 w 2473269"/>
                <a:gd name="connsiteY4" fmla="*/ 3279061 h 5978820"/>
                <a:gd name="connsiteX5" fmla="*/ 2334638 w 2473269"/>
                <a:gd name="connsiteY5" fmla="*/ 2598125 h 5978820"/>
                <a:gd name="connsiteX6" fmla="*/ 389106 w 2473269"/>
                <a:gd name="connsiteY6" fmla="*/ 2189563 h 5978820"/>
                <a:gd name="connsiteX7" fmla="*/ 2276272 w 2473269"/>
                <a:gd name="connsiteY7" fmla="*/ 1469716 h 5978820"/>
                <a:gd name="connsiteX8" fmla="*/ 525293 w 2473269"/>
                <a:gd name="connsiteY8" fmla="*/ 963878 h 5978820"/>
                <a:gd name="connsiteX9" fmla="*/ 2276272 w 2473269"/>
                <a:gd name="connsiteY9" fmla="*/ 88389 h 5978820"/>
                <a:gd name="connsiteX10" fmla="*/ 2431915 w 2473269"/>
                <a:gd name="connsiteY10" fmla="*/ 30023 h 5978820"/>
                <a:gd name="connsiteX11" fmla="*/ 2431915 w 2473269"/>
                <a:gd name="connsiteY11" fmla="*/ 30023 h 5978820"/>
                <a:gd name="connsiteX12" fmla="*/ 2431915 w 2473269"/>
                <a:gd name="connsiteY12" fmla="*/ 30023 h 5978820"/>
                <a:gd name="connsiteX0" fmla="*/ 0 w 2488368"/>
                <a:gd name="connsiteY0" fmla="*/ 5961239 h 5976164"/>
                <a:gd name="connsiteX1" fmla="*/ 2373549 w 2488368"/>
                <a:gd name="connsiteY1" fmla="*/ 5533222 h 5976164"/>
                <a:gd name="connsiteX2" fmla="*/ 291829 w 2488368"/>
                <a:gd name="connsiteY2" fmla="*/ 4774464 h 5976164"/>
                <a:gd name="connsiteX3" fmla="*/ 2295727 w 2488368"/>
                <a:gd name="connsiteY3" fmla="*/ 3996252 h 5976164"/>
                <a:gd name="connsiteX4" fmla="*/ 389106 w 2488368"/>
                <a:gd name="connsiteY4" fmla="*/ 3276405 h 5976164"/>
                <a:gd name="connsiteX5" fmla="*/ 2334638 w 2488368"/>
                <a:gd name="connsiteY5" fmla="*/ 2595469 h 5976164"/>
                <a:gd name="connsiteX6" fmla="*/ 389106 w 2488368"/>
                <a:gd name="connsiteY6" fmla="*/ 2186907 h 5976164"/>
                <a:gd name="connsiteX7" fmla="*/ 2276272 w 2488368"/>
                <a:gd name="connsiteY7" fmla="*/ 1467060 h 5976164"/>
                <a:gd name="connsiteX8" fmla="*/ 291829 w 2488368"/>
                <a:gd name="connsiteY8" fmla="*/ 922312 h 5976164"/>
                <a:gd name="connsiteX9" fmla="*/ 2276272 w 2488368"/>
                <a:gd name="connsiteY9" fmla="*/ 85733 h 5976164"/>
                <a:gd name="connsiteX10" fmla="*/ 2431915 w 2488368"/>
                <a:gd name="connsiteY10" fmla="*/ 27367 h 5976164"/>
                <a:gd name="connsiteX11" fmla="*/ 2431915 w 2488368"/>
                <a:gd name="connsiteY11" fmla="*/ 27367 h 5976164"/>
                <a:gd name="connsiteX12" fmla="*/ 2431915 w 2488368"/>
                <a:gd name="connsiteY12" fmla="*/ 27367 h 5976164"/>
                <a:gd name="connsiteX0" fmla="*/ 0 w 2488368"/>
                <a:gd name="connsiteY0" fmla="*/ 5961239 h 5976164"/>
                <a:gd name="connsiteX1" fmla="*/ 2373549 w 2488368"/>
                <a:gd name="connsiteY1" fmla="*/ 5533222 h 5976164"/>
                <a:gd name="connsiteX2" fmla="*/ 291829 w 2488368"/>
                <a:gd name="connsiteY2" fmla="*/ 4774464 h 5976164"/>
                <a:gd name="connsiteX3" fmla="*/ 2295727 w 2488368"/>
                <a:gd name="connsiteY3" fmla="*/ 3996252 h 5976164"/>
                <a:gd name="connsiteX4" fmla="*/ 389106 w 2488368"/>
                <a:gd name="connsiteY4" fmla="*/ 3276405 h 5976164"/>
                <a:gd name="connsiteX5" fmla="*/ 2334638 w 2488368"/>
                <a:gd name="connsiteY5" fmla="*/ 2595469 h 5976164"/>
                <a:gd name="connsiteX6" fmla="*/ 389106 w 2488368"/>
                <a:gd name="connsiteY6" fmla="*/ 2186907 h 5976164"/>
                <a:gd name="connsiteX7" fmla="*/ 2295727 w 2488368"/>
                <a:gd name="connsiteY7" fmla="*/ 1564336 h 5976164"/>
                <a:gd name="connsiteX8" fmla="*/ 291829 w 2488368"/>
                <a:gd name="connsiteY8" fmla="*/ 922312 h 5976164"/>
                <a:gd name="connsiteX9" fmla="*/ 2276272 w 2488368"/>
                <a:gd name="connsiteY9" fmla="*/ 85733 h 5976164"/>
                <a:gd name="connsiteX10" fmla="*/ 2431915 w 2488368"/>
                <a:gd name="connsiteY10" fmla="*/ 27367 h 5976164"/>
                <a:gd name="connsiteX11" fmla="*/ 2431915 w 2488368"/>
                <a:gd name="connsiteY11" fmla="*/ 27367 h 5976164"/>
                <a:gd name="connsiteX12" fmla="*/ 2431915 w 2488368"/>
                <a:gd name="connsiteY12" fmla="*/ 27367 h 5976164"/>
                <a:gd name="connsiteX0" fmla="*/ 0 w 2488368"/>
                <a:gd name="connsiteY0" fmla="*/ 5961239 h 5976164"/>
                <a:gd name="connsiteX1" fmla="*/ 2373549 w 2488368"/>
                <a:gd name="connsiteY1" fmla="*/ 5533222 h 5976164"/>
                <a:gd name="connsiteX2" fmla="*/ 291829 w 2488368"/>
                <a:gd name="connsiteY2" fmla="*/ 4774464 h 5976164"/>
                <a:gd name="connsiteX3" fmla="*/ 2295727 w 2488368"/>
                <a:gd name="connsiteY3" fmla="*/ 3996252 h 5976164"/>
                <a:gd name="connsiteX4" fmla="*/ 389106 w 2488368"/>
                <a:gd name="connsiteY4" fmla="*/ 3276405 h 5976164"/>
                <a:gd name="connsiteX5" fmla="*/ 2334638 w 2488368"/>
                <a:gd name="connsiteY5" fmla="*/ 2595469 h 5976164"/>
                <a:gd name="connsiteX6" fmla="*/ 389106 w 2488368"/>
                <a:gd name="connsiteY6" fmla="*/ 2186907 h 5976164"/>
                <a:gd name="connsiteX7" fmla="*/ 2295727 w 2488368"/>
                <a:gd name="connsiteY7" fmla="*/ 1564336 h 5976164"/>
                <a:gd name="connsiteX8" fmla="*/ 291829 w 2488368"/>
                <a:gd name="connsiteY8" fmla="*/ 922312 h 5976164"/>
                <a:gd name="connsiteX9" fmla="*/ 2276272 w 2488368"/>
                <a:gd name="connsiteY9" fmla="*/ 85733 h 5976164"/>
                <a:gd name="connsiteX10" fmla="*/ 2431915 w 2488368"/>
                <a:gd name="connsiteY10" fmla="*/ 27367 h 5976164"/>
                <a:gd name="connsiteX11" fmla="*/ 2431915 w 2488368"/>
                <a:gd name="connsiteY11" fmla="*/ 27367 h 597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8368" h="5976164">
                  <a:moveTo>
                    <a:pt x="0" y="5961239"/>
                  </a:moveTo>
                  <a:cubicBezTo>
                    <a:pt x="1202987" y="6048788"/>
                    <a:pt x="2324911" y="5731018"/>
                    <a:pt x="2373549" y="5533222"/>
                  </a:cubicBezTo>
                  <a:cubicBezTo>
                    <a:pt x="2422187" y="5335426"/>
                    <a:pt x="304799" y="5030626"/>
                    <a:pt x="291829" y="4774464"/>
                  </a:cubicBezTo>
                  <a:cubicBezTo>
                    <a:pt x="278859" y="4518302"/>
                    <a:pt x="2279514" y="4245928"/>
                    <a:pt x="2295727" y="3996252"/>
                  </a:cubicBezTo>
                  <a:cubicBezTo>
                    <a:pt x="2311940" y="3746576"/>
                    <a:pt x="382621" y="3509869"/>
                    <a:pt x="389106" y="3276405"/>
                  </a:cubicBezTo>
                  <a:cubicBezTo>
                    <a:pt x="395591" y="3042941"/>
                    <a:pt x="2334638" y="2777052"/>
                    <a:pt x="2334638" y="2595469"/>
                  </a:cubicBezTo>
                  <a:cubicBezTo>
                    <a:pt x="2334638" y="2413886"/>
                    <a:pt x="395591" y="2358762"/>
                    <a:pt x="389106" y="2186907"/>
                  </a:cubicBezTo>
                  <a:cubicBezTo>
                    <a:pt x="382621" y="2015052"/>
                    <a:pt x="2311940" y="1775102"/>
                    <a:pt x="2295727" y="1564336"/>
                  </a:cubicBezTo>
                  <a:cubicBezTo>
                    <a:pt x="2279514" y="1353570"/>
                    <a:pt x="295071" y="1168746"/>
                    <a:pt x="291829" y="922312"/>
                  </a:cubicBezTo>
                  <a:cubicBezTo>
                    <a:pt x="288587" y="675878"/>
                    <a:pt x="1919591" y="234890"/>
                    <a:pt x="2276272" y="85733"/>
                  </a:cubicBezTo>
                  <a:cubicBezTo>
                    <a:pt x="2632953" y="-63424"/>
                    <a:pt x="2431915" y="27367"/>
                    <a:pt x="2431915" y="27367"/>
                  </a:cubicBezTo>
                  <a:lnTo>
                    <a:pt x="2431915" y="27367"/>
                  </a:lnTo>
                </a:path>
              </a:pathLst>
            </a:custGeom>
            <a:noFill/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74390831-9E1A-DBAA-BC8C-FDDC7DAB96CB}"/>
                </a:ext>
              </a:extLst>
            </p:cNvPr>
            <p:cNvCxnSpPr>
              <a:cxnSpLocks/>
              <a:stCxn id="130" idx="2"/>
            </p:cNvCxnSpPr>
            <p:nvPr/>
          </p:nvCxnSpPr>
          <p:spPr>
            <a:xfrm rot="16200000" flipH="1">
              <a:off x="2717392" y="2374905"/>
              <a:ext cx="209952" cy="339560"/>
            </a:xfrm>
            <a:prstGeom prst="bentConnector2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20">
              <a:extLst>
                <a:ext uri="{FF2B5EF4-FFF2-40B4-BE49-F238E27FC236}">
                  <a16:creationId xmlns:a16="http://schemas.microsoft.com/office/drawing/2014/main" id="{EC874F3C-C7CD-02EF-71BC-872422996833}"/>
                </a:ext>
              </a:extLst>
            </p:cNvPr>
            <p:cNvCxnSpPr>
              <a:cxnSpLocks/>
              <a:endCxn id="154" idx="0"/>
            </p:cNvCxnSpPr>
            <p:nvPr/>
          </p:nvCxnSpPr>
          <p:spPr>
            <a:xfrm rot="5400000" flipH="1" flipV="1">
              <a:off x="3421817" y="1846264"/>
              <a:ext cx="405264" cy="369495"/>
            </a:xfrm>
            <a:prstGeom prst="bentConnector3">
              <a:avLst>
                <a:gd name="adj1" fmla="val 136192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Text Placeholder 68">
            <a:extLst>
              <a:ext uri="{FF2B5EF4-FFF2-40B4-BE49-F238E27FC236}">
                <a16:creationId xmlns:a16="http://schemas.microsoft.com/office/drawing/2014/main" id="{530FE674-4855-14B3-9912-797427FE7C8B}"/>
              </a:ext>
            </a:extLst>
          </p:cNvPr>
          <p:cNvSpPr txBox="1">
            <a:spLocks/>
          </p:cNvSpPr>
          <p:nvPr/>
        </p:nvSpPr>
        <p:spPr>
          <a:xfrm>
            <a:off x="835025" y="6093628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Slide modified and courtesy of Nikunj Sharda and Jon Coffman</a:t>
            </a:r>
          </a:p>
        </p:txBody>
      </p:sp>
    </p:spTree>
    <p:extLst>
      <p:ext uri="{BB962C8B-B14F-4D97-AF65-F5344CB8AC3E}">
        <p14:creationId xmlns:p14="http://schemas.microsoft.com/office/powerpoint/2010/main" val="127031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F44A-96E2-1610-4344-7299E06D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E4931-9C05-9022-1431-971969C9473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8506B8D-ED6B-DD7B-69C5-ECF0749BD04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344085"/>
            <a:ext cx="487680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D61E0-B011-4026-D5F4-E7005E4D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</p:spPr>
        <p:txBody>
          <a:bodyPr>
            <a:normAutofit/>
          </a:bodyPr>
          <a:lstStyle/>
          <a:p>
            <a:r>
              <a:rPr lang="en-US" dirty="0"/>
              <a:t>Drivers of IDB GMP </a:t>
            </a:r>
            <a:r>
              <a:rPr lang="en-US"/>
              <a:t>Implementation</a:t>
            </a:r>
            <a:r>
              <a:rPr lang="en-US" dirty="0"/>
              <a:t> </a:t>
            </a:r>
            <a:r>
              <a:rPr lang="en-US"/>
              <a:t>Strategy</a:t>
            </a:r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F8AEF7C-A684-1296-2BAD-9C9089A1E41B}"/>
              </a:ext>
            </a:extLst>
          </p:cNvPr>
          <p:cNvGraphicFramePr>
            <a:graphicFrameLocks noGrp="1"/>
          </p:cNvGraphicFramePr>
          <p:nvPr>
            <p:ph sz="quarter" idx="112"/>
            <p:extLst>
              <p:ext uri="{D42A27DB-BD31-4B8C-83A1-F6EECF244321}">
                <p14:modId xmlns:p14="http://schemas.microsoft.com/office/powerpoint/2010/main" val="3057878175"/>
              </p:ext>
            </p:extLst>
          </p:nvPr>
        </p:nvGraphicFramePr>
        <p:xfrm>
          <a:off x="609600" y="1468438"/>
          <a:ext cx="10972800" cy="4730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060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5F549F-A145-468E-9C69-B7A92B7B0F8A}"/>
              </a:ext>
            </a:extLst>
          </p:cNvPr>
          <p:cNvSpPr txBox="1">
            <a:spLocks/>
          </p:cNvSpPr>
          <p:nvPr/>
        </p:nvSpPr>
        <p:spPr>
          <a:xfrm>
            <a:off x="272254" y="159106"/>
            <a:ext cx="11687535" cy="6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rgbClr val="830051"/>
                </a:soli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sz="3600" b="0" dirty="0">
                <a:solidFill>
                  <a:schemeClr val="accent1"/>
                </a:solidFill>
              </a:rPr>
              <a:t>IDB Clinical GMP Manufacturing Implementation Plan*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87A37B-C3B0-4971-8D4D-92DB2CA04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67942"/>
              </p:ext>
            </p:extLst>
          </p:nvPr>
        </p:nvGraphicFramePr>
        <p:xfrm>
          <a:off x="740863" y="1540914"/>
          <a:ext cx="1083737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098">
                  <a:extLst>
                    <a:ext uri="{9D8B030D-6E8A-4147-A177-3AD203B41FA5}">
                      <a16:colId xmlns:a16="http://schemas.microsoft.com/office/drawing/2014/main" val="4120951986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3665259723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4136950947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2865549594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2420230437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3653246427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2096202454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2159880274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2436873648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4177368811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1334675735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3740459643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1017827501"/>
                    </a:ext>
                  </a:extLst>
                </a:gridCol>
                <a:gridCol w="774098">
                  <a:extLst>
                    <a:ext uri="{9D8B030D-6E8A-4147-A177-3AD203B41FA5}">
                      <a16:colId xmlns:a16="http://schemas.microsoft.com/office/drawing/2014/main" val="30353946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>
                          <a:solidFill>
                            <a:schemeClr val="bg1"/>
                          </a:solidFill>
                        </a:rPr>
                        <a:t>2022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>
                          <a:solidFill>
                            <a:schemeClr val="bg1"/>
                          </a:solidFill>
                        </a:rPr>
                        <a:t>2023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>
                          <a:solidFill>
                            <a:schemeClr val="bg1"/>
                          </a:solidFill>
                        </a:rPr>
                        <a:t>2024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2026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2027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2028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2029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2030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2031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2032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2033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2034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800" b="1" i="0" u="none" strike="noStrike" kern="1200" cap="none" spc="0" baseline="0" dirty="0">
                          <a:solidFill>
                            <a:schemeClr val="bg1"/>
                          </a:solidFill>
                        </a:rPr>
                        <a:t>2035</a:t>
                      </a:r>
                    </a:p>
                  </a:txBody>
                  <a:tcPr>
                    <a:lnL w="12700" cmpd="sng">
                      <a:solidFill>
                        <a:schemeClr val="bg1"/>
                      </a:solidFill>
                    </a:lnL>
                    <a:lnR w="12700" cmpd="sng">
                      <a:solidFill>
                        <a:schemeClr val="bg1"/>
                      </a:solidFill>
                    </a:lnR>
                    <a:lnT w="12700" cmpd="sng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88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035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47F141-AB99-4A6E-8198-C5E5560BD761}"/>
              </a:ext>
            </a:extLst>
          </p:cNvPr>
          <p:cNvSpPr txBox="1"/>
          <p:nvPr/>
        </p:nvSpPr>
        <p:spPr>
          <a:xfrm>
            <a:off x="272254" y="756983"/>
            <a:ext cx="11404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Potential Clinical and Commercial Scale IDB Product Manufacturing Timelines Based on New Candidate Drug IDs (CDIDs)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123972-824A-413C-9D43-36C69459266F}"/>
              </a:ext>
            </a:extLst>
          </p:cNvPr>
          <p:cNvSpPr/>
          <p:nvPr/>
        </p:nvSpPr>
        <p:spPr>
          <a:xfrm>
            <a:off x="5602988" y="3563678"/>
            <a:ext cx="623797" cy="297581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 Ph3 Mfg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D5011C-829A-4BA0-86FC-9024A3D652EF}"/>
              </a:ext>
            </a:extLst>
          </p:cNvPr>
          <p:cNvCxnSpPr>
            <a:cxnSpLocks/>
          </p:cNvCxnSpPr>
          <p:nvPr/>
        </p:nvCxnSpPr>
        <p:spPr>
          <a:xfrm>
            <a:off x="546890" y="2051962"/>
            <a:ext cx="1117024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84992CCE-68FC-5C48-B996-E19C7C8320CB}"/>
              </a:ext>
            </a:extLst>
          </p:cNvPr>
          <p:cNvSpPr/>
          <p:nvPr/>
        </p:nvSpPr>
        <p:spPr>
          <a:xfrm flipV="1">
            <a:off x="1489576" y="2497105"/>
            <a:ext cx="5362237" cy="583046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E3E7871C-EFBC-054C-8CA5-762AEA6AB8B3}"/>
              </a:ext>
            </a:extLst>
          </p:cNvPr>
          <p:cNvSpPr/>
          <p:nvPr/>
        </p:nvSpPr>
        <p:spPr>
          <a:xfrm flipH="1">
            <a:off x="1489177" y="2713321"/>
            <a:ext cx="4382059" cy="36458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4040FF-C8D9-1815-85DE-3400BC789FCD}"/>
              </a:ext>
            </a:extLst>
          </p:cNvPr>
          <p:cNvSpPr/>
          <p:nvPr/>
        </p:nvSpPr>
        <p:spPr>
          <a:xfrm>
            <a:off x="4475653" y="2825611"/>
            <a:ext cx="7159173" cy="2459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spcAft>
                <a:spcPts val="600"/>
              </a:spcAft>
            </a:pP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959B9E-498C-6768-A575-3DED66AAC134}"/>
              </a:ext>
            </a:extLst>
          </p:cNvPr>
          <p:cNvSpPr/>
          <p:nvPr/>
        </p:nvSpPr>
        <p:spPr>
          <a:xfrm>
            <a:off x="4475653" y="2495951"/>
            <a:ext cx="7162941" cy="2585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err="1">
              <a:solidFill>
                <a:schemeClr val="bg1"/>
              </a:solidFill>
              <a:latin typeface="Calisto M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F0EDE6-A87D-7294-0173-C094EAA97EF3}"/>
              </a:ext>
            </a:extLst>
          </p:cNvPr>
          <p:cNvSpPr/>
          <p:nvPr/>
        </p:nvSpPr>
        <p:spPr>
          <a:xfrm>
            <a:off x="4347918" y="3671425"/>
            <a:ext cx="949804" cy="276247"/>
          </a:xfrm>
          <a:prstGeom prst="rect">
            <a:avLst/>
          </a:prstGeom>
          <a:solidFill>
            <a:srgbClr val="C00000"/>
          </a:soli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2 Ph3 Mfg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1932DF-4B8C-77EC-7192-3FEDB553006A}"/>
              </a:ext>
            </a:extLst>
          </p:cNvPr>
          <p:cNvSpPr/>
          <p:nvPr/>
        </p:nvSpPr>
        <p:spPr>
          <a:xfrm>
            <a:off x="5051841" y="3986849"/>
            <a:ext cx="623797" cy="297581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3 Ph3 Mfg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0F3AD86-837D-6F01-1373-8274EE113FF6}"/>
              </a:ext>
            </a:extLst>
          </p:cNvPr>
          <p:cNvSpPr/>
          <p:nvPr/>
        </p:nvSpPr>
        <p:spPr>
          <a:xfrm>
            <a:off x="7049436" y="4594096"/>
            <a:ext cx="623797" cy="297581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5 Ph3 Mfg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93FB7D-5C07-2B75-DA4A-755E651F2FCF}"/>
              </a:ext>
            </a:extLst>
          </p:cNvPr>
          <p:cNvSpPr/>
          <p:nvPr/>
        </p:nvSpPr>
        <p:spPr>
          <a:xfrm>
            <a:off x="7261101" y="5157555"/>
            <a:ext cx="623797" cy="297581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7 Ph3 Mfg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179A27F-322C-0618-CC02-AEBB004F5CF7}"/>
              </a:ext>
            </a:extLst>
          </p:cNvPr>
          <p:cNvSpPr/>
          <p:nvPr/>
        </p:nvSpPr>
        <p:spPr>
          <a:xfrm>
            <a:off x="7871715" y="5525077"/>
            <a:ext cx="623797" cy="229782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8 Ph3 Mfg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A8CE0D3-28E6-1EAD-C867-0CA1BA340155}"/>
              </a:ext>
            </a:extLst>
          </p:cNvPr>
          <p:cNvSpPr/>
          <p:nvPr/>
        </p:nvSpPr>
        <p:spPr>
          <a:xfrm>
            <a:off x="8495512" y="5801914"/>
            <a:ext cx="623797" cy="229782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9 Ph3 Mfg</a:t>
            </a:r>
          </a:p>
        </p:txBody>
      </p:sp>
      <p:sp>
        <p:nvSpPr>
          <p:cNvPr id="4" name="5-Point Star 14">
            <a:extLst>
              <a:ext uri="{FF2B5EF4-FFF2-40B4-BE49-F238E27FC236}">
                <a16:creationId xmlns:a16="http://schemas.microsoft.com/office/drawing/2014/main" id="{9D02755E-E147-4411-7F1A-C1BF0CA074D2}"/>
              </a:ext>
            </a:extLst>
          </p:cNvPr>
          <p:cNvSpPr/>
          <p:nvPr/>
        </p:nvSpPr>
        <p:spPr>
          <a:xfrm>
            <a:off x="2552344" y="2130523"/>
            <a:ext cx="276857" cy="230424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F746C-757A-19B3-FF48-CE9AE4AC0BC5}"/>
              </a:ext>
            </a:extLst>
          </p:cNvPr>
          <p:cNvSpPr txBox="1"/>
          <p:nvPr/>
        </p:nvSpPr>
        <p:spPr>
          <a:xfrm>
            <a:off x="1473119" y="2022843"/>
            <a:ext cx="127743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clinical plant online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1438CC94-AB82-D572-8ED5-205E79F2C5D3}"/>
              </a:ext>
            </a:extLst>
          </p:cNvPr>
          <p:cNvSpPr txBox="1">
            <a:spLocks/>
          </p:cNvSpPr>
          <p:nvPr/>
        </p:nvSpPr>
        <p:spPr>
          <a:xfrm>
            <a:off x="106895" y="6463295"/>
            <a:ext cx="501650" cy="3091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E47D07-9D1E-4FE9-B31A-2F5863681021}" type="slidenum">
              <a:rPr lang="en-GB" sz="1050" smtClean="0"/>
              <a:pPr/>
              <a:t>5</a:t>
            </a:fld>
            <a:endParaRPr lang="en-GB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7C539-0A55-424B-44B1-92D40F03BA43}"/>
              </a:ext>
            </a:extLst>
          </p:cNvPr>
          <p:cNvSpPr/>
          <p:nvPr/>
        </p:nvSpPr>
        <p:spPr>
          <a:xfrm>
            <a:off x="3190946" y="3552675"/>
            <a:ext cx="1032708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 Mfg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8DF3B0-0997-351F-4A8B-026D48005D06}"/>
              </a:ext>
            </a:extLst>
          </p:cNvPr>
          <p:cNvSpPr/>
          <p:nvPr/>
        </p:nvSpPr>
        <p:spPr>
          <a:xfrm>
            <a:off x="4201121" y="4299542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4 Mfg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159B3F-279A-45D6-026D-703E5B423A28}"/>
              </a:ext>
            </a:extLst>
          </p:cNvPr>
          <p:cNvSpPr/>
          <p:nvPr/>
        </p:nvSpPr>
        <p:spPr>
          <a:xfrm>
            <a:off x="4338103" y="4616764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5 Mfg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EAF853-2EE4-AEF6-ADE2-9D0BCC4C5CB7}"/>
              </a:ext>
            </a:extLst>
          </p:cNvPr>
          <p:cNvSpPr/>
          <p:nvPr/>
        </p:nvSpPr>
        <p:spPr>
          <a:xfrm>
            <a:off x="4432113" y="4945704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6 Mfg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73F9DD-1C5B-C615-5FAE-A5B9DCFA54B5}"/>
              </a:ext>
            </a:extLst>
          </p:cNvPr>
          <p:cNvSpPr/>
          <p:nvPr/>
        </p:nvSpPr>
        <p:spPr>
          <a:xfrm>
            <a:off x="4491488" y="5284530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7 Mfg</a:t>
            </a:r>
          </a:p>
        </p:txBody>
      </p:sp>
      <p:sp>
        <p:nvSpPr>
          <p:cNvPr id="30" name="5-Point Star 14">
            <a:extLst>
              <a:ext uri="{FF2B5EF4-FFF2-40B4-BE49-F238E27FC236}">
                <a16:creationId xmlns:a16="http://schemas.microsoft.com/office/drawing/2014/main" id="{22CC4901-879A-351A-B967-15645BFAC458}"/>
              </a:ext>
            </a:extLst>
          </p:cNvPr>
          <p:cNvSpPr/>
          <p:nvPr/>
        </p:nvSpPr>
        <p:spPr>
          <a:xfrm>
            <a:off x="3303689" y="2130523"/>
            <a:ext cx="276857" cy="230424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9A3313-4418-DA57-A591-42287F98724D}"/>
              </a:ext>
            </a:extLst>
          </p:cNvPr>
          <p:cNvSpPr txBox="1"/>
          <p:nvPr/>
        </p:nvSpPr>
        <p:spPr>
          <a:xfrm>
            <a:off x="3511989" y="2016589"/>
            <a:ext cx="135633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clinical plant online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1A0AD-238A-168F-C1FF-EA5DBC57BFD2}"/>
              </a:ext>
            </a:extLst>
          </p:cNvPr>
          <p:cNvSpPr/>
          <p:nvPr/>
        </p:nvSpPr>
        <p:spPr>
          <a:xfrm>
            <a:off x="4557518" y="5608323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8 Mfg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C0F780-8BAC-B4A3-0EAB-13072042DD1D}"/>
              </a:ext>
            </a:extLst>
          </p:cNvPr>
          <p:cNvSpPr/>
          <p:nvPr/>
        </p:nvSpPr>
        <p:spPr>
          <a:xfrm>
            <a:off x="4652518" y="5940800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9 Mfg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C94345-2FAE-2297-C2AC-DD149AC19FFC}"/>
              </a:ext>
            </a:extLst>
          </p:cNvPr>
          <p:cNvSpPr/>
          <p:nvPr/>
        </p:nvSpPr>
        <p:spPr>
          <a:xfrm>
            <a:off x="5119108" y="4603296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10 Mfg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492E37-B891-4BB9-0540-E35896366F63}"/>
              </a:ext>
            </a:extLst>
          </p:cNvPr>
          <p:cNvSpPr/>
          <p:nvPr/>
        </p:nvSpPr>
        <p:spPr>
          <a:xfrm>
            <a:off x="5248743" y="4932236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11 Mfg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375DB5-CA87-7DCB-4AFA-B6A33E314C24}"/>
              </a:ext>
            </a:extLst>
          </p:cNvPr>
          <p:cNvSpPr/>
          <p:nvPr/>
        </p:nvSpPr>
        <p:spPr>
          <a:xfrm>
            <a:off x="5367493" y="5271062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12 Mfg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45E478-DB6E-53BF-9E86-843DCDAFE1E1}"/>
              </a:ext>
            </a:extLst>
          </p:cNvPr>
          <p:cNvSpPr/>
          <p:nvPr/>
        </p:nvSpPr>
        <p:spPr>
          <a:xfrm>
            <a:off x="5516654" y="5594855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13 Mfg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34D4A3-66E3-B630-7A96-6B7B3A36CD3E}"/>
              </a:ext>
            </a:extLst>
          </p:cNvPr>
          <p:cNvSpPr/>
          <p:nvPr/>
        </p:nvSpPr>
        <p:spPr>
          <a:xfrm>
            <a:off x="5611651" y="5927332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Project 14 Mfg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E9CCB6B-37A7-8C5C-C57F-A0553C0ECDAF}"/>
              </a:ext>
            </a:extLst>
          </p:cNvPr>
          <p:cNvSpPr/>
          <p:nvPr/>
        </p:nvSpPr>
        <p:spPr>
          <a:xfrm>
            <a:off x="6416687" y="6003736"/>
            <a:ext cx="79604" cy="873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7E48963-8695-0D7B-513D-61BB8B567E44}"/>
              </a:ext>
            </a:extLst>
          </p:cNvPr>
          <p:cNvSpPr/>
          <p:nvPr/>
        </p:nvSpPr>
        <p:spPr>
          <a:xfrm>
            <a:off x="6544579" y="6004477"/>
            <a:ext cx="79604" cy="873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b="1" dirty="0" err="1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4A4914D-5078-F85B-A79E-D95EB82AC075}"/>
              </a:ext>
            </a:extLst>
          </p:cNvPr>
          <p:cNvSpPr/>
          <p:nvPr/>
        </p:nvSpPr>
        <p:spPr>
          <a:xfrm>
            <a:off x="6690629" y="6004477"/>
            <a:ext cx="79604" cy="873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b="1" dirty="0" err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F50326-2F6C-F143-9600-83FA47871D74}"/>
              </a:ext>
            </a:extLst>
          </p:cNvPr>
          <p:cNvSpPr txBox="1"/>
          <p:nvPr/>
        </p:nvSpPr>
        <p:spPr>
          <a:xfrm>
            <a:off x="3408245" y="2791185"/>
            <a:ext cx="2268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CDIDs in </a:t>
            </a:r>
            <a:r>
              <a:rPr lang="en-US" sz="1400" dirty="0">
                <a:solidFill>
                  <a:schemeClr val="bg1"/>
                </a:solidFill>
              </a:rPr>
              <a:t>IDB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D35595-D535-1C56-EE04-9E920D22596D}"/>
              </a:ext>
            </a:extLst>
          </p:cNvPr>
          <p:cNvSpPr/>
          <p:nvPr/>
        </p:nvSpPr>
        <p:spPr>
          <a:xfrm>
            <a:off x="4475653" y="2766998"/>
            <a:ext cx="1475189" cy="62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0F984A-8980-C444-BB53-73507BE8BAB7}"/>
              </a:ext>
            </a:extLst>
          </p:cNvPr>
          <p:cNvSpPr txBox="1"/>
          <p:nvPr/>
        </p:nvSpPr>
        <p:spPr>
          <a:xfrm>
            <a:off x="1458157" y="2507234"/>
            <a:ext cx="3410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CDIDs in Fed-Batch/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Intensifed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Fed-Batch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294BD8-6081-F9F1-E96C-0120DD6B540A}"/>
              </a:ext>
            </a:extLst>
          </p:cNvPr>
          <p:cNvSpPr/>
          <p:nvPr/>
        </p:nvSpPr>
        <p:spPr>
          <a:xfrm>
            <a:off x="2539442" y="3179385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Engr Run 1</a:t>
            </a:r>
            <a:r>
              <a:rPr lang="en-US" sz="900" baseline="30000" dirty="0">
                <a:solidFill>
                  <a:schemeClr val="bg1"/>
                </a:solidFill>
                <a:latin typeface="Calibri" panose="020F0502020204030204"/>
              </a:rPr>
              <a:t>st</a:t>
            </a: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 plant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A4DA4F-9B01-4871-56B7-1231BE0384BF}"/>
              </a:ext>
            </a:extLst>
          </p:cNvPr>
          <p:cNvSpPr txBox="1"/>
          <p:nvPr/>
        </p:nvSpPr>
        <p:spPr>
          <a:xfrm>
            <a:off x="608545" y="6463295"/>
            <a:ext cx="295497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* Project timelines estimated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A1DA385-C1D8-CBEB-2BB6-24F0EF22E09B}"/>
              </a:ext>
            </a:extLst>
          </p:cNvPr>
          <p:cNvSpPr/>
          <p:nvPr/>
        </p:nvSpPr>
        <p:spPr>
          <a:xfrm>
            <a:off x="3918776" y="3158883"/>
            <a:ext cx="623797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Engr Run 2</a:t>
            </a:r>
            <a:r>
              <a:rPr lang="en-US" sz="900" baseline="30000" dirty="0">
                <a:solidFill>
                  <a:schemeClr val="bg1"/>
                </a:solidFill>
                <a:latin typeface="Calibri" panose="020F0502020204030204"/>
              </a:rPr>
              <a:t>nd</a:t>
            </a: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 plant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2C47BB-2407-3A54-B0FB-132A2AE95752}"/>
              </a:ext>
            </a:extLst>
          </p:cNvPr>
          <p:cNvSpPr/>
          <p:nvPr/>
        </p:nvSpPr>
        <p:spPr>
          <a:xfrm>
            <a:off x="4607872" y="3171635"/>
            <a:ext cx="726001" cy="29758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Engr Run CMO plant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98082C-EF2A-D142-FF8D-EFFFAAD9134A}"/>
              </a:ext>
            </a:extLst>
          </p:cNvPr>
          <p:cNvSpPr/>
          <p:nvPr/>
        </p:nvSpPr>
        <p:spPr>
          <a:xfrm>
            <a:off x="9079207" y="4456123"/>
            <a:ext cx="949804" cy="276247"/>
          </a:xfrm>
          <a:prstGeom prst="rect">
            <a:avLst/>
          </a:prstGeom>
          <a:solidFill>
            <a:srgbClr val="C00000"/>
          </a:soli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681B39-080C-BF16-06A1-EB184239A4B1}"/>
              </a:ext>
            </a:extLst>
          </p:cNvPr>
          <p:cNvSpPr/>
          <p:nvPr/>
        </p:nvSpPr>
        <p:spPr>
          <a:xfrm>
            <a:off x="9079207" y="4904528"/>
            <a:ext cx="949804" cy="297581"/>
          </a:xfrm>
          <a:prstGeom prst="rect">
            <a:avLst/>
          </a:prstGeom>
          <a:gradFill flip="none" rotWithShape="1">
            <a:gsLst>
              <a:gs pos="21000">
                <a:srgbClr val="C00000"/>
              </a:gs>
              <a:gs pos="73000">
                <a:srgbClr val="668DCC"/>
              </a:gs>
            </a:gsLst>
            <a:path path="circle">
              <a:fillToRect t="100000" r="100000"/>
            </a:path>
            <a:tileRect l="-100000" b="-100000"/>
          </a:gradFill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D3CA5C-677E-07F8-73D7-537E293361F8}"/>
              </a:ext>
            </a:extLst>
          </p:cNvPr>
          <p:cNvSpPr txBox="1"/>
          <p:nvPr/>
        </p:nvSpPr>
        <p:spPr>
          <a:xfrm>
            <a:off x="10090003" y="4363538"/>
            <a:ext cx="1837519" cy="427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Phase 3 Production in Clinical Plant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862127-61CF-DF5E-326C-362DEF2DDAFA}"/>
              </a:ext>
            </a:extLst>
          </p:cNvPr>
          <p:cNvSpPr txBox="1"/>
          <p:nvPr/>
        </p:nvSpPr>
        <p:spPr>
          <a:xfrm>
            <a:off x="10074513" y="4780559"/>
            <a:ext cx="185300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Phase 3 Production in Clinical Plant or Commercial Plant/CMO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E2B4447-F57B-C20C-041F-EECF18E94896}"/>
              </a:ext>
            </a:extLst>
          </p:cNvPr>
          <p:cNvSpPr/>
          <p:nvPr/>
        </p:nvSpPr>
        <p:spPr>
          <a:xfrm>
            <a:off x="8841996" y="3861259"/>
            <a:ext cx="3179428" cy="14769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7D6E9E-C9A3-9E04-C937-A6EBD2392D6A}"/>
              </a:ext>
            </a:extLst>
          </p:cNvPr>
          <p:cNvSpPr/>
          <p:nvPr/>
        </p:nvSpPr>
        <p:spPr>
          <a:xfrm>
            <a:off x="9079207" y="3994270"/>
            <a:ext cx="949804" cy="2887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E79395-F692-E2A8-22F8-598A8F635C2E}"/>
              </a:ext>
            </a:extLst>
          </p:cNvPr>
          <p:cNvSpPr txBox="1"/>
          <p:nvPr/>
        </p:nvSpPr>
        <p:spPr>
          <a:xfrm>
            <a:off x="10127184" y="3930530"/>
            <a:ext cx="1837519" cy="427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Phase 1/2 Production in Clinical Plant</a:t>
            </a:r>
          </a:p>
        </p:txBody>
      </p:sp>
    </p:spTree>
    <p:extLst>
      <p:ext uri="{BB962C8B-B14F-4D97-AF65-F5344CB8AC3E}">
        <p14:creationId xmlns:p14="http://schemas.microsoft.com/office/powerpoint/2010/main" val="262486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A07CC-FB7E-CE72-4D55-A0D2C7A7B6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6344085"/>
            <a:ext cx="487680" cy="30914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AF57413-8B27-994D-04BF-962451EB60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468438"/>
            <a:ext cx="3251198" cy="423863"/>
          </a:xfrm>
        </p:spPr>
        <p:txBody>
          <a:bodyPr/>
          <a:lstStyle/>
          <a:p>
            <a:r>
              <a:rPr lang="en-US" dirty="0"/>
              <a:t>Planning is key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BEDB29-D433-BEDB-58B2-AF7DE9E8245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" y="2044699"/>
            <a:ext cx="3251198" cy="400208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2000" b="1" dirty="0"/>
              <a:t>Strategic alignment of technical and regulatory goals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2000" b="1" dirty="0"/>
              <a:t>Thorough technology evaluation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2000" b="1" dirty="0"/>
              <a:t>Maintaining GMP standards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None/>
            </a:pPr>
            <a:r>
              <a:rPr lang="en-US" sz="2000" b="1" dirty="0"/>
              <a:t>Don’t forget to address the people element</a:t>
            </a:r>
          </a:p>
          <a:p>
            <a:pPr marL="0" lvl="1" indent="0">
              <a:lnSpc>
                <a:spcPct val="90000"/>
              </a:lnSpc>
              <a:buNone/>
            </a:pPr>
            <a:endParaRPr lang="en-US" sz="1100" dirty="0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E065107-4006-A9F4-26B2-925ED7BAD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70401" y="1468438"/>
            <a:ext cx="3251198" cy="423863"/>
          </a:xfrm>
        </p:spPr>
        <p:txBody>
          <a:bodyPr/>
          <a:lstStyle/>
          <a:p>
            <a:r>
              <a:rPr lang="en-US" dirty="0"/>
              <a:t>Scale-up bioreactor &amp; TFF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2910B0A4-03B5-4418-7DEC-7B4DEAC9E50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331202" y="1468438"/>
            <a:ext cx="3251198" cy="423863"/>
          </a:xfrm>
        </p:spPr>
        <p:txBody>
          <a:bodyPr/>
          <a:lstStyle/>
          <a:p>
            <a:r>
              <a:rPr lang="en-US" dirty="0"/>
              <a:t>Our particular challenges</a:t>
            </a:r>
          </a:p>
        </p:txBody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F9AA6327-F67E-AB0F-DFDA-1B8B4FD725AE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331196" y="2044699"/>
            <a:ext cx="3251198" cy="4002087"/>
          </a:xfrm>
        </p:spPr>
        <p:txBody>
          <a:bodyPr/>
          <a:lstStyle/>
          <a:p>
            <a:r>
              <a:rPr lang="en-US" sz="1600" dirty="0"/>
              <a:t>New technology</a:t>
            </a:r>
          </a:p>
          <a:p>
            <a:pPr lvl="1"/>
            <a:r>
              <a:rPr lang="en-US" sz="1600" dirty="0"/>
              <a:t>Build new automation</a:t>
            </a:r>
          </a:p>
          <a:p>
            <a:r>
              <a:rPr lang="en-US" sz="1600" dirty="0"/>
              <a:t>Implementation in older traditional stainless fed-batch facility</a:t>
            </a:r>
          </a:p>
          <a:p>
            <a:r>
              <a:rPr lang="en-US" sz="1600" dirty="0"/>
              <a:t>Defining the “sterile” boundary much wider than previous experience</a:t>
            </a:r>
          </a:p>
          <a:p>
            <a:r>
              <a:rPr lang="en-US" sz="1600" dirty="0"/>
              <a:t>Dynamic nature </a:t>
            </a:r>
          </a:p>
          <a:p>
            <a:pPr lvl="1"/>
            <a:r>
              <a:rPr lang="en-US" sz="1600" dirty="0"/>
              <a:t>Batch definition</a:t>
            </a:r>
          </a:p>
          <a:p>
            <a:pPr lvl="1"/>
            <a:r>
              <a:rPr lang="en-US" sz="1600" dirty="0"/>
              <a:t>Response time strategy without 24/7 staffing</a:t>
            </a:r>
          </a:p>
          <a:p>
            <a:r>
              <a:rPr lang="en-US" sz="1600" dirty="0"/>
              <a:t>Balance robustness with flexibility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AD1192B-8E3C-6E15-380D-A2DB3071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</p:spPr>
        <p:txBody>
          <a:bodyPr anchor="t">
            <a:normAutofit/>
          </a:bodyPr>
          <a:lstStyle/>
          <a:p>
            <a:r>
              <a:rPr lang="en-US" dirty="0"/>
              <a:t>Strategic </a:t>
            </a:r>
            <a:r>
              <a:rPr lang="en-US"/>
              <a:t>Planning</a:t>
            </a:r>
            <a:r>
              <a:rPr lang="en-US" dirty="0"/>
              <a:t> for </a:t>
            </a:r>
            <a:r>
              <a:rPr lang="en-US"/>
              <a:t>Scale-Up</a:t>
            </a:r>
            <a:r>
              <a:rPr lang="en-US" dirty="0"/>
              <a:t> and GMP </a:t>
            </a:r>
            <a:r>
              <a:rPr lang="en-US"/>
              <a:t>Production</a:t>
            </a:r>
            <a:endParaRPr lang="en-US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EC2C947-74AA-62D4-E0F6-1BE7B96F067A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" r="32603"/>
          <a:stretch>
            <a:fillRect/>
          </a:stretch>
        </p:blipFill>
        <p:spPr bwMode="auto">
          <a:xfrm>
            <a:off x="4250721" y="2295200"/>
            <a:ext cx="369055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98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23BD86-D993-96C8-EAB3-4AFA44D1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</a:t>
            </a:r>
            <a:r>
              <a:rPr lang="en-US"/>
              <a:t>Modes</a:t>
            </a:r>
            <a:r>
              <a:rPr lang="en-US" dirty="0"/>
              <a:t> </a:t>
            </a:r>
            <a:r>
              <a:rPr lang="en-US"/>
              <a:t>During</a:t>
            </a:r>
            <a:r>
              <a:rPr lang="en-US" dirty="0"/>
              <a:t> </a:t>
            </a:r>
            <a:r>
              <a:rPr lang="en-US"/>
              <a:t>Scale-up</a:t>
            </a:r>
            <a:r>
              <a:rPr lang="en-US" dirty="0"/>
              <a:t>: Some </a:t>
            </a:r>
            <a:r>
              <a:rPr lang="en-US"/>
              <a:t>Old</a:t>
            </a:r>
            <a:r>
              <a:rPr lang="en-US" dirty="0"/>
              <a:t>, </a:t>
            </a:r>
            <a:r>
              <a:rPr lang="en-US"/>
              <a:t>Some</a:t>
            </a:r>
            <a:r>
              <a:rPr lang="en-US" dirty="0"/>
              <a:t> </a:t>
            </a:r>
            <a:r>
              <a:rPr lang="en-US"/>
              <a:t>New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BEF57-E843-7E30-54AB-25B8D9AEA8C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Multiple contaminations of bioreactor</a:t>
            </a:r>
          </a:p>
          <a:p>
            <a:pPr lvl="1"/>
            <a:r>
              <a:rPr lang="en-US" dirty="0"/>
              <a:t>More opportunity with:</a:t>
            </a:r>
          </a:p>
          <a:p>
            <a:pPr lvl="2"/>
            <a:r>
              <a:rPr lang="en-US" dirty="0"/>
              <a:t>More connections</a:t>
            </a:r>
          </a:p>
          <a:p>
            <a:pPr lvl="2"/>
            <a:r>
              <a:rPr lang="en-US" dirty="0"/>
              <a:t>Complex hand-built and autoclaved parts</a:t>
            </a:r>
          </a:p>
          <a:p>
            <a:pPr lvl="2"/>
            <a:r>
              <a:rPr lang="en-US" dirty="0"/>
              <a:t> Wider “sterile boundary”</a:t>
            </a:r>
          </a:p>
          <a:p>
            <a:pPr lvl="1"/>
            <a:r>
              <a:rPr lang="en-US" dirty="0"/>
              <a:t>Contamination of media/feed additions</a:t>
            </a:r>
          </a:p>
          <a:p>
            <a:r>
              <a:rPr lang="en-US" dirty="0"/>
              <a:t>Bubbles in “high” downstream product lines due to gas permeability of tubing</a:t>
            </a:r>
          </a:p>
          <a:p>
            <a:r>
              <a:rPr lang="en-US" dirty="0"/>
              <a:t>CM precipitation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C8BF4-7B3A-545C-B13D-1DE4A0266E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Rectangle 6" descr="Germ with solid fill">
            <a:extLst>
              <a:ext uri="{FF2B5EF4-FFF2-40B4-BE49-F238E27FC236}">
                <a16:creationId xmlns:a16="http://schemas.microsoft.com/office/drawing/2014/main" id="{E294FE45-0F22-5691-53DE-C5A1AD54C3B0}"/>
              </a:ext>
            </a:extLst>
          </p:cNvPr>
          <p:cNvSpPr/>
          <p:nvPr/>
        </p:nvSpPr>
        <p:spPr>
          <a:xfrm>
            <a:off x="10456317" y="1038431"/>
            <a:ext cx="670558" cy="67055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0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8">
            <a:extLst>
              <a:ext uri="{FF2B5EF4-FFF2-40B4-BE49-F238E27FC236}">
                <a16:creationId xmlns:a16="http://schemas.microsoft.com/office/drawing/2014/main" id="{EEE45E9C-0947-BE7D-DC1E-0A42A2A352A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9" r="29259"/>
          <a:stretch>
            <a:fillRect/>
          </a:stretch>
        </p:blipFill>
        <p:spPr>
          <a:xfrm>
            <a:off x="0" y="0"/>
            <a:ext cx="4267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D8DFDE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2D4AC0-8AE0-43E0-BA90-FD781AFEC14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69708" y="1147162"/>
            <a:ext cx="6993924" cy="5368968"/>
          </a:xfrm>
        </p:spPr>
        <p:txBody>
          <a:bodyPr/>
          <a:lstStyle/>
          <a:p>
            <a:r>
              <a:rPr lang="en-US" dirty="0"/>
              <a:t>Write it down early and share often</a:t>
            </a:r>
          </a:p>
          <a:p>
            <a:r>
              <a:rPr lang="en-US" dirty="0"/>
              <a:t>Can’t always do it the way we’ve done it </a:t>
            </a:r>
          </a:p>
          <a:p>
            <a:r>
              <a:rPr lang="en-US" dirty="0"/>
              <a:t>Failures are an opportunity to learn</a:t>
            </a:r>
          </a:p>
          <a:p>
            <a:r>
              <a:rPr lang="en-US" dirty="0"/>
              <a:t>Collaboration is key!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7D648-EA71-BF0A-259E-E737AAFA21D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4789FD-C074-F6DB-1351-909A66CD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People Element</a:t>
            </a:r>
          </a:p>
        </p:txBody>
      </p:sp>
    </p:spTree>
    <p:extLst>
      <p:ext uri="{BB962C8B-B14F-4D97-AF65-F5344CB8AC3E}">
        <p14:creationId xmlns:p14="http://schemas.microsoft.com/office/powerpoint/2010/main" val="147518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46406-72F0-5354-D5A2-EC862E1BCCF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344085"/>
            <a:ext cx="487680" cy="30914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2887C05-AD0B-AD1B-26FF-F604D4364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</p:spPr>
        <p:txBody>
          <a:bodyPr anchor="ctr">
            <a:normAutofit/>
          </a:bodyPr>
          <a:lstStyle/>
          <a:p>
            <a:r>
              <a:rPr lang="en-US" dirty="0"/>
              <a:t>Engineering Run in GMP Clinical Facility (Molecule A)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9B5EC-B317-76D0-9B2E-ABE75A6EEB71}"/>
              </a:ext>
            </a:extLst>
          </p:cNvPr>
          <p:cNvSpPr>
            <a:spLocks noGrp="1"/>
          </p:cNvSpPr>
          <p:nvPr>
            <p:ph sz="quarter" idx="112"/>
          </p:nvPr>
        </p:nvSpPr>
        <p:spPr>
          <a:xfrm>
            <a:off x="4034789" y="1468439"/>
            <a:ext cx="7547610" cy="4736174"/>
          </a:xfrm>
        </p:spPr>
        <p:txBody>
          <a:bodyPr>
            <a:normAutofit/>
          </a:bodyPr>
          <a:lstStyle/>
          <a:p>
            <a:r>
              <a:rPr lang="en-US" b="1" dirty="0"/>
              <a:t>Purpose: Shake down equipment with an IDB process through the second polishing step</a:t>
            </a:r>
          </a:p>
          <a:p>
            <a:pPr lvl="1"/>
            <a:r>
              <a:rPr lang="en-US" dirty="0"/>
              <a:t>Limited to 10 production bioreactor days due to time available in plant</a:t>
            </a:r>
          </a:p>
          <a:p>
            <a:endParaRPr lang="en-US" dirty="0"/>
          </a:p>
        </p:txBody>
      </p:sp>
      <p:pic>
        <p:nvPicPr>
          <p:cNvPr id="12" name="Content Placeholder 12" descr="A few people in white protective suits&#10;&#10;AI-generated content may be incorrect.">
            <a:extLst>
              <a:ext uri="{FF2B5EF4-FFF2-40B4-BE49-F238E27FC236}">
                <a16:creationId xmlns:a16="http://schemas.microsoft.com/office/drawing/2014/main" id="{D55F74B4-9177-4CE3-1894-135B055F55A7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" r="4370" b="-4"/>
          <a:stretch>
            <a:fillRect/>
          </a:stretch>
        </p:blipFill>
        <p:spPr>
          <a:xfrm>
            <a:off x="609600" y="1468439"/>
            <a:ext cx="3234689" cy="47361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158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B32BF-F8CB-299B-0733-819A7FCC0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DE5DB-2387-0349-5F25-67E34A72BF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5062" y="1528984"/>
            <a:ext cx="5181598" cy="423863"/>
          </a:xfrm>
        </p:spPr>
        <p:txBody>
          <a:bodyPr/>
          <a:lstStyle/>
          <a:p>
            <a:r>
              <a:rPr lang="en-US" dirty="0"/>
              <a:t>Lower osmolality may impact peak VCD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4E3A5C-74CF-1AB3-3A03-FF8E81484D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8069" y="1188589"/>
            <a:ext cx="5009745" cy="423863"/>
          </a:xfrm>
        </p:spPr>
        <p:txBody>
          <a:bodyPr/>
          <a:lstStyle/>
          <a:p>
            <a:r>
              <a:rPr lang="en-US" dirty="0"/>
              <a:t>Early lower osmolality observed due to cumulative effect of wide tolerances on concentrated media and water addition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1AA3529-A2FD-F798-2DBF-EF3EA676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02653"/>
            <a:ext cx="10972800" cy="914400"/>
          </a:xfrm>
        </p:spPr>
        <p:txBody>
          <a:bodyPr/>
          <a:lstStyle/>
          <a:p>
            <a:r>
              <a:rPr lang="en-US" dirty="0"/>
              <a:t>Upstream </a:t>
            </a:r>
            <a:r>
              <a:rPr lang="en-US"/>
              <a:t>Engineering</a:t>
            </a:r>
            <a:r>
              <a:rPr lang="en-US" dirty="0"/>
              <a:t> </a:t>
            </a:r>
            <a:r>
              <a:rPr lang="en-US"/>
              <a:t>Run</a:t>
            </a:r>
            <a:r>
              <a:rPr lang="en-US" dirty="0"/>
              <a:t> - Growth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9EBB63D-28E1-2DEA-71F9-821C7CD6D26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737035532"/>
              </p:ext>
            </p:extLst>
          </p:nvPr>
        </p:nvGraphicFramePr>
        <p:xfrm>
          <a:off x="6455833" y="2288697"/>
          <a:ext cx="5181600" cy="400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1FF42266-ADD9-E6F5-C299-67BE78E9F5E9}"/>
              </a:ext>
            </a:extLst>
          </p:cNvPr>
          <p:cNvGrpSpPr/>
          <p:nvPr/>
        </p:nvGrpSpPr>
        <p:grpSpPr>
          <a:xfrm>
            <a:off x="6772498" y="6248050"/>
            <a:ext cx="2566335" cy="258532"/>
            <a:chOff x="1559668" y="6270855"/>
            <a:chExt cx="2566335" cy="25853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8CF719B-1A12-988F-BD7C-4F287B1BADF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668" y="6390500"/>
              <a:ext cx="340468" cy="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E489AAB-BFCF-A975-90A2-F781A70A9C89}"/>
                </a:ext>
              </a:extLst>
            </p:cNvPr>
            <p:cNvSpPr/>
            <p:nvPr/>
          </p:nvSpPr>
          <p:spPr>
            <a:xfrm>
              <a:off x="1686125" y="6354258"/>
              <a:ext cx="81638" cy="8163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92C85F-92CB-B45E-3205-4BB894ED20D1}"/>
                </a:ext>
              </a:extLst>
            </p:cNvPr>
            <p:cNvSpPr txBox="1"/>
            <p:nvPr/>
          </p:nvSpPr>
          <p:spPr>
            <a:xfrm>
              <a:off x="1889685" y="6270855"/>
              <a:ext cx="2236318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Engr Run Clinical Manufacturing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778D3D3-2DA5-A0B4-F36B-714F6E64AC3C}"/>
              </a:ext>
            </a:extLst>
          </p:cNvPr>
          <p:cNvGrpSpPr/>
          <p:nvPr/>
        </p:nvGrpSpPr>
        <p:grpSpPr>
          <a:xfrm>
            <a:off x="4292329" y="6220293"/>
            <a:ext cx="921018" cy="258532"/>
            <a:chOff x="1407268" y="6108834"/>
            <a:chExt cx="921018" cy="25853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D50CC5-E194-9E4F-0FBB-0F63E83E27A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268" y="6238100"/>
              <a:ext cx="3404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6696C2A-4B12-ACE2-82F1-FFFCDE3E98DE}"/>
                </a:ext>
              </a:extLst>
            </p:cNvPr>
            <p:cNvSpPr/>
            <p:nvPr/>
          </p:nvSpPr>
          <p:spPr>
            <a:xfrm>
              <a:off x="1533725" y="6201858"/>
              <a:ext cx="81638" cy="81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4E7199-BFEE-1B6C-639F-0BAE33C9C6E4}"/>
                </a:ext>
              </a:extLst>
            </p:cNvPr>
            <p:cNvSpPr txBox="1"/>
            <p:nvPr/>
          </p:nvSpPr>
          <p:spPr>
            <a:xfrm>
              <a:off x="1749281" y="6108834"/>
              <a:ext cx="579005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Bench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6E17E3-4198-09F5-3DD5-74810E358F64}"/>
              </a:ext>
            </a:extLst>
          </p:cNvPr>
          <p:cNvGrpSpPr/>
          <p:nvPr/>
        </p:nvGrpSpPr>
        <p:grpSpPr>
          <a:xfrm>
            <a:off x="5640538" y="6230411"/>
            <a:ext cx="815295" cy="258532"/>
            <a:chOff x="1254868" y="5960906"/>
            <a:chExt cx="815295" cy="25853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0A9655-85CE-3C6C-EF15-9E87F4569044}"/>
                </a:ext>
              </a:extLst>
            </p:cNvPr>
            <p:cNvCxnSpPr>
              <a:cxnSpLocks/>
            </p:cNvCxnSpPr>
            <p:nvPr/>
          </p:nvCxnSpPr>
          <p:spPr>
            <a:xfrm>
              <a:off x="1254868" y="6085700"/>
              <a:ext cx="340468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E6A39FA-3921-B270-46C6-CE80CF26B0B4}"/>
                </a:ext>
              </a:extLst>
            </p:cNvPr>
            <p:cNvSpPr/>
            <p:nvPr/>
          </p:nvSpPr>
          <p:spPr>
            <a:xfrm>
              <a:off x="1381325" y="6049458"/>
              <a:ext cx="81638" cy="81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E313C1-1D16-B83A-4B5D-1DF3EAC7444C}"/>
                </a:ext>
              </a:extLst>
            </p:cNvPr>
            <p:cNvSpPr txBox="1"/>
            <p:nvPr/>
          </p:nvSpPr>
          <p:spPr>
            <a:xfrm>
              <a:off x="1590545" y="5960906"/>
              <a:ext cx="479618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Pilot</a:t>
              </a:r>
            </a:p>
          </p:txBody>
        </p:sp>
      </p:grpSp>
      <p:graphicFrame>
        <p:nvGraphicFramePr>
          <p:cNvPr id="32" name="Content Placeholder 9">
            <a:extLst>
              <a:ext uri="{FF2B5EF4-FFF2-40B4-BE49-F238E27FC236}">
                <a16:creationId xmlns:a16="http://schemas.microsoft.com/office/drawing/2014/main" id="{D91CD5D5-797C-CEA0-BF6D-5014DC084674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3810997821"/>
              </p:ext>
            </p:extLst>
          </p:nvPr>
        </p:nvGraphicFramePr>
        <p:xfrm>
          <a:off x="609598" y="2375228"/>
          <a:ext cx="5181600" cy="400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D232FD-1CDC-6FCA-FC82-CE2590F89C62}"/>
              </a:ext>
            </a:extLst>
          </p:cNvPr>
          <p:cNvCxnSpPr/>
          <p:nvPr/>
        </p:nvCxnSpPr>
        <p:spPr>
          <a:xfrm flipH="1" flipV="1">
            <a:off x="2586681" y="3850377"/>
            <a:ext cx="486032" cy="23066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417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FBA17F-3F1D-749B-781F-65BB2B9F9264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593DC-BF14-6B2F-155D-9F6F0782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3FF7E-89B4-8E57-8084-1E7F53E2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534B30-CC7B-3287-CA3A-651FD096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Downstream </a:t>
            </a:r>
            <a:r>
              <a:rPr lang="en-US"/>
              <a:t>Engineering Run</a:t>
            </a:r>
            <a:r>
              <a:rPr lang="en-US" dirty="0"/>
              <a:t> - Capture Overlays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58DA4-19C3-10EF-8B4E-C1BC56E9B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7646" y="2058486"/>
            <a:ext cx="4319333" cy="256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1B6432-05ED-CA74-C259-0C2EECE72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3876" y="2039436"/>
            <a:ext cx="4303851" cy="2543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6E4E57-5FB2-2A1B-799F-EE5472AAE47D}"/>
              </a:ext>
            </a:extLst>
          </p:cNvPr>
          <p:cNvSpPr txBox="1"/>
          <p:nvPr/>
        </p:nvSpPr>
        <p:spPr>
          <a:xfrm>
            <a:off x="253421" y="2860294"/>
            <a:ext cx="1199367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Elution UV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3206A-A24F-A65E-B69A-F1098A587EED}"/>
              </a:ext>
            </a:extLst>
          </p:cNvPr>
          <p:cNvSpPr txBox="1"/>
          <p:nvPr/>
        </p:nvSpPr>
        <p:spPr>
          <a:xfrm>
            <a:off x="4088027" y="4519800"/>
            <a:ext cx="2834622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/>
              <a:t>*Expected Elution CVs: ~ 3.0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80AB5-D4ED-BFE0-1E2C-D7046C1D7BD1}"/>
              </a:ext>
            </a:extLst>
          </p:cNvPr>
          <p:cNvSpPr txBox="1"/>
          <p:nvPr/>
        </p:nvSpPr>
        <p:spPr>
          <a:xfrm>
            <a:off x="2234621" y="1475120"/>
            <a:ext cx="111280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Column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D05D1-A9EE-2B77-2473-5A38DB3455BB}"/>
              </a:ext>
            </a:extLst>
          </p:cNvPr>
          <p:cNvSpPr txBox="1"/>
          <p:nvPr/>
        </p:nvSpPr>
        <p:spPr>
          <a:xfrm>
            <a:off x="7156729" y="1475120"/>
            <a:ext cx="111280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Column 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BB9698-467D-8C56-EEA6-0A6A2486FA1B}"/>
              </a:ext>
            </a:extLst>
          </p:cNvPr>
          <p:cNvCxnSpPr/>
          <p:nvPr/>
        </p:nvCxnSpPr>
        <p:spPr>
          <a:xfrm flipH="1" flipV="1">
            <a:off x="7713131" y="3748216"/>
            <a:ext cx="2287604" cy="1433384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A50239-0484-AFF4-2C77-ACE3B4F909B4}"/>
              </a:ext>
            </a:extLst>
          </p:cNvPr>
          <p:cNvSpPr txBox="1"/>
          <p:nvPr/>
        </p:nvSpPr>
        <p:spPr>
          <a:xfrm>
            <a:off x="10140778" y="5214551"/>
            <a:ext cx="144162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Last cycle, limited material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885D59-A4BE-E6A7-789D-34D7B80E29F8}"/>
              </a:ext>
            </a:extLst>
          </p:cNvPr>
          <p:cNvCxnSpPr/>
          <p:nvPr/>
        </p:nvCxnSpPr>
        <p:spPr>
          <a:xfrm flipH="1">
            <a:off x="3347426" y="1316039"/>
            <a:ext cx="6529742" cy="188588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544D8A-DDC4-7139-E75D-1601604FBD67}"/>
              </a:ext>
            </a:extLst>
          </p:cNvPr>
          <p:cNvCxnSpPr/>
          <p:nvPr/>
        </p:nvCxnSpPr>
        <p:spPr>
          <a:xfrm flipH="1">
            <a:off x="8410832" y="1316039"/>
            <a:ext cx="1433384" cy="180610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8AC9925-7E04-5BB2-615E-C3A06A5AE874}"/>
              </a:ext>
            </a:extLst>
          </p:cNvPr>
          <p:cNvSpPr txBox="1"/>
          <p:nvPr/>
        </p:nvSpPr>
        <p:spPr>
          <a:xfrm>
            <a:off x="9877168" y="842572"/>
            <a:ext cx="213744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First cycles </a:t>
            </a:r>
            <a:r>
              <a:rPr lang="en-US" sz="1400"/>
              <a:t>of </a:t>
            </a:r>
            <a:r>
              <a:rPr lang="en-US" sz="1400" dirty="0"/>
              <a:t>each column cut early due to imposed limit of 24 hour load time for bioburden control (when titer is lowest)</a:t>
            </a:r>
          </a:p>
        </p:txBody>
      </p:sp>
    </p:spTree>
    <p:extLst>
      <p:ext uri="{BB962C8B-B14F-4D97-AF65-F5344CB8AC3E}">
        <p14:creationId xmlns:p14="http://schemas.microsoft.com/office/powerpoint/2010/main" val="40109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C3056-3A5E-540E-84A0-BF924280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89CFA-5A79-D4F7-A89A-2F7DCA5E24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3A83C-F359-52E5-38EF-C66D865C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4029" y="1352280"/>
            <a:ext cx="5272392" cy="423863"/>
          </a:xfrm>
        </p:spPr>
        <p:txBody>
          <a:bodyPr/>
          <a:lstStyle/>
          <a:p>
            <a:r>
              <a:rPr lang="en-US" dirty="0"/>
              <a:t>Engineering run filter swap impacts CM concentration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9823CA-303F-D66F-28BE-4CDD0617D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1" y="1258679"/>
            <a:ext cx="5181598" cy="423863"/>
          </a:xfrm>
        </p:spPr>
        <p:txBody>
          <a:bodyPr/>
          <a:lstStyle/>
          <a:p>
            <a:r>
              <a:rPr lang="en-US" dirty="0"/>
              <a:t>Downstream capture dampens impact of filter swap during engineering run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3B6488D-FFB4-3EE8-0B24-512E7E8A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Downstream </a:t>
            </a:r>
            <a:r>
              <a:rPr lang="en-US"/>
              <a:t>Engineering Run</a:t>
            </a:r>
            <a:r>
              <a:rPr lang="en-US" dirty="0"/>
              <a:t> – Impact of </a:t>
            </a:r>
            <a:r>
              <a:rPr lang="en-US"/>
              <a:t>Filter Swap</a:t>
            </a:r>
            <a:endParaRPr lang="en-US" dirty="0"/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123F6AC3-9ADC-1BDB-2CEF-D46A740B3190}"/>
              </a:ext>
            </a:extLst>
          </p:cNvPr>
          <p:cNvGraphicFramePr>
            <a:graphicFrameLocks noGrp="1"/>
          </p:cNvGraphicFramePr>
          <p:nvPr>
            <p:ph sz="quarter" idx="14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155790"/>
              </p:ext>
            </p:extLst>
          </p:nvPr>
        </p:nvGraphicFramePr>
        <p:xfrm>
          <a:off x="609600" y="2044700"/>
          <a:ext cx="5181600" cy="400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2EB9237E-D9FE-EC48-CC89-D72EA8C41477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469222207"/>
              </p:ext>
            </p:extLst>
          </p:nvPr>
        </p:nvGraphicFramePr>
        <p:xfrm>
          <a:off x="6400800" y="2044700"/>
          <a:ext cx="5181600" cy="4299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E0B326DE-9DB4-E480-3ED6-430D1F3D29B4}"/>
              </a:ext>
            </a:extLst>
          </p:cNvPr>
          <p:cNvGrpSpPr/>
          <p:nvPr/>
        </p:nvGrpSpPr>
        <p:grpSpPr>
          <a:xfrm>
            <a:off x="3595545" y="6005074"/>
            <a:ext cx="2566335" cy="258532"/>
            <a:chOff x="1559668" y="6270855"/>
            <a:chExt cx="2566335" cy="25853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C931AFB-66A0-30DD-3DF5-B73878710BF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668" y="6390500"/>
              <a:ext cx="340468" cy="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E85952F-A9CC-F55C-33CD-442C39444861}"/>
                </a:ext>
              </a:extLst>
            </p:cNvPr>
            <p:cNvSpPr/>
            <p:nvPr/>
          </p:nvSpPr>
          <p:spPr>
            <a:xfrm>
              <a:off x="1686125" y="6354258"/>
              <a:ext cx="81638" cy="81638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08B1CC-6B7D-FE2D-55E6-7B36DA62A533}"/>
                </a:ext>
              </a:extLst>
            </p:cNvPr>
            <p:cNvSpPr txBox="1"/>
            <p:nvPr/>
          </p:nvSpPr>
          <p:spPr>
            <a:xfrm>
              <a:off x="1889685" y="6270855"/>
              <a:ext cx="2236318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Engr Run Clinical Manufacturing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B440BF-A875-C18A-6A5D-F0BF1FB7FFC9}"/>
              </a:ext>
            </a:extLst>
          </p:cNvPr>
          <p:cNvGrpSpPr/>
          <p:nvPr/>
        </p:nvGrpSpPr>
        <p:grpSpPr>
          <a:xfrm>
            <a:off x="1115376" y="5977317"/>
            <a:ext cx="921018" cy="258532"/>
            <a:chOff x="1407268" y="6108834"/>
            <a:chExt cx="921018" cy="25853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1A2CF3C-B1E9-EA5A-E267-BD2E02312F83}"/>
                </a:ext>
              </a:extLst>
            </p:cNvPr>
            <p:cNvCxnSpPr>
              <a:cxnSpLocks/>
            </p:cNvCxnSpPr>
            <p:nvPr/>
          </p:nvCxnSpPr>
          <p:spPr>
            <a:xfrm>
              <a:off x="1407268" y="6238100"/>
              <a:ext cx="3404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2A62390-93F9-A53F-FB5E-98D37B44E323}"/>
                </a:ext>
              </a:extLst>
            </p:cNvPr>
            <p:cNvSpPr/>
            <p:nvPr/>
          </p:nvSpPr>
          <p:spPr>
            <a:xfrm>
              <a:off x="1533725" y="6201858"/>
              <a:ext cx="81638" cy="81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EB32A0-677A-A4CD-78BB-4B348DBBEA9F}"/>
                </a:ext>
              </a:extLst>
            </p:cNvPr>
            <p:cNvSpPr txBox="1"/>
            <p:nvPr/>
          </p:nvSpPr>
          <p:spPr>
            <a:xfrm>
              <a:off x="1749281" y="6108834"/>
              <a:ext cx="579005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Bench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8D93C2-C88D-3195-876D-2A22D2019917}"/>
              </a:ext>
            </a:extLst>
          </p:cNvPr>
          <p:cNvGrpSpPr/>
          <p:nvPr/>
        </p:nvGrpSpPr>
        <p:grpSpPr>
          <a:xfrm>
            <a:off x="2463585" y="5987435"/>
            <a:ext cx="815295" cy="258532"/>
            <a:chOff x="1254868" y="5960906"/>
            <a:chExt cx="815295" cy="25853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C68561C-1A0A-8AFF-1B78-257B733E49FC}"/>
                </a:ext>
              </a:extLst>
            </p:cNvPr>
            <p:cNvCxnSpPr>
              <a:cxnSpLocks/>
            </p:cNvCxnSpPr>
            <p:nvPr/>
          </p:nvCxnSpPr>
          <p:spPr>
            <a:xfrm>
              <a:off x="1254868" y="6085700"/>
              <a:ext cx="340468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C8C2F49-F65D-DDD0-355E-DC0ACA02A39F}"/>
                </a:ext>
              </a:extLst>
            </p:cNvPr>
            <p:cNvSpPr/>
            <p:nvPr/>
          </p:nvSpPr>
          <p:spPr>
            <a:xfrm>
              <a:off x="1381325" y="6049458"/>
              <a:ext cx="81638" cy="81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D99E8C-8BB7-BD4C-A4F9-C534D3045260}"/>
                </a:ext>
              </a:extLst>
            </p:cNvPr>
            <p:cNvSpPr txBox="1"/>
            <p:nvPr/>
          </p:nvSpPr>
          <p:spPr>
            <a:xfrm>
              <a:off x="1590545" y="5960906"/>
              <a:ext cx="479618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Pilot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AF7308-9DC4-FD66-AAF4-E8E7D0E18F19}"/>
              </a:ext>
            </a:extLst>
          </p:cNvPr>
          <p:cNvCxnSpPr>
            <a:cxnSpLocks/>
          </p:cNvCxnSpPr>
          <p:nvPr/>
        </p:nvCxnSpPr>
        <p:spPr>
          <a:xfrm flipV="1">
            <a:off x="3509319" y="4110681"/>
            <a:ext cx="0" cy="88144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22501C-7403-FB91-4443-E4BA707C6A94}"/>
              </a:ext>
            </a:extLst>
          </p:cNvPr>
          <p:cNvSpPr txBox="1"/>
          <p:nvPr/>
        </p:nvSpPr>
        <p:spPr>
          <a:xfrm>
            <a:off x="2799262" y="4992130"/>
            <a:ext cx="162153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TFF Filter Swap</a:t>
            </a:r>
          </a:p>
        </p:txBody>
      </p:sp>
    </p:spTree>
    <p:extLst>
      <p:ext uri="{BB962C8B-B14F-4D97-AF65-F5344CB8AC3E}">
        <p14:creationId xmlns:p14="http://schemas.microsoft.com/office/powerpoint/2010/main" val="1629206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75F0-59AB-55C1-1E27-76455ADD66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0100AA-CA5E-1073-0409-98E8F7DD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GMP Campaign – Molecule B (labile molecule)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DC5D7-28C0-8DDA-3281-3CA00B9E1EC8}"/>
              </a:ext>
            </a:extLst>
          </p:cNvPr>
          <p:cNvSpPr>
            <a:spLocks noGrp="1"/>
          </p:cNvSpPr>
          <p:nvPr>
            <p:ph sz="quarter" idx="112"/>
          </p:nvPr>
        </p:nvSpPr>
        <p:spPr>
          <a:xfrm>
            <a:off x="609600" y="1468439"/>
            <a:ext cx="10972800" cy="1587107"/>
          </a:xfrm>
        </p:spPr>
        <p:txBody>
          <a:bodyPr/>
          <a:lstStyle/>
          <a:p>
            <a:r>
              <a:rPr lang="en-US" dirty="0"/>
              <a:t>Continuous through affinity capture only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3rd TFF filter swap failure likely caused by “less synchronized” manual valve switching</a:t>
            </a:r>
          </a:p>
          <a:p>
            <a:pPr lvl="1"/>
            <a:r>
              <a:rPr lang="en-US" dirty="0"/>
              <a:t>Long term mitigation: automated filter swaps (in scale-up demonstration currently)</a:t>
            </a:r>
          </a:p>
          <a:p>
            <a:r>
              <a:rPr lang="en-US" dirty="0"/>
              <a:t>Drug Substance successfully released!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24B9DA-20AE-0F22-919E-67781BA87CF9}"/>
              </a:ext>
            </a:extLst>
          </p:cNvPr>
          <p:cNvCxnSpPr>
            <a:cxnSpLocks/>
            <a:stCxn id="165" idx="2"/>
          </p:cNvCxnSpPr>
          <p:nvPr/>
        </p:nvCxnSpPr>
        <p:spPr>
          <a:xfrm flipH="1">
            <a:off x="3946452" y="4352005"/>
            <a:ext cx="311" cy="168866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20">
            <a:extLst>
              <a:ext uri="{FF2B5EF4-FFF2-40B4-BE49-F238E27FC236}">
                <a16:creationId xmlns:a16="http://schemas.microsoft.com/office/drawing/2014/main" id="{4255AB1C-7820-6642-B10D-40369C503CEB}"/>
              </a:ext>
            </a:extLst>
          </p:cNvPr>
          <p:cNvCxnSpPr>
            <a:stCxn id="168" idx="2"/>
            <a:endCxn id="109" idx="0"/>
          </p:cNvCxnSpPr>
          <p:nvPr/>
        </p:nvCxnSpPr>
        <p:spPr>
          <a:xfrm rot="5400000" flipH="1" flipV="1">
            <a:off x="3901804" y="3589354"/>
            <a:ext cx="595834" cy="658892"/>
          </a:xfrm>
          <a:prstGeom prst="bentConnector5">
            <a:avLst>
              <a:gd name="adj1" fmla="val -50565"/>
              <a:gd name="adj2" fmla="val 52894"/>
              <a:gd name="adj3" fmla="val 132506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08D172-02F1-5F36-4D4B-55D82EBD6B8B}"/>
              </a:ext>
            </a:extLst>
          </p:cNvPr>
          <p:cNvGrpSpPr/>
          <p:nvPr/>
        </p:nvGrpSpPr>
        <p:grpSpPr>
          <a:xfrm>
            <a:off x="4348545" y="3617493"/>
            <a:ext cx="823812" cy="1132384"/>
            <a:chOff x="8312397" y="3465518"/>
            <a:chExt cx="429115" cy="482228"/>
          </a:xfrm>
        </p:grpSpPr>
        <p:sp>
          <p:nvSpPr>
            <p:cNvPr id="171" name="Rectangle: Top Corners Rounded 23">
              <a:extLst>
                <a:ext uri="{FF2B5EF4-FFF2-40B4-BE49-F238E27FC236}">
                  <a16:creationId xmlns:a16="http://schemas.microsoft.com/office/drawing/2014/main" id="{17722AB1-B995-89D8-27B9-82F7C14F0564}"/>
                </a:ext>
              </a:extLst>
            </p:cNvPr>
            <p:cNvSpPr/>
            <p:nvPr/>
          </p:nvSpPr>
          <p:spPr>
            <a:xfrm flipV="1">
              <a:off x="8315014" y="3711248"/>
              <a:ext cx="425485" cy="236498"/>
            </a:xfrm>
            <a:prstGeom prst="round2SameRect">
              <a:avLst>
                <a:gd name="adj1" fmla="val 24408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endParaRPr lang="en-US" sz="1155" err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7A342825-4CA2-65B7-2B23-23AE2A17D3F7}"/>
                </a:ext>
              </a:extLst>
            </p:cNvPr>
            <p:cNvGrpSpPr/>
            <p:nvPr/>
          </p:nvGrpSpPr>
          <p:grpSpPr>
            <a:xfrm>
              <a:off x="8312397" y="3465518"/>
              <a:ext cx="429115" cy="482228"/>
              <a:chOff x="4316929" y="2454595"/>
              <a:chExt cx="877454" cy="744904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755637A8-0222-5678-852E-32D542483E93}"/>
                  </a:ext>
                </a:extLst>
              </p:cNvPr>
              <p:cNvSpPr/>
              <p:nvPr/>
            </p:nvSpPr>
            <p:spPr>
              <a:xfrm>
                <a:off x="4487801" y="3015350"/>
                <a:ext cx="267855" cy="8312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6153A756-CB71-1B91-346E-396DDB643A41}"/>
                  </a:ext>
                </a:extLst>
              </p:cNvPr>
              <p:cNvSpPr/>
              <p:nvPr/>
            </p:nvSpPr>
            <p:spPr>
              <a:xfrm>
                <a:off x="4755656" y="3015350"/>
                <a:ext cx="267855" cy="8312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5C00C8E2-AF30-CF9F-5EAE-A547E173B71B}"/>
                  </a:ext>
                </a:extLst>
              </p:cNvPr>
              <p:cNvCxnSpPr>
                <a:cxnSpLocks/>
                <a:stCxn id="174" idx="2"/>
              </p:cNvCxnSpPr>
              <p:nvPr/>
            </p:nvCxnSpPr>
            <p:spPr>
              <a:xfrm>
                <a:off x="4755656" y="3056914"/>
                <a:ext cx="0" cy="142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Flowchart: Alternate Process 28">
                <a:extLst>
                  <a:ext uri="{FF2B5EF4-FFF2-40B4-BE49-F238E27FC236}">
                    <a16:creationId xmlns:a16="http://schemas.microsoft.com/office/drawing/2014/main" id="{A5C01570-E586-72E6-CEAD-364EFD3624F6}"/>
                  </a:ext>
                </a:extLst>
              </p:cNvPr>
              <p:cNvSpPr/>
              <p:nvPr/>
            </p:nvSpPr>
            <p:spPr>
              <a:xfrm>
                <a:off x="4316929" y="2454595"/>
                <a:ext cx="877454" cy="744903"/>
              </a:xfrm>
              <a:prstGeom prst="flowChartAlternateProcess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b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  <p:cxnSp>
        <p:nvCxnSpPr>
          <p:cNvPr id="14" name="Connector: Elbow 29">
            <a:extLst>
              <a:ext uri="{FF2B5EF4-FFF2-40B4-BE49-F238E27FC236}">
                <a16:creationId xmlns:a16="http://schemas.microsoft.com/office/drawing/2014/main" id="{3F31EDAC-5DBC-1D7D-276B-18A934E0F3E3}"/>
              </a:ext>
            </a:extLst>
          </p:cNvPr>
          <p:cNvCxnSpPr>
            <a:stCxn id="121" idx="3"/>
            <a:endCxn id="162" idx="0"/>
          </p:cNvCxnSpPr>
          <p:nvPr/>
        </p:nvCxnSpPr>
        <p:spPr>
          <a:xfrm flipV="1">
            <a:off x="2289014" y="3619426"/>
            <a:ext cx="424652" cy="212438"/>
          </a:xfrm>
          <a:prstGeom prst="bentConnector4">
            <a:avLst>
              <a:gd name="adj1" fmla="val 40103"/>
              <a:gd name="adj2" fmla="val 191491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E395AA-7135-BE55-56F8-ACC9A90AE83A}"/>
              </a:ext>
            </a:extLst>
          </p:cNvPr>
          <p:cNvGrpSpPr>
            <a:grpSpLocks/>
          </p:cNvGrpSpPr>
          <p:nvPr/>
        </p:nvGrpSpPr>
        <p:grpSpPr>
          <a:xfrm>
            <a:off x="3712521" y="3440173"/>
            <a:ext cx="391994" cy="911832"/>
            <a:chOff x="2925988" y="3152534"/>
            <a:chExt cx="550787" cy="1076223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B7B9AA6A-4363-AEC3-CE09-7A50A7FB234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25988" y="3152534"/>
              <a:ext cx="443316" cy="916544"/>
              <a:chOff x="2925988" y="3152534"/>
              <a:chExt cx="443316" cy="91654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B1286898-C1B2-F093-4350-AB0824F314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26742" y="3152534"/>
                <a:ext cx="241809" cy="916544"/>
              </a:xfrm>
              <a:prstGeom prst="rect">
                <a:avLst/>
              </a:prstGeom>
              <a:solidFill>
                <a:schemeClr val="accent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F93BD25A-8639-C0E7-500F-6F72B1380D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5988" y="3152534"/>
                <a:ext cx="44331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5CF7C8D8-D5F4-49CF-69EB-E95DD18CC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5988" y="4069078"/>
                <a:ext cx="44331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9C7F1AC7-B08D-7DD7-EAE9-15340B2E2E05}"/>
                </a:ext>
              </a:extLst>
            </p:cNvPr>
            <p:cNvGrpSpPr>
              <a:grpSpLocks/>
            </p:cNvGrpSpPr>
            <p:nvPr/>
          </p:nvGrpSpPr>
          <p:grpSpPr>
            <a:xfrm>
              <a:off x="3033459" y="3312213"/>
              <a:ext cx="443316" cy="916544"/>
              <a:chOff x="3033459" y="3312213"/>
              <a:chExt cx="443316" cy="916544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4D4CAFE8-F6EF-77F3-094A-DF1F280B03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34213" y="3312213"/>
                <a:ext cx="241809" cy="916544"/>
              </a:xfrm>
              <a:prstGeom prst="rect">
                <a:avLst/>
              </a:prstGeom>
              <a:solidFill>
                <a:schemeClr val="accent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60ADEE7E-83DC-0FCB-21B0-ED11D4A369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3459" y="3312213"/>
                <a:ext cx="443316" cy="0"/>
              </a:xfrm>
              <a:prstGeom prst="line">
                <a:avLst/>
              </a:prstGeom>
              <a:solidFill>
                <a:schemeClr val="accent6"/>
              </a:solidFill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7BF97B25-4FB1-DDD3-1CA1-37C14EEB3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3459" y="4228757"/>
                <a:ext cx="44331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87F6BC-11DF-A8A4-76EB-A72C12734D20}"/>
              </a:ext>
            </a:extLst>
          </p:cNvPr>
          <p:cNvGrpSpPr/>
          <p:nvPr/>
        </p:nvGrpSpPr>
        <p:grpSpPr>
          <a:xfrm>
            <a:off x="2569352" y="3619427"/>
            <a:ext cx="288629" cy="432076"/>
            <a:chOff x="2563215" y="3459873"/>
            <a:chExt cx="429115" cy="482228"/>
          </a:xfrm>
        </p:grpSpPr>
        <p:sp>
          <p:nvSpPr>
            <p:cNvPr id="157" name="Rectangle: Top Corners Rounded 41">
              <a:extLst>
                <a:ext uri="{FF2B5EF4-FFF2-40B4-BE49-F238E27FC236}">
                  <a16:creationId xmlns:a16="http://schemas.microsoft.com/office/drawing/2014/main" id="{EA2CD6C7-18F1-626F-BEBD-696A7DBDEB1E}"/>
                </a:ext>
              </a:extLst>
            </p:cNvPr>
            <p:cNvSpPr/>
            <p:nvPr/>
          </p:nvSpPr>
          <p:spPr>
            <a:xfrm flipV="1">
              <a:off x="2564868" y="3705602"/>
              <a:ext cx="424101" cy="236498"/>
            </a:xfrm>
            <a:prstGeom prst="round2SameRect">
              <a:avLst>
                <a:gd name="adj1" fmla="val 22911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endParaRPr lang="en-US" sz="1155" err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264EFF61-50A4-7387-B2A7-8C0514655A69}"/>
                </a:ext>
              </a:extLst>
            </p:cNvPr>
            <p:cNvGrpSpPr/>
            <p:nvPr/>
          </p:nvGrpSpPr>
          <p:grpSpPr>
            <a:xfrm>
              <a:off x="2563215" y="3459873"/>
              <a:ext cx="429115" cy="482228"/>
              <a:chOff x="4316929" y="2454595"/>
              <a:chExt cx="877454" cy="744904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F19F927-6351-1E5C-B411-7B7870A0409C}"/>
                  </a:ext>
                </a:extLst>
              </p:cNvPr>
              <p:cNvSpPr/>
              <p:nvPr/>
            </p:nvSpPr>
            <p:spPr>
              <a:xfrm>
                <a:off x="4487801" y="3015350"/>
                <a:ext cx="267855" cy="8312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64D47676-AF27-0224-52D2-4E4B1917056E}"/>
                  </a:ext>
                </a:extLst>
              </p:cNvPr>
              <p:cNvSpPr/>
              <p:nvPr/>
            </p:nvSpPr>
            <p:spPr>
              <a:xfrm>
                <a:off x="4755656" y="3015350"/>
                <a:ext cx="267855" cy="8312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672C2DF0-14D9-08CC-7FF5-70DDF500FC1A}"/>
                  </a:ext>
                </a:extLst>
              </p:cNvPr>
              <p:cNvCxnSpPr>
                <a:cxnSpLocks/>
                <a:stCxn id="160" idx="2"/>
              </p:cNvCxnSpPr>
              <p:nvPr/>
            </p:nvCxnSpPr>
            <p:spPr>
              <a:xfrm>
                <a:off x="4755656" y="3056914"/>
                <a:ext cx="0" cy="142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Flowchart: Alternate Process 46">
                <a:extLst>
                  <a:ext uri="{FF2B5EF4-FFF2-40B4-BE49-F238E27FC236}">
                    <a16:creationId xmlns:a16="http://schemas.microsoft.com/office/drawing/2014/main" id="{9BBD8A1C-098B-FB03-C7E8-D5C9488AE055}"/>
                  </a:ext>
                </a:extLst>
              </p:cNvPr>
              <p:cNvSpPr/>
              <p:nvPr/>
            </p:nvSpPr>
            <p:spPr>
              <a:xfrm>
                <a:off x="4316929" y="2454595"/>
                <a:ext cx="877454" cy="744903"/>
              </a:xfrm>
              <a:prstGeom prst="flowChartAlternateProcess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b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4BF20A-A8B0-9B80-CDC0-636FE39135DC}"/>
              </a:ext>
            </a:extLst>
          </p:cNvPr>
          <p:cNvCxnSpPr>
            <a:cxnSpLocks/>
          </p:cNvCxnSpPr>
          <p:nvPr/>
        </p:nvCxnSpPr>
        <p:spPr>
          <a:xfrm>
            <a:off x="3869965" y="3276286"/>
            <a:ext cx="0" cy="163887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3E2E26-8C59-B68B-3820-9F2237844757}"/>
              </a:ext>
            </a:extLst>
          </p:cNvPr>
          <p:cNvGrpSpPr/>
          <p:nvPr/>
        </p:nvGrpSpPr>
        <p:grpSpPr>
          <a:xfrm>
            <a:off x="1427686" y="3075344"/>
            <a:ext cx="861328" cy="1509363"/>
            <a:chOff x="522829" y="2130807"/>
            <a:chExt cx="1210245" cy="1781480"/>
          </a:xfrm>
        </p:grpSpPr>
        <p:sp>
          <p:nvSpPr>
            <p:cNvPr id="110" name="Rectangle: Top Corners Rounded 86">
              <a:extLst>
                <a:ext uri="{FF2B5EF4-FFF2-40B4-BE49-F238E27FC236}">
                  <a16:creationId xmlns:a16="http://schemas.microsoft.com/office/drawing/2014/main" id="{571B4EA7-ADF9-6AC8-758C-500E70194BE4}"/>
                </a:ext>
              </a:extLst>
            </p:cNvPr>
            <p:cNvSpPr/>
            <p:nvPr/>
          </p:nvSpPr>
          <p:spPr>
            <a:xfrm flipV="1">
              <a:off x="522875" y="3124738"/>
              <a:ext cx="742261" cy="499823"/>
            </a:xfrm>
            <a:prstGeom prst="round2SameRect">
              <a:avLst>
                <a:gd name="adj1" fmla="val 22553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endParaRPr lang="en-US" sz="1155" err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12E6950-AE51-79AE-F33B-C19BCA6B6CBE}"/>
                </a:ext>
              </a:extLst>
            </p:cNvPr>
            <p:cNvGrpSpPr/>
            <p:nvPr/>
          </p:nvGrpSpPr>
          <p:grpSpPr>
            <a:xfrm>
              <a:off x="669264" y="3435618"/>
              <a:ext cx="449484" cy="192945"/>
              <a:chOff x="1100473" y="2716070"/>
              <a:chExt cx="535710" cy="184149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7392F27C-8941-0493-10BB-86DA94F7491A}"/>
                  </a:ext>
                </a:extLst>
              </p:cNvPr>
              <p:cNvSpPr/>
              <p:nvPr/>
            </p:nvSpPr>
            <p:spPr>
              <a:xfrm>
                <a:off x="1100473" y="2716070"/>
                <a:ext cx="267855" cy="831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ED0E131-B916-7F30-6385-8E98FC120B61}"/>
                  </a:ext>
                </a:extLst>
              </p:cNvPr>
              <p:cNvSpPr/>
              <p:nvPr/>
            </p:nvSpPr>
            <p:spPr>
              <a:xfrm>
                <a:off x="1368328" y="2716070"/>
                <a:ext cx="267855" cy="831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85733DDF-D436-8D8E-8FE3-05266D147129}"/>
                  </a:ext>
                </a:extLst>
              </p:cNvPr>
              <p:cNvCxnSpPr>
                <a:cxnSpLocks/>
                <a:stCxn id="124" idx="2"/>
              </p:cNvCxnSpPr>
              <p:nvPr/>
            </p:nvCxnSpPr>
            <p:spPr>
              <a:xfrm>
                <a:off x="1368328" y="2757634"/>
                <a:ext cx="0" cy="14258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Connector: Elbow 89">
              <a:extLst>
                <a:ext uri="{FF2B5EF4-FFF2-40B4-BE49-F238E27FC236}">
                  <a16:creationId xmlns:a16="http://schemas.microsoft.com/office/drawing/2014/main" id="{41A8EB5B-1566-F048-56B0-F898E45ACA65}"/>
                </a:ext>
              </a:extLst>
            </p:cNvPr>
            <p:cNvCxnSpPr/>
            <p:nvPr/>
          </p:nvCxnSpPr>
          <p:spPr>
            <a:xfrm>
              <a:off x="522829" y="2134842"/>
              <a:ext cx="244374" cy="283875"/>
            </a:xfrm>
            <a:prstGeom prst="bentConnector3">
              <a:avLst>
                <a:gd name="adj1" fmla="val 100146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Elbow 91">
              <a:extLst>
                <a:ext uri="{FF2B5EF4-FFF2-40B4-BE49-F238E27FC236}">
                  <a16:creationId xmlns:a16="http://schemas.microsoft.com/office/drawing/2014/main" id="{4CDF1E84-CF3E-2057-138B-58FBC93E700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15544" y="2130807"/>
              <a:ext cx="510613" cy="287754"/>
            </a:xfrm>
            <a:prstGeom prst="bentConnector3">
              <a:avLst>
                <a:gd name="adj1" fmla="val 99774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F79771B-AF08-C9F6-65A1-3E158EF0B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7537" y="2134842"/>
              <a:ext cx="0" cy="423195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9A9F2EC-4361-3A2B-C4EB-722319B5244C}"/>
                </a:ext>
              </a:extLst>
            </p:cNvPr>
            <p:cNvCxnSpPr>
              <a:cxnSpLocks/>
            </p:cNvCxnSpPr>
            <p:nvPr/>
          </p:nvCxnSpPr>
          <p:spPr>
            <a:xfrm>
              <a:off x="1015538" y="3628563"/>
              <a:ext cx="0" cy="283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Elbow 94">
              <a:extLst>
                <a:ext uri="{FF2B5EF4-FFF2-40B4-BE49-F238E27FC236}">
                  <a16:creationId xmlns:a16="http://schemas.microsoft.com/office/drawing/2014/main" id="{2DCD18A6-7EE5-4329-7C3C-CDEB6A915F2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25895" y="3624864"/>
              <a:ext cx="245511" cy="287423"/>
            </a:xfrm>
            <a:prstGeom prst="bentConnector3">
              <a:avLst>
                <a:gd name="adj1" fmla="val 1399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95">
              <a:extLst>
                <a:ext uri="{FF2B5EF4-FFF2-40B4-BE49-F238E27FC236}">
                  <a16:creationId xmlns:a16="http://schemas.microsoft.com/office/drawing/2014/main" id="{3D1DBC1B-DAB3-5634-7464-597020062F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230" y="3486022"/>
              <a:ext cx="505063" cy="426265"/>
            </a:xfrm>
            <a:prstGeom prst="bentConnector3">
              <a:avLst>
                <a:gd name="adj1" fmla="val 100321"/>
              </a:avLst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Flowchart: Alternate Process 96">
              <a:extLst>
                <a:ext uri="{FF2B5EF4-FFF2-40B4-BE49-F238E27FC236}">
                  <a16:creationId xmlns:a16="http://schemas.microsoft.com/office/drawing/2014/main" id="{A2FBCCAC-4E1B-1EA0-5D80-4691DE8DB230}"/>
                </a:ext>
              </a:extLst>
            </p:cNvPr>
            <p:cNvSpPr/>
            <p:nvPr/>
          </p:nvSpPr>
          <p:spPr>
            <a:xfrm>
              <a:off x="525895" y="2418868"/>
              <a:ext cx="736223" cy="1209695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385"/>
                </a:spcAft>
              </a:pPr>
              <a:endParaRPr lang="en-US" sz="1155" b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EBD92251-DE56-249A-4D25-21D6D8B8978A}"/>
                </a:ext>
              </a:extLst>
            </p:cNvPr>
            <p:cNvGrpSpPr/>
            <p:nvPr/>
          </p:nvGrpSpPr>
          <p:grpSpPr>
            <a:xfrm>
              <a:off x="1445366" y="2561409"/>
              <a:ext cx="287708" cy="920579"/>
              <a:chOff x="1445366" y="2561409"/>
              <a:chExt cx="287708" cy="920579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DCC9FC5-B658-1D88-8646-74791BE3EF67}"/>
                  </a:ext>
                </a:extLst>
              </p:cNvPr>
              <p:cNvSpPr/>
              <p:nvPr/>
            </p:nvSpPr>
            <p:spPr>
              <a:xfrm>
                <a:off x="1445366" y="2561409"/>
                <a:ext cx="142186" cy="91654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5C91F58-8556-099C-DA34-9ACEB46C34ED}"/>
                  </a:ext>
                </a:extLst>
              </p:cNvPr>
              <p:cNvSpPr/>
              <p:nvPr/>
            </p:nvSpPr>
            <p:spPr>
              <a:xfrm>
                <a:off x="1445366" y="2565443"/>
                <a:ext cx="287708" cy="91654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385"/>
                  </a:spcAft>
                </a:pPr>
                <a:endParaRPr lang="en-US" sz="1155" err="1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BAF1698-E684-32E9-FD90-8D109BB29856}"/>
                  </a:ext>
                </a:extLst>
              </p:cNvPr>
              <p:cNvCxnSpPr>
                <a:stCxn id="121" idx="0"/>
                <a:endCxn id="121" idx="2"/>
              </p:cNvCxnSpPr>
              <p:nvPr/>
            </p:nvCxnSpPr>
            <p:spPr>
              <a:xfrm>
                <a:off x="1589220" y="2565443"/>
                <a:ext cx="0" cy="91654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4E8079F-ACAA-B5E8-67B6-627188B05089}"/>
              </a:ext>
            </a:extLst>
          </p:cNvPr>
          <p:cNvSpPr txBox="1"/>
          <p:nvPr/>
        </p:nvSpPr>
        <p:spPr>
          <a:xfrm>
            <a:off x="3201902" y="2301806"/>
            <a:ext cx="149576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385"/>
              </a:spcAft>
            </a:pPr>
            <a:r>
              <a:rPr lang="en-US" sz="1600" b="1" dirty="0"/>
              <a:t>Dual Column Affinity </a:t>
            </a:r>
            <a:br>
              <a:rPr lang="en-US" sz="1600" b="1" dirty="0"/>
            </a:br>
            <a:r>
              <a:rPr lang="en-US" sz="1600" b="1" dirty="0"/>
              <a:t>Capture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61857A-FC21-0B7F-E373-1A8548D1B3F3}"/>
              </a:ext>
            </a:extLst>
          </p:cNvPr>
          <p:cNvSpPr txBox="1"/>
          <p:nvPr/>
        </p:nvSpPr>
        <p:spPr>
          <a:xfrm>
            <a:off x="1021937" y="2291977"/>
            <a:ext cx="149576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385"/>
              </a:spcAft>
            </a:pPr>
            <a:r>
              <a:rPr lang="en-US" sz="1600" b="1" dirty="0"/>
              <a:t>Perfusion </a:t>
            </a:r>
            <a:br>
              <a:rPr lang="en-US" sz="1600" b="1" dirty="0"/>
            </a:br>
            <a:r>
              <a:rPr lang="en-US" sz="1600" b="1" dirty="0"/>
              <a:t>Bioreactor</a:t>
            </a:r>
          </a:p>
        </p:txBody>
      </p:sp>
      <p:cxnSp>
        <p:nvCxnSpPr>
          <p:cNvPr id="177" name="Connector: Elbow 29">
            <a:extLst>
              <a:ext uri="{FF2B5EF4-FFF2-40B4-BE49-F238E27FC236}">
                <a16:creationId xmlns:a16="http://schemas.microsoft.com/office/drawing/2014/main" id="{3B82C90F-A31E-2D26-230C-19551FA1A0F5}"/>
              </a:ext>
            </a:extLst>
          </p:cNvPr>
          <p:cNvCxnSpPr>
            <a:cxnSpLocks/>
            <a:endCxn id="168" idx="0"/>
          </p:cNvCxnSpPr>
          <p:nvPr/>
        </p:nvCxnSpPr>
        <p:spPr>
          <a:xfrm flipV="1">
            <a:off x="2684991" y="3440173"/>
            <a:ext cx="1185284" cy="619065"/>
          </a:xfrm>
          <a:prstGeom prst="bentConnector4">
            <a:avLst>
              <a:gd name="adj1" fmla="val 46370"/>
              <a:gd name="adj2" fmla="val 136927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7F586275-B44C-9D52-3066-A8FC36F08BB3}"/>
              </a:ext>
            </a:extLst>
          </p:cNvPr>
          <p:cNvSpPr txBox="1"/>
          <p:nvPr/>
        </p:nvSpPr>
        <p:spPr>
          <a:xfrm>
            <a:off x="4014285" y="3728839"/>
            <a:ext cx="149576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385"/>
              </a:spcAft>
            </a:pPr>
            <a:r>
              <a:rPr lang="en-US" sz="1600" b="1" dirty="0"/>
              <a:t>Affinity </a:t>
            </a:r>
            <a:br>
              <a:rPr lang="en-US" sz="1600" b="1" dirty="0"/>
            </a:br>
            <a:r>
              <a:rPr lang="en-US" sz="1600" b="1" dirty="0"/>
              <a:t>Pool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E2624AB-9E60-587C-75CD-DE14CCBA4C1B}"/>
              </a:ext>
            </a:extLst>
          </p:cNvPr>
          <p:cNvSpPr txBox="1"/>
          <p:nvPr/>
        </p:nvSpPr>
        <p:spPr>
          <a:xfrm>
            <a:off x="5510051" y="3648489"/>
            <a:ext cx="149576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385"/>
              </a:spcAft>
            </a:pPr>
            <a:r>
              <a:rPr lang="en-US" sz="1600" b="1" dirty="0"/>
              <a:t>Remainder batch operation</a:t>
            </a:r>
          </a:p>
        </p:txBody>
      </p:sp>
      <p:cxnSp>
        <p:nvCxnSpPr>
          <p:cNvPr id="185" name="Connector: Elbow 29">
            <a:extLst>
              <a:ext uri="{FF2B5EF4-FFF2-40B4-BE49-F238E27FC236}">
                <a16:creationId xmlns:a16="http://schemas.microsoft.com/office/drawing/2014/main" id="{872AB0B3-1664-7071-280B-E21B202D7EB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20072" y="3839696"/>
            <a:ext cx="756969" cy="1063390"/>
          </a:xfrm>
          <a:prstGeom prst="bentConnector4">
            <a:avLst>
              <a:gd name="adj1" fmla="val -30199"/>
              <a:gd name="adj2" fmla="val 69368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75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11CA3-72F3-4572-3FDD-7238733D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C0E1DE-169A-78EC-3E1E-C6F4CC72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then we switched from some “easy” molecules to a “difficult” molecule (Molecule C)…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41D84-9F48-CD55-F7F3-CCA8A52FF7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328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62832-0D56-4505-8A99-CFE2CACC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A6C02-34BB-9339-185D-46E67688DB2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363200" y="6344085"/>
            <a:ext cx="1219199" cy="30914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F243-EF6D-4DC7-F7C6-0145A4FA40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344085"/>
            <a:ext cx="487680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C0581-F3B2-8543-FCA5-0C5E9735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</p:spPr>
        <p:txBody>
          <a:bodyPr/>
          <a:lstStyle/>
          <a:p>
            <a:r>
              <a:rPr lang="en-GB" dirty="0"/>
              <a:t>TFF </a:t>
            </a:r>
            <a:r>
              <a:rPr lang="en-GB"/>
              <a:t>Scaling Concerns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63B718-9508-F554-42C1-99F61292005F}"/>
              </a:ext>
            </a:extLst>
          </p:cNvPr>
          <p:cNvSpPr>
            <a:spLocks noGrp="1"/>
          </p:cNvSpPr>
          <p:nvPr>
            <p:ph sz="quarter" idx="112"/>
          </p:nvPr>
        </p:nvSpPr>
        <p:spPr>
          <a:xfrm>
            <a:off x="396200" y="1138924"/>
            <a:ext cx="4361234" cy="4730750"/>
          </a:xfrm>
        </p:spPr>
        <p:txBody>
          <a:bodyPr/>
          <a:lstStyle/>
          <a:p>
            <a:r>
              <a:rPr lang="en-GB" dirty="0"/>
              <a:t>Next product (Molecule C):</a:t>
            </a:r>
          </a:p>
          <a:p>
            <a:pPr lvl="1"/>
            <a:r>
              <a:rPr lang="en-GB" dirty="0"/>
              <a:t>Fouling mechanism changed- included product binding</a:t>
            </a:r>
          </a:p>
          <a:p>
            <a:pPr lvl="1"/>
            <a:r>
              <a:rPr lang="en-GB" dirty="0"/>
              <a:t>14 filters required for clinical manufacturing under platform conditions</a:t>
            </a:r>
          </a:p>
          <a:p>
            <a:pPr lvl="2"/>
            <a:r>
              <a:rPr lang="en-GB" dirty="0"/>
              <a:t>Excessive number of outlet/inlet ports on BRX bag</a:t>
            </a:r>
          </a:p>
          <a:p>
            <a:pPr lvl="2"/>
            <a:r>
              <a:rPr lang="en-GB" dirty="0"/>
              <a:t>Large footprint required</a:t>
            </a:r>
          </a:p>
          <a:p>
            <a:pPr lvl="2"/>
            <a:r>
              <a:rPr lang="en-GB" dirty="0"/>
              <a:t>Numerous retentate/permeate pumps</a:t>
            </a:r>
          </a:p>
          <a:p>
            <a:pPr lvl="2"/>
            <a:r>
              <a:rPr lang="en-GB" dirty="0"/>
              <a:t>High demand on operators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9A92D8-3940-73D2-E4A9-EF90BC4F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401" y="371998"/>
            <a:ext cx="7092399" cy="567600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64F0360-4F9C-A3C6-680C-1991F1CE1A59}"/>
              </a:ext>
            </a:extLst>
          </p:cNvPr>
          <p:cNvSpPr txBox="1">
            <a:spLocks/>
          </p:cNvSpPr>
          <p:nvPr/>
        </p:nvSpPr>
        <p:spPr>
          <a:xfrm>
            <a:off x="835025" y="6093628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Slide modified and courtesy of Ana Dilillo</a:t>
            </a:r>
          </a:p>
        </p:txBody>
      </p:sp>
    </p:spTree>
    <p:extLst>
      <p:ext uri="{BB962C8B-B14F-4D97-AF65-F5344CB8AC3E}">
        <p14:creationId xmlns:p14="http://schemas.microsoft.com/office/powerpoint/2010/main" val="115967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754D0CBB-559E-8F40-B393-287F4F650D5D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360000" rIns="90000" bIns="360000" rtlCol="0" anchor="ctr" anchorCtr="0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of the Solution: TFF Regeneration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B30FAA-17DF-D048-1FD9-E0CABD7F433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456258"/>
            <a:ext cx="407988" cy="309145"/>
          </a:xfrm>
        </p:spPr>
        <p:txBody>
          <a:bodyPr vert="horz" lIns="0" tIns="0" rIns="0" bIns="72000" rtlCol="0" anchor="b" anchorCtr="0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sp>
        <p:nvSpPr>
          <p:cNvPr id="20" name="Date Placeholder 5">
            <a:extLst>
              <a:ext uri="{FF2B5EF4-FFF2-40B4-BE49-F238E27FC236}">
                <a16:creationId xmlns:a16="http://schemas.microsoft.com/office/drawing/2014/main" id="{B42C5DFD-07D4-25EA-C288-3FDB825EE9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137663" y="6456258"/>
            <a:ext cx="1279358" cy="30914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2759B77-1D20-0C42-D9E9-AF580A741F82}"/>
              </a:ext>
            </a:extLst>
          </p:cNvPr>
          <p:cNvSpPr txBox="1">
            <a:spLocks/>
          </p:cNvSpPr>
          <p:nvPr/>
        </p:nvSpPr>
        <p:spPr>
          <a:xfrm>
            <a:off x="609600" y="6200775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252B36A-69A1-F66C-6397-0C39BAF9BD5D}"/>
              </a:ext>
            </a:extLst>
          </p:cNvPr>
          <p:cNvSpPr txBox="1">
            <a:spLocks/>
          </p:cNvSpPr>
          <p:nvPr/>
        </p:nvSpPr>
        <p:spPr>
          <a:xfrm>
            <a:off x="609600" y="6200775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93F5FD-263E-7C35-B70C-9C81B919C8D5}"/>
              </a:ext>
            </a:extLst>
          </p:cNvPr>
          <p:cNvSpPr txBox="1">
            <a:spLocks/>
          </p:cNvSpPr>
          <p:nvPr/>
        </p:nvSpPr>
        <p:spPr>
          <a:xfrm>
            <a:off x="609600" y="6200775"/>
            <a:ext cx="9753600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/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C3829D02-3EA6-CCF4-8DB3-19081A418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2077874"/>
              </p:ext>
            </p:extLst>
          </p:nvPr>
        </p:nvGraphicFramePr>
        <p:xfrm>
          <a:off x="4238625" y="404813"/>
          <a:ext cx="7545387" cy="57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9501F4C1-6750-4DD7-54C7-F8D28E9EBE38}"/>
              </a:ext>
            </a:extLst>
          </p:cNvPr>
          <p:cNvSpPr txBox="1">
            <a:spLocks/>
          </p:cNvSpPr>
          <p:nvPr/>
        </p:nvSpPr>
        <p:spPr>
          <a:xfrm>
            <a:off x="835025" y="6093628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Slide modified and courtesy of Ana Dilillo</a:t>
            </a:r>
          </a:p>
        </p:txBody>
      </p:sp>
    </p:spTree>
    <p:extLst>
      <p:ext uri="{BB962C8B-B14F-4D97-AF65-F5344CB8AC3E}">
        <p14:creationId xmlns:p14="http://schemas.microsoft.com/office/powerpoint/2010/main" val="398272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0521C-68A6-A341-8B7F-A8702C47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CCA9D-C627-5B0B-B222-36210767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339B304-13A1-5D2B-AA1E-F13427F4CB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1789178"/>
              </p:ext>
            </p:extLst>
          </p:nvPr>
        </p:nvGraphicFramePr>
        <p:xfrm>
          <a:off x="4748409" y="1472787"/>
          <a:ext cx="7214991" cy="384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4">
            <a:extLst>
              <a:ext uri="{FF2B5EF4-FFF2-40B4-BE49-F238E27FC236}">
                <a16:creationId xmlns:a16="http://schemas.microsoft.com/office/drawing/2014/main" id="{A75F73E4-8CD9-EB6E-79B6-B0CDE7ED3E86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TFF Regeneration Performance Reduces Filter Demand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A6491B2-6E26-3D84-165C-D53642EEAFCA}"/>
              </a:ext>
            </a:extLst>
          </p:cNvPr>
          <p:cNvSpPr txBox="1">
            <a:spLocks/>
          </p:cNvSpPr>
          <p:nvPr/>
        </p:nvSpPr>
        <p:spPr>
          <a:xfrm>
            <a:off x="440878" y="1250909"/>
            <a:ext cx="4277714" cy="4889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lvl1pPr>
            <a:lvl2pPr marL="460800" marR="0" lvl="1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/>
            </a:lvl2pPr>
            <a:lvl3pPr marL="691200" lvl="2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14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GB" dirty="0"/>
              <a:t>TFF Regeneration swaps performed on days 7, 10, and 13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GB" dirty="0"/>
              <a:t>Combination of higher flux with TFF regeneration resulted in 2-3 fold filter demand</a:t>
            </a:r>
          </a:p>
          <a:p>
            <a:pPr lvl="1">
              <a:buClr>
                <a:schemeClr val="tx1"/>
              </a:buClr>
              <a:buFont typeface="+mn-lt"/>
            </a:pPr>
            <a:r>
              <a:rPr lang="en-GB" dirty="0"/>
              <a:t>Projected 4-8 TFF filters vs 14 for clinical manufacturing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endParaRPr lang="en-GB" u="sng" dirty="0"/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GB" u="sng" dirty="0"/>
              <a:t>No impact </a:t>
            </a:r>
            <a:r>
              <a:rPr lang="en-GB" dirty="0"/>
              <a:t>to cell culture performance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GB" u="sng" dirty="0"/>
              <a:t>No impact </a:t>
            </a:r>
            <a:r>
              <a:rPr lang="en-GB" dirty="0"/>
              <a:t>to product quality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355DB4-61A1-0B5D-0A9D-B1B5FCDF9875}"/>
              </a:ext>
            </a:extLst>
          </p:cNvPr>
          <p:cNvCxnSpPr>
            <a:cxnSpLocks/>
          </p:cNvCxnSpPr>
          <p:nvPr/>
        </p:nvCxnSpPr>
        <p:spPr>
          <a:xfrm>
            <a:off x="8494222" y="1949485"/>
            <a:ext cx="0" cy="255928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76C6A3-3DC9-DE83-3268-4EE55632E186}"/>
              </a:ext>
            </a:extLst>
          </p:cNvPr>
          <p:cNvCxnSpPr>
            <a:cxnSpLocks/>
          </p:cNvCxnSpPr>
          <p:nvPr/>
        </p:nvCxnSpPr>
        <p:spPr>
          <a:xfrm>
            <a:off x="9728186" y="1949485"/>
            <a:ext cx="396" cy="255928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BFB761-D5D8-E73F-502E-F54171BB7C5E}"/>
              </a:ext>
            </a:extLst>
          </p:cNvPr>
          <p:cNvCxnSpPr>
            <a:cxnSpLocks/>
          </p:cNvCxnSpPr>
          <p:nvPr/>
        </p:nvCxnSpPr>
        <p:spPr>
          <a:xfrm>
            <a:off x="11109169" y="1949485"/>
            <a:ext cx="0" cy="255928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FE52CE-4106-D757-CD74-FB633A9BB9B9}"/>
              </a:ext>
            </a:extLst>
          </p:cNvPr>
          <p:cNvSpPr txBox="1"/>
          <p:nvPr/>
        </p:nvSpPr>
        <p:spPr>
          <a:xfrm>
            <a:off x="8503648" y="2037784"/>
            <a:ext cx="549696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GB" dirty="0"/>
              <a:t>89%</a:t>
            </a:r>
            <a:endParaRPr lang="en-US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CA73A-D75A-5112-6F43-21564D0044EF}"/>
              </a:ext>
            </a:extLst>
          </p:cNvPr>
          <p:cNvSpPr txBox="1"/>
          <p:nvPr/>
        </p:nvSpPr>
        <p:spPr>
          <a:xfrm>
            <a:off x="9728582" y="2203432"/>
            <a:ext cx="549696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GB" dirty="0"/>
              <a:t>84%</a:t>
            </a: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B47F6-9393-0104-1E03-DE093904CA35}"/>
              </a:ext>
            </a:extLst>
          </p:cNvPr>
          <p:cNvSpPr txBox="1"/>
          <p:nvPr/>
        </p:nvSpPr>
        <p:spPr>
          <a:xfrm>
            <a:off x="11109169" y="2203432"/>
            <a:ext cx="549696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GB" dirty="0"/>
              <a:t>79%</a:t>
            </a:r>
            <a:endParaRPr lang="en-US" dirty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66C203-08EE-6BEF-FD8F-986A8020B91C}"/>
              </a:ext>
            </a:extLst>
          </p:cNvPr>
          <p:cNvSpPr txBox="1"/>
          <p:nvPr/>
        </p:nvSpPr>
        <p:spPr>
          <a:xfrm>
            <a:off x="6709238" y="1312857"/>
            <a:ext cx="63730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GB" dirty="0"/>
              <a:t>TFF1</a:t>
            </a:r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077316-F6EB-2370-CDB6-036ED04DF4DD}"/>
              </a:ext>
            </a:extLst>
          </p:cNvPr>
          <p:cNvSpPr txBox="1"/>
          <p:nvPr/>
        </p:nvSpPr>
        <p:spPr>
          <a:xfrm>
            <a:off x="8820420" y="1312857"/>
            <a:ext cx="63730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GB" dirty="0"/>
              <a:t>TFF2</a:t>
            </a:r>
            <a:endParaRPr lang="en-US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09329-E7FF-FEF8-3F41-73D1E7141D74}"/>
              </a:ext>
            </a:extLst>
          </p:cNvPr>
          <p:cNvSpPr txBox="1"/>
          <p:nvPr/>
        </p:nvSpPr>
        <p:spPr>
          <a:xfrm>
            <a:off x="10140036" y="1318388"/>
            <a:ext cx="63730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GB" dirty="0"/>
              <a:t>TFF1</a:t>
            </a:r>
            <a:endParaRPr lang="en-US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01E4D8-CFE9-1A24-5A50-3A891C3A69C2}"/>
              </a:ext>
            </a:extLst>
          </p:cNvPr>
          <p:cNvSpPr txBox="1"/>
          <p:nvPr/>
        </p:nvSpPr>
        <p:spPr>
          <a:xfrm>
            <a:off x="11250255" y="1318388"/>
            <a:ext cx="63730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GB" dirty="0"/>
              <a:t>TFF2</a:t>
            </a:r>
            <a:endParaRPr lang="en-US" dirty="0" err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7C5899-B2D5-F115-2DAC-450BD89C51D2}"/>
              </a:ext>
            </a:extLst>
          </p:cNvPr>
          <p:cNvGrpSpPr/>
          <p:nvPr/>
        </p:nvGrpSpPr>
        <p:grpSpPr>
          <a:xfrm>
            <a:off x="9267897" y="5468614"/>
            <a:ext cx="2631544" cy="258532"/>
            <a:chOff x="1559668" y="6270855"/>
            <a:chExt cx="2631544" cy="25853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80CF3A2-B4E5-C345-9CE7-9EB33619695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668" y="6390500"/>
              <a:ext cx="340468" cy="0"/>
            </a:xfrm>
            <a:prstGeom prst="line">
              <a:avLst/>
            </a:prstGeom>
            <a:ln w="1905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BD275C2-4016-963B-9BC6-131FA05F36CE}"/>
                </a:ext>
              </a:extLst>
            </p:cNvPr>
            <p:cNvSpPr/>
            <p:nvPr/>
          </p:nvSpPr>
          <p:spPr>
            <a:xfrm>
              <a:off x="1686125" y="6354258"/>
              <a:ext cx="81638" cy="81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A06AD6-6434-1062-68C2-725C8384114C}"/>
                </a:ext>
              </a:extLst>
            </p:cNvPr>
            <p:cNvSpPr txBox="1"/>
            <p:nvPr/>
          </p:nvSpPr>
          <p:spPr>
            <a:xfrm>
              <a:off x="1889685" y="6270855"/>
              <a:ext cx="2301527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Pilot 3-4x Flux with Regeneration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1A1DF1-57B2-05E1-B004-D9042A192F22}"/>
              </a:ext>
            </a:extLst>
          </p:cNvPr>
          <p:cNvGrpSpPr/>
          <p:nvPr/>
        </p:nvGrpSpPr>
        <p:grpSpPr>
          <a:xfrm>
            <a:off x="4913950" y="5468614"/>
            <a:ext cx="1403522" cy="258532"/>
            <a:chOff x="1407268" y="6108834"/>
            <a:chExt cx="1403522" cy="25853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7750469-9BFE-6939-2EE1-AA6493FAE02F}"/>
                </a:ext>
              </a:extLst>
            </p:cNvPr>
            <p:cNvCxnSpPr>
              <a:cxnSpLocks/>
            </p:cNvCxnSpPr>
            <p:nvPr/>
          </p:nvCxnSpPr>
          <p:spPr>
            <a:xfrm>
              <a:off x="1407268" y="6238100"/>
              <a:ext cx="340468" cy="0"/>
            </a:xfrm>
            <a:prstGeom prst="line">
              <a:avLst/>
            </a:prstGeom>
            <a:solidFill>
              <a:schemeClr val="bg2"/>
            </a:solidFill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4CAE085-B15C-EEBF-7923-474361DA5BCD}"/>
                </a:ext>
              </a:extLst>
            </p:cNvPr>
            <p:cNvSpPr/>
            <p:nvPr/>
          </p:nvSpPr>
          <p:spPr>
            <a:xfrm>
              <a:off x="1533725" y="6201858"/>
              <a:ext cx="81638" cy="81638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A0168A-886C-C520-1339-CA6EEF6B3801}"/>
                </a:ext>
              </a:extLst>
            </p:cNvPr>
            <p:cNvSpPr txBox="1"/>
            <p:nvPr/>
          </p:nvSpPr>
          <p:spPr>
            <a:xfrm>
              <a:off x="1749281" y="6108834"/>
              <a:ext cx="1061509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Bench 1x Flux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1524EB-EF95-3C7E-C27B-470033EDF4F1}"/>
              </a:ext>
            </a:extLst>
          </p:cNvPr>
          <p:cNvGrpSpPr/>
          <p:nvPr/>
        </p:nvGrpSpPr>
        <p:grpSpPr>
          <a:xfrm>
            <a:off x="7835180" y="5468614"/>
            <a:ext cx="1422834" cy="258532"/>
            <a:chOff x="1254868" y="5960906"/>
            <a:chExt cx="1422834" cy="25853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9FF388-A384-FB1A-FC91-92535DFE93F0}"/>
                </a:ext>
              </a:extLst>
            </p:cNvPr>
            <p:cNvCxnSpPr>
              <a:cxnSpLocks/>
            </p:cNvCxnSpPr>
            <p:nvPr/>
          </p:nvCxnSpPr>
          <p:spPr>
            <a:xfrm>
              <a:off x="1254868" y="6085700"/>
              <a:ext cx="340468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C56175E-5286-031E-9476-0BA6829FF652}"/>
                </a:ext>
              </a:extLst>
            </p:cNvPr>
            <p:cNvSpPr/>
            <p:nvPr/>
          </p:nvSpPr>
          <p:spPr>
            <a:xfrm>
              <a:off x="1381325" y="6049458"/>
              <a:ext cx="81638" cy="81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742852-1611-8CE6-C81C-68ECBA2C0728}"/>
                </a:ext>
              </a:extLst>
            </p:cNvPr>
            <p:cNvSpPr txBox="1"/>
            <p:nvPr/>
          </p:nvSpPr>
          <p:spPr>
            <a:xfrm>
              <a:off x="1590545" y="5960906"/>
              <a:ext cx="1087157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Pilot 3-4x Flux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6A913B-09D4-F8B6-D90F-0F42BE46BE74}"/>
              </a:ext>
            </a:extLst>
          </p:cNvPr>
          <p:cNvGrpSpPr/>
          <p:nvPr/>
        </p:nvGrpSpPr>
        <p:grpSpPr>
          <a:xfrm>
            <a:off x="6325898" y="5468614"/>
            <a:ext cx="1528556" cy="258532"/>
            <a:chOff x="1407268" y="6108834"/>
            <a:chExt cx="1528556" cy="258532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CCD0072-1F33-1F45-9DA5-7CB8BA76AA22}"/>
                </a:ext>
              </a:extLst>
            </p:cNvPr>
            <p:cNvCxnSpPr>
              <a:cxnSpLocks/>
            </p:cNvCxnSpPr>
            <p:nvPr/>
          </p:nvCxnSpPr>
          <p:spPr>
            <a:xfrm>
              <a:off x="1407268" y="6238100"/>
              <a:ext cx="3404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A57E9F4-9BE4-023F-8C4A-AA8E0343D2B8}"/>
                </a:ext>
              </a:extLst>
            </p:cNvPr>
            <p:cNvSpPr/>
            <p:nvPr/>
          </p:nvSpPr>
          <p:spPr>
            <a:xfrm>
              <a:off x="1533725" y="6201858"/>
              <a:ext cx="81638" cy="81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b="1" dirty="0" err="1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184D966-68E5-AEC3-B449-4EEFBCEAE3EB}"/>
                </a:ext>
              </a:extLst>
            </p:cNvPr>
            <p:cNvSpPr txBox="1"/>
            <p:nvPr/>
          </p:nvSpPr>
          <p:spPr>
            <a:xfrm>
              <a:off x="1749281" y="6108834"/>
              <a:ext cx="1186543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dirty="0"/>
                <a:t>Bench 3-4x Flux</a:t>
              </a:r>
            </a:p>
          </p:txBody>
        </p:sp>
      </p:grp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58AB4C9-4365-6EAC-3996-6D9635DFFC45}"/>
              </a:ext>
            </a:extLst>
          </p:cNvPr>
          <p:cNvSpPr txBox="1">
            <a:spLocks/>
          </p:cNvSpPr>
          <p:nvPr/>
        </p:nvSpPr>
        <p:spPr>
          <a:xfrm>
            <a:off x="835025" y="6093628"/>
            <a:ext cx="9528175" cy="65722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Slide courtesy of Ana Dilillo</a:t>
            </a:r>
          </a:p>
        </p:txBody>
      </p:sp>
    </p:spTree>
    <p:extLst>
      <p:ext uri="{BB962C8B-B14F-4D97-AF65-F5344CB8AC3E}">
        <p14:creationId xmlns:p14="http://schemas.microsoft.com/office/powerpoint/2010/main" val="448837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515CA-318B-646B-4CC5-6E4DC134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4085"/>
            <a:ext cx="487680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F540DF-252E-84A9-4B0C-994DFD6A8690}"/>
              </a:ext>
            </a:extLst>
          </p:cNvPr>
          <p:cNvSpPr txBox="1"/>
          <p:nvPr/>
        </p:nvSpPr>
        <p:spPr>
          <a:xfrm>
            <a:off x="1164837" y="1094980"/>
            <a:ext cx="30433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400" u="sng"/>
            </a:lvl1pPr>
          </a:lstStyle>
          <a:p>
            <a:r>
              <a:rPr lang="en-US" dirty="0"/>
              <a:t>Single Pass Operation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F0DA4D-D4BD-CF50-7D9D-12A0AFAC3475}"/>
              </a:ext>
            </a:extLst>
          </p:cNvPr>
          <p:cNvSpPr txBox="1"/>
          <p:nvPr/>
        </p:nvSpPr>
        <p:spPr>
          <a:xfrm>
            <a:off x="6950046" y="1105295"/>
            <a:ext cx="35673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400" u="sng"/>
            </a:lvl1pPr>
          </a:lstStyle>
          <a:p>
            <a:r>
              <a:rPr lang="en-US" dirty="0"/>
              <a:t>Cycling Operation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3905642-1574-C4FF-D05B-BF35C0556A70}"/>
              </a:ext>
            </a:extLst>
          </p:cNvPr>
          <p:cNvGrpSpPr/>
          <p:nvPr/>
        </p:nvGrpSpPr>
        <p:grpSpPr>
          <a:xfrm>
            <a:off x="438443" y="1624191"/>
            <a:ext cx="4679777" cy="5205649"/>
            <a:chOff x="438443" y="1624191"/>
            <a:chExt cx="4679777" cy="52056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284FEB3-9957-429E-26C8-A0964B3A9638}"/>
                </a:ext>
              </a:extLst>
            </p:cNvPr>
            <p:cNvGrpSpPr/>
            <p:nvPr/>
          </p:nvGrpSpPr>
          <p:grpSpPr>
            <a:xfrm>
              <a:off x="438443" y="1624191"/>
              <a:ext cx="4173289" cy="5205649"/>
              <a:chOff x="438443" y="1624191"/>
              <a:chExt cx="4173289" cy="5205649"/>
            </a:xfrm>
          </p:grpSpPr>
          <p:cxnSp>
            <p:nvCxnSpPr>
              <p:cNvPr id="5" name="Connector: Elbow 4">
                <a:extLst>
                  <a:ext uri="{FF2B5EF4-FFF2-40B4-BE49-F238E27FC236}">
                    <a16:creationId xmlns:a16="http://schemas.microsoft.com/office/drawing/2014/main" id="{16C24C78-2BE2-2E89-7036-50F2372FBE0E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rot="5400000">
                <a:off x="2791263" y="4779477"/>
                <a:ext cx="269802" cy="800099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BAF9150-9946-0B7E-A5D2-973260B58E51}"/>
                  </a:ext>
                </a:extLst>
              </p:cNvPr>
              <p:cNvGrpSpPr/>
              <p:nvPr/>
            </p:nvGrpSpPr>
            <p:grpSpPr>
              <a:xfrm>
                <a:off x="438443" y="1624191"/>
                <a:ext cx="4173289" cy="5205649"/>
                <a:chOff x="357785" y="1316039"/>
                <a:chExt cx="4173289" cy="5205649"/>
              </a:xfrm>
            </p:grpSpPr>
            <p:cxnSp>
              <p:nvCxnSpPr>
                <p:cNvPr id="7" name="Connector: Elbow 6">
                  <a:extLst>
                    <a:ext uri="{FF2B5EF4-FFF2-40B4-BE49-F238E27FC236}">
                      <a16:creationId xmlns:a16="http://schemas.microsoft.com/office/drawing/2014/main" id="{27EF147E-6381-0CE7-A9C0-87D5970C2F2D}"/>
                    </a:ext>
                  </a:extLst>
                </p:cNvPr>
                <p:cNvCxnSpPr>
                  <a:cxnSpLocks/>
                  <a:stCxn id="9" idx="2"/>
                  <a:endCxn id="31" idx="1"/>
                </p:cNvCxnSpPr>
                <p:nvPr/>
              </p:nvCxnSpPr>
              <p:spPr>
                <a:xfrm rot="16200000" flipH="1">
                  <a:off x="2541474" y="4631605"/>
                  <a:ext cx="814052" cy="1023787"/>
                </a:xfrm>
                <a:prstGeom prst="bentConnector2">
                  <a:avLst/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6CF0F0A0-06E9-8A8D-BFDB-4136C0BDF9DC}"/>
                    </a:ext>
                  </a:extLst>
                </p:cNvPr>
                <p:cNvSpPr/>
                <p:nvPr/>
              </p:nvSpPr>
              <p:spPr>
                <a:xfrm>
                  <a:off x="3047478" y="3366279"/>
                  <a:ext cx="396153" cy="1370194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6974B513-DC4C-BFCD-5DEC-E83465D3BE40}"/>
                    </a:ext>
                  </a:extLst>
                </p:cNvPr>
                <p:cNvSpPr/>
                <p:nvPr/>
              </p:nvSpPr>
              <p:spPr>
                <a:xfrm>
                  <a:off x="2238530" y="3366279"/>
                  <a:ext cx="396153" cy="13701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F27DC933-2775-FCAA-D105-50DEEDC7F050}"/>
                    </a:ext>
                  </a:extLst>
                </p:cNvPr>
                <p:cNvSpPr/>
                <p:nvPr/>
              </p:nvSpPr>
              <p:spPr>
                <a:xfrm>
                  <a:off x="1437903" y="3375604"/>
                  <a:ext cx="396153" cy="1360869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cxnSp>
              <p:nvCxnSpPr>
                <p:cNvPr id="11" name="Connector: Elbow 10">
                  <a:extLst>
                    <a:ext uri="{FF2B5EF4-FFF2-40B4-BE49-F238E27FC236}">
                      <a16:creationId xmlns:a16="http://schemas.microsoft.com/office/drawing/2014/main" id="{5809486B-D9F2-CEA2-A945-7F723607B8B8}"/>
                    </a:ext>
                  </a:extLst>
                </p:cNvPr>
                <p:cNvCxnSpPr>
                  <a:cxnSpLocks/>
                  <a:stCxn id="12" idx="3"/>
                  <a:endCxn id="9" idx="0"/>
                </p:cNvCxnSpPr>
                <p:nvPr/>
              </p:nvCxnSpPr>
              <p:spPr>
                <a:xfrm rot="16200000" flipH="1">
                  <a:off x="1886513" y="2816185"/>
                  <a:ext cx="1100186" cy="1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Flowchart: Magnetic Disk 11">
                  <a:extLst>
                    <a:ext uri="{FF2B5EF4-FFF2-40B4-BE49-F238E27FC236}">
                      <a16:creationId xmlns:a16="http://schemas.microsoft.com/office/drawing/2014/main" id="{BC08FDE8-C45A-C3D2-63E1-BAC68EE9C950}"/>
                    </a:ext>
                  </a:extLst>
                </p:cNvPr>
                <p:cNvSpPr/>
                <p:nvPr/>
              </p:nvSpPr>
              <p:spPr>
                <a:xfrm>
                  <a:off x="2184936" y="1316039"/>
                  <a:ext cx="503340" cy="950054"/>
                </a:xfrm>
                <a:prstGeom prst="flowChartMagneticDisk">
                  <a:avLst/>
                </a:prstGeom>
                <a:solidFill>
                  <a:schemeClr val="bg2"/>
                </a:solidFill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err="1">
                    <a:solidFill>
                      <a:srgbClr val="FFFFFF"/>
                    </a:solidFill>
                    <a:latin typeface="Calibri"/>
                  </a:endParaRPr>
                </a:p>
              </p:txBody>
            </p:sp>
            <p:cxnSp>
              <p:nvCxnSpPr>
                <p:cNvPr id="13" name="Connector: Elbow 12">
                  <a:extLst>
                    <a:ext uri="{FF2B5EF4-FFF2-40B4-BE49-F238E27FC236}">
                      <a16:creationId xmlns:a16="http://schemas.microsoft.com/office/drawing/2014/main" id="{57CE3F84-E393-28E9-6E9E-31C7ADFD7174}"/>
                    </a:ext>
                  </a:extLst>
                </p:cNvPr>
                <p:cNvCxnSpPr>
                  <a:cxnSpLocks/>
                  <a:stCxn id="12" idx="3"/>
                  <a:endCxn id="8" idx="0"/>
                </p:cNvCxnSpPr>
                <p:nvPr/>
              </p:nvCxnSpPr>
              <p:spPr>
                <a:xfrm rot="16200000" flipH="1">
                  <a:off x="2290987" y="2411711"/>
                  <a:ext cx="1100186" cy="808949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Connector: Elbow 13">
                  <a:extLst>
                    <a:ext uri="{FF2B5EF4-FFF2-40B4-BE49-F238E27FC236}">
                      <a16:creationId xmlns:a16="http://schemas.microsoft.com/office/drawing/2014/main" id="{A1E61717-CB5F-F3A5-91D4-CA57C9043CA2}"/>
                    </a:ext>
                  </a:extLst>
                </p:cNvPr>
                <p:cNvCxnSpPr>
                  <a:cxnSpLocks/>
                  <a:stCxn id="12" idx="3"/>
                  <a:endCxn id="10" idx="0"/>
                </p:cNvCxnSpPr>
                <p:nvPr/>
              </p:nvCxnSpPr>
              <p:spPr>
                <a:xfrm rot="5400000">
                  <a:off x="1481538" y="2420535"/>
                  <a:ext cx="1109511" cy="800626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8E9786B0-60F8-1656-C7FF-E323E8BCF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277" y="5321288"/>
                  <a:ext cx="1934179" cy="0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Connector: Elbow 15">
                  <a:extLst>
                    <a:ext uri="{FF2B5EF4-FFF2-40B4-BE49-F238E27FC236}">
                      <a16:creationId xmlns:a16="http://schemas.microsoft.com/office/drawing/2014/main" id="{E2CB45F0-5EFC-6B10-B14D-4FE81BB48592}"/>
                    </a:ext>
                  </a:extLst>
                </p:cNvPr>
                <p:cNvCxnSpPr>
                  <a:stCxn id="10" idx="2"/>
                </p:cNvCxnSpPr>
                <p:nvPr/>
              </p:nvCxnSpPr>
              <p:spPr>
                <a:xfrm rot="16200000" flipH="1">
                  <a:off x="1905818" y="4466635"/>
                  <a:ext cx="269800" cy="809476"/>
                </a:xfrm>
                <a:prstGeom prst="bentConnector2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BFDCF83-5631-4FA1-63A7-0F8E9A7A8CC9}"/>
                    </a:ext>
                  </a:extLst>
                </p:cNvPr>
                <p:cNvGrpSpPr/>
                <p:nvPr/>
              </p:nvGrpSpPr>
              <p:grpSpPr>
                <a:xfrm>
                  <a:off x="3443631" y="4736473"/>
                  <a:ext cx="1087443" cy="1785215"/>
                  <a:chOff x="3443631" y="4736473"/>
                  <a:chExt cx="1087443" cy="1785215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FD73FE63-99ED-910D-38BA-4087FC912B78}"/>
                      </a:ext>
                    </a:extLst>
                  </p:cNvPr>
                  <p:cNvGrpSpPr/>
                  <p:nvPr/>
                </p:nvGrpSpPr>
                <p:grpSpPr>
                  <a:xfrm>
                    <a:off x="3443631" y="4736473"/>
                    <a:ext cx="1087443" cy="1785215"/>
                    <a:chOff x="3443631" y="4736473"/>
                    <a:chExt cx="1087443" cy="1785215"/>
                  </a:xfrm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9055224C-9045-5AE7-E8B7-9467099A99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43631" y="4736473"/>
                      <a:ext cx="953856" cy="1628103"/>
                      <a:chOff x="2181" y="1068509"/>
                      <a:chExt cx="953856" cy="572314"/>
                    </a:xfrm>
                  </p:grpSpPr>
                  <p:sp>
                    <p:nvSpPr>
                      <p:cNvPr id="30" name="Rectangle: Rounded Corners 29">
                        <a:extLst>
                          <a:ext uri="{FF2B5EF4-FFF2-40B4-BE49-F238E27FC236}">
                            <a16:creationId xmlns:a16="http://schemas.microsoft.com/office/drawing/2014/main" id="{C7E94FB5-9CF5-0D8A-CDD3-AF702F62CF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81" y="1068509"/>
                        <a:ext cx="953856" cy="572314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6688A3"/>
                      </a:solidFill>
                      <a:ln w="28575" cap="flat" cmpd="sng" algn="ctr">
                        <a:solidFill>
                          <a:schemeClr val="tx1">
                            <a:alpha val="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</p:spPr>
                    <p:style>
                      <a:lnRef idx="2">
                        <a:scrgbClr r="0" g="0" b="0"/>
                      </a:lnRef>
                      <a:fillRef idx="1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fillRef>
                      <a:effectRef idx="0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endParaRPr lang="en-US">
                          <a:solidFill>
                            <a:srgbClr val="FFFFFF"/>
                          </a:solidFill>
                          <a:latin typeface="Calibri"/>
                        </a:endParaRPr>
                      </a:p>
                    </p:txBody>
                  </p:sp>
                  <p:sp>
                    <p:nvSpPr>
                      <p:cNvPr id="31" name="Rectangle: Rounded Corners 4">
                        <a:extLst>
                          <a:ext uri="{FF2B5EF4-FFF2-40B4-BE49-F238E27FC236}">
                            <a16:creationId xmlns:a16="http://schemas.microsoft.com/office/drawing/2014/main" id="{F5398777-2C2A-6F73-0EAE-250219326C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44" y="1085272"/>
                        <a:ext cx="920330" cy="538788"/>
                      </a:xfrm>
                      <a:prstGeom prst="rect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spcFirstLastPara="0" vert="horz" wrap="square" lIns="49530" tIns="49530" rIns="49530" bIns="49530" numCol="1" spcCol="1270" anchor="ctr" anchorCtr="0">
                        <a:noAutofit/>
                      </a:bodyPr>
                      <a:lstStyle>
                        <a:defPPr>
                          <a:defRPr lang="en-US"/>
                        </a:defPPr>
                        <a:lvl1pPr marR="0" lvl="0" indent="0" algn="ctr" defTabSz="577850" fontAlgn="auto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35000"/>
                          </a:spcAft>
                          <a:buClrTx/>
                          <a:buSzTx/>
                          <a:buFontTx/>
                          <a:buNone/>
                          <a:tabLst/>
                          <a:defRPr kumimoji="0" sz="1300" b="0" i="0" u="none" strike="noStrike" cap="none" spc="0" normalizeH="0" baseline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libri"/>
                          </a:defRPr>
                        </a:lvl1pPr>
                      </a:lstStyle>
                      <a:p>
                        <a:endParaRPr lang="en-US" dirty="0"/>
                      </a:p>
                    </p:txBody>
                  </p:sp>
                </p:grp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14A3A2D9-D220-6C26-930B-3D41592075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77218" y="4893585"/>
                      <a:ext cx="953856" cy="1628103"/>
                      <a:chOff x="2181" y="1068509"/>
                      <a:chExt cx="953856" cy="572314"/>
                    </a:xfrm>
                  </p:grpSpPr>
                  <p:sp>
                    <p:nvSpPr>
                      <p:cNvPr id="28" name="Rectangle: Rounded Corners 27">
                        <a:extLst>
                          <a:ext uri="{FF2B5EF4-FFF2-40B4-BE49-F238E27FC236}">
                            <a16:creationId xmlns:a16="http://schemas.microsoft.com/office/drawing/2014/main" id="{67DED3DE-2C62-7989-DF15-CC71A9DA29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81" y="1068509"/>
                        <a:ext cx="953856" cy="572314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6688A3"/>
                      </a:solidFill>
                      <a:ln w="28575" cap="flat" cmpd="sng" algn="ctr">
                        <a:solidFill>
                          <a:schemeClr val="tx1">
                            <a:alpha val="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</p:spPr>
                    <p:style>
                      <a:lnRef idx="2">
                        <a:scrgbClr r="0" g="0" b="0"/>
                      </a:lnRef>
                      <a:fillRef idx="1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fillRef>
                      <a:effectRef idx="0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endParaRPr lang="en-US">
                          <a:solidFill>
                            <a:srgbClr val="FFFFFF"/>
                          </a:solidFill>
                          <a:latin typeface="Calibri"/>
                        </a:endParaRPr>
                      </a:p>
                    </p:txBody>
                  </p:sp>
                  <p:sp>
                    <p:nvSpPr>
                      <p:cNvPr id="29" name="Rectangle: Rounded Corners 4">
                        <a:extLst>
                          <a:ext uri="{FF2B5EF4-FFF2-40B4-BE49-F238E27FC236}">
                            <a16:creationId xmlns:a16="http://schemas.microsoft.com/office/drawing/2014/main" id="{B19E6CC7-5FB1-1AA6-5C7D-CA812473615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44" y="1085272"/>
                        <a:ext cx="920330" cy="538788"/>
                      </a:xfrm>
                      <a:prstGeom prst="rect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spcFirstLastPara="0" vert="horz" wrap="square" lIns="49530" tIns="49530" rIns="49530" bIns="49530" numCol="1" spcCol="1270" anchor="ctr" anchorCtr="0">
                        <a:noAutofit/>
                      </a:bodyPr>
                      <a:lstStyle>
                        <a:defPPr>
                          <a:defRPr lang="en-US"/>
                        </a:defPPr>
                        <a:lvl1pPr marR="0" lvl="0" indent="0" algn="ctr" defTabSz="577850" fontAlgn="auto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35000"/>
                          </a:spcAft>
                          <a:buClrTx/>
                          <a:buSzTx/>
                          <a:buFontTx/>
                          <a:buNone/>
                          <a:tabLst/>
                          <a:defRPr kumimoji="0" sz="1300" b="0" i="0" u="none" strike="noStrike" cap="none" spc="0" normalizeH="0" baseline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libri"/>
                          </a:defRPr>
                        </a:lvl1pPr>
                      </a:lstStyle>
                      <a:p>
                        <a:endParaRPr lang="en-US" dirty="0"/>
                      </a:p>
                    </p:txBody>
                  </p:sp>
                </p:grp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C737FD9-14CF-A271-CC76-63AA41151542}"/>
                      </a:ext>
                    </a:extLst>
                  </p:cNvPr>
                  <p:cNvSpPr txBox="1"/>
                  <p:nvPr/>
                </p:nvSpPr>
                <p:spPr>
                  <a:xfrm>
                    <a:off x="3669190" y="5294194"/>
                    <a:ext cx="824313" cy="5909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90000"/>
                      </a:lnSpc>
                      <a:spcAft>
                        <a:spcPts val="600"/>
                      </a:spcAft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Polish Step 1</a:t>
                    </a:r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75DB1A8-C6DC-5780-171F-297FE62F05F8}"/>
                    </a:ext>
                  </a:extLst>
                </p:cNvPr>
                <p:cNvSpPr txBox="1"/>
                <p:nvPr/>
              </p:nvSpPr>
              <p:spPr>
                <a:xfrm>
                  <a:off x="1147317" y="1328353"/>
                  <a:ext cx="1037619" cy="8679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sz="1400"/>
                  </a:lvl1pPr>
                </a:lstStyle>
                <a:p>
                  <a:r>
                    <a:rPr lang="en-US" dirty="0"/>
                    <a:t>Affinity Capture product vessel 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440478-44EC-A5EF-98A5-C44F7FC16103}"/>
                    </a:ext>
                  </a:extLst>
                </p:cNvPr>
                <p:cNvSpPr txBox="1"/>
                <p:nvPr/>
              </p:nvSpPr>
              <p:spPr>
                <a:xfrm>
                  <a:off x="357785" y="3643354"/>
                  <a:ext cx="1278194" cy="590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b="1"/>
                  </a:lvl1pPr>
                </a:lstStyle>
                <a:p>
                  <a:r>
                    <a:rPr lang="en-US" dirty="0">
                      <a:solidFill>
                        <a:srgbClr val="FF0000"/>
                      </a:solidFill>
                    </a:rPr>
                    <a:t>22 filters required</a:t>
                  </a:r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E2BAB8E9-439D-4871-DAE1-7093B8FCA1CF}"/>
                    </a:ext>
                  </a:extLst>
                </p:cNvPr>
                <p:cNvGrpSpPr/>
                <p:nvPr/>
              </p:nvGrpSpPr>
              <p:grpSpPr>
                <a:xfrm>
                  <a:off x="2480219" y="2250451"/>
                  <a:ext cx="2019964" cy="341632"/>
                  <a:chOff x="2480219" y="2250451"/>
                  <a:chExt cx="2019964" cy="341632"/>
                </a:xfrm>
              </p:grpSpPr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1C3CF5E-98F8-54E6-9020-7ED13DC5B311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671" y="2250451"/>
                    <a:ext cx="1719512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90000"/>
                      </a:lnSpc>
                      <a:spcAft>
                        <a:spcPts val="600"/>
                      </a:spcAft>
                    </a:lvl1pPr>
                  </a:lstStyle>
                  <a:p>
                    <a:r>
                      <a:rPr lang="en-US" dirty="0"/>
                      <a:t>Titrant</a:t>
                    </a:r>
                  </a:p>
                </p:txBody>
              </p: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D05325B5-5F8B-ABB7-F1A5-7BAF981DA3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80219" y="2577951"/>
                    <a:ext cx="1160208" cy="0"/>
                  </a:xfrm>
                  <a:prstGeom prst="straightConnector1">
                    <a:avLst/>
                  </a:prstGeom>
                  <a:ln w="28575">
                    <a:solidFill>
                      <a:schemeClr val="accent4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CA91AA-AD04-4B59-7A25-F80EC3E82A38}"/>
                    </a:ext>
                  </a:extLst>
                </p:cNvPr>
                <p:cNvSpPr txBox="1"/>
                <p:nvPr/>
              </p:nvSpPr>
              <p:spPr>
                <a:xfrm>
                  <a:off x="465424" y="5054641"/>
                  <a:ext cx="1719512" cy="2862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sz="1400"/>
                  </a:lvl1pPr>
                </a:lstStyle>
                <a:p>
                  <a:r>
                    <a:rPr lang="en-US" dirty="0"/>
                    <a:t>Polish Buffer(s)</a:t>
                  </a:r>
                </a:p>
              </p:txBody>
            </p: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1F7CB66-918F-1631-DD69-9AC096D75DD8}"/>
                </a:ext>
              </a:extLst>
            </p:cNvPr>
            <p:cNvSpPr txBox="1"/>
            <p:nvPr/>
          </p:nvSpPr>
          <p:spPr>
            <a:xfrm>
              <a:off x="3615111" y="3989929"/>
              <a:ext cx="150310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b="1" dirty="0">
                  <a:solidFill>
                    <a:srgbClr val="FF0000"/>
                  </a:solidFill>
                </a:rPr>
                <a:t>Cumulative 75 L Hold-up volume</a:t>
              </a:r>
            </a:p>
          </p:txBody>
        </p:sp>
      </p:grpSp>
      <p:sp>
        <p:nvSpPr>
          <p:cNvPr id="58" name="Title 4">
            <a:extLst>
              <a:ext uri="{FF2B5EF4-FFF2-40B4-BE49-F238E27FC236}">
                <a16:creationId xmlns:a16="http://schemas.microsoft.com/office/drawing/2014/main" id="{D9A41EC8-2121-BAE2-85D2-68720F72C7AC}"/>
              </a:ext>
            </a:extLst>
          </p:cNvPr>
          <p:cNvSpPr txBox="1">
            <a:spLocks/>
          </p:cNvSpPr>
          <p:nvPr/>
        </p:nvSpPr>
        <p:spPr>
          <a:xfrm>
            <a:off x="465395" y="206521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Next Issue: Molecule C </a:t>
            </a:r>
            <a:r>
              <a:rPr lang="en-US" sz="3200"/>
              <a:t>forms precipitate when load adjusting prior </a:t>
            </a:r>
            <a:r>
              <a:rPr lang="en-US" sz="3200" dirty="0"/>
              <a:t>to </a:t>
            </a:r>
            <a:r>
              <a:rPr lang="en-US" sz="3200"/>
              <a:t>first polishing step</a:t>
            </a:r>
            <a:endParaRPr lang="en-US" sz="32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BB7AF2B-5775-7CED-61B1-3FAFEA224831}"/>
              </a:ext>
            </a:extLst>
          </p:cNvPr>
          <p:cNvGrpSpPr/>
          <p:nvPr/>
        </p:nvGrpSpPr>
        <p:grpSpPr>
          <a:xfrm>
            <a:off x="6960418" y="1672672"/>
            <a:ext cx="4345706" cy="5080977"/>
            <a:chOff x="6960418" y="1672672"/>
            <a:chExt cx="4345706" cy="508097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A78F617-A364-A832-5711-3750FEB56EE9}"/>
                </a:ext>
              </a:extLst>
            </p:cNvPr>
            <p:cNvGrpSpPr/>
            <p:nvPr/>
          </p:nvGrpSpPr>
          <p:grpSpPr>
            <a:xfrm>
              <a:off x="6960418" y="1672672"/>
              <a:ext cx="4345706" cy="5080977"/>
              <a:chOff x="6945247" y="1160816"/>
              <a:chExt cx="4345706" cy="5080977"/>
            </a:xfrm>
          </p:grpSpPr>
          <p:sp>
            <p:nvSpPr>
              <p:cNvPr id="33" name="Flowchart: Magnetic Disk 32">
                <a:extLst>
                  <a:ext uri="{FF2B5EF4-FFF2-40B4-BE49-F238E27FC236}">
                    <a16:creationId xmlns:a16="http://schemas.microsoft.com/office/drawing/2014/main" id="{3919533D-CA8B-41CB-419E-F8EB6719CC7E}"/>
                  </a:ext>
                </a:extLst>
              </p:cNvPr>
              <p:cNvSpPr/>
              <p:nvPr/>
            </p:nvSpPr>
            <p:spPr>
              <a:xfrm>
                <a:off x="8079373" y="1160816"/>
                <a:ext cx="503340" cy="950054"/>
              </a:xfrm>
              <a:prstGeom prst="flowChartMagneticDisk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dirty="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E9AED6AB-23C8-7EBD-66EC-0950F766F144}"/>
                  </a:ext>
                </a:extLst>
              </p:cNvPr>
              <p:cNvSpPr/>
              <p:nvPr/>
            </p:nvSpPr>
            <p:spPr>
              <a:xfrm>
                <a:off x="8132967" y="3073573"/>
                <a:ext cx="396153" cy="912026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dirty="0" err="1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67581BB-E069-7FE7-779C-EE15A8092C98}"/>
                  </a:ext>
                </a:extLst>
              </p:cNvPr>
              <p:cNvCxnSpPr>
                <a:cxnSpLocks/>
                <a:stCxn id="33" idx="3"/>
                <a:endCxn id="34" idx="0"/>
              </p:cNvCxnSpPr>
              <p:nvPr/>
            </p:nvCxnSpPr>
            <p:spPr>
              <a:xfrm>
                <a:off x="8331043" y="2110870"/>
                <a:ext cx="1" cy="96270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E1F974BF-5D5F-B8D5-AFB0-49D9CAE7A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6581" y="3989951"/>
                <a:ext cx="0" cy="6019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Flowchart: Magnetic Disk 36">
                <a:extLst>
                  <a:ext uri="{FF2B5EF4-FFF2-40B4-BE49-F238E27FC236}">
                    <a16:creationId xmlns:a16="http://schemas.microsoft.com/office/drawing/2014/main" id="{AE1B4D66-9B16-81A4-40CA-8197A536D50A}"/>
                  </a:ext>
                </a:extLst>
              </p:cNvPr>
              <p:cNvSpPr/>
              <p:nvPr/>
            </p:nvSpPr>
            <p:spPr>
              <a:xfrm>
                <a:off x="8116442" y="4591908"/>
                <a:ext cx="503340" cy="950054"/>
              </a:xfrm>
              <a:prstGeom prst="flowChartMagneticDisk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14C756C-83A2-2103-FDBD-5BE5005426FC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8619782" y="5066935"/>
                <a:ext cx="139449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698E77E-5E79-5703-F854-8E643D83D3C0}"/>
                  </a:ext>
                </a:extLst>
              </p:cNvPr>
              <p:cNvGrpSpPr/>
              <p:nvPr/>
            </p:nvGrpSpPr>
            <p:grpSpPr>
              <a:xfrm>
                <a:off x="10100001" y="4478318"/>
                <a:ext cx="1190952" cy="1763475"/>
                <a:chOff x="3655571" y="4930310"/>
                <a:chExt cx="1190952" cy="1763475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F971CAA3-DB1F-D675-02F4-9B70C42FB2BD}"/>
                    </a:ext>
                  </a:extLst>
                </p:cNvPr>
                <p:cNvGrpSpPr/>
                <p:nvPr/>
              </p:nvGrpSpPr>
              <p:grpSpPr>
                <a:xfrm>
                  <a:off x="3655571" y="4930310"/>
                  <a:ext cx="1190952" cy="1763475"/>
                  <a:chOff x="3655571" y="4930310"/>
                  <a:chExt cx="1190952" cy="1763475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04792FD0-9D9E-FE1A-CA65-FEE098FD81AA}"/>
                      </a:ext>
                    </a:extLst>
                  </p:cNvPr>
                  <p:cNvGrpSpPr/>
                  <p:nvPr/>
                </p:nvGrpSpPr>
                <p:grpSpPr>
                  <a:xfrm>
                    <a:off x="3655571" y="4930310"/>
                    <a:ext cx="953856" cy="1628103"/>
                    <a:chOff x="214121" y="1136647"/>
                    <a:chExt cx="953856" cy="572314"/>
                  </a:xfrm>
                </p:grpSpPr>
                <p:sp>
                  <p:nvSpPr>
                    <p:cNvPr id="52" name="Rectangle: Rounded Corners 51">
                      <a:extLst>
                        <a:ext uri="{FF2B5EF4-FFF2-40B4-BE49-F238E27FC236}">
                          <a16:creationId xmlns:a16="http://schemas.microsoft.com/office/drawing/2014/main" id="{5B9F681F-2A99-519A-2B01-C3D81CD44A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4121" y="1136647"/>
                      <a:ext cx="953856" cy="572314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rgbClr val="6688A3"/>
                    </a:solidFill>
                    <a:ln w="28575" cap="flat" cmpd="sng" algn="ctr">
                      <a:solidFill>
                        <a:schemeClr val="tx1">
                          <a:alpha val="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rgbClr r="0" g="0" b="0"/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US">
                        <a:solidFill>
                          <a:srgbClr val="FFFFFF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53" name="Rectangle: Rounded Corners 4">
                      <a:extLst>
                        <a:ext uri="{FF2B5EF4-FFF2-40B4-BE49-F238E27FC236}">
                          <a16:creationId xmlns:a16="http://schemas.microsoft.com/office/drawing/2014/main" id="{92720FF4-0FC3-0BEC-21B8-4E7F16291A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121" y="1152341"/>
                      <a:ext cx="920330" cy="538788"/>
                    </a:xfrm>
                    <a:prstGeom prst="rect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spcFirstLastPara="0" vert="horz" wrap="square" lIns="49530" tIns="49530" rIns="49530" bIns="49530" numCol="1" spcCol="1270" anchor="ctr" anchorCtr="0">
                      <a:noAutofit/>
                    </a:bodyPr>
                    <a:lstStyle>
                      <a:defPPr>
                        <a:defRPr lang="en-US"/>
                      </a:defPPr>
                      <a:lvl1pPr marR="0" lvl="0" indent="0" algn="ctr" defTabSz="577850" fontAlgn="auto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 kumimoji="0" sz="13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</a:defRPr>
                      </a:lvl1pPr>
                    </a:lstStyle>
                    <a:p>
                      <a:endParaRPr lang="en-US" dirty="0"/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4E10EDEC-C1B3-4136-CCF4-EDE267A2BA3B}"/>
                      </a:ext>
                    </a:extLst>
                  </p:cNvPr>
                  <p:cNvGrpSpPr/>
                  <p:nvPr/>
                </p:nvGrpSpPr>
                <p:grpSpPr>
                  <a:xfrm>
                    <a:off x="3882631" y="5065682"/>
                    <a:ext cx="963892" cy="1628103"/>
                    <a:chOff x="307594" y="1129005"/>
                    <a:chExt cx="963892" cy="572314"/>
                  </a:xfrm>
                </p:grpSpPr>
                <p:sp>
                  <p:nvSpPr>
                    <p:cNvPr id="50" name="Rectangle: Rounded Corners 49">
                      <a:extLst>
                        <a:ext uri="{FF2B5EF4-FFF2-40B4-BE49-F238E27FC236}">
                          <a16:creationId xmlns:a16="http://schemas.microsoft.com/office/drawing/2014/main" id="{12A714CA-80A9-ADBE-A333-6F38D117E9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630" y="1129005"/>
                      <a:ext cx="953856" cy="572314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rgbClr val="6688A3"/>
                    </a:solidFill>
                    <a:ln w="28575" cap="flat" cmpd="sng" algn="ctr">
                      <a:solidFill>
                        <a:schemeClr val="tx1">
                          <a:alpha val="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rgbClr r="0" g="0" b="0"/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US">
                        <a:solidFill>
                          <a:srgbClr val="FFFFFF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51" name="Rectangle: Rounded Corners 4">
                      <a:extLst>
                        <a:ext uri="{FF2B5EF4-FFF2-40B4-BE49-F238E27FC236}">
                          <a16:creationId xmlns:a16="http://schemas.microsoft.com/office/drawing/2014/main" id="{7365E0C3-D9A8-2381-3B87-A3485C7B24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594" y="1148513"/>
                      <a:ext cx="920330" cy="538788"/>
                    </a:xfrm>
                    <a:prstGeom prst="rect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spcFirstLastPara="0" vert="horz" wrap="square" lIns="49530" tIns="49530" rIns="49530" bIns="49530" numCol="1" spcCol="1270" anchor="ctr" anchorCtr="0">
                      <a:noAutofit/>
                    </a:bodyPr>
                    <a:lstStyle>
                      <a:defPPr>
                        <a:defRPr lang="en-US"/>
                      </a:defPPr>
                      <a:lvl1pPr marR="0" lvl="0" indent="0" algn="ctr" defTabSz="577850" fontAlgn="auto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 kumimoji="0" sz="13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</a:defRPr>
                      </a:lvl1pPr>
                    </a:lstStyle>
                    <a:p>
                      <a:endParaRPr lang="en-US" dirty="0"/>
                    </a:p>
                  </p:txBody>
                </p:sp>
              </p:grpSp>
            </p:grp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58BC723-221A-224A-4B2A-89A6FCB57747}"/>
                    </a:ext>
                  </a:extLst>
                </p:cNvPr>
                <p:cNvSpPr txBox="1"/>
                <p:nvPr/>
              </p:nvSpPr>
              <p:spPr>
                <a:xfrm>
                  <a:off x="3999296" y="5495641"/>
                  <a:ext cx="824313" cy="590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dirty="0">
                      <a:solidFill>
                        <a:schemeClr val="bg1"/>
                      </a:solidFill>
                    </a:rPr>
                    <a:t>Polish Step 1</a:t>
                  </a: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B1254FE-4529-596F-8244-FE9D1E24E984}"/>
                  </a:ext>
                </a:extLst>
              </p:cNvPr>
              <p:cNvSpPr txBox="1"/>
              <p:nvPr/>
            </p:nvSpPr>
            <p:spPr>
              <a:xfrm>
                <a:off x="6945247" y="4778251"/>
                <a:ext cx="1168041" cy="67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sz="1400"/>
                </a:lvl1pPr>
              </a:lstStyle>
              <a:p>
                <a:r>
                  <a:rPr lang="en-US" dirty="0"/>
                  <a:t>Depth Filter FT + Chase vessel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C281E3-11AC-85BC-1548-158F5DC22672}"/>
                  </a:ext>
                </a:extLst>
              </p:cNvPr>
              <p:cNvSpPr txBox="1"/>
              <p:nvPr/>
            </p:nvSpPr>
            <p:spPr>
              <a:xfrm>
                <a:off x="6971834" y="3115939"/>
                <a:ext cx="1278194" cy="59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b="1"/>
                </a:lvl1pPr>
              </a:lstStyle>
              <a:p>
                <a:r>
                  <a:rPr lang="en-US" dirty="0">
                    <a:solidFill>
                      <a:srgbClr val="00B050"/>
                    </a:solidFill>
                  </a:rPr>
                  <a:t>4 filters required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17C60B2-6B3C-D587-BEB1-E918533B4269}"/>
                  </a:ext>
                </a:extLst>
              </p:cNvPr>
              <p:cNvSpPr txBox="1"/>
              <p:nvPr/>
            </p:nvSpPr>
            <p:spPr>
              <a:xfrm>
                <a:off x="6971834" y="1176628"/>
                <a:ext cx="1130841" cy="867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sz="1400"/>
                </a:lvl1pPr>
              </a:lstStyle>
              <a:p>
                <a:r>
                  <a:rPr lang="en-US" dirty="0"/>
                  <a:t>Affinity Capture product vessel 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5132FA2-D412-DBDD-1E65-C01C21DDB04F}"/>
                  </a:ext>
                </a:extLst>
              </p:cNvPr>
              <p:cNvGrpSpPr/>
              <p:nvPr/>
            </p:nvGrpSpPr>
            <p:grpSpPr>
              <a:xfrm>
                <a:off x="8368112" y="2026619"/>
                <a:ext cx="1272534" cy="341632"/>
                <a:chOff x="2456715" y="1991166"/>
                <a:chExt cx="900019" cy="341632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E3A8616-F3C7-64B3-AC38-6F7B18163477}"/>
                    </a:ext>
                  </a:extLst>
                </p:cNvPr>
                <p:cNvSpPr txBox="1"/>
                <p:nvPr/>
              </p:nvSpPr>
              <p:spPr>
                <a:xfrm>
                  <a:off x="2646643" y="1991166"/>
                  <a:ext cx="623690" cy="3416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</a:lvl1pPr>
                </a:lstStyle>
                <a:p>
                  <a:r>
                    <a:rPr lang="en-US" dirty="0"/>
                    <a:t>Titrant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2EA22427-B634-3E4B-8ED7-682D30663C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6715" y="2332798"/>
                  <a:ext cx="900019" cy="0"/>
                </a:xfrm>
                <a:prstGeom prst="straightConnector1">
                  <a:avLst/>
                </a:prstGeom>
                <a:ln w="28575">
                  <a:solidFill>
                    <a:schemeClr val="accent4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60AC5D-CF63-B378-3ED5-51A4306E0F65}"/>
                </a:ext>
              </a:extLst>
            </p:cNvPr>
            <p:cNvSpPr txBox="1"/>
            <p:nvPr/>
          </p:nvSpPr>
          <p:spPr>
            <a:xfrm>
              <a:off x="8573828" y="3825278"/>
              <a:ext cx="1720629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b="1" dirty="0">
                  <a:solidFill>
                    <a:srgbClr val="00B050"/>
                  </a:solidFill>
                </a:rPr>
                <a:t> 7 L Hold-up volume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0E7ACF-C2CF-5E3B-04BF-D3741082691E}"/>
                </a:ext>
              </a:extLst>
            </p:cNvPr>
            <p:cNvSpPr txBox="1"/>
            <p:nvPr/>
          </p:nvSpPr>
          <p:spPr>
            <a:xfrm>
              <a:off x="8673899" y="3182219"/>
              <a:ext cx="171951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dirty="0"/>
                <a:t>Filter Sani Buffer(s)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564E6BA-1E06-4E11-4EA6-621633CC78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2473" y="4754304"/>
              <a:ext cx="856598" cy="77600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27C8DA2-405B-44D3-C2B7-519140123B1E}"/>
                </a:ext>
              </a:extLst>
            </p:cNvPr>
            <p:cNvSpPr txBox="1"/>
            <p:nvPr/>
          </p:nvSpPr>
          <p:spPr>
            <a:xfrm rot="18872875">
              <a:off x="8749753" y="4702979"/>
              <a:ext cx="171951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dirty="0"/>
                <a:t>Polish Buffer(s)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34601AA-A41D-1084-ABD2-4C1553CC9EE3}"/>
              </a:ext>
            </a:extLst>
          </p:cNvPr>
          <p:cNvSpPr txBox="1"/>
          <p:nvPr/>
        </p:nvSpPr>
        <p:spPr>
          <a:xfrm>
            <a:off x="4794193" y="1484868"/>
            <a:ext cx="1905543" cy="116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1600"/>
            </a:lvl1pPr>
          </a:lstStyle>
          <a:p>
            <a:pPr algn="ctr"/>
            <a:r>
              <a:rPr lang="en-US" sz="2400" b="1" dirty="0">
                <a:solidFill>
                  <a:srgbClr val="FF0000"/>
                </a:solidFill>
              </a:rPr>
              <a:t>Precipitate forms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300-500 NTU</a:t>
            </a:r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69DD9BA7-4E28-EF63-B1D2-F2AB28CE1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658" y="2635258"/>
            <a:ext cx="1120682" cy="188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DA18DC1-9D18-C853-9063-B8388E363178}"/>
              </a:ext>
            </a:extLst>
          </p:cNvPr>
          <p:cNvCxnSpPr/>
          <p:nvPr/>
        </p:nvCxnSpPr>
        <p:spPr>
          <a:xfrm>
            <a:off x="2526114" y="3022681"/>
            <a:ext cx="2713919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6470E40-DC05-5EF6-16ED-5C4E9FF1DCF4}"/>
              </a:ext>
            </a:extLst>
          </p:cNvPr>
          <p:cNvCxnSpPr/>
          <p:nvPr/>
        </p:nvCxnSpPr>
        <p:spPr>
          <a:xfrm flipH="1">
            <a:off x="6369340" y="3026980"/>
            <a:ext cx="1971774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7D8B182-C968-0BD0-81AA-ABA702167259}"/>
              </a:ext>
            </a:extLst>
          </p:cNvPr>
          <p:cNvCxnSpPr/>
          <p:nvPr/>
        </p:nvCxnSpPr>
        <p:spPr>
          <a:xfrm flipH="1">
            <a:off x="8399482" y="3182628"/>
            <a:ext cx="1571371" cy="0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C9BB0F32-5E29-3EAA-C5AE-3FAD7F27A6B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lang="en-US" sz="1600" b="1" dirty="0"/>
              <a:t>Slide courtesy of David Sherr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72E13D6-B3D5-1868-8EBF-1F4716D1718D}"/>
              </a:ext>
            </a:extLst>
          </p:cNvPr>
          <p:cNvSpPr/>
          <p:nvPr/>
        </p:nvSpPr>
        <p:spPr>
          <a:xfrm>
            <a:off x="6648957" y="1094981"/>
            <a:ext cx="4887561" cy="576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856628D-C032-B0AB-A064-2C4D2485109C}"/>
              </a:ext>
            </a:extLst>
          </p:cNvPr>
          <p:cNvSpPr/>
          <p:nvPr/>
        </p:nvSpPr>
        <p:spPr>
          <a:xfrm>
            <a:off x="6369340" y="2734564"/>
            <a:ext cx="858651" cy="125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901580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F9D18-C657-57AB-B835-3E246E1D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8AF64EB6-0253-496A-7FAD-54F60243E5E0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lang="en-US" sz="1600" b="1" dirty="0"/>
              <a:t>Slide courtesy of David Sherr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45B25-A436-29C3-F8C1-79B99FBA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44085"/>
            <a:ext cx="487680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04929-9430-901B-559F-BE107E3010F7}"/>
              </a:ext>
            </a:extLst>
          </p:cNvPr>
          <p:cNvSpPr txBox="1"/>
          <p:nvPr/>
        </p:nvSpPr>
        <p:spPr>
          <a:xfrm>
            <a:off x="1164837" y="1094980"/>
            <a:ext cx="30433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400" u="sng"/>
            </a:lvl1pPr>
          </a:lstStyle>
          <a:p>
            <a:r>
              <a:rPr lang="en-US" dirty="0"/>
              <a:t>Single Pass Operation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DB307-66FC-23E3-18D0-5267192BECF3}"/>
              </a:ext>
            </a:extLst>
          </p:cNvPr>
          <p:cNvSpPr txBox="1"/>
          <p:nvPr/>
        </p:nvSpPr>
        <p:spPr>
          <a:xfrm>
            <a:off x="6950046" y="1105295"/>
            <a:ext cx="35673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400" u="sng"/>
            </a:lvl1pPr>
          </a:lstStyle>
          <a:p>
            <a:r>
              <a:rPr lang="en-US" dirty="0"/>
              <a:t>Cycling Operation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BE29C39-314E-2091-C4B5-BEBCB01EB794}"/>
              </a:ext>
            </a:extLst>
          </p:cNvPr>
          <p:cNvGrpSpPr/>
          <p:nvPr/>
        </p:nvGrpSpPr>
        <p:grpSpPr>
          <a:xfrm>
            <a:off x="438443" y="1624191"/>
            <a:ext cx="4679777" cy="5205649"/>
            <a:chOff x="438443" y="1624191"/>
            <a:chExt cx="4679777" cy="52056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F3C43AD-EF62-9714-6AC2-DD234BDFB8FE}"/>
                </a:ext>
              </a:extLst>
            </p:cNvPr>
            <p:cNvGrpSpPr/>
            <p:nvPr/>
          </p:nvGrpSpPr>
          <p:grpSpPr>
            <a:xfrm>
              <a:off x="438443" y="1624191"/>
              <a:ext cx="4173289" cy="5205649"/>
              <a:chOff x="438443" y="1624191"/>
              <a:chExt cx="4173289" cy="5205649"/>
            </a:xfrm>
          </p:grpSpPr>
          <p:cxnSp>
            <p:nvCxnSpPr>
              <p:cNvPr id="5" name="Connector: Elbow 4">
                <a:extLst>
                  <a:ext uri="{FF2B5EF4-FFF2-40B4-BE49-F238E27FC236}">
                    <a16:creationId xmlns:a16="http://schemas.microsoft.com/office/drawing/2014/main" id="{5E2C20BA-F35B-D4B3-6641-95FC3706F05B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rot="5400000">
                <a:off x="2791263" y="4779477"/>
                <a:ext cx="269802" cy="800099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CE4C540-EC4A-F9A9-D392-419DE4D8BCA8}"/>
                  </a:ext>
                </a:extLst>
              </p:cNvPr>
              <p:cNvGrpSpPr/>
              <p:nvPr/>
            </p:nvGrpSpPr>
            <p:grpSpPr>
              <a:xfrm>
                <a:off x="438443" y="1624191"/>
                <a:ext cx="4173289" cy="5205649"/>
                <a:chOff x="357785" y="1316039"/>
                <a:chExt cx="4173289" cy="5205649"/>
              </a:xfrm>
            </p:grpSpPr>
            <p:cxnSp>
              <p:nvCxnSpPr>
                <p:cNvPr id="7" name="Connector: Elbow 6">
                  <a:extLst>
                    <a:ext uri="{FF2B5EF4-FFF2-40B4-BE49-F238E27FC236}">
                      <a16:creationId xmlns:a16="http://schemas.microsoft.com/office/drawing/2014/main" id="{8B21125F-C2B1-C26F-982B-B5498B60865E}"/>
                    </a:ext>
                  </a:extLst>
                </p:cNvPr>
                <p:cNvCxnSpPr>
                  <a:cxnSpLocks/>
                  <a:stCxn id="9" idx="2"/>
                  <a:endCxn id="31" idx="1"/>
                </p:cNvCxnSpPr>
                <p:nvPr/>
              </p:nvCxnSpPr>
              <p:spPr>
                <a:xfrm rot="16200000" flipH="1">
                  <a:off x="2541474" y="4631605"/>
                  <a:ext cx="814052" cy="1023787"/>
                </a:xfrm>
                <a:prstGeom prst="bentConnector2">
                  <a:avLst/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CD9F8403-1836-23A6-D056-9A54C387B616}"/>
                    </a:ext>
                  </a:extLst>
                </p:cNvPr>
                <p:cNvSpPr/>
                <p:nvPr/>
              </p:nvSpPr>
              <p:spPr>
                <a:xfrm>
                  <a:off x="3047478" y="3366279"/>
                  <a:ext cx="396153" cy="1370194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B6A55770-00B2-94CA-ADE9-2C7012D55F36}"/>
                    </a:ext>
                  </a:extLst>
                </p:cNvPr>
                <p:cNvSpPr/>
                <p:nvPr/>
              </p:nvSpPr>
              <p:spPr>
                <a:xfrm>
                  <a:off x="2238530" y="3366279"/>
                  <a:ext cx="396153" cy="13701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B575A704-BDC1-92AA-A5C2-A96605AE92EB}"/>
                    </a:ext>
                  </a:extLst>
                </p:cNvPr>
                <p:cNvSpPr/>
                <p:nvPr/>
              </p:nvSpPr>
              <p:spPr>
                <a:xfrm>
                  <a:off x="1437903" y="3375604"/>
                  <a:ext cx="396153" cy="1360869"/>
                </a:xfrm>
                <a:prstGeom prst="round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dirty="0" err="1"/>
                </a:p>
              </p:txBody>
            </p:sp>
            <p:cxnSp>
              <p:nvCxnSpPr>
                <p:cNvPr id="11" name="Connector: Elbow 10">
                  <a:extLst>
                    <a:ext uri="{FF2B5EF4-FFF2-40B4-BE49-F238E27FC236}">
                      <a16:creationId xmlns:a16="http://schemas.microsoft.com/office/drawing/2014/main" id="{01574DA2-F1AE-CEC2-5DEA-C40D1AB867ED}"/>
                    </a:ext>
                  </a:extLst>
                </p:cNvPr>
                <p:cNvCxnSpPr>
                  <a:cxnSpLocks/>
                  <a:stCxn id="12" idx="3"/>
                  <a:endCxn id="9" idx="0"/>
                </p:cNvCxnSpPr>
                <p:nvPr/>
              </p:nvCxnSpPr>
              <p:spPr>
                <a:xfrm rot="16200000" flipH="1">
                  <a:off x="1886513" y="2816185"/>
                  <a:ext cx="1100186" cy="1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Flowchart: Magnetic Disk 11">
                  <a:extLst>
                    <a:ext uri="{FF2B5EF4-FFF2-40B4-BE49-F238E27FC236}">
                      <a16:creationId xmlns:a16="http://schemas.microsoft.com/office/drawing/2014/main" id="{FEE4C8DF-7579-6440-E095-1A01E14F43EB}"/>
                    </a:ext>
                  </a:extLst>
                </p:cNvPr>
                <p:cNvSpPr/>
                <p:nvPr/>
              </p:nvSpPr>
              <p:spPr>
                <a:xfrm>
                  <a:off x="2184936" y="1316039"/>
                  <a:ext cx="503340" cy="950054"/>
                </a:xfrm>
                <a:prstGeom prst="flowChartMagneticDisk">
                  <a:avLst/>
                </a:prstGeom>
                <a:solidFill>
                  <a:schemeClr val="bg2"/>
                </a:solidFill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en-US" err="1">
                    <a:solidFill>
                      <a:srgbClr val="FFFFFF"/>
                    </a:solidFill>
                    <a:latin typeface="Calibri"/>
                  </a:endParaRPr>
                </a:p>
              </p:txBody>
            </p:sp>
            <p:cxnSp>
              <p:nvCxnSpPr>
                <p:cNvPr id="13" name="Connector: Elbow 12">
                  <a:extLst>
                    <a:ext uri="{FF2B5EF4-FFF2-40B4-BE49-F238E27FC236}">
                      <a16:creationId xmlns:a16="http://schemas.microsoft.com/office/drawing/2014/main" id="{B9A86F38-0731-67F2-6DB6-905A0D8550B6}"/>
                    </a:ext>
                  </a:extLst>
                </p:cNvPr>
                <p:cNvCxnSpPr>
                  <a:cxnSpLocks/>
                  <a:stCxn id="12" idx="3"/>
                  <a:endCxn id="8" idx="0"/>
                </p:cNvCxnSpPr>
                <p:nvPr/>
              </p:nvCxnSpPr>
              <p:spPr>
                <a:xfrm rot="16200000" flipH="1">
                  <a:off x="2290987" y="2411711"/>
                  <a:ext cx="1100186" cy="808949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Connector: Elbow 13">
                  <a:extLst>
                    <a:ext uri="{FF2B5EF4-FFF2-40B4-BE49-F238E27FC236}">
                      <a16:creationId xmlns:a16="http://schemas.microsoft.com/office/drawing/2014/main" id="{371F2B9F-261C-0359-9534-7136768DABFE}"/>
                    </a:ext>
                  </a:extLst>
                </p:cNvPr>
                <p:cNvCxnSpPr>
                  <a:cxnSpLocks/>
                  <a:stCxn id="12" idx="3"/>
                  <a:endCxn id="10" idx="0"/>
                </p:cNvCxnSpPr>
                <p:nvPr/>
              </p:nvCxnSpPr>
              <p:spPr>
                <a:xfrm rot="5400000">
                  <a:off x="1481538" y="2420535"/>
                  <a:ext cx="1109511" cy="800626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65696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7A9C732-DD48-1C66-9F52-9E4FAE139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277" y="5321288"/>
                  <a:ext cx="1934179" cy="0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Connector: Elbow 15">
                  <a:extLst>
                    <a:ext uri="{FF2B5EF4-FFF2-40B4-BE49-F238E27FC236}">
                      <a16:creationId xmlns:a16="http://schemas.microsoft.com/office/drawing/2014/main" id="{1654ED16-D9D0-266C-4F60-90488491F05E}"/>
                    </a:ext>
                  </a:extLst>
                </p:cNvPr>
                <p:cNvCxnSpPr>
                  <a:stCxn id="10" idx="2"/>
                </p:cNvCxnSpPr>
                <p:nvPr/>
              </p:nvCxnSpPr>
              <p:spPr>
                <a:xfrm rot="16200000" flipH="1">
                  <a:off x="1905818" y="4466635"/>
                  <a:ext cx="269800" cy="809476"/>
                </a:xfrm>
                <a:prstGeom prst="bentConnector2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6A3F2D5F-7DDE-FC44-AF85-D4AAB7642321}"/>
                    </a:ext>
                  </a:extLst>
                </p:cNvPr>
                <p:cNvGrpSpPr/>
                <p:nvPr/>
              </p:nvGrpSpPr>
              <p:grpSpPr>
                <a:xfrm>
                  <a:off x="3443631" y="4736473"/>
                  <a:ext cx="1087443" cy="1785215"/>
                  <a:chOff x="3443631" y="4736473"/>
                  <a:chExt cx="1087443" cy="1785215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142A91A7-D4FC-3D40-60A7-D6CF536725B1}"/>
                      </a:ext>
                    </a:extLst>
                  </p:cNvPr>
                  <p:cNvGrpSpPr/>
                  <p:nvPr/>
                </p:nvGrpSpPr>
                <p:grpSpPr>
                  <a:xfrm>
                    <a:off x="3443631" y="4736473"/>
                    <a:ext cx="1087443" cy="1785215"/>
                    <a:chOff x="3443631" y="4736473"/>
                    <a:chExt cx="1087443" cy="1785215"/>
                  </a:xfrm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29247516-E031-63B9-5BB3-0EE207C7D4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43631" y="4736473"/>
                      <a:ext cx="953856" cy="1628103"/>
                      <a:chOff x="2181" y="1068509"/>
                      <a:chExt cx="953856" cy="572314"/>
                    </a:xfrm>
                  </p:grpSpPr>
                  <p:sp>
                    <p:nvSpPr>
                      <p:cNvPr id="30" name="Rectangle: Rounded Corners 29">
                        <a:extLst>
                          <a:ext uri="{FF2B5EF4-FFF2-40B4-BE49-F238E27FC236}">
                            <a16:creationId xmlns:a16="http://schemas.microsoft.com/office/drawing/2014/main" id="{13162F4C-A9E4-1C59-9C87-AB76759FA5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81" y="1068509"/>
                        <a:ext cx="953856" cy="572314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6688A3"/>
                      </a:solidFill>
                      <a:ln w="28575" cap="flat" cmpd="sng" algn="ctr">
                        <a:solidFill>
                          <a:schemeClr val="tx1">
                            <a:alpha val="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</p:spPr>
                    <p:style>
                      <a:lnRef idx="2">
                        <a:scrgbClr r="0" g="0" b="0"/>
                      </a:lnRef>
                      <a:fillRef idx="1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fillRef>
                      <a:effectRef idx="0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endParaRPr lang="en-US">
                          <a:solidFill>
                            <a:srgbClr val="FFFFFF"/>
                          </a:solidFill>
                          <a:latin typeface="Calibri"/>
                        </a:endParaRPr>
                      </a:p>
                    </p:txBody>
                  </p:sp>
                  <p:sp>
                    <p:nvSpPr>
                      <p:cNvPr id="31" name="Rectangle: Rounded Corners 4">
                        <a:extLst>
                          <a:ext uri="{FF2B5EF4-FFF2-40B4-BE49-F238E27FC236}">
                            <a16:creationId xmlns:a16="http://schemas.microsoft.com/office/drawing/2014/main" id="{CA947DF0-21F1-8954-9251-42108BCF9F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44" y="1085272"/>
                        <a:ext cx="920330" cy="538788"/>
                      </a:xfrm>
                      <a:prstGeom prst="rect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spcFirstLastPara="0" vert="horz" wrap="square" lIns="49530" tIns="49530" rIns="49530" bIns="49530" numCol="1" spcCol="1270" anchor="ctr" anchorCtr="0">
                        <a:noAutofit/>
                      </a:bodyPr>
                      <a:lstStyle>
                        <a:defPPr>
                          <a:defRPr lang="en-US"/>
                        </a:defPPr>
                        <a:lvl1pPr marR="0" lvl="0" indent="0" algn="ctr" defTabSz="577850" fontAlgn="auto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35000"/>
                          </a:spcAft>
                          <a:buClrTx/>
                          <a:buSzTx/>
                          <a:buFontTx/>
                          <a:buNone/>
                          <a:tabLst/>
                          <a:defRPr kumimoji="0" sz="1300" b="0" i="0" u="none" strike="noStrike" cap="none" spc="0" normalizeH="0" baseline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libri"/>
                          </a:defRPr>
                        </a:lvl1pPr>
                      </a:lstStyle>
                      <a:p>
                        <a:endParaRPr lang="en-US" dirty="0"/>
                      </a:p>
                    </p:txBody>
                  </p:sp>
                </p:grp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F2381A30-2D17-176C-9E53-01A7E2D354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77218" y="4893585"/>
                      <a:ext cx="953856" cy="1628103"/>
                      <a:chOff x="2181" y="1068509"/>
                      <a:chExt cx="953856" cy="572314"/>
                    </a:xfrm>
                  </p:grpSpPr>
                  <p:sp>
                    <p:nvSpPr>
                      <p:cNvPr id="28" name="Rectangle: Rounded Corners 27">
                        <a:extLst>
                          <a:ext uri="{FF2B5EF4-FFF2-40B4-BE49-F238E27FC236}">
                            <a16:creationId xmlns:a16="http://schemas.microsoft.com/office/drawing/2014/main" id="{808B0AF1-AF61-80E3-1E38-983297D6FD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81" y="1068509"/>
                        <a:ext cx="953856" cy="572314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6688A3"/>
                      </a:solidFill>
                      <a:ln w="28575" cap="flat" cmpd="sng" algn="ctr">
                        <a:solidFill>
                          <a:schemeClr val="tx1">
                            <a:alpha val="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</p:spPr>
                    <p:style>
                      <a:lnRef idx="2">
                        <a:scrgbClr r="0" g="0" b="0"/>
                      </a:lnRef>
                      <a:fillRef idx="1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fillRef>
                      <a:effectRef idx="0">
                        <a:schemeClr val="accent1">
                          <a:hueOff val="0"/>
                          <a:satOff val="0"/>
                          <a:lumOff val="0"/>
                          <a:alphaOff val="0"/>
                        </a:schemeClr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endParaRPr lang="en-US">
                          <a:solidFill>
                            <a:srgbClr val="FFFFFF"/>
                          </a:solidFill>
                          <a:latin typeface="Calibri"/>
                        </a:endParaRPr>
                      </a:p>
                    </p:txBody>
                  </p:sp>
                  <p:sp>
                    <p:nvSpPr>
                      <p:cNvPr id="29" name="Rectangle: Rounded Corners 4">
                        <a:extLst>
                          <a:ext uri="{FF2B5EF4-FFF2-40B4-BE49-F238E27FC236}">
                            <a16:creationId xmlns:a16="http://schemas.microsoft.com/office/drawing/2014/main" id="{C269C141-A152-8F6F-AC81-289CB3F192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44" y="1085272"/>
                        <a:ext cx="920330" cy="538788"/>
                      </a:xfrm>
                      <a:prstGeom prst="rect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spcFirstLastPara="0" vert="horz" wrap="square" lIns="49530" tIns="49530" rIns="49530" bIns="49530" numCol="1" spcCol="1270" anchor="ctr" anchorCtr="0">
                        <a:noAutofit/>
                      </a:bodyPr>
                      <a:lstStyle>
                        <a:defPPr>
                          <a:defRPr lang="en-US"/>
                        </a:defPPr>
                        <a:lvl1pPr marR="0" lvl="0" indent="0" algn="ctr" defTabSz="577850" fontAlgn="auto">
                          <a:lnSpc>
                            <a:spcPct val="90000"/>
                          </a:lnSpc>
                          <a:spcBef>
                            <a:spcPct val="0"/>
                          </a:spcBef>
                          <a:spcAft>
                            <a:spcPct val="35000"/>
                          </a:spcAft>
                          <a:buClrTx/>
                          <a:buSzTx/>
                          <a:buFontTx/>
                          <a:buNone/>
                          <a:tabLst/>
                          <a:defRPr kumimoji="0" sz="1300" b="0" i="0" u="none" strike="noStrike" cap="none" spc="0" normalizeH="0" baseline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libri"/>
                          </a:defRPr>
                        </a:lvl1pPr>
                      </a:lstStyle>
                      <a:p>
                        <a:endParaRPr lang="en-US" dirty="0"/>
                      </a:p>
                    </p:txBody>
                  </p:sp>
                </p:grp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0C71982-E48E-0481-AE7D-74548161BAC3}"/>
                      </a:ext>
                    </a:extLst>
                  </p:cNvPr>
                  <p:cNvSpPr txBox="1"/>
                  <p:nvPr/>
                </p:nvSpPr>
                <p:spPr>
                  <a:xfrm>
                    <a:off x="3669190" y="5294194"/>
                    <a:ext cx="824313" cy="5909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90000"/>
                      </a:lnSpc>
                      <a:spcAft>
                        <a:spcPts val="600"/>
                      </a:spcAft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Polish Step 1</a:t>
                    </a:r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8E46E87-2089-52F1-0996-3409DA4C8B32}"/>
                    </a:ext>
                  </a:extLst>
                </p:cNvPr>
                <p:cNvSpPr txBox="1"/>
                <p:nvPr/>
              </p:nvSpPr>
              <p:spPr>
                <a:xfrm>
                  <a:off x="1147317" y="1328353"/>
                  <a:ext cx="1037619" cy="8679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sz="1400"/>
                  </a:lvl1pPr>
                </a:lstStyle>
                <a:p>
                  <a:r>
                    <a:rPr lang="en-US" dirty="0"/>
                    <a:t>Affinity Capture product vessel 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49243A4-266C-623C-4395-3C5CC3AFC867}"/>
                    </a:ext>
                  </a:extLst>
                </p:cNvPr>
                <p:cNvSpPr txBox="1"/>
                <p:nvPr/>
              </p:nvSpPr>
              <p:spPr>
                <a:xfrm>
                  <a:off x="357785" y="3643354"/>
                  <a:ext cx="1278194" cy="590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b="1"/>
                  </a:lvl1pPr>
                </a:lstStyle>
                <a:p>
                  <a:r>
                    <a:rPr lang="en-US" dirty="0">
                      <a:solidFill>
                        <a:srgbClr val="FF0000"/>
                      </a:solidFill>
                    </a:rPr>
                    <a:t>22 filters required</a:t>
                  </a:r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58FE0CD-9831-E56C-59CB-D618E57DC2A2}"/>
                    </a:ext>
                  </a:extLst>
                </p:cNvPr>
                <p:cNvGrpSpPr/>
                <p:nvPr/>
              </p:nvGrpSpPr>
              <p:grpSpPr>
                <a:xfrm>
                  <a:off x="2480219" y="2250451"/>
                  <a:ext cx="2019964" cy="341632"/>
                  <a:chOff x="2480219" y="2250451"/>
                  <a:chExt cx="2019964" cy="341632"/>
                </a:xfrm>
              </p:grpSpPr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FBBDB62-A3B1-672E-21B7-4D2020A946CA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671" y="2250451"/>
                    <a:ext cx="1719512" cy="3416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90000"/>
                      </a:lnSpc>
                      <a:spcAft>
                        <a:spcPts val="600"/>
                      </a:spcAft>
                    </a:lvl1pPr>
                  </a:lstStyle>
                  <a:p>
                    <a:r>
                      <a:rPr lang="en-US" dirty="0"/>
                      <a:t>Titrant</a:t>
                    </a:r>
                  </a:p>
                </p:txBody>
              </p: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6C2A90B2-6370-91BE-26CA-FF13972663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80219" y="2577951"/>
                    <a:ext cx="1160208" cy="0"/>
                  </a:xfrm>
                  <a:prstGeom prst="straightConnector1">
                    <a:avLst/>
                  </a:prstGeom>
                  <a:ln w="28575">
                    <a:solidFill>
                      <a:schemeClr val="accent4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BDB858A-6DAF-F8C6-049E-47A632AEDB41}"/>
                    </a:ext>
                  </a:extLst>
                </p:cNvPr>
                <p:cNvSpPr txBox="1"/>
                <p:nvPr/>
              </p:nvSpPr>
              <p:spPr>
                <a:xfrm>
                  <a:off x="465424" y="5054641"/>
                  <a:ext cx="1719512" cy="2862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 sz="1400"/>
                  </a:lvl1pPr>
                </a:lstStyle>
                <a:p>
                  <a:r>
                    <a:rPr lang="en-US" dirty="0"/>
                    <a:t>Polish Buffer(s)</a:t>
                  </a:r>
                </a:p>
              </p:txBody>
            </p: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AF27D69-8A04-7D75-556A-855C907CBE97}"/>
                </a:ext>
              </a:extLst>
            </p:cNvPr>
            <p:cNvSpPr txBox="1"/>
            <p:nvPr/>
          </p:nvSpPr>
          <p:spPr>
            <a:xfrm>
              <a:off x="3615111" y="3989929"/>
              <a:ext cx="150310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b="1" dirty="0">
                  <a:solidFill>
                    <a:srgbClr val="FF0000"/>
                  </a:solidFill>
                </a:rPr>
                <a:t>Cumulative 75 L Hold-up volume</a:t>
              </a:r>
            </a:p>
          </p:txBody>
        </p:sp>
      </p:grpSp>
      <p:sp>
        <p:nvSpPr>
          <p:cNvPr id="58" name="Title 4">
            <a:extLst>
              <a:ext uri="{FF2B5EF4-FFF2-40B4-BE49-F238E27FC236}">
                <a16:creationId xmlns:a16="http://schemas.microsoft.com/office/drawing/2014/main" id="{1B12B332-A22F-0BA2-5E11-B730B99304F0}"/>
              </a:ext>
            </a:extLst>
          </p:cNvPr>
          <p:cNvSpPr txBox="1">
            <a:spLocks/>
          </p:cNvSpPr>
          <p:nvPr/>
        </p:nvSpPr>
        <p:spPr>
          <a:xfrm>
            <a:off x="465395" y="206521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Mitigation: Continuous </a:t>
            </a:r>
            <a:r>
              <a:rPr lang="en-US" sz="3200"/>
              <a:t>depth filter cycling reduces</a:t>
            </a:r>
            <a:r>
              <a:rPr lang="en-US" sz="3200" dirty="0"/>
              <a:t> filter demand/hold-up volume and allows for bioburden control 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FC2BB4A-35C9-CC72-25B0-14D62A194C1E}"/>
              </a:ext>
            </a:extLst>
          </p:cNvPr>
          <p:cNvGrpSpPr/>
          <p:nvPr/>
        </p:nvGrpSpPr>
        <p:grpSpPr>
          <a:xfrm>
            <a:off x="6960418" y="1672672"/>
            <a:ext cx="4345706" cy="5080977"/>
            <a:chOff x="6960418" y="1672672"/>
            <a:chExt cx="4345706" cy="508097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2C99916-591A-8A6E-9F56-AEB359E136FE}"/>
                </a:ext>
              </a:extLst>
            </p:cNvPr>
            <p:cNvGrpSpPr/>
            <p:nvPr/>
          </p:nvGrpSpPr>
          <p:grpSpPr>
            <a:xfrm>
              <a:off x="6960418" y="1672672"/>
              <a:ext cx="4345706" cy="5080977"/>
              <a:chOff x="6945247" y="1160816"/>
              <a:chExt cx="4345706" cy="5080977"/>
            </a:xfrm>
          </p:grpSpPr>
          <p:sp>
            <p:nvSpPr>
              <p:cNvPr id="33" name="Flowchart: Magnetic Disk 32">
                <a:extLst>
                  <a:ext uri="{FF2B5EF4-FFF2-40B4-BE49-F238E27FC236}">
                    <a16:creationId xmlns:a16="http://schemas.microsoft.com/office/drawing/2014/main" id="{537235C7-B3EF-B37B-1C77-C3EDFF89D12F}"/>
                  </a:ext>
                </a:extLst>
              </p:cNvPr>
              <p:cNvSpPr/>
              <p:nvPr/>
            </p:nvSpPr>
            <p:spPr>
              <a:xfrm>
                <a:off x="8079373" y="1160816"/>
                <a:ext cx="503340" cy="950054"/>
              </a:xfrm>
              <a:prstGeom prst="flowChartMagneticDisk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dirty="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CD15AB0-CCD0-07E3-93E5-6F019B94C361}"/>
                  </a:ext>
                </a:extLst>
              </p:cNvPr>
              <p:cNvSpPr/>
              <p:nvPr/>
            </p:nvSpPr>
            <p:spPr>
              <a:xfrm>
                <a:off x="8132967" y="3073573"/>
                <a:ext cx="396153" cy="912026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dirty="0" err="1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2EA6C09-3E4C-1869-6DAE-529A277B76E5}"/>
                  </a:ext>
                </a:extLst>
              </p:cNvPr>
              <p:cNvCxnSpPr>
                <a:cxnSpLocks/>
                <a:stCxn id="33" idx="3"/>
                <a:endCxn id="34" idx="0"/>
              </p:cNvCxnSpPr>
              <p:nvPr/>
            </p:nvCxnSpPr>
            <p:spPr>
              <a:xfrm>
                <a:off x="8331043" y="2110870"/>
                <a:ext cx="1" cy="96270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02DAB7D-0898-13B7-DB85-D51556716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6581" y="3989951"/>
                <a:ext cx="0" cy="6019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Flowchart: Magnetic Disk 36">
                <a:extLst>
                  <a:ext uri="{FF2B5EF4-FFF2-40B4-BE49-F238E27FC236}">
                    <a16:creationId xmlns:a16="http://schemas.microsoft.com/office/drawing/2014/main" id="{E2C5A413-DE17-14D1-FE0A-11062CAB5818}"/>
                  </a:ext>
                </a:extLst>
              </p:cNvPr>
              <p:cNvSpPr/>
              <p:nvPr/>
            </p:nvSpPr>
            <p:spPr>
              <a:xfrm>
                <a:off x="8116442" y="4591908"/>
                <a:ext cx="503340" cy="950054"/>
              </a:xfrm>
              <a:prstGeom prst="flowChartMagneticDisk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E644E0A-19A9-46D2-1543-9859A9344E2F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8619782" y="5066935"/>
                <a:ext cx="139449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284277D-77E2-95DB-A971-191008094421}"/>
                  </a:ext>
                </a:extLst>
              </p:cNvPr>
              <p:cNvGrpSpPr/>
              <p:nvPr/>
            </p:nvGrpSpPr>
            <p:grpSpPr>
              <a:xfrm>
                <a:off x="10100001" y="4478318"/>
                <a:ext cx="1190952" cy="1763475"/>
                <a:chOff x="3655571" y="4930310"/>
                <a:chExt cx="1190952" cy="1763475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56F63A07-7A1A-BAED-C869-CC5AFA5129B1}"/>
                    </a:ext>
                  </a:extLst>
                </p:cNvPr>
                <p:cNvGrpSpPr/>
                <p:nvPr/>
              </p:nvGrpSpPr>
              <p:grpSpPr>
                <a:xfrm>
                  <a:off x="3655571" y="4930310"/>
                  <a:ext cx="1190952" cy="1763475"/>
                  <a:chOff x="3655571" y="4930310"/>
                  <a:chExt cx="1190952" cy="1763475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9C8CCD16-6091-F2BB-AE14-FFA78953D248}"/>
                      </a:ext>
                    </a:extLst>
                  </p:cNvPr>
                  <p:cNvGrpSpPr/>
                  <p:nvPr/>
                </p:nvGrpSpPr>
                <p:grpSpPr>
                  <a:xfrm>
                    <a:off x="3655571" y="4930310"/>
                    <a:ext cx="953856" cy="1628103"/>
                    <a:chOff x="214121" y="1136647"/>
                    <a:chExt cx="953856" cy="572314"/>
                  </a:xfrm>
                </p:grpSpPr>
                <p:sp>
                  <p:nvSpPr>
                    <p:cNvPr id="52" name="Rectangle: Rounded Corners 51">
                      <a:extLst>
                        <a:ext uri="{FF2B5EF4-FFF2-40B4-BE49-F238E27FC236}">
                          <a16:creationId xmlns:a16="http://schemas.microsoft.com/office/drawing/2014/main" id="{4868A179-0191-0593-FC71-096620A2EA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4121" y="1136647"/>
                      <a:ext cx="953856" cy="572314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rgbClr val="6688A3"/>
                    </a:solidFill>
                    <a:ln w="28575" cap="flat" cmpd="sng" algn="ctr">
                      <a:solidFill>
                        <a:schemeClr val="tx1">
                          <a:alpha val="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rgbClr r="0" g="0" b="0"/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US">
                        <a:solidFill>
                          <a:srgbClr val="FFFFFF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53" name="Rectangle: Rounded Corners 4">
                      <a:extLst>
                        <a:ext uri="{FF2B5EF4-FFF2-40B4-BE49-F238E27FC236}">
                          <a16:creationId xmlns:a16="http://schemas.microsoft.com/office/drawing/2014/main" id="{042B0909-332A-FE2F-6328-381B13A26E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121" y="1152341"/>
                      <a:ext cx="920330" cy="538788"/>
                    </a:xfrm>
                    <a:prstGeom prst="rect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spcFirstLastPara="0" vert="horz" wrap="square" lIns="49530" tIns="49530" rIns="49530" bIns="49530" numCol="1" spcCol="1270" anchor="ctr" anchorCtr="0">
                      <a:noAutofit/>
                    </a:bodyPr>
                    <a:lstStyle>
                      <a:defPPr>
                        <a:defRPr lang="en-US"/>
                      </a:defPPr>
                      <a:lvl1pPr marR="0" lvl="0" indent="0" algn="ctr" defTabSz="577850" fontAlgn="auto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 kumimoji="0" sz="13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</a:defRPr>
                      </a:lvl1pPr>
                    </a:lstStyle>
                    <a:p>
                      <a:endParaRPr lang="en-US" dirty="0"/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9C3881DE-D5AD-9737-5416-166C18DA12D5}"/>
                      </a:ext>
                    </a:extLst>
                  </p:cNvPr>
                  <p:cNvGrpSpPr/>
                  <p:nvPr/>
                </p:nvGrpSpPr>
                <p:grpSpPr>
                  <a:xfrm>
                    <a:off x="3882631" y="5065682"/>
                    <a:ext cx="963892" cy="1628103"/>
                    <a:chOff x="307594" y="1129005"/>
                    <a:chExt cx="963892" cy="572314"/>
                  </a:xfrm>
                </p:grpSpPr>
                <p:sp>
                  <p:nvSpPr>
                    <p:cNvPr id="50" name="Rectangle: Rounded Corners 49">
                      <a:extLst>
                        <a:ext uri="{FF2B5EF4-FFF2-40B4-BE49-F238E27FC236}">
                          <a16:creationId xmlns:a16="http://schemas.microsoft.com/office/drawing/2014/main" id="{4937119C-7C63-03BE-4DFF-ECD5509A52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630" y="1129005"/>
                      <a:ext cx="953856" cy="572314"/>
                    </a:xfrm>
                    <a:prstGeom prst="roundRect">
                      <a:avLst>
                        <a:gd name="adj" fmla="val 10000"/>
                      </a:avLst>
                    </a:prstGeom>
                    <a:solidFill>
                      <a:srgbClr val="6688A3"/>
                    </a:solidFill>
                    <a:ln w="28575" cap="flat" cmpd="sng" algn="ctr">
                      <a:solidFill>
                        <a:schemeClr val="tx1">
                          <a:alpha val="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rgbClr r="0" g="0" b="0"/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US">
                        <a:solidFill>
                          <a:srgbClr val="FFFFFF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51" name="Rectangle: Rounded Corners 4">
                      <a:extLst>
                        <a:ext uri="{FF2B5EF4-FFF2-40B4-BE49-F238E27FC236}">
                          <a16:creationId xmlns:a16="http://schemas.microsoft.com/office/drawing/2014/main" id="{5ACFE03F-0B3C-EA95-6967-635958385E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594" y="1148513"/>
                      <a:ext cx="920330" cy="538788"/>
                    </a:xfrm>
                    <a:prstGeom prst="rect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spcFirstLastPara="0" vert="horz" wrap="square" lIns="49530" tIns="49530" rIns="49530" bIns="49530" numCol="1" spcCol="1270" anchor="ctr" anchorCtr="0">
                      <a:noAutofit/>
                    </a:bodyPr>
                    <a:lstStyle>
                      <a:defPPr>
                        <a:defRPr lang="en-US"/>
                      </a:defPPr>
                      <a:lvl1pPr marR="0" lvl="0" indent="0" algn="ctr" defTabSz="577850" fontAlgn="auto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 kumimoji="0" sz="1300" b="0" i="0" u="none" strike="noStrike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</a:defRPr>
                      </a:lvl1pPr>
                    </a:lstStyle>
                    <a:p>
                      <a:endParaRPr lang="en-US" dirty="0"/>
                    </a:p>
                  </p:txBody>
                </p:sp>
              </p:grpSp>
            </p:grp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6FC417-4F89-095A-A2A3-23689FC21005}"/>
                    </a:ext>
                  </a:extLst>
                </p:cNvPr>
                <p:cNvSpPr txBox="1"/>
                <p:nvPr/>
              </p:nvSpPr>
              <p:spPr>
                <a:xfrm>
                  <a:off x="3999296" y="5495641"/>
                  <a:ext cx="824313" cy="590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dirty="0">
                      <a:solidFill>
                        <a:schemeClr val="bg1"/>
                      </a:solidFill>
                    </a:rPr>
                    <a:t>Polish Step 1</a:t>
                  </a: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1954A44-1DE0-CB43-AC2B-A7F2CDE6CF5D}"/>
                  </a:ext>
                </a:extLst>
              </p:cNvPr>
              <p:cNvSpPr txBox="1"/>
              <p:nvPr/>
            </p:nvSpPr>
            <p:spPr>
              <a:xfrm>
                <a:off x="6945247" y="4778251"/>
                <a:ext cx="1168041" cy="67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sz="1400"/>
                </a:lvl1pPr>
              </a:lstStyle>
              <a:p>
                <a:r>
                  <a:rPr lang="en-US" dirty="0"/>
                  <a:t>Depth Filter FT + Chase vessel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948E594-19BF-70C9-5C37-61D15DC18EDE}"/>
                  </a:ext>
                </a:extLst>
              </p:cNvPr>
              <p:cNvSpPr txBox="1"/>
              <p:nvPr/>
            </p:nvSpPr>
            <p:spPr>
              <a:xfrm>
                <a:off x="6971834" y="3115939"/>
                <a:ext cx="1278194" cy="59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b="1"/>
                </a:lvl1pPr>
              </a:lstStyle>
              <a:p>
                <a:r>
                  <a:rPr lang="en-US" dirty="0">
                    <a:solidFill>
                      <a:srgbClr val="00B050"/>
                    </a:solidFill>
                  </a:rPr>
                  <a:t>4 filters required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FD8366B-A049-870E-FD12-09CA54A1726E}"/>
                  </a:ext>
                </a:extLst>
              </p:cNvPr>
              <p:cNvSpPr txBox="1"/>
              <p:nvPr/>
            </p:nvSpPr>
            <p:spPr>
              <a:xfrm>
                <a:off x="6971834" y="1176628"/>
                <a:ext cx="1130841" cy="867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90000"/>
                  </a:lnSpc>
                  <a:spcAft>
                    <a:spcPts val="600"/>
                  </a:spcAft>
                  <a:defRPr sz="1400"/>
                </a:lvl1pPr>
              </a:lstStyle>
              <a:p>
                <a:r>
                  <a:rPr lang="en-US" dirty="0"/>
                  <a:t>Affinity Capture product vessel 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6D03DC2-CE83-9E35-542D-87B3E958F7E2}"/>
                  </a:ext>
                </a:extLst>
              </p:cNvPr>
              <p:cNvGrpSpPr/>
              <p:nvPr/>
            </p:nvGrpSpPr>
            <p:grpSpPr>
              <a:xfrm>
                <a:off x="8368112" y="2026619"/>
                <a:ext cx="1272534" cy="341632"/>
                <a:chOff x="2456715" y="1991166"/>
                <a:chExt cx="900019" cy="341632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12C66E6-BB6E-C301-62ED-1F49EB8CFCF2}"/>
                    </a:ext>
                  </a:extLst>
                </p:cNvPr>
                <p:cNvSpPr txBox="1"/>
                <p:nvPr/>
              </p:nvSpPr>
              <p:spPr>
                <a:xfrm>
                  <a:off x="2646643" y="1991166"/>
                  <a:ext cx="623690" cy="3416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lnSpc>
                      <a:spcPct val="90000"/>
                    </a:lnSpc>
                    <a:spcAft>
                      <a:spcPts val="600"/>
                    </a:spcAft>
                  </a:lvl1pPr>
                </a:lstStyle>
                <a:p>
                  <a:r>
                    <a:rPr lang="en-US" dirty="0"/>
                    <a:t>Titrant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09BD75DE-D2A9-FFF7-CE11-01E9E706E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6715" y="2332798"/>
                  <a:ext cx="900019" cy="0"/>
                </a:xfrm>
                <a:prstGeom prst="straightConnector1">
                  <a:avLst/>
                </a:prstGeom>
                <a:ln w="28575">
                  <a:solidFill>
                    <a:schemeClr val="accent4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B4886F-1EFD-D380-0B26-409D2BA951FF}"/>
                </a:ext>
              </a:extLst>
            </p:cNvPr>
            <p:cNvSpPr txBox="1"/>
            <p:nvPr/>
          </p:nvSpPr>
          <p:spPr>
            <a:xfrm>
              <a:off x="8573828" y="3825278"/>
              <a:ext cx="1720629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b="1" dirty="0">
                  <a:solidFill>
                    <a:srgbClr val="00B050"/>
                  </a:solidFill>
                </a:rPr>
                <a:t> 7 L Hold-up volume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F6FDD40-A4FD-A6DF-CF36-042AE7152366}"/>
                </a:ext>
              </a:extLst>
            </p:cNvPr>
            <p:cNvSpPr txBox="1"/>
            <p:nvPr/>
          </p:nvSpPr>
          <p:spPr>
            <a:xfrm>
              <a:off x="8673899" y="3182219"/>
              <a:ext cx="171951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dirty="0"/>
                <a:t>Filter Sani Buffer(s)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A9BBF5D-5306-1253-5D83-B7291B458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2473" y="4754304"/>
              <a:ext cx="856598" cy="776006"/>
            </a:xfrm>
            <a:prstGeom prst="line">
              <a:avLst/>
            </a:prstGeom>
            <a:ln w="28575">
              <a:solidFill>
                <a:schemeClr val="tx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8DCDDC5-B33F-C2CC-BDCF-4C74A3B4FCDE}"/>
                </a:ext>
              </a:extLst>
            </p:cNvPr>
            <p:cNvSpPr txBox="1"/>
            <p:nvPr/>
          </p:nvSpPr>
          <p:spPr>
            <a:xfrm rot="18872875">
              <a:off x="8749753" y="4702979"/>
              <a:ext cx="171951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  <a:defRPr sz="1400"/>
              </a:lvl1pPr>
            </a:lstStyle>
            <a:p>
              <a:r>
                <a:rPr lang="en-US" dirty="0"/>
                <a:t>Polish Buffer(s)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D2923DF-BE75-BF5B-313B-89D61E266282}"/>
              </a:ext>
            </a:extLst>
          </p:cNvPr>
          <p:cNvSpPr txBox="1"/>
          <p:nvPr/>
        </p:nvSpPr>
        <p:spPr>
          <a:xfrm>
            <a:off x="4794193" y="1484868"/>
            <a:ext cx="1905543" cy="116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1600"/>
            </a:lvl1pPr>
          </a:lstStyle>
          <a:p>
            <a:pPr algn="ctr"/>
            <a:r>
              <a:rPr lang="en-US" sz="2400" b="1" dirty="0">
                <a:solidFill>
                  <a:srgbClr val="FF0000"/>
                </a:solidFill>
              </a:rPr>
              <a:t>Precipitate forms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300-500 NTU</a:t>
            </a:r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09F1A2DC-6DA4-DB06-82AA-5AC616AFC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658" y="2635258"/>
            <a:ext cx="1120682" cy="188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7348786-7B3C-6292-71DB-50F8724B29AC}"/>
              </a:ext>
            </a:extLst>
          </p:cNvPr>
          <p:cNvCxnSpPr/>
          <p:nvPr/>
        </p:nvCxnSpPr>
        <p:spPr>
          <a:xfrm>
            <a:off x="2526114" y="3022681"/>
            <a:ext cx="2713919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66E14E9-7E7D-9E84-1A3B-E39CCF9789AF}"/>
              </a:ext>
            </a:extLst>
          </p:cNvPr>
          <p:cNvCxnSpPr/>
          <p:nvPr/>
        </p:nvCxnSpPr>
        <p:spPr>
          <a:xfrm flipH="1">
            <a:off x="6369340" y="3026980"/>
            <a:ext cx="1971774" cy="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8151B5-6C80-9631-025B-7556FE5A0022}"/>
              </a:ext>
            </a:extLst>
          </p:cNvPr>
          <p:cNvCxnSpPr/>
          <p:nvPr/>
        </p:nvCxnSpPr>
        <p:spPr>
          <a:xfrm flipH="1">
            <a:off x="8399482" y="3182628"/>
            <a:ext cx="1571371" cy="0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90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4693D-A8BE-BD5A-7EC0-F62FF3F5F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DF2B7-7ECD-C97C-F4B8-B3466555A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Continuous evolution and improvement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02FB4-4ECC-AE3F-E7AF-DC50C24B69C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TFF regeneration and depth filter cycling are in scale-up testing now</a:t>
            </a:r>
          </a:p>
          <a:p>
            <a:r>
              <a:rPr lang="en-US" dirty="0"/>
              <a:t>Next GMP campaign will include these and process through 2</a:t>
            </a:r>
            <a:r>
              <a:rPr lang="en-US" baseline="30000" dirty="0"/>
              <a:t>nd</a:t>
            </a:r>
            <a:r>
              <a:rPr lang="en-US" dirty="0"/>
              <a:t> polishing step</a:t>
            </a:r>
          </a:p>
          <a:p>
            <a:r>
              <a:rPr lang="en-US" dirty="0"/>
              <a:t>Future scale-up work and GMP campaigns will incorporate viral filtration and asymmetric dialysis</a:t>
            </a:r>
          </a:p>
          <a:p>
            <a:r>
              <a:rPr lang="en-US" dirty="0"/>
              <a:t>Feedback to the IDB platform team will refine and improve the process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D69AC8-C0D2-E3AC-A6C4-981CCD7EB2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2" y="1468438"/>
            <a:ext cx="5181598" cy="423863"/>
          </a:xfrm>
        </p:spPr>
        <p:txBody>
          <a:bodyPr/>
          <a:lstStyle/>
          <a:p>
            <a:r>
              <a:rPr lang="en-US" dirty="0"/>
              <a:t>A challenge to us all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047396-540F-24D1-3F26-15A0BE73CE6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Push the limits of traditional paradigms</a:t>
            </a:r>
          </a:p>
          <a:p>
            <a:pPr lvl="1"/>
            <a:r>
              <a:rPr lang="en-US" dirty="0"/>
              <a:t>explore new technologies</a:t>
            </a:r>
          </a:p>
          <a:p>
            <a:pPr lvl="1"/>
            <a:r>
              <a:rPr lang="en-US" dirty="0"/>
              <a:t>set ambitious targets</a:t>
            </a:r>
          </a:p>
          <a:p>
            <a:pPr lvl="1"/>
            <a:r>
              <a:rPr lang="en-US" dirty="0"/>
              <a:t>collaborate to redefine bioprocessing boundaries</a:t>
            </a:r>
          </a:p>
          <a:p>
            <a:r>
              <a:rPr lang="en-US" dirty="0"/>
              <a:t>Emerging technologies and digital tools offer opportunities to increase automation and enhance data-driven decision-making in continuous biomanufacturing</a:t>
            </a:r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1EF687A-BA13-33DC-964C-C3B697DF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/>
              <a:t>Journey Forward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1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E001A-F22A-B696-92C8-89E15BE6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D3044E-80BA-3227-FF80-D8A159A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DD3D-2AE2-8A8D-8F52-DA7C29DEAC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832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BRANDIN_SMARTPASTE" val="ACTIVE"/>
  <p:tag name="BRANDIN_WORKSPACE_NAME" val="AstraZeneca"/>
  <p:tag name="ARTICULATE_SLIDE_THUMBNAIL_REFRESH" val="1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DIN_CHARTS" val="CHART PROCESSED"/>
</p:tagLst>
</file>

<file path=ppt/theme/theme1.xml><?xml version="1.0" encoding="utf-8"?>
<a:theme xmlns:a="http://schemas.openxmlformats.org/drawingml/2006/main" name="AstraZeneca Standard Template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A22A8D6A-9BB7-4426-A052-364E607EB841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D3E5DAA-A53F-4116-B25A-47972B986756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831C767-73C7-453F-8D70-202FC99DB383}"/>
    </a:ext>
  </a:extLst>
</a:theme>
</file>

<file path=ppt/theme/theme4.xml><?xml version="1.0" encoding="utf-8"?>
<a:theme xmlns:a="http://schemas.openxmlformats.org/drawingml/2006/main" name="Key Statemen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806B84B-E0F6-42E6-8CBA-F7ADFCA0E88A}"/>
    </a:ext>
  </a:extLst>
</a:theme>
</file>

<file path=ppt/theme/theme5.xml><?xml version="1.0" encoding="utf-8"?>
<a:theme xmlns:a="http://schemas.openxmlformats.org/drawingml/2006/main" name="Lis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9704D40-F46A-4C26-84DC-061995D29F81}"/>
    </a:ext>
  </a:extLst>
</a:theme>
</file>

<file path=ppt/theme/theme6.xml><?xml version="1.0" encoding="utf-8"?>
<a:theme xmlns:a="http://schemas.openxmlformats.org/drawingml/2006/main" name="Agenda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7B24027F-9099-4E54-80C7-EDA950ABF4F7}"/>
    </a:ext>
  </a:extLst>
</a:theme>
</file>

<file path=ppt/theme/theme7.xml><?xml version="1.0" encoding="utf-8"?>
<a:theme xmlns:a="http://schemas.openxmlformats.org/drawingml/2006/main" name="Speak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E331D78E-C604-4B2B-88FF-AC1C821EDFD0}"/>
    </a:ext>
  </a:extLst>
</a:theme>
</file>

<file path=ppt/theme/theme8.xml><?xml version="1.0" encoding="utf-8"?>
<a:theme xmlns:a="http://schemas.openxmlformats.org/drawingml/2006/main" name="Logo Hold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58AB2DE4-0778-41CA-BE0B-28765D7D0BD8}"/>
    </a:ext>
  </a:extLst>
</a:theme>
</file>

<file path=ppt/theme/theme9.xml><?xml version="1.0" encoding="utf-8"?>
<a:theme xmlns:a="http://schemas.openxmlformats.org/drawingml/2006/main" name="Diagram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D25C6FFC-61F3-4A44-A4CC-C42BEA186ADF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B529EE1AB6AD4F899052950E60408F" ma:contentTypeVersion="17" ma:contentTypeDescription="Create a new document." ma:contentTypeScope="" ma:versionID="10a67613c1e9ae4ba9f36050ee5699ff">
  <xsd:schema xmlns:xsd="http://www.w3.org/2001/XMLSchema" xmlns:xs="http://www.w3.org/2001/XMLSchema" xmlns:p="http://schemas.microsoft.com/office/2006/metadata/properties" xmlns:ns2="44a56295-c29e-4898-8136-a54736c65b82" xmlns:ns3="89b95053-7038-4042-ab16-1b34ddf252cd" xmlns:ns4="4cd49ea0-1eba-4ec8-9e5a-f3220030d18e" targetNamespace="http://schemas.microsoft.com/office/2006/metadata/properties" ma:root="true" ma:fieldsID="df9b6af9251a64aa9d0cb12301ddf2f1" ns2:_="" ns3:_="" ns4:_="">
    <xsd:import namespace="44a56295-c29e-4898-8136-a54736c65b82"/>
    <xsd:import namespace="89b95053-7038-4042-ab16-1b34ddf252cd"/>
    <xsd:import namespace="4cd49ea0-1eba-4ec8-9e5a-f3220030d18e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  <xsd:element name="TaxCatchAll" ma:index="16" nillable="true" ma:displayName="Taxonomy Catch All Column" ma:hidden="true" ma:list="{6f372a8c-1f5f-480e-91f3-a9483fe8ca9c}" ma:internalName="TaxCatchAll" ma:showField="CatchAllData" ma:web="4cd49ea0-1eba-4ec8-9e5a-f3220030d1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b95053-7038-4042-ab16-1b34ddf252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d49ea0-1eba-4ec8-9e5a-f3220030d1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1ee89e71-04cd-405e-9ca3-99e020c1694d" ContentTypeId="0x01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a56295-c29e-4898-8136-a54736c65b82" xsi:nil="true"/>
    <lcf76f155ced4ddcb4097134ff3c332f xmlns="89b95053-7038-4042-ab16-1b34ddf252cd">
      <Terms xmlns="http://schemas.microsoft.com/office/infopath/2007/PartnerControls"/>
    </lcf76f155ced4ddcb4097134ff3c332f>
    <Keyword xmlns="44a56295-c29e-4898-8136-a54736c65b82" xsi:nil="true"/>
    <Descriptions xmlns="44a56295-c29e-4898-8136-a54736c65b82" xsi:nil="true"/>
  </documentManagement>
</p:properties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BrandIn lastLayout="1"/>
</file>

<file path=customXml/item10.xml><?xml version="1.0" encoding="utf-8"?>
<BrandIn lastLayout="1"/>
</file>

<file path=customXml/item11.xml><?xml version="1.0" encoding="utf-8"?>
<BrandIn lastLayout="1"/>
</file>

<file path=customXml/item12.xml><?xml version="1.0" encoding="utf-8"?>
<BrandIn lastLayout="1"/>
</file>

<file path=customXml/item13.xml><?xml version="1.0" encoding="utf-8"?>
<BrandIn lastLayout="1"/>
</file>

<file path=customXml/itemProps1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506BDC-BB36-46FF-BB19-16A280D47B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a56295-c29e-4898-8136-a54736c65b82"/>
    <ds:schemaRef ds:uri="89b95053-7038-4042-ab16-1b34ddf252cd"/>
    <ds:schemaRef ds:uri="4cd49ea0-1eba-4ec8-9e5a-f3220030d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170154-9BDB-42AB-BF01-B02BF280259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2AD41FD2-E42A-4705-AA0D-85221307178A}">
  <ds:schemaRefs>
    <ds:schemaRef ds:uri="44a56295-c29e-4898-8136-a54736c65b82"/>
    <ds:schemaRef ds:uri="4cd49ea0-1eba-4ec8-9e5a-f3220030d18e"/>
    <ds:schemaRef ds:uri="89b95053-7038-4042-ab16-1b34ddf252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A9377F0E-6DE4-47A6-94F7-B5269FE2FCE0}">
  <ds:schemaRefs/>
</ds:datastoreItem>
</file>

<file path=customXml/itemProps6.xml><?xml version="1.0" encoding="utf-8"?>
<ds:datastoreItem xmlns:ds="http://schemas.openxmlformats.org/officeDocument/2006/customXml" ds:itemID="{8B6B0787-9734-4296-B5D3-EC4759041B1D}">
  <ds:schemaRefs/>
</ds:datastoreItem>
</file>

<file path=customXml/itemProps7.xml><?xml version="1.0" encoding="utf-8"?>
<ds:datastoreItem xmlns:ds="http://schemas.openxmlformats.org/officeDocument/2006/customXml" ds:itemID="{82D07F71-FAE4-4758-BC0B-60609551B1CC}">
  <ds:schemaRefs/>
</ds:datastoreItem>
</file>

<file path=customXml/itemProps8.xml><?xml version="1.0" encoding="utf-8"?>
<ds:datastoreItem xmlns:ds="http://schemas.openxmlformats.org/officeDocument/2006/customXml" ds:itemID="{60BB04B5-40D2-4FDA-9336-7994D079CE4F}">
  <ds:schemaRefs/>
</ds:datastoreItem>
</file>

<file path=customXml/itemProps9.xml><?xml version="1.0" encoding="utf-8"?>
<ds:datastoreItem xmlns:ds="http://schemas.openxmlformats.org/officeDocument/2006/customXml" ds:itemID="{3DB22CCA-FF5C-41A5-90F8-AC554C621565}">
  <ds:schemaRefs/>
</ds:datastoreItem>
</file>

<file path=customXml/itemProps10.xml><?xml version="1.0" encoding="utf-8"?>
<ds:datastoreItem xmlns:ds="http://schemas.openxmlformats.org/officeDocument/2006/customXml" ds:itemID="{65C99F1C-FB57-46A7-9B3A-75339810ED4F}">
  <ds:schemaRefs/>
</ds:datastoreItem>
</file>

<file path=customXml/itemProps11.xml><?xml version="1.0" encoding="utf-8"?>
<ds:datastoreItem xmlns:ds="http://schemas.openxmlformats.org/officeDocument/2006/customXml" ds:itemID="{F6414CD9-7AB0-4F44-807F-DF912C5E1A13}">
  <ds:schemaRefs/>
</ds:datastoreItem>
</file>

<file path=customXml/itemProps12.xml><?xml version="1.0" encoding="utf-8"?>
<ds:datastoreItem xmlns:ds="http://schemas.openxmlformats.org/officeDocument/2006/customXml" ds:itemID="{D8B9FEFC-EE17-4515-A8D9-AD44478F0ED6}">
  <ds:schemaRefs/>
</ds:datastoreItem>
</file>

<file path=customXml/itemProps13.xml><?xml version="1.0" encoding="utf-8"?>
<ds:datastoreItem xmlns:ds="http://schemas.openxmlformats.org/officeDocument/2006/customXml" ds:itemID="{CE231AE7-799C-476B-948C-13293BA93F7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11733</TotalTime>
  <Words>1407</Words>
  <Application>Microsoft Office PowerPoint</Application>
  <PresentationFormat>Widescreen</PresentationFormat>
  <Paragraphs>289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Calibri</vt:lpstr>
      <vt:lpstr>Calisto MT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Diagrams</vt:lpstr>
      <vt:lpstr>Overcoming challenges with scale-up and GMP implementation of an integrated dynamic bioprocessing (IDB) platform for multiple products</vt:lpstr>
      <vt:lpstr>Agenda</vt:lpstr>
      <vt:lpstr>PowerPoint Presentation</vt:lpstr>
      <vt:lpstr>Drivers of IDB GMP Implementation Strategy</vt:lpstr>
      <vt:lpstr>PowerPoint Presentation</vt:lpstr>
      <vt:lpstr>Strategic Planning for Scale-Up and GMP Production</vt:lpstr>
      <vt:lpstr>Failure Modes During Scale-up: Some Old, Some New</vt:lpstr>
      <vt:lpstr>The People Element</vt:lpstr>
      <vt:lpstr>Engineering Run in GMP Clinical Facility (Molecule A)</vt:lpstr>
      <vt:lpstr>Upstream Engineering Run - Growth</vt:lpstr>
      <vt:lpstr>Downstream Engineering Run - Capture Overlays</vt:lpstr>
      <vt:lpstr>Downstream Engineering Run – Impact of Filter Swap</vt:lpstr>
      <vt:lpstr>First GMP Campaign – Molecule B (labile molecule)</vt:lpstr>
      <vt:lpstr>And then we switched from some “easy” molecules to a “difficult” molecule (Molecule C)… </vt:lpstr>
      <vt:lpstr>TFF Scaling Concerns</vt:lpstr>
      <vt:lpstr>PowerPoint Presentation</vt:lpstr>
      <vt:lpstr>PowerPoint Presentation</vt:lpstr>
      <vt:lpstr>PowerPoint Presentation</vt:lpstr>
      <vt:lpstr>PowerPoint Presentation</vt:lpstr>
      <vt:lpstr>The Journey Forward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Bleckwenn, Nicole</dc:creator>
  <cp:keywords/>
  <dc:description/>
  <cp:lastModifiedBy>Bleckwenn, Nicole</cp:lastModifiedBy>
  <cp:revision>3</cp:revision>
  <dcterms:created xsi:type="dcterms:W3CDTF">2025-09-01T13:44:25Z</dcterms:created>
  <dcterms:modified xsi:type="dcterms:W3CDTF">2025-10-01T21:45:42Z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0x0101006DB529EE1AB6AD4F899052950E60408F</vt:lpwstr>
  </property>
  <property fmtid="{D5CDD505-2E9C-101B-9397-08002B2CF9AE}" pid="3" name="Version">
    <vt:lpwstr>ASTR 3935 - Template &amp; Model Slides 24.pptx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</Properties>
</file>