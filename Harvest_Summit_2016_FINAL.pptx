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3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  <p:sldMasterId id="2147483730" r:id="rId2"/>
    <p:sldMasterId id="2147483784" r:id="rId3"/>
    <p:sldMasterId id="2147483822" r:id="rId4"/>
    <p:sldMasterId id="2147483834" r:id="rId5"/>
  </p:sldMasterIdLst>
  <p:notesMasterIdLst>
    <p:notesMasterId r:id="rId38"/>
  </p:notesMasterIdLst>
  <p:handoutMasterIdLst>
    <p:handoutMasterId r:id="rId39"/>
  </p:handoutMasterIdLst>
  <p:sldIdLst>
    <p:sldId id="341" r:id="rId6"/>
    <p:sldId id="351" r:id="rId7"/>
    <p:sldId id="352" r:id="rId8"/>
    <p:sldId id="354" r:id="rId9"/>
    <p:sldId id="371" r:id="rId10"/>
    <p:sldId id="372" r:id="rId11"/>
    <p:sldId id="374" r:id="rId12"/>
    <p:sldId id="369" r:id="rId13"/>
    <p:sldId id="383" r:id="rId14"/>
    <p:sldId id="368" r:id="rId15"/>
    <p:sldId id="343" r:id="rId16"/>
    <p:sldId id="377" r:id="rId17"/>
    <p:sldId id="364" r:id="rId18"/>
    <p:sldId id="363" r:id="rId19"/>
    <p:sldId id="362" r:id="rId20"/>
    <p:sldId id="361" r:id="rId21"/>
    <p:sldId id="365" r:id="rId22"/>
    <p:sldId id="346" r:id="rId23"/>
    <p:sldId id="345" r:id="rId24"/>
    <p:sldId id="378" r:id="rId25"/>
    <p:sldId id="366" r:id="rId26"/>
    <p:sldId id="349" r:id="rId27"/>
    <p:sldId id="379" r:id="rId28"/>
    <p:sldId id="356" r:id="rId29"/>
    <p:sldId id="382" r:id="rId30"/>
    <p:sldId id="381" r:id="rId31"/>
    <p:sldId id="358" r:id="rId32"/>
    <p:sldId id="347" r:id="rId33"/>
    <p:sldId id="348" r:id="rId34"/>
    <p:sldId id="360" r:id="rId35"/>
    <p:sldId id="367" r:id="rId36"/>
    <p:sldId id="353" r:id="rId37"/>
  </p:sldIdLst>
  <p:sldSz cx="9144000" cy="5143500" type="screen16x9"/>
  <p:notesSz cx="6858000" cy="9296400"/>
  <p:custDataLst>
    <p:tags r:id="rId4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11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seph, Adrian (Contractor)" initials="JA(" lastIdx="1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2F5F"/>
    <a:srgbClr val="D8DC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1297" autoAdjust="0"/>
  </p:normalViewPr>
  <p:slideViewPr>
    <p:cSldViewPr snapToGrid="0" snapToObjects="1" showGuides="1">
      <p:cViewPr>
        <p:scale>
          <a:sx n="110" d="100"/>
          <a:sy n="110" d="100"/>
        </p:scale>
        <p:origin x="-738" y="-222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5" d="100"/>
          <a:sy n="55" d="100"/>
        </p:scale>
        <p:origin x="-2770" y="-82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tags" Target="tags/tag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josephad\Documents\Secondment%203\USDCNT02\Copy%20of%20USDCNT02%20V3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josephad\Documents\Secondment%203\USDCNT02\Copy%20of%20USDCNT02%20V3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josephad\Documents\Secondment%203\USDCNT02\USDCNT_02.csv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Book2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josephad\Documents\Secondment%203\USDDFT04\USDDFT04_Data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josephad\Documents\Secondment%203\USDDFT04\USDDFT04_Data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josephad\Documents\Secondment%203\USDDFT04\USDDFT04_Data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josephad\Documents\Secondment%203\USDDFT04\USDDFT04_Data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josephad\Desktop\Thesis_Data_Chapter_3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josephad\Desktop\Thesis_Data_Chapter_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033552055993001"/>
          <c:y val="0.17774643208544028"/>
          <c:w val="0.80074781277340334"/>
          <c:h val="0.67363071974776656"/>
        </c:manualLayout>
      </c:layout>
      <c:scatterChart>
        <c:scatterStyle val="lineMarker"/>
        <c:varyColors val="0"/>
        <c:ser>
          <c:idx val="1"/>
          <c:order val="1"/>
          <c:tx>
            <c:strRef>
              <c:f>'Allen LDH'!$Z$80</c:f>
              <c:strCache>
                <c:ptCount val="1"/>
                <c:pt idx="0">
                  <c:v>Capillary Shear Device</c:v>
                </c:pt>
              </c:strCache>
            </c:strRef>
          </c:tx>
          <c:spPr>
            <a:ln w="28575">
              <a:noFill/>
            </a:ln>
          </c:spPr>
          <c:marker>
            <c:symbol val="square"/>
            <c:size val="10"/>
            <c:spPr>
              <a:noFill/>
              <a:ln>
                <a:solidFill>
                  <a:schemeClr val="tx1"/>
                </a:solidFill>
              </a:ln>
            </c:spPr>
          </c:marker>
          <c:xVal>
            <c:numRef>
              <c:f>'Allen LDH'!$W$54:$AA$54</c:f>
              <c:numCache>
                <c:formatCode>General</c:formatCode>
                <c:ptCount val="5"/>
                <c:pt idx="0">
                  <c:v>12</c:v>
                </c:pt>
                <c:pt idx="1">
                  <c:v>14</c:v>
                </c:pt>
                <c:pt idx="2">
                  <c:v>16</c:v>
                </c:pt>
                <c:pt idx="3">
                  <c:v>18</c:v>
                </c:pt>
                <c:pt idx="4">
                  <c:v>20</c:v>
                </c:pt>
              </c:numCache>
            </c:numRef>
          </c:xVal>
          <c:yVal>
            <c:numRef>
              <c:f>'Allen LDH'!$W$59:$AA$59</c:f>
              <c:numCache>
                <c:formatCode>General</c:formatCode>
                <c:ptCount val="5"/>
                <c:pt idx="0">
                  <c:v>4.9961476915782779</c:v>
                </c:pt>
                <c:pt idx="1">
                  <c:v>6.7622829372370088</c:v>
                </c:pt>
                <c:pt idx="2">
                  <c:v>9.4860625456844208</c:v>
                </c:pt>
                <c:pt idx="3">
                  <c:v>14.665441830142845</c:v>
                </c:pt>
                <c:pt idx="4">
                  <c:v>18.067326497955325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2682368"/>
        <c:axId val="34238464"/>
      </c:scatterChart>
      <c:scatterChart>
        <c:scatterStyle val="lineMarker"/>
        <c:varyColors val="0"/>
        <c:ser>
          <c:idx val="0"/>
          <c:order val="0"/>
          <c:tx>
            <c:strRef>
              <c:f>'Allen LDH'!$Z$81</c:f>
              <c:strCache>
                <c:ptCount val="1"/>
                <c:pt idx="0">
                  <c:v>Rotating Disk Shear Device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12"/>
          </c:marker>
          <c:xVal>
            <c:numRef>
              <c:f>'Allen LDH'!$AB$54:$AE$54</c:f>
              <c:numCache>
                <c:formatCode>General</c:formatCode>
                <c:ptCount val="4"/>
                <c:pt idx="0">
                  <c:v>6000</c:v>
                </c:pt>
                <c:pt idx="1">
                  <c:v>9000</c:v>
                </c:pt>
                <c:pt idx="2">
                  <c:v>8000</c:v>
                </c:pt>
                <c:pt idx="3">
                  <c:v>7000</c:v>
                </c:pt>
              </c:numCache>
            </c:numRef>
          </c:xVal>
          <c:yVal>
            <c:numRef>
              <c:f>'Allen LDH'!$AB$59:$AE$59</c:f>
              <c:numCache>
                <c:formatCode>General</c:formatCode>
                <c:ptCount val="4"/>
                <c:pt idx="0">
                  <c:v>9.2622088543827736</c:v>
                </c:pt>
                <c:pt idx="1">
                  <c:v>22.626014935103399</c:v>
                </c:pt>
                <c:pt idx="2">
                  <c:v>18.378474485864988</c:v>
                </c:pt>
                <c:pt idx="3">
                  <c:v>15.732234931547454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241920"/>
        <c:axId val="34240384"/>
      </c:scatterChart>
      <c:valAx>
        <c:axId val="32682368"/>
        <c:scaling>
          <c:orientation val="minMax"/>
        </c:scaling>
        <c:delete val="0"/>
        <c:axPos val="b"/>
        <c:title>
          <c:tx>
            <c:strRef>
              <c:f>'Allen LDH'!$Z$77</c:f>
              <c:strCache>
                <c:ptCount val="1"/>
                <c:pt idx="0">
                  <c:v>Flow Rate (mL/min)</c:v>
                </c:pt>
              </c:strCache>
            </c:strRef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34238464"/>
        <c:crosses val="autoZero"/>
        <c:crossBetween val="midCat"/>
      </c:valAx>
      <c:valAx>
        <c:axId val="34238464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title>
          <c:tx>
            <c:strRef>
              <c:f>'Allen LDH'!$Z$83</c:f>
              <c:strCache>
                <c:ptCount val="1"/>
                <c:pt idx="0">
                  <c:v>% LDH Increase</c:v>
                </c:pt>
              </c:strCache>
            </c:strRef>
          </c:tx>
          <c:layout/>
          <c:overlay val="0"/>
          <c:txPr>
            <a:bodyPr rot="-5400000" vert="horz"/>
            <a:lstStyle/>
            <a:p>
              <a:pPr>
                <a:defRPr/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32682368"/>
        <c:crosses val="autoZero"/>
        <c:crossBetween val="midCat"/>
      </c:valAx>
      <c:valAx>
        <c:axId val="34240384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34241920"/>
        <c:crosses val="max"/>
        <c:crossBetween val="midCat"/>
      </c:valAx>
      <c:valAx>
        <c:axId val="34241920"/>
        <c:scaling>
          <c:orientation val="minMax"/>
        </c:scaling>
        <c:delete val="0"/>
        <c:axPos val="t"/>
        <c:title>
          <c:tx>
            <c:strRef>
              <c:f>'Allen LDH'!$Z$78</c:f>
              <c:strCache>
                <c:ptCount val="1"/>
                <c:pt idx="0">
                  <c:v>Rotational Speed (RPM)</c:v>
                </c:pt>
              </c:strCache>
            </c:strRef>
          </c:tx>
          <c:layout>
            <c:manualLayout>
              <c:xMode val="edge"/>
              <c:yMode val="edge"/>
              <c:x val="0.37089087908781759"/>
              <c:y val="1.5195023408339066E-2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34240384"/>
        <c:crosses val="max"/>
        <c:crossBetween val="midCat"/>
      </c:valAx>
      <c:spPr>
        <a:ln w="19050">
          <a:solidFill>
            <a:schemeClr val="tx1"/>
          </a:solidFill>
        </a:ln>
      </c:spPr>
    </c:plotArea>
    <c:legend>
      <c:legendPos val="l"/>
      <c:layout>
        <c:manualLayout>
          <c:xMode val="edge"/>
          <c:yMode val="edge"/>
          <c:x val="0.14907362554207934"/>
          <c:y val="0.17579085292109162"/>
          <c:w val="0.30638514218840085"/>
          <c:h val="0.14096791740644302"/>
        </c:manualLayout>
      </c:layout>
      <c:overlay val="1"/>
    </c:legend>
    <c:plotVisOnly val="1"/>
    <c:dispBlanksAs val="gap"/>
    <c:showDLblsOverMax val="0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diamond"/>
            <c:size val="10"/>
            <c:spPr>
              <a:noFill/>
              <a:ln>
                <a:solidFill>
                  <a:schemeClr val="tx1"/>
                </a:solidFill>
              </a:ln>
            </c:spPr>
          </c:marker>
          <c:trendline>
            <c:spPr>
              <a:ln w="19050"/>
            </c:spPr>
            <c:trendlineType val="linear"/>
            <c:dispRSqr val="1"/>
            <c:dispEq val="0"/>
            <c:trendlineLbl>
              <c:layout>
                <c:manualLayout>
                  <c:x val="7.8498700558116405E-2"/>
                  <c:y val="0.59688151029314107"/>
                </c:manualLayout>
              </c:layout>
              <c:numFmt formatCode="General" sourceLinked="0"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</c:trendlineLbl>
          </c:trendline>
          <c:xVal>
            <c:numRef>
              <c:f>Results!$C$20:$C$28</c:f>
              <c:numCache>
                <c:formatCode>0.00</c:formatCode>
                <c:ptCount val="9"/>
                <c:pt idx="0">
                  <c:v>0</c:v>
                </c:pt>
                <c:pt idx="1">
                  <c:v>0.44943820224719094</c:v>
                </c:pt>
                <c:pt idx="2">
                  <c:v>0.73779845505617969</c:v>
                </c:pt>
                <c:pt idx="3">
                  <c:v>1.232882724719101</c:v>
                </c:pt>
                <c:pt idx="4">
                  <c:v>1.7977528089887638</c:v>
                </c:pt>
                <c:pt idx="5">
                  <c:v>3.7960849719101115</c:v>
                </c:pt>
                <c:pt idx="6">
                  <c:v>6.1113061797752799</c:v>
                </c:pt>
                <c:pt idx="7">
                  <c:v>9.3556882022471886</c:v>
                </c:pt>
                <c:pt idx="8">
                  <c:v>13.906249999999998</c:v>
                </c:pt>
              </c:numCache>
            </c:numRef>
          </c:xVal>
          <c:yVal>
            <c:numRef>
              <c:f>Results!$E$20:$E$28</c:f>
              <c:numCache>
                <c:formatCode>General</c:formatCode>
                <c:ptCount val="9"/>
                <c:pt idx="0" formatCode="0.00">
                  <c:v>0</c:v>
                </c:pt>
                <c:pt idx="3" formatCode="0.00">
                  <c:v>1.3982099831271899</c:v>
                </c:pt>
                <c:pt idx="4" formatCode="0.00">
                  <c:v>5.0498042509884309</c:v>
                </c:pt>
                <c:pt idx="5" formatCode="0.00">
                  <c:v>6.5848421223727485</c:v>
                </c:pt>
                <c:pt idx="6" formatCode="0.00">
                  <c:v>11.566232429232633</c:v>
                </c:pt>
                <c:pt idx="7" formatCode="0.00">
                  <c:v>31.436207327067763</c:v>
                </c:pt>
                <c:pt idx="8" formatCode="0.00">
                  <c:v>41.035538862604639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Results!$I$28</c:f>
              <c:strCache>
                <c:ptCount val="1"/>
                <c:pt idx="0">
                  <c:v>Pred Cent EDR</c:v>
                </c:pt>
              </c:strCache>
            </c:strRef>
          </c:tx>
          <c:spPr>
            <a:ln w="28575">
              <a:noFill/>
            </a:ln>
          </c:spPr>
          <c:marker>
            <c:symbol val="square"/>
            <c:size val="10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xVal>
            <c:numRef>
              <c:f>Results!$L$28</c:f>
              <c:numCache>
                <c:formatCode>General</c:formatCode>
                <c:ptCount val="1"/>
                <c:pt idx="0">
                  <c:v>2.2980654988127189</c:v>
                </c:pt>
              </c:numCache>
            </c:numRef>
          </c:xVal>
          <c:yVal>
            <c:numRef>
              <c:f>Results!$E$29</c:f>
              <c:numCache>
                <c:formatCode>0.00</c:formatCode>
                <c:ptCount val="1"/>
                <c:pt idx="0">
                  <c:v>4.891597005191171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7421056"/>
        <c:axId val="167423360"/>
      </c:scatterChart>
      <c:valAx>
        <c:axId val="16742105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Energy Dissipation Rate </a:t>
                </a:r>
                <a:r>
                  <a:rPr lang="en-US" dirty="0" smtClean="0"/>
                  <a:t>X10</a:t>
                </a:r>
                <a:r>
                  <a:rPr lang="en-US" baseline="30000" dirty="0" smtClean="0"/>
                  <a:t>5</a:t>
                </a:r>
                <a:r>
                  <a:rPr lang="en-US" dirty="0" smtClean="0"/>
                  <a:t> </a:t>
                </a:r>
                <a:r>
                  <a:rPr lang="en-US" dirty="0"/>
                  <a:t>(W/Kg)</a:t>
                </a:r>
              </a:p>
            </c:rich>
          </c:tx>
          <c:layout/>
          <c:overlay val="0"/>
        </c:title>
        <c:numFmt formatCode="0.00" sourceLinked="1"/>
        <c:majorTickMark val="out"/>
        <c:minorTickMark val="none"/>
        <c:tickLblPos val="nextTo"/>
        <c:crossAx val="167423360"/>
        <c:crosses val="autoZero"/>
        <c:crossBetween val="midCat"/>
      </c:valAx>
      <c:valAx>
        <c:axId val="167423360"/>
        <c:scaling>
          <c:orientation val="minMax"/>
          <c:min val="0"/>
        </c:scaling>
        <c:delete val="0"/>
        <c:axPos val="l"/>
        <c:majorGridlines>
          <c:spPr>
            <a:ln>
              <a:noFill/>
            </a:ln>
          </c:spPr>
        </c:majorGridlines>
        <c:title>
          <c:tx>
            <c:strRef>
              <c:f>Results!$E$19</c:f>
              <c:strCache>
                <c:ptCount val="1"/>
                <c:pt idx="0">
                  <c:v>LDH Increase (%)</c:v>
                </c:pt>
              </c:strCache>
            </c:strRef>
          </c:tx>
          <c:layout/>
          <c:overlay val="0"/>
          <c:txPr>
            <a:bodyPr rot="-5400000" vert="horz"/>
            <a:lstStyle/>
            <a:p>
              <a:pPr>
                <a:defRPr/>
              </a:pPr>
              <a:endParaRPr lang="en-US"/>
            </a:p>
          </c:txPr>
        </c:title>
        <c:numFmt formatCode="0.00" sourceLinked="1"/>
        <c:majorTickMark val="out"/>
        <c:minorTickMark val="none"/>
        <c:tickLblPos val="nextTo"/>
        <c:crossAx val="167421056"/>
        <c:crosses val="autoZero"/>
        <c:crossBetween val="midCat"/>
        <c:majorUnit val="10"/>
      </c:valAx>
    </c:plotArea>
    <c:plotVisOnly val="1"/>
    <c:dispBlanksAs val="gap"/>
    <c:showDLblsOverMax val="0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Results!$D$32</c:f>
              <c:strCache>
                <c:ptCount val="1"/>
                <c:pt idx="0">
                  <c:v>Turbidity (NTU)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10"/>
            <c:spPr>
              <a:noFill/>
              <a:ln>
                <a:solidFill>
                  <a:schemeClr val="tx1"/>
                </a:solidFill>
              </a:ln>
            </c:spPr>
          </c:marker>
          <c:trendline>
            <c:spPr>
              <a:ln w="19050"/>
            </c:spPr>
            <c:trendlineType val="power"/>
            <c:dispRSqr val="1"/>
            <c:dispEq val="0"/>
            <c:trendlineLbl>
              <c:layout>
                <c:manualLayout>
                  <c:x val="0.1351882507071171"/>
                  <c:y val="-0.4206347018483611"/>
                </c:manualLayout>
              </c:layout>
              <c:numFmt formatCode="General" sourceLinked="0"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</c:trendlineLbl>
          </c:trendline>
          <c:xVal>
            <c:numRef>
              <c:f>Results!$A$33:$A$38</c:f>
              <c:numCache>
                <c:formatCode>0.00</c:formatCode>
                <c:ptCount val="6"/>
                <c:pt idx="0">
                  <c:v>0.29400196209651064</c:v>
                </c:pt>
                <c:pt idx="1">
                  <c:v>0.34035300342775221</c:v>
                </c:pt>
                <c:pt idx="2">
                  <c:v>0.40215827720538999</c:v>
                </c:pt>
                <c:pt idx="3">
                  <c:v>0.48872609219948454</c:v>
                </c:pt>
                <c:pt idx="4">
                  <c:v>0.61871542185855222</c:v>
                </c:pt>
                <c:pt idx="5">
                  <c:v>0.83581538905843034</c:v>
                </c:pt>
              </c:numCache>
            </c:numRef>
          </c:xVal>
          <c:yVal>
            <c:numRef>
              <c:f>Results!$D$33:$D$38</c:f>
              <c:numCache>
                <c:formatCode>General</c:formatCode>
                <c:ptCount val="6"/>
                <c:pt idx="0">
                  <c:v>105</c:v>
                </c:pt>
                <c:pt idx="1">
                  <c:v>103</c:v>
                </c:pt>
                <c:pt idx="2">
                  <c:v>97.2</c:v>
                </c:pt>
                <c:pt idx="3">
                  <c:v>89.4</c:v>
                </c:pt>
                <c:pt idx="4">
                  <c:v>87.6</c:v>
                </c:pt>
                <c:pt idx="5">
                  <c:v>76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Results!$I$36</c:f>
              <c:strCache>
                <c:ptCount val="1"/>
                <c:pt idx="0">
                  <c:v>Pred Cent Correction Factor c</c:v>
                </c:pt>
              </c:strCache>
            </c:strRef>
          </c:tx>
          <c:spPr>
            <a:ln w="28575">
              <a:noFill/>
            </a:ln>
          </c:spPr>
          <c:marker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xVal>
            <c:numRef>
              <c:f>Results!$L$36</c:f>
              <c:numCache>
                <c:formatCode>0.00</c:formatCode>
                <c:ptCount val="1"/>
                <c:pt idx="0">
                  <c:v>0.30760902163007486</c:v>
                </c:pt>
              </c:numCache>
            </c:numRef>
          </c:xVal>
          <c:yVal>
            <c:numRef>
              <c:f>Results!$D$39</c:f>
              <c:numCache>
                <c:formatCode>General</c:formatCode>
                <c:ptCount val="1"/>
                <c:pt idx="0">
                  <c:v>105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7508992"/>
        <c:axId val="167781888"/>
      </c:scatterChart>
      <c:valAx>
        <c:axId val="167508992"/>
        <c:scaling>
          <c:orientation val="minMax"/>
          <c:min val="0.2"/>
        </c:scaling>
        <c:delete val="0"/>
        <c:axPos val="b"/>
        <c:title>
          <c:tx>
            <c:strRef>
              <c:f>Results!$A$32</c:f>
              <c:strCache>
                <c:ptCount val="1"/>
                <c:pt idx="0">
                  <c:v>c (correction factor)</c:v>
                </c:pt>
              </c:strCache>
            </c:strRef>
          </c:tx>
          <c:layout/>
          <c:overlay val="0"/>
        </c:title>
        <c:numFmt formatCode="0.00" sourceLinked="1"/>
        <c:majorTickMark val="out"/>
        <c:minorTickMark val="none"/>
        <c:tickLblPos val="nextTo"/>
        <c:crossAx val="167781888"/>
        <c:crosses val="autoZero"/>
        <c:crossBetween val="midCat"/>
      </c:valAx>
      <c:valAx>
        <c:axId val="167781888"/>
        <c:scaling>
          <c:orientation val="minMax"/>
          <c:min val="60"/>
        </c:scaling>
        <c:delete val="0"/>
        <c:axPos val="l"/>
        <c:majorGridlines>
          <c:spPr>
            <a:ln>
              <a:noFill/>
            </a:ln>
          </c:spPr>
        </c:majorGridlines>
        <c:title>
          <c:tx>
            <c:strRef>
              <c:f>Results!$D$32</c:f>
              <c:strCache>
                <c:ptCount val="1"/>
                <c:pt idx="0">
                  <c:v>Turbidity (NTU)</c:v>
                </c:pt>
              </c:strCache>
            </c:strRef>
          </c:tx>
          <c:layout/>
          <c:overlay val="0"/>
          <c:txPr>
            <a:bodyPr rot="-5400000" vert="horz"/>
            <a:lstStyle/>
            <a:p>
              <a:pPr>
                <a:defRPr/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167508992"/>
        <c:crosses val="autoZero"/>
        <c:crossBetween val="midCat"/>
        <c:majorUnit val="10"/>
      </c:valAx>
    </c:plotArea>
    <c:plotVisOnly val="1"/>
    <c:dispBlanksAs val="gap"/>
    <c:showDLblsOverMax val="0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403272463368719"/>
          <c:y val="4.4614809547850534E-2"/>
          <c:w val="0.79425463141939845"/>
          <c:h val="0.75873809398383385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USDCNT_02!$D$2</c:f>
              <c:strCache>
                <c:ptCount val="1"/>
                <c:pt idx="0">
                  <c:v>Pilot Scale</c:v>
                </c:pt>
              </c:strCache>
            </c:strRef>
          </c:tx>
          <c:spPr>
            <a:noFill/>
            <a:ln>
              <a:solidFill>
                <a:schemeClr val="accent1"/>
              </a:solidFill>
            </a:ln>
          </c:spPr>
          <c:invertIfNegative val="0"/>
          <c:cat>
            <c:numRef>
              <c:f>USDCNT_02!$F$2:$F$11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USDCNT_02!$C$2:$C$11</c:f>
              <c:numCache>
                <c:formatCode>General</c:formatCode>
                <c:ptCount val="10"/>
                <c:pt idx="0">
                  <c:v>105</c:v>
                </c:pt>
                <c:pt idx="1">
                  <c:v>88</c:v>
                </c:pt>
                <c:pt idx="2">
                  <c:v>318</c:v>
                </c:pt>
                <c:pt idx="3">
                  <c:v>67.099999999999994</c:v>
                </c:pt>
                <c:pt idx="4">
                  <c:v>90.9</c:v>
                </c:pt>
                <c:pt idx="5">
                  <c:v>155</c:v>
                </c:pt>
                <c:pt idx="6">
                  <c:v>44</c:v>
                </c:pt>
                <c:pt idx="7">
                  <c:v>70</c:v>
                </c:pt>
                <c:pt idx="8">
                  <c:v>105</c:v>
                </c:pt>
                <c:pt idx="9">
                  <c:v>66.8</c:v>
                </c:pt>
              </c:numCache>
            </c:numRef>
          </c:val>
        </c:ser>
        <c:ser>
          <c:idx val="0"/>
          <c:order val="0"/>
          <c:tx>
            <c:strRef>
              <c:f>USDCNT_02!$D$12</c:f>
              <c:strCache>
                <c:ptCount val="1"/>
                <c:pt idx="0">
                  <c:v>USD Predicted</c:v>
                </c:pt>
              </c:strCache>
            </c:strRef>
          </c:tx>
          <c:spPr>
            <a:solidFill>
              <a:srgbClr val="000000"/>
            </a:solidFill>
          </c:spPr>
          <c:invertIfNegative val="0"/>
          <c:cat>
            <c:numRef>
              <c:f>USDCNT_02!$F$2:$F$11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USDCNT_02!$C$12:$C$21</c:f>
              <c:numCache>
                <c:formatCode>General</c:formatCode>
                <c:ptCount val="10"/>
                <c:pt idx="0">
                  <c:v>103</c:v>
                </c:pt>
                <c:pt idx="1">
                  <c:v>36</c:v>
                </c:pt>
                <c:pt idx="2">
                  <c:v>378</c:v>
                </c:pt>
                <c:pt idx="3">
                  <c:v>69.400000000000006</c:v>
                </c:pt>
                <c:pt idx="4">
                  <c:v>92</c:v>
                </c:pt>
                <c:pt idx="5">
                  <c:v>160</c:v>
                </c:pt>
                <c:pt idx="6">
                  <c:v>62</c:v>
                </c:pt>
                <c:pt idx="7">
                  <c:v>67.5</c:v>
                </c:pt>
                <c:pt idx="8">
                  <c:v>77</c:v>
                </c:pt>
                <c:pt idx="9">
                  <c:v>87.4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67838080"/>
        <c:axId val="167840000"/>
      </c:barChart>
      <c:catAx>
        <c:axId val="16783808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Lot Number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67840000"/>
        <c:crosses val="autoZero"/>
        <c:auto val="1"/>
        <c:lblAlgn val="ctr"/>
        <c:lblOffset val="100"/>
        <c:noMultiLvlLbl val="0"/>
      </c:catAx>
      <c:valAx>
        <c:axId val="167840000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Turbidity (NTU)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67838080"/>
        <c:crosses val="autoZero"/>
        <c:crossBetween val="between"/>
        <c:majorUnit val="100"/>
      </c:valAx>
    </c:plotArea>
    <c:legend>
      <c:legendPos val="tr"/>
      <c:layout>
        <c:manualLayout>
          <c:xMode val="edge"/>
          <c:yMode val="edge"/>
          <c:x val="0.61748013646652133"/>
          <c:y val="1.2804268358308798E-2"/>
          <c:w val="0.35945612248117731"/>
          <c:h val="0.12415300899046158"/>
        </c:manualLayout>
      </c:layout>
      <c:overlay val="1"/>
      <c:spPr>
        <a:ln>
          <a:solidFill>
            <a:srgbClr val="000000"/>
          </a:solidFill>
        </a:ln>
      </c:spPr>
    </c:legend>
    <c:plotVisOnly val="1"/>
    <c:dispBlanksAs val="gap"/>
    <c:showDLblsOverMax val="0"/>
  </c:chart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1"/>
          <c:order val="1"/>
          <c:tx>
            <c:v>A5948 3L Scale</c:v>
          </c:tx>
          <c:spPr>
            <a:ln w="28575">
              <a:noFill/>
            </a:ln>
          </c:spPr>
          <c:marker>
            <c:symbol val="diamond"/>
            <c:size val="10"/>
            <c:spPr>
              <a:noFill/>
              <a:ln>
                <a:solidFill>
                  <a:schemeClr val="tx1"/>
                </a:solidFill>
              </a:ln>
            </c:spPr>
          </c:marker>
          <c:trendline>
            <c:trendlineType val="linear"/>
            <c:dispRSqr val="1"/>
            <c:dispEq val="0"/>
            <c:trendlineLbl>
              <c:layout>
                <c:manualLayout>
                  <c:x val="4.7770341207349083E-2"/>
                  <c:y val="0.15429060950714493"/>
                </c:manualLayout>
              </c:layout>
              <c:numFmt formatCode="General" sourceLinked="0"/>
            </c:trendlineLbl>
          </c:trendline>
          <c:xVal>
            <c:numRef>
              <c:f>Sheet1!$S$14:$S$18</c:f>
              <c:numCache>
                <c:formatCode>General</c:formatCode>
                <c:ptCount val="5"/>
                <c:pt idx="0">
                  <c:v>3044.8135299999994</c:v>
                </c:pt>
                <c:pt idx="1">
                  <c:v>3308.1332349999998</c:v>
                </c:pt>
                <c:pt idx="3">
                  <c:v>3103.4960299999998</c:v>
                </c:pt>
                <c:pt idx="4">
                  <c:v>2844.0802299999996</c:v>
                </c:pt>
              </c:numCache>
            </c:numRef>
          </c:xVal>
          <c:yVal>
            <c:numRef>
              <c:f>Sheet1!$T$14:$T$18</c:f>
              <c:numCache>
                <c:formatCode>General</c:formatCode>
                <c:ptCount val="5"/>
                <c:pt idx="0">
                  <c:v>113</c:v>
                </c:pt>
                <c:pt idx="1">
                  <c:v>159</c:v>
                </c:pt>
                <c:pt idx="3">
                  <c:v>122</c:v>
                </c:pt>
                <c:pt idx="4">
                  <c:v>60.7</c:v>
                </c:pt>
              </c:numCache>
            </c:numRef>
          </c:yVal>
          <c:smooth val="0"/>
        </c:ser>
        <c:ser>
          <c:idx val="0"/>
          <c:order val="0"/>
          <c:tx>
            <c:v>A5522-BB3-Pilot Scale</c:v>
          </c:tx>
          <c:spPr>
            <a:ln w="28575">
              <a:solidFill>
                <a:schemeClr val="tx1"/>
              </a:solidFill>
            </a:ln>
          </c:spPr>
          <c:marker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</c:marker>
          <c:dPt>
            <c:idx val="0"/>
            <c:marker>
              <c:symbol val="square"/>
              <c:size val="10"/>
            </c:marker>
            <c:bubble3D val="0"/>
          </c:dPt>
          <c:xVal>
            <c:numRef>
              <c:f>Sheet1!$S$13</c:f>
              <c:numCache>
                <c:formatCode>General</c:formatCode>
                <c:ptCount val="1"/>
                <c:pt idx="0">
                  <c:v>3082.7909099999997</c:v>
                </c:pt>
              </c:numCache>
            </c:numRef>
          </c:xVal>
          <c:yVal>
            <c:numRef>
              <c:f>Sheet1!$T$13</c:f>
              <c:numCache>
                <c:formatCode>General</c:formatCode>
                <c:ptCount val="1"/>
                <c:pt idx="0">
                  <c:v>116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7577472"/>
        <c:axId val="167592320"/>
      </c:scatterChart>
      <c:valAx>
        <c:axId val="1675774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Intergrated Non Viable Cell Density X10^5 (cell/L.hr)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67592320"/>
        <c:crosses val="autoZero"/>
        <c:crossBetween val="midCat"/>
      </c:valAx>
      <c:valAx>
        <c:axId val="167592320"/>
        <c:scaling>
          <c:orientation val="minMax"/>
          <c:max val="200"/>
        </c:scaling>
        <c:delete val="0"/>
        <c:axPos val="l"/>
        <c:majorGridlines>
          <c:spPr>
            <a:ln>
              <a:noFill/>
            </a:ln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Turbidity (NTU)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67577472"/>
        <c:crosses val="autoZero"/>
        <c:crossBetween val="midCat"/>
        <c:majorUnit val="50"/>
      </c:valAx>
    </c:plotArea>
    <c:plotVisOnly val="1"/>
    <c:dispBlanksAs val="gap"/>
    <c:showDLblsOverMax val="0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372376026772132"/>
          <c:y val="7.3465823506333336E-2"/>
          <c:w val="0.68565421319531672"/>
          <c:h val="0.71309032989855092"/>
        </c:manualLayout>
      </c:layout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xVal>
            <c:numRef>
              <c:f>Sheet1!$U$7:$U$10</c:f>
              <c:numCache>
                <c:formatCode>General</c:formatCode>
                <c:ptCount val="4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</c:numCache>
            </c:numRef>
          </c:xVal>
          <c:yVal>
            <c:numRef>
              <c:f>Sheet1!$V$7:$V$10</c:f>
              <c:numCache>
                <c:formatCode>General</c:formatCode>
                <c:ptCount val="4"/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7611392"/>
        <c:axId val="167638144"/>
      </c:scatterChart>
      <c:valAx>
        <c:axId val="1676113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V</a:t>
                </a:r>
              </a:p>
            </c:rich>
          </c:tx>
          <c:layout>
            <c:manualLayout>
              <c:xMode val="edge"/>
              <c:yMode val="edge"/>
              <c:x val="0.52832873879439546"/>
              <c:y val="0.87953651538305633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167638144"/>
        <c:crosses val="autoZero"/>
        <c:crossBetween val="midCat"/>
      </c:valAx>
      <c:valAx>
        <c:axId val="16763814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dV/dt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67611392"/>
        <c:crosses val="autoZero"/>
        <c:crossBetween val="midCat"/>
        <c:majorUnit val="0.4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372376026772132"/>
          <c:y val="7.3465823506333336E-2"/>
          <c:w val="0.68565421319531672"/>
          <c:h val="0.71309032989855092"/>
        </c:manualLayout>
      </c:layout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xVal>
            <c:numRef>
              <c:f>Sheet1!$U$7:$U$10</c:f>
              <c:numCache>
                <c:formatCode>General</c:formatCode>
                <c:ptCount val="4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</c:numCache>
            </c:numRef>
          </c:xVal>
          <c:yVal>
            <c:numRef>
              <c:f>Sheet1!$V$7:$V$10</c:f>
              <c:numCache>
                <c:formatCode>General</c:formatCode>
                <c:ptCount val="4"/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7666432"/>
        <c:axId val="167668352"/>
      </c:scatterChart>
      <c:valAx>
        <c:axId val="16766643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V</a:t>
                </a:r>
              </a:p>
            </c:rich>
          </c:tx>
          <c:layout>
            <c:manualLayout>
              <c:xMode val="edge"/>
              <c:yMode val="edge"/>
              <c:x val="0.52832873879439546"/>
              <c:y val="0.87953651538305633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167668352"/>
        <c:crosses val="autoZero"/>
        <c:crossBetween val="midCat"/>
      </c:valAx>
      <c:valAx>
        <c:axId val="16766835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t/V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67666432"/>
        <c:crosses val="autoZero"/>
        <c:crossBetween val="midCat"/>
        <c:majorUnit val="0.4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372376026772132"/>
          <c:y val="7.3465823506333336E-2"/>
          <c:w val="0.68565421319531672"/>
          <c:h val="0.71309032989855092"/>
        </c:manualLayout>
      </c:layout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xVal>
            <c:numRef>
              <c:f>Sheet1!$U$7:$U$10</c:f>
              <c:numCache>
                <c:formatCode>General</c:formatCode>
                <c:ptCount val="4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</c:numCache>
            </c:numRef>
          </c:xVal>
          <c:yVal>
            <c:numRef>
              <c:f>Sheet1!$V$7:$V$10</c:f>
              <c:numCache>
                <c:formatCode>General</c:formatCode>
                <c:ptCount val="4"/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7688448"/>
        <c:axId val="167719296"/>
      </c:scatterChart>
      <c:valAx>
        <c:axId val="16768844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V</a:t>
                </a:r>
              </a:p>
            </c:rich>
          </c:tx>
          <c:layout>
            <c:manualLayout>
              <c:xMode val="edge"/>
              <c:yMode val="edge"/>
              <c:x val="0.52832873879439546"/>
              <c:y val="0.87953651538305633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167719296"/>
        <c:crosses val="autoZero"/>
        <c:crossBetween val="midCat"/>
      </c:valAx>
      <c:valAx>
        <c:axId val="16771929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dt/dV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67688448"/>
        <c:crosses val="autoZero"/>
        <c:crossBetween val="midCat"/>
        <c:majorUnit val="0.4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372376026772132"/>
          <c:y val="7.3465823506333336E-2"/>
          <c:w val="0.68565421319531672"/>
          <c:h val="0.71309032989855092"/>
        </c:manualLayout>
      </c:layout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xVal>
            <c:numRef>
              <c:f>Sheet1!$U$7:$U$10</c:f>
              <c:numCache>
                <c:formatCode>General</c:formatCode>
                <c:ptCount val="4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</c:numCache>
            </c:numRef>
          </c:xVal>
          <c:yVal>
            <c:numRef>
              <c:f>Sheet1!$V$7:$V$10</c:f>
              <c:numCache>
                <c:formatCode>General</c:formatCode>
                <c:ptCount val="4"/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7731200"/>
        <c:axId val="167733120"/>
      </c:scatterChart>
      <c:valAx>
        <c:axId val="16773120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t</a:t>
                </a:r>
              </a:p>
            </c:rich>
          </c:tx>
          <c:layout>
            <c:manualLayout>
              <c:xMode val="edge"/>
              <c:yMode val="edge"/>
              <c:x val="0.52832873879439546"/>
              <c:y val="0.87953651538305633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167733120"/>
        <c:crosses val="autoZero"/>
        <c:crossBetween val="midCat"/>
      </c:valAx>
      <c:valAx>
        <c:axId val="167733120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t/V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67731200"/>
        <c:crosses val="autoZero"/>
        <c:crossBetween val="midCat"/>
        <c:majorUnit val="0.4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diamond"/>
            <c:size val="10"/>
          </c:marker>
          <c:trendline>
            <c:trendlineType val="linear"/>
            <c:dispRSqr val="0"/>
            <c:dispEq val="0"/>
          </c:trendline>
          <c:xVal>
            <c:numRef>
              <c:f>'D0HC-Figure-1'!$C$2:$C$11</c:f>
              <c:numCache>
                <c:formatCode>General</c:formatCode>
                <c:ptCount val="10"/>
                <c:pt idx="0">
                  <c:v>1.0924312E-2</c:v>
                </c:pt>
                <c:pt idx="1">
                  <c:v>1.4084012E-2</c:v>
                </c:pt>
                <c:pt idx="2">
                  <c:v>1.2828763999999999E-2</c:v>
                </c:pt>
                <c:pt idx="3">
                  <c:v>1.3515008E-2</c:v>
                </c:pt>
                <c:pt idx="4">
                  <c:v>8.0971849999999998E-3</c:v>
                </c:pt>
                <c:pt idx="5">
                  <c:v>4.2667310000000002E-3</c:v>
                </c:pt>
                <c:pt idx="6">
                  <c:v>5.4384159999999997E-3</c:v>
                </c:pt>
                <c:pt idx="7">
                  <c:v>9.5739829999999995E-3</c:v>
                </c:pt>
                <c:pt idx="8">
                  <c:v>4.4453690000000002E-3</c:v>
                </c:pt>
                <c:pt idx="9">
                  <c:v>5.7099430000000003E-3</c:v>
                </c:pt>
              </c:numCache>
            </c:numRef>
          </c:xVal>
          <c:yVal>
            <c:numRef>
              <c:f>'D0HC-Figure-1'!$B$2:$B$11</c:f>
              <c:numCache>
                <c:formatCode>General</c:formatCode>
                <c:ptCount val="10"/>
                <c:pt idx="0">
                  <c:v>58.289549999999998</c:v>
                </c:pt>
                <c:pt idx="1">
                  <c:v>39.04</c:v>
                </c:pt>
                <c:pt idx="2">
                  <c:v>42.598750000000003</c:v>
                </c:pt>
                <c:pt idx="3">
                  <c:v>49.096670000000003</c:v>
                </c:pt>
                <c:pt idx="4">
                  <c:v>116.69862000000001</c:v>
                </c:pt>
                <c:pt idx="5">
                  <c:v>142.93195</c:v>
                </c:pt>
                <c:pt idx="6">
                  <c:v>105.38704</c:v>
                </c:pt>
                <c:pt idx="7">
                  <c:v>92.088239999999999</c:v>
                </c:pt>
                <c:pt idx="8">
                  <c:v>126.37475999999999</c:v>
                </c:pt>
                <c:pt idx="9">
                  <c:v>124.27937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7948288"/>
        <c:axId val="167950208"/>
      </c:scatterChart>
      <c:valAx>
        <c:axId val="167948288"/>
        <c:scaling>
          <c:orientation val="minMax"/>
          <c:min val="3.0000000000000009E-3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Constant Pressure Fouling Coefficient (K</a:t>
                </a:r>
                <a:r>
                  <a:rPr lang="en-US" baseline="-25000" dirty="0"/>
                  <a:t>S</a:t>
                </a:r>
                <a:r>
                  <a:rPr lang="en-US" dirty="0"/>
                  <a:t>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67950208"/>
        <c:crosses val="autoZero"/>
        <c:crossBetween val="midCat"/>
        <c:majorUnit val="3.0000000000000009E-3"/>
      </c:valAx>
      <c:valAx>
        <c:axId val="16795020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/>
                  <a:t>Constant  Flow Capacity (L/m</a:t>
                </a:r>
                <a:r>
                  <a:rPr lang="en-US" baseline="30000" dirty="0"/>
                  <a:t>2</a:t>
                </a:r>
                <a:r>
                  <a:rPr lang="en-US" dirty="0"/>
                  <a:t>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67948288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'D0HC-Figure-2'!$A$2</c:f>
              <c:strCache>
                <c:ptCount val="1"/>
                <c:pt idx="0">
                  <c:v>CF Experimental Capacity (30 LMH)</c:v>
                </c:pt>
              </c:strCache>
            </c:strRef>
          </c:tx>
          <c:invertIfNegative val="0"/>
          <c:cat>
            <c:strRef>
              <c:f>'D0HC-Figure-2'!$B$1:$D$1</c:f>
              <c:strCache>
                <c:ptCount val="3"/>
                <c:pt idx="0">
                  <c:v>Lot-A</c:v>
                </c:pt>
                <c:pt idx="1">
                  <c:v>Lot-B</c:v>
                </c:pt>
                <c:pt idx="2">
                  <c:v>Lot-C</c:v>
                </c:pt>
              </c:strCache>
            </c:strRef>
          </c:cat>
          <c:val>
            <c:numRef>
              <c:f>'D0HC-Figure-2'!$B$2:$D$2</c:f>
              <c:numCache>
                <c:formatCode>General</c:formatCode>
                <c:ptCount val="3"/>
                <c:pt idx="0">
                  <c:v>107.83248</c:v>
                </c:pt>
                <c:pt idx="1">
                  <c:v>105.13966000000001</c:v>
                </c:pt>
                <c:pt idx="2">
                  <c:v>104.20796</c:v>
                </c:pt>
              </c:numCache>
            </c:numRef>
          </c:val>
        </c:ser>
        <c:ser>
          <c:idx val="1"/>
          <c:order val="1"/>
          <c:tx>
            <c:strRef>
              <c:f>'D0HC-Figure-2'!$A$3</c:f>
              <c:strCache>
                <c:ptCount val="1"/>
                <c:pt idx="0">
                  <c:v>CP Predicted Capacity (10psi)</c:v>
                </c:pt>
              </c:strCache>
            </c:strRef>
          </c:tx>
          <c:spPr>
            <a:noFill/>
            <a:ln>
              <a:solidFill>
                <a:schemeClr val="accent1"/>
              </a:solidFill>
            </a:ln>
          </c:spPr>
          <c:invertIfNegative val="0"/>
          <c:cat>
            <c:strRef>
              <c:f>'D0HC-Figure-2'!$B$1:$D$1</c:f>
              <c:strCache>
                <c:ptCount val="3"/>
                <c:pt idx="0">
                  <c:v>Lot-A</c:v>
                </c:pt>
                <c:pt idx="1">
                  <c:v>Lot-B</c:v>
                </c:pt>
                <c:pt idx="2">
                  <c:v>Lot-C</c:v>
                </c:pt>
              </c:strCache>
            </c:strRef>
          </c:cat>
          <c:val>
            <c:numRef>
              <c:f>'D0HC-Figure-2'!$B$3:$D$3</c:f>
              <c:numCache>
                <c:formatCode>General</c:formatCode>
                <c:ptCount val="3"/>
                <c:pt idx="0">
                  <c:v>89.568439999999995</c:v>
                </c:pt>
                <c:pt idx="1">
                  <c:v>90.885530000000003</c:v>
                </c:pt>
                <c:pt idx="2">
                  <c:v>89.98357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8247296"/>
        <c:axId val="168248832"/>
      </c:barChart>
      <c:catAx>
        <c:axId val="168247296"/>
        <c:scaling>
          <c:orientation val="minMax"/>
        </c:scaling>
        <c:delete val="0"/>
        <c:axPos val="b"/>
        <c:majorTickMark val="out"/>
        <c:minorTickMark val="none"/>
        <c:tickLblPos val="nextTo"/>
        <c:crossAx val="168248832"/>
        <c:crosses val="autoZero"/>
        <c:auto val="1"/>
        <c:lblAlgn val="ctr"/>
        <c:lblOffset val="100"/>
        <c:noMultiLvlLbl val="0"/>
      </c:catAx>
      <c:valAx>
        <c:axId val="16824883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Constant Flow Capacity (L/m2)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6824729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ED7E8-0829-F34C-B479-A757805E6C1B}" type="datetimeFigureOut">
              <a:rPr lang="en-US" smtClean="0"/>
              <a:pPr/>
              <a:t>9/6/2016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334D3-7666-C24C-995B-669B029DDF2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3147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E4F11-7667-5045-A00B-01970EA44BB5}" type="datetimeFigureOut">
              <a:rPr lang="en-US" smtClean="0"/>
              <a:pPr/>
              <a:t>9/6/2016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1788" y="698500"/>
            <a:ext cx="6194425" cy="3484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1" y="4415791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D751AE-7ABC-314D-AFAD-47B860ED6FF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4454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1788" y="698500"/>
            <a:ext cx="6194425" cy="3484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29B2BC-E91A-4CAF-97FB-F4F7EBE0427E}" type="slidenum">
              <a:rPr lang="en-GB" smtClean="0">
                <a:solidFill>
                  <a:prstClr val="black"/>
                </a:solidFill>
              </a:rPr>
              <a:pPr/>
              <a:t>3</a:t>
            </a:fld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3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751AE-7ABC-314D-AFAD-47B860ED6FF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320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751AE-7ABC-314D-AFAD-47B860ED6FF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438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Heroic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 userDrawn="1"/>
        </p:nvSpPr>
        <p:spPr>
          <a:xfrm>
            <a:off x="144000" y="144000"/>
            <a:ext cx="2977528" cy="48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pic>
        <p:nvPicPr>
          <p:cNvPr id="17" name="Picture 16" descr="M SYMBOL LARGE_WHITE_H_NEG SPACE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374059" cy="5148000"/>
          </a:xfrm>
          <a:prstGeom prst="rect">
            <a:avLst/>
          </a:prstGeom>
        </p:spPr>
      </p:pic>
      <p:sp>
        <p:nvSpPr>
          <p:cNvPr id="21" name="Title 8"/>
          <p:cNvSpPr>
            <a:spLocks noGrp="1"/>
          </p:cNvSpPr>
          <p:nvPr>
            <p:ph type="title" hasCustomPrompt="1"/>
          </p:nvPr>
        </p:nvSpPr>
        <p:spPr>
          <a:xfrm>
            <a:off x="3270251" y="1081682"/>
            <a:ext cx="5410200" cy="504000"/>
          </a:xfrm>
          <a:prstGeom prst="rect">
            <a:avLst/>
          </a:prstGeom>
        </p:spPr>
        <p:txBody>
          <a:bodyPr vert="horz"/>
          <a:lstStyle>
            <a:lvl1pPr algn="l">
              <a:lnSpc>
                <a:spcPct val="90000"/>
              </a:lnSpc>
              <a:defRPr sz="2800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presentation title</a:t>
            </a:r>
            <a:endParaRPr lang="en-GB" noProof="0" dirty="0"/>
          </a:p>
        </p:txBody>
      </p:sp>
      <p:sp>
        <p:nvSpPr>
          <p:cNvPr id="10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3287897" y="3784183"/>
            <a:ext cx="5400000" cy="1908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11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Click to add speaker title</a:t>
            </a:r>
          </a:p>
        </p:txBody>
      </p:sp>
      <p:sp>
        <p:nvSpPr>
          <p:cNvPr id="12" name="Text Placeholder 29"/>
          <p:cNvSpPr>
            <a:spLocks noGrp="1"/>
          </p:cNvSpPr>
          <p:nvPr>
            <p:ph type="body" sz="quarter" idx="12" hasCustomPrompt="1"/>
          </p:nvPr>
        </p:nvSpPr>
        <p:spPr>
          <a:xfrm>
            <a:off x="3287897" y="3990433"/>
            <a:ext cx="5400000" cy="1908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11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Click to add event title</a:t>
            </a:r>
          </a:p>
        </p:txBody>
      </p:sp>
      <p:sp>
        <p:nvSpPr>
          <p:cNvPr id="13" name="Text Placeholder 29"/>
          <p:cNvSpPr>
            <a:spLocks noGrp="1"/>
          </p:cNvSpPr>
          <p:nvPr>
            <p:ph type="body" sz="quarter" idx="15" hasCustomPrompt="1"/>
          </p:nvPr>
        </p:nvSpPr>
        <p:spPr>
          <a:xfrm>
            <a:off x="3295430" y="4495385"/>
            <a:ext cx="1872000" cy="1908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1100"/>
              </a:lnSpc>
              <a:spcBef>
                <a:spcPts val="0"/>
              </a:spcBef>
              <a:buNone/>
              <a:defRPr sz="12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Confidential statement</a:t>
            </a:r>
          </a:p>
        </p:txBody>
      </p:sp>
      <p:sp>
        <p:nvSpPr>
          <p:cNvPr id="14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95430" y="4701635"/>
            <a:ext cx="1872000" cy="1908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11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00 Month Year</a:t>
            </a:r>
          </a:p>
        </p:txBody>
      </p:sp>
      <p:pic>
        <p:nvPicPr>
          <p:cNvPr id="3" name="Picture 2" descr="MEDIMMUNE_AZ_RGB_H_COL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6025" y="190483"/>
            <a:ext cx="1638000" cy="53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45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itle -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44000" y="1250332"/>
            <a:ext cx="8856000" cy="372826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216001" y="1386482"/>
            <a:ext cx="6822759" cy="504000"/>
          </a:xfrm>
          <a:prstGeom prst="rect">
            <a:avLst/>
          </a:prstGeom>
        </p:spPr>
        <p:txBody>
          <a:bodyPr vert="horz"/>
          <a:lstStyle>
            <a:lvl1pPr algn="l">
              <a:lnSpc>
                <a:spcPct val="90000"/>
              </a:lnSpc>
              <a:defRPr sz="2800" b="1" baseline="0">
                <a:solidFill>
                  <a:srgbClr val="FFFFF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presentation title</a:t>
            </a:r>
            <a:endParaRPr lang="en-GB" noProof="0" dirty="0"/>
          </a:p>
        </p:txBody>
      </p:sp>
      <p:sp>
        <p:nvSpPr>
          <p:cNvPr id="12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215999" y="4463994"/>
            <a:ext cx="6480000" cy="1908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11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Click to add speaker title</a:t>
            </a:r>
          </a:p>
        </p:txBody>
      </p:sp>
      <p:sp>
        <p:nvSpPr>
          <p:cNvPr id="13" name="Text Placeholder 29"/>
          <p:cNvSpPr>
            <a:spLocks noGrp="1"/>
          </p:cNvSpPr>
          <p:nvPr>
            <p:ph type="body" sz="quarter" idx="12" hasCustomPrompt="1"/>
          </p:nvPr>
        </p:nvSpPr>
        <p:spPr>
          <a:xfrm>
            <a:off x="215999" y="4670244"/>
            <a:ext cx="6480000" cy="1908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11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Click to add event title</a:t>
            </a:r>
          </a:p>
        </p:txBody>
      </p:sp>
      <p:sp>
        <p:nvSpPr>
          <p:cNvPr id="14" name="Text Placeholder 29"/>
          <p:cNvSpPr>
            <a:spLocks noGrp="1"/>
          </p:cNvSpPr>
          <p:nvPr>
            <p:ph type="body" sz="quarter" idx="15" hasCustomPrompt="1"/>
          </p:nvPr>
        </p:nvSpPr>
        <p:spPr>
          <a:xfrm>
            <a:off x="7128000" y="4463994"/>
            <a:ext cx="1872000" cy="1908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1100"/>
              </a:lnSpc>
              <a:spcBef>
                <a:spcPts val="0"/>
              </a:spcBef>
              <a:buNone/>
              <a:defRPr sz="12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Confidential statement</a:t>
            </a:r>
          </a:p>
        </p:txBody>
      </p:sp>
      <p:sp>
        <p:nvSpPr>
          <p:cNvPr id="15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7128000" y="4670244"/>
            <a:ext cx="1872000" cy="1908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11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00 Month Year</a:t>
            </a:r>
          </a:p>
        </p:txBody>
      </p:sp>
      <p:pic>
        <p:nvPicPr>
          <p:cNvPr id="9" name="Picture 8" descr="MEDIMMUNE_AZ_RGB_H_COL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6025" y="190483"/>
            <a:ext cx="1638000" cy="53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97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itle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8"/>
          <p:cNvSpPr>
            <a:spLocks noGrp="1"/>
          </p:cNvSpPr>
          <p:nvPr>
            <p:ph type="title" hasCustomPrompt="1"/>
          </p:nvPr>
        </p:nvSpPr>
        <p:spPr>
          <a:xfrm>
            <a:off x="216001" y="1386482"/>
            <a:ext cx="6822759" cy="504000"/>
          </a:xfrm>
          <a:prstGeom prst="rect">
            <a:avLst/>
          </a:prstGeom>
        </p:spPr>
        <p:txBody>
          <a:bodyPr vert="horz"/>
          <a:lstStyle>
            <a:lvl1pPr algn="l">
              <a:lnSpc>
                <a:spcPct val="90000"/>
              </a:lnSpc>
              <a:defRPr sz="2800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presentation title</a:t>
            </a:r>
            <a:endParaRPr lang="en-GB" noProof="0" dirty="0"/>
          </a:p>
        </p:txBody>
      </p:sp>
      <p:sp>
        <p:nvSpPr>
          <p:cNvPr id="10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215999" y="4463994"/>
            <a:ext cx="6480000" cy="1908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1100"/>
              </a:lnSpc>
              <a:spcBef>
                <a:spcPts val="0"/>
              </a:spcBef>
              <a:buNone/>
              <a:defRPr sz="1400" b="1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Click to add speaker title</a:t>
            </a:r>
          </a:p>
        </p:txBody>
      </p:sp>
      <p:sp>
        <p:nvSpPr>
          <p:cNvPr id="12" name="Text Placeholder 29"/>
          <p:cNvSpPr>
            <a:spLocks noGrp="1"/>
          </p:cNvSpPr>
          <p:nvPr>
            <p:ph type="body" sz="quarter" idx="12" hasCustomPrompt="1"/>
          </p:nvPr>
        </p:nvSpPr>
        <p:spPr>
          <a:xfrm>
            <a:off x="215999" y="4670244"/>
            <a:ext cx="6480000" cy="1908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1100"/>
              </a:lnSpc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Click to add event title</a:t>
            </a:r>
          </a:p>
        </p:txBody>
      </p:sp>
      <p:sp>
        <p:nvSpPr>
          <p:cNvPr id="14" name="Text Placeholder 29"/>
          <p:cNvSpPr>
            <a:spLocks noGrp="1"/>
          </p:cNvSpPr>
          <p:nvPr>
            <p:ph type="body" sz="quarter" idx="15" hasCustomPrompt="1"/>
          </p:nvPr>
        </p:nvSpPr>
        <p:spPr>
          <a:xfrm>
            <a:off x="7128000" y="4463994"/>
            <a:ext cx="1872000" cy="1908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1100"/>
              </a:lnSpc>
              <a:spcBef>
                <a:spcPts val="0"/>
              </a:spcBef>
              <a:buNone/>
              <a:defRPr sz="1200" baseline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Confidential statement</a:t>
            </a:r>
          </a:p>
        </p:txBody>
      </p:sp>
      <p:sp>
        <p:nvSpPr>
          <p:cNvPr id="15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7128000" y="4670244"/>
            <a:ext cx="1872000" cy="1908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1100"/>
              </a:lnSpc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00 Month Year</a:t>
            </a:r>
          </a:p>
        </p:txBody>
      </p:sp>
      <p:pic>
        <p:nvPicPr>
          <p:cNvPr id="9" name="Picture 8" descr="MEDIMMUNE_AZ_RGB_H_COL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6025" y="190483"/>
            <a:ext cx="1638000" cy="53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3403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Heroic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44000" y="144000"/>
            <a:ext cx="8856000" cy="48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13" name="Title 8"/>
          <p:cNvSpPr>
            <a:spLocks noGrp="1"/>
          </p:cNvSpPr>
          <p:nvPr>
            <p:ph type="title" hasCustomPrompt="1"/>
          </p:nvPr>
        </p:nvSpPr>
        <p:spPr>
          <a:xfrm>
            <a:off x="3268800" y="144000"/>
            <a:ext cx="5627550" cy="504000"/>
          </a:xfrm>
          <a:prstGeom prst="rect">
            <a:avLst/>
          </a:prstGeom>
        </p:spPr>
        <p:txBody>
          <a:bodyPr vert="horz"/>
          <a:lstStyle>
            <a:lvl1pPr algn="l">
              <a:defRPr sz="24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divider title</a:t>
            </a:r>
            <a:endParaRPr lang="en-GB" noProof="0" dirty="0"/>
          </a:p>
        </p:txBody>
      </p:sp>
      <p:pic>
        <p:nvPicPr>
          <p:cNvPr id="4" name="Picture 3" descr="M SYMBOL LARGE_WHITE_H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124530" cy="51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906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44000" y="144000"/>
            <a:ext cx="8856000" cy="48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13" name="Title 8"/>
          <p:cNvSpPr>
            <a:spLocks noGrp="1"/>
          </p:cNvSpPr>
          <p:nvPr>
            <p:ph type="title" hasCustomPrompt="1"/>
          </p:nvPr>
        </p:nvSpPr>
        <p:spPr>
          <a:xfrm>
            <a:off x="237600" y="144000"/>
            <a:ext cx="8280000" cy="504000"/>
          </a:xfrm>
          <a:prstGeom prst="rect">
            <a:avLst/>
          </a:prstGeom>
        </p:spPr>
        <p:txBody>
          <a:bodyPr vert="horz"/>
          <a:lstStyle>
            <a:lvl1pPr algn="l">
              <a:defRPr sz="24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divider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49453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Mulber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44000" y="144000"/>
            <a:ext cx="8856000" cy="486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13" name="Title 8"/>
          <p:cNvSpPr>
            <a:spLocks noGrp="1"/>
          </p:cNvSpPr>
          <p:nvPr>
            <p:ph type="title" hasCustomPrompt="1"/>
          </p:nvPr>
        </p:nvSpPr>
        <p:spPr>
          <a:xfrm>
            <a:off x="237600" y="144000"/>
            <a:ext cx="8280000" cy="504000"/>
          </a:xfrm>
          <a:prstGeom prst="rect">
            <a:avLst/>
          </a:prstGeom>
        </p:spPr>
        <p:txBody>
          <a:bodyPr vert="horz"/>
          <a:lstStyle>
            <a:lvl1pPr algn="l">
              <a:defRPr sz="24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divider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049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Light Blu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44000" y="144000"/>
            <a:ext cx="8856000" cy="486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13" name="Title 8"/>
          <p:cNvSpPr>
            <a:spLocks noGrp="1"/>
          </p:cNvSpPr>
          <p:nvPr>
            <p:ph type="title" hasCustomPrompt="1"/>
          </p:nvPr>
        </p:nvSpPr>
        <p:spPr>
          <a:xfrm>
            <a:off x="237600" y="144000"/>
            <a:ext cx="8280000" cy="504000"/>
          </a:xfrm>
          <a:prstGeom prst="rect">
            <a:avLst/>
          </a:prstGeom>
        </p:spPr>
        <p:txBody>
          <a:bodyPr vert="horz"/>
          <a:lstStyle>
            <a:lvl1pPr algn="l">
              <a:defRPr sz="24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divider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82381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44000" y="144000"/>
            <a:ext cx="8856000" cy="48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13" name="Title 8"/>
          <p:cNvSpPr>
            <a:spLocks noGrp="1"/>
          </p:cNvSpPr>
          <p:nvPr>
            <p:ph type="title" hasCustomPrompt="1"/>
          </p:nvPr>
        </p:nvSpPr>
        <p:spPr>
          <a:xfrm>
            <a:off x="237600" y="144000"/>
            <a:ext cx="8280000" cy="504000"/>
          </a:xfrm>
          <a:prstGeom prst="rect">
            <a:avLst/>
          </a:prstGeom>
        </p:spPr>
        <p:txBody>
          <a:bodyPr vert="horz"/>
          <a:lstStyle>
            <a:lvl1pPr algn="l">
              <a:defRPr sz="24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divider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32000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Grap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44000" y="144000"/>
            <a:ext cx="8856000" cy="4860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13" name="Title 8"/>
          <p:cNvSpPr>
            <a:spLocks noGrp="1"/>
          </p:cNvSpPr>
          <p:nvPr>
            <p:ph type="title" hasCustomPrompt="1"/>
          </p:nvPr>
        </p:nvSpPr>
        <p:spPr>
          <a:xfrm>
            <a:off x="237600" y="144000"/>
            <a:ext cx="8280000" cy="504000"/>
          </a:xfrm>
          <a:prstGeom prst="rect">
            <a:avLst/>
          </a:prstGeom>
        </p:spPr>
        <p:txBody>
          <a:bodyPr vert="horz"/>
          <a:lstStyle>
            <a:lvl1pPr algn="l">
              <a:defRPr sz="24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divider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07833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237061" y="1164512"/>
            <a:ext cx="7023713" cy="3051939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Clr>
                <a:srgbClr val="830051"/>
              </a:buClr>
              <a:buFont typeface="Arial" pitchFamily="34" charset="0"/>
              <a:buNone/>
              <a:defRPr sz="24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800"/>
            </a:lvl2pPr>
            <a:lvl3pPr marL="685800" indent="0">
              <a:buNone/>
              <a:defRPr sz="1800"/>
            </a:lvl3pPr>
            <a:lvl4pPr marL="1028700" indent="0">
              <a:buNone/>
              <a:defRPr sz="1800"/>
            </a:lvl4pPr>
            <a:lvl5pPr marL="1371600" indent="0">
              <a:buNone/>
              <a:defRPr sz="1800"/>
            </a:lvl5pPr>
          </a:lstStyle>
          <a:p>
            <a:pPr lvl="0"/>
            <a:r>
              <a:rPr lang="en-GB" noProof="0" dirty="0" smtClean="0"/>
              <a:t>Click to add introduction text</a:t>
            </a:r>
          </a:p>
        </p:txBody>
      </p:sp>
      <p:sp>
        <p:nvSpPr>
          <p:cNvPr id="8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>
              <a:lnSpc>
                <a:spcPts val="2250"/>
              </a:lnSpc>
              <a:defRPr sz="2400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master title</a:t>
            </a:r>
            <a:endParaRPr lang="en-GB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71553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 Conten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able Placeholder 29"/>
          <p:cNvSpPr>
            <a:spLocks noGrp="1"/>
          </p:cNvSpPr>
          <p:nvPr>
            <p:ph type="tbl" sz="quarter" idx="15"/>
          </p:nvPr>
        </p:nvSpPr>
        <p:spPr>
          <a:xfrm>
            <a:off x="987429" y="1298350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46699" y="1409914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50" name="Text Placeholder 49"/>
          <p:cNvSpPr>
            <a:spLocks noGrp="1"/>
          </p:cNvSpPr>
          <p:nvPr>
            <p:ph type="body" sz="quarter" idx="26" hasCustomPrompt="1"/>
          </p:nvPr>
        </p:nvSpPr>
        <p:spPr>
          <a:xfrm>
            <a:off x="330200" y="1298700"/>
            <a:ext cx="540000" cy="405000"/>
          </a:xfrm>
          <a:prstGeom prst="rect">
            <a:avLst/>
          </a:prstGeom>
          <a:solidFill>
            <a:srgbClr val="D8DCDE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450"/>
              </a:spcBef>
              <a:buNone/>
              <a:defRPr sz="18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1</a:t>
            </a:r>
            <a:endParaRPr lang="en-GB" noProof="0" dirty="0"/>
          </a:p>
        </p:txBody>
      </p:sp>
      <p:sp>
        <p:nvSpPr>
          <p:cNvPr id="58" name="Table Placeholder 29"/>
          <p:cNvSpPr>
            <a:spLocks noGrp="1"/>
          </p:cNvSpPr>
          <p:nvPr>
            <p:ph type="tbl" sz="quarter" idx="27"/>
          </p:nvPr>
        </p:nvSpPr>
        <p:spPr>
          <a:xfrm>
            <a:off x="987429" y="1802617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59" name="Text Placeholder 2"/>
          <p:cNvSpPr>
            <a:spLocks noGrp="1"/>
          </p:cNvSpPr>
          <p:nvPr>
            <p:ph type="body" sz="quarter" idx="28"/>
          </p:nvPr>
        </p:nvSpPr>
        <p:spPr>
          <a:xfrm>
            <a:off x="1046699" y="1914181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 baseline="0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0" name="Text Placeholder 49"/>
          <p:cNvSpPr>
            <a:spLocks noGrp="1"/>
          </p:cNvSpPr>
          <p:nvPr>
            <p:ph type="body" sz="quarter" idx="29" hasCustomPrompt="1"/>
          </p:nvPr>
        </p:nvSpPr>
        <p:spPr>
          <a:xfrm>
            <a:off x="330200" y="1802967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2</a:t>
            </a:r>
            <a:endParaRPr lang="en-GB" noProof="0" dirty="0"/>
          </a:p>
        </p:txBody>
      </p:sp>
      <p:sp>
        <p:nvSpPr>
          <p:cNvPr id="62" name="Table Placeholder 29"/>
          <p:cNvSpPr>
            <a:spLocks noGrp="1"/>
          </p:cNvSpPr>
          <p:nvPr>
            <p:ph type="tbl" sz="quarter" idx="30"/>
          </p:nvPr>
        </p:nvSpPr>
        <p:spPr>
          <a:xfrm>
            <a:off x="987429" y="2311673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3" name="Text Placeholder 2"/>
          <p:cNvSpPr>
            <a:spLocks noGrp="1"/>
          </p:cNvSpPr>
          <p:nvPr>
            <p:ph type="body" sz="quarter" idx="31"/>
          </p:nvPr>
        </p:nvSpPr>
        <p:spPr>
          <a:xfrm>
            <a:off x="1046699" y="2423237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4" name="Text Placeholder 49"/>
          <p:cNvSpPr>
            <a:spLocks noGrp="1"/>
          </p:cNvSpPr>
          <p:nvPr>
            <p:ph type="body" sz="quarter" idx="32" hasCustomPrompt="1"/>
          </p:nvPr>
        </p:nvSpPr>
        <p:spPr>
          <a:xfrm>
            <a:off x="330200" y="2312024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3</a:t>
            </a:r>
            <a:endParaRPr lang="en-GB" noProof="0" dirty="0"/>
          </a:p>
        </p:txBody>
      </p:sp>
      <p:sp>
        <p:nvSpPr>
          <p:cNvPr id="66" name="Table Placeholder 29"/>
          <p:cNvSpPr>
            <a:spLocks noGrp="1"/>
          </p:cNvSpPr>
          <p:nvPr>
            <p:ph type="tbl" sz="quarter" idx="33"/>
          </p:nvPr>
        </p:nvSpPr>
        <p:spPr>
          <a:xfrm>
            <a:off x="987429" y="2822381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7" name="Text Placeholder 2"/>
          <p:cNvSpPr>
            <a:spLocks noGrp="1"/>
          </p:cNvSpPr>
          <p:nvPr>
            <p:ph type="body" sz="quarter" idx="34"/>
          </p:nvPr>
        </p:nvSpPr>
        <p:spPr>
          <a:xfrm>
            <a:off x="1046699" y="2933945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8" name="Text Placeholder 49"/>
          <p:cNvSpPr>
            <a:spLocks noGrp="1"/>
          </p:cNvSpPr>
          <p:nvPr>
            <p:ph type="body" sz="quarter" idx="35" hasCustomPrompt="1"/>
          </p:nvPr>
        </p:nvSpPr>
        <p:spPr>
          <a:xfrm>
            <a:off x="330200" y="2822732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4</a:t>
            </a:r>
            <a:endParaRPr lang="en-GB" noProof="0" dirty="0"/>
          </a:p>
        </p:txBody>
      </p:sp>
      <p:sp>
        <p:nvSpPr>
          <p:cNvPr id="70" name="Table Placeholder 29"/>
          <p:cNvSpPr>
            <a:spLocks noGrp="1"/>
          </p:cNvSpPr>
          <p:nvPr>
            <p:ph type="tbl" sz="quarter" idx="36"/>
          </p:nvPr>
        </p:nvSpPr>
        <p:spPr>
          <a:xfrm>
            <a:off x="987429" y="3330659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1" name="Text Placeholder 2"/>
          <p:cNvSpPr>
            <a:spLocks noGrp="1"/>
          </p:cNvSpPr>
          <p:nvPr>
            <p:ph type="body" sz="quarter" idx="37"/>
          </p:nvPr>
        </p:nvSpPr>
        <p:spPr>
          <a:xfrm>
            <a:off x="1046699" y="3442222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72" name="Text Placeholder 49"/>
          <p:cNvSpPr>
            <a:spLocks noGrp="1"/>
          </p:cNvSpPr>
          <p:nvPr>
            <p:ph type="body" sz="quarter" idx="38" hasCustomPrompt="1"/>
          </p:nvPr>
        </p:nvSpPr>
        <p:spPr>
          <a:xfrm>
            <a:off x="330200" y="3331009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5</a:t>
            </a:r>
            <a:endParaRPr lang="en-GB" noProof="0" dirty="0"/>
          </a:p>
        </p:txBody>
      </p:sp>
      <p:sp>
        <p:nvSpPr>
          <p:cNvPr id="74" name="Table Placeholder 29"/>
          <p:cNvSpPr>
            <a:spLocks noGrp="1"/>
          </p:cNvSpPr>
          <p:nvPr>
            <p:ph type="tbl" sz="quarter" idx="39"/>
          </p:nvPr>
        </p:nvSpPr>
        <p:spPr>
          <a:xfrm>
            <a:off x="987429" y="3846875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5" name="Text Placeholder 2"/>
          <p:cNvSpPr>
            <a:spLocks noGrp="1"/>
          </p:cNvSpPr>
          <p:nvPr>
            <p:ph type="body" sz="quarter" idx="40"/>
          </p:nvPr>
        </p:nvSpPr>
        <p:spPr>
          <a:xfrm>
            <a:off x="1046699" y="3958439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76" name="Text Placeholder 49"/>
          <p:cNvSpPr>
            <a:spLocks noGrp="1"/>
          </p:cNvSpPr>
          <p:nvPr>
            <p:ph type="body" sz="quarter" idx="41" hasCustomPrompt="1"/>
          </p:nvPr>
        </p:nvSpPr>
        <p:spPr>
          <a:xfrm>
            <a:off x="330200" y="3847226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6</a:t>
            </a:r>
            <a:endParaRPr lang="en-GB" noProof="0" dirty="0"/>
          </a:p>
        </p:txBody>
      </p:sp>
      <p:sp>
        <p:nvSpPr>
          <p:cNvPr id="29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navigation 1 title</a:t>
            </a:r>
            <a:endParaRPr lang="en-GB" noProof="0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92293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 Conte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able Placeholder 29"/>
          <p:cNvSpPr>
            <a:spLocks noGrp="1"/>
          </p:cNvSpPr>
          <p:nvPr>
            <p:ph type="tbl" sz="quarter" idx="15"/>
          </p:nvPr>
        </p:nvSpPr>
        <p:spPr>
          <a:xfrm>
            <a:off x="987429" y="1298350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46699" y="1409914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50" name="Text Placeholder 49"/>
          <p:cNvSpPr>
            <a:spLocks noGrp="1"/>
          </p:cNvSpPr>
          <p:nvPr>
            <p:ph type="body" sz="quarter" idx="26" hasCustomPrompt="1"/>
          </p:nvPr>
        </p:nvSpPr>
        <p:spPr>
          <a:xfrm>
            <a:off x="330200" y="1298700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1</a:t>
            </a:r>
            <a:endParaRPr lang="en-GB" noProof="0" dirty="0"/>
          </a:p>
        </p:txBody>
      </p:sp>
      <p:sp>
        <p:nvSpPr>
          <p:cNvPr id="58" name="Table Placeholder 29"/>
          <p:cNvSpPr>
            <a:spLocks noGrp="1"/>
          </p:cNvSpPr>
          <p:nvPr>
            <p:ph type="tbl" sz="quarter" idx="27"/>
          </p:nvPr>
        </p:nvSpPr>
        <p:spPr>
          <a:xfrm>
            <a:off x="987429" y="1802617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59" name="Text Placeholder 2"/>
          <p:cNvSpPr>
            <a:spLocks noGrp="1"/>
          </p:cNvSpPr>
          <p:nvPr>
            <p:ph type="body" sz="quarter" idx="28"/>
          </p:nvPr>
        </p:nvSpPr>
        <p:spPr>
          <a:xfrm>
            <a:off x="1046699" y="1914181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0" name="Text Placeholder 49"/>
          <p:cNvSpPr>
            <a:spLocks noGrp="1"/>
          </p:cNvSpPr>
          <p:nvPr>
            <p:ph type="body" sz="quarter" idx="29" hasCustomPrompt="1"/>
          </p:nvPr>
        </p:nvSpPr>
        <p:spPr>
          <a:xfrm>
            <a:off x="330200" y="1802967"/>
            <a:ext cx="540000" cy="405000"/>
          </a:xfrm>
          <a:prstGeom prst="rect">
            <a:avLst/>
          </a:prstGeom>
          <a:solidFill>
            <a:srgbClr val="D8DCDE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2</a:t>
            </a:r>
            <a:endParaRPr lang="en-GB" noProof="0"/>
          </a:p>
        </p:txBody>
      </p:sp>
      <p:sp>
        <p:nvSpPr>
          <p:cNvPr id="62" name="Table Placeholder 29"/>
          <p:cNvSpPr>
            <a:spLocks noGrp="1"/>
          </p:cNvSpPr>
          <p:nvPr>
            <p:ph type="tbl" sz="quarter" idx="30"/>
          </p:nvPr>
        </p:nvSpPr>
        <p:spPr>
          <a:xfrm>
            <a:off x="987429" y="2311673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3" name="Text Placeholder 2"/>
          <p:cNvSpPr>
            <a:spLocks noGrp="1"/>
          </p:cNvSpPr>
          <p:nvPr>
            <p:ph type="body" sz="quarter" idx="31"/>
          </p:nvPr>
        </p:nvSpPr>
        <p:spPr>
          <a:xfrm>
            <a:off x="1046699" y="2423237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smtClean="0"/>
          </a:p>
        </p:txBody>
      </p:sp>
      <p:sp>
        <p:nvSpPr>
          <p:cNvPr id="64" name="Text Placeholder 49"/>
          <p:cNvSpPr>
            <a:spLocks noGrp="1"/>
          </p:cNvSpPr>
          <p:nvPr>
            <p:ph type="body" sz="quarter" idx="32" hasCustomPrompt="1"/>
          </p:nvPr>
        </p:nvSpPr>
        <p:spPr>
          <a:xfrm>
            <a:off x="330200" y="2312024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3</a:t>
            </a:r>
            <a:endParaRPr lang="en-GB" noProof="0"/>
          </a:p>
        </p:txBody>
      </p:sp>
      <p:sp>
        <p:nvSpPr>
          <p:cNvPr id="66" name="Table Placeholder 29"/>
          <p:cNvSpPr>
            <a:spLocks noGrp="1"/>
          </p:cNvSpPr>
          <p:nvPr>
            <p:ph type="tbl" sz="quarter" idx="33"/>
          </p:nvPr>
        </p:nvSpPr>
        <p:spPr>
          <a:xfrm>
            <a:off x="987429" y="2822381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7" name="Text Placeholder 2"/>
          <p:cNvSpPr>
            <a:spLocks noGrp="1"/>
          </p:cNvSpPr>
          <p:nvPr>
            <p:ph type="body" sz="quarter" idx="34"/>
          </p:nvPr>
        </p:nvSpPr>
        <p:spPr>
          <a:xfrm>
            <a:off x="1046699" y="2933945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8" name="Text Placeholder 49"/>
          <p:cNvSpPr>
            <a:spLocks noGrp="1"/>
          </p:cNvSpPr>
          <p:nvPr>
            <p:ph type="body" sz="quarter" idx="35" hasCustomPrompt="1"/>
          </p:nvPr>
        </p:nvSpPr>
        <p:spPr>
          <a:xfrm>
            <a:off x="330200" y="2822732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4</a:t>
            </a:r>
            <a:endParaRPr lang="en-GB" noProof="0"/>
          </a:p>
        </p:txBody>
      </p:sp>
      <p:sp>
        <p:nvSpPr>
          <p:cNvPr id="70" name="Table Placeholder 29"/>
          <p:cNvSpPr>
            <a:spLocks noGrp="1"/>
          </p:cNvSpPr>
          <p:nvPr>
            <p:ph type="tbl" sz="quarter" idx="36"/>
          </p:nvPr>
        </p:nvSpPr>
        <p:spPr>
          <a:xfrm>
            <a:off x="987429" y="3330659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1" name="Text Placeholder 2"/>
          <p:cNvSpPr>
            <a:spLocks noGrp="1"/>
          </p:cNvSpPr>
          <p:nvPr>
            <p:ph type="body" sz="quarter" idx="37"/>
          </p:nvPr>
        </p:nvSpPr>
        <p:spPr>
          <a:xfrm>
            <a:off x="1046699" y="3442222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72" name="Text Placeholder 49"/>
          <p:cNvSpPr>
            <a:spLocks noGrp="1"/>
          </p:cNvSpPr>
          <p:nvPr>
            <p:ph type="body" sz="quarter" idx="38" hasCustomPrompt="1"/>
          </p:nvPr>
        </p:nvSpPr>
        <p:spPr>
          <a:xfrm>
            <a:off x="330200" y="3331009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5</a:t>
            </a:r>
            <a:endParaRPr lang="en-GB" noProof="0"/>
          </a:p>
        </p:txBody>
      </p:sp>
      <p:sp>
        <p:nvSpPr>
          <p:cNvPr id="74" name="Table Placeholder 29"/>
          <p:cNvSpPr>
            <a:spLocks noGrp="1"/>
          </p:cNvSpPr>
          <p:nvPr>
            <p:ph type="tbl" sz="quarter" idx="39"/>
          </p:nvPr>
        </p:nvSpPr>
        <p:spPr>
          <a:xfrm>
            <a:off x="987429" y="3846875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5" name="Text Placeholder 2"/>
          <p:cNvSpPr>
            <a:spLocks noGrp="1"/>
          </p:cNvSpPr>
          <p:nvPr>
            <p:ph type="body" sz="quarter" idx="40"/>
          </p:nvPr>
        </p:nvSpPr>
        <p:spPr>
          <a:xfrm>
            <a:off x="1046699" y="3958439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smtClean="0"/>
          </a:p>
        </p:txBody>
      </p:sp>
      <p:sp>
        <p:nvSpPr>
          <p:cNvPr id="76" name="Text Placeholder 49"/>
          <p:cNvSpPr>
            <a:spLocks noGrp="1"/>
          </p:cNvSpPr>
          <p:nvPr>
            <p:ph type="body" sz="quarter" idx="41" hasCustomPrompt="1"/>
          </p:nvPr>
        </p:nvSpPr>
        <p:spPr>
          <a:xfrm>
            <a:off x="330200" y="3847226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6</a:t>
            </a:r>
            <a:endParaRPr lang="en-GB" noProof="0"/>
          </a:p>
        </p:txBody>
      </p:sp>
      <p:sp>
        <p:nvSpPr>
          <p:cNvPr id="27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navigation 2 title</a:t>
            </a:r>
            <a:endParaRPr lang="en-GB" noProof="0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38077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 Conten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able Placeholder 29"/>
          <p:cNvSpPr>
            <a:spLocks noGrp="1"/>
          </p:cNvSpPr>
          <p:nvPr>
            <p:ph type="tbl" sz="quarter" idx="15"/>
          </p:nvPr>
        </p:nvSpPr>
        <p:spPr>
          <a:xfrm>
            <a:off x="987429" y="1298350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46699" y="1409914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50" name="Text Placeholder 49"/>
          <p:cNvSpPr>
            <a:spLocks noGrp="1"/>
          </p:cNvSpPr>
          <p:nvPr>
            <p:ph type="body" sz="quarter" idx="26" hasCustomPrompt="1"/>
          </p:nvPr>
        </p:nvSpPr>
        <p:spPr>
          <a:xfrm>
            <a:off x="330200" y="1298700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1</a:t>
            </a:r>
            <a:endParaRPr lang="en-GB" noProof="0"/>
          </a:p>
        </p:txBody>
      </p:sp>
      <p:sp>
        <p:nvSpPr>
          <p:cNvPr id="58" name="Table Placeholder 29"/>
          <p:cNvSpPr>
            <a:spLocks noGrp="1"/>
          </p:cNvSpPr>
          <p:nvPr>
            <p:ph type="tbl" sz="quarter" idx="27"/>
          </p:nvPr>
        </p:nvSpPr>
        <p:spPr>
          <a:xfrm>
            <a:off x="987429" y="1802617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59" name="Text Placeholder 2"/>
          <p:cNvSpPr>
            <a:spLocks noGrp="1"/>
          </p:cNvSpPr>
          <p:nvPr>
            <p:ph type="body" sz="quarter" idx="28"/>
          </p:nvPr>
        </p:nvSpPr>
        <p:spPr>
          <a:xfrm>
            <a:off x="1046699" y="1914181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 baseline="0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0" name="Text Placeholder 49"/>
          <p:cNvSpPr>
            <a:spLocks noGrp="1"/>
          </p:cNvSpPr>
          <p:nvPr>
            <p:ph type="body" sz="quarter" idx="29" hasCustomPrompt="1"/>
          </p:nvPr>
        </p:nvSpPr>
        <p:spPr>
          <a:xfrm>
            <a:off x="330200" y="1802967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2</a:t>
            </a:r>
            <a:endParaRPr lang="en-GB" noProof="0"/>
          </a:p>
        </p:txBody>
      </p:sp>
      <p:sp>
        <p:nvSpPr>
          <p:cNvPr id="62" name="Table Placeholder 29"/>
          <p:cNvSpPr>
            <a:spLocks noGrp="1"/>
          </p:cNvSpPr>
          <p:nvPr>
            <p:ph type="tbl" sz="quarter" idx="30"/>
          </p:nvPr>
        </p:nvSpPr>
        <p:spPr>
          <a:xfrm>
            <a:off x="987429" y="2311673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3" name="Text Placeholder 2"/>
          <p:cNvSpPr>
            <a:spLocks noGrp="1"/>
          </p:cNvSpPr>
          <p:nvPr>
            <p:ph type="body" sz="quarter" idx="31"/>
          </p:nvPr>
        </p:nvSpPr>
        <p:spPr>
          <a:xfrm>
            <a:off x="1046699" y="2423237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4" name="Text Placeholder 49"/>
          <p:cNvSpPr>
            <a:spLocks noGrp="1"/>
          </p:cNvSpPr>
          <p:nvPr>
            <p:ph type="body" sz="quarter" idx="32" hasCustomPrompt="1"/>
          </p:nvPr>
        </p:nvSpPr>
        <p:spPr>
          <a:xfrm>
            <a:off x="330200" y="2312024"/>
            <a:ext cx="540000" cy="405000"/>
          </a:xfrm>
          <a:prstGeom prst="rect">
            <a:avLst/>
          </a:prstGeom>
          <a:solidFill>
            <a:srgbClr val="D8DCDE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3</a:t>
            </a:r>
            <a:endParaRPr lang="en-GB" noProof="0" dirty="0"/>
          </a:p>
        </p:txBody>
      </p:sp>
      <p:sp>
        <p:nvSpPr>
          <p:cNvPr id="66" name="Table Placeholder 29"/>
          <p:cNvSpPr>
            <a:spLocks noGrp="1"/>
          </p:cNvSpPr>
          <p:nvPr>
            <p:ph type="tbl" sz="quarter" idx="33"/>
          </p:nvPr>
        </p:nvSpPr>
        <p:spPr>
          <a:xfrm>
            <a:off x="987429" y="2822381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7" name="Text Placeholder 2"/>
          <p:cNvSpPr>
            <a:spLocks noGrp="1"/>
          </p:cNvSpPr>
          <p:nvPr>
            <p:ph type="body" sz="quarter" idx="34"/>
          </p:nvPr>
        </p:nvSpPr>
        <p:spPr>
          <a:xfrm>
            <a:off x="1046699" y="2933945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8" name="Text Placeholder 49"/>
          <p:cNvSpPr>
            <a:spLocks noGrp="1"/>
          </p:cNvSpPr>
          <p:nvPr>
            <p:ph type="body" sz="quarter" idx="35" hasCustomPrompt="1"/>
          </p:nvPr>
        </p:nvSpPr>
        <p:spPr>
          <a:xfrm>
            <a:off x="330200" y="2822732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4</a:t>
            </a:r>
            <a:endParaRPr lang="en-GB" noProof="0"/>
          </a:p>
        </p:txBody>
      </p:sp>
      <p:sp>
        <p:nvSpPr>
          <p:cNvPr id="70" name="Table Placeholder 29"/>
          <p:cNvSpPr>
            <a:spLocks noGrp="1"/>
          </p:cNvSpPr>
          <p:nvPr>
            <p:ph type="tbl" sz="quarter" idx="36"/>
          </p:nvPr>
        </p:nvSpPr>
        <p:spPr>
          <a:xfrm>
            <a:off x="987429" y="3330659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1" name="Text Placeholder 2"/>
          <p:cNvSpPr>
            <a:spLocks noGrp="1"/>
          </p:cNvSpPr>
          <p:nvPr>
            <p:ph type="body" sz="quarter" idx="37"/>
          </p:nvPr>
        </p:nvSpPr>
        <p:spPr>
          <a:xfrm>
            <a:off x="1046699" y="3442222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72" name="Text Placeholder 49"/>
          <p:cNvSpPr>
            <a:spLocks noGrp="1"/>
          </p:cNvSpPr>
          <p:nvPr>
            <p:ph type="body" sz="quarter" idx="38" hasCustomPrompt="1"/>
          </p:nvPr>
        </p:nvSpPr>
        <p:spPr>
          <a:xfrm>
            <a:off x="330200" y="3331009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5</a:t>
            </a:r>
            <a:endParaRPr lang="en-GB" noProof="0"/>
          </a:p>
        </p:txBody>
      </p:sp>
      <p:sp>
        <p:nvSpPr>
          <p:cNvPr id="74" name="Table Placeholder 29"/>
          <p:cNvSpPr>
            <a:spLocks noGrp="1"/>
          </p:cNvSpPr>
          <p:nvPr>
            <p:ph type="tbl" sz="quarter" idx="39"/>
          </p:nvPr>
        </p:nvSpPr>
        <p:spPr>
          <a:xfrm>
            <a:off x="987429" y="3846875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5" name="Text Placeholder 2"/>
          <p:cNvSpPr>
            <a:spLocks noGrp="1"/>
          </p:cNvSpPr>
          <p:nvPr>
            <p:ph type="body" sz="quarter" idx="40"/>
          </p:nvPr>
        </p:nvSpPr>
        <p:spPr>
          <a:xfrm>
            <a:off x="1046699" y="3958439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76" name="Text Placeholder 49"/>
          <p:cNvSpPr>
            <a:spLocks noGrp="1"/>
          </p:cNvSpPr>
          <p:nvPr>
            <p:ph type="body" sz="quarter" idx="41" hasCustomPrompt="1"/>
          </p:nvPr>
        </p:nvSpPr>
        <p:spPr>
          <a:xfrm>
            <a:off x="330200" y="3847226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6</a:t>
            </a:r>
            <a:endParaRPr lang="en-GB" noProof="0" dirty="0"/>
          </a:p>
        </p:txBody>
      </p:sp>
      <p:sp>
        <p:nvSpPr>
          <p:cNvPr id="27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navigation 3 title</a:t>
            </a:r>
            <a:endParaRPr lang="en-GB" noProof="0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65725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 Conten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able Placeholder 29"/>
          <p:cNvSpPr>
            <a:spLocks noGrp="1"/>
          </p:cNvSpPr>
          <p:nvPr>
            <p:ph type="tbl" sz="quarter" idx="15"/>
          </p:nvPr>
        </p:nvSpPr>
        <p:spPr>
          <a:xfrm>
            <a:off x="987429" y="1298350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46699" y="1409914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50" name="Text Placeholder 49"/>
          <p:cNvSpPr>
            <a:spLocks noGrp="1"/>
          </p:cNvSpPr>
          <p:nvPr>
            <p:ph type="body" sz="quarter" idx="26" hasCustomPrompt="1"/>
          </p:nvPr>
        </p:nvSpPr>
        <p:spPr>
          <a:xfrm>
            <a:off x="330200" y="1298700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1</a:t>
            </a:r>
            <a:endParaRPr lang="en-GB" noProof="0"/>
          </a:p>
        </p:txBody>
      </p:sp>
      <p:sp>
        <p:nvSpPr>
          <p:cNvPr id="58" name="Table Placeholder 29"/>
          <p:cNvSpPr>
            <a:spLocks noGrp="1"/>
          </p:cNvSpPr>
          <p:nvPr>
            <p:ph type="tbl" sz="quarter" idx="27"/>
          </p:nvPr>
        </p:nvSpPr>
        <p:spPr>
          <a:xfrm>
            <a:off x="987429" y="1802617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59" name="Text Placeholder 2"/>
          <p:cNvSpPr>
            <a:spLocks noGrp="1"/>
          </p:cNvSpPr>
          <p:nvPr>
            <p:ph type="body" sz="quarter" idx="28"/>
          </p:nvPr>
        </p:nvSpPr>
        <p:spPr>
          <a:xfrm>
            <a:off x="1046699" y="1914181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 baseline="0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0" name="Text Placeholder 49"/>
          <p:cNvSpPr>
            <a:spLocks noGrp="1"/>
          </p:cNvSpPr>
          <p:nvPr>
            <p:ph type="body" sz="quarter" idx="29" hasCustomPrompt="1"/>
          </p:nvPr>
        </p:nvSpPr>
        <p:spPr>
          <a:xfrm>
            <a:off x="330200" y="1802967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2</a:t>
            </a:r>
            <a:endParaRPr lang="en-GB" noProof="0"/>
          </a:p>
        </p:txBody>
      </p:sp>
      <p:sp>
        <p:nvSpPr>
          <p:cNvPr id="62" name="Table Placeholder 29"/>
          <p:cNvSpPr>
            <a:spLocks noGrp="1"/>
          </p:cNvSpPr>
          <p:nvPr>
            <p:ph type="tbl" sz="quarter" idx="30"/>
          </p:nvPr>
        </p:nvSpPr>
        <p:spPr>
          <a:xfrm>
            <a:off x="987429" y="2311673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3" name="Text Placeholder 2"/>
          <p:cNvSpPr>
            <a:spLocks noGrp="1"/>
          </p:cNvSpPr>
          <p:nvPr>
            <p:ph type="body" sz="quarter" idx="31"/>
          </p:nvPr>
        </p:nvSpPr>
        <p:spPr>
          <a:xfrm>
            <a:off x="1046699" y="2423237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4" name="Text Placeholder 49"/>
          <p:cNvSpPr>
            <a:spLocks noGrp="1"/>
          </p:cNvSpPr>
          <p:nvPr>
            <p:ph type="body" sz="quarter" idx="32" hasCustomPrompt="1"/>
          </p:nvPr>
        </p:nvSpPr>
        <p:spPr>
          <a:xfrm>
            <a:off x="330200" y="2312024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3</a:t>
            </a:r>
            <a:endParaRPr lang="en-GB" noProof="0"/>
          </a:p>
        </p:txBody>
      </p:sp>
      <p:sp>
        <p:nvSpPr>
          <p:cNvPr id="66" name="Table Placeholder 29"/>
          <p:cNvSpPr>
            <a:spLocks noGrp="1"/>
          </p:cNvSpPr>
          <p:nvPr>
            <p:ph type="tbl" sz="quarter" idx="33"/>
          </p:nvPr>
        </p:nvSpPr>
        <p:spPr>
          <a:xfrm>
            <a:off x="987429" y="2822381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7" name="Text Placeholder 2"/>
          <p:cNvSpPr>
            <a:spLocks noGrp="1"/>
          </p:cNvSpPr>
          <p:nvPr>
            <p:ph type="body" sz="quarter" idx="34"/>
          </p:nvPr>
        </p:nvSpPr>
        <p:spPr>
          <a:xfrm>
            <a:off x="1046699" y="2933945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8" name="Text Placeholder 49"/>
          <p:cNvSpPr>
            <a:spLocks noGrp="1"/>
          </p:cNvSpPr>
          <p:nvPr>
            <p:ph type="body" sz="quarter" idx="35" hasCustomPrompt="1"/>
          </p:nvPr>
        </p:nvSpPr>
        <p:spPr>
          <a:xfrm>
            <a:off x="330200" y="2822732"/>
            <a:ext cx="540000" cy="405000"/>
          </a:xfrm>
          <a:prstGeom prst="rect">
            <a:avLst/>
          </a:prstGeom>
          <a:solidFill>
            <a:srgbClr val="D8DCDE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4</a:t>
            </a:r>
            <a:endParaRPr lang="en-GB" noProof="0"/>
          </a:p>
        </p:txBody>
      </p:sp>
      <p:sp>
        <p:nvSpPr>
          <p:cNvPr id="70" name="Table Placeholder 29"/>
          <p:cNvSpPr>
            <a:spLocks noGrp="1"/>
          </p:cNvSpPr>
          <p:nvPr>
            <p:ph type="tbl" sz="quarter" idx="36"/>
          </p:nvPr>
        </p:nvSpPr>
        <p:spPr>
          <a:xfrm>
            <a:off x="987429" y="3330659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1" name="Text Placeholder 2"/>
          <p:cNvSpPr>
            <a:spLocks noGrp="1"/>
          </p:cNvSpPr>
          <p:nvPr>
            <p:ph type="body" sz="quarter" idx="37"/>
          </p:nvPr>
        </p:nvSpPr>
        <p:spPr>
          <a:xfrm>
            <a:off x="1046699" y="3442222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72" name="Text Placeholder 49"/>
          <p:cNvSpPr>
            <a:spLocks noGrp="1"/>
          </p:cNvSpPr>
          <p:nvPr>
            <p:ph type="body" sz="quarter" idx="38" hasCustomPrompt="1"/>
          </p:nvPr>
        </p:nvSpPr>
        <p:spPr>
          <a:xfrm>
            <a:off x="330200" y="3331009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5</a:t>
            </a:r>
            <a:endParaRPr lang="en-GB" noProof="0"/>
          </a:p>
        </p:txBody>
      </p:sp>
      <p:sp>
        <p:nvSpPr>
          <p:cNvPr id="74" name="Table Placeholder 29"/>
          <p:cNvSpPr>
            <a:spLocks noGrp="1"/>
          </p:cNvSpPr>
          <p:nvPr>
            <p:ph type="tbl" sz="quarter" idx="39"/>
          </p:nvPr>
        </p:nvSpPr>
        <p:spPr>
          <a:xfrm>
            <a:off x="987429" y="3846875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5" name="Text Placeholder 2"/>
          <p:cNvSpPr>
            <a:spLocks noGrp="1"/>
          </p:cNvSpPr>
          <p:nvPr>
            <p:ph type="body" sz="quarter" idx="40"/>
          </p:nvPr>
        </p:nvSpPr>
        <p:spPr>
          <a:xfrm>
            <a:off x="1046699" y="3958439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smtClean="0"/>
          </a:p>
        </p:txBody>
      </p:sp>
      <p:sp>
        <p:nvSpPr>
          <p:cNvPr id="76" name="Text Placeholder 49"/>
          <p:cNvSpPr>
            <a:spLocks noGrp="1"/>
          </p:cNvSpPr>
          <p:nvPr>
            <p:ph type="body" sz="quarter" idx="41" hasCustomPrompt="1"/>
          </p:nvPr>
        </p:nvSpPr>
        <p:spPr>
          <a:xfrm>
            <a:off x="330200" y="3847226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6</a:t>
            </a:r>
            <a:endParaRPr lang="en-GB" noProof="0"/>
          </a:p>
        </p:txBody>
      </p:sp>
      <p:sp>
        <p:nvSpPr>
          <p:cNvPr id="27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navigation 4 title</a:t>
            </a:r>
            <a:endParaRPr lang="en-GB" noProof="0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76436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 Conten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able Placeholder 29"/>
          <p:cNvSpPr>
            <a:spLocks noGrp="1"/>
          </p:cNvSpPr>
          <p:nvPr>
            <p:ph type="tbl" sz="quarter" idx="15"/>
          </p:nvPr>
        </p:nvSpPr>
        <p:spPr>
          <a:xfrm>
            <a:off x="987429" y="1298350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46699" y="1409914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50" name="Text Placeholder 49"/>
          <p:cNvSpPr>
            <a:spLocks noGrp="1"/>
          </p:cNvSpPr>
          <p:nvPr>
            <p:ph type="body" sz="quarter" idx="26" hasCustomPrompt="1"/>
          </p:nvPr>
        </p:nvSpPr>
        <p:spPr>
          <a:xfrm>
            <a:off x="330200" y="1298700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1</a:t>
            </a:r>
            <a:endParaRPr lang="en-GB" noProof="0"/>
          </a:p>
        </p:txBody>
      </p:sp>
      <p:sp>
        <p:nvSpPr>
          <p:cNvPr id="58" name="Table Placeholder 29"/>
          <p:cNvSpPr>
            <a:spLocks noGrp="1"/>
          </p:cNvSpPr>
          <p:nvPr>
            <p:ph type="tbl" sz="quarter" idx="27"/>
          </p:nvPr>
        </p:nvSpPr>
        <p:spPr>
          <a:xfrm>
            <a:off x="987429" y="1802617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59" name="Text Placeholder 2"/>
          <p:cNvSpPr>
            <a:spLocks noGrp="1"/>
          </p:cNvSpPr>
          <p:nvPr>
            <p:ph type="body" sz="quarter" idx="28"/>
          </p:nvPr>
        </p:nvSpPr>
        <p:spPr>
          <a:xfrm>
            <a:off x="1046699" y="1914181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 baseline="0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0" name="Text Placeholder 49"/>
          <p:cNvSpPr>
            <a:spLocks noGrp="1"/>
          </p:cNvSpPr>
          <p:nvPr>
            <p:ph type="body" sz="quarter" idx="29" hasCustomPrompt="1"/>
          </p:nvPr>
        </p:nvSpPr>
        <p:spPr>
          <a:xfrm>
            <a:off x="330200" y="1802967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2</a:t>
            </a:r>
            <a:endParaRPr lang="en-GB" noProof="0"/>
          </a:p>
        </p:txBody>
      </p:sp>
      <p:sp>
        <p:nvSpPr>
          <p:cNvPr id="62" name="Table Placeholder 29"/>
          <p:cNvSpPr>
            <a:spLocks noGrp="1"/>
          </p:cNvSpPr>
          <p:nvPr>
            <p:ph type="tbl" sz="quarter" idx="30"/>
          </p:nvPr>
        </p:nvSpPr>
        <p:spPr>
          <a:xfrm>
            <a:off x="987429" y="2311673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3" name="Text Placeholder 2"/>
          <p:cNvSpPr>
            <a:spLocks noGrp="1"/>
          </p:cNvSpPr>
          <p:nvPr>
            <p:ph type="body" sz="quarter" idx="31"/>
          </p:nvPr>
        </p:nvSpPr>
        <p:spPr>
          <a:xfrm>
            <a:off x="1046699" y="2423237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smtClean="0"/>
          </a:p>
        </p:txBody>
      </p:sp>
      <p:sp>
        <p:nvSpPr>
          <p:cNvPr id="64" name="Text Placeholder 49"/>
          <p:cNvSpPr>
            <a:spLocks noGrp="1"/>
          </p:cNvSpPr>
          <p:nvPr>
            <p:ph type="body" sz="quarter" idx="32" hasCustomPrompt="1"/>
          </p:nvPr>
        </p:nvSpPr>
        <p:spPr>
          <a:xfrm>
            <a:off x="330200" y="2312024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3</a:t>
            </a:r>
            <a:endParaRPr lang="en-GB" noProof="0"/>
          </a:p>
        </p:txBody>
      </p:sp>
      <p:sp>
        <p:nvSpPr>
          <p:cNvPr id="66" name="Table Placeholder 29"/>
          <p:cNvSpPr>
            <a:spLocks noGrp="1"/>
          </p:cNvSpPr>
          <p:nvPr>
            <p:ph type="tbl" sz="quarter" idx="33"/>
          </p:nvPr>
        </p:nvSpPr>
        <p:spPr>
          <a:xfrm>
            <a:off x="987429" y="2822381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7" name="Text Placeholder 2"/>
          <p:cNvSpPr>
            <a:spLocks noGrp="1"/>
          </p:cNvSpPr>
          <p:nvPr>
            <p:ph type="body" sz="quarter" idx="34"/>
          </p:nvPr>
        </p:nvSpPr>
        <p:spPr>
          <a:xfrm>
            <a:off x="1046699" y="2933945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8" name="Text Placeholder 49"/>
          <p:cNvSpPr>
            <a:spLocks noGrp="1"/>
          </p:cNvSpPr>
          <p:nvPr>
            <p:ph type="body" sz="quarter" idx="35" hasCustomPrompt="1"/>
          </p:nvPr>
        </p:nvSpPr>
        <p:spPr>
          <a:xfrm>
            <a:off x="330200" y="2822732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4</a:t>
            </a:r>
            <a:endParaRPr lang="en-GB" noProof="0"/>
          </a:p>
        </p:txBody>
      </p:sp>
      <p:sp>
        <p:nvSpPr>
          <p:cNvPr id="70" name="Table Placeholder 29"/>
          <p:cNvSpPr>
            <a:spLocks noGrp="1"/>
          </p:cNvSpPr>
          <p:nvPr>
            <p:ph type="tbl" sz="quarter" idx="36"/>
          </p:nvPr>
        </p:nvSpPr>
        <p:spPr>
          <a:xfrm>
            <a:off x="987429" y="3330659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1" name="Text Placeholder 2"/>
          <p:cNvSpPr>
            <a:spLocks noGrp="1"/>
          </p:cNvSpPr>
          <p:nvPr>
            <p:ph type="body" sz="quarter" idx="37"/>
          </p:nvPr>
        </p:nvSpPr>
        <p:spPr>
          <a:xfrm>
            <a:off x="1046699" y="3442222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72" name="Text Placeholder 49"/>
          <p:cNvSpPr>
            <a:spLocks noGrp="1"/>
          </p:cNvSpPr>
          <p:nvPr>
            <p:ph type="body" sz="quarter" idx="38" hasCustomPrompt="1"/>
          </p:nvPr>
        </p:nvSpPr>
        <p:spPr>
          <a:xfrm>
            <a:off x="330200" y="3331009"/>
            <a:ext cx="540000" cy="405000"/>
          </a:xfrm>
          <a:prstGeom prst="rect">
            <a:avLst/>
          </a:prstGeom>
          <a:solidFill>
            <a:srgbClr val="D8DCDE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5</a:t>
            </a:r>
            <a:endParaRPr lang="en-GB" noProof="0"/>
          </a:p>
        </p:txBody>
      </p:sp>
      <p:sp>
        <p:nvSpPr>
          <p:cNvPr id="74" name="Table Placeholder 29"/>
          <p:cNvSpPr>
            <a:spLocks noGrp="1"/>
          </p:cNvSpPr>
          <p:nvPr>
            <p:ph type="tbl" sz="quarter" idx="39"/>
          </p:nvPr>
        </p:nvSpPr>
        <p:spPr>
          <a:xfrm>
            <a:off x="987429" y="3846875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5" name="Text Placeholder 2"/>
          <p:cNvSpPr>
            <a:spLocks noGrp="1"/>
          </p:cNvSpPr>
          <p:nvPr>
            <p:ph type="body" sz="quarter" idx="40"/>
          </p:nvPr>
        </p:nvSpPr>
        <p:spPr>
          <a:xfrm>
            <a:off x="1046699" y="3958439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smtClean="0"/>
          </a:p>
        </p:txBody>
      </p:sp>
      <p:sp>
        <p:nvSpPr>
          <p:cNvPr id="76" name="Text Placeholder 49"/>
          <p:cNvSpPr>
            <a:spLocks noGrp="1"/>
          </p:cNvSpPr>
          <p:nvPr>
            <p:ph type="body" sz="quarter" idx="41" hasCustomPrompt="1"/>
          </p:nvPr>
        </p:nvSpPr>
        <p:spPr>
          <a:xfrm>
            <a:off x="330200" y="3847226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6</a:t>
            </a:r>
            <a:endParaRPr lang="en-GB" noProof="0"/>
          </a:p>
        </p:txBody>
      </p:sp>
      <p:sp>
        <p:nvSpPr>
          <p:cNvPr id="27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navigation 5 title</a:t>
            </a:r>
            <a:endParaRPr lang="en-GB" noProof="0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27802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 Content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able Placeholder 29"/>
          <p:cNvSpPr>
            <a:spLocks noGrp="1"/>
          </p:cNvSpPr>
          <p:nvPr>
            <p:ph type="tbl" sz="quarter" idx="15"/>
          </p:nvPr>
        </p:nvSpPr>
        <p:spPr>
          <a:xfrm>
            <a:off x="987429" y="1298350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46699" y="1409914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50" name="Text Placeholder 49"/>
          <p:cNvSpPr>
            <a:spLocks noGrp="1"/>
          </p:cNvSpPr>
          <p:nvPr>
            <p:ph type="body" sz="quarter" idx="26" hasCustomPrompt="1"/>
          </p:nvPr>
        </p:nvSpPr>
        <p:spPr>
          <a:xfrm>
            <a:off x="330200" y="1298700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1</a:t>
            </a:r>
            <a:endParaRPr lang="en-GB" noProof="0" dirty="0"/>
          </a:p>
        </p:txBody>
      </p:sp>
      <p:sp>
        <p:nvSpPr>
          <p:cNvPr id="58" name="Table Placeholder 29"/>
          <p:cNvSpPr>
            <a:spLocks noGrp="1"/>
          </p:cNvSpPr>
          <p:nvPr>
            <p:ph type="tbl" sz="quarter" idx="27"/>
          </p:nvPr>
        </p:nvSpPr>
        <p:spPr>
          <a:xfrm>
            <a:off x="987429" y="1802617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59" name="Text Placeholder 2"/>
          <p:cNvSpPr>
            <a:spLocks noGrp="1"/>
          </p:cNvSpPr>
          <p:nvPr>
            <p:ph type="body" sz="quarter" idx="28"/>
          </p:nvPr>
        </p:nvSpPr>
        <p:spPr>
          <a:xfrm>
            <a:off x="1046699" y="1914181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 baseline="0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0" name="Text Placeholder 49"/>
          <p:cNvSpPr>
            <a:spLocks noGrp="1"/>
          </p:cNvSpPr>
          <p:nvPr>
            <p:ph type="body" sz="quarter" idx="29" hasCustomPrompt="1"/>
          </p:nvPr>
        </p:nvSpPr>
        <p:spPr>
          <a:xfrm>
            <a:off x="330200" y="1802967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2</a:t>
            </a:r>
            <a:endParaRPr lang="en-GB" noProof="0" dirty="0"/>
          </a:p>
        </p:txBody>
      </p:sp>
      <p:sp>
        <p:nvSpPr>
          <p:cNvPr id="62" name="Table Placeholder 29"/>
          <p:cNvSpPr>
            <a:spLocks noGrp="1"/>
          </p:cNvSpPr>
          <p:nvPr>
            <p:ph type="tbl" sz="quarter" idx="30"/>
          </p:nvPr>
        </p:nvSpPr>
        <p:spPr>
          <a:xfrm>
            <a:off x="987429" y="2311673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3" name="Text Placeholder 2"/>
          <p:cNvSpPr>
            <a:spLocks noGrp="1"/>
          </p:cNvSpPr>
          <p:nvPr>
            <p:ph type="body" sz="quarter" idx="31"/>
          </p:nvPr>
        </p:nvSpPr>
        <p:spPr>
          <a:xfrm>
            <a:off x="1046699" y="2423237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4" name="Text Placeholder 49"/>
          <p:cNvSpPr>
            <a:spLocks noGrp="1"/>
          </p:cNvSpPr>
          <p:nvPr>
            <p:ph type="body" sz="quarter" idx="32" hasCustomPrompt="1"/>
          </p:nvPr>
        </p:nvSpPr>
        <p:spPr>
          <a:xfrm>
            <a:off x="330200" y="2312024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3</a:t>
            </a:r>
            <a:endParaRPr lang="en-GB" noProof="0"/>
          </a:p>
        </p:txBody>
      </p:sp>
      <p:sp>
        <p:nvSpPr>
          <p:cNvPr id="66" name="Table Placeholder 29"/>
          <p:cNvSpPr>
            <a:spLocks noGrp="1"/>
          </p:cNvSpPr>
          <p:nvPr>
            <p:ph type="tbl" sz="quarter" idx="33"/>
          </p:nvPr>
        </p:nvSpPr>
        <p:spPr>
          <a:xfrm>
            <a:off x="987429" y="2822381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7" name="Text Placeholder 2"/>
          <p:cNvSpPr>
            <a:spLocks noGrp="1"/>
          </p:cNvSpPr>
          <p:nvPr>
            <p:ph type="body" sz="quarter" idx="34"/>
          </p:nvPr>
        </p:nvSpPr>
        <p:spPr>
          <a:xfrm>
            <a:off x="1046699" y="2933945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8" name="Text Placeholder 49"/>
          <p:cNvSpPr>
            <a:spLocks noGrp="1"/>
          </p:cNvSpPr>
          <p:nvPr>
            <p:ph type="body" sz="quarter" idx="35" hasCustomPrompt="1"/>
          </p:nvPr>
        </p:nvSpPr>
        <p:spPr>
          <a:xfrm>
            <a:off x="330200" y="2822732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4</a:t>
            </a:r>
            <a:endParaRPr lang="en-GB" noProof="0"/>
          </a:p>
        </p:txBody>
      </p:sp>
      <p:sp>
        <p:nvSpPr>
          <p:cNvPr id="70" name="Table Placeholder 29"/>
          <p:cNvSpPr>
            <a:spLocks noGrp="1"/>
          </p:cNvSpPr>
          <p:nvPr>
            <p:ph type="tbl" sz="quarter" idx="36"/>
          </p:nvPr>
        </p:nvSpPr>
        <p:spPr>
          <a:xfrm>
            <a:off x="987429" y="3330659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1" name="Text Placeholder 2"/>
          <p:cNvSpPr>
            <a:spLocks noGrp="1"/>
          </p:cNvSpPr>
          <p:nvPr>
            <p:ph type="body" sz="quarter" idx="37"/>
          </p:nvPr>
        </p:nvSpPr>
        <p:spPr>
          <a:xfrm>
            <a:off x="1046699" y="3442222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72" name="Text Placeholder 49"/>
          <p:cNvSpPr>
            <a:spLocks noGrp="1"/>
          </p:cNvSpPr>
          <p:nvPr>
            <p:ph type="body" sz="quarter" idx="38" hasCustomPrompt="1"/>
          </p:nvPr>
        </p:nvSpPr>
        <p:spPr>
          <a:xfrm>
            <a:off x="330200" y="3331009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5</a:t>
            </a:r>
            <a:endParaRPr lang="en-GB" noProof="0" dirty="0"/>
          </a:p>
        </p:txBody>
      </p:sp>
      <p:sp>
        <p:nvSpPr>
          <p:cNvPr id="74" name="Table Placeholder 29"/>
          <p:cNvSpPr>
            <a:spLocks noGrp="1"/>
          </p:cNvSpPr>
          <p:nvPr>
            <p:ph type="tbl" sz="quarter" idx="39"/>
          </p:nvPr>
        </p:nvSpPr>
        <p:spPr>
          <a:xfrm>
            <a:off x="987429" y="3846875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5" name="Text Placeholder 2"/>
          <p:cNvSpPr>
            <a:spLocks noGrp="1"/>
          </p:cNvSpPr>
          <p:nvPr>
            <p:ph type="body" sz="quarter" idx="40"/>
          </p:nvPr>
        </p:nvSpPr>
        <p:spPr>
          <a:xfrm>
            <a:off x="1046699" y="3958439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76" name="Text Placeholder 49"/>
          <p:cNvSpPr>
            <a:spLocks noGrp="1"/>
          </p:cNvSpPr>
          <p:nvPr>
            <p:ph type="body" sz="quarter" idx="41" hasCustomPrompt="1"/>
          </p:nvPr>
        </p:nvSpPr>
        <p:spPr>
          <a:xfrm>
            <a:off x="330200" y="3847226"/>
            <a:ext cx="540000" cy="405000"/>
          </a:xfrm>
          <a:prstGeom prst="rect">
            <a:avLst/>
          </a:prstGeom>
          <a:solidFill>
            <a:srgbClr val="D8DCDE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6</a:t>
            </a:r>
            <a:endParaRPr lang="en-GB" noProof="0"/>
          </a:p>
        </p:txBody>
      </p:sp>
      <p:sp>
        <p:nvSpPr>
          <p:cNvPr id="27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navigation 6 title</a:t>
            </a:r>
            <a:endParaRPr lang="en-GB" noProof="0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16264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Rectangle 5"/>
          <p:cNvSpPr>
            <a:spLocks noGrp="1" noChangeArrowheads="1"/>
          </p:cNvSpPr>
          <p:nvPr userDrawn="1"/>
        </p:nvSpPr>
        <p:spPr bwMode="auto">
          <a:xfrm>
            <a:off x="528758" y="3431381"/>
            <a:ext cx="268922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r>
              <a:rPr lang="en-GB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Confidentiality Notice </a:t>
            </a:r>
            <a:endParaRPr lang="en-GB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 userDrawn="1"/>
        </p:nvSpPr>
        <p:spPr bwMode="auto">
          <a:xfrm>
            <a:off x="541457" y="3717131"/>
            <a:ext cx="7440493" cy="6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GB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This file is</a:t>
            </a: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private and may contain confidential and proprietary information. If you have received this </a:t>
            </a:r>
            <a:r>
              <a:rPr lang="en-US" sz="9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file </a:t>
            </a: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 error, please </a:t>
            </a:r>
            <a:r>
              <a:rPr lang="en-US" sz="9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notify </a:t>
            </a: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us and remove </a:t>
            </a:r>
            <a:endParaRPr lang="en-US" sz="9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9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it </a:t>
            </a: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from your system and note that you must not copy, distribute or take any action in reliance on it. Any unauthorized use or disclosure of the contents of this </a:t>
            </a:r>
            <a:r>
              <a:rPr lang="en-US" sz="9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file is </a:t>
            </a: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not permitted and may be unlawful</a:t>
            </a:r>
            <a:r>
              <a:rPr lang="en-US" sz="9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. AstraZeneca PLC, 2 Kingdom Street, London, W2 6BD, UK, T: +44(0)20 7604 </a:t>
            </a:r>
            <a:r>
              <a:rPr lang="en-GB" sz="9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8000</a:t>
            </a:r>
            <a:r>
              <a:rPr lang="en-US" sz="9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</a:t>
            </a:r>
          </a:p>
          <a:p>
            <a:r>
              <a:rPr lang="en-US" sz="9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F: +44 (0)20 7604</a:t>
            </a:r>
            <a:r>
              <a:rPr lang="en-GB" sz="9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8151</a:t>
            </a:r>
            <a:r>
              <a:rPr lang="en-US" sz="9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www.astrazeneca.com</a:t>
            </a:r>
            <a:endParaRPr lang="en-US" sz="9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8731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37600" y="1234440"/>
            <a:ext cx="7056000" cy="1618488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110319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Content 1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0" hasCustomPrompt="1"/>
          </p:nvPr>
        </p:nvSpPr>
        <p:spPr>
          <a:xfrm>
            <a:off x="237061" y="526851"/>
            <a:ext cx="8765651" cy="324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25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dirty="0" smtClean="0"/>
              <a:t>Click to add subtitle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37600" y="1234440"/>
            <a:ext cx="7056000" cy="1618488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744593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>
              <a:lnSpc>
                <a:spcPts val="2250"/>
              </a:lnSpc>
              <a:defRPr sz="2400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37600" y="1237974"/>
            <a:ext cx="7056000" cy="1620000"/>
          </a:xfrm>
          <a:prstGeom prst="rect">
            <a:avLst/>
          </a:prstGeom>
        </p:spPr>
        <p:txBody>
          <a:bodyPr vert="horz"/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l">
              <a:buNone/>
              <a:defRPr sz="1050"/>
            </a:lvl2pPr>
            <a:lvl3pPr marL="685800" indent="0" algn="l">
              <a:buNone/>
              <a:defRPr sz="1050"/>
            </a:lvl3pPr>
            <a:lvl4pPr marL="1028700" indent="0" algn="l">
              <a:buNone/>
              <a:defRPr sz="1050"/>
            </a:lvl4pPr>
            <a:lvl5pPr marL="1371600" indent="0" algn="l">
              <a:buNone/>
              <a:defRPr sz="10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64400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6537" y="1240295"/>
            <a:ext cx="7056000" cy="1620000"/>
          </a:xfrm>
          <a:prstGeom prst="rect">
            <a:avLst/>
          </a:prstGeom>
        </p:spPr>
        <p:txBody>
          <a:bodyPr vert="horz"/>
          <a:lstStyle>
            <a:lvl1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198835" marR="0" indent="-197644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 sz="1350"/>
            </a:lvl2pPr>
            <a:lvl3pPr marL="466725" marR="0" indent="-135731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-"/>
              <a:tabLst/>
              <a:defRPr sz="1350"/>
            </a:lvl3pPr>
            <a:lvl4pPr marL="1243013" indent="-214313">
              <a:buFont typeface="Arial"/>
              <a:buChar char="•"/>
              <a:defRPr sz="1350"/>
            </a:lvl4pPr>
            <a:lvl5pPr marL="1585913" indent="-214313">
              <a:buFont typeface="Arial"/>
              <a:buChar char="•"/>
              <a:defRPr sz="13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>
              <a:lnSpc>
                <a:spcPts val="2250"/>
              </a:lnSpc>
              <a:defRPr sz="2400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5" hasCustomPrompt="1"/>
          </p:nvPr>
        </p:nvSpPr>
        <p:spPr>
          <a:xfrm>
            <a:off x="237600" y="2905963"/>
            <a:ext cx="7056000" cy="1444752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287808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1 with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>
              <a:lnSpc>
                <a:spcPts val="2250"/>
              </a:lnSpc>
              <a:defRPr sz="2400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237600" y="1240294"/>
            <a:ext cx="7056000" cy="1620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830051"/>
              </a:buClr>
              <a:buFont typeface="Arial" pitchFamily="34" charset="0"/>
              <a:buNone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05000" indent="-135000">
              <a:lnSpc>
                <a:spcPct val="100000"/>
              </a:lnSpc>
              <a:spcBef>
                <a:spcPts val="0"/>
              </a:spcBef>
              <a:buNone/>
              <a:defRPr sz="13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50" baseline="0">
                <a:latin typeface="Arial" pitchFamily="34" charset="0"/>
                <a:cs typeface="Arial" pitchFamily="34" charset="0"/>
              </a:defRPr>
            </a:lvl3pPr>
            <a:lvl4pPr marL="467100" indent="-135000">
              <a:defRPr sz="1050">
                <a:latin typeface="Arial" pitchFamily="34" charset="0"/>
                <a:cs typeface="Arial" pitchFamily="34" charset="0"/>
              </a:defRPr>
            </a:lvl4pPr>
            <a:lvl5pPr marL="467100">
              <a:defRPr sz="105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37062" y="2905963"/>
            <a:ext cx="4086000" cy="1444752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7" hasCustomPrompt="1"/>
          </p:nvPr>
        </p:nvSpPr>
        <p:spPr>
          <a:xfrm>
            <a:off x="4680000" y="2905963"/>
            <a:ext cx="4086000" cy="1444752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365637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1 with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237600" y="1240295"/>
            <a:ext cx="7056000" cy="1620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830051"/>
              </a:buClr>
              <a:buFont typeface="Arial" pitchFamily="34" charset="0"/>
              <a:buNone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05000" indent="-135000">
              <a:lnSpc>
                <a:spcPct val="100000"/>
              </a:lnSpc>
              <a:spcBef>
                <a:spcPts val="0"/>
              </a:spcBef>
              <a:buNone/>
              <a:defRPr sz="13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50" baseline="0">
                <a:latin typeface="Arial" pitchFamily="34" charset="0"/>
                <a:cs typeface="Arial" pitchFamily="34" charset="0"/>
              </a:defRPr>
            </a:lvl3pPr>
            <a:lvl4pPr marL="467100" indent="-135000">
              <a:defRPr sz="1050">
                <a:latin typeface="Arial" pitchFamily="34" charset="0"/>
                <a:cs typeface="Arial" pitchFamily="34" charset="0"/>
              </a:defRPr>
            </a:lvl4pPr>
            <a:lvl5pPr marL="467100">
              <a:defRPr sz="105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Click to edit Master text styles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Content Placeholder 2"/>
          <p:cNvSpPr>
            <a:spLocks noGrp="1"/>
          </p:cNvSpPr>
          <p:nvPr>
            <p:ph idx="18" hasCustomPrompt="1"/>
          </p:nvPr>
        </p:nvSpPr>
        <p:spPr>
          <a:xfrm>
            <a:off x="237600" y="2903515"/>
            <a:ext cx="2664000" cy="1444752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4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6" hasCustomPrompt="1"/>
          </p:nvPr>
        </p:nvSpPr>
        <p:spPr>
          <a:xfrm>
            <a:off x="3250223" y="2908267"/>
            <a:ext cx="2664000" cy="1440000"/>
          </a:xfrm>
          <a:prstGeom prst="rect">
            <a:avLst/>
          </a:prstGeom>
        </p:spPr>
        <p:txBody>
          <a:bodyPr/>
          <a:lstStyle>
            <a:lvl1pPr marL="135000" indent="-135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05000" indent="-135000">
              <a:lnSpc>
                <a:spcPct val="100000"/>
              </a:lnSpc>
              <a:spcBef>
                <a:spcPts val="0"/>
              </a:spcBef>
              <a:defRPr sz="14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50" baseline="0">
                <a:latin typeface="Arial" pitchFamily="34" charset="0"/>
                <a:cs typeface="Arial" pitchFamily="34" charset="0"/>
              </a:defRPr>
            </a:lvl3pPr>
            <a:lvl4pPr marL="467100" indent="-135000">
              <a:defRPr sz="1050">
                <a:latin typeface="Arial" pitchFamily="34" charset="0"/>
                <a:cs typeface="Arial" pitchFamily="34" charset="0"/>
              </a:defRPr>
            </a:lvl4pPr>
            <a:lvl5pPr marL="467100">
              <a:defRPr sz="105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7" hasCustomPrompt="1"/>
          </p:nvPr>
        </p:nvSpPr>
        <p:spPr>
          <a:xfrm>
            <a:off x="6274223" y="2908267"/>
            <a:ext cx="2664000" cy="1440000"/>
          </a:xfrm>
          <a:prstGeom prst="rect">
            <a:avLst/>
          </a:prstGeom>
        </p:spPr>
        <p:txBody>
          <a:bodyPr/>
          <a:lstStyle>
            <a:lvl1pPr marL="135000" indent="-135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05000" indent="-135000">
              <a:lnSpc>
                <a:spcPct val="100000"/>
              </a:lnSpc>
              <a:spcBef>
                <a:spcPts val="0"/>
              </a:spcBef>
              <a:defRPr sz="14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50" baseline="0">
                <a:latin typeface="Arial" pitchFamily="34" charset="0"/>
                <a:cs typeface="Arial" pitchFamily="34" charset="0"/>
              </a:defRPr>
            </a:lvl3pPr>
            <a:lvl4pPr marL="467100" indent="-135000">
              <a:defRPr sz="1050">
                <a:latin typeface="Arial" pitchFamily="34" charset="0"/>
                <a:cs typeface="Arial" pitchFamily="34" charset="0"/>
              </a:defRPr>
            </a:lvl4pPr>
            <a:lvl5pPr marL="467100">
              <a:defRPr sz="105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577885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37600" y="1240295"/>
            <a:ext cx="4086000" cy="1620000"/>
          </a:xfrm>
          <a:prstGeom prst="rect">
            <a:avLst/>
          </a:prstGeom>
        </p:spPr>
        <p:txBody>
          <a:bodyPr vert="horz"/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l">
              <a:buNone/>
              <a:defRPr sz="1050"/>
            </a:lvl2pPr>
            <a:lvl3pPr marL="685800" indent="0" algn="l">
              <a:buNone/>
              <a:defRPr sz="1050"/>
            </a:lvl3pPr>
            <a:lvl4pPr marL="1028700" indent="0" algn="l">
              <a:buNone/>
              <a:defRPr sz="1050"/>
            </a:lvl4pPr>
            <a:lvl5pPr marL="1371600" indent="0" algn="l">
              <a:buNone/>
              <a:defRPr sz="10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680000" y="1240295"/>
            <a:ext cx="4086000" cy="1620000"/>
          </a:xfrm>
          <a:prstGeom prst="rect">
            <a:avLst/>
          </a:prstGeom>
        </p:spPr>
        <p:txBody>
          <a:bodyPr vert="horz"/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l">
              <a:buNone/>
              <a:defRPr sz="1050"/>
            </a:lvl2pPr>
            <a:lvl3pPr marL="685800" indent="0" algn="l">
              <a:buNone/>
              <a:defRPr sz="1050"/>
            </a:lvl3pPr>
            <a:lvl4pPr marL="1028700" indent="0" algn="l">
              <a:buNone/>
              <a:defRPr sz="1050"/>
            </a:lvl4pPr>
            <a:lvl5pPr marL="1371600" indent="0" algn="l">
              <a:buNone/>
              <a:defRPr sz="10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6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95938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and Content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37600" y="1234079"/>
            <a:ext cx="4086000" cy="1620000"/>
          </a:xfrm>
          <a:prstGeom prst="rect">
            <a:avLst/>
          </a:prstGeom>
        </p:spPr>
        <p:txBody>
          <a:bodyPr vert="horz"/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l">
              <a:buNone/>
              <a:defRPr sz="1050"/>
            </a:lvl2pPr>
            <a:lvl3pPr marL="685800" indent="0" algn="l">
              <a:buNone/>
              <a:defRPr sz="1050"/>
            </a:lvl3pPr>
            <a:lvl4pPr marL="1028700" indent="0" algn="l">
              <a:buNone/>
              <a:defRPr sz="1050"/>
            </a:lvl4pPr>
            <a:lvl5pPr marL="1371600" indent="0" algn="l">
              <a:buNone/>
              <a:defRPr sz="10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6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4680000" y="1234440"/>
            <a:ext cx="4086000" cy="1618488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4159465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and Content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37600" y="1240295"/>
            <a:ext cx="4086000" cy="1620000"/>
          </a:xfrm>
          <a:prstGeom prst="rect">
            <a:avLst/>
          </a:prstGeom>
        </p:spPr>
        <p:txBody>
          <a:bodyPr vert="horz"/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l">
              <a:buNone/>
              <a:defRPr sz="1050"/>
            </a:lvl2pPr>
            <a:lvl3pPr marL="685800" indent="0" algn="l">
              <a:buNone/>
              <a:defRPr sz="1050"/>
            </a:lvl3pPr>
            <a:lvl4pPr marL="1028700" indent="0" algn="l">
              <a:buNone/>
              <a:defRPr sz="1050"/>
            </a:lvl4pPr>
            <a:lvl5pPr marL="1371600" indent="0" algn="l">
              <a:buNone/>
              <a:defRPr sz="10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6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2"/>
          <p:cNvSpPr>
            <a:spLocks noGrp="1"/>
          </p:cNvSpPr>
          <p:nvPr>
            <p:ph idx="17" hasCustomPrompt="1"/>
          </p:nvPr>
        </p:nvSpPr>
        <p:spPr>
          <a:xfrm>
            <a:off x="4678499" y="2725591"/>
            <a:ext cx="4086000" cy="1618488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6" hasCustomPrompt="1"/>
          </p:nvPr>
        </p:nvSpPr>
        <p:spPr>
          <a:xfrm>
            <a:off x="4680000" y="1234440"/>
            <a:ext cx="4086000" cy="1371600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530478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37061" y="1234440"/>
            <a:ext cx="4086000" cy="1618488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7" hasCustomPrompt="1"/>
          </p:nvPr>
        </p:nvSpPr>
        <p:spPr>
          <a:xfrm>
            <a:off x="4680000" y="1234440"/>
            <a:ext cx="4086000" cy="1618488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35738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Headings with Trip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37600" y="1313891"/>
            <a:ext cx="2664000" cy="702000"/>
          </a:xfrm>
          <a:prstGeom prst="rect">
            <a:avLst/>
          </a:prstGeom>
        </p:spPr>
        <p:txBody>
          <a:bodyPr vert="horz"/>
          <a:lstStyle>
            <a:lvl1pPr marL="0" indent="0" algn="l">
              <a:spcBef>
                <a:spcPts val="0"/>
              </a:spcBef>
              <a:buNone/>
              <a:defRPr sz="1200" b="1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l">
              <a:buNone/>
              <a:defRPr sz="1050"/>
            </a:lvl2pPr>
            <a:lvl3pPr marL="685800" indent="0" algn="l">
              <a:buNone/>
              <a:defRPr sz="1050"/>
            </a:lvl3pPr>
            <a:lvl4pPr marL="1028700" indent="0" algn="l">
              <a:buNone/>
              <a:defRPr sz="1050"/>
            </a:lvl4pPr>
            <a:lvl5pPr marL="1371600" indent="0" algn="l">
              <a:buNone/>
              <a:defRPr sz="10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6264000" y="1313891"/>
            <a:ext cx="2664000" cy="702000"/>
          </a:xfrm>
          <a:prstGeom prst="rect">
            <a:avLst/>
          </a:prstGeom>
        </p:spPr>
        <p:txBody>
          <a:bodyPr vert="horz"/>
          <a:lstStyle>
            <a:lvl1pPr marL="0" indent="0" algn="l">
              <a:spcBef>
                <a:spcPts val="0"/>
              </a:spcBef>
              <a:buNone/>
              <a:defRPr sz="1200" b="1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l">
              <a:buNone/>
              <a:defRPr sz="1050"/>
            </a:lvl2pPr>
            <a:lvl3pPr marL="685800" indent="0" algn="l">
              <a:buNone/>
              <a:defRPr sz="1050"/>
            </a:lvl3pPr>
            <a:lvl4pPr marL="1028700" indent="0" algn="l">
              <a:buNone/>
              <a:defRPr sz="1050"/>
            </a:lvl4pPr>
            <a:lvl5pPr marL="1371600" indent="0" algn="l">
              <a:buNone/>
              <a:defRPr sz="10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240000" y="1313891"/>
            <a:ext cx="2664000" cy="702000"/>
          </a:xfrm>
          <a:prstGeom prst="rect">
            <a:avLst/>
          </a:prstGeom>
        </p:spPr>
        <p:txBody>
          <a:bodyPr vert="horz"/>
          <a:lstStyle>
            <a:lvl1pPr marL="0" indent="0" algn="l">
              <a:spcBef>
                <a:spcPts val="0"/>
              </a:spcBef>
              <a:buNone/>
              <a:defRPr sz="1200" b="1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l">
              <a:buNone/>
              <a:defRPr sz="1050"/>
            </a:lvl2pPr>
            <a:lvl3pPr marL="685800" indent="0" algn="l">
              <a:buNone/>
              <a:defRPr sz="1050"/>
            </a:lvl3pPr>
            <a:lvl4pPr marL="1028700" indent="0" algn="l">
              <a:buNone/>
              <a:defRPr sz="1050"/>
            </a:lvl4pPr>
            <a:lvl5pPr marL="1371600" indent="0" algn="l">
              <a:buNone/>
              <a:defRPr sz="10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Content Placeholder 2"/>
          <p:cNvSpPr>
            <a:spLocks noGrp="1"/>
          </p:cNvSpPr>
          <p:nvPr>
            <p:ph idx="17" hasCustomPrompt="1"/>
          </p:nvPr>
        </p:nvSpPr>
        <p:spPr>
          <a:xfrm>
            <a:off x="237600" y="2072820"/>
            <a:ext cx="2664000" cy="2015968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4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8" hasCustomPrompt="1"/>
          </p:nvPr>
        </p:nvSpPr>
        <p:spPr>
          <a:xfrm>
            <a:off x="3250223" y="2072820"/>
            <a:ext cx="2664000" cy="2015968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4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9" hasCustomPrompt="1"/>
          </p:nvPr>
        </p:nvSpPr>
        <p:spPr>
          <a:xfrm>
            <a:off x="6274223" y="2072820"/>
            <a:ext cx="2664000" cy="2015968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4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01433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and Picture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37600" y="1238116"/>
            <a:ext cx="4086000" cy="702000"/>
          </a:xfrm>
          <a:prstGeom prst="rect">
            <a:avLst/>
          </a:prstGeom>
        </p:spPr>
        <p:txBody>
          <a:bodyPr vert="horz"/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l">
              <a:buNone/>
              <a:defRPr sz="1050"/>
            </a:lvl2pPr>
            <a:lvl3pPr marL="685800" indent="0" algn="l">
              <a:buNone/>
              <a:defRPr sz="1050"/>
            </a:lvl3pPr>
            <a:lvl4pPr marL="1028700" indent="0" algn="l">
              <a:buNone/>
              <a:defRPr sz="1050"/>
            </a:lvl4pPr>
            <a:lvl5pPr marL="1371600" indent="0" algn="l">
              <a:buNone/>
              <a:defRPr sz="10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19" name="Picture Placeholder 16"/>
          <p:cNvSpPr>
            <a:spLocks noGrp="1"/>
          </p:cNvSpPr>
          <p:nvPr>
            <p:ph type="pic" sz="quarter" idx="14"/>
          </p:nvPr>
        </p:nvSpPr>
        <p:spPr>
          <a:xfrm>
            <a:off x="4680000" y="1252800"/>
            <a:ext cx="4086000" cy="2835988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spcBef>
                <a:spcPts val="0"/>
              </a:spcBef>
              <a:buNone/>
              <a:defRPr sz="10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13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37019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and Picture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37600" y="1238116"/>
            <a:ext cx="4086000" cy="702000"/>
          </a:xfrm>
          <a:prstGeom prst="rect">
            <a:avLst/>
          </a:prstGeom>
        </p:spPr>
        <p:txBody>
          <a:bodyPr vert="horz"/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l">
              <a:buNone/>
              <a:defRPr sz="1050"/>
            </a:lvl2pPr>
            <a:lvl3pPr marL="685800" indent="0" algn="l">
              <a:buNone/>
              <a:defRPr sz="1050"/>
            </a:lvl3pPr>
            <a:lvl4pPr marL="1028700" indent="0" algn="l">
              <a:buNone/>
              <a:defRPr sz="1050"/>
            </a:lvl4pPr>
            <a:lvl5pPr marL="1371600" indent="0" algn="l">
              <a:buNone/>
              <a:defRPr sz="10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19" name="Picture Placeholder 16"/>
          <p:cNvSpPr>
            <a:spLocks noGrp="1"/>
          </p:cNvSpPr>
          <p:nvPr>
            <p:ph type="pic" sz="quarter" idx="14"/>
          </p:nvPr>
        </p:nvSpPr>
        <p:spPr>
          <a:xfrm>
            <a:off x="4680000" y="1252800"/>
            <a:ext cx="4086000" cy="1485000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spcBef>
                <a:spcPts val="0"/>
              </a:spcBef>
              <a:buNone/>
              <a:defRPr sz="10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20" name="Picture Placeholder 16"/>
          <p:cNvSpPr>
            <a:spLocks noGrp="1"/>
          </p:cNvSpPr>
          <p:nvPr>
            <p:ph type="pic" sz="quarter" idx="15"/>
          </p:nvPr>
        </p:nvSpPr>
        <p:spPr>
          <a:xfrm>
            <a:off x="4680000" y="2895786"/>
            <a:ext cx="4086000" cy="1485000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spcBef>
                <a:spcPts val="0"/>
              </a:spcBef>
              <a:buNone/>
              <a:defRPr sz="10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289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and Picture Low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16"/>
          <p:cNvSpPr>
            <a:spLocks noGrp="1"/>
          </p:cNvSpPr>
          <p:nvPr>
            <p:ph type="pic" sz="quarter" idx="16"/>
          </p:nvPr>
        </p:nvSpPr>
        <p:spPr>
          <a:xfrm>
            <a:off x="327600" y="2761500"/>
            <a:ext cx="4140000" cy="1620000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6537" y="1234440"/>
            <a:ext cx="7056000" cy="1440000"/>
          </a:xfrm>
          <a:prstGeom prst="rect">
            <a:avLst/>
          </a:prstGeom>
        </p:spPr>
        <p:txBody>
          <a:bodyPr vert="horz"/>
          <a:lstStyle>
            <a:lvl1pPr marL="0" marR="0" indent="0" algn="l" defTabSz="6858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198835" marR="0" indent="-197644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 sz="1350"/>
            </a:lvl2pPr>
            <a:lvl3pPr marL="466725" marR="0" indent="-135731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-"/>
              <a:tabLst/>
              <a:defRPr sz="1350"/>
            </a:lvl3pPr>
            <a:lvl4pPr marL="1243013" indent="-214313">
              <a:buFont typeface="Arial"/>
              <a:buChar char="•"/>
              <a:defRPr sz="1350"/>
            </a:lvl4pPr>
            <a:lvl5pPr marL="1585913" indent="-214313">
              <a:buFont typeface="Arial"/>
              <a:buChar char="•"/>
              <a:defRPr sz="13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63701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and Picture Low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6"/>
          <p:cNvSpPr>
            <a:spLocks noGrp="1"/>
          </p:cNvSpPr>
          <p:nvPr>
            <p:ph type="pic" sz="quarter" idx="15"/>
          </p:nvPr>
        </p:nvSpPr>
        <p:spPr>
          <a:xfrm>
            <a:off x="4618800" y="2761500"/>
            <a:ext cx="4140000" cy="1620000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22" name="Picture Placeholder 16"/>
          <p:cNvSpPr>
            <a:spLocks noGrp="1"/>
          </p:cNvSpPr>
          <p:nvPr>
            <p:ph type="pic" sz="quarter" idx="16"/>
          </p:nvPr>
        </p:nvSpPr>
        <p:spPr>
          <a:xfrm>
            <a:off x="327600" y="2759794"/>
            <a:ext cx="4140000" cy="1620000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6537" y="1234440"/>
            <a:ext cx="7056000" cy="1440000"/>
          </a:xfrm>
          <a:prstGeom prst="rect">
            <a:avLst/>
          </a:prstGeom>
        </p:spPr>
        <p:txBody>
          <a:bodyPr vert="horz"/>
          <a:lstStyle>
            <a:lvl1pPr marL="0" marR="0" indent="0" algn="l" defTabSz="6858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198835" marR="0" indent="-197644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 sz="1350"/>
            </a:lvl2pPr>
            <a:lvl3pPr marL="466725" marR="0" indent="-135731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-"/>
              <a:tabLst/>
              <a:defRPr sz="1350"/>
            </a:lvl3pPr>
            <a:lvl4pPr marL="1243013" indent="-214313">
              <a:buFont typeface="Arial"/>
              <a:buChar char="•"/>
              <a:defRPr sz="1350"/>
            </a:lvl4pPr>
            <a:lvl5pPr marL="1585913" indent="-214313">
              <a:buFont typeface="Arial"/>
              <a:buChar char="•"/>
              <a:defRPr sz="13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01920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and Picture Low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>
          <a:xfrm>
            <a:off x="327600" y="2761500"/>
            <a:ext cx="2700000" cy="1620000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18" name="Picture Placeholder 16"/>
          <p:cNvSpPr>
            <a:spLocks noGrp="1"/>
          </p:cNvSpPr>
          <p:nvPr>
            <p:ph type="pic" sz="quarter" idx="15"/>
          </p:nvPr>
        </p:nvSpPr>
        <p:spPr>
          <a:xfrm>
            <a:off x="3201023" y="2761500"/>
            <a:ext cx="2700000" cy="1620000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19" name="Picture Placeholder 16"/>
          <p:cNvSpPr>
            <a:spLocks noGrp="1"/>
          </p:cNvSpPr>
          <p:nvPr>
            <p:ph type="pic" sz="quarter" idx="16"/>
          </p:nvPr>
        </p:nvSpPr>
        <p:spPr>
          <a:xfrm>
            <a:off x="6067748" y="2761500"/>
            <a:ext cx="2700000" cy="1620000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6537" y="1234440"/>
            <a:ext cx="7056000" cy="1440000"/>
          </a:xfrm>
          <a:prstGeom prst="rect">
            <a:avLst/>
          </a:prstGeom>
        </p:spPr>
        <p:txBody>
          <a:bodyPr vert="horz"/>
          <a:lstStyle>
            <a:lvl1pPr marL="0" marR="0" indent="0" algn="l" defTabSz="6858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198835" marR="0" indent="-197644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 sz="1350"/>
            </a:lvl2pPr>
            <a:lvl3pPr marL="466725" marR="0" indent="-135731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-"/>
              <a:tabLst/>
              <a:defRPr sz="1350"/>
            </a:lvl3pPr>
            <a:lvl4pPr marL="1243013" indent="-214313">
              <a:buFont typeface="Arial"/>
              <a:buChar char="•"/>
              <a:defRPr sz="1350"/>
            </a:lvl4pPr>
            <a:lvl5pPr marL="1585913" indent="-214313">
              <a:buFont typeface="Arial"/>
              <a:buChar char="•"/>
              <a:defRPr sz="13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54814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contents title</a:t>
            </a:r>
            <a:endParaRPr lang="en-GB" noProof="0" dirty="0"/>
          </a:p>
        </p:txBody>
      </p:sp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236537" y="1234440"/>
            <a:ext cx="8766174" cy="3172500"/>
          </a:xfrm>
          <a:prstGeom prst="rect">
            <a:avLst/>
          </a:prstGeom>
        </p:spPr>
        <p:txBody>
          <a:bodyPr/>
          <a:lstStyle>
            <a:lvl1pPr marL="269875" indent="-269875">
              <a:lnSpc>
                <a:spcPct val="100000"/>
              </a:lnSpc>
              <a:spcBef>
                <a:spcPts val="0"/>
              </a:spcBef>
              <a:buClrTx/>
              <a:buFont typeface="+mj-lt"/>
              <a:buAutoNum type="arabicPeriod"/>
              <a:defRPr sz="1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72500" indent="-135000">
              <a:lnSpc>
                <a:spcPct val="100000"/>
              </a:lnSpc>
              <a:spcBef>
                <a:spcPts val="0"/>
              </a:spcBef>
              <a:buClrTx/>
              <a:buFont typeface="Arial" pitchFamily="34" charset="0"/>
              <a:buChar char="•"/>
              <a:defRPr sz="16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50" baseline="0">
                <a:latin typeface="Arial" pitchFamily="34" charset="0"/>
                <a:cs typeface="Arial" pitchFamily="34" charset="0"/>
              </a:defRPr>
            </a:lvl3pPr>
            <a:lvl4pPr marL="467100" indent="-135000">
              <a:defRPr sz="1050">
                <a:latin typeface="Arial" pitchFamily="34" charset="0"/>
                <a:cs typeface="Arial" pitchFamily="34" charset="0"/>
              </a:defRPr>
            </a:lvl4pPr>
            <a:lvl5pPr marL="467100">
              <a:defRPr sz="105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57093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80254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54426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Slide - Heroic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44000" y="144000"/>
            <a:ext cx="8856000" cy="48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13" name="Title 8"/>
          <p:cNvSpPr>
            <a:spLocks noGrp="1"/>
          </p:cNvSpPr>
          <p:nvPr>
            <p:ph type="title" hasCustomPrompt="1"/>
          </p:nvPr>
        </p:nvSpPr>
        <p:spPr>
          <a:xfrm>
            <a:off x="3268800" y="144000"/>
            <a:ext cx="5627550" cy="504000"/>
          </a:xfrm>
          <a:prstGeom prst="rect">
            <a:avLst/>
          </a:prstGeom>
        </p:spPr>
        <p:txBody>
          <a:bodyPr vert="horz"/>
          <a:lstStyle>
            <a:lvl1pPr algn="l">
              <a:defRPr sz="24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divider title</a:t>
            </a:r>
            <a:endParaRPr lang="en-GB" noProof="0" dirty="0"/>
          </a:p>
        </p:txBody>
      </p:sp>
      <p:pic>
        <p:nvPicPr>
          <p:cNvPr id="4" name="Picture 3" descr="M SYMBOL LARGE_WHITE_H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124530" cy="51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7716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6425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6425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124200" y="4688681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3DCA793-B2F0-441B-9EA2-D147AB5383C4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64747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191000" y="1597819"/>
            <a:ext cx="4267200" cy="1658541"/>
          </a:xfrm>
        </p:spPr>
        <p:txBody>
          <a:bodyPr anchor="ctr"/>
          <a:lstStyle>
            <a:lvl1pPr>
              <a:defRPr sz="3600"/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91000" y="3311129"/>
            <a:ext cx="4267200" cy="1316831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pic>
        <p:nvPicPr>
          <p:cNvPr id="3080" name="Picture 34" descr="med_hrzlogo_rgb_7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9" t="19753" r="7837" b="19012"/>
          <a:stretch>
            <a:fillRect/>
          </a:stretch>
        </p:blipFill>
        <p:spPr bwMode="auto">
          <a:xfrm>
            <a:off x="4267200" y="914400"/>
            <a:ext cx="27940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6"/>
          <p:cNvSpPr/>
          <p:nvPr userDrawn="1"/>
        </p:nvSpPr>
        <p:spPr>
          <a:xfrm>
            <a:off x="-12700" y="-19050"/>
            <a:ext cx="3771900" cy="5181600"/>
          </a:xfrm>
          <a:custGeom>
            <a:avLst/>
            <a:gdLst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36700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254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36700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254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36700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254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36700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254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41500 h 6934200"/>
              <a:gd name="connsiteX1" fmla="*/ 469900 w 3771900"/>
              <a:gd name="connsiteY1" fmla="*/ 4102100 h 6934200"/>
              <a:gd name="connsiteX2" fmla="*/ 12700 w 3771900"/>
              <a:gd name="connsiteY2" fmla="*/ 3594100 h 6934200"/>
              <a:gd name="connsiteX3" fmla="*/ 0 w 3771900"/>
              <a:gd name="connsiteY3" fmla="*/ 1562100 h 6934200"/>
              <a:gd name="connsiteX4" fmla="*/ 444500 w 3771900"/>
              <a:gd name="connsiteY4" fmla="*/ 1701800 h 6934200"/>
              <a:gd name="connsiteX5" fmla="*/ 1282700 w 3771900"/>
              <a:gd name="connsiteY5" fmla="*/ 876300 h 6934200"/>
              <a:gd name="connsiteX6" fmla="*/ 457200 w 3771900"/>
              <a:gd name="connsiteY6" fmla="*/ 38100 h 6934200"/>
              <a:gd name="connsiteX7" fmla="*/ 12700 w 3771900"/>
              <a:gd name="connsiteY7" fmla="*/ 190500 h 6934200"/>
              <a:gd name="connsiteX8" fmla="*/ 25400 w 3771900"/>
              <a:gd name="connsiteY8" fmla="*/ 25400 h 6934200"/>
              <a:gd name="connsiteX9" fmla="*/ 3771900 w 3771900"/>
              <a:gd name="connsiteY9" fmla="*/ 38100 h 6934200"/>
              <a:gd name="connsiteX10" fmla="*/ 3759200 w 3771900"/>
              <a:gd name="connsiteY10" fmla="*/ 6921500 h 6934200"/>
              <a:gd name="connsiteX11" fmla="*/ 2463800 w 3771900"/>
              <a:gd name="connsiteY11" fmla="*/ 6934200 h 6934200"/>
              <a:gd name="connsiteX12" fmla="*/ 2476500 w 3771900"/>
              <a:gd name="connsiteY12" fmla="*/ 1841500 h 69342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36700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254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586567 w 3881967"/>
              <a:gd name="connsiteY0" fmla="*/ 1981200 h 7073900"/>
              <a:gd name="connsiteX1" fmla="*/ 579967 w 3881967"/>
              <a:gd name="connsiteY1" fmla="*/ 4241800 h 7073900"/>
              <a:gd name="connsiteX2" fmla="*/ 122767 w 3881967"/>
              <a:gd name="connsiteY2" fmla="*/ 3733800 h 7073900"/>
              <a:gd name="connsiteX3" fmla="*/ 110067 w 3881967"/>
              <a:gd name="connsiteY3" fmla="*/ 1701800 h 7073900"/>
              <a:gd name="connsiteX4" fmla="*/ 554567 w 3881967"/>
              <a:gd name="connsiteY4" fmla="*/ 1841500 h 7073900"/>
              <a:gd name="connsiteX5" fmla="*/ 1392767 w 3881967"/>
              <a:gd name="connsiteY5" fmla="*/ 1016000 h 7073900"/>
              <a:gd name="connsiteX6" fmla="*/ 567267 w 3881967"/>
              <a:gd name="connsiteY6" fmla="*/ 177800 h 7073900"/>
              <a:gd name="connsiteX7" fmla="*/ 122767 w 3881967"/>
              <a:gd name="connsiteY7" fmla="*/ 330200 h 7073900"/>
              <a:gd name="connsiteX8" fmla="*/ 135467 w 3881967"/>
              <a:gd name="connsiteY8" fmla="*/ 165100 h 7073900"/>
              <a:gd name="connsiteX9" fmla="*/ 3881967 w 3881967"/>
              <a:gd name="connsiteY9" fmla="*/ 177800 h 7073900"/>
              <a:gd name="connsiteX10" fmla="*/ 3869267 w 3881967"/>
              <a:gd name="connsiteY10" fmla="*/ 7061200 h 7073900"/>
              <a:gd name="connsiteX11" fmla="*/ 2573867 w 3881967"/>
              <a:gd name="connsiteY11" fmla="*/ 7073900 h 7073900"/>
              <a:gd name="connsiteX12" fmla="*/ 2586567 w 3881967"/>
              <a:gd name="connsiteY12" fmla="*/ 1981200 h 70739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36700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254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527299 w 3822699"/>
              <a:gd name="connsiteY0" fmla="*/ 1816100 h 6908800"/>
              <a:gd name="connsiteX1" fmla="*/ 520699 w 3822699"/>
              <a:gd name="connsiteY1" fmla="*/ 4076700 h 6908800"/>
              <a:gd name="connsiteX2" fmla="*/ 63499 w 3822699"/>
              <a:gd name="connsiteY2" fmla="*/ 3568700 h 6908800"/>
              <a:gd name="connsiteX3" fmla="*/ 50799 w 3822699"/>
              <a:gd name="connsiteY3" fmla="*/ 1536700 h 6908800"/>
              <a:gd name="connsiteX4" fmla="*/ 495299 w 3822699"/>
              <a:gd name="connsiteY4" fmla="*/ 1676400 h 6908800"/>
              <a:gd name="connsiteX5" fmla="*/ 1333499 w 3822699"/>
              <a:gd name="connsiteY5" fmla="*/ 850900 h 6908800"/>
              <a:gd name="connsiteX6" fmla="*/ 507999 w 3822699"/>
              <a:gd name="connsiteY6" fmla="*/ 12700 h 6908800"/>
              <a:gd name="connsiteX7" fmla="*/ 63499 w 3822699"/>
              <a:gd name="connsiteY7" fmla="*/ 165100 h 6908800"/>
              <a:gd name="connsiteX8" fmla="*/ 76199 w 3822699"/>
              <a:gd name="connsiteY8" fmla="*/ 0 h 6908800"/>
              <a:gd name="connsiteX9" fmla="*/ 3822699 w 3822699"/>
              <a:gd name="connsiteY9" fmla="*/ 12700 h 6908800"/>
              <a:gd name="connsiteX10" fmla="*/ 3809999 w 3822699"/>
              <a:gd name="connsiteY10" fmla="*/ 6896100 h 6908800"/>
              <a:gd name="connsiteX11" fmla="*/ 2514599 w 3822699"/>
              <a:gd name="connsiteY11" fmla="*/ 6908800 h 6908800"/>
              <a:gd name="connsiteX12" fmla="*/ 2527299 w 3822699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36700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254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36738 h 6929438"/>
              <a:gd name="connsiteX1" fmla="*/ 469900 w 3771900"/>
              <a:gd name="connsiteY1" fmla="*/ 4097338 h 6929438"/>
              <a:gd name="connsiteX2" fmla="*/ 12700 w 3771900"/>
              <a:gd name="connsiteY2" fmla="*/ 3589338 h 6929438"/>
              <a:gd name="connsiteX3" fmla="*/ 0 w 3771900"/>
              <a:gd name="connsiteY3" fmla="*/ 1557338 h 6929438"/>
              <a:gd name="connsiteX4" fmla="*/ 444500 w 3771900"/>
              <a:gd name="connsiteY4" fmla="*/ 1697038 h 6929438"/>
              <a:gd name="connsiteX5" fmla="*/ 1282700 w 3771900"/>
              <a:gd name="connsiteY5" fmla="*/ 871538 h 6929438"/>
              <a:gd name="connsiteX6" fmla="*/ 457200 w 3771900"/>
              <a:gd name="connsiteY6" fmla="*/ 33338 h 6929438"/>
              <a:gd name="connsiteX7" fmla="*/ 12700 w 3771900"/>
              <a:gd name="connsiteY7" fmla="*/ 185738 h 6929438"/>
              <a:gd name="connsiteX8" fmla="*/ 25400 w 3771900"/>
              <a:gd name="connsiteY8" fmla="*/ 20638 h 6929438"/>
              <a:gd name="connsiteX9" fmla="*/ 3771900 w 3771900"/>
              <a:gd name="connsiteY9" fmla="*/ 33338 h 6929438"/>
              <a:gd name="connsiteX10" fmla="*/ 3759200 w 3771900"/>
              <a:gd name="connsiteY10" fmla="*/ 6916738 h 6929438"/>
              <a:gd name="connsiteX11" fmla="*/ 2463800 w 3771900"/>
              <a:gd name="connsiteY11" fmla="*/ 6929438 h 6929438"/>
              <a:gd name="connsiteX12" fmla="*/ 2476500 w 3771900"/>
              <a:gd name="connsiteY12" fmla="*/ 1836738 h 6929438"/>
              <a:gd name="connsiteX0" fmla="*/ 2480733 w 3776133"/>
              <a:gd name="connsiteY0" fmla="*/ 2044700 h 7137400"/>
              <a:gd name="connsiteX1" fmla="*/ 474133 w 3776133"/>
              <a:gd name="connsiteY1" fmla="*/ 4305300 h 7137400"/>
              <a:gd name="connsiteX2" fmla="*/ 16933 w 3776133"/>
              <a:gd name="connsiteY2" fmla="*/ 3797300 h 7137400"/>
              <a:gd name="connsiteX3" fmla="*/ 4233 w 3776133"/>
              <a:gd name="connsiteY3" fmla="*/ 1765300 h 7137400"/>
              <a:gd name="connsiteX4" fmla="*/ 448733 w 3776133"/>
              <a:gd name="connsiteY4" fmla="*/ 1905000 h 7137400"/>
              <a:gd name="connsiteX5" fmla="*/ 1286933 w 3776133"/>
              <a:gd name="connsiteY5" fmla="*/ 1079500 h 7137400"/>
              <a:gd name="connsiteX6" fmla="*/ 461433 w 3776133"/>
              <a:gd name="connsiteY6" fmla="*/ 241300 h 7137400"/>
              <a:gd name="connsiteX7" fmla="*/ 16933 w 3776133"/>
              <a:gd name="connsiteY7" fmla="*/ 393700 h 7137400"/>
              <a:gd name="connsiteX8" fmla="*/ 29633 w 3776133"/>
              <a:gd name="connsiteY8" fmla="*/ 228600 h 7137400"/>
              <a:gd name="connsiteX9" fmla="*/ 3776133 w 3776133"/>
              <a:gd name="connsiteY9" fmla="*/ 241300 h 7137400"/>
              <a:gd name="connsiteX10" fmla="*/ 3763433 w 3776133"/>
              <a:gd name="connsiteY10" fmla="*/ 7124700 h 7137400"/>
              <a:gd name="connsiteX11" fmla="*/ 2468033 w 3776133"/>
              <a:gd name="connsiteY11" fmla="*/ 7137400 h 7137400"/>
              <a:gd name="connsiteX12" fmla="*/ 2480733 w 3776133"/>
              <a:gd name="connsiteY12" fmla="*/ 2044700 h 7137400"/>
              <a:gd name="connsiteX0" fmla="*/ 2476500 w 3771900"/>
              <a:gd name="connsiteY0" fmla="*/ 1836738 h 6929438"/>
              <a:gd name="connsiteX1" fmla="*/ 469900 w 3771900"/>
              <a:gd name="connsiteY1" fmla="*/ 4097338 h 6929438"/>
              <a:gd name="connsiteX2" fmla="*/ 12700 w 3771900"/>
              <a:gd name="connsiteY2" fmla="*/ 3589338 h 6929438"/>
              <a:gd name="connsiteX3" fmla="*/ 0 w 3771900"/>
              <a:gd name="connsiteY3" fmla="*/ 1557338 h 6929438"/>
              <a:gd name="connsiteX4" fmla="*/ 444500 w 3771900"/>
              <a:gd name="connsiteY4" fmla="*/ 1697038 h 6929438"/>
              <a:gd name="connsiteX5" fmla="*/ 1282700 w 3771900"/>
              <a:gd name="connsiteY5" fmla="*/ 871538 h 6929438"/>
              <a:gd name="connsiteX6" fmla="*/ 457200 w 3771900"/>
              <a:gd name="connsiteY6" fmla="*/ 33338 h 6929438"/>
              <a:gd name="connsiteX7" fmla="*/ 12700 w 3771900"/>
              <a:gd name="connsiteY7" fmla="*/ 185738 h 6929438"/>
              <a:gd name="connsiteX8" fmla="*/ 25400 w 3771900"/>
              <a:gd name="connsiteY8" fmla="*/ 20638 h 6929438"/>
              <a:gd name="connsiteX9" fmla="*/ 3771900 w 3771900"/>
              <a:gd name="connsiteY9" fmla="*/ 33338 h 6929438"/>
              <a:gd name="connsiteX10" fmla="*/ 3759200 w 3771900"/>
              <a:gd name="connsiteY10" fmla="*/ 6916738 h 6929438"/>
              <a:gd name="connsiteX11" fmla="*/ 2463800 w 3771900"/>
              <a:gd name="connsiteY11" fmla="*/ 6929438 h 6929438"/>
              <a:gd name="connsiteX12" fmla="*/ 2476500 w 3771900"/>
              <a:gd name="connsiteY12" fmla="*/ 1836738 h 6929438"/>
              <a:gd name="connsiteX0" fmla="*/ 2476500 w 3771900"/>
              <a:gd name="connsiteY0" fmla="*/ 1836738 h 6929438"/>
              <a:gd name="connsiteX1" fmla="*/ 469900 w 3771900"/>
              <a:gd name="connsiteY1" fmla="*/ 4097338 h 6929438"/>
              <a:gd name="connsiteX2" fmla="*/ 12700 w 3771900"/>
              <a:gd name="connsiteY2" fmla="*/ 3589338 h 6929438"/>
              <a:gd name="connsiteX3" fmla="*/ 0 w 3771900"/>
              <a:gd name="connsiteY3" fmla="*/ 1557338 h 6929438"/>
              <a:gd name="connsiteX4" fmla="*/ 444500 w 3771900"/>
              <a:gd name="connsiteY4" fmla="*/ 1697038 h 6929438"/>
              <a:gd name="connsiteX5" fmla="*/ 1282700 w 3771900"/>
              <a:gd name="connsiteY5" fmla="*/ 871538 h 6929438"/>
              <a:gd name="connsiteX6" fmla="*/ 457200 w 3771900"/>
              <a:gd name="connsiteY6" fmla="*/ 33338 h 6929438"/>
              <a:gd name="connsiteX7" fmla="*/ 12700 w 3771900"/>
              <a:gd name="connsiteY7" fmla="*/ 185738 h 6929438"/>
              <a:gd name="connsiteX8" fmla="*/ 25400 w 3771900"/>
              <a:gd name="connsiteY8" fmla="*/ 20638 h 6929438"/>
              <a:gd name="connsiteX9" fmla="*/ 3771900 w 3771900"/>
              <a:gd name="connsiteY9" fmla="*/ 33338 h 6929438"/>
              <a:gd name="connsiteX10" fmla="*/ 3759200 w 3771900"/>
              <a:gd name="connsiteY10" fmla="*/ 6916738 h 6929438"/>
              <a:gd name="connsiteX11" fmla="*/ 2463800 w 3771900"/>
              <a:gd name="connsiteY11" fmla="*/ 6929438 h 6929438"/>
              <a:gd name="connsiteX12" fmla="*/ 2476500 w 3771900"/>
              <a:gd name="connsiteY12" fmla="*/ 1836738 h 6929438"/>
              <a:gd name="connsiteX0" fmla="*/ 2476500 w 3771900"/>
              <a:gd name="connsiteY0" fmla="*/ 1836738 h 6929438"/>
              <a:gd name="connsiteX1" fmla="*/ 469900 w 3771900"/>
              <a:gd name="connsiteY1" fmla="*/ 4097338 h 6929438"/>
              <a:gd name="connsiteX2" fmla="*/ 12700 w 3771900"/>
              <a:gd name="connsiteY2" fmla="*/ 3589338 h 6929438"/>
              <a:gd name="connsiteX3" fmla="*/ 0 w 3771900"/>
              <a:gd name="connsiteY3" fmla="*/ 1557338 h 6929438"/>
              <a:gd name="connsiteX4" fmla="*/ 444500 w 3771900"/>
              <a:gd name="connsiteY4" fmla="*/ 1697038 h 6929438"/>
              <a:gd name="connsiteX5" fmla="*/ 1282700 w 3771900"/>
              <a:gd name="connsiteY5" fmla="*/ 871538 h 6929438"/>
              <a:gd name="connsiteX6" fmla="*/ 457200 w 3771900"/>
              <a:gd name="connsiteY6" fmla="*/ 33338 h 6929438"/>
              <a:gd name="connsiteX7" fmla="*/ 12700 w 3771900"/>
              <a:gd name="connsiteY7" fmla="*/ 185738 h 6929438"/>
              <a:gd name="connsiteX8" fmla="*/ 25400 w 3771900"/>
              <a:gd name="connsiteY8" fmla="*/ 20638 h 6929438"/>
              <a:gd name="connsiteX9" fmla="*/ 3771900 w 3771900"/>
              <a:gd name="connsiteY9" fmla="*/ 33338 h 6929438"/>
              <a:gd name="connsiteX10" fmla="*/ 3759200 w 3771900"/>
              <a:gd name="connsiteY10" fmla="*/ 6916738 h 6929438"/>
              <a:gd name="connsiteX11" fmla="*/ 2463800 w 3771900"/>
              <a:gd name="connsiteY11" fmla="*/ 6929438 h 6929438"/>
              <a:gd name="connsiteX12" fmla="*/ 2476500 w 3771900"/>
              <a:gd name="connsiteY12" fmla="*/ 1836738 h 6929438"/>
              <a:gd name="connsiteX0" fmla="*/ 2476500 w 3771900"/>
              <a:gd name="connsiteY0" fmla="*/ 1836738 h 6929438"/>
              <a:gd name="connsiteX1" fmla="*/ 469900 w 3771900"/>
              <a:gd name="connsiteY1" fmla="*/ 4097338 h 6929438"/>
              <a:gd name="connsiteX2" fmla="*/ 12700 w 3771900"/>
              <a:gd name="connsiteY2" fmla="*/ 3589338 h 6929438"/>
              <a:gd name="connsiteX3" fmla="*/ 0 w 3771900"/>
              <a:gd name="connsiteY3" fmla="*/ 1557338 h 6929438"/>
              <a:gd name="connsiteX4" fmla="*/ 444500 w 3771900"/>
              <a:gd name="connsiteY4" fmla="*/ 1697038 h 6929438"/>
              <a:gd name="connsiteX5" fmla="*/ 1282700 w 3771900"/>
              <a:gd name="connsiteY5" fmla="*/ 871538 h 6929438"/>
              <a:gd name="connsiteX6" fmla="*/ 457200 w 3771900"/>
              <a:gd name="connsiteY6" fmla="*/ 33338 h 6929438"/>
              <a:gd name="connsiteX7" fmla="*/ 12700 w 3771900"/>
              <a:gd name="connsiteY7" fmla="*/ 185738 h 6929438"/>
              <a:gd name="connsiteX8" fmla="*/ 25400 w 3771900"/>
              <a:gd name="connsiteY8" fmla="*/ 20638 h 6929438"/>
              <a:gd name="connsiteX9" fmla="*/ 3771900 w 3771900"/>
              <a:gd name="connsiteY9" fmla="*/ 33338 h 6929438"/>
              <a:gd name="connsiteX10" fmla="*/ 3759200 w 3771900"/>
              <a:gd name="connsiteY10" fmla="*/ 6916738 h 6929438"/>
              <a:gd name="connsiteX11" fmla="*/ 2463800 w 3771900"/>
              <a:gd name="connsiteY11" fmla="*/ 6929438 h 6929438"/>
              <a:gd name="connsiteX12" fmla="*/ 2476500 w 3771900"/>
              <a:gd name="connsiteY12" fmla="*/ 1836738 h 6929438"/>
              <a:gd name="connsiteX0" fmla="*/ 2476500 w 3771900"/>
              <a:gd name="connsiteY0" fmla="*/ 1841500 h 6934200"/>
              <a:gd name="connsiteX1" fmla="*/ 469900 w 3771900"/>
              <a:gd name="connsiteY1" fmla="*/ 4102100 h 6934200"/>
              <a:gd name="connsiteX2" fmla="*/ 12700 w 3771900"/>
              <a:gd name="connsiteY2" fmla="*/ 3594100 h 6934200"/>
              <a:gd name="connsiteX3" fmla="*/ 0 w 3771900"/>
              <a:gd name="connsiteY3" fmla="*/ 1562100 h 6934200"/>
              <a:gd name="connsiteX4" fmla="*/ 444500 w 3771900"/>
              <a:gd name="connsiteY4" fmla="*/ 1701800 h 6934200"/>
              <a:gd name="connsiteX5" fmla="*/ 1282700 w 3771900"/>
              <a:gd name="connsiteY5" fmla="*/ 876300 h 6934200"/>
              <a:gd name="connsiteX6" fmla="*/ 457200 w 3771900"/>
              <a:gd name="connsiteY6" fmla="*/ 38100 h 6934200"/>
              <a:gd name="connsiteX7" fmla="*/ 12700 w 3771900"/>
              <a:gd name="connsiteY7" fmla="*/ 190500 h 6934200"/>
              <a:gd name="connsiteX8" fmla="*/ 25400 w 3771900"/>
              <a:gd name="connsiteY8" fmla="*/ 25400 h 6934200"/>
              <a:gd name="connsiteX9" fmla="*/ 3771900 w 3771900"/>
              <a:gd name="connsiteY9" fmla="*/ 38100 h 6934200"/>
              <a:gd name="connsiteX10" fmla="*/ 3759200 w 3771900"/>
              <a:gd name="connsiteY10" fmla="*/ 6921500 h 6934200"/>
              <a:gd name="connsiteX11" fmla="*/ 2463800 w 3771900"/>
              <a:gd name="connsiteY11" fmla="*/ 6934200 h 6934200"/>
              <a:gd name="connsiteX12" fmla="*/ 2476500 w 3771900"/>
              <a:gd name="connsiteY12" fmla="*/ 1841500 h 6934200"/>
              <a:gd name="connsiteX0" fmla="*/ 2476500 w 3771900"/>
              <a:gd name="connsiteY0" fmla="*/ 1828800 h 6921500"/>
              <a:gd name="connsiteX1" fmla="*/ 469900 w 3771900"/>
              <a:gd name="connsiteY1" fmla="*/ 4089400 h 6921500"/>
              <a:gd name="connsiteX2" fmla="*/ 12700 w 3771900"/>
              <a:gd name="connsiteY2" fmla="*/ 3581400 h 6921500"/>
              <a:gd name="connsiteX3" fmla="*/ 0 w 3771900"/>
              <a:gd name="connsiteY3" fmla="*/ 1549400 h 6921500"/>
              <a:gd name="connsiteX4" fmla="*/ 444500 w 3771900"/>
              <a:gd name="connsiteY4" fmla="*/ 1689100 h 6921500"/>
              <a:gd name="connsiteX5" fmla="*/ 1282700 w 3771900"/>
              <a:gd name="connsiteY5" fmla="*/ 863600 h 6921500"/>
              <a:gd name="connsiteX6" fmla="*/ 457200 w 3771900"/>
              <a:gd name="connsiteY6" fmla="*/ 25400 h 6921500"/>
              <a:gd name="connsiteX7" fmla="*/ 12700 w 3771900"/>
              <a:gd name="connsiteY7" fmla="*/ 177800 h 6921500"/>
              <a:gd name="connsiteX8" fmla="*/ 25400 w 3771900"/>
              <a:gd name="connsiteY8" fmla="*/ 12700 h 6921500"/>
              <a:gd name="connsiteX9" fmla="*/ 3771900 w 3771900"/>
              <a:gd name="connsiteY9" fmla="*/ 25400 h 6921500"/>
              <a:gd name="connsiteX10" fmla="*/ 3759200 w 3771900"/>
              <a:gd name="connsiteY10" fmla="*/ 6908800 h 6921500"/>
              <a:gd name="connsiteX11" fmla="*/ 2463800 w 3771900"/>
              <a:gd name="connsiteY11" fmla="*/ 6921500 h 6921500"/>
              <a:gd name="connsiteX12" fmla="*/ 2476500 w 3771900"/>
              <a:gd name="connsiteY12" fmla="*/ 1828800 h 69215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36700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254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36700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254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36700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254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36700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254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36700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254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36700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254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16062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254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16062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254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16062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127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16062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127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16062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127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16062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127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16062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127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16062 h 6908800"/>
              <a:gd name="connsiteX4" fmla="*/ 444500 w 3771900"/>
              <a:gd name="connsiteY4" fmla="*/ 1676400 h 6908800"/>
              <a:gd name="connsiteX5" fmla="*/ 13462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127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16062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127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16062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127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16062 h 6908800"/>
              <a:gd name="connsiteX4" fmla="*/ 444500 w 3771900"/>
              <a:gd name="connsiteY4" fmla="*/ 1676400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127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  <a:gd name="connsiteX0" fmla="*/ 2476500 w 3771900"/>
              <a:gd name="connsiteY0" fmla="*/ 1816100 h 6908800"/>
              <a:gd name="connsiteX1" fmla="*/ 469900 w 3771900"/>
              <a:gd name="connsiteY1" fmla="*/ 4076700 h 6908800"/>
              <a:gd name="connsiteX2" fmla="*/ 12700 w 3771900"/>
              <a:gd name="connsiteY2" fmla="*/ 3568700 h 6908800"/>
              <a:gd name="connsiteX3" fmla="*/ 0 w 3771900"/>
              <a:gd name="connsiteY3" fmla="*/ 1516062 h 6908800"/>
              <a:gd name="connsiteX4" fmla="*/ 444500 w 3771900"/>
              <a:gd name="connsiteY4" fmla="*/ 1655762 h 6908800"/>
              <a:gd name="connsiteX5" fmla="*/ 1282700 w 3771900"/>
              <a:gd name="connsiteY5" fmla="*/ 850900 h 6908800"/>
              <a:gd name="connsiteX6" fmla="*/ 457200 w 3771900"/>
              <a:gd name="connsiteY6" fmla="*/ 12700 h 6908800"/>
              <a:gd name="connsiteX7" fmla="*/ 12700 w 3771900"/>
              <a:gd name="connsiteY7" fmla="*/ 165100 h 6908800"/>
              <a:gd name="connsiteX8" fmla="*/ 12700 w 3771900"/>
              <a:gd name="connsiteY8" fmla="*/ 0 h 6908800"/>
              <a:gd name="connsiteX9" fmla="*/ 3771900 w 3771900"/>
              <a:gd name="connsiteY9" fmla="*/ 12700 h 6908800"/>
              <a:gd name="connsiteX10" fmla="*/ 3759200 w 3771900"/>
              <a:gd name="connsiteY10" fmla="*/ 6896100 h 6908800"/>
              <a:gd name="connsiteX11" fmla="*/ 2463800 w 3771900"/>
              <a:gd name="connsiteY11" fmla="*/ 6908800 h 6908800"/>
              <a:gd name="connsiteX12" fmla="*/ 2476500 w 3771900"/>
              <a:gd name="connsiteY12" fmla="*/ 1816100 h 690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71900" h="6908800">
                <a:moveTo>
                  <a:pt x="2476500" y="1816100"/>
                </a:moveTo>
                <a:lnTo>
                  <a:pt x="469900" y="4076700"/>
                </a:lnTo>
                <a:lnTo>
                  <a:pt x="12700" y="3568700"/>
                </a:lnTo>
                <a:cubicBezTo>
                  <a:pt x="8467" y="2891367"/>
                  <a:pt x="0" y="1516062"/>
                  <a:pt x="0" y="1516062"/>
                </a:cubicBezTo>
                <a:cubicBezTo>
                  <a:pt x="50800" y="1537229"/>
                  <a:pt x="165100" y="1626129"/>
                  <a:pt x="444500" y="1655762"/>
                </a:cubicBezTo>
                <a:cubicBezTo>
                  <a:pt x="673100" y="1672695"/>
                  <a:pt x="1291167" y="1485900"/>
                  <a:pt x="1282700" y="850900"/>
                </a:cubicBezTo>
                <a:cubicBezTo>
                  <a:pt x="1274233" y="198967"/>
                  <a:pt x="749299" y="4233"/>
                  <a:pt x="457200" y="12700"/>
                </a:cubicBezTo>
                <a:cubicBezTo>
                  <a:pt x="258235" y="21167"/>
                  <a:pt x="143933" y="84666"/>
                  <a:pt x="12700" y="165100"/>
                </a:cubicBezTo>
                <a:cubicBezTo>
                  <a:pt x="16933" y="177800"/>
                  <a:pt x="8467" y="55033"/>
                  <a:pt x="12700" y="0"/>
                </a:cubicBezTo>
                <a:lnTo>
                  <a:pt x="3771900" y="12700"/>
                </a:lnTo>
                <a:cubicBezTo>
                  <a:pt x="3767667" y="2307167"/>
                  <a:pt x="3759200" y="6896100"/>
                  <a:pt x="3759200" y="6896100"/>
                </a:cubicBezTo>
                <a:lnTo>
                  <a:pt x="2463800" y="6908800"/>
                </a:lnTo>
                <a:cubicBezTo>
                  <a:pt x="2468033" y="5207000"/>
                  <a:pt x="2476500" y="1803400"/>
                  <a:pt x="2476500" y="1816100"/>
                </a:cubicBezTo>
                <a:close/>
              </a:path>
            </a:pathLst>
          </a:custGeom>
          <a:solidFill>
            <a:srgbClr val="005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274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3DCA793-B2F0-441B-9EA2-D147AB5383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95535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CB6255-668B-4358-8681-DB7616608B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47045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7013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200151"/>
            <a:ext cx="4037012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E0CEA66-E968-4932-A3C8-728BCE0491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9479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8E39992-C672-4F3A-82B2-8FC916012F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053834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815990-FD1D-4356-BCC9-2B7ACC2157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14062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10442EA-2134-48B7-ACB5-713AD75CCA6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12598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2D419E3-BD0B-4655-9F1C-580285E860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93722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C0D94C3-C769-40B5-968E-8B2006FA336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432594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5796F8-6B28-40F1-B619-D86636F83A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836387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813" y="205979"/>
            <a:ext cx="2055812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8213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ACA073B-DA4D-49E5-A2D1-6DFDA8129D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062300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237061" y="1164512"/>
            <a:ext cx="7023713" cy="3051939"/>
          </a:xfrm>
          <a:prstGeom prst="rect">
            <a:avLst/>
          </a:prstGeom>
        </p:spPr>
        <p:txBody>
          <a:bodyPr vert="horz"/>
          <a:lstStyle>
            <a:lvl1pPr marL="0" indent="0">
              <a:spcBef>
                <a:spcPts val="0"/>
              </a:spcBef>
              <a:buClr>
                <a:srgbClr val="830051"/>
              </a:buClr>
              <a:buFont typeface="Arial" pitchFamily="34" charset="0"/>
              <a:buNone/>
              <a:defRPr sz="24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800"/>
            </a:lvl2pPr>
            <a:lvl3pPr marL="685800" indent="0">
              <a:buNone/>
              <a:defRPr sz="1800"/>
            </a:lvl3pPr>
            <a:lvl4pPr marL="1028700" indent="0">
              <a:buNone/>
              <a:defRPr sz="1800"/>
            </a:lvl4pPr>
            <a:lvl5pPr marL="1371600" indent="0">
              <a:buNone/>
              <a:defRPr sz="1800"/>
            </a:lvl5pPr>
          </a:lstStyle>
          <a:p>
            <a:pPr lvl="0"/>
            <a:r>
              <a:rPr lang="en-GB" noProof="0" dirty="0" smtClean="0"/>
              <a:t>Click to add introduction text</a:t>
            </a:r>
          </a:p>
        </p:txBody>
      </p:sp>
      <p:sp>
        <p:nvSpPr>
          <p:cNvPr id="8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>
              <a:lnSpc>
                <a:spcPts val="2250"/>
              </a:lnSpc>
              <a:defRPr sz="2400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master title</a:t>
            </a:r>
            <a:endParaRPr lang="en-GB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577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 Conten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able Placeholder 29"/>
          <p:cNvSpPr>
            <a:spLocks noGrp="1"/>
          </p:cNvSpPr>
          <p:nvPr>
            <p:ph type="tbl" sz="quarter" idx="15"/>
          </p:nvPr>
        </p:nvSpPr>
        <p:spPr>
          <a:xfrm>
            <a:off x="987429" y="1298350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46699" y="1409914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50" name="Text Placeholder 49"/>
          <p:cNvSpPr>
            <a:spLocks noGrp="1"/>
          </p:cNvSpPr>
          <p:nvPr>
            <p:ph type="body" sz="quarter" idx="26" hasCustomPrompt="1"/>
          </p:nvPr>
        </p:nvSpPr>
        <p:spPr>
          <a:xfrm>
            <a:off x="330200" y="1298700"/>
            <a:ext cx="540000" cy="405000"/>
          </a:xfrm>
          <a:prstGeom prst="rect">
            <a:avLst/>
          </a:prstGeom>
          <a:solidFill>
            <a:srgbClr val="D8DCDE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450"/>
              </a:spcBef>
              <a:buNone/>
              <a:defRPr sz="18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1</a:t>
            </a:r>
            <a:endParaRPr lang="en-GB" noProof="0" dirty="0"/>
          </a:p>
        </p:txBody>
      </p:sp>
      <p:sp>
        <p:nvSpPr>
          <p:cNvPr id="58" name="Table Placeholder 29"/>
          <p:cNvSpPr>
            <a:spLocks noGrp="1"/>
          </p:cNvSpPr>
          <p:nvPr>
            <p:ph type="tbl" sz="quarter" idx="27"/>
          </p:nvPr>
        </p:nvSpPr>
        <p:spPr>
          <a:xfrm>
            <a:off x="987429" y="1802617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59" name="Text Placeholder 2"/>
          <p:cNvSpPr>
            <a:spLocks noGrp="1"/>
          </p:cNvSpPr>
          <p:nvPr>
            <p:ph type="body" sz="quarter" idx="28"/>
          </p:nvPr>
        </p:nvSpPr>
        <p:spPr>
          <a:xfrm>
            <a:off x="1046699" y="1914181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 baseline="0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0" name="Text Placeholder 49"/>
          <p:cNvSpPr>
            <a:spLocks noGrp="1"/>
          </p:cNvSpPr>
          <p:nvPr>
            <p:ph type="body" sz="quarter" idx="29" hasCustomPrompt="1"/>
          </p:nvPr>
        </p:nvSpPr>
        <p:spPr>
          <a:xfrm>
            <a:off x="330200" y="1802967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2</a:t>
            </a:r>
            <a:endParaRPr lang="en-GB" noProof="0" dirty="0"/>
          </a:p>
        </p:txBody>
      </p:sp>
      <p:sp>
        <p:nvSpPr>
          <p:cNvPr id="62" name="Table Placeholder 29"/>
          <p:cNvSpPr>
            <a:spLocks noGrp="1"/>
          </p:cNvSpPr>
          <p:nvPr>
            <p:ph type="tbl" sz="quarter" idx="30"/>
          </p:nvPr>
        </p:nvSpPr>
        <p:spPr>
          <a:xfrm>
            <a:off x="987429" y="2311673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3" name="Text Placeholder 2"/>
          <p:cNvSpPr>
            <a:spLocks noGrp="1"/>
          </p:cNvSpPr>
          <p:nvPr>
            <p:ph type="body" sz="quarter" idx="31"/>
          </p:nvPr>
        </p:nvSpPr>
        <p:spPr>
          <a:xfrm>
            <a:off x="1046699" y="2423237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4" name="Text Placeholder 49"/>
          <p:cNvSpPr>
            <a:spLocks noGrp="1"/>
          </p:cNvSpPr>
          <p:nvPr>
            <p:ph type="body" sz="quarter" idx="32" hasCustomPrompt="1"/>
          </p:nvPr>
        </p:nvSpPr>
        <p:spPr>
          <a:xfrm>
            <a:off x="330200" y="2312024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3</a:t>
            </a:r>
            <a:endParaRPr lang="en-GB" noProof="0" dirty="0"/>
          </a:p>
        </p:txBody>
      </p:sp>
      <p:sp>
        <p:nvSpPr>
          <p:cNvPr id="66" name="Table Placeholder 29"/>
          <p:cNvSpPr>
            <a:spLocks noGrp="1"/>
          </p:cNvSpPr>
          <p:nvPr>
            <p:ph type="tbl" sz="quarter" idx="33"/>
          </p:nvPr>
        </p:nvSpPr>
        <p:spPr>
          <a:xfrm>
            <a:off x="987429" y="2822381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7" name="Text Placeholder 2"/>
          <p:cNvSpPr>
            <a:spLocks noGrp="1"/>
          </p:cNvSpPr>
          <p:nvPr>
            <p:ph type="body" sz="quarter" idx="34"/>
          </p:nvPr>
        </p:nvSpPr>
        <p:spPr>
          <a:xfrm>
            <a:off x="1046699" y="2933945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8" name="Text Placeholder 49"/>
          <p:cNvSpPr>
            <a:spLocks noGrp="1"/>
          </p:cNvSpPr>
          <p:nvPr>
            <p:ph type="body" sz="quarter" idx="35" hasCustomPrompt="1"/>
          </p:nvPr>
        </p:nvSpPr>
        <p:spPr>
          <a:xfrm>
            <a:off x="330200" y="2822732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4</a:t>
            </a:r>
            <a:endParaRPr lang="en-GB" noProof="0" dirty="0"/>
          </a:p>
        </p:txBody>
      </p:sp>
      <p:sp>
        <p:nvSpPr>
          <p:cNvPr id="70" name="Table Placeholder 29"/>
          <p:cNvSpPr>
            <a:spLocks noGrp="1"/>
          </p:cNvSpPr>
          <p:nvPr>
            <p:ph type="tbl" sz="quarter" idx="36"/>
          </p:nvPr>
        </p:nvSpPr>
        <p:spPr>
          <a:xfrm>
            <a:off x="987429" y="3330659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1" name="Text Placeholder 2"/>
          <p:cNvSpPr>
            <a:spLocks noGrp="1"/>
          </p:cNvSpPr>
          <p:nvPr>
            <p:ph type="body" sz="quarter" idx="37"/>
          </p:nvPr>
        </p:nvSpPr>
        <p:spPr>
          <a:xfrm>
            <a:off x="1046699" y="3442222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72" name="Text Placeholder 49"/>
          <p:cNvSpPr>
            <a:spLocks noGrp="1"/>
          </p:cNvSpPr>
          <p:nvPr>
            <p:ph type="body" sz="quarter" idx="38" hasCustomPrompt="1"/>
          </p:nvPr>
        </p:nvSpPr>
        <p:spPr>
          <a:xfrm>
            <a:off x="330200" y="3331009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5</a:t>
            </a:r>
            <a:endParaRPr lang="en-GB" noProof="0" dirty="0"/>
          </a:p>
        </p:txBody>
      </p:sp>
      <p:sp>
        <p:nvSpPr>
          <p:cNvPr id="74" name="Table Placeholder 29"/>
          <p:cNvSpPr>
            <a:spLocks noGrp="1"/>
          </p:cNvSpPr>
          <p:nvPr>
            <p:ph type="tbl" sz="quarter" idx="39"/>
          </p:nvPr>
        </p:nvSpPr>
        <p:spPr>
          <a:xfrm>
            <a:off x="987429" y="3846875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5" name="Text Placeholder 2"/>
          <p:cNvSpPr>
            <a:spLocks noGrp="1"/>
          </p:cNvSpPr>
          <p:nvPr>
            <p:ph type="body" sz="quarter" idx="40"/>
          </p:nvPr>
        </p:nvSpPr>
        <p:spPr>
          <a:xfrm>
            <a:off x="1046699" y="3958439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76" name="Text Placeholder 49"/>
          <p:cNvSpPr>
            <a:spLocks noGrp="1"/>
          </p:cNvSpPr>
          <p:nvPr>
            <p:ph type="body" sz="quarter" idx="41" hasCustomPrompt="1"/>
          </p:nvPr>
        </p:nvSpPr>
        <p:spPr>
          <a:xfrm>
            <a:off x="330200" y="3847226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6</a:t>
            </a:r>
            <a:endParaRPr lang="en-GB" noProof="0" dirty="0"/>
          </a:p>
        </p:txBody>
      </p:sp>
      <p:sp>
        <p:nvSpPr>
          <p:cNvPr id="29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navigation 1 title</a:t>
            </a:r>
            <a:endParaRPr lang="en-GB" noProof="0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4881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 Conte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able Placeholder 29"/>
          <p:cNvSpPr>
            <a:spLocks noGrp="1"/>
          </p:cNvSpPr>
          <p:nvPr>
            <p:ph type="tbl" sz="quarter" idx="15"/>
          </p:nvPr>
        </p:nvSpPr>
        <p:spPr>
          <a:xfrm>
            <a:off x="987429" y="1298350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46699" y="1409914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50" name="Text Placeholder 49"/>
          <p:cNvSpPr>
            <a:spLocks noGrp="1"/>
          </p:cNvSpPr>
          <p:nvPr>
            <p:ph type="body" sz="quarter" idx="26" hasCustomPrompt="1"/>
          </p:nvPr>
        </p:nvSpPr>
        <p:spPr>
          <a:xfrm>
            <a:off x="330200" y="1298700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1</a:t>
            </a:r>
            <a:endParaRPr lang="en-GB" noProof="0" dirty="0"/>
          </a:p>
        </p:txBody>
      </p:sp>
      <p:sp>
        <p:nvSpPr>
          <p:cNvPr id="58" name="Table Placeholder 29"/>
          <p:cNvSpPr>
            <a:spLocks noGrp="1"/>
          </p:cNvSpPr>
          <p:nvPr>
            <p:ph type="tbl" sz="quarter" idx="27"/>
          </p:nvPr>
        </p:nvSpPr>
        <p:spPr>
          <a:xfrm>
            <a:off x="987429" y="1802617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59" name="Text Placeholder 2"/>
          <p:cNvSpPr>
            <a:spLocks noGrp="1"/>
          </p:cNvSpPr>
          <p:nvPr>
            <p:ph type="body" sz="quarter" idx="28"/>
          </p:nvPr>
        </p:nvSpPr>
        <p:spPr>
          <a:xfrm>
            <a:off x="1046699" y="1914181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0" name="Text Placeholder 49"/>
          <p:cNvSpPr>
            <a:spLocks noGrp="1"/>
          </p:cNvSpPr>
          <p:nvPr>
            <p:ph type="body" sz="quarter" idx="29" hasCustomPrompt="1"/>
          </p:nvPr>
        </p:nvSpPr>
        <p:spPr>
          <a:xfrm>
            <a:off x="330200" y="1802967"/>
            <a:ext cx="540000" cy="405000"/>
          </a:xfrm>
          <a:prstGeom prst="rect">
            <a:avLst/>
          </a:prstGeom>
          <a:solidFill>
            <a:srgbClr val="D8DCDE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2</a:t>
            </a:r>
            <a:endParaRPr lang="en-GB" noProof="0"/>
          </a:p>
        </p:txBody>
      </p:sp>
      <p:sp>
        <p:nvSpPr>
          <p:cNvPr id="62" name="Table Placeholder 29"/>
          <p:cNvSpPr>
            <a:spLocks noGrp="1"/>
          </p:cNvSpPr>
          <p:nvPr>
            <p:ph type="tbl" sz="quarter" idx="30"/>
          </p:nvPr>
        </p:nvSpPr>
        <p:spPr>
          <a:xfrm>
            <a:off x="987429" y="2311673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3" name="Text Placeholder 2"/>
          <p:cNvSpPr>
            <a:spLocks noGrp="1"/>
          </p:cNvSpPr>
          <p:nvPr>
            <p:ph type="body" sz="quarter" idx="31"/>
          </p:nvPr>
        </p:nvSpPr>
        <p:spPr>
          <a:xfrm>
            <a:off x="1046699" y="2423237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smtClean="0"/>
          </a:p>
        </p:txBody>
      </p:sp>
      <p:sp>
        <p:nvSpPr>
          <p:cNvPr id="64" name="Text Placeholder 49"/>
          <p:cNvSpPr>
            <a:spLocks noGrp="1"/>
          </p:cNvSpPr>
          <p:nvPr>
            <p:ph type="body" sz="quarter" idx="32" hasCustomPrompt="1"/>
          </p:nvPr>
        </p:nvSpPr>
        <p:spPr>
          <a:xfrm>
            <a:off x="330200" y="2312024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3</a:t>
            </a:r>
            <a:endParaRPr lang="en-GB" noProof="0"/>
          </a:p>
        </p:txBody>
      </p:sp>
      <p:sp>
        <p:nvSpPr>
          <p:cNvPr id="66" name="Table Placeholder 29"/>
          <p:cNvSpPr>
            <a:spLocks noGrp="1"/>
          </p:cNvSpPr>
          <p:nvPr>
            <p:ph type="tbl" sz="quarter" idx="33"/>
          </p:nvPr>
        </p:nvSpPr>
        <p:spPr>
          <a:xfrm>
            <a:off x="987429" y="2822381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7" name="Text Placeholder 2"/>
          <p:cNvSpPr>
            <a:spLocks noGrp="1"/>
          </p:cNvSpPr>
          <p:nvPr>
            <p:ph type="body" sz="quarter" idx="34"/>
          </p:nvPr>
        </p:nvSpPr>
        <p:spPr>
          <a:xfrm>
            <a:off x="1046699" y="2933945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8" name="Text Placeholder 49"/>
          <p:cNvSpPr>
            <a:spLocks noGrp="1"/>
          </p:cNvSpPr>
          <p:nvPr>
            <p:ph type="body" sz="quarter" idx="35" hasCustomPrompt="1"/>
          </p:nvPr>
        </p:nvSpPr>
        <p:spPr>
          <a:xfrm>
            <a:off x="330200" y="2822732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4</a:t>
            </a:r>
            <a:endParaRPr lang="en-GB" noProof="0"/>
          </a:p>
        </p:txBody>
      </p:sp>
      <p:sp>
        <p:nvSpPr>
          <p:cNvPr id="70" name="Table Placeholder 29"/>
          <p:cNvSpPr>
            <a:spLocks noGrp="1"/>
          </p:cNvSpPr>
          <p:nvPr>
            <p:ph type="tbl" sz="quarter" idx="36"/>
          </p:nvPr>
        </p:nvSpPr>
        <p:spPr>
          <a:xfrm>
            <a:off x="987429" y="3330659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1" name="Text Placeholder 2"/>
          <p:cNvSpPr>
            <a:spLocks noGrp="1"/>
          </p:cNvSpPr>
          <p:nvPr>
            <p:ph type="body" sz="quarter" idx="37"/>
          </p:nvPr>
        </p:nvSpPr>
        <p:spPr>
          <a:xfrm>
            <a:off x="1046699" y="3442222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72" name="Text Placeholder 49"/>
          <p:cNvSpPr>
            <a:spLocks noGrp="1"/>
          </p:cNvSpPr>
          <p:nvPr>
            <p:ph type="body" sz="quarter" idx="38" hasCustomPrompt="1"/>
          </p:nvPr>
        </p:nvSpPr>
        <p:spPr>
          <a:xfrm>
            <a:off x="330200" y="3331009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5</a:t>
            </a:r>
            <a:endParaRPr lang="en-GB" noProof="0"/>
          </a:p>
        </p:txBody>
      </p:sp>
      <p:sp>
        <p:nvSpPr>
          <p:cNvPr id="74" name="Table Placeholder 29"/>
          <p:cNvSpPr>
            <a:spLocks noGrp="1"/>
          </p:cNvSpPr>
          <p:nvPr>
            <p:ph type="tbl" sz="quarter" idx="39"/>
          </p:nvPr>
        </p:nvSpPr>
        <p:spPr>
          <a:xfrm>
            <a:off x="987429" y="3846875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5" name="Text Placeholder 2"/>
          <p:cNvSpPr>
            <a:spLocks noGrp="1"/>
          </p:cNvSpPr>
          <p:nvPr>
            <p:ph type="body" sz="quarter" idx="40"/>
          </p:nvPr>
        </p:nvSpPr>
        <p:spPr>
          <a:xfrm>
            <a:off x="1046699" y="3958439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smtClean="0"/>
          </a:p>
        </p:txBody>
      </p:sp>
      <p:sp>
        <p:nvSpPr>
          <p:cNvPr id="76" name="Text Placeholder 49"/>
          <p:cNvSpPr>
            <a:spLocks noGrp="1"/>
          </p:cNvSpPr>
          <p:nvPr>
            <p:ph type="body" sz="quarter" idx="41" hasCustomPrompt="1"/>
          </p:nvPr>
        </p:nvSpPr>
        <p:spPr>
          <a:xfrm>
            <a:off x="330200" y="3847226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6</a:t>
            </a:r>
            <a:endParaRPr lang="en-GB" noProof="0"/>
          </a:p>
        </p:txBody>
      </p:sp>
      <p:sp>
        <p:nvSpPr>
          <p:cNvPr id="27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navigation 2 title</a:t>
            </a:r>
            <a:endParaRPr lang="en-GB" noProof="0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2632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 Conten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able Placeholder 29"/>
          <p:cNvSpPr>
            <a:spLocks noGrp="1"/>
          </p:cNvSpPr>
          <p:nvPr>
            <p:ph type="tbl" sz="quarter" idx="15"/>
          </p:nvPr>
        </p:nvSpPr>
        <p:spPr>
          <a:xfrm>
            <a:off x="987429" y="1298350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46699" y="1409914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50" name="Text Placeholder 49"/>
          <p:cNvSpPr>
            <a:spLocks noGrp="1"/>
          </p:cNvSpPr>
          <p:nvPr>
            <p:ph type="body" sz="quarter" idx="26" hasCustomPrompt="1"/>
          </p:nvPr>
        </p:nvSpPr>
        <p:spPr>
          <a:xfrm>
            <a:off x="330200" y="1298700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1</a:t>
            </a:r>
            <a:endParaRPr lang="en-GB" noProof="0"/>
          </a:p>
        </p:txBody>
      </p:sp>
      <p:sp>
        <p:nvSpPr>
          <p:cNvPr id="58" name="Table Placeholder 29"/>
          <p:cNvSpPr>
            <a:spLocks noGrp="1"/>
          </p:cNvSpPr>
          <p:nvPr>
            <p:ph type="tbl" sz="quarter" idx="27"/>
          </p:nvPr>
        </p:nvSpPr>
        <p:spPr>
          <a:xfrm>
            <a:off x="987429" y="1802617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59" name="Text Placeholder 2"/>
          <p:cNvSpPr>
            <a:spLocks noGrp="1"/>
          </p:cNvSpPr>
          <p:nvPr>
            <p:ph type="body" sz="quarter" idx="28"/>
          </p:nvPr>
        </p:nvSpPr>
        <p:spPr>
          <a:xfrm>
            <a:off x="1046699" y="1914181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 baseline="0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0" name="Text Placeholder 49"/>
          <p:cNvSpPr>
            <a:spLocks noGrp="1"/>
          </p:cNvSpPr>
          <p:nvPr>
            <p:ph type="body" sz="quarter" idx="29" hasCustomPrompt="1"/>
          </p:nvPr>
        </p:nvSpPr>
        <p:spPr>
          <a:xfrm>
            <a:off x="330200" y="1802967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2</a:t>
            </a:r>
            <a:endParaRPr lang="en-GB" noProof="0"/>
          </a:p>
        </p:txBody>
      </p:sp>
      <p:sp>
        <p:nvSpPr>
          <p:cNvPr id="62" name="Table Placeholder 29"/>
          <p:cNvSpPr>
            <a:spLocks noGrp="1"/>
          </p:cNvSpPr>
          <p:nvPr>
            <p:ph type="tbl" sz="quarter" idx="30"/>
          </p:nvPr>
        </p:nvSpPr>
        <p:spPr>
          <a:xfrm>
            <a:off x="987429" y="2311673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3" name="Text Placeholder 2"/>
          <p:cNvSpPr>
            <a:spLocks noGrp="1"/>
          </p:cNvSpPr>
          <p:nvPr>
            <p:ph type="body" sz="quarter" idx="31"/>
          </p:nvPr>
        </p:nvSpPr>
        <p:spPr>
          <a:xfrm>
            <a:off x="1046699" y="2423237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4" name="Text Placeholder 49"/>
          <p:cNvSpPr>
            <a:spLocks noGrp="1"/>
          </p:cNvSpPr>
          <p:nvPr>
            <p:ph type="body" sz="quarter" idx="32" hasCustomPrompt="1"/>
          </p:nvPr>
        </p:nvSpPr>
        <p:spPr>
          <a:xfrm>
            <a:off x="330200" y="2312024"/>
            <a:ext cx="540000" cy="405000"/>
          </a:xfrm>
          <a:prstGeom prst="rect">
            <a:avLst/>
          </a:prstGeom>
          <a:solidFill>
            <a:srgbClr val="D8DCDE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3</a:t>
            </a:r>
            <a:endParaRPr lang="en-GB" noProof="0" dirty="0"/>
          </a:p>
        </p:txBody>
      </p:sp>
      <p:sp>
        <p:nvSpPr>
          <p:cNvPr id="66" name="Table Placeholder 29"/>
          <p:cNvSpPr>
            <a:spLocks noGrp="1"/>
          </p:cNvSpPr>
          <p:nvPr>
            <p:ph type="tbl" sz="quarter" idx="33"/>
          </p:nvPr>
        </p:nvSpPr>
        <p:spPr>
          <a:xfrm>
            <a:off x="987429" y="2822381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7" name="Text Placeholder 2"/>
          <p:cNvSpPr>
            <a:spLocks noGrp="1"/>
          </p:cNvSpPr>
          <p:nvPr>
            <p:ph type="body" sz="quarter" idx="34"/>
          </p:nvPr>
        </p:nvSpPr>
        <p:spPr>
          <a:xfrm>
            <a:off x="1046699" y="2933945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8" name="Text Placeholder 49"/>
          <p:cNvSpPr>
            <a:spLocks noGrp="1"/>
          </p:cNvSpPr>
          <p:nvPr>
            <p:ph type="body" sz="quarter" idx="35" hasCustomPrompt="1"/>
          </p:nvPr>
        </p:nvSpPr>
        <p:spPr>
          <a:xfrm>
            <a:off x="330200" y="2822732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4</a:t>
            </a:r>
            <a:endParaRPr lang="en-GB" noProof="0"/>
          </a:p>
        </p:txBody>
      </p:sp>
      <p:sp>
        <p:nvSpPr>
          <p:cNvPr id="70" name="Table Placeholder 29"/>
          <p:cNvSpPr>
            <a:spLocks noGrp="1"/>
          </p:cNvSpPr>
          <p:nvPr>
            <p:ph type="tbl" sz="quarter" idx="36"/>
          </p:nvPr>
        </p:nvSpPr>
        <p:spPr>
          <a:xfrm>
            <a:off x="987429" y="3330659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1" name="Text Placeholder 2"/>
          <p:cNvSpPr>
            <a:spLocks noGrp="1"/>
          </p:cNvSpPr>
          <p:nvPr>
            <p:ph type="body" sz="quarter" idx="37"/>
          </p:nvPr>
        </p:nvSpPr>
        <p:spPr>
          <a:xfrm>
            <a:off x="1046699" y="3442222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72" name="Text Placeholder 49"/>
          <p:cNvSpPr>
            <a:spLocks noGrp="1"/>
          </p:cNvSpPr>
          <p:nvPr>
            <p:ph type="body" sz="quarter" idx="38" hasCustomPrompt="1"/>
          </p:nvPr>
        </p:nvSpPr>
        <p:spPr>
          <a:xfrm>
            <a:off x="330200" y="3331009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5</a:t>
            </a:r>
            <a:endParaRPr lang="en-GB" noProof="0"/>
          </a:p>
        </p:txBody>
      </p:sp>
      <p:sp>
        <p:nvSpPr>
          <p:cNvPr id="74" name="Table Placeholder 29"/>
          <p:cNvSpPr>
            <a:spLocks noGrp="1"/>
          </p:cNvSpPr>
          <p:nvPr>
            <p:ph type="tbl" sz="quarter" idx="39"/>
          </p:nvPr>
        </p:nvSpPr>
        <p:spPr>
          <a:xfrm>
            <a:off x="987429" y="3846875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5" name="Text Placeholder 2"/>
          <p:cNvSpPr>
            <a:spLocks noGrp="1"/>
          </p:cNvSpPr>
          <p:nvPr>
            <p:ph type="body" sz="quarter" idx="40"/>
          </p:nvPr>
        </p:nvSpPr>
        <p:spPr>
          <a:xfrm>
            <a:off x="1046699" y="3958439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76" name="Text Placeholder 49"/>
          <p:cNvSpPr>
            <a:spLocks noGrp="1"/>
          </p:cNvSpPr>
          <p:nvPr>
            <p:ph type="body" sz="quarter" idx="41" hasCustomPrompt="1"/>
          </p:nvPr>
        </p:nvSpPr>
        <p:spPr>
          <a:xfrm>
            <a:off x="330200" y="3847226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6</a:t>
            </a:r>
            <a:endParaRPr lang="en-GB" noProof="0" dirty="0"/>
          </a:p>
        </p:txBody>
      </p:sp>
      <p:sp>
        <p:nvSpPr>
          <p:cNvPr id="27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navigation 3 title</a:t>
            </a:r>
            <a:endParaRPr lang="en-GB" noProof="0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3632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 Conten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able Placeholder 29"/>
          <p:cNvSpPr>
            <a:spLocks noGrp="1"/>
          </p:cNvSpPr>
          <p:nvPr>
            <p:ph type="tbl" sz="quarter" idx="15"/>
          </p:nvPr>
        </p:nvSpPr>
        <p:spPr>
          <a:xfrm>
            <a:off x="987429" y="1298350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46699" y="1409914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50" name="Text Placeholder 49"/>
          <p:cNvSpPr>
            <a:spLocks noGrp="1"/>
          </p:cNvSpPr>
          <p:nvPr>
            <p:ph type="body" sz="quarter" idx="26" hasCustomPrompt="1"/>
          </p:nvPr>
        </p:nvSpPr>
        <p:spPr>
          <a:xfrm>
            <a:off x="330200" y="1298700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1</a:t>
            </a:r>
            <a:endParaRPr lang="en-GB" noProof="0"/>
          </a:p>
        </p:txBody>
      </p:sp>
      <p:sp>
        <p:nvSpPr>
          <p:cNvPr id="58" name="Table Placeholder 29"/>
          <p:cNvSpPr>
            <a:spLocks noGrp="1"/>
          </p:cNvSpPr>
          <p:nvPr>
            <p:ph type="tbl" sz="quarter" idx="27"/>
          </p:nvPr>
        </p:nvSpPr>
        <p:spPr>
          <a:xfrm>
            <a:off x="987429" y="1802617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59" name="Text Placeholder 2"/>
          <p:cNvSpPr>
            <a:spLocks noGrp="1"/>
          </p:cNvSpPr>
          <p:nvPr>
            <p:ph type="body" sz="quarter" idx="28"/>
          </p:nvPr>
        </p:nvSpPr>
        <p:spPr>
          <a:xfrm>
            <a:off x="1046699" y="1914181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 baseline="0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0" name="Text Placeholder 49"/>
          <p:cNvSpPr>
            <a:spLocks noGrp="1"/>
          </p:cNvSpPr>
          <p:nvPr>
            <p:ph type="body" sz="quarter" idx="29" hasCustomPrompt="1"/>
          </p:nvPr>
        </p:nvSpPr>
        <p:spPr>
          <a:xfrm>
            <a:off x="330200" y="1802967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2</a:t>
            </a:r>
            <a:endParaRPr lang="en-GB" noProof="0"/>
          </a:p>
        </p:txBody>
      </p:sp>
      <p:sp>
        <p:nvSpPr>
          <p:cNvPr id="62" name="Table Placeholder 29"/>
          <p:cNvSpPr>
            <a:spLocks noGrp="1"/>
          </p:cNvSpPr>
          <p:nvPr>
            <p:ph type="tbl" sz="quarter" idx="30"/>
          </p:nvPr>
        </p:nvSpPr>
        <p:spPr>
          <a:xfrm>
            <a:off x="987429" y="2311673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3" name="Text Placeholder 2"/>
          <p:cNvSpPr>
            <a:spLocks noGrp="1"/>
          </p:cNvSpPr>
          <p:nvPr>
            <p:ph type="body" sz="quarter" idx="31"/>
          </p:nvPr>
        </p:nvSpPr>
        <p:spPr>
          <a:xfrm>
            <a:off x="1046699" y="2423237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4" name="Text Placeholder 49"/>
          <p:cNvSpPr>
            <a:spLocks noGrp="1"/>
          </p:cNvSpPr>
          <p:nvPr>
            <p:ph type="body" sz="quarter" idx="32" hasCustomPrompt="1"/>
          </p:nvPr>
        </p:nvSpPr>
        <p:spPr>
          <a:xfrm>
            <a:off x="330200" y="2312024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3</a:t>
            </a:r>
            <a:endParaRPr lang="en-GB" noProof="0"/>
          </a:p>
        </p:txBody>
      </p:sp>
      <p:sp>
        <p:nvSpPr>
          <p:cNvPr id="66" name="Table Placeholder 29"/>
          <p:cNvSpPr>
            <a:spLocks noGrp="1"/>
          </p:cNvSpPr>
          <p:nvPr>
            <p:ph type="tbl" sz="quarter" idx="33"/>
          </p:nvPr>
        </p:nvSpPr>
        <p:spPr>
          <a:xfrm>
            <a:off x="987429" y="2822381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7" name="Text Placeholder 2"/>
          <p:cNvSpPr>
            <a:spLocks noGrp="1"/>
          </p:cNvSpPr>
          <p:nvPr>
            <p:ph type="body" sz="quarter" idx="34"/>
          </p:nvPr>
        </p:nvSpPr>
        <p:spPr>
          <a:xfrm>
            <a:off x="1046699" y="2933945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8" name="Text Placeholder 49"/>
          <p:cNvSpPr>
            <a:spLocks noGrp="1"/>
          </p:cNvSpPr>
          <p:nvPr>
            <p:ph type="body" sz="quarter" idx="35" hasCustomPrompt="1"/>
          </p:nvPr>
        </p:nvSpPr>
        <p:spPr>
          <a:xfrm>
            <a:off x="330200" y="2822732"/>
            <a:ext cx="540000" cy="405000"/>
          </a:xfrm>
          <a:prstGeom prst="rect">
            <a:avLst/>
          </a:prstGeom>
          <a:solidFill>
            <a:srgbClr val="D8DCDE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4</a:t>
            </a:r>
            <a:endParaRPr lang="en-GB" noProof="0"/>
          </a:p>
        </p:txBody>
      </p:sp>
      <p:sp>
        <p:nvSpPr>
          <p:cNvPr id="70" name="Table Placeholder 29"/>
          <p:cNvSpPr>
            <a:spLocks noGrp="1"/>
          </p:cNvSpPr>
          <p:nvPr>
            <p:ph type="tbl" sz="quarter" idx="36"/>
          </p:nvPr>
        </p:nvSpPr>
        <p:spPr>
          <a:xfrm>
            <a:off x="987429" y="3330659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1" name="Text Placeholder 2"/>
          <p:cNvSpPr>
            <a:spLocks noGrp="1"/>
          </p:cNvSpPr>
          <p:nvPr>
            <p:ph type="body" sz="quarter" idx="37"/>
          </p:nvPr>
        </p:nvSpPr>
        <p:spPr>
          <a:xfrm>
            <a:off x="1046699" y="3442222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72" name="Text Placeholder 49"/>
          <p:cNvSpPr>
            <a:spLocks noGrp="1"/>
          </p:cNvSpPr>
          <p:nvPr>
            <p:ph type="body" sz="quarter" idx="38" hasCustomPrompt="1"/>
          </p:nvPr>
        </p:nvSpPr>
        <p:spPr>
          <a:xfrm>
            <a:off x="330200" y="3331009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5</a:t>
            </a:r>
            <a:endParaRPr lang="en-GB" noProof="0"/>
          </a:p>
        </p:txBody>
      </p:sp>
      <p:sp>
        <p:nvSpPr>
          <p:cNvPr id="74" name="Table Placeholder 29"/>
          <p:cNvSpPr>
            <a:spLocks noGrp="1"/>
          </p:cNvSpPr>
          <p:nvPr>
            <p:ph type="tbl" sz="quarter" idx="39"/>
          </p:nvPr>
        </p:nvSpPr>
        <p:spPr>
          <a:xfrm>
            <a:off x="987429" y="3846875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5" name="Text Placeholder 2"/>
          <p:cNvSpPr>
            <a:spLocks noGrp="1"/>
          </p:cNvSpPr>
          <p:nvPr>
            <p:ph type="body" sz="quarter" idx="40"/>
          </p:nvPr>
        </p:nvSpPr>
        <p:spPr>
          <a:xfrm>
            <a:off x="1046699" y="3958439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smtClean="0"/>
          </a:p>
        </p:txBody>
      </p:sp>
      <p:sp>
        <p:nvSpPr>
          <p:cNvPr id="76" name="Text Placeholder 49"/>
          <p:cNvSpPr>
            <a:spLocks noGrp="1"/>
          </p:cNvSpPr>
          <p:nvPr>
            <p:ph type="body" sz="quarter" idx="41" hasCustomPrompt="1"/>
          </p:nvPr>
        </p:nvSpPr>
        <p:spPr>
          <a:xfrm>
            <a:off x="330200" y="3847226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6</a:t>
            </a:r>
            <a:endParaRPr lang="en-GB" noProof="0"/>
          </a:p>
        </p:txBody>
      </p:sp>
      <p:sp>
        <p:nvSpPr>
          <p:cNvPr id="27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navigation 4 title</a:t>
            </a:r>
            <a:endParaRPr lang="en-GB" noProof="0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4156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 Conten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able Placeholder 29"/>
          <p:cNvSpPr>
            <a:spLocks noGrp="1"/>
          </p:cNvSpPr>
          <p:nvPr>
            <p:ph type="tbl" sz="quarter" idx="15"/>
          </p:nvPr>
        </p:nvSpPr>
        <p:spPr>
          <a:xfrm>
            <a:off x="987429" y="1298350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46699" y="1409914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50" name="Text Placeholder 49"/>
          <p:cNvSpPr>
            <a:spLocks noGrp="1"/>
          </p:cNvSpPr>
          <p:nvPr>
            <p:ph type="body" sz="quarter" idx="26" hasCustomPrompt="1"/>
          </p:nvPr>
        </p:nvSpPr>
        <p:spPr>
          <a:xfrm>
            <a:off x="330200" y="1298700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1</a:t>
            </a:r>
            <a:endParaRPr lang="en-GB" noProof="0"/>
          </a:p>
        </p:txBody>
      </p:sp>
      <p:sp>
        <p:nvSpPr>
          <p:cNvPr id="58" name="Table Placeholder 29"/>
          <p:cNvSpPr>
            <a:spLocks noGrp="1"/>
          </p:cNvSpPr>
          <p:nvPr>
            <p:ph type="tbl" sz="quarter" idx="27"/>
          </p:nvPr>
        </p:nvSpPr>
        <p:spPr>
          <a:xfrm>
            <a:off x="987429" y="1802617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59" name="Text Placeholder 2"/>
          <p:cNvSpPr>
            <a:spLocks noGrp="1"/>
          </p:cNvSpPr>
          <p:nvPr>
            <p:ph type="body" sz="quarter" idx="28"/>
          </p:nvPr>
        </p:nvSpPr>
        <p:spPr>
          <a:xfrm>
            <a:off x="1046699" y="1914181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 baseline="0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0" name="Text Placeholder 49"/>
          <p:cNvSpPr>
            <a:spLocks noGrp="1"/>
          </p:cNvSpPr>
          <p:nvPr>
            <p:ph type="body" sz="quarter" idx="29" hasCustomPrompt="1"/>
          </p:nvPr>
        </p:nvSpPr>
        <p:spPr>
          <a:xfrm>
            <a:off x="330200" y="1802967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2</a:t>
            </a:r>
            <a:endParaRPr lang="en-GB" noProof="0"/>
          </a:p>
        </p:txBody>
      </p:sp>
      <p:sp>
        <p:nvSpPr>
          <p:cNvPr id="62" name="Table Placeholder 29"/>
          <p:cNvSpPr>
            <a:spLocks noGrp="1"/>
          </p:cNvSpPr>
          <p:nvPr>
            <p:ph type="tbl" sz="quarter" idx="30"/>
          </p:nvPr>
        </p:nvSpPr>
        <p:spPr>
          <a:xfrm>
            <a:off x="987429" y="2311673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3" name="Text Placeholder 2"/>
          <p:cNvSpPr>
            <a:spLocks noGrp="1"/>
          </p:cNvSpPr>
          <p:nvPr>
            <p:ph type="body" sz="quarter" idx="31"/>
          </p:nvPr>
        </p:nvSpPr>
        <p:spPr>
          <a:xfrm>
            <a:off x="1046699" y="2423237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smtClean="0"/>
          </a:p>
        </p:txBody>
      </p:sp>
      <p:sp>
        <p:nvSpPr>
          <p:cNvPr id="64" name="Text Placeholder 49"/>
          <p:cNvSpPr>
            <a:spLocks noGrp="1"/>
          </p:cNvSpPr>
          <p:nvPr>
            <p:ph type="body" sz="quarter" idx="32" hasCustomPrompt="1"/>
          </p:nvPr>
        </p:nvSpPr>
        <p:spPr>
          <a:xfrm>
            <a:off x="330200" y="2312024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3</a:t>
            </a:r>
            <a:endParaRPr lang="en-GB" noProof="0"/>
          </a:p>
        </p:txBody>
      </p:sp>
      <p:sp>
        <p:nvSpPr>
          <p:cNvPr id="66" name="Table Placeholder 29"/>
          <p:cNvSpPr>
            <a:spLocks noGrp="1"/>
          </p:cNvSpPr>
          <p:nvPr>
            <p:ph type="tbl" sz="quarter" idx="33"/>
          </p:nvPr>
        </p:nvSpPr>
        <p:spPr>
          <a:xfrm>
            <a:off x="987429" y="2822381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7" name="Text Placeholder 2"/>
          <p:cNvSpPr>
            <a:spLocks noGrp="1"/>
          </p:cNvSpPr>
          <p:nvPr>
            <p:ph type="body" sz="quarter" idx="34"/>
          </p:nvPr>
        </p:nvSpPr>
        <p:spPr>
          <a:xfrm>
            <a:off x="1046699" y="2933945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8" name="Text Placeholder 49"/>
          <p:cNvSpPr>
            <a:spLocks noGrp="1"/>
          </p:cNvSpPr>
          <p:nvPr>
            <p:ph type="body" sz="quarter" idx="35" hasCustomPrompt="1"/>
          </p:nvPr>
        </p:nvSpPr>
        <p:spPr>
          <a:xfrm>
            <a:off x="330200" y="2822732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4</a:t>
            </a:r>
            <a:endParaRPr lang="en-GB" noProof="0"/>
          </a:p>
        </p:txBody>
      </p:sp>
      <p:sp>
        <p:nvSpPr>
          <p:cNvPr id="70" name="Table Placeholder 29"/>
          <p:cNvSpPr>
            <a:spLocks noGrp="1"/>
          </p:cNvSpPr>
          <p:nvPr>
            <p:ph type="tbl" sz="quarter" idx="36"/>
          </p:nvPr>
        </p:nvSpPr>
        <p:spPr>
          <a:xfrm>
            <a:off x="987429" y="3330659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1" name="Text Placeholder 2"/>
          <p:cNvSpPr>
            <a:spLocks noGrp="1"/>
          </p:cNvSpPr>
          <p:nvPr>
            <p:ph type="body" sz="quarter" idx="37"/>
          </p:nvPr>
        </p:nvSpPr>
        <p:spPr>
          <a:xfrm>
            <a:off x="1046699" y="3442222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72" name="Text Placeholder 49"/>
          <p:cNvSpPr>
            <a:spLocks noGrp="1"/>
          </p:cNvSpPr>
          <p:nvPr>
            <p:ph type="body" sz="quarter" idx="38" hasCustomPrompt="1"/>
          </p:nvPr>
        </p:nvSpPr>
        <p:spPr>
          <a:xfrm>
            <a:off x="330200" y="3331009"/>
            <a:ext cx="540000" cy="405000"/>
          </a:xfrm>
          <a:prstGeom prst="rect">
            <a:avLst/>
          </a:prstGeom>
          <a:solidFill>
            <a:srgbClr val="D8DCDE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5</a:t>
            </a:r>
            <a:endParaRPr lang="en-GB" noProof="0"/>
          </a:p>
        </p:txBody>
      </p:sp>
      <p:sp>
        <p:nvSpPr>
          <p:cNvPr id="74" name="Table Placeholder 29"/>
          <p:cNvSpPr>
            <a:spLocks noGrp="1"/>
          </p:cNvSpPr>
          <p:nvPr>
            <p:ph type="tbl" sz="quarter" idx="39"/>
          </p:nvPr>
        </p:nvSpPr>
        <p:spPr>
          <a:xfrm>
            <a:off x="987429" y="3846875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5" name="Text Placeholder 2"/>
          <p:cNvSpPr>
            <a:spLocks noGrp="1"/>
          </p:cNvSpPr>
          <p:nvPr>
            <p:ph type="body" sz="quarter" idx="40"/>
          </p:nvPr>
        </p:nvSpPr>
        <p:spPr>
          <a:xfrm>
            <a:off x="1046699" y="3958439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smtClean="0"/>
          </a:p>
        </p:txBody>
      </p:sp>
      <p:sp>
        <p:nvSpPr>
          <p:cNvPr id="76" name="Text Placeholder 49"/>
          <p:cNvSpPr>
            <a:spLocks noGrp="1"/>
          </p:cNvSpPr>
          <p:nvPr>
            <p:ph type="body" sz="quarter" idx="41" hasCustomPrompt="1"/>
          </p:nvPr>
        </p:nvSpPr>
        <p:spPr>
          <a:xfrm>
            <a:off x="330200" y="3847226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6</a:t>
            </a:r>
            <a:endParaRPr lang="en-GB" noProof="0"/>
          </a:p>
        </p:txBody>
      </p:sp>
      <p:sp>
        <p:nvSpPr>
          <p:cNvPr id="27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navigation 5 title</a:t>
            </a:r>
            <a:endParaRPr lang="en-GB" noProof="0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3205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 Content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able Placeholder 29"/>
          <p:cNvSpPr>
            <a:spLocks noGrp="1"/>
          </p:cNvSpPr>
          <p:nvPr>
            <p:ph type="tbl" sz="quarter" idx="15"/>
          </p:nvPr>
        </p:nvSpPr>
        <p:spPr>
          <a:xfrm>
            <a:off x="987429" y="1298350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046699" y="1409914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50" name="Text Placeholder 49"/>
          <p:cNvSpPr>
            <a:spLocks noGrp="1"/>
          </p:cNvSpPr>
          <p:nvPr>
            <p:ph type="body" sz="quarter" idx="26" hasCustomPrompt="1"/>
          </p:nvPr>
        </p:nvSpPr>
        <p:spPr>
          <a:xfrm>
            <a:off x="330200" y="1298700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1</a:t>
            </a:r>
            <a:endParaRPr lang="en-GB" noProof="0" dirty="0"/>
          </a:p>
        </p:txBody>
      </p:sp>
      <p:sp>
        <p:nvSpPr>
          <p:cNvPr id="58" name="Table Placeholder 29"/>
          <p:cNvSpPr>
            <a:spLocks noGrp="1"/>
          </p:cNvSpPr>
          <p:nvPr>
            <p:ph type="tbl" sz="quarter" idx="27"/>
          </p:nvPr>
        </p:nvSpPr>
        <p:spPr>
          <a:xfrm>
            <a:off x="987429" y="1802617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59" name="Text Placeholder 2"/>
          <p:cNvSpPr>
            <a:spLocks noGrp="1"/>
          </p:cNvSpPr>
          <p:nvPr>
            <p:ph type="body" sz="quarter" idx="28"/>
          </p:nvPr>
        </p:nvSpPr>
        <p:spPr>
          <a:xfrm>
            <a:off x="1046699" y="1914181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 baseline="0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0" name="Text Placeholder 49"/>
          <p:cNvSpPr>
            <a:spLocks noGrp="1"/>
          </p:cNvSpPr>
          <p:nvPr>
            <p:ph type="body" sz="quarter" idx="29" hasCustomPrompt="1"/>
          </p:nvPr>
        </p:nvSpPr>
        <p:spPr>
          <a:xfrm>
            <a:off x="330200" y="1802967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2</a:t>
            </a:r>
            <a:endParaRPr lang="en-GB" noProof="0" dirty="0"/>
          </a:p>
        </p:txBody>
      </p:sp>
      <p:sp>
        <p:nvSpPr>
          <p:cNvPr id="62" name="Table Placeholder 29"/>
          <p:cNvSpPr>
            <a:spLocks noGrp="1"/>
          </p:cNvSpPr>
          <p:nvPr>
            <p:ph type="tbl" sz="quarter" idx="30"/>
          </p:nvPr>
        </p:nvSpPr>
        <p:spPr>
          <a:xfrm>
            <a:off x="987429" y="2311673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3" name="Text Placeholder 2"/>
          <p:cNvSpPr>
            <a:spLocks noGrp="1"/>
          </p:cNvSpPr>
          <p:nvPr>
            <p:ph type="body" sz="quarter" idx="31"/>
          </p:nvPr>
        </p:nvSpPr>
        <p:spPr>
          <a:xfrm>
            <a:off x="1046699" y="2423237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4" name="Text Placeholder 49"/>
          <p:cNvSpPr>
            <a:spLocks noGrp="1"/>
          </p:cNvSpPr>
          <p:nvPr>
            <p:ph type="body" sz="quarter" idx="32" hasCustomPrompt="1"/>
          </p:nvPr>
        </p:nvSpPr>
        <p:spPr>
          <a:xfrm>
            <a:off x="330200" y="2312024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3</a:t>
            </a:r>
            <a:endParaRPr lang="en-GB" noProof="0"/>
          </a:p>
        </p:txBody>
      </p:sp>
      <p:sp>
        <p:nvSpPr>
          <p:cNvPr id="66" name="Table Placeholder 29"/>
          <p:cNvSpPr>
            <a:spLocks noGrp="1"/>
          </p:cNvSpPr>
          <p:nvPr>
            <p:ph type="tbl" sz="quarter" idx="33"/>
          </p:nvPr>
        </p:nvSpPr>
        <p:spPr>
          <a:xfrm>
            <a:off x="987429" y="2822381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67" name="Text Placeholder 2"/>
          <p:cNvSpPr>
            <a:spLocks noGrp="1"/>
          </p:cNvSpPr>
          <p:nvPr>
            <p:ph type="body" sz="quarter" idx="34"/>
          </p:nvPr>
        </p:nvSpPr>
        <p:spPr>
          <a:xfrm>
            <a:off x="1046699" y="2933945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68" name="Text Placeholder 49"/>
          <p:cNvSpPr>
            <a:spLocks noGrp="1"/>
          </p:cNvSpPr>
          <p:nvPr>
            <p:ph type="body" sz="quarter" idx="35" hasCustomPrompt="1"/>
          </p:nvPr>
        </p:nvSpPr>
        <p:spPr>
          <a:xfrm>
            <a:off x="330200" y="2822732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4</a:t>
            </a:r>
            <a:endParaRPr lang="en-GB" noProof="0"/>
          </a:p>
        </p:txBody>
      </p:sp>
      <p:sp>
        <p:nvSpPr>
          <p:cNvPr id="70" name="Table Placeholder 29"/>
          <p:cNvSpPr>
            <a:spLocks noGrp="1"/>
          </p:cNvSpPr>
          <p:nvPr>
            <p:ph type="tbl" sz="quarter" idx="36"/>
          </p:nvPr>
        </p:nvSpPr>
        <p:spPr>
          <a:xfrm>
            <a:off x="987429" y="3330659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1" name="Text Placeholder 2"/>
          <p:cNvSpPr>
            <a:spLocks noGrp="1"/>
          </p:cNvSpPr>
          <p:nvPr>
            <p:ph type="body" sz="quarter" idx="37"/>
          </p:nvPr>
        </p:nvSpPr>
        <p:spPr>
          <a:xfrm>
            <a:off x="1046699" y="3442222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rgbClr val="C4CACD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72" name="Text Placeholder 49"/>
          <p:cNvSpPr>
            <a:spLocks noGrp="1"/>
          </p:cNvSpPr>
          <p:nvPr>
            <p:ph type="body" sz="quarter" idx="38" hasCustomPrompt="1"/>
          </p:nvPr>
        </p:nvSpPr>
        <p:spPr>
          <a:xfrm>
            <a:off x="330200" y="3331009"/>
            <a:ext cx="540000" cy="405000"/>
          </a:xfrm>
          <a:prstGeom prst="rect">
            <a:avLst/>
          </a:prstGeom>
          <a:solidFill>
            <a:schemeClr val="tx2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rgbClr val="BFBFB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dirty="0" smtClean="0"/>
              <a:t>5</a:t>
            </a:r>
            <a:endParaRPr lang="en-GB" noProof="0" dirty="0"/>
          </a:p>
        </p:txBody>
      </p:sp>
      <p:sp>
        <p:nvSpPr>
          <p:cNvPr id="74" name="Table Placeholder 29"/>
          <p:cNvSpPr>
            <a:spLocks noGrp="1"/>
          </p:cNvSpPr>
          <p:nvPr>
            <p:ph type="tbl" sz="quarter" idx="39"/>
          </p:nvPr>
        </p:nvSpPr>
        <p:spPr>
          <a:xfrm>
            <a:off x="987429" y="3846875"/>
            <a:ext cx="5976000" cy="405000"/>
          </a:xfrm>
          <a:prstGeom prst="rect">
            <a:avLst/>
          </a:prstGeom>
          <a:solidFill>
            <a:srgbClr val="D8DCDE"/>
          </a:solidFill>
        </p:spPr>
        <p:txBody>
          <a:bodyPr vert="horz"/>
          <a:lstStyle>
            <a:lvl1pPr marL="0" indent="0">
              <a:buNone/>
              <a:defRPr sz="100">
                <a:latin typeface="Arial" pitchFamily="34" charset="0"/>
                <a:cs typeface="Arial" pitchFamily="34" charset="0"/>
              </a:defRPr>
            </a:lvl1pPr>
          </a:lstStyle>
          <a:p>
            <a:endParaRPr lang="en-GB" noProof="0" dirty="0"/>
          </a:p>
        </p:txBody>
      </p:sp>
      <p:sp>
        <p:nvSpPr>
          <p:cNvPr id="75" name="Text Placeholder 2"/>
          <p:cNvSpPr>
            <a:spLocks noGrp="1"/>
          </p:cNvSpPr>
          <p:nvPr>
            <p:ph type="body" sz="quarter" idx="40"/>
          </p:nvPr>
        </p:nvSpPr>
        <p:spPr>
          <a:xfrm>
            <a:off x="1046699" y="3958439"/>
            <a:ext cx="5718173" cy="295649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60000"/>
              </a:lnSpc>
              <a:buNone/>
              <a:defRPr sz="15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350" b="1"/>
            </a:lvl4pPr>
            <a:lvl5pPr marL="1371600" indent="0">
              <a:buNone/>
              <a:defRPr sz="1350" b="1"/>
            </a:lvl5pPr>
          </a:lstStyle>
          <a:p>
            <a:pPr lvl="0"/>
            <a:endParaRPr lang="en-GB" noProof="0" dirty="0" smtClean="0"/>
          </a:p>
        </p:txBody>
      </p:sp>
      <p:sp>
        <p:nvSpPr>
          <p:cNvPr id="76" name="Text Placeholder 49"/>
          <p:cNvSpPr>
            <a:spLocks noGrp="1"/>
          </p:cNvSpPr>
          <p:nvPr>
            <p:ph type="body" sz="quarter" idx="41" hasCustomPrompt="1"/>
          </p:nvPr>
        </p:nvSpPr>
        <p:spPr>
          <a:xfrm>
            <a:off x="330200" y="3847226"/>
            <a:ext cx="540000" cy="405000"/>
          </a:xfrm>
          <a:prstGeom prst="rect">
            <a:avLst/>
          </a:prstGeom>
          <a:solidFill>
            <a:srgbClr val="D8DCDE"/>
          </a:solidFill>
          <a:ln w="19050" cmpd="sng">
            <a:noFill/>
          </a:ln>
        </p:spPr>
        <p:txBody>
          <a:bodyPr vert="horz" anchor="ctr"/>
          <a:lstStyle>
            <a:lvl1pPr marL="0" indent="0" algn="ctr">
              <a:lnSpc>
                <a:spcPts val="21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6</a:t>
            </a:r>
            <a:endParaRPr lang="en-GB" noProof="0"/>
          </a:p>
        </p:txBody>
      </p:sp>
      <p:sp>
        <p:nvSpPr>
          <p:cNvPr id="27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navigation 6 title</a:t>
            </a:r>
            <a:endParaRPr lang="en-GB" noProof="0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156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 userDrawn="1"/>
        </p:nvSpPr>
        <p:spPr bwMode="auto">
          <a:xfrm>
            <a:off x="528758" y="3431381"/>
            <a:ext cx="268922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r>
              <a:rPr lang="en-GB" sz="1400" b="1" dirty="0">
                <a:solidFill>
                  <a:srgbClr val="000000"/>
                </a:solidFill>
                <a:cs typeface="Arial" pitchFamily="34" charset="0"/>
              </a:rPr>
              <a:t>Confidentiality Notice </a:t>
            </a:r>
            <a:endParaRPr lang="en-GB" sz="2400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 userDrawn="1"/>
        </p:nvSpPr>
        <p:spPr bwMode="auto">
          <a:xfrm>
            <a:off x="541457" y="3717131"/>
            <a:ext cx="7440493" cy="6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This file is</a:t>
            </a: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 private and may contain confidential and proprietary information. If you have received this </a:t>
            </a:r>
            <a:r>
              <a:rPr lang="en-US" sz="900" dirty="0" smtClean="0">
                <a:solidFill>
                  <a:srgbClr val="000000"/>
                </a:solidFill>
                <a:cs typeface="Arial" pitchFamily="34" charset="0"/>
              </a:rPr>
              <a:t>file </a:t>
            </a: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in error, please </a:t>
            </a:r>
            <a:r>
              <a:rPr lang="en-US" sz="900" dirty="0" smtClean="0">
                <a:solidFill>
                  <a:srgbClr val="000000"/>
                </a:solidFill>
                <a:cs typeface="Arial" pitchFamily="34" charset="0"/>
              </a:rPr>
              <a:t>notify </a:t>
            </a: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us and remove </a:t>
            </a:r>
            <a:endParaRPr lang="en-US" sz="900" dirty="0" smtClean="0">
              <a:solidFill>
                <a:srgbClr val="000000"/>
              </a:solidFill>
              <a:cs typeface="Arial" pitchFamily="34" charset="0"/>
            </a:endParaRPr>
          </a:p>
          <a:p>
            <a:r>
              <a:rPr lang="en-US" sz="900" dirty="0" smtClean="0">
                <a:solidFill>
                  <a:srgbClr val="000000"/>
                </a:solidFill>
                <a:cs typeface="Arial" pitchFamily="34" charset="0"/>
              </a:rPr>
              <a:t>it </a:t>
            </a: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from your system and note that you must not copy, distribute or take any action in reliance on it. Any unauthorized use or disclosure of the contents of this </a:t>
            </a:r>
            <a:r>
              <a:rPr lang="en-US" sz="900" dirty="0" smtClean="0">
                <a:solidFill>
                  <a:srgbClr val="000000"/>
                </a:solidFill>
                <a:cs typeface="Arial" pitchFamily="34" charset="0"/>
              </a:rPr>
              <a:t>file is </a:t>
            </a: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not permitted and may be unlawful</a:t>
            </a:r>
            <a:r>
              <a:rPr lang="en-US" sz="900" dirty="0" smtClean="0">
                <a:solidFill>
                  <a:srgbClr val="000000"/>
                </a:solidFill>
                <a:cs typeface="Arial" pitchFamily="34" charset="0"/>
              </a:rPr>
              <a:t>. AstraZeneca PLC, 2 Kingdom Street, London, W2 6BD, UK, T: +44(0)20 7604 </a:t>
            </a:r>
            <a:r>
              <a:rPr lang="en-GB" sz="900" dirty="0" smtClean="0">
                <a:solidFill>
                  <a:srgbClr val="000000"/>
                </a:solidFill>
                <a:cs typeface="Arial" pitchFamily="34" charset="0"/>
              </a:rPr>
              <a:t>8000</a:t>
            </a:r>
            <a:r>
              <a:rPr lang="en-US" sz="900" dirty="0" smtClean="0">
                <a:solidFill>
                  <a:srgbClr val="000000"/>
                </a:solidFill>
                <a:cs typeface="Arial" pitchFamily="34" charset="0"/>
              </a:rPr>
              <a:t>, </a:t>
            </a:r>
          </a:p>
          <a:p>
            <a:r>
              <a:rPr lang="en-US" sz="900" dirty="0" smtClean="0">
                <a:solidFill>
                  <a:srgbClr val="000000"/>
                </a:solidFill>
                <a:cs typeface="Arial" pitchFamily="34" charset="0"/>
              </a:rPr>
              <a:t>F: +44 (0)20 7604</a:t>
            </a:r>
            <a:r>
              <a:rPr lang="en-GB" sz="900" dirty="0" smtClean="0">
                <a:solidFill>
                  <a:srgbClr val="000000"/>
                </a:solidFill>
                <a:cs typeface="Arial" pitchFamily="34" charset="0"/>
              </a:rPr>
              <a:t> 8151</a:t>
            </a:r>
            <a:r>
              <a:rPr lang="en-US" sz="900" dirty="0" smtClean="0">
                <a:solidFill>
                  <a:srgbClr val="000000"/>
                </a:solidFill>
                <a:cs typeface="Arial" pitchFamily="34" charset="0"/>
              </a:rPr>
              <a:t>, www.astrazeneca.com</a:t>
            </a: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9863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37600" y="1234440"/>
            <a:ext cx="7056000" cy="1618488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509575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Content 1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0" hasCustomPrompt="1"/>
          </p:nvPr>
        </p:nvSpPr>
        <p:spPr>
          <a:xfrm>
            <a:off x="237061" y="526851"/>
            <a:ext cx="8765651" cy="324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25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dirty="0" smtClean="0"/>
              <a:t>Click to add subtitle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37600" y="1234440"/>
            <a:ext cx="7056000" cy="1618488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416753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>
              <a:lnSpc>
                <a:spcPts val="2250"/>
              </a:lnSpc>
              <a:defRPr sz="2400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37600" y="1237974"/>
            <a:ext cx="7056000" cy="1620000"/>
          </a:xfrm>
          <a:prstGeom prst="rect">
            <a:avLst/>
          </a:prstGeom>
        </p:spPr>
        <p:txBody>
          <a:bodyPr vert="horz"/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l">
              <a:buNone/>
              <a:defRPr sz="1050"/>
            </a:lvl2pPr>
            <a:lvl3pPr marL="685800" indent="0" algn="l">
              <a:buNone/>
              <a:defRPr sz="1050"/>
            </a:lvl3pPr>
            <a:lvl4pPr marL="1028700" indent="0" algn="l">
              <a:buNone/>
              <a:defRPr sz="1050"/>
            </a:lvl4pPr>
            <a:lvl5pPr marL="1371600" indent="0" algn="l">
              <a:buNone/>
              <a:defRPr sz="10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0897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6537" y="1240295"/>
            <a:ext cx="7056000" cy="1620000"/>
          </a:xfrm>
          <a:prstGeom prst="rect">
            <a:avLst/>
          </a:prstGeom>
        </p:spPr>
        <p:txBody>
          <a:bodyPr vert="horz"/>
          <a:lstStyle>
            <a:lvl1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198835" marR="0" indent="-197644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 sz="1350"/>
            </a:lvl2pPr>
            <a:lvl3pPr marL="466725" marR="0" indent="-135731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-"/>
              <a:tabLst/>
              <a:defRPr sz="1350"/>
            </a:lvl3pPr>
            <a:lvl4pPr marL="1243013" indent="-214313">
              <a:buFont typeface="Arial"/>
              <a:buChar char="•"/>
              <a:defRPr sz="1350"/>
            </a:lvl4pPr>
            <a:lvl5pPr marL="1585913" indent="-214313">
              <a:buFont typeface="Arial"/>
              <a:buChar char="•"/>
              <a:defRPr sz="13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>
              <a:lnSpc>
                <a:spcPts val="2250"/>
              </a:lnSpc>
              <a:defRPr sz="2400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5" hasCustomPrompt="1"/>
          </p:nvPr>
        </p:nvSpPr>
        <p:spPr>
          <a:xfrm>
            <a:off x="237600" y="2905963"/>
            <a:ext cx="7056000" cy="1444752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5329995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1 with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>
              <a:lnSpc>
                <a:spcPts val="2250"/>
              </a:lnSpc>
              <a:defRPr sz="2400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237600" y="1240294"/>
            <a:ext cx="7056000" cy="1620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830051"/>
              </a:buClr>
              <a:buFont typeface="Arial" pitchFamily="34" charset="0"/>
              <a:buNone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05000" indent="-135000">
              <a:lnSpc>
                <a:spcPct val="100000"/>
              </a:lnSpc>
              <a:spcBef>
                <a:spcPts val="0"/>
              </a:spcBef>
              <a:buNone/>
              <a:defRPr sz="13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50" baseline="0">
                <a:latin typeface="Arial" pitchFamily="34" charset="0"/>
                <a:cs typeface="Arial" pitchFamily="34" charset="0"/>
              </a:defRPr>
            </a:lvl3pPr>
            <a:lvl4pPr marL="467100" indent="-135000">
              <a:defRPr sz="1050">
                <a:latin typeface="Arial" pitchFamily="34" charset="0"/>
                <a:cs typeface="Arial" pitchFamily="34" charset="0"/>
              </a:defRPr>
            </a:lvl4pPr>
            <a:lvl5pPr marL="467100">
              <a:defRPr sz="105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237062" y="2905963"/>
            <a:ext cx="4086000" cy="1444752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7" hasCustomPrompt="1"/>
          </p:nvPr>
        </p:nvSpPr>
        <p:spPr>
          <a:xfrm>
            <a:off x="4680000" y="2905963"/>
            <a:ext cx="4086000" cy="1444752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194520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1 with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237600" y="1240295"/>
            <a:ext cx="7056000" cy="1620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rgbClr val="830051"/>
              </a:buClr>
              <a:buFont typeface="Arial" pitchFamily="34" charset="0"/>
              <a:buNone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05000" indent="-135000">
              <a:lnSpc>
                <a:spcPct val="100000"/>
              </a:lnSpc>
              <a:spcBef>
                <a:spcPts val="0"/>
              </a:spcBef>
              <a:buNone/>
              <a:defRPr sz="13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50" baseline="0">
                <a:latin typeface="Arial" pitchFamily="34" charset="0"/>
                <a:cs typeface="Arial" pitchFamily="34" charset="0"/>
              </a:defRPr>
            </a:lvl3pPr>
            <a:lvl4pPr marL="467100" indent="-135000">
              <a:defRPr sz="1050">
                <a:latin typeface="Arial" pitchFamily="34" charset="0"/>
                <a:cs typeface="Arial" pitchFamily="34" charset="0"/>
              </a:defRPr>
            </a:lvl4pPr>
            <a:lvl5pPr marL="467100">
              <a:defRPr sz="105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Click to edit Master text styles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idx="18" hasCustomPrompt="1"/>
          </p:nvPr>
        </p:nvSpPr>
        <p:spPr>
          <a:xfrm>
            <a:off x="237600" y="2903515"/>
            <a:ext cx="2664000" cy="1444752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4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6" hasCustomPrompt="1"/>
          </p:nvPr>
        </p:nvSpPr>
        <p:spPr>
          <a:xfrm>
            <a:off x="3250223" y="2908267"/>
            <a:ext cx="2664000" cy="1440000"/>
          </a:xfrm>
          <a:prstGeom prst="rect">
            <a:avLst/>
          </a:prstGeom>
        </p:spPr>
        <p:txBody>
          <a:bodyPr/>
          <a:lstStyle>
            <a:lvl1pPr marL="135000" indent="-135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05000" indent="-135000">
              <a:lnSpc>
                <a:spcPct val="100000"/>
              </a:lnSpc>
              <a:spcBef>
                <a:spcPts val="0"/>
              </a:spcBef>
              <a:defRPr sz="14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50" baseline="0">
                <a:latin typeface="Arial" pitchFamily="34" charset="0"/>
                <a:cs typeface="Arial" pitchFamily="34" charset="0"/>
              </a:defRPr>
            </a:lvl3pPr>
            <a:lvl4pPr marL="467100" indent="-135000">
              <a:defRPr sz="1050">
                <a:latin typeface="Arial" pitchFamily="34" charset="0"/>
                <a:cs typeface="Arial" pitchFamily="34" charset="0"/>
              </a:defRPr>
            </a:lvl4pPr>
            <a:lvl5pPr marL="467100">
              <a:defRPr sz="105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7" hasCustomPrompt="1"/>
          </p:nvPr>
        </p:nvSpPr>
        <p:spPr>
          <a:xfrm>
            <a:off x="6274223" y="2908267"/>
            <a:ext cx="2664000" cy="1440000"/>
          </a:xfrm>
          <a:prstGeom prst="rect">
            <a:avLst/>
          </a:prstGeom>
        </p:spPr>
        <p:txBody>
          <a:bodyPr/>
          <a:lstStyle>
            <a:lvl1pPr marL="135000" indent="-135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05000" indent="-135000">
              <a:lnSpc>
                <a:spcPct val="100000"/>
              </a:lnSpc>
              <a:spcBef>
                <a:spcPts val="0"/>
              </a:spcBef>
              <a:defRPr sz="14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50" baseline="0">
                <a:latin typeface="Arial" pitchFamily="34" charset="0"/>
                <a:cs typeface="Arial" pitchFamily="34" charset="0"/>
              </a:defRPr>
            </a:lvl3pPr>
            <a:lvl4pPr marL="467100" indent="-135000">
              <a:defRPr sz="1050">
                <a:latin typeface="Arial" pitchFamily="34" charset="0"/>
                <a:cs typeface="Arial" pitchFamily="34" charset="0"/>
              </a:defRPr>
            </a:lvl4pPr>
            <a:lvl5pPr marL="467100">
              <a:defRPr sz="105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352648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37600" y="1240295"/>
            <a:ext cx="4086000" cy="1620000"/>
          </a:xfrm>
          <a:prstGeom prst="rect">
            <a:avLst/>
          </a:prstGeom>
        </p:spPr>
        <p:txBody>
          <a:bodyPr vert="horz"/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l">
              <a:buNone/>
              <a:defRPr sz="1050"/>
            </a:lvl2pPr>
            <a:lvl3pPr marL="685800" indent="0" algn="l">
              <a:buNone/>
              <a:defRPr sz="1050"/>
            </a:lvl3pPr>
            <a:lvl4pPr marL="1028700" indent="0" algn="l">
              <a:buNone/>
              <a:defRPr sz="1050"/>
            </a:lvl4pPr>
            <a:lvl5pPr marL="1371600" indent="0" algn="l">
              <a:buNone/>
              <a:defRPr sz="10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680000" y="1240295"/>
            <a:ext cx="4086000" cy="1620000"/>
          </a:xfrm>
          <a:prstGeom prst="rect">
            <a:avLst/>
          </a:prstGeom>
        </p:spPr>
        <p:txBody>
          <a:bodyPr vert="horz"/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l">
              <a:buNone/>
              <a:defRPr sz="1050"/>
            </a:lvl2pPr>
            <a:lvl3pPr marL="685800" indent="0" algn="l">
              <a:buNone/>
              <a:defRPr sz="1050"/>
            </a:lvl3pPr>
            <a:lvl4pPr marL="1028700" indent="0" algn="l">
              <a:buNone/>
              <a:defRPr sz="1050"/>
            </a:lvl4pPr>
            <a:lvl5pPr marL="1371600" indent="0" algn="l">
              <a:buNone/>
              <a:defRPr sz="10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6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3898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and Content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37600" y="1234079"/>
            <a:ext cx="4086000" cy="1620000"/>
          </a:xfrm>
          <a:prstGeom prst="rect">
            <a:avLst/>
          </a:prstGeom>
        </p:spPr>
        <p:txBody>
          <a:bodyPr vert="horz"/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l">
              <a:buNone/>
              <a:defRPr sz="1050"/>
            </a:lvl2pPr>
            <a:lvl3pPr marL="685800" indent="0" algn="l">
              <a:buNone/>
              <a:defRPr sz="1050"/>
            </a:lvl3pPr>
            <a:lvl4pPr marL="1028700" indent="0" algn="l">
              <a:buNone/>
              <a:defRPr sz="1050"/>
            </a:lvl4pPr>
            <a:lvl5pPr marL="1371600" indent="0" algn="l">
              <a:buNone/>
              <a:defRPr sz="10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6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5" hasCustomPrompt="1"/>
          </p:nvPr>
        </p:nvSpPr>
        <p:spPr>
          <a:xfrm>
            <a:off x="4680000" y="1234440"/>
            <a:ext cx="4086000" cy="1618488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28171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and Content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37600" y="1240295"/>
            <a:ext cx="4086000" cy="1620000"/>
          </a:xfrm>
          <a:prstGeom prst="rect">
            <a:avLst/>
          </a:prstGeom>
        </p:spPr>
        <p:txBody>
          <a:bodyPr vert="horz"/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l">
              <a:buNone/>
              <a:defRPr sz="1050"/>
            </a:lvl2pPr>
            <a:lvl3pPr marL="685800" indent="0" algn="l">
              <a:buNone/>
              <a:defRPr sz="1050"/>
            </a:lvl3pPr>
            <a:lvl4pPr marL="1028700" indent="0" algn="l">
              <a:buNone/>
              <a:defRPr sz="1050"/>
            </a:lvl4pPr>
            <a:lvl5pPr marL="1371600" indent="0" algn="l">
              <a:buNone/>
              <a:defRPr sz="10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6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7" hasCustomPrompt="1"/>
          </p:nvPr>
        </p:nvSpPr>
        <p:spPr>
          <a:xfrm>
            <a:off x="4678499" y="2725591"/>
            <a:ext cx="4086000" cy="1618488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6" hasCustomPrompt="1"/>
          </p:nvPr>
        </p:nvSpPr>
        <p:spPr>
          <a:xfrm>
            <a:off x="4680000" y="1234440"/>
            <a:ext cx="4086000" cy="1371600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909214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6" hasCustomPrompt="1"/>
          </p:nvPr>
        </p:nvSpPr>
        <p:spPr>
          <a:xfrm>
            <a:off x="237061" y="1234440"/>
            <a:ext cx="4086000" cy="1618488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7" hasCustomPrompt="1"/>
          </p:nvPr>
        </p:nvSpPr>
        <p:spPr>
          <a:xfrm>
            <a:off x="4680000" y="1234440"/>
            <a:ext cx="4086000" cy="1618488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5247132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Headings with Trip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37600" y="1313891"/>
            <a:ext cx="2664000" cy="702000"/>
          </a:xfrm>
          <a:prstGeom prst="rect">
            <a:avLst/>
          </a:prstGeom>
        </p:spPr>
        <p:txBody>
          <a:bodyPr vert="horz"/>
          <a:lstStyle>
            <a:lvl1pPr marL="0" indent="0" algn="l">
              <a:spcBef>
                <a:spcPts val="0"/>
              </a:spcBef>
              <a:buNone/>
              <a:defRPr sz="1200" b="1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l">
              <a:buNone/>
              <a:defRPr sz="1050"/>
            </a:lvl2pPr>
            <a:lvl3pPr marL="685800" indent="0" algn="l">
              <a:buNone/>
              <a:defRPr sz="1050"/>
            </a:lvl3pPr>
            <a:lvl4pPr marL="1028700" indent="0" algn="l">
              <a:buNone/>
              <a:defRPr sz="1050"/>
            </a:lvl4pPr>
            <a:lvl5pPr marL="1371600" indent="0" algn="l">
              <a:buNone/>
              <a:defRPr sz="10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6264000" y="1313891"/>
            <a:ext cx="2664000" cy="702000"/>
          </a:xfrm>
          <a:prstGeom prst="rect">
            <a:avLst/>
          </a:prstGeom>
        </p:spPr>
        <p:txBody>
          <a:bodyPr vert="horz"/>
          <a:lstStyle>
            <a:lvl1pPr marL="0" indent="0" algn="l">
              <a:spcBef>
                <a:spcPts val="0"/>
              </a:spcBef>
              <a:buNone/>
              <a:defRPr sz="1200" b="1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l">
              <a:buNone/>
              <a:defRPr sz="1050"/>
            </a:lvl2pPr>
            <a:lvl3pPr marL="685800" indent="0" algn="l">
              <a:buNone/>
              <a:defRPr sz="1050"/>
            </a:lvl3pPr>
            <a:lvl4pPr marL="1028700" indent="0" algn="l">
              <a:buNone/>
              <a:defRPr sz="1050"/>
            </a:lvl4pPr>
            <a:lvl5pPr marL="1371600" indent="0" algn="l">
              <a:buNone/>
              <a:defRPr sz="10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240000" y="1313891"/>
            <a:ext cx="2664000" cy="702000"/>
          </a:xfrm>
          <a:prstGeom prst="rect">
            <a:avLst/>
          </a:prstGeom>
        </p:spPr>
        <p:txBody>
          <a:bodyPr vert="horz"/>
          <a:lstStyle>
            <a:lvl1pPr marL="0" indent="0" algn="l">
              <a:spcBef>
                <a:spcPts val="0"/>
              </a:spcBef>
              <a:buNone/>
              <a:defRPr sz="1200" b="1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l">
              <a:buNone/>
              <a:defRPr sz="1050"/>
            </a:lvl2pPr>
            <a:lvl3pPr marL="685800" indent="0" algn="l">
              <a:buNone/>
              <a:defRPr sz="1050"/>
            </a:lvl3pPr>
            <a:lvl4pPr marL="1028700" indent="0" algn="l">
              <a:buNone/>
              <a:defRPr sz="1050"/>
            </a:lvl4pPr>
            <a:lvl5pPr marL="1371600" indent="0" algn="l">
              <a:buNone/>
              <a:defRPr sz="10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7" hasCustomPrompt="1"/>
          </p:nvPr>
        </p:nvSpPr>
        <p:spPr>
          <a:xfrm>
            <a:off x="237600" y="2072820"/>
            <a:ext cx="2664000" cy="2015968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4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8" hasCustomPrompt="1"/>
          </p:nvPr>
        </p:nvSpPr>
        <p:spPr>
          <a:xfrm>
            <a:off x="3250223" y="2072820"/>
            <a:ext cx="2664000" cy="2015968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4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9" hasCustomPrompt="1"/>
          </p:nvPr>
        </p:nvSpPr>
        <p:spPr>
          <a:xfrm>
            <a:off x="6274223" y="2072820"/>
            <a:ext cx="2664000" cy="2015968"/>
          </a:xfrm>
          <a:prstGeom prst="rect">
            <a:avLst/>
          </a:prstGeom>
        </p:spPr>
        <p:txBody>
          <a:bodyPr/>
          <a:lstStyle>
            <a:lvl1pPr marL="180000" indent="-18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0000" indent="-180000">
              <a:lnSpc>
                <a:spcPct val="100000"/>
              </a:lnSpc>
              <a:spcBef>
                <a:spcPts val="0"/>
              </a:spcBef>
              <a:defRPr sz="14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400" baseline="0">
                <a:latin typeface="Arial" pitchFamily="34" charset="0"/>
                <a:cs typeface="Arial" pitchFamily="34" charset="0"/>
              </a:defRPr>
            </a:lvl3pPr>
            <a:lvl4pPr marL="622800" indent="-180000">
              <a:defRPr sz="1400">
                <a:latin typeface="Arial" pitchFamily="34" charset="0"/>
                <a:cs typeface="Arial" pitchFamily="34" charset="0"/>
              </a:defRPr>
            </a:lvl4pPr>
            <a:lvl5pPr marL="622800">
              <a:defRPr sz="140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102698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and Picture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37600" y="1238116"/>
            <a:ext cx="4086000" cy="702000"/>
          </a:xfrm>
          <a:prstGeom prst="rect">
            <a:avLst/>
          </a:prstGeom>
        </p:spPr>
        <p:txBody>
          <a:bodyPr vert="horz"/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l">
              <a:buNone/>
              <a:defRPr sz="1050"/>
            </a:lvl2pPr>
            <a:lvl3pPr marL="685800" indent="0" algn="l">
              <a:buNone/>
              <a:defRPr sz="1050"/>
            </a:lvl3pPr>
            <a:lvl4pPr marL="1028700" indent="0" algn="l">
              <a:buNone/>
              <a:defRPr sz="1050"/>
            </a:lvl4pPr>
            <a:lvl5pPr marL="1371600" indent="0" algn="l">
              <a:buNone/>
              <a:defRPr sz="10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19" name="Picture Placeholder 16"/>
          <p:cNvSpPr>
            <a:spLocks noGrp="1"/>
          </p:cNvSpPr>
          <p:nvPr>
            <p:ph type="pic" sz="quarter" idx="14"/>
          </p:nvPr>
        </p:nvSpPr>
        <p:spPr>
          <a:xfrm>
            <a:off x="4680000" y="1252800"/>
            <a:ext cx="4086000" cy="2835988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spcBef>
                <a:spcPts val="0"/>
              </a:spcBef>
              <a:buNone/>
              <a:defRPr sz="10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13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0198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and Picture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37600" y="1238116"/>
            <a:ext cx="4086000" cy="702000"/>
          </a:xfrm>
          <a:prstGeom prst="rect">
            <a:avLst/>
          </a:prstGeom>
        </p:spPr>
        <p:txBody>
          <a:bodyPr vert="horz"/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l">
              <a:buNone/>
              <a:defRPr sz="1050"/>
            </a:lvl2pPr>
            <a:lvl3pPr marL="685800" indent="0" algn="l">
              <a:buNone/>
              <a:defRPr sz="1050"/>
            </a:lvl3pPr>
            <a:lvl4pPr marL="1028700" indent="0" algn="l">
              <a:buNone/>
              <a:defRPr sz="1050"/>
            </a:lvl4pPr>
            <a:lvl5pPr marL="1371600" indent="0" algn="l">
              <a:buNone/>
              <a:defRPr sz="10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19" name="Picture Placeholder 16"/>
          <p:cNvSpPr>
            <a:spLocks noGrp="1"/>
          </p:cNvSpPr>
          <p:nvPr>
            <p:ph type="pic" sz="quarter" idx="14"/>
          </p:nvPr>
        </p:nvSpPr>
        <p:spPr>
          <a:xfrm>
            <a:off x="4680000" y="1252800"/>
            <a:ext cx="4086000" cy="1485000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spcBef>
                <a:spcPts val="0"/>
              </a:spcBef>
              <a:buNone/>
              <a:defRPr sz="10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20" name="Picture Placeholder 16"/>
          <p:cNvSpPr>
            <a:spLocks noGrp="1"/>
          </p:cNvSpPr>
          <p:nvPr>
            <p:ph type="pic" sz="quarter" idx="15"/>
          </p:nvPr>
        </p:nvSpPr>
        <p:spPr>
          <a:xfrm>
            <a:off x="4680000" y="2895786"/>
            <a:ext cx="4086000" cy="1485000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spcBef>
                <a:spcPts val="0"/>
              </a:spcBef>
              <a:buNone/>
              <a:defRPr sz="10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4777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and Picture Low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16"/>
          <p:cNvSpPr>
            <a:spLocks noGrp="1"/>
          </p:cNvSpPr>
          <p:nvPr>
            <p:ph type="pic" sz="quarter" idx="16"/>
          </p:nvPr>
        </p:nvSpPr>
        <p:spPr>
          <a:xfrm>
            <a:off x="327600" y="2761500"/>
            <a:ext cx="4140000" cy="1620000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6537" y="1234440"/>
            <a:ext cx="7056000" cy="1440000"/>
          </a:xfrm>
          <a:prstGeom prst="rect">
            <a:avLst/>
          </a:prstGeom>
        </p:spPr>
        <p:txBody>
          <a:bodyPr vert="horz"/>
          <a:lstStyle>
            <a:lvl1pPr marL="0" marR="0" indent="0" algn="l" defTabSz="6858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198835" marR="0" indent="-197644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 sz="1350"/>
            </a:lvl2pPr>
            <a:lvl3pPr marL="466725" marR="0" indent="-135731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-"/>
              <a:tabLst/>
              <a:defRPr sz="1350"/>
            </a:lvl3pPr>
            <a:lvl4pPr marL="1243013" indent="-214313">
              <a:buFont typeface="Arial"/>
              <a:buChar char="•"/>
              <a:defRPr sz="1350"/>
            </a:lvl4pPr>
            <a:lvl5pPr marL="1585913" indent="-214313">
              <a:buFont typeface="Arial"/>
              <a:buChar char="•"/>
              <a:defRPr sz="13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6133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and Picture Low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6"/>
          <p:cNvSpPr>
            <a:spLocks noGrp="1"/>
          </p:cNvSpPr>
          <p:nvPr>
            <p:ph type="pic" sz="quarter" idx="15"/>
          </p:nvPr>
        </p:nvSpPr>
        <p:spPr>
          <a:xfrm>
            <a:off x="4618800" y="2761500"/>
            <a:ext cx="4140000" cy="1620000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22" name="Picture Placeholder 16"/>
          <p:cNvSpPr>
            <a:spLocks noGrp="1"/>
          </p:cNvSpPr>
          <p:nvPr>
            <p:ph type="pic" sz="quarter" idx="16"/>
          </p:nvPr>
        </p:nvSpPr>
        <p:spPr>
          <a:xfrm>
            <a:off x="327600" y="2759794"/>
            <a:ext cx="4140000" cy="1620000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6537" y="1234440"/>
            <a:ext cx="7056000" cy="1440000"/>
          </a:xfrm>
          <a:prstGeom prst="rect">
            <a:avLst/>
          </a:prstGeom>
        </p:spPr>
        <p:txBody>
          <a:bodyPr vert="horz"/>
          <a:lstStyle>
            <a:lvl1pPr marL="0" marR="0" indent="0" algn="l" defTabSz="6858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198835" marR="0" indent="-197644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 sz="1350"/>
            </a:lvl2pPr>
            <a:lvl3pPr marL="466725" marR="0" indent="-135731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-"/>
              <a:tabLst/>
              <a:defRPr sz="1350"/>
            </a:lvl3pPr>
            <a:lvl4pPr marL="1243013" indent="-214313">
              <a:buFont typeface="Arial"/>
              <a:buChar char="•"/>
              <a:defRPr sz="1350"/>
            </a:lvl4pPr>
            <a:lvl5pPr marL="1585913" indent="-214313">
              <a:buFont typeface="Arial"/>
              <a:buChar char="•"/>
              <a:defRPr sz="13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5965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and Picture Low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>
          <a:xfrm>
            <a:off x="327600" y="2761500"/>
            <a:ext cx="2700000" cy="1620000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18" name="Picture Placeholder 16"/>
          <p:cNvSpPr>
            <a:spLocks noGrp="1"/>
          </p:cNvSpPr>
          <p:nvPr>
            <p:ph type="pic" sz="quarter" idx="15"/>
          </p:nvPr>
        </p:nvSpPr>
        <p:spPr>
          <a:xfrm>
            <a:off x="3201023" y="2761500"/>
            <a:ext cx="2700000" cy="1620000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19" name="Picture Placeholder 16"/>
          <p:cNvSpPr>
            <a:spLocks noGrp="1"/>
          </p:cNvSpPr>
          <p:nvPr>
            <p:ph type="pic" sz="quarter" idx="16"/>
          </p:nvPr>
        </p:nvSpPr>
        <p:spPr>
          <a:xfrm>
            <a:off x="6067748" y="2761500"/>
            <a:ext cx="2700000" cy="1620000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icon to add picture</a:t>
            </a:r>
            <a:endParaRPr lang="en-GB" noProof="0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6537" y="1234440"/>
            <a:ext cx="7056000" cy="1440000"/>
          </a:xfrm>
          <a:prstGeom prst="rect">
            <a:avLst/>
          </a:prstGeom>
        </p:spPr>
        <p:txBody>
          <a:bodyPr vert="horz"/>
          <a:lstStyle>
            <a:lvl1pPr marL="0" marR="0" indent="0" algn="l" defTabSz="6858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198835" marR="0" indent="-197644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 sz="1350"/>
            </a:lvl2pPr>
            <a:lvl3pPr marL="466725" marR="0" indent="-135731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-"/>
              <a:tabLst/>
              <a:defRPr sz="1350"/>
            </a:lvl3pPr>
            <a:lvl4pPr marL="1243013" indent="-214313">
              <a:buFont typeface="Arial"/>
              <a:buChar char="•"/>
              <a:defRPr sz="1350"/>
            </a:lvl4pPr>
            <a:lvl5pPr marL="1585913" indent="-214313">
              <a:buFont typeface="Arial"/>
              <a:buChar char="•"/>
              <a:defRPr sz="1350"/>
            </a:lvl5pPr>
          </a:lstStyle>
          <a:p>
            <a:pPr lvl="0"/>
            <a:r>
              <a:rPr lang="en-GB" noProof="0" dirty="0" smtClean="0"/>
              <a:t>Click to edit Master text styles</a:t>
            </a:r>
          </a:p>
        </p:txBody>
      </p:sp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9922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contents title</a:t>
            </a:r>
            <a:endParaRPr lang="en-GB" noProof="0" dirty="0"/>
          </a:p>
        </p:txBody>
      </p:sp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236537" y="1234440"/>
            <a:ext cx="8766174" cy="3172500"/>
          </a:xfrm>
          <a:prstGeom prst="rect">
            <a:avLst/>
          </a:prstGeom>
        </p:spPr>
        <p:txBody>
          <a:bodyPr/>
          <a:lstStyle>
            <a:lvl1pPr marL="269875" indent="-269875">
              <a:lnSpc>
                <a:spcPct val="100000"/>
              </a:lnSpc>
              <a:spcBef>
                <a:spcPts val="0"/>
              </a:spcBef>
              <a:buClrTx/>
              <a:buFont typeface="+mj-lt"/>
              <a:buAutoNum type="arabicPeriod"/>
              <a:defRPr sz="1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72500" indent="-135000">
              <a:lnSpc>
                <a:spcPct val="100000"/>
              </a:lnSpc>
              <a:spcBef>
                <a:spcPts val="0"/>
              </a:spcBef>
              <a:buClrTx/>
              <a:buFont typeface="Arial" pitchFamily="34" charset="0"/>
              <a:buChar char="•"/>
              <a:defRPr sz="16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50" baseline="0">
                <a:latin typeface="Arial" pitchFamily="34" charset="0"/>
                <a:cs typeface="Arial" pitchFamily="34" charset="0"/>
              </a:defRPr>
            </a:lvl3pPr>
            <a:lvl4pPr marL="467100" indent="-135000">
              <a:defRPr sz="1050">
                <a:latin typeface="Arial" pitchFamily="34" charset="0"/>
                <a:cs typeface="Arial" pitchFamily="34" charset="0"/>
              </a:defRPr>
            </a:lvl4pPr>
            <a:lvl5pPr marL="467100">
              <a:defRPr sz="1050">
                <a:latin typeface="Arial" pitchFamily="34" charset="0"/>
                <a:cs typeface="Arial" pitchFamily="34" charset="0"/>
              </a:defRPr>
            </a:lvl5pPr>
            <a:lvl6pPr>
              <a:defRPr>
                <a:latin typeface="Arial" pitchFamily="34" charset="0"/>
                <a:cs typeface="Arial" pitchFamily="34" charset="0"/>
              </a:defRPr>
            </a:lvl6pPr>
          </a:lstStyle>
          <a:p>
            <a:r>
              <a:rPr lang="en-GB" noProof="0" dirty="0" smtClean="0"/>
              <a:t>First level</a:t>
            </a:r>
          </a:p>
          <a:p>
            <a:pPr lvl="1"/>
            <a:r>
              <a:rPr lang="en-GB" noProof="0" dirty="0" smtClean="0"/>
              <a:t>Second level</a:t>
            </a:r>
          </a:p>
          <a:p>
            <a:pPr lvl="1"/>
            <a:r>
              <a:rPr lang="en-GB" noProof="0" dirty="0" smtClean="0"/>
              <a:t>Third level</a:t>
            </a:r>
          </a:p>
          <a:p>
            <a:pPr lvl="1"/>
            <a:r>
              <a:rPr lang="en-GB" noProof="0" dirty="0" smtClean="0"/>
              <a:t>Fourth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0390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8"/>
          <p:cNvSpPr>
            <a:spLocks noGrp="1"/>
          </p:cNvSpPr>
          <p:nvPr>
            <p:ph type="title" hasCustomPrompt="1"/>
          </p:nvPr>
        </p:nvSpPr>
        <p:spPr>
          <a:xfrm>
            <a:off x="237062" y="202235"/>
            <a:ext cx="8765651" cy="310500"/>
          </a:xfrm>
          <a:prstGeom prst="rect">
            <a:avLst/>
          </a:prstGeom>
        </p:spPr>
        <p:txBody>
          <a:bodyPr vert="horz"/>
          <a:lstStyle>
            <a:lvl1pPr algn="l" defTabSz="342900" rtl="0" eaLnBrk="1" latinLnBrk="0" hangingPunct="1">
              <a:lnSpc>
                <a:spcPts val="2250"/>
              </a:lnSpc>
              <a:spcBef>
                <a:spcPct val="0"/>
              </a:spcBef>
              <a:buNone/>
              <a:defRPr lang="en-GB" sz="2400" b="1" kern="1200" baseline="0" noProof="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title</a:t>
            </a:r>
            <a:endParaRPr lang="en-GB" noProof="0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117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3767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Slide - Heroic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44000" y="144000"/>
            <a:ext cx="8856000" cy="48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Title 8"/>
          <p:cNvSpPr>
            <a:spLocks noGrp="1"/>
          </p:cNvSpPr>
          <p:nvPr>
            <p:ph type="title" hasCustomPrompt="1"/>
          </p:nvPr>
        </p:nvSpPr>
        <p:spPr>
          <a:xfrm>
            <a:off x="3268800" y="144000"/>
            <a:ext cx="5627550" cy="504000"/>
          </a:xfrm>
          <a:prstGeom prst="rect">
            <a:avLst/>
          </a:prstGeom>
        </p:spPr>
        <p:txBody>
          <a:bodyPr vert="horz"/>
          <a:lstStyle>
            <a:lvl1pPr algn="l">
              <a:defRPr sz="24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noProof="0" dirty="0" smtClean="0"/>
              <a:t>Click to add divider title</a:t>
            </a:r>
            <a:endParaRPr lang="en-GB" noProof="0" dirty="0"/>
          </a:p>
        </p:txBody>
      </p:sp>
      <p:pic>
        <p:nvPicPr>
          <p:cNvPr id="4" name="Picture 3" descr="M SYMBOL LARGE_WHITE_H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124530" cy="51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64123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6425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6425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124200" y="4688681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3DCA793-B2F0-441B-9EA2-D147AB5383C4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83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35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29" Type="http://schemas.openxmlformats.org/officeDocument/2006/relationships/slideLayout" Target="../slideLayouts/slideLayout38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32.xml"/><Relationship Id="rId28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31" Type="http://schemas.openxmlformats.org/officeDocument/2006/relationships/image" Target="../media/image1.jpe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6.xml"/><Relationship Id="rId30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75.xml"/><Relationship Id="rId3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70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69.xml"/><Relationship Id="rId29" Type="http://schemas.openxmlformats.org/officeDocument/2006/relationships/slideLayout" Target="../slideLayouts/slideLayout78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31" Type="http://schemas.openxmlformats.org/officeDocument/2006/relationships/image" Target="../media/image1.jpeg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6.xml"/><Relationship Id="rId30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EDIMMUNE_RGB_H.jpg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36825" y="4658288"/>
            <a:ext cx="296025" cy="296862"/>
          </a:xfrm>
          <a:prstGeom prst="rect">
            <a:avLst/>
          </a:prstGeom>
        </p:spPr>
      </p:pic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281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818" r:id="rId2"/>
    <p:sldLayoutId id="2147483819" r:id="rId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EDIMMUNE_RGB_H.jpg"/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36825" y="4658288"/>
            <a:ext cx="296025" cy="296862"/>
          </a:xfrm>
          <a:prstGeom prst="rect">
            <a:avLst/>
          </a:prstGeom>
        </p:spPr>
      </p:pic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1207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5" r:id="rId2"/>
    <p:sldLayoutId id="2147483817" r:id="rId3"/>
    <p:sldLayoutId id="2147483812" r:id="rId4"/>
    <p:sldLayoutId id="2147483813" r:id="rId5"/>
    <p:sldLayoutId id="2147483815" r:id="rId6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EDIMMUNE_RGB_H.jpg"/>
          <p:cNvPicPr>
            <a:picLocks noChangeAspect="1"/>
          </p:cNvPicPr>
          <p:nvPr/>
        </p:nvPicPr>
        <p:blipFill rotWithShape="1">
          <a:blip r:embed="rId3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36825" y="4658288"/>
            <a:ext cx="296025" cy="296862"/>
          </a:xfrm>
          <a:prstGeom prst="rect">
            <a:avLst/>
          </a:prstGeom>
        </p:spPr>
      </p:pic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4449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  <p:sldLayoutId id="2147483801" r:id="rId17"/>
    <p:sldLayoutId id="2147483802" r:id="rId18"/>
    <p:sldLayoutId id="2147483803" r:id="rId19"/>
    <p:sldLayoutId id="2147483804" r:id="rId20"/>
    <p:sldLayoutId id="2147483805" r:id="rId21"/>
    <p:sldLayoutId id="2147483806" r:id="rId22"/>
    <p:sldLayoutId id="2147483807" r:id="rId23"/>
    <p:sldLayoutId id="2147483808" r:id="rId24"/>
    <p:sldLayoutId id="2147483809" r:id="rId25"/>
    <p:sldLayoutId id="2147483810" r:id="rId26"/>
    <p:sldLayoutId id="2147483811" r:id="rId27"/>
    <p:sldLayoutId id="2147483820" r:id="rId28"/>
    <p:sldLayoutId id="2147483821" r:id="rId29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8681"/>
            <a:ext cx="2895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00A1DE"/>
                </a:solidFill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altLang="en-US"/>
          </a:p>
        </p:txBody>
      </p:sp>
      <p:pic>
        <p:nvPicPr>
          <p:cNvPr id="1031" name="Picture 17" descr="med_hrzlogo_rgb_72.jpg"/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97" b="17764"/>
          <a:stretch>
            <a:fillRect/>
          </a:stretch>
        </p:blipFill>
        <p:spPr bwMode="auto">
          <a:xfrm>
            <a:off x="227014" y="4699398"/>
            <a:ext cx="1709737" cy="329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8"/>
            <a:ext cx="822642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6425" cy="3394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4688681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6D6E71"/>
                </a:solidFill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EAC99E66-CEE7-45D3-B2F8-F07B3D2584B7}" type="slidenum">
              <a:rPr lang="en-US" altLang="en-US"/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2939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800">
          <a:solidFill>
            <a:srgbClr val="00A1DE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>
          <a:solidFill>
            <a:srgbClr val="00A1DE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>
          <a:solidFill>
            <a:srgbClr val="00A1DE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>
          <a:solidFill>
            <a:srgbClr val="00A1DE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>
          <a:solidFill>
            <a:srgbClr val="00A1DE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rgbClr val="00A1DE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rgbClr val="00A1DE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rgbClr val="00A1DE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rgbClr val="00A1DE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25000"/>
        </a:spcAft>
        <a:buFont typeface="Wingdings" pitchFamily="2" charset="2"/>
        <a:buChar char="u"/>
        <a:defRPr sz="2000">
          <a:solidFill>
            <a:srgbClr val="002F5F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>
          <a:solidFill>
            <a:srgbClr val="6D6E7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1600">
          <a:solidFill>
            <a:srgbClr val="6D6E7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1400">
          <a:solidFill>
            <a:srgbClr val="6D6E7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rgbClr val="6D6E7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rgbClr val="6D6E7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rgbClr val="6D6E7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rgbClr val="6D6E7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rgbClr val="6D6E7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EDIMMUNE_RGB_H.jpg"/>
          <p:cNvPicPr>
            <a:picLocks noChangeAspect="1"/>
          </p:cNvPicPr>
          <p:nvPr/>
        </p:nvPicPr>
        <p:blipFill rotWithShape="1">
          <a:blip r:embed="rId3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36825" y="4658288"/>
            <a:ext cx="296025" cy="296862"/>
          </a:xfrm>
          <a:prstGeom prst="rect">
            <a:avLst/>
          </a:prstGeom>
        </p:spPr>
      </p:pic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800" y="4823650"/>
            <a:ext cx="3960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C4F54F3-C349-4609-AFEE-01462D5C794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225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  <p:sldLayoutId id="2147483852" r:id="rId18"/>
    <p:sldLayoutId id="2147483853" r:id="rId19"/>
    <p:sldLayoutId id="2147483854" r:id="rId20"/>
    <p:sldLayoutId id="2147483855" r:id="rId21"/>
    <p:sldLayoutId id="2147483856" r:id="rId22"/>
    <p:sldLayoutId id="2147483857" r:id="rId23"/>
    <p:sldLayoutId id="2147483858" r:id="rId24"/>
    <p:sldLayoutId id="2147483859" r:id="rId25"/>
    <p:sldLayoutId id="2147483860" r:id="rId26"/>
    <p:sldLayoutId id="2147483861" r:id="rId27"/>
    <p:sldLayoutId id="2147483862" r:id="rId28"/>
    <p:sldLayoutId id="2147483863" r:id="rId29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8.xml"/><Relationship Id="rId1" Type="http://schemas.openxmlformats.org/officeDocument/2006/relationships/tags" Target="../tags/tag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7.xml"/><Relationship Id="rId5" Type="http://schemas.microsoft.com/office/2007/relationships/hdphoto" Target="../media/hdphoto2.wdp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7" Type="http://schemas.openxmlformats.org/officeDocument/2006/relationships/image" Target="../media/image4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www.google.com/search?tbo=p&amp;tbm=bks&amp;q=bibliogroup:%22IHE+Dissertation%22&amp;source=gbs_metadata_r&amp;cad=8" TargetMode="Externa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0250" y="1081682"/>
            <a:ext cx="5684179" cy="504000"/>
          </a:xfrm>
        </p:spPr>
        <p:txBody>
          <a:bodyPr/>
          <a:lstStyle/>
          <a:p>
            <a:r>
              <a:rPr lang="en-US" dirty="0" smtClean="0"/>
              <a:t>Leveraging Scale-down Methods to Accelerate Harvest Characterization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A.A. Joseph, M. Mollet &amp; J. Bender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2016 Harvest Industry Summit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/>
              <a:t>Company Restricted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295429" y="4701635"/>
            <a:ext cx="2837742" cy="190800"/>
          </a:xfrm>
        </p:spPr>
        <p:txBody>
          <a:bodyPr/>
          <a:lstStyle/>
          <a:p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-5</a:t>
            </a:r>
            <a:r>
              <a:rPr lang="en-US" baseline="30000" dirty="0" smtClean="0"/>
              <a:t>th</a:t>
            </a:r>
            <a:r>
              <a:rPr lang="en-US" dirty="0" smtClean="0"/>
              <a:t> May 2016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350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37600" y="959198"/>
            <a:ext cx="6809971" cy="372431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smtClean="0"/>
              <a:t>Pilot-scale </a:t>
            </a:r>
            <a:r>
              <a:rPr lang="en-US" altLang="en-US" dirty="0"/>
              <a:t>centrifuge is typically utilized to model </a:t>
            </a:r>
            <a:r>
              <a:rPr lang="en-US" altLang="en-US" dirty="0" smtClean="0"/>
              <a:t>commercial-scale systems</a:t>
            </a:r>
            <a:endParaRPr lang="en-US" altLang="en-US" dirty="0"/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US" altLang="en-US" dirty="0" smtClean="0"/>
              <a:t>Large </a:t>
            </a:r>
            <a:r>
              <a:rPr lang="en-US" altLang="en-US" dirty="0"/>
              <a:t>material &amp; resource requirement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US" altLang="en-US" dirty="0"/>
              <a:t>Testable parameters limited </a:t>
            </a:r>
            <a:r>
              <a:rPr lang="en-US" altLang="en-US" dirty="0" smtClean="0"/>
              <a:t>&amp; narrow </a:t>
            </a:r>
            <a:r>
              <a:rPr lang="en-US" altLang="en-US" dirty="0"/>
              <a:t>data set obtained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Objective </a:t>
            </a:r>
            <a:r>
              <a:rPr lang="en-US" altLang="en-US" dirty="0" smtClean="0"/>
              <a:t>to </a:t>
            </a:r>
            <a:r>
              <a:rPr lang="en-US" altLang="en-US" dirty="0"/>
              <a:t>develop a scale-down model to improve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Scale-Down </a:t>
            </a:r>
            <a:r>
              <a:rPr lang="en-US" altLang="en-US" dirty="0" smtClean="0"/>
              <a:t>model </a:t>
            </a:r>
            <a:r>
              <a:rPr lang="en-US" altLang="en-US" dirty="0"/>
              <a:t>b</a:t>
            </a:r>
            <a:r>
              <a:rPr lang="en-US" altLang="en-US" dirty="0" smtClean="0"/>
              <a:t>enefits</a:t>
            </a:r>
            <a:r>
              <a:rPr lang="en-US" altLang="en-US" dirty="0"/>
              <a:t>: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US" altLang="en-US" dirty="0"/>
              <a:t>High throughput → can test more conditions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US" altLang="en-US" dirty="0"/>
              <a:t>Ability to use material from bench-scale bioreactors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US" altLang="en-US" dirty="0"/>
              <a:t>At least $13,000 cost savings in raw materials per study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Material </a:t>
            </a:r>
            <a:r>
              <a:rPr lang="en-US" altLang="en-US" dirty="0" smtClean="0"/>
              <a:t>evaluated </a:t>
            </a:r>
            <a:r>
              <a:rPr lang="en-US" altLang="en-US" dirty="0"/>
              <a:t>to confirm comparable shear and particle 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Established bench-scale conditions to model Alfa-Laval LAPX-404 </a:t>
            </a:r>
            <a:r>
              <a:rPr lang="en-US" altLang="en-US" dirty="0" smtClean="0"/>
              <a:t>&amp; BTPX-305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2</a:t>
            </a:fld>
            <a:endParaRPr lang="en-GB" dirty="0"/>
          </a:p>
        </p:txBody>
      </p:sp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873" y="1248755"/>
            <a:ext cx="1701006" cy="2684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332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Slide Number Placeholder 4"/>
          <p:cNvSpPr txBox="1">
            <a:spLocks noGrp="1"/>
          </p:cNvSpPr>
          <p:nvPr/>
        </p:nvSpPr>
        <p:spPr bwMode="auto">
          <a:xfrm>
            <a:off x="42068" y="4727363"/>
            <a:ext cx="213360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defPPr>
              <a:defRPr lang="en-US"/>
            </a:defPPr>
            <a:lvl1pPr algn="r" eaLnBrk="1" hangingPunct="1">
              <a:defRPr sz="2000">
                <a:solidFill>
                  <a:srgbClr val="6D6E71"/>
                </a:solidFill>
                <a:latin typeface="Arial(body)"/>
                <a:cs typeface="Arial" pitchFamily="34" charset="0"/>
              </a:defRPr>
            </a:lvl1pPr>
            <a:lvl2pPr marL="742950" indent="-285750" eaLnBrk="0" hangingPunct="0">
              <a:defRPr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itchFamily="34" charset="0"/>
                <a:cs typeface="Arial" pitchFamily="34" charset="0"/>
              </a:defRPr>
            </a:lvl9pPr>
          </a:lstStyle>
          <a:p>
            <a:pPr algn="l"/>
            <a:fld id="{48128492-D4A4-4EA0-82C4-2550589F6F18}" type="slidenum">
              <a:rPr lang="en-US" sz="800"/>
              <a:pPr algn="l"/>
              <a:t>3</a:t>
            </a:fld>
            <a:endParaRPr lang="en-US" sz="800" dirty="0"/>
          </a:p>
        </p:txBody>
      </p:sp>
      <p:grpSp>
        <p:nvGrpSpPr>
          <p:cNvPr id="8" name="Group 7"/>
          <p:cNvGrpSpPr/>
          <p:nvPr/>
        </p:nvGrpSpPr>
        <p:grpSpPr>
          <a:xfrm>
            <a:off x="1003612" y="1279602"/>
            <a:ext cx="1460430" cy="1001112"/>
            <a:chOff x="1003611" y="1257300"/>
            <a:chExt cx="1615253" cy="1001112"/>
          </a:xfrm>
        </p:grpSpPr>
        <p:sp>
          <p:nvSpPr>
            <p:cNvPr id="3" name="Trapezoid 2"/>
            <p:cNvSpPr/>
            <p:nvPr/>
          </p:nvSpPr>
          <p:spPr>
            <a:xfrm flipV="1">
              <a:off x="1716813" y="1839268"/>
              <a:ext cx="771463" cy="217881"/>
            </a:xfrm>
            <a:prstGeom prst="trapezoid">
              <a:avLst/>
            </a:prstGeom>
            <a:ln w="1905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dirty="0">
                <a:solidFill>
                  <a:srgbClr val="002F5F"/>
                </a:solidFill>
              </a:endParaRPr>
            </a:p>
          </p:txBody>
        </p:sp>
        <p:sp>
          <p:nvSpPr>
            <p:cNvPr id="220" name="Rectangle 75"/>
            <p:cNvSpPr>
              <a:spLocks noChangeArrowheads="1"/>
            </p:cNvSpPr>
            <p:nvPr/>
          </p:nvSpPr>
          <p:spPr bwMode="auto">
            <a:xfrm flipH="1">
              <a:off x="1208532" y="1617932"/>
              <a:ext cx="293316" cy="440371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 dirty="0">
                <a:solidFill>
                  <a:srgbClr val="002F5F"/>
                </a:solidFill>
              </a:endParaRPr>
            </a:p>
          </p:txBody>
        </p:sp>
        <p:sp>
          <p:nvSpPr>
            <p:cNvPr id="221" name="Rectangle 75"/>
            <p:cNvSpPr>
              <a:spLocks noChangeArrowheads="1"/>
            </p:cNvSpPr>
            <p:nvPr/>
          </p:nvSpPr>
          <p:spPr bwMode="auto">
            <a:xfrm flipH="1">
              <a:off x="1003611" y="2066677"/>
              <a:ext cx="1615253" cy="191735"/>
            </a:xfrm>
            <a:prstGeom prst="rect">
              <a:avLst/>
            </a:prstGeom>
            <a:solidFill>
              <a:srgbClr val="00B0F0"/>
            </a:solidFill>
            <a:ln w="19050">
              <a:solidFill>
                <a:srgbClr val="002F5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altLang="en-US" dirty="0">
                <a:solidFill>
                  <a:srgbClr val="002F5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3" name="Rectangle 75"/>
            <p:cNvSpPr>
              <a:spLocks noChangeArrowheads="1"/>
            </p:cNvSpPr>
            <p:nvPr/>
          </p:nvSpPr>
          <p:spPr bwMode="auto">
            <a:xfrm flipH="1">
              <a:off x="1650515" y="1733846"/>
              <a:ext cx="904059" cy="104272"/>
            </a:xfrm>
            <a:prstGeom prst="rect">
              <a:avLst/>
            </a:prstGeom>
            <a:solidFill>
              <a:srgbClr val="00B0F0"/>
            </a:solidFill>
            <a:ln w="19050">
              <a:solidFill>
                <a:srgbClr val="002F5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altLang="en-US" dirty="0">
                <a:solidFill>
                  <a:srgbClr val="002F5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4" name="Trapezoid 223"/>
            <p:cNvSpPr/>
            <p:nvPr/>
          </p:nvSpPr>
          <p:spPr>
            <a:xfrm>
              <a:off x="1716812" y="1257300"/>
              <a:ext cx="771463" cy="476546"/>
            </a:xfrm>
            <a:prstGeom prst="trapezoid">
              <a:avLst>
                <a:gd name="adj" fmla="val 50550"/>
              </a:avLst>
            </a:prstGeom>
            <a:ln w="1905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dirty="0">
                <a:solidFill>
                  <a:srgbClr val="002F5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6" name="Rectangle 75"/>
            <p:cNvSpPr>
              <a:spLocks noChangeArrowheads="1"/>
            </p:cNvSpPr>
            <p:nvPr/>
          </p:nvSpPr>
          <p:spPr bwMode="auto">
            <a:xfrm flipH="1">
              <a:off x="1208532" y="1617932"/>
              <a:ext cx="60271" cy="440371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 dirty="0">
                <a:solidFill>
                  <a:srgbClr val="002F5F"/>
                </a:solidFill>
              </a:endParaRPr>
            </a:p>
          </p:txBody>
        </p:sp>
        <p:sp>
          <p:nvSpPr>
            <p:cNvPr id="228" name="Rectangle 75"/>
            <p:cNvSpPr>
              <a:spLocks noChangeArrowheads="1"/>
            </p:cNvSpPr>
            <p:nvPr/>
          </p:nvSpPr>
          <p:spPr bwMode="auto">
            <a:xfrm flipH="1">
              <a:off x="1337110" y="1617932"/>
              <a:ext cx="60271" cy="440371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 dirty="0">
                <a:solidFill>
                  <a:srgbClr val="002F5F"/>
                </a:solidFill>
              </a:endParaRPr>
            </a:p>
          </p:txBody>
        </p:sp>
        <p:sp>
          <p:nvSpPr>
            <p:cNvPr id="229" name="Rectangle 75"/>
            <p:cNvSpPr>
              <a:spLocks noChangeArrowheads="1"/>
            </p:cNvSpPr>
            <p:nvPr/>
          </p:nvSpPr>
          <p:spPr bwMode="auto">
            <a:xfrm flipH="1">
              <a:off x="1445595" y="1617932"/>
              <a:ext cx="60271" cy="440371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 dirty="0">
                <a:solidFill>
                  <a:srgbClr val="002F5F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3885501" y="849589"/>
            <a:ext cx="1011939" cy="1920317"/>
            <a:chOff x="152400" y="2574217"/>
            <a:chExt cx="1359789" cy="2560423"/>
          </a:xfrm>
        </p:grpSpPr>
        <p:grpSp>
          <p:nvGrpSpPr>
            <p:cNvPr id="66" name="Group 70"/>
            <p:cNvGrpSpPr>
              <a:grpSpLocks/>
            </p:cNvGrpSpPr>
            <p:nvPr/>
          </p:nvGrpSpPr>
          <p:grpSpPr bwMode="auto">
            <a:xfrm>
              <a:off x="239190" y="2768491"/>
              <a:ext cx="1150938" cy="1728788"/>
              <a:chOff x="612" y="1616"/>
              <a:chExt cx="726" cy="1224"/>
            </a:xfrm>
          </p:grpSpPr>
          <p:sp>
            <p:nvSpPr>
              <p:cNvPr id="67" name="AutoShape 71"/>
              <p:cNvSpPr>
                <a:spLocks noChangeArrowheads="1"/>
              </p:cNvSpPr>
              <p:nvPr/>
            </p:nvSpPr>
            <p:spPr bwMode="auto">
              <a:xfrm>
                <a:off x="612" y="2251"/>
                <a:ext cx="726" cy="589"/>
              </a:xfrm>
              <a:prstGeom prst="roundRect">
                <a:avLst>
                  <a:gd name="adj" fmla="val 25562"/>
                </a:avLst>
              </a:prstGeom>
              <a:solidFill>
                <a:srgbClr val="00A1DE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GB" altLang="en-US" dirty="0">
                  <a:solidFill>
                    <a:srgbClr val="002F5F"/>
                  </a:solidFill>
                </a:endParaRPr>
              </a:p>
            </p:txBody>
          </p:sp>
          <p:sp>
            <p:nvSpPr>
              <p:cNvPr id="68" name="AutoShape 72"/>
              <p:cNvSpPr>
                <a:spLocks noChangeArrowheads="1"/>
              </p:cNvSpPr>
              <p:nvPr/>
            </p:nvSpPr>
            <p:spPr bwMode="auto">
              <a:xfrm>
                <a:off x="612" y="1616"/>
                <a:ext cx="726" cy="1224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GB" altLang="en-US" dirty="0">
                  <a:solidFill>
                    <a:srgbClr val="002F5F"/>
                  </a:solidFill>
                </a:endParaRPr>
              </a:p>
            </p:txBody>
          </p:sp>
          <p:sp>
            <p:nvSpPr>
              <p:cNvPr id="71" name="Rectangle 75"/>
              <p:cNvSpPr>
                <a:spLocks noChangeArrowheads="1"/>
              </p:cNvSpPr>
              <p:nvPr/>
            </p:nvSpPr>
            <p:spPr bwMode="auto">
              <a:xfrm flipH="1">
                <a:off x="1035" y="2528"/>
                <a:ext cx="129" cy="131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GB" altLang="en-US" dirty="0">
                  <a:solidFill>
                    <a:srgbClr val="002F5F"/>
                  </a:solidFill>
                </a:endParaRPr>
              </a:p>
            </p:txBody>
          </p:sp>
          <p:sp>
            <p:nvSpPr>
              <p:cNvPr id="72" name="Line 76"/>
              <p:cNvSpPr>
                <a:spLocks noChangeShapeType="1"/>
              </p:cNvSpPr>
              <p:nvPr/>
            </p:nvSpPr>
            <p:spPr bwMode="auto">
              <a:xfrm>
                <a:off x="612" y="2251"/>
                <a:ext cx="72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dirty="0">
                  <a:solidFill>
                    <a:srgbClr val="002F5F"/>
                  </a:solidFill>
                </a:endParaRPr>
              </a:p>
            </p:txBody>
          </p:sp>
          <p:sp>
            <p:nvSpPr>
              <p:cNvPr id="73" name="Oval 77"/>
              <p:cNvSpPr>
                <a:spLocks noChangeArrowheads="1"/>
              </p:cNvSpPr>
              <p:nvPr/>
            </p:nvSpPr>
            <p:spPr bwMode="auto">
              <a:xfrm>
                <a:off x="1020" y="2750"/>
                <a:ext cx="45" cy="4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GB" altLang="en-US" dirty="0">
                  <a:solidFill>
                    <a:srgbClr val="002F5F"/>
                  </a:solidFill>
                </a:endParaRPr>
              </a:p>
            </p:txBody>
          </p:sp>
          <p:sp>
            <p:nvSpPr>
              <p:cNvPr id="74" name="Oval 78"/>
              <p:cNvSpPr>
                <a:spLocks noChangeArrowheads="1"/>
              </p:cNvSpPr>
              <p:nvPr/>
            </p:nvSpPr>
            <p:spPr bwMode="auto">
              <a:xfrm>
                <a:off x="793" y="2440"/>
                <a:ext cx="45" cy="4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GB" altLang="en-US" dirty="0">
                  <a:solidFill>
                    <a:srgbClr val="002F5F"/>
                  </a:solidFill>
                </a:endParaRPr>
              </a:p>
            </p:txBody>
          </p:sp>
          <p:sp>
            <p:nvSpPr>
              <p:cNvPr id="75" name="Oval 79"/>
              <p:cNvSpPr>
                <a:spLocks noChangeArrowheads="1"/>
              </p:cNvSpPr>
              <p:nvPr/>
            </p:nvSpPr>
            <p:spPr bwMode="auto">
              <a:xfrm>
                <a:off x="703" y="2568"/>
                <a:ext cx="45" cy="4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GB" altLang="en-US" dirty="0">
                  <a:solidFill>
                    <a:srgbClr val="002F5F"/>
                  </a:solidFill>
                </a:endParaRPr>
              </a:p>
            </p:txBody>
          </p:sp>
          <p:sp>
            <p:nvSpPr>
              <p:cNvPr id="76" name="Oval 80"/>
              <p:cNvSpPr>
                <a:spLocks noChangeArrowheads="1"/>
              </p:cNvSpPr>
              <p:nvPr/>
            </p:nvSpPr>
            <p:spPr bwMode="auto">
              <a:xfrm>
                <a:off x="703" y="2341"/>
                <a:ext cx="45" cy="4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GB" altLang="en-US" dirty="0">
                  <a:solidFill>
                    <a:srgbClr val="002F5F"/>
                  </a:solidFill>
                </a:endParaRPr>
              </a:p>
            </p:txBody>
          </p:sp>
          <p:sp>
            <p:nvSpPr>
              <p:cNvPr id="77" name="Oval 81"/>
              <p:cNvSpPr>
                <a:spLocks noChangeArrowheads="1"/>
              </p:cNvSpPr>
              <p:nvPr/>
            </p:nvSpPr>
            <p:spPr bwMode="auto">
              <a:xfrm>
                <a:off x="793" y="2704"/>
                <a:ext cx="45" cy="4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GB" altLang="en-US" dirty="0">
                  <a:solidFill>
                    <a:srgbClr val="002F5F"/>
                  </a:solidFill>
                </a:endParaRPr>
              </a:p>
            </p:txBody>
          </p:sp>
          <p:sp>
            <p:nvSpPr>
              <p:cNvPr id="78" name="Oval 82"/>
              <p:cNvSpPr>
                <a:spLocks noChangeArrowheads="1"/>
              </p:cNvSpPr>
              <p:nvPr/>
            </p:nvSpPr>
            <p:spPr bwMode="auto">
              <a:xfrm>
                <a:off x="1202" y="2704"/>
                <a:ext cx="45" cy="4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GB" altLang="en-US" dirty="0">
                  <a:solidFill>
                    <a:srgbClr val="002F5F"/>
                  </a:solidFill>
                </a:endParaRPr>
              </a:p>
            </p:txBody>
          </p:sp>
          <p:sp>
            <p:nvSpPr>
              <p:cNvPr id="79" name="Oval 83"/>
              <p:cNvSpPr>
                <a:spLocks noChangeArrowheads="1"/>
              </p:cNvSpPr>
              <p:nvPr/>
            </p:nvSpPr>
            <p:spPr bwMode="auto">
              <a:xfrm>
                <a:off x="1066" y="2432"/>
                <a:ext cx="45" cy="4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GB" altLang="en-US" dirty="0">
                  <a:solidFill>
                    <a:srgbClr val="002F5F"/>
                  </a:solidFill>
                </a:endParaRPr>
              </a:p>
            </p:txBody>
          </p:sp>
          <p:sp>
            <p:nvSpPr>
              <p:cNvPr id="80" name="Oval 84"/>
              <p:cNvSpPr>
                <a:spLocks noChangeArrowheads="1"/>
              </p:cNvSpPr>
              <p:nvPr/>
            </p:nvSpPr>
            <p:spPr bwMode="auto">
              <a:xfrm>
                <a:off x="1156" y="2478"/>
                <a:ext cx="45" cy="4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GB" altLang="en-US" dirty="0">
                  <a:solidFill>
                    <a:srgbClr val="002F5F"/>
                  </a:solidFill>
                </a:endParaRPr>
              </a:p>
            </p:txBody>
          </p:sp>
          <p:sp>
            <p:nvSpPr>
              <p:cNvPr id="81" name="Oval 85"/>
              <p:cNvSpPr>
                <a:spLocks noChangeArrowheads="1"/>
              </p:cNvSpPr>
              <p:nvPr/>
            </p:nvSpPr>
            <p:spPr bwMode="auto">
              <a:xfrm>
                <a:off x="1202" y="2341"/>
                <a:ext cx="45" cy="4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GB" altLang="en-US" dirty="0">
                  <a:solidFill>
                    <a:srgbClr val="002F5F"/>
                  </a:solidFill>
                </a:endParaRPr>
              </a:p>
            </p:txBody>
          </p:sp>
        </p:grpSp>
        <p:sp>
          <p:nvSpPr>
            <p:cNvPr id="217" name="Rectangle 75"/>
            <p:cNvSpPr>
              <a:spLocks noChangeArrowheads="1"/>
            </p:cNvSpPr>
            <p:nvPr/>
          </p:nvSpPr>
          <p:spPr bwMode="auto">
            <a:xfrm flipH="1">
              <a:off x="508133" y="4056608"/>
              <a:ext cx="204506" cy="185026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 dirty="0">
                <a:solidFill>
                  <a:srgbClr val="002F5F"/>
                </a:solidFill>
              </a:endParaRPr>
            </a:p>
          </p:txBody>
        </p:sp>
        <p:sp>
          <p:nvSpPr>
            <p:cNvPr id="218" name="Rectangle 73"/>
            <p:cNvSpPr>
              <a:spLocks noChangeArrowheads="1"/>
            </p:cNvSpPr>
            <p:nvPr/>
          </p:nvSpPr>
          <p:spPr bwMode="auto">
            <a:xfrm>
              <a:off x="161910" y="2920891"/>
              <a:ext cx="69754" cy="147314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 dirty="0">
                <a:solidFill>
                  <a:srgbClr val="002F5F"/>
                </a:solidFill>
              </a:endParaRPr>
            </a:p>
          </p:txBody>
        </p:sp>
        <p:sp>
          <p:nvSpPr>
            <p:cNvPr id="219" name="Rectangle 73"/>
            <p:cNvSpPr>
              <a:spLocks noChangeArrowheads="1"/>
            </p:cNvSpPr>
            <p:nvPr/>
          </p:nvSpPr>
          <p:spPr bwMode="auto">
            <a:xfrm>
              <a:off x="1388636" y="2920856"/>
              <a:ext cx="69754" cy="147314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 dirty="0">
                <a:solidFill>
                  <a:srgbClr val="002F5F"/>
                </a:solidFill>
              </a:endParaRP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814659" y="2625835"/>
              <a:ext cx="0" cy="1552240"/>
            </a:xfrm>
            <a:prstGeom prst="line">
              <a:avLst/>
            </a:prstGeom>
            <a:ln w="28575">
              <a:solidFill>
                <a:srgbClr val="002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>
              <a:off x="691726" y="4163620"/>
              <a:ext cx="245866" cy="0"/>
            </a:xfrm>
            <a:prstGeom prst="line">
              <a:avLst/>
            </a:prstGeom>
            <a:ln w="28575">
              <a:solidFill>
                <a:srgbClr val="002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Rectangle 75"/>
            <p:cNvSpPr>
              <a:spLocks noChangeArrowheads="1"/>
            </p:cNvSpPr>
            <p:nvPr/>
          </p:nvSpPr>
          <p:spPr bwMode="auto">
            <a:xfrm flipH="1">
              <a:off x="705272" y="2574217"/>
              <a:ext cx="204506" cy="92513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 dirty="0">
                <a:solidFill>
                  <a:srgbClr val="002F5F"/>
                </a:solidFill>
              </a:endParaRPr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152400" y="4683235"/>
              <a:ext cx="1359789" cy="4514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rgbClr val="002F5F"/>
                  </a:solidFill>
                </a:rPr>
                <a:t>Bioreactor</a:t>
              </a:r>
              <a:endParaRPr lang="en-US" sz="1600" dirty="0">
                <a:solidFill>
                  <a:srgbClr val="002F5F"/>
                </a:solidFill>
              </a:endParaRPr>
            </a:p>
          </p:txBody>
        </p:sp>
      </p:grpSp>
      <p:sp>
        <p:nvSpPr>
          <p:cNvPr id="244" name="TextBox 243"/>
          <p:cNvSpPr txBox="1"/>
          <p:nvPr/>
        </p:nvSpPr>
        <p:spPr>
          <a:xfrm>
            <a:off x="609600" y="2286000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2F5F"/>
                </a:solidFill>
              </a:rPr>
              <a:t>Disk-Stack Centrifuge</a:t>
            </a:r>
            <a:endParaRPr lang="en-US" sz="1600" dirty="0">
              <a:solidFill>
                <a:srgbClr val="002F5F"/>
              </a:solidFill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5579901" y="1451052"/>
            <a:ext cx="1243020" cy="4572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latin typeface="Arial"/>
                <a:cs typeface="Arial"/>
              </a:rPr>
              <a:t>EDR</a:t>
            </a:r>
            <a:endParaRPr 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5542384" y="1915552"/>
            <a:ext cx="14141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002F5F"/>
                </a:solidFill>
              </a:rPr>
              <a:t>Shear Device</a:t>
            </a:r>
            <a:endParaRPr lang="en-US" sz="1600" dirty="0">
              <a:solidFill>
                <a:srgbClr val="002F5F"/>
              </a:solidFill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7759104" y="2087002"/>
            <a:ext cx="11304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2F5F"/>
                </a:solidFill>
              </a:rPr>
              <a:t>Lab-Scale</a:t>
            </a:r>
          </a:p>
          <a:p>
            <a:pPr algn="ctr"/>
            <a:r>
              <a:rPr lang="en-US" sz="1600" dirty="0" smtClean="0">
                <a:solidFill>
                  <a:srgbClr val="002F5F"/>
                </a:solidFill>
              </a:rPr>
              <a:t>Centrifuge</a:t>
            </a:r>
            <a:endParaRPr lang="en-US" sz="1600" dirty="0">
              <a:solidFill>
                <a:srgbClr val="002F5F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 flipV="1">
            <a:off x="5274474" y="1049076"/>
            <a:ext cx="3488527" cy="34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Rectangle 96"/>
          <p:cNvSpPr/>
          <p:nvPr/>
        </p:nvSpPr>
        <p:spPr>
          <a:xfrm flipV="1">
            <a:off x="76200" y="1073305"/>
            <a:ext cx="3491630" cy="34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TextBox 97"/>
          <p:cNvSpPr txBox="1"/>
          <p:nvPr/>
        </p:nvSpPr>
        <p:spPr>
          <a:xfrm>
            <a:off x="5839565" y="742950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002F5F"/>
                </a:solidFill>
              </a:rPr>
              <a:t>Scale-Down Model</a:t>
            </a:r>
            <a:endParaRPr lang="en-US" i="1" dirty="0">
              <a:solidFill>
                <a:srgbClr val="002F5F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325452" y="742950"/>
            <a:ext cx="278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002F5F"/>
                </a:solidFill>
              </a:rPr>
              <a:t>Pilot-Scale Centrifugation</a:t>
            </a:r>
            <a:endParaRPr lang="en-US" i="1" dirty="0">
              <a:solidFill>
                <a:srgbClr val="002F5F"/>
              </a:solidFill>
            </a:endParaRPr>
          </a:p>
        </p:txBody>
      </p:sp>
      <p:pic>
        <p:nvPicPr>
          <p:cNvPr id="1026" name="Picture 2" descr="http://www.biotek.com.au/assets/Section15/_resampled/SetWidth800-Eppendorf-MiniSpin-533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8237" y="1132392"/>
            <a:ext cx="1064764" cy="99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7233114" y="1546816"/>
            <a:ext cx="234486" cy="164147"/>
            <a:chOff x="5361772" y="5091560"/>
            <a:chExt cx="234486" cy="218862"/>
          </a:xfrm>
        </p:grpSpPr>
        <p:sp>
          <p:nvSpPr>
            <p:cNvPr id="47" name="Rectangle 46"/>
            <p:cNvSpPr/>
            <p:nvPr/>
          </p:nvSpPr>
          <p:spPr>
            <a:xfrm flipV="1">
              <a:off x="5361772" y="5185386"/>
              <a:ext cx="234486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/>
            <p:cNvSpPr/>
            <p:nvPr/>
          </p:nvSpPr>
          <p:spPr>
            <a:xfrm rot="16200000" flipV="1">
              <a:off x="5369584" y="5178131"/>
              <a:ext cx="218862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928233"/>
              </p:ext>
            </p:extLst>
          </p:nvPr>
        </p:nvGraphicFramePr>
        <p:xfrm>
          <a:off x="325453" y="2857500"/>
          <a:ext cx="8437548" cy="2103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7403"/>
                <a:gridCol w="1240710"/>
                <a:gridCol w="1363989"/>
                <a:gridCol w="1160582"/>
                <a:gridCol w="1003609"/>
                <a:gridCol w="1481255"/>
              </a:tblGrid>
              <a:tr h="480060">
                <a:tc>
                  <a:txBody>
                    <a:bodyPr/>
                    <a:lstStyle/>
                    <a:p>
                      <a:pPr marL="0" indent="0" algn="ctr" defTabSz="342900" rtl="0" eaLnBrk="1" latinLnBrk="0" hangingPunct="1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800" i="1" kern="1200" baseline="0" dirty="0" smtClean="0"/>
                        <a:t>Attribute</a:t>
                      </a:r>
                      <a:endParaRPr lang="en-US" sz="1800" i="1" kern="1200" baseline="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T="34290" marB="3429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42900" rtl="0" eaLnBrk="1" latinLnBrk="0" hangingPunct="1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800" i="1" kern="1200" baseline="0" dirty="0" smtClean="0"/>
                        <a:t>LDH</a:t>
                      </a:r>
                      <a:endParaRPr lang="en-US" sz="1800" i="1" kern="1200" baseline="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T="34290" marB="3429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42900" rtl="0" eaLnBrk="1" latinLnBrk="0" hangingPunct="1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800" i="1" kern="1200" baseline="0" dirty="0" smtClean="0"/>
                        <a:t>Calculated EDR</a:t>
                      </a:r>
                      <a:endParaRPr lang="en-US" sz="1800" i="1" kern="1200" baseline="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T="34290" marB="3429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42900" rtl="0" eaLnBrk="1" latinLnBrk="0" hangingPunct="1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800" i="1" kern="1200" baseline="0" dirty="0" smtClean="0"/>
                        <a:t>Turbidity</a:t>
                      </a:r>
                      <a:endParaRPr lang="en-US" sz="1800" i="1" kern="1200" baseline="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T="34290" marB="3429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42900" rtl="0" eaLnBrk="1" latinLnBrk="0" hangingPunct="1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800" i="1" kern="1200" baseline="0" dirty="0" smtClean="0"/>
                        <a:t>PSD</a:t>
                      </a:r>
                      <a:endParaRPr lang="en-US" sz="1800" i="1" kern="1200" baseline="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T="34290" marB="3429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42900" rtl="0" eaLnBrk="1" latinLnBrk="0" hangingPunct="1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800" i="1" kern="1200" baseline="0" dirty="0" smtClean="0"/>
                        <a:t>Filterability </a:t>
                      </a:r>
                      <a:endParaRPr lang="en-US" sz="1800" i="1" kern="1200" baseline="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T="34290" marB="3429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Theoretical</a:t>
                      </a:r>
                      <a:r>
                        <a:rPr lang="en-US" sz="1600" baseline="0" dirty="0" smtClean="0"/>
                        <a:t> Shear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 (Body)"/>
                      </a:endParaRPr>
                    </a:p>
                  </a:txBody>
                  <a:tcPr marT="34290" marB="3429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sym typeface="Wingdings" pitchFamily="2" charset="2"/>
                        </a:rPr>
                        <a:t>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(Body)"/>
                        <a:cs typeface="+mn-cs"/>
                      </a:endParaRPr>
                    </a:p>
                  </a:txBody>
                  <a:tcPr marT="34290" marB="3429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Wingdings" pitchFamily="2" charset="2"/>
                        </a:rPr>
                        <a:t></a:t>
                      </a:r>
                      <a:endParaRPr lang="en-US" sz="2000" dirty="0">
                        <a:solidFill>
                          <a:srgbClr val="FF0000"/>
                        </a:solidFill>
                        <a:latin typeface="Arial (Body)"/>
                      </a:endParaRPr>
                    </a:p>
                  </a:txBody>
                  <a:tcPr marT="34290" marB="3429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Arial (Body)"/>
                      </a:endParaRPr>
                    </a:p>
                  </a:txBody>
                  <a:tcPr marT="34290" marB="3429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Arial (Body)"/>
                      </a:endParaRPr>
                    </a:p>
                  </a:txBody>
                  <a:tcPr marT="34290" marB="3429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Arial (Body)"/>
                      </a:endParaRPr>
                    </a:p>
                  </a:txBody>
                  <a:tcPr marT="34290" marB="3429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Degree of Cell Damage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 (Body)"/>
                      </a:endParaRPr>
                    </a:p>
                  </a:txBody>
                  <a:tcPr marT="34290" marB="34290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sym typeface="Wingdings" pitchFamily="2" charset="2"/>
                        </a:rPr>
                        <a:t>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(Body)"/>
                        <a:cs typeface="+mn-cs"/>
                      </a:endParaRPr>
                    </a:p>
                  </a:txBody>
                  <a:tcPr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Arial (Body)"/>
                      </a:endParaRPr>
                    </a:p>
                  </a:txBody>
                  <a:tcPr marT="34290" marB="34290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sym typeface="Wingdings" pitchFamily="2" charset="2"/>
                        </a:rPr>
                        <a:t>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(Body)"/>
                        <a:cs typeface="+mn-cs"/>
                      </a:endParaRPr>
                    </a:p>
                  </a:txBody>
                  <a:tcPr marT="34290" marB="34290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(Body)"/>
                        <a:cs typeface="+mn-cs"/>
                      </a:endParaRPr>
                    </a:p>
                  </a:txBody>
                  <a:tcPr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Arial (Body)"/>
                      </a:endParaRPr>
                    </a:p>
                  </a:txBody>
                  <a:tcPr marT="34290" marB="34290" anchor="ctr" anchorCtr="1"/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Particle</a:t>
                      </a:r>
                      <a:r>
                        <a:rPr lang="en-US" sz="1600" baseline="0" dirty="0" smtClean="0"/>
                        <a:t> Characteristics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 (Body)"/>
                      </a:endParaRPr>
                    </a:p>
                  </a:txBody>
                  <a:tcPr marT="34290" marB="34290"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Arial (Body)"/>
                      </a:endParaRPr>
                    </a:p>
                  </a:txBody>
                  <a:tcPr marT="34290" marB="34290"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FF0000"/>
                        </a:solidFill>
                        <a:latin typeface="Arial (Body)"/>
                      </a:endParaRPr>
                    </a:p>
                  </a:txBody>
                  <a:tcPr marT="34290" marB="34290"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en-US" sz="20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sym typeface="Wingdings" pitchFamily="2" charset="2"/>
                        </a:rPr>
                        <a:t></a:t>
                      </a:r>
                      <a:endParaRPr lang="en-US" sz="2000" dirty="0">
                        <a:solidFill>
                          <a:srgbClr val="FF0000"/>
                        </a:solidFill>
                        <a:latin typeface="Arial (Body)"/>
                      </a:endParaRPr>
                    </a:p>
                  </a:txBody>
                  <a:tcPr marT="34290" marB="34290"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sym typeface="Wingdings" pitchFamily="2" charset="2"/>
                        </a:rPr>
                        <a:t>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(Body)"/>
                        <a:cs typeface="+mn-cs"/>
                      </a:endParaRPr>
                    </a:p>
                  </a:txBody>
                  <a:tcPr marT="34290" marB="34290"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sym typeface="Wingdings" pitchFamily="2" charset="2"/>
                        </a:rPr>
                        <a:t></a:t>
                      </a:r>
                      <a:endParaRPr kumimoji="0" lang="en-US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(Body)"/>
                        <a:cs typeface="+mn-cs"/>
                      </a:endParaRPr>
                    </a:p>
                  </a:txBody>
                  <a:tcPr marT="34290" marB="34290"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9" name="Title 2"/>
          <p:cNvSpPr>
            <a:spLocks noGrp="1"/>
          </p:cNvSpPr>
          <p:nvPr>
            <p:ph type="title"/>
          </p:nvPr>
        </p:nvSpPr>
        <p:spPr>
          <a:xfrm>
            <a:off x="237062" y="202235"/>
            <a:ext cx="8765651" cy="310500"/>
          </a:xfrm>
        </p:spPr>
        <p:txBody>
          <a:bodyPr/>
          <a:lstStyle/>
          <a:p>
            <a:pPr algn="l">
              <a:lnSpc>
                <a:spcPts val="2250"/>
              </a:lnSpc>
            </a:pPr>
            <a:r>
              <a:rPr lang="en-US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USD Centrifugation: Approach</a:t>
            </a:r>
            <a:endParaRPr lang="en-US" sz="2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0195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778"/>
    </mc:Choice>
    <mc:Fallback xmlns="">
      <p:transition spd="slow" advTm="84778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/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642245" y="609622"/>
                <a:ext cx="4086000" cy="4214027"/>
              </a:xfrm>
            </p:spPr>
            <p:txBody>
              <a:bodyPr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500" dirty="0"/>
                  <a:t>Centrifugation performance </a:t>
                </a:r>
                <a:r>
                  <a:rPr lang="en-US" altLang="en-US" sz="1500" dirty="0" smtClean="0"/>
                  <a:t>typically described </a:t>
                </a:r>
                <a:r>
                  <a:rPr lang="en-US" altLang="en-US" sz="1500" dirty="0"/>
                  <a:t>using the Sigma concept of equivalent settling </a:t>
                </a:r>
                <a:r>
                  <a:rPr lang="en-US" altLang="en-US" sz="1500" dirty="0" smtClean="0"/>
                  <a:t>area</a:t>
                </a:r>
                <a:endParaRPr lang="en-US" altLang="en-US" sz="15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500" dirty="0" smtClean="0"/>
                  <a:t>Q/</a:t>
                </a:r>
                <a:r>
                  <a:rPr lang="el-GR" altLang="en-US" sz="1500" dirty="0"/>
                  <a:t>Σ</a:t>
                </a:r>
                <a:r>
                  <a:rPr lang="en-US" altLang="en-US" sz="1500" dirty="0"/>
                  <a:t> </a:t>
                </a:r>
                <a:r>
                  <a:rPr lang="en-US" altLang="en-US" sz="1500" dirty="0" smtClean="0"/>
                  <a:t>commonly </a:t>
                </a:r>
                <a:r>
                  <a:rPr lang="en-US" altLang="en-US" sz="1500" dirty="0"/>
                  <a:t>used </a:t>
                </a:r>
                <a:r>
                  <a:rPr lang="en-US" altLang="en-US" sz="1500" dirty="0" smtClean="0"/>
                  <a:t>as a basis for scale-up </a:t>
                </a:r>
                <a:r>
                  <a:rPr lang="en-US" altLang="en-US" sz="1500" dirty="0"/>
                  <a:t>of continuous </a:t>
                </a:r>
                <a:r>
                  <a:rPr lang="en-US" altLang="en-US" sz="1500" dirty="0" smtClean="0"/>
                  <a:t>centrifugation</a:t>
                </a:r>
                <a:endParaRPr lang="en-US" altLang="en-US" sz="15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500" dirty="0"/>
                  <a:t>Centrifuges of different sizes and designs can be compared using the equation below </a:t>
                </a:r>
              </a:p>
              <a:p>
                <a:pPr marL="514350" lvl="1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6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en-US" sz="1600">
                            <a:solidFill>
                              <a:srgbClr val="FF0000"/>
                            </a:solidFill>
                            <a:latin typeface="Cambria Math"/>
                          </a:rPr>
                          <m:t>Q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en-US" sz="1600">
                            <a:solidFill>
                              <a:srgbClr val="FF0000"/>
                            </a:solidFill>
                            <a:latin typeface="Cambria Math"/>
                          </a:rPr>
                          <m:t>c</m:t>
                        </m:r>
                        <m:r>
                          <a:rPr lang="en-US" altLang="en-US" sz="1600">
                            <a:solidFill>
                              <a:srgbClr val="FF0000"/>
                            </a:solidFill>
                            <a:latin typeface="Cambria Math"/>
                            <a:sym typeface="Symbol"/>
                          </a:rPr>
                          <m:t></m:t>
                        </m:r>
                      </m:den>
                    </m:f>
                    <m:r>
                      <a:rPr lang="en-US" altLang="en-US" sz="160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en-US" sz="16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sz="16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 sz="160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 sz="160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lab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en-US" sz="16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 sz="160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 sz="160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lab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16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US" sz="160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 sz="160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lab</m:t>
                            </m:r>
                          </m:sub>
                        </m:sSub>
                        <m:sSub>
                          <m:sSubPr>
                            <m:ctrlPr>
                              <a:rPr lang="en-US" altLang="en-US" sz="16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600">
                                <a:solidFill>
                                  <a:srgbClr val="FF0000"/>
                                </a:solidFill>
                                <a:latin typeface="Cambria Math"/>
                                <a:sym typeface="Symbol"/>
                              </a:rPr>
                              <m:t>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 sz="160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lab</m:t>
                            </m:r>
                          </m:sub>
                        </m:sSub>
                      </m:den>
                    </m:f>
                  </m:oMath>
                </a14:m>
                <a:endParaRPr lang="en-US" altLang="en-US" sz="1400" dirty="0" smtClean="0"/>
              </a:p>
              <a:p>
                <a:pPr marL="628650" lvl="1" indent="-285750">
                  <a:buFont typeface="Arial" panose="020B0604020202020204" pitchFamily="34" charset="0"/>
                  <a:buChar char="•"/>
                </a:pPr>
                <a:r>
                  <a:rPr lang="en-US" altLang="en-US" sz="1400" dirty="0"/>
                  <a:t>Correction factor “c” allows to describe deviations from the ideal </a:t>
                </a:r>
                <a:r>
                  <a:rPr lang="en-US" altLang="en-US" sz="1400" dirty="0" smtClean="0"/>
                  <a:t>flow</a:t>
                </a:r>
                <a:endParaRPr lang="en-US" altLang="en-US" sz="1400" dirty="0"/>
              </a:p>
            </p:txBody>
          </p:sp>
        </mc:Choice>
        <mc:Fallback xmlns="">
          <p:sp>
            <p:nvSpPr>
              <p:cNvPr id="2" name="Tex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642245" y="609622"/>
                <a:ext cx="4086000" cy="4214027"/>
              </a:xfrm>
              <a:blipFill rotWithShape="1">
                <a:blip r:embed="rId2"/>
                <a:stretch>
                  <a:fillRect l="-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USD Centrifugation: Separation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800" y="1001207"/>
            <a:ext cx="4059776" cy="350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14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237600" y="666191"/>
            <a:ext cx="2916675" cy="923330"/>
          </a:xfr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altLang="en-US" sz="1800" i="1" dirty="0">
                <a:solidFill>
                  <a:srgbClr val="002F5F"/>
                </a:solidFill>
                <a:latin typeface="+mn-lt"/>
                <a:cs typeface="+mn-cs"/>
              </a:rPr>
              <a:t>Pilot-Scale Disk-Stack Centrifuge</a:t>
            </a:r>
          </a:p>
          <a:p>
            <a:pPr algn="ctr" defTabSz="457200"/>
            <a:endParaRPr lang="en-US" sz="1800" i="1" dirty="0">
              <a:solidFill>
                <a:srgbClr val="002F5F"/>
              </a:solidFill>
              <a:latin typeface="+mn-lt"/>
              <a:cs typeface="+mn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264000" y="666191"/>
            <a:ext cx="2672526" cy="369332"/>
          </a:xfr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altLang="en-US" sz="1800" i="1" dirty="0">
                <a:solidFill>
                  <a:srgbClr val="002F5F"/>
                </a:solidFill>
                <a:latin typeface="+mn-lt"/>
                <a:cs typeface="+mn-cs"/>
              </a:rPr>
              <a:t>Capillary Shear Device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240000" y="666191"/>
            <a:ext cx="2634054" cy="646331"/>
          </a:xfr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altLang="en-US" sz="1800" i="1" dirty="0">
                <a:solidFill>
                  <a:srgbClr val="002F5F"/>
                </a:solidFill>
                <a:latin typeface="+mn-lt"/>
                <a:cs typeface="+mn-cs"/>
              </a:rPr>
              <a:t>Rotating Shear Device</a:t>
            </a:r>
          </a:p>
          <a:p>
            <a:pPr defTabSz="457200"/>
            <a:endParaRPr lang="en-US" sz="1800" i="1" dirty="0">
              <a:solidFill>
                <a:srgbClr val="002F5F"/>
              </a:solidFill>
              <a:latin typeface="+mn-lt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USD Centrifugation: </a:t>
            </a:r>
            <a:r>
              <a:rPr lang="en-US" dirty="0" smtClean="0"/>
              <a:t>Shear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5</a:t>
            </a:fld>
            <a:endParaRPr lang="en-GB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74" y="1262442"/>
            <a:ext cx="2663126" cy="3142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Grp="1" noChangeAspect="1" noChangeArrowheads="1"/>
          </p:cNvPicPr>
          <p:nvPr>
            <p:ph idx="18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052" y="1396216"/>
            <a:ext cx="2644948" cy="2874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Grp="1" noChangeAspect="1" noChangeArrowheads="1"/>
          </p:cNvPicPr>
          <p:nvPr>
            <p:ph idx="19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801" y="1239942"/>
            <a:ext cx="2299846" cy="3088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Rectangle 25"/>
          <p:cNvSpPr/>
          <p:nvPr/>
        </p:nvSpPr>
        <p:spPr>
          <a:xfrm>
            <a:off x="6642000" y="4204485"/>
            <a:ext cx="228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i="1" dirty="0"/>
              <a:t>Mollet et al., 2006</a:t>
            </a:r>
          </a:p>
          <a:p>
            <a:pPr algn="ctr"/>
            <a:r>
              <a:rPr lang="en-US" sz="1200" i="1" dirty="0" err="1"/>
              <a:t>Westoby</a:t>
            </a:r>
            <a:r>
              <a:rPr lang="en-US" sz="1200" i="1" dirty="0"/>
              <a:t> et al, 2011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275" y="4246986"/>
            <a:ext cx="32268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en-US" sz="1200" i="1" dirty="0"/>
              <a:t>Levy et al., </a:t>
            </a:r>
            <a:r>
              <a:rPr lang="en-GB" altLang="en-US" sz="1200" i="1" dirty="0" smtClean="0"/>
              <a:t>1999, </a:t>
            </a:r>
            <a:r>
              <a:rPr lang="en-GB" altLang="en-US" sz="1200" i="1" dirty="0" err="1" smtClean="0"/>
              <a:t>Boychyn</a:t>
            </a:r>
            <a:r>
              <a:rPr lang="en-GB" altLang="en-US" sz="1200" i="1" dirty="0" smtClean="0"/>
              <a:t> </a:t>
            </a:r>
            <a:r>
              <a:rPr lang="en-GB" altLang="en-US" sz="1200" i="1" dirty="0"/>
              <a:t>et al., 2000</a:t>
            </a:r>
          </a:p>
          <a:p>
            <a:pPr algn="ctr"/>
            <a:r>
              <a:rPr lang="en-GB" altLang="en-US" sz="1200" i="1" dirty="0"/>
              <a:t>Hutchinson et al., 2006</a:t>
            </a:r>
          </a:p>
          <a:p>
            <a:pPr algn="ctr"/>
            <a:r>
              <a:rPr lang="en-GB" altLang="en-US" sz="1200" i="1" dirty="0"/>
              <a:t>Tait et al., 2009</a:t>
            </a:r>
          </a:p>
        </p:txBody>
      </p:sp>
    </p:spTree>
    <p:extLst>
      <p:ext uri="{BB962C8B-B14F-4D97-AF65-F5344CB8AC3E}">
        <p14:creationId xmlns:p14="http://schemas.microsoft.com/office/powerpoint/2010/main" val="2432508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4642245" y="609622"/>
            <a:ext cx="4086000" cy="4214027"/>
          </a:xfrm>
        </p:spPr>
        <p:txBody>
          <a:bodyPr anchor="ctr"/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 smtClean="0"/>
              <a:t>Difficult </a:t>
            </a:r>
            <a:r>
              <a:rPr lang="en-US" altLang="en-US" dirty="0"/>
              <a:t>to directly quantify the shear rate within a centrifuge</a:t>
            </a:r>
          </a:p>
          <a:p>
            <a:pPr marL="514350" lvl="1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/>
              <a:t>Limited CFD work has been published for some centrifuge models</a:t>
            </a:r>
          </a:p>
          <a:p>
            <a:pPr marL="514350" lvl="1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/>
              <a:t>Easier to quantify the shear in a simplified system to estimate the energy dissipation rate indirectly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 smtClean="0"/>
              <a:t>UCL developed the RDS as </a:t>
            </a:r>
            <a:r>
              <a:rPr lang="en-US" altLang="en-US" dirty="0"/>
              <a:t>a way to mimic cell shear in a continuous centrifuge</a:t>
            </a:r>
            <a:endParaRPr lang="en-US" altLang="en-US" sz="1600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 smtClean="0"/>
              <a:t>Device </a:t>
            </a:r>
            <a:r>
              <a:rPr lang="en-US" altLang="en-US" dirty="0"/>
              <a:t>is capable of generating different shear environments by changing the </a:t>
            </a:r>
            <a:r>
              <a:rPr lang="en-US" altLang="en-US" dirty="0" smtClean="0"/>
              <a:t>RPM</a:t>
            </a:r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USD Centrifugation: </a:t>
            </a:r>
            <a:r>
              <a:rPr lang="en-US" dirty="0" smtClean="0"/>
              <a:t>RSD (Rotating Shear Device)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6" r="11806" b="20522"/>
          <a:stretch>
            <a:fillRect/>
          </a:stretch>
        </p:blipFill>
        <p:spPr bwMode="auto">
          <a:xfrm>
            <a:off x="828675" y="609622"/>
            <a:ext cx="2971800" cy="3965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9147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4642245" y="895349"/>
            <a:ext cx="4086000" cy="4040483"/>
          </a:xfrm>
        </p:spPr>
        <p:txBody>
          <a:bodyPr anchor="t"/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 smtClean="0"/>
              <a:t>CFD </a:t>
            </a:r>
            <a:r>
              <a:rPr lang="en-US" altLang="en-US" sz="1600" dirty="0"/>
              <a:t>model </a:t>
            </a:r>
            <a:r>
              <a:rPr lang="en-US" altLang="en-US" sz="1600" dirty="0" smtClean="0"/>
              <a:t>developed to calculate </a:t>
            </a:r>
            <a:r>
              <a:rPr lang="en-US" altLang="en-US" sz="1600" dirty="0"/>
              <a:t>the </a:t>
            </a:r>
            <a:r>
              <a:rPr lang="en-US" altLang="en-US" sz="1600" dirty="0" smtClean="0"/>
              <a:t>EDR </a:t>
            </a:r>
            <a:r>
              <a:rPr lang="en-US" altLang="en-US" sz="1600" dirty="0"/>
              <a:t>within the rotating shear device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/>
              <a:t>EDR values are within the range reported in literature for a pilot-scale centrifuge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USD Centrifugation: EDR (Energy Dissipation Rate)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7</a:t>
            </a:fld>
            <a:endParaRPr lang="en-GB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5386" y="2744953"/>
            <a:ext cx="2883600" cy="1638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476" y="967649"/>
            <a:ext cx="3230850" cy="3554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860100" y="4779759"/>
            <a:ext cx="4358886" cy="24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ct val="80000"/>
              </a:lnSpc>
              <a:spcBef>
                <a:spcPct val="20000"/>
              </a:spcBef>
              <a:spcAft>
                <a:spcPct val="25000"/>
              </a:spcAft>
              <a:buFont typeface="Wingdings" pitchFamily="2" charset="2"/>
              <a:buNone/>
            </a:pPr>
            <a:r>
              <a:rPr lang="en-GB" altLang="en-US" sz="1200" i="1" dirty="0">
                <a:solidFill>
                  <a:srgbClr val="000000"/>
                </a:solidFill>
                <a:cs typeface="Arial" pitchFamily="34" charset="0"/>
              </a:rPr>
              <a:t>Boychyn et al., (2004) Bioprocess Biosyst Eng.,  26: 385–391</a:t>
            </a:r>
          </a:p>
        </p:txBody>
      </p:sp>
    </p:spTree>
    <p:extLst>
      <p:ext uri="{BB962C8B-B14F-4D97-AF65-F5344CB8AC3E}">
        <p14:creationId xmlns:p14="http://schemas.microsoft.com/office/powerpoint/2010/main" val="3974105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4642245" y="609622"/>
            <a:ext cx="4086000" cy="4214027"/>
          </a:xfrm>
        </p:spPr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smtClean="0"/>
              <a:t>RSD is </a:t>
            </a:r>
            <a:r>
              <a:rPr lang="en-US" altLang="en-US" dirty="0"/>
              <a:t>limited to 20mL per </a:t>
            </a:r>
            <a:r>
              <a:rPr lang="en-US" altLang="en-US" dirty="0" smtClean="0"/>
              <a:t>batch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smtClean="0">
                <a:sym typeface="Symbol"/>
              </a:rPr>
              <a:t>&gt;1L </a:t>
            </a:r>
            <a:r>
              <a:rPr lang="en-US" altLang="en-US" dirty="0">
                <a:sym typeface="Symbol"/>
              </a:rPr>
              <a:t>is typically required to perform a filter sizing study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smtClean="0">
                <a:sym typeface="Symbol"/>
              </a:rPr>
              <a:t>CSD was </a:t>
            </a:r>
            <a:r>
              <a:rPr lang="en-US" altLang="en-US" dirty="0">
                <a:sym typeface="Symbol"/>
              </a:rPr>
              <a:t>explored to </a:t>
            </a:r>
            <a:r>
              <a:rPr lang="en-US" altLang="en-US" dirty="0" smtClean="0">
                <a:sym typeface="Symbol"/>
              </a:rPr>
              <a:t>generate </a:t>
            </a:r>
            <a:r>
              <a:rPr lang="en-US" altLang="en-US" dirty="0">
                <a:sym typeface="Symbol"/>
              </a:rPr>
              <a:t>enough material for filter sizing studies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smtClean="0">
                <a:sym typeface="Symbol"/>
              </a:rPr>
              <a:t>Syringe </a:t>
            </a:r>
            <a:r>
              <a:rPr lang="en-US" altLang="en-US" dirty="0">
                <a:sym typeface="Symbol"/>
              </a:rPr>
              <a:t>pump is used to control flow rate through the capillary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smtClean="0">
                <a:sym typeface="Symbol"/>
              </a:rPr>
              <a:t>Pump </a:t>
            </a:r>
            <a:r>
              <a:rPr lang="en-US" altLang="en-US" dirty="0">
                <a:sym typeface="Symbol"/>
              </a:rPr>
              <a:t>can be </a:t>
            </a:r>
            <a:r>
              <a:rPr lang="en-US" altLang="en-US" dirty="0" smtClean="0">
                <a:sym typeface="Symbol"/>
              </a:rPr>
              <a:t>programmed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Capillary Shear Device (CSD) Schematic Version-1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082" y="844790"/>
            <a:ext cx="3630011" cy="3894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4026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/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642245" y="788038"/>
                <a:ext cx="4086000" cy="3898261"/>
              </a:xfrm>
            </p:spPr>
            <p:txBody>
              <a:bodyPr anchor="ctr"/>
              <a:lstStyle/>
              <a:p>
                <a:pPr marL="285750" lvl="0" indent="-285750" defTabSz="9144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dirty="0" smtClean="0">
                    <a:solidFill>
                      <a:srgbClr val="000000"/>
                    </a:solidFill>
                    <a:latin typeface="Arial" charset="0"/>
                    <a:cs typeface="Arial" charset="0"/>
                    <a:sym typeface="Symbol"/>
                  </a:rPr>
                  <a:t>Version-2 utilizes an AKTA explorer piston pump and Super Loop combination as the delivery system</a:t>
                </a:r>
              </a:p>
              <a:p>
                <a:pPr marL="285750" lvl="0" indent="-285750" defTabSz="9144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Symbol"/>
                  </a:rPr>
                  <a:t>Able to generate high flow rates under high back pressures </a:t>
                </a:r>
              </a:p>
              <a:p>
                <a:pPr marL="628650" lvl="1" indent="-285750" fontAlgn="base"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1350" dirty="0">
                    <a:solidFill>
                      <a:srgbClr val="000000"/>
                    </a:solidFill>
                    <a:sym typeface="Symbol"/>
                  </a:rPr>
                  <a:t>(Max = 4Mpa)</a:t>
                </a:r>
              </a:p>
              <a:p>
                <a:pPr marL="285750" lvl="0" indent="-285750" defTabSz="9144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solidFill>
                      <a:srgbClr val="000000"/>
                    </a:solidFill>
                    <a:latin typeface="Arial" charset="0"/>
                    <a:cs typeface="Arial" charset="0"/>
                    <a:sym typeface="Symbol"/>
                  </a:rPr>
                  <a:t>AKTA Explorer records back pressure readings and hence can be used to calculate </a:t>
                </a:r>
                <a:r>
                  <a:rPr lang="en-US" altLang="en-US" dirty="0" smtClean="0">
                    <a:solidFill>
                      <a:srgbClr val="000000"/>
                    </a:solidFill>
                    <a:latin typeface="Arial" charset="0"/>
                    <a:cs typeface="Arial" charset="0"/>
                    <a:sym typeface="Symbol"/>
                  </a:rPr>
                  <a:t>Max EDRs</a:t>
                </a:r>
                <a:endParaRPr lang="en-US" altLang="en-US" dirty="0">
                  <a:solidFill>
                    <a:srgbClr val="000000"/>
                  </a:solidFill>
                  <a:latin typeface="Arial" charset="0"/>
                  <a:cs typeface="Arial" charset="0"/>
                  <a:sym typeface="Symbol"/>
                </a:endParaRPr>
              </a:p>
              <a:p>
                <a:pPr marL="742950" lvl="1" indent="-285750" defTabSz="9144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 smtClean="0">
                            <a:solidFill>
                              <a:srgbClr val="FF0000"/>
                            </a:solidFill>
                            <a:latin typeface="Cambria Math"/>
                            <a:sym typeface="Symbol"/>
                          </a:rPr>
                        </m:ctrlPr>
                      </m:sSubPr>
                      <m:e>
                        <m:r>
                          <a:rPr lang="en-US" altLang="en-US" sz="1800">
                            <a:solidFill>
                              <a:srgbClr val="FF0000"/>
                            </a:solidFill>
                            <a:latin typeface="Cambria Math"/>
                            <a:sym typeface="Symbol"/>
                          </a:rPr>
                          <m:t>∈</m:t>
                        </m:r>
                      </m:e>
                      <m:sub>
                        <m:r>
                          <a:rPr lang="en-GB" altLang="en-US" sz="1800">
                            <a:solidFill>
                              <a:srgbClr val="FF0000"/>
                            </a:solidFill>
                            <a:latin typeface="Cambria Math"/>
                            <a:sym typeface="Symbol"/>
                          </a:rPr>
                          <m:t>𝑚𝑎𝑥</m:t>
                        </m:r>
                      </m:sub>
                    </m:sSub>
                    <m:r>
                      <a:rPr lang="en-GB" altLang="en-US" sz="1800">
                        <a:solidFill>
                          <a:srgbClr val="FF0000"/>
                        </a:solidFill>
                        <a:latin typeface="Cambria Math"/>
                        <a:sym typeface="Symbol"/>
                      </a:rPr>
                      <m:t>=</m:t>
                    </m:r>
                    <m:f>
                      <m:fPr>
                        <m:ctrlPr>
                          <a:rPr lang="en-GB" altLang="en-US" sz="1800" i="1">
                            <a:solidFill>
                              <a:srgbClr val="FF0000"/>
                            </a:solidFill>
                            <a:latin typeface="Cambria Math"/>
                            <a:sym typeface="Symbo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altLang="en-US" sz="1800" i="1">
                                <a:solidFill>
                                  <a:srgbClr val="FF0000"/>
                                </a:solidFill>
                                <a:latin typeface="Cambria Math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GB" altLang="en-US" sz="1800">
                                <a:solidFill>
                                  <a:srgbClr val="FF0000"/>
                                </a:solidFill>
                                <a:latin typeface="Cambria Math"/>
                                <a:sym typeface="Symbol"/>
                              </a:rPr>
                              <m:t>𝐷</m:t>
                            </m:r>
                          </m:e>
                          <m:sup>
                            <m:r>
                              <a:rPr lang="en-GB" altLang="en-US" sz="1800">
                                <a:solidFill>
                                  <a:srgbClr val="FF0000"/>
                                </a:solidFill>
                                <a:latin typeface="Cambria Math"/>
                                <a:sym typeface="Symbol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GB" altLang="en-US" sz="1800" i="1">
                                <a:solidFill>
                                  <a:srgbClr val="FF0000"/>
                                </a:solidFill>
                                <a:latin typeface="Cambria Math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GB" altLang="en-US" sz="1800">
                                <a:solidFill>
                                  <a:srgbClr val="FF0000"/>
                                </a:solidFill>
                                <a:latin typeface="Cambria Math"/>
                                <a:sym typeface="Symbol"/>
                              </a:rPr>
                              <m:t>∆</m:t>
                            </m:r>
                            <m:r>
                              <a:rPr lang="en-GB" altLang="en-US" sz="1800">
                                <a:solidFill>
                                  <a:srgbClr val="FF0000"/>
                                </a:solidFill>
                                <a:latin typeface="Cambria Math"/>
                                <a:sym typeface="Symbol"/>
                              </a:rPr>
                              <m:t>𝑃</m:t>
                            </m:r>
                          </m:e>
                          <m:sup>
                            <m:r>
                              <a:rPr lang="en-GB" altLang="en-US" sz="1800">
                                <a:solidFill>
                                  <a:srgbClr val="FF0000"/>
                                </a:solidFill>
                                <a:latin typeface="Cambria Math"/>
                                <a:sym typeface="Symbol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GB" altLang="en-US" sz="1800">
                            <a:solidFill>
                              <a:srgbClr val="FF0000"/>
                            </a:solidFill>
                            <a:latin typeface="Cambria Math"/>
                            <a:sym typeface="Symbol"/>
                          </a:rPr>
                          <m:t>16</m:t>
                        </m:r>
                        <m:sSup>
                          <m:sSupPr>
                            <m:ctrlPr>
                              <a:rPr lang="en-GB" altLang="en-US" sz="1800" i="1">
                                <a:solidFill>
                                  <a:srgbClr val="FF0000"/>
                                </a:solidFill>
                                <a:latin typeface="Cambria Math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GB" altLang="en-US" sz="1800">
                                <a:solidFill>
                                  <a:srgbClr val="FF0000"/>
                                </a:solidFill>
                                <a:latin typeface="Cambria Math"/>
                                <a:sym typeface="Symbol"/>
                              </a:rPr>
                              <m:t>𝑙</m:t>
                            </m:r>
                          </m:e>
                          <m:sup>
                            <m:r>
                              <a:rPr lang="en-GB" altLang="en-US" sz="1800">
                                <a:solidFill>
                                  <a:srgbClr val="FF0000"/>
                                </a:solidFill>
                                <a:latin typeface="Cambria Math"/>
                                <a:sym typeface="Symbol"/>
                              </a:rPr>
                              <m:t>2</m:t>
                            </m:r>
                          </m:sup>
                        </m:sSup>
                        <m:r>
                          <a:rPr lang="en-GB" altLang="en-US" sz="1800">
                            <a:solidFill>
                              <a:srgbClr val="FF0000"/>
                            </a:solidFill>
                            <a:latin typeface="Cambria Math"/>
                            <a:sym typeface="Symbol"/>
                          </a:rPr>
                          <m:t>𝜇𝜌</m:t>
                        </m:r>
                      </m:den>
                    </m:f>
                  </m:oMath>
                </a14:m>
                <a:endParaRPr lang="en-US" altLang="en-US" sz="1350" dirty="0">
                  <a:solidFill>
                    <a:srgbClr val="000000"/>
                  </a:solidFill>
                  <a:sym typeface="Symbol"/>
                </a:endParaRPr>
              </a:p>
            </p:txBody>
          </p:sp>
        </mc:Choice>
        <mc:Fallback xmlns="">
          <p:sp>
            <p:nvSpPr>
              <p:cNvPr id="2" name="Tex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642245" y="788038"/>
                <a:ext cx="4086000" cy="3898261"/>
              </a:xfrm>
              <a:blipFill rotWithShape="1">
                <a:blip r:embed="rId3"/>
                <a:stretch>
                  <a:fillRect l="-1045" r="-1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CSD Schematic Version-2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37" y="1255391"/>
            <a:ext cx="4414640" cy="2803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195513" y="1684338"/>
            <a:ext cx="1109662" cy="568324"/>
          </a:xfrm>
          <a:prstGeom prst="rect">
            <a:avLst/>
          </a:prstGeom>
          <a:pattFill prst="divot">
            <a:fgClr>
              <a:srgbClr val="000000"/>
            </a:fgClr>
            <a:bgClr>
              <a:schemeClr val="bg1"/>
            </a:bgClr>
          </a:patt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2244873" y="1684337"/>
            <a:ext cx="1133476" cy="568325"/>
            <a:chOff x="2185987" y="1684337"/>
            <a:chExt cx="1133476" cy="568325"/>
          </a:xfrm>
        </p:grpSpPr>
        <p:sp>
          <p:nvSpPr>
            <p:cNvPr id="7" name="Rectangle 6"/>
            <p:cNvSpPr/>
            <p:nvPr/>
          </p:nvSpPr>
          <p:spPr>
            <a:xfrm>
              <a:off x="2185987" y="1684337"/>
              <a:ext cx="1133476" cy="568325"/>
            </a:xfrm>
            <a:prstGeom prst="rect">
              <a:avLst/>
            </a:prstGeom>
            <a:pattFill prst="zigZag">
              <a:fgClr>
                <a:schemeClr val="accent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185987" y="1689426"/>
              <a:ext cx="50376" cy="56323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/>
          <p:cNvSpPr/>
          <p:nvPr/>
        </p:nvSpPr>
        <p:spPr>
          <a:xfrm>
            <a:off x="1018223" y="1688148"/>
            <a:ext cx="1077277" cy="4254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76613" y="1684338"/>
            <a:ext cx="1024890" cy="4254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37" t="1" b="44706"/>
          <a:stretch/>
        </p:blipFill>
        <p:spPr bwMode="auto">
          <a:xfrm>
            <a:off x="3317080" y="1259623"/>
            <a:ext cx="1199153" cy="1550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3292" b="2301"/>
          <a:stretch/>
        </p:blipFill>
        <p:spPr bwMode="auto">
          <a:xfrm>
            <a:off x="104959" y="1238456"/>
            <a:ext cx="2061979" cy="2739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/>
          <p:cNvCxnSpPr/>
          <p:nvPr/>
        </p:nvCxnSpPr>
        <p:spPr>
          <a:xfrm>
            <a:off x="3317080" y="1684337"/>
            <a:ext cx="0" cy="568325"/>
          </a:xfrm>
          <a:prstGeom prst="line">
            <a:avLst/>
          </a:prstGeom>
          <a:ln w="285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2" t="50611" r="66993" b="35459"/>
          <a:stretch/>
        </p:blipFill>
        <p:spPr bwMode="auto">
          <a:xfrm>
            <a:off x="314325" y="2657475"/>
            <a:ext cx="12477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oup 13"/>
          <p:cNvGrpSpPr/>
          <p:nvPr/>
        </p:nvGrpSpPr>
        <p:grpSpPr>
          <a:xfrm>
            <a:off x="452651" y="3000294"/>
            <a:ext cx="861802" cy="723834"/>
            <a:chOff x="452651" y="3048000"/>
            <a:chExt cx="861802" cy="723834"/>
          </a:xfrm>
          <a:pattFill prst="divot">
            <a:fgClr>
              <a:schemeClr val="accent1"/>
            </a:fgClr>
            <a:bgClr>
              <a:schemeClr val="bg1"/>
            </a:bgClr>
          </a:pattFill>
        </p:grpSpPr>
        <p:sp>
          <p:nvSpPr>
            <p:cNvPr id="22" name="Rectangle 21"/>
            <p:cNvSpPr/>
            <p:nvPr/>
          </p:nvSpPr>
          <p:spPr>
            <a:xfrm rot="16200000">
              <a:off x="528501" y="2985882"/>
              <a:ext cx="710102" cy="86180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452651" y="3048000"/>
              <a:ext cx="861802" cy="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36" t="50612" r="53292" b="2301"/>
          <a:stretch/>
        </p:blipFill>
        <p:spPr bwMode="auto">
          <a:xfrm>
            <a:off x="314325" y="3977640"/>
            <a:ext cx="1247775" cy="1087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87416" r="53292" b="-1817"/>
          <a:stretch/>
        </p:blipFill>
        <p:spPr bwMode="auto">
          <a:xfrm>
            <a:off x="104959" y="3708400"/>
            <a:ext cx="2061979" cy="403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Rectangle 35"/>
          <p:cNvSpPr/>
          <p:nvPr/>
        </p:nvSpPr>
        <p:spPr>
          <a:xfrm>
            <a:off x="2524835" y="2823457"/>
            <a:ext cx="2231409" cy="1408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2" t="50611" r="66993" b="35459"/>
          <a:stretch/>
        </p:blipFill>
        <p:spPr bwMode="auto">
          <a:xfrm>
            <a:off x="2754541" y="2657475"/>
            <a:ext cx="12477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" t="51097" r="65883" b="10139"/>
          <a:stretch/>
        </p:blipFill>
        <p:spPr bwMode="auto">
          <a:xfrm>
            <a:off x="2754541" y="2657475"/>
            <a:ext cx="1310835" cy="1086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" name="Group 26"/>
          <p:cNvGrpSpPr/>
          <p:nvPr/>
        </p:nvGrpSpPr>
        <p:grpSpPr>
          <a:xfrm>
            <a:off x="2903753" y="3422592"/>
            <a:ext cx="861802" cy="636441"/>
            <a:chOff x="452651" y="3048000"/>
            <a:chExt cx="861802" cy="723834"/>
          </a:xfrm>
          <a:pattFill prst="divot">
            <a:fgClr>
              <a:schemeClr val="accent1"/>
            </a:fgClr>
            <a:bgClr>
              <a:schemeClr val="bg1"/>
            </a:bgClr>
          </a:pattFill>
        </p:grpSpPr>
        <p:sp>
          <p:nvSpPr>
            <p:cNvPr id="28" name="Rectangle 27"/>
            <p:cNvSpPr/>
            <p:nvPr/>
          </p:nvSpPr>
          <p:spPr>
            <a:xfrm rot="16200000">
              <a:off x="528501" y="2985882"/>
              <a:ext cx="710102" cy="86180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452651" y="3048000"/>
              <a:ext cx="861802" cy="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5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693" t="79530" r="8312" b="3934"/>
          <a:stretch/>
        </p:blipFill>
        <p:spPr bwMode="auto">
          <a:xfrm>
            <a:off x="2754541" y="3724231"/>
            <a:ext cx="1147558" cy="463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2903754" y="3711829"/>
            <a:ext cx="861801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8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95062E-6 L 0.10729 3.95062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65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5.83153E-7 L 2.22222E-6 0.0715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7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0629E-6 L -3.33333E-6 -0.0527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6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Bridging Study: RDSD vs CSD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236535" y="4096331"/>
            <a:ext cx="8412163" cy="999669"/>
          </a:xfrm>
          <a:prstGeom prst="rect">
            <a:avLst/>
          </a:prstGeom>
        </p:spPr>
        <p:txBody>
          <a:bodyPr/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80000"/>
              </a:lnSpc>
              <a:spcAft>
                <a:spcPct val="25000"/>
              </a:spcAft>
            </a:pPr>
            <a:r>
              <a:rPr lang="en-GB" alt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Developed capillary shear device creates the levels of shear quoted in literature to match </a:t>
            </a:r>
            <a:r>
              <a:rPr lang="en-GB" altLang="en-US" sz="1600" dirty="0" smtClean="0">
                <a:solidFill>
                  <a:srgbClr val="000000"/>
                </a:solidFill>
                <a:latin typeface="Arial" charset="0"/>
                <a:cs typeface="Arial" charset="0"/>
              </a:rPr>
              <a:t>centrifuges </a:t>
            </a:r>
          </a:p>
          <a:p>
            <a:pPr lvl="1" algn="ctr" fontAlgn="base">
              <a:spcAft>
                <a:spcPct val="25000"/>
              </a:spcAft>
            </a:pPr>
            <a:r>
              <a:rPr lang="en-GB" altLang="en-US" sz="1200" b="1" i="1" dirty="0">
                <a:solidFill>
                  <a:schemeClr val="accent1"/>
                </a:solidFill>
              </a:rPr>
              <a:t>(1) </a:t>
            </a:r>
            <a:r>
              <a:rPr lang="en-GB" altLang="en-US" sz="1200" b="1" i="1" dirty="0" err="1">
                <a:solidFill>
                  <a:schemeClr val="accent1"/>
                </a:solidFill>
              </a:rPr>
              <a:t>Boychyn</a:t>
            </a:r>
            <a:r>
              <a:rPr lang="en-GB" altLang="en-US" sz="1200" b="1" i="1" dirty="0">
                <a:solidFill>
                  <a:schemeClr val="accent1"/>
                </a:solidFill>
              </a:rPr>
              <a:t> et al., (2004) Bioprocess </a:t>
            </a:r>
            <a:r>
              <a:rPr lang="en-GB" altLang="en-US" sz="1200" b="1" i="1" dirty="0" err="1">
                <a:solidFill>
                  <a:schemeClr val="accent1"/>
                </a:solidFill>
              </a:rPr>
              <a:t>Biosyst</a:t>
            </a:r>
            <a:r>
              <a:rPr lang="en-GB" altLang="en-US" sz="1200" b="1" i="1" dirty="0">
                <a:solidFill>
                  <a:schemeClr val="accent1"/>
                </a:solidFill>
              </a:rPr>
              <a:t> Eng.,  26: </a:t>
            </a:r>
            <a:r>
              <a:rPr lang="en-GB" altLang="en-US" sz="1200" b="1" i="1" dirty="0" smtClean="0">
                <a:solidFill>
                  <a:schemeClr val="accent1"/>
                </a:solidFill>
              </a:rPr>
              <a:t>385–391  </a:t>
            </a:r>
          </a:p>
          <a:p>
            <a:pPr lvl="1" algn="ctr" fontAlgn="base">
              <a:spcAft>
                <a:spcPct val="25000"/>
              </a:spcAft>
            </a:pPr>
            <a:r>
              <a:rPr lang="en-GB" altLang="en-US" sz="1200" b="1" i="1" dirty="0" smtClean="0">
                <a:solidFill>
                  <a:srgbClr val="000000"/>
                </a:solidFill>
              </a:rPr>
              <a:t>(2</a:t>
            </a:r>
            <a:r>
              <a:rPr lang="en-GB" altLang="en-US" sz="1200" b="1" i="1" dirty="0">
                <a:solidFill>
                  <a:srgbClr val="000000"/>
                </a:solidFill>
              </a:rPr>
              <a:t>) </a:t>
            </a:r>
            <a:r>
              <a:rPr lang="en-GB" altLang="en-US" sz="1200" b="1" i="1" dirty="0" err="1">
                <a:solidFill>
                  <a:srgbClr val="000000"/>
                </a:solidFill>
              </a:rPr>
              <a:t>Westoby</a:t>
            </a:r>
            <a:r>
              <a:rPr lang="en-GB" altLang="en-US" sz="1200" b="1" i="1" dirty="0">
                <a:solidFill>
                  <a:srgbClr val="000000"/>
                </a:solidFill>
              </a:rPr>
              <a:t> et al., (2011) Biotechnology and </a:t>
            </a:r>
            <a:r>
              <a:rPr lang="en-GB" altLang="en-US" sz="1200" b="1" i="1" dirty="0" err="1">
                <a:solidFill>
                  <a:srgbClr val="000000"/>
                </a:solidFill>
              </a:rPr>
              <a:t>BioEngineering</a:t>
            </a:r>
            <a:r>
              <a:rPr lang="en-GB" altLang="en-US" sz="1200" b="1" i="1" dirty="0">
                <a:solidFill>
                  <a:srgbClr val="000000"/>
                </a:solidFill>
              </a:rPr>
              <a:t>.,  108: </a:t>
            </a:r>
            <a:r>
              <a:rPr lang="en-GB" altLang="en-US" sz="1200" b="1" i="1" dirty="0" smtClean="0">
                <a:solidFill>
                  <a:srgbClr val="000000"/>
                </a:solidFill>
              </a:rPr>
              <a:t>990–998</a:t>
            </a:r>
            <a:endParaRPr lang="en-GB" altLang="en-US" sz="1800" i="1" dirty="0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9" name="Content Placeholder 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141597937"/>
              </p:ext>
            </p:extLst>
          </p:nvPr>
        </p:nvGraphicFramePr>
        <p:xfrm>
          <a:off x="47626" y="512735"/>
          <a:ext cx="8353424" cy="36215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1" name="Straight Connector 10"/>
          <p:cNvCxnSpPr/>
          <p:nvPr/>
        </p:nvCxnSpPr>
        <p:spPr>
          <a:xfrm flipH="1">
            <a:off x="5229225" y="1169960"/>
            <a:ext cx="19050" cy="241935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5657850" y="1186033"/>
            <a:ext cx="19050" cy="241935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836076" y="3281533"/>
            <a:ext cx="4026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1400" b="1" dirty="0">
                <a:solidFill>
                  <a:schemeClr val="accent1"/>
                </a:solidFill>
              </a:rPr>
              <a:t>(1)</a:t>
            </a:r>
            <a:endParaRPr lang="en-US" sz="1400" b="1" dirty="0">
              <a:solidFill>
                <a:schemeClr val="accent1"/>
              </a:solidFill>
            </a:endParaRPr>
          </a:p>
        </p:txBody>
      </p:sp>
      <p:sp>
        <p:nvSpPr>
          <p:cNvPr id="14" name="Text Placeholder 1"/>
          <p:cNvSpPr txBox="1">
            <a:spLocks/>
          </p:cNvSpPr>
          <p:nvPr/>
        </p:nvSpPr>
        <p:spPr>
          <a:xfrm>
            <a:off x="3933825" y="124456"/>
            <a:ext cx="5295900" cy="776558"/>
          </a:xfrm>
          <a:prstGeom prst="rect">
            <a:avLst/>
          </a:prstGeom>
        </p:spPr>
        <p:txBody>
          <a:bodyPr/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spcAft>
                <a:spcPct val="25000"/>
              </a:spcAft>
              <a:buNone/>
            </a:pPr>
            <a:endParaRPr lang="en-GB" altLang="en-US" sz="1050" b="1" dirty="0">
              <a:solidFill>
                <a:srgbClr val="00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57377" y="3281532"/>
            <a:ext cx="4026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1400" b="1" dirty="0" smtClean="0"/>
              <a:t>(2)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674111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USD Centrifugation Development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470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Experimental Methodology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12</a:t>
            </a:fld>
            <a:endParaRPr lang="en-GB" dirty="0"/>
          </a:p>
        </p:txBody>
      </p:sp>
      <p:grpSp>
        <p:nvGrpSpPr>
          <p:cNvPr id="12" name="Group 11"/>
          <p:cNvGrpSpPr/>
          <p:nvPr/>
        </p:nvGrpSpPr>
        <p:grpSpPr>
          <a:xfrm>
            <a:off x="237062" y="1981884"/>
            <a:ext cx="8751652" cy="1463040"/>
            <a:chOff x="144432" y="839973"/>
            <a:chExt cx="8751652" cy="1463040"/>
          </a:xfrm>
        </p:grpSpPr>
        <p:sp>
          <p:nvSpPr>
            <p:cNvPr id="6" name="Oval 5"/>
            <p:cNvSpPr/>
            <p:nvPr/>
          </p:nvSpPr>
          <p:spPr>
            <a:xfrm>
              <a:off x="144432" y="839973"/>
              <a:ext cx="1463040" cy="14630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LDH screen</a:t>
              </a:r>
              <a:endParaRPr lang="en-US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1967910" y="839973"/>
              <a:ext cx="1463040" cy="14630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V/t</a:t>
              </a:r>
              <a:r>
                <a:rPr lang="el-GR" dirty="0" smtClean="0"/>
                <a:t>Σ</a:t>
              </a:r>
              <a:endParaRPr lang="en-US" dirty="0" smtClean="0"/>
            </a:p>
            <a:p>
              <a:pPr algn="ctr"/>
              <a:r>
                <a:rPr lang="en-US" dirty="0" smtClean="0"/>
                <a:t>screen</a:t>
              </a:r>
              <a:endParaRPr lang="en-US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3796709" y="839973"/>
              <a:ext cx="1463040" cy="14630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Verify</a:t>
              </a:r>
              <a:endParaRPr lang="en-US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5614877" y="839973"/>
              <a:ext cx="1463040" cy="14630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Scale up</a:t>
              </a:r>
              <a:endParaRPr lang="en-US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433044" y="839973"/>
              <a:ext cx="1463040" cy="14630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Filter</a:t>
              </a:r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37062" y="666495"/>
                <a:ext cx="3508744" cy="86716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F5F"/>
                    </a:solidFill>
                  </a:rPr>
                  <a:t>Shear rates are tested to match the LDH levels found in the centrate </a:t>
                </a:r>
                <a:endParaRPr lang="en-US" sz="1400" dirty="0" smtClean="0">
                  <a:solidFill>
                    <a:srgbClr val="002F5F"/>
                  </a:solidFill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𝐿𝐷𝐻</m:t>
                        </m:r>
                      </m:e>
                      <m:sub>
                        <m:r>
                          <a:rPr lang="en-GB" sz="1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𝐼𝑛𝑐𝑟𝑒𝑎𝑠𝑒</m:t>
                        </m:r>
                      </m:sub>
                    </m:sSub>
                    <m:r>
                      <a:rPr lang="en-US" sz="1400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14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sz="140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LDH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GB" sz="140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s</m:t>
                                </m:r>
                              </m:sub>
                            </m:sSub>
                            <m:r>
                              <a:rPr lang="en-GB" sz="1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sz="140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LDH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GB" sz="140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NS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sz="140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LDH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GB" sz="140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NS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GB" sz="1400">
                        <a:solidFill>
                          <a:srgbClr val="FF0000"/>
                        </a:solidFill>
                        <a:latin typeface="Cambria Math"/>
                      </a:rPr>
                      <m:t>×100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62" y="666495"/>
                <a:ext cx="3508744" cy="86716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>
            <a:stCxn id="6" idx="0"/>
          </p:cNvCxnSpPr>
          <p:nvPr/>
        </p:nvCxnSpPr>
        <p:spPr>
          <a:xfrm flipV="1">
            <a:off x="968582" y="1533655"/>
            <a:ext cx="0" cy="44822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98734" y="3850792"/>
            <a:ext cx="3002735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F5F"/>
                </a:solidFill>
              </a:rPr>
              <a:t>Range of V/t</a:t>
            </a:r>
            <a:r>
              <a:rPr lang="el-GR" sz="1400" dirty="0">
                <a:solidFill>
                  <a:srgbClr val="002F5F"/>
                </a:solidFill>
              </a:rPr>
              <a:t>Σ</a:t>
            </a:r>
            <a:r>
              <a:rPr lang="en-US" sz="1400" dirty="0">
                <a:solidFill>
                  <a:srgbClr val="002F5F"/>
                </a:solidFill>
              </a:rPr>
              <a:t> values are tested to match LAPX-404 centrate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F5F"/>
                </a:solidFill>
              </a:rPr>
              <a:t>Correction factor quantified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3579" y="3850153"/>
            <a:ext cx="2183927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F5F"/>
                </a:solidFill>
              </a:rPr>
              <a:t>Verification based on</a:t>
            </a:r>
            <a:r>
              <a:rPr lang="en-US" sz="1400" dirty="0" smtClean="0">
                <a:solidFill>
                  <a:srgbClr val="002F5F"/>
                </a:solidFill>
              </a:rPr>
              <a:t>:</a:t>
            </a:r>
          </a:p>
          <a:p>
            <a:pPr lvl="1"/>
            <a:r>
              <a:rPr lang="en-US" sz="1400" dirty="0" smtClean="0">
                <a:solidFill>
                  <a:srgbClr val="002F5F"/>
                </a:solidFill>
              </a:rPr>
              <a:t>- Turbidity </a:t>
            </a:r>
          </a:p>
          <a:p>
            <a:pPr lvl="1"/>
            <a:r>
              <a:rPr lang="en-US" sz="1400" dirty="0" smtClean="0">
                <a:solidFill>
                  <a:srgbClr val="002F5F"/>
                </a:solidFill>
              </a:rPr>
              <a:t>- PSD</a:t>
            </a:r>
            <a:endParaRPr lang="en-US" sz="1400" dirty="0">
              <a:solidFill>
                <a:srgbClr val="002F5F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303469" y="730743"/>
            <a:ext cx="2222205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F5F"/>
                </a:solidFill>
              </a:rPr>
              <a:t>≈1L of USD centrate generated for filter sizing studies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13718" y="3850153"/>
            <a:ext cx="2977117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F5F"/>
                </a:solidFill>
              </a:rPr>
              <a:t>Filter sizing studies conducted comparing filterability of pilot-scale and USD </a:t>
            </a:r>
            <a:r>
              <a:rPr lang="en-US" sz="1400" dirty="0" err="1">
                <a:solidFill>
                  <a:srgbClr val="002F5F"/>
                </a:solidFill>
              </a:rPr>
              <a:t>centrates</a:t>
            </a:r>
            <a:endParaRPr lang="en-US" sz="1400" dirty="0">
              <a:solidFill>
                <a:srgbClr val="002F5F"/>
              </a:solidFill>
            </a:endParaRPr>
          </a:p>
        </p:txBody>
      </p:sp>
      <p:cxnSp>
        <p:nvCxnSpPr>
          <p:cNvPr id="24" name="Straight Arrow Connector 23"/>
          <p:cNvCxnSpPr>
            <a:stCxn id="7" idx="4"/>
          </p:cNvCxnSpPr>
          <p:nvPr/>
        </p:nvCxnSpPr>
        <p:spPr>
          <a:xfrm>
            <a:off x="2792060" y="3444924"/>
            <a:ext cx="0" cy="40522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22" idx="2"/>
          </p:cNvCxnSpPr>
          <p:nvPr/>
        </p:nvCxnSpPr>
        <p:spPr>
          <a:xfrm flipV="1">
            <a:off x="6414571" y="1469407"/>
            <a:ext cx="1" cy="512478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4615542" y="3445563"/>
            <a:ext cx="0" cy="40522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6" idx="6"/>
            <a:endCxn id="7" idx="2"/>
          </p:cNvCxnSpPr>
          <p:nvPr/>
        </p:nvCxnSpPr>
        <p:spPr>
          <a:xfrm>
            <a:off x="1700102" y="2713404"/>
            <a:ext cx="360438" cy="0"/>
          </a:xfrm>
          <a:prstGeom prst="line">
            <a:avLst/>
          </a:prstGeom>
          <a:ln w="7620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8257194" y="3445563"/>
            <a:ext cx="0" cy="40522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7" idx="6"/>
            <a:endCxn id="8" idx="2"/>
          </p:cNvCxnSpPr>
          <p:nvPr/>
        </p:nvCxnSpPr>
        <p:spPr>
          <a:xfrm>
            <a:off x="3523580" y="2713404"/>
            <a:ext cx="365759" cy="0"/>
          </a:xfrm>
          <a:prstGeom prst="line">
            <a:avLst/>
          </a:prstGeom>
          <a:ln w="7620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endCxn id="9" idx="2"/>
          </p:cNvCxnSpPr>
          <p:nvPr/>
        </p:nvCxnSpPr>
        <p:spPr>
          <a:xfrm>
            <a:off x="5220586" y="2713404"/>
            <a:ext cx="486921" cy="0"/>
          </a:xfrm>
          <a:prstGeom prst="line">
            <a:avLst/>
          </a:prstGeom>
          <a:ln w="7620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9" idx="6"/>
            <a:endCxn id="10" idx="2"/>
          </p:cNvCxnSpPr>
          <p:nvPr/>
        </p:nvCxnSpPr>
        <p:spPr>
          <a:xfrm>
            <a:off x="7170547" y="2713404"/>
            <a:ext cx="355127" cy="0"/>
          </a:xfrm>
          <a:prstGeom prst="line">
            <a:avLst/>
          </a:prstGeom>
          <a:ln w="7620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38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/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642245" y="788039"/>
                <a:ext cx="4086000" cy="3822060"/>
              </a:xfrm>
            </p:spPr>
            <p:txBody>
              <a:bodyPr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Experimentally determined EDRs suggest EDR of </a:t>
                </a:r>
                <a:r>
                  <a:rPr lang="en-US" i="1" dirty="0" smtClean="0">
                    <a:solidFill>
                      <a:srgbClr val="FF0000"/>
                    </a:solidFill>
                  </a:rPr>
                  <a:t>2.3</a:t>
                </a:r>
                <a:r>
                  <a:rPr lang="en-US" i="1" dirty="0">
                    <a:solidFill>
                      <a:srgbClr val="FF0000"/>
                    </a:solidFill>
                  </a:rPr>
                  <a:t>X10</a:t>
                </a:r>
                <a:r>
                  <a:rPr lang="en-US" i="1" baseline="30000" dirty="0">
                    <a:solidFill>
                      <a:srgbClr val="FF0000"/>
                    </a:solidFill>
                  </a:rPr>
                  <a:t>5</a:t>
                </a:r>
                <a:r>
                  <a:rPr lang="en-US" i="1" dirty="0">
                    <a:solidFill>
                      <a:srgbClr val="FF0000"/>
                    </a:solidFill>
                  </a:rPr>
                  <a:t>(W/Kg</a:t>
                </a:r>
                <a:r>
                  <a:rPr lang="en-US" i="1" dirty="0" smtClean="0">
                    <a:solidFill>
                      <a:srgbClr val="FF0000"/>
                    </a:solidFill>
                  </a:rPr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Literature values </a:t>
                </a:r>
                <a:r>
                  <a:rPr lang="en-US" i="1" dirty="0" smtClean="0">
                    <a:solidFill>
                      <a:srgbClr val="FF0000"/>
                    </a:solidFill>
                  </a:rPr>
                  <a:t>≈ </a:t>
                </a:r>
                <a:r>
                  <a:rPr lang="en-US" i="1" dirty="0">
                    <a:solidFill>
                      <a:srgbClr val="FF0000"/>
                    </a:solidFill>
                  </a:rPr>
                  <a:t>1X10</a:t>
                </a:r>
                <a:r>
                  <a:rPr lang="en-US" i="1" baseline="30000" dirty="0">
                    <a:solidFill>
                      <a:srgbClr val="FF0000"/>
                    </a:solidFill>
                  </a:rPr>
                  <a:t>5</a:t>
                </a:r>
                <a:r>
                  <a:rPr lang="en-US" i="1" dirty="0">
                    <a:solidFill>
                      <a:srgbClr val="FF0000"/>
                    </a:solidFill>
                  </a:rPr>
                  <a:t>(W/Kg)</a:t>
                </a:r>
                <a:r>
                  <a:rPr lang="en-US" dirty="0"/>
                  <a:t> </a:t>
                </a:r>
                <a:r>
                  <a:rPr lang="en-US" dirty="0" smtClean="0"/>
                  <a:t>quoted by: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i="1" dirty="0" smtClean="0">
                    <a:solidFill>
                      <a:srgbClr val="FF0000"/>
                    </a:solidFill>
                  </a:rPr>
                  <a:t>3X10</a:t>
                </a:r>
                <a:r>
                  <a:rPr lang="en-US" i="1" baseline="30000" dirty="0">
                    <a:solidFill>
                      <a:srgbClr val="FF0000"/>
                    </a:solidFill>
                  </a:rPr>
                  <a:t>4</a:t>
                </a:r>
                <a:r>
                  <a:rPr lang="en-US" i="1" dirty="0" smtClean="0">
                    <a:solidFill>
                      <a:srgbClr val="FF0000"/>
                    </a:solidFill>
                  </a:rPr>
                  <a:t>(W/Kg) </a:t>
                </a:r>
                <a:r>
                  <a:rPr lang="en-US" dirty="0" err="1" smtClean="0"/>
                  <a:t>Westoby</a:t>
                </a:r>
                <a:r>
                  <a:rPr lang="en-US" dirty="0" smtClean="0"/>
                  <a:t> </a:t>
                </a:r>
                <a:r>
                  <a:rPr lang="en-US" dirty="0"/>
                  <a:t>et al</a:t>
                </a:r>
                <a:r>
                  <a:rPr lang="en-US" dirty="0" smtClean="0"/>
                  <a:t>.,(</a:t>
                </a:r>
                <a:r>
                  <a:rPr lang="en-US" dirty="0"/>
                  <a:t>2011</a:t>
                </a:r>
                <a:r>
                  <a:rPr lang="en-US" dirty="0" smtClean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i="1" dirty="0" smtClean="0">
                    <a:solidFill>
                      <a:srgbClr val="FF0000"/>
                    </a:solidFill>
                  </a:rPr>
                  <a:t>2X10</a:t>
                </a:r>
                <a:r>
                  <a:rPr lang="en-US" i="1" baseline="30000" dirty="0">
                    <a:solidFill>
                      <a:srgbClr val="FF0000"/>
                    </a:solidFill>
                  </a:rPr>
                  <a:t>5</a:t>
                </a:r>
                <a:r>
                  <a:rPr lang="en-US" i="1" dirty="0" smtClean="0">
                    <a:solidFill>
                      <a:srgbClr val="FF0000"/>
                    </a:solidFill>
                  </a:rPr>
                  <a:t>(W/Kg</a:t>
                </a:r>
                <a:r>
                  <a:rPr lang="en-US" i="1" dirty="0">
                    <a:solidFill>
                      <a:srgbClr val="FF0000"/>
                    </a:solidFill>
                  </a:rPr>
                  <a:t>) </a:t>
                </a:r>
                <a:r>
                  <a:rPr lang="en-US" dirty="0" err="1" smtClean="0"/>
                  <a:t>Boychen</a:t>
                </a:r>
                <a:r>
                  <a:rPr lang="en-US" dirty="0" smtClean="0"/>
                  <a:t> </a:t>
                </a:r>
                <a:r>
                  <a:rPr lang="en-US" dirty="0"/>
                  <a:t>et al</a:t>
                </a:r>
                <a:r>
                  <a:rPr lang="en-US" dirty="0" smtClean="0"/>
                  <a:t>.,(</a:t>
                </a:r>
                <a:r>
                  <a:rPr lang="en-US" dirty="0"/>
                  <a:t>2004)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𝑳𝑫𝑯</m:t>
                        </m:r>
                      </m:e>
                      <m:sub>
                        <m:r>
                          <a:rPr lang="en-GB" b="1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𝑰𝒏𝒄𝒓𝒆𝒂𝒔𝒆</m:t>
                        </m:r>
                      </m:sub>
                    </m:sSub>
                    <m:r>
                      <a:rPr lang="en-US" b="1" i="1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GB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𝑳𝑫𝑯</m:t>
                                </m:r>
                              </m:e>
                              <m:sub>
                                <m:r>
                                  <a:rPr lang="en-GB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𝒔</m:t>
                                </m:r>
                              </m:sub>
                            </m:sSub>
                            <m:r>
                              <a:rPr lang="en-GB" b="1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GB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𝑳𝑫𝑯</m:t>
                                </m:r>
                              </m:e>
                              <m:sub>
                                <m:r>
                                  <a:rPr lang="en-GB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𝑵𝑺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GB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𝑳𝑫𝑯</m:t>
                                </m:r>
                              </m:e>
                              <m:sub>
                                <m:r>
                                  <a:rPr lang="en-GB" b="1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𝑵𝑺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GB" b="1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r>
                      <a:rPr lang="en-GB" b="1" i="1">
                        <a:solidFill>
                          <a:srgbClr val="000000"/>
                        </a:solidFill>
                        <a:latin typeface="Cambria Math"/>
                      </a:rPr>
                      <m:t>𝟏𝟎𝟎</m:t>
                    </m:r>
                  </m:oMath>
                </a14:m>
                <a:endParaRPr lang="en-GB" b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" name="Tex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642245" y="788039"/>
                <a:ext cx="4086000" cy="3822060"/>
              </a:xfrm>
              <a:blipFill rotWithShape="1">
                <a:blip r:embed="rId2"/>
                <a:stretch>
                  <a:fillRect l="-1045" r="-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LDH Screen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13</a:t>
            </a:fld>
            <a:endParaRPr lang="en-GB" dirty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3249763"/>
              </p:ext>
            </p:extLst>
          </p:nvPr>
        </p:nvGraphicFramePr>
        <p:xfrm>
          <a:off x="237062" y="657224"/>
          <a:ext cx="4334938" cy="3952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405938" y="151863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LDH </a:t>
            </a:r>
          </a:p>
          <a:p>
            <a:pPr algn="ctr"/>
            <a:r>
              <a:rPr lang="en-US" sz="1000" dirty="0" smtClean="0"/>
              <a:t>Screen</a:t>
            </a:r>
            <a:endParaRPr lang="en-US" sz="1000" dirty="0"/>
          </a:p>
        </p:txBody>
      </p:sp>
      <p:sp>
        <p:nvSpPr>
          <p:cNvPr id="9" name="TextBox 8"/>
          <p:cNvSpPr txBox="1"/>
          <p:nvPr/>
        </p:nvSpPr>
        <p:spPr>
          <a:xfrm>
            <a:off x="5294483" y="169671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V/t</a:t>
            </a:r>
            <a:r>
              <a:rPr lang="el-GR" sz="1000" dirty="0" smtClean="0"/>
              <a:t>Σ</a:t>
            </a:r>
            <a:endParaRPr lang="en-US" sz="1000" dirty="0" smtClean="0"/>
          </a:p>
          <a:p>
            <a:pPr algn="ctr"/>
            <a:r>
              <a:rPr lang="en-US" sz="1000" dirty="0" smtClean="0"/>
              <a:t>Screen</a:t>
            </a:r>
            <a:endParaRPr 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6198897" y="266515"/>
            <a:ext cx="5116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Verify</a:t>
            </a:r>
            <a:endParaRPr lang="en-US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7061655" y="128389"/>
            <a:ext cx="503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Scale</a:t>
            </a:r>
          </a:p>
          <a:p>
            <a:pPr algn="ctr"/>
            <a:r>
              <a:rPr lang="en-US" sz="1000" dirty="0" smtClean="0"/>
              <a:t>up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7827085" y="266514"/>
            <a:ext cx="675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Filtration</a:t>
            </a:r>
            <a:endParaRPr lang="en-US" sz="1000" dirty="0"/>
          </a:p>
        </p:txBody>
      </p:sp>
      <p:sp>
        <p:nvSpPr>
          <p:cNvPr id="13" name="Oval 12"/>
          <p:cNvSpPr/>
          <p:nvPr/>
        </p:nvSpPr>
        <p:spPr>
          <a:xfrm>
            <a:off x="4551779" y="512736"/>
            <a:ext cx="218364" cy="22518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8131808" y="516663"/>
            <a:ext cx="218364" cy="225188"/>
          </a:xfrm>
          <a:prstGeom prst="ellipse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>
            <a:stCxn id="13" idx="6"/>
            <a:endCxn id="17" idx="2"/>
          </p:cNvCxnSpPr>
          <p:nvPr/>
        </p:nvCxnSpPr>
        <p:spPr>
          <a:xfrm>
            <a:off x="4770143" y="625330"/>
            <a:ext cx="3361665" cy="3927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470744" y="512736"/>
            <a:ext cx="218364" cy="225188"/>
          </a:xfrm>
          <a:prstGeom prst="ellipse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347140" y="512735"/>
            <a:ext cx="218364" cy="225188"/>
          </a:xfrm>
          <a:prstGeom prst="ellipse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7255412" y="516664"/>
            <a:ext cx="218364" cy="225188"/>
          </a:xfrm>
          <a:prstGeom prst="ellipse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900483" y="4448502"/>
                <a:ext cx="1758687" cy="7019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b="1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US" altLang="en-US" b="1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∈</m:t>
                          </m:r>
                        </m:e>
                        <m:sub>
                          <m:r>
                            <a:rPr lang="en-GB" altLang="en-US" b="1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𝒎𝒂𝒙</m:t>
                          </m:r>
                        </m:sub>
                      </m:sSub>
                      <m:r>
                        <a:rPr lang="en-GB" altLang="en-US" b="1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=</m:t>
                      </m:r>
                      <m:f>
                        <m:fPr>
                          <m:ctrlPr>
                            <a:rPr lang="en-GB" altLang="en-US" b="1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altLang="en-US" b="1" i="1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</m:ctrlPr>
                            </m:sSupPr>
                            <m:e>
                              <m:r>
                                <a:rPr lang="en-GB" altLang="en-US" b="1" i="1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n-GB" altLang="en-US" b="1" i="1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altLang="en-US" b="1" i="1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</m:ctrlPr>
                            </m:sSupPr>
                            <m:e>
                              <m:r>
                                <a:rPr lang="en-GB" altLang="en-US" b="1" i="1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  <m:t>∆</m:t>
                              </m:r>
                              <m:r>
                                <a:rPr lang="en-GB" altLang="en-US" b="1" i="1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  <m:t>𝑷</m:t>
                              </m:r>
                            </m:e>
                            <m:sup>
                              <m:r>
                                <a:rPr lang="en-GB" altLang="en-US" b="1" i="1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GB" altLang="en-US" b="1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𝟏𝟔</m:t>
                          </m:r>
                          <m:sSup>
                            <m:sSupPr>
                              <m:ctrlPr>
                                <a:rPr lang="en-GB" altLang="en-US" b="1" i="1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</m:ctrlPr>
                            </m:sSupPr>
                            <m:e>
                              <m:r>
                                <a:rPr lang="en-GB" altLang="en-US" b="1" i="1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  <m:t>𝒍</m:t>
                              </m:r>
                            </m:e>
                            <m:sup>
                              <m:r>
                                <a:rPr lang="en-GB" altLang="en-US" b="1" i="1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altLang="en-US" b="1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𝝁𝝆</m:t>
                          </m:r>
                        </m:den>
                      </m:f>
                    </m:oMath>
                  </m:oMathPara>
                </a14:m>
                <a:endParaRPr lang="en-US" b="1" i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483" y="4448502"/>
                <a:ext cx="1758687" cy="70192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326205" y="871164"/>
            <a:ext cx="2332965" cy="52322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 2"/>
              <a:buChar char="¯"/>
            </a:pPr>
            <a:r>
              <a:rPr lang="en-US" sz="1400" dirty="0" smtClean="0">
                <a:solidFill>
                  <a:srgbClr val="000000"/>
                </a:solidFill>
                <a:sym typeface="Wingdings 2"/>
              </a:rPr>
              <a:t>Sheared Cell </a:t>
            </a:r>
            <a:r>
              <a:rPr lang="en-US" sz="1400" dirty="0">
                <a:solidFill>
                  <a:srgbClr val="000000"/>
                </a:solidFill>
                <a:sym typeface="Wingdings 2"/>
              </a:rPr>
              <a:t>C</a:t>
            </a:r>
            <a:r>
              <a:rPr lang="en-US" sz="1400" dirty="0" smtClean="0">
                <a:solidFill>
                  <a:srgbClr val="000000"/>
                </a:solidFill>
                <a:sym typeface="Wingdings 2"/>
              </a:rPr>
              <a:t>ulture</a:t>
            </a:r>
          </a:p>
          <a:p>
            <a:r>
              <a:rPr lang="en-US" sz="1400" dirty="0" smtClean="0">
                <a:solidFill>
                  <a:srgbClr val="000000"/>
                </a:solidFill>
                <a:sym typeface="Wingdings 2"/>
              </a:rPr>
              <a:t> LAPX-404 </a:t>
            </a:r>
            <a:r>
              <a:rPr lang="en-US" sz="1400" dirty="0">
                <a:solidFill>
                  <a:srgbClr val="000000"/>
                </a:solidFill>
                <a:sym typeface="Wingdings 2"/>
              </a:rPr>
              <a:t>C</a:t>
            </a:r>
            <a:r>
              <a:rPr lang="en-US" sz="1400" dirty="0" smtClean="0">
                <a:solidFill>
                  <a:srgbClr val="000000"/>
                </a:solidFill>
                <a:sym typeface="Wingdings 2"/>
              </a:rPr>
              <a:t>entrate</a:t>
            </a:r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783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4642245" y="788038"/>
            <a:ext cx="4086000" cy="3917311"/>
          </a:xfrm>
        </p:spPr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Correction </a:t>
            </a:r>
            <a:r>
              <a:rPr lang="en-US" dirty="0"/>
              <a:t>factor </a:t>
            </a:r>
            <a:r>
              <a:rPr lang="en-US" dirty="0" smtClean="0"/>
              <a:t>identified experimentally at </a:t>
            </a:r>
            <a:r>
              <a:rPr lang="en-US" i="1" dirty="0" smtClean="0">
                <a:solidFill>
                  <a:srgbClr val="FF0000"/>
                </a:solidFill>
              </a:rPr>
              <a:t>0.31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Experimental value similar to </a:t>
            </a:r>
            <a:r>
              <a:rPr lang="en-US" dirty="0"/>
              <a:t>those </a:t>
            </a:r>
            <a:r>
              <a:rPr lang="en-US" dirty="0" smtClean="0"/>
              <a:t>in </a:t>
            </a:r>
            <a:r>
              <a:rPr lang="en-US" dirty="0"/>
              <a:t>literature of around </a:t>
            </a:r>
            <a:r>
              <a:rPr lang="en-US" i="1" dirty="0" smtClean="0">
                <a:solidFill>
                  <a:srgbClr val="FF0000"/>
                </a:solidFill>
              </a:rPr>
              <a:t>0.40</a:t>
            </a:r>
            <a:r>
              <a:rPr lang="en-US" dirty="0" smtClean="0"/>
              <a:t> </a:t>
            </a:r>
            <a:r>
              <a:rPr lang="en-US" altLang="en-US" dirty="0" err="1"/>
              <a:t>Pinhiero</a:t>
            </a:r>
            <a:r>
              <a:rPr lang="en-US" altLang="en-US" dirty="0"/>
              <a:t> et al., (1993</a:t>
            </a:r>
            <a:r>
              <a:rPr lang="en-US" altLang="en-US" dirty="0" smtClean="0"/>
              <a:t>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Correction Factor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14</a:t>
            </a:fld>
            <a:endParaRPr lang="en-GB"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6917747"/>
              </p:ext>
            </p:extLst>
          </p:nvPr>
        </p:nvGraphicFramePr>
        <p:xfrm>
          <a:off x="237062" y="788038"/>
          <a:ext cx="4211113" cy="3736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405938" y="151863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LDH </a:t>
            </a:r>
          </a:p>
          <a:p>
            <a:pPr algn="ctr"/>
            <a:r>
              <a:rPr lang="en-US" sz="1000" dirty="0" smtClean="0"/>
              <a:t>Screen</a:t>
            </a:r>
            <a:endParaRPr lang="en-US" sz="1000" dirty="0"/>
          </a:p>
        </p:txBody>
      </p:sp>
      <p:sp>
        <p:nvSpPr>
          <p:cNvPr id="26" name="TextBox 25"/>
          <p:cNvSpPr txBox="1"/>
          <p:nvPr/>
        </p:nvSpPr>
        <p:spPr>
          <a:xfrm>
            <a:off x="5294483" y="169671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V/t</a:t>
            </a:r>
            <a:r>
              <a:rPr lang="el-GR" sz="1000" dirty="0" smtClean="0"/>
              <a:t>Σ</a:t>
            </a:r>
            <a:endParaRPr lang="en-US" sz="1000" dirty="0" smtClean="0"/>
          </a:p>
          <a:p>
            <a:pPr algn="ctr"/>
            <a:r>
              <a:rPr lang="en-US" sz="1000" dirty="0" smtClean="0"/>
              <a:t>Screen</a:t>
            </a:r>
            <a:endParaRPr lang="en-US" sz="1000" dirty="0"/>
          </a:p>
        </p:txBody>
      </p:sp>
      <p:sp>
        <p:nvSpPr>
          <p:cNvPr id="27" name="TextBox 26"/>
          <p:cNvSpPr txBox="1"/>
          <p:nvPr/>
        </p:nvSpPr>
        <p:spPr>
          <a:xfrm>
            <a:off x="6198897" y="266515"/>
            <a:ext cx="5116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Verify</a:t>
            </a:r>
            <a:endParaRPr lang="en-US" sz="1000" dirty="0"/>
          </a:p>
        </p:txBody>
      </p:sp>
      <p:sp>
        <p:nvSpPr>
          <p:cNvPr id="28" name="TextBox 27"/>
          <p:cNvSpPr txBox="1"/>
          <p:nvPr/>
        </p:nvSpPr>
        <p:spPr>
          <a:xfrm>
            <a:off x="7061655" y="128389"/>
            <a:ext cx="503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Scale</a:t>
            </a:r>
          </a:p>
          <a:p>
            <a:pPr algn="ctr"/>
            <a:r>
              <a:rPr lang="en-US" sz="1000" dirty="0" smtClean="0"/>
              <a:t>up</a:t>
            </a:r>
            <a:endParaRPr lang="en-US" sz="1000" dirty="0"/>
          </a:p>
        </p:txBody>
      </p:sp>
      <p:sp>
        <p:nvSpPr>
          <p:cNvPr id="29" name="TextBox 28"/>
          <p:cNvSpPr txBox="1"/>
          <p:nvPr/>
        </p:nvSpPr>
        <p:spPr>
          <a:xfrm>
            <a:off x="7827085" y="266514"/>
            <a:ext cx="675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Filtration</a:t>
            </a:r>
            <a:endParaRPr lang="en-US" sz="1000" dirty="0"/>
          </a:p>
        </p:txBody>
      </p:sp>
      <p:sp>
        <p:nvSpPr>
          <p:cNvPr id="31" name="Oval 30"/>
          <p:cNvSpPr/>
          <p:nvPr/>
        </p:nvSpPr>
        <p:spPr>
          <a:xfrm>
            <a:off x="5470744" y="512736"/>
            <a:ext cx="218364" cy="22518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/>
          <p:cNvCxnSpPr>
            <a:stCxn id="30" idx="6"/>
            <a:endCxn id="34" idx="2"/>
          </p:cNvCxnSpPr>
          <p:nvPr/>
        </p:nvCxnSpPr>
        <p:spPr>
          <a:xfrm>
            <a:off x="4770143" y="625330"/>
            <a:ext cx="3361665" cy="3927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551779" y="512736"/>
            <a:ext cx="218364" cy="225188"/>
          </a:xfrm>
          <a:prstGeom prst="ellipse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6347140" y="512735"/>
            <a:ext cx="218364" cy="225188"/>
          </a:xfrm>
          <a:prstGeom prst="ellipse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7255412" y="516664"/>
            <a:ext cx="218364" cy="225188"/>
          </a:xfrm>
          <a:prstGeom prst="ellipse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8131808" y="516663"/>
            <a:ext cx="218364" cy="225188"/>
          </a:xfrm>
          <a:prstGeom prst="ellipse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68370" y="3173769"/>
            <a:ext cx="2112980" cy="52322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 2"/>
              <a:buChar char="¯"/>
            </a:pPr>
            <a:r>
              <a:rPr lang="en-US" sz="1400" dirty="0" smtClean="0">
                <a:solidFill>
                  <a:srgbClr val="000000"/>
                </a:solidFill>
              </a:rPr>
              <a:t>Lab-scale </a:t>
            </a:r>
            <a:r>
              <a:rPr lang="en-US" sz="1400" dirty="0">
                <a:solidFill>
                  <a:srgbClr val="000000"/>
                </a:solidFill>
              </a:rPr>
              <a:t>C</a:t>
            </a:r>
            <a:r>
              <a:rPr lang="en-US" sz="1400" dirty="0" smtClean="0">
                <a:solidFill>
                  <a:srgbClr val="000000"/>
                </a:solidFill>
              </a:rPr>
              <a:t>entrate</a:t>
            </a:r>
          </a:p>
          <a:p>
            <a:r>
              <a:rPr lang="en-US" sz="1400" dirty="0" smtClean="0">
                <a:solidFill>
                  <a:srgbClr val="000000"/>
                </a:solidFill>
                <a:sym typeface="Wingdings 2"/>
              </a:rPr>
              <a:t></a:t>
            </a:r>
            <a:r>
              <a:rPr lang="en-US" sz="1400" dirty="0" smtClean="0">
                <a:solidFill>
                  <a:srgbClr val="000000"/>
                </a:solidFill>
              </a:rPr>
              <a:t> LAPX-404 Centrate</a:t>
            </a:r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40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4642245" y="788039"/>
            <a:ext cx="4086000" cy="3679186"/>
          </a:xfrm>
        </p:spPr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Similar turbidities were created by USD mimic to that of the LAPX-404 centrate over 10 runs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Tested multiple cell cultures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Verification: Turbidity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4405938" y="151863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LDH </a:t>
            </a:r>
          </a:p>
          <a:p>
            <a:pPr algn="ctr"/>
            <a:r>
              <a:rPr lang="en-US" sz="1000" dirty="0" smtClean="0"/>
              <a:t>Screen</a:t>
            </a:r>
            <a:endParaRPr lang="en-US" sz="1000" dirty="0"/>
          </a:p>
        </p:txBody>
      </p:sp>
      <p:sp>
        <p:nvSpPr>
          <p:cNvPr id="9" name="TextBox 8"/>
          <p:cNvSpPr txBox="1"/>
          <p:nvPr/>
        </p:nvSpPr>
        <p:spPr>
          <a:xfrm>
            <a:off x="5294483" y="169671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V/t</a:t>
            </a:r>
            <a:r>
              <a:rPr lang="el-GR" sz="1000" dirty="0" smtClean="0"/>
              <a:t>Σ</a:t>
            </a:r>
            <a:endParaRPr lang="en-US" sz="1000" dirty="0" smtClean="0"/>
          </a:p>
          <a:p>
            <a:pPr algn="ctr"/>
            <a:r>
              <a:rPr lang="en-US" sz="1000" dirty="0" smtClean="0"/>
              <a:t>Screen</a:t>
            </a:r>
            <a:endParaRPr 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6046613" y="266515"/>
            <a:ext cx="8162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Verification</a:t>
            </a:r>
            <a:endParaRPr lang="en-US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7061655" y="128389"/>
            <a:ext cx="503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Scale</a:t>
            </a:r>
          </a:p>
          <a:p>
            <a:pPr algn="ctr"/>
            <a:r>
              <a:rPr lang="en-US" sz="1000" dirty="0" smtClean="0"/>
              <a:t>up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7827085" y="266514"/>
            <a:ext cx="675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Filtration</a:t>
            </a:r>
            <a:endParaRPr lang="en-US" sz="1000" dirty="0"/>
          </a:p>
        </p:txBody>
      </p:sp>
      <p:sp>
        <p:nvSpPr>
          <p:cNvPr id="15" name="Oval 14"/>
          <p:cNvSpPr/>
          <p:nvPr/>
        </p:nvSpPr>
        <p:spPr>
          <a:xfrm>
            <a:off x="6347140" y="512735"/>
            <a:ext cx="218364" cy="22518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>
            <a:stCxn id="13" idx="6"/>
            <a:endCxn id="17" idx="2"/>
          </p:cNvCxnSpPr>
          <p:nvPr/>
        </p:nvCxnSpPr>
        <p:spPr>
          <a:xfrm>
            <a:off x="4770143" y="625330"/>
            <a:ext cx="3361665" cy="3927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551779" y="512736"/>
            <a:ext cx="218364" cy="225188"/>
          </a:xfrm>
          <a:prstGeom prst="ellipse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470744" y="512736"/>
            <a:ext cx="218364" cy="225188"/>
          </a:xfrm>
          <a:prstGeom prst="ellipse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8131808" y="516663"/>
            <a:ext cx="218364" cy="225188"/>
          </a:xfrm>
          <a:prstGeom prst="ellipse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7255412" y="516664"/>
            <a:ext cx="218364" cy="225188"/>
          </a:xfrm>
          <a:prstGeom prst="ellipse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9176599"/>
              </p:ext>
            </p:extLst>
          </p:nvPr>
        </p:nvGraphicFramePr>
        <p:xfrm>
          <a:off x="237062" y="737922"/>
          <a:ext cx="4405183" cy="39674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0955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Verification: PSD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16</a:t>
            </a:fld>
            <a:endParaRPr lang="en-GB" dirty="0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6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72"/>
          <a:stretch/>
        </p:blipFill>
        <p:spPr bwMode="auto">
          <a:xfrm>
            <a:off x="153364" y="885802"/>
            <a:ext cx="4252574" cy="2887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/>
          <p:cNvPicPr>
            <a:picLocks noGrp="1" noChangeAspect="1" noChangeArrowheads="1"/>
          </p:cNvPicPr>
          <p:nvPr>
            <p:ph idx="17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050" y="885802"/>
            <a:ext cx="4264024" cy="2887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1"/>
          <p:cNvSpPr txBox="1">
            <a:spLocks/>
          </p:cNvSpPr>
          <p:nvPr/>
        </p:nvSpPr>
        <p:spPr>
          <a:xfrm>
            <a:off x="236536" y="3812090"/>
            <a:ext cx="8393113" cy="677729"/>
          </a:xfrm>
          <a:prstGeom prst="rect">
            <a:avLst/>
          </a:prstGeom>
        </p:spPr>
        <p:txBody>
          <a:bodyPr/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smtClean="0"/>
              <a:t>Malvern </a:t>
            </a:r>
            <a:r>
              <a:rPr lang="en-US" sz="1700" dirty="0" err="1" smtClean="0"/>
              <a:t>Zetasizer</a:t>
            </a:r>
            <a:r>
              <a:rPr lang="en-US" sz="1700" dirty="0" smtClean="0"/>
              <a:t> used to measure PSD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smtClean="0"/>
              <a:t>Mimic centrate matched clarified material from LAPX-404 &amp; BTPX-305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5938" y="151863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LDH </a:t>
            </a:r>
          </a:p>
          <a:p>
            <a:pPr algn="ctr"/>
            <a:r>
              <a:rPr lang="en-US" sz="1000" dirty="0" smtClean="0"/>
              <a:t>Screen</a:t>
            </a:r>
            <a:endParaRPr 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5294483" y="169671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V/t</a:t>
            </a:r>
            <a:r>
              <a:rPr lang="el-GR" sz="1000" dirty="0" smtClean="0"/>
              <a:t>Σ</a:t>
            </a:r>
            <a:endParaRPr lang="en-US" sz="1000" dirty="0" smtClean="0"/>
          </a:p>
          <a:p>
            <a:pPr algn="ctr"/>
            <a:r>
              <a:rPr lang="en-US" sz="1000" dirty="0" smtClean="0"/>
              <a:t>Screen</a:t>
            </a:r>
            <a:endParaRPr lang="en-US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6046613" y="266515"/>
            <a:ext cx="8162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Verification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7061655" y="128389"/>
            <a:ext cx="503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Scale</a:t>
            </a:r>
          </a:p>
          <a:p>
            <a:pPr algn="ctr"/>
            <a:r>
              <a:rPr lang="en-US" sz="1000" dirty="0" smtClean="0"/>
              <a:t>up</a:t>
            </a:r>
            <a:endParaRPr 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7827085" y="266514"/>
            <a:ext cx="675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Filtration</a:t>
            </a:r>
            <a:endParaRPr lang="en-US" sz="1000" dirty="0"/>
          </a:p>
        </p:txBody>
      </p:sp>
      <p:sp>
        <p:nvSpPr>
          <p:cNvPr id="16" name="Oval 15"/>
          <p:cNvSpPr/>
          <p:nvPr/>
        </p:nvSpPr>
        <p:spPr>
          <a:xfrm>
            <a:off x="6347140" y="512735"/>
            <a:ext cx="218364" cy="22518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>
            <a:stCxn id="14" idx="6"/>
            <a:endCxn id="18" idx="2"/>
          </p:cNvCxnSpPr>
          <p:nvPr/>
        </p:nvCxnSpPr>
        <p:spPr>
          <a:xfrm>
            <a:off x="4770143" y="625330"/>
            <a:ext cx="3361665" cy="3927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51779" y="512736"/>
            <a:ext cx="218364" cy="225188"/>
          </a:xfrm>
          <a:prstGeom prst="ellipse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470744" y="512736"/>
            <a:ext cx="218364" cy="225188"/>
          </a:xfrm>
          <a:prstGeom prst="ellipse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8131808" y="516663"/>
            <a:ext cx="218364" cy="225188"/>
          </a:xfrm>
          <a:prstGeom prst="ellipse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7255412" y="516664"/>
            <a:ext cx="218364" cy="225188"/>
          </a:xfrm>
          <a:prstGeom prst="ellipse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42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4642245" y="788039"/>
            <a:ext cx="4086000" cy="3717286"/>
          </a:xfrm>
        </p:spPr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Mimic material (</a:t>
            </a:r>
            <a:r>
              <a:rPr lang="en-US" dirty="0" smtClean="0">
                <a:sym typeface="Wingdings 2"/>
              </a:rPr>
              <a:t></a:t>
            </a:r>
            <a:r>
              <a:rPr lang="en-US" dirty="0" smtClean="0"/>
              <a:t>) and pilot-scale centrate (</a:t>
            </a:r>
            <a:r>
              <a:rPr lang="en-US" dirty="0">
                <a:sym typeface="Wingdings 2"/>
              </a:rPr>
              <a:t></a:t>
            </a:r>
            <a:r>
              <a:rPr lang="en-US" dirty="0" smtClean="0"/>
              <a:t>) passed through 23cm</a:t>
            </a:r>
            <a:r>
              <a:rPr lang="en-US" baseline="30000" dirty="0" smtClean="0"/>
              <a:t>2</a:t>
            </a:r>
            <a:r>
              <a:rPr lang="en-US" dirty="0" smtClean="0"/>
              <a:t> bench-scale X0HC filter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Similar fouling observed between both during filtration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Pressure &amp; Turbidity</a:t>
            </a:r>
            <a:endParaRPr lang="en-US" sz="11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Filterability: X0HC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17</a:t>
            </a:fld>
            <a:endParaRPr lang="en-GB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17" y="1149364"/>
            <a:ext cx="4566128" cy="3046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405938" y="151863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LDH </a:t>
            </a:r>
          </a:p>
          <a:p>
            <a:pPr algn="ctr"/>
            <a:r>
              <a:rPr lang="en-US" sz="1000" dirty="0" smtClean="0"/>
              <a:t>Screen</a:t>
            </a:r>
            <a:endParaRPr lang="en-US" sz="1000" dirty="0"/>
          </a:p>
        </p:txBody>
      </p:sp>
      <p:sp>
        <p:nvSpPr>
          <p:cNvPr id="9" name="TextBox 8"/>
          <p:cNvSpPr txBox="1"/>
          <p:nvPr/>
        </p:nvSpPr>
        <p:spPr>
          <a:xfrm>
            <a:off x="5294483" y="169671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V/t</a:t>
            </a:r>
            <a:r>
              <a:rPr lang="el-GR" sz="1000" dirty="0" smtClean="0"/>
              <a:t>Σ</a:t>
            </a:r>
            <a:endParaRPr lang="en-US" sz="1000" dirty="0" smtClean="0"/>
          </a:p>
          <a:p>
            <a:pPr algn="ctr"/>
            <a:r>
              <a:rPr lang="en-US" sz="1000" dirty="0" smtClean="0"/>
              <a:t>Screen</a:t>
            </a:r>
            <a:endParaRPr 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6046613" y="266515"/>
            <a:ext cx="8162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Verification</a:t>
            </a:r>
            <a:endParaRPr lang="en-US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7061655" y="128389"/>
            <a:ext cx="503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Scale</a:t>
            </a:r>
          </a:p>
          <a:p>
            <a:pPr algn="ctr"/>
            <a:r>
              <a:rPr lang="en-US" sz="1000" dirty="0" smtClean="0"/>
              <a:t>up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7827085" y="266514"/>
            <a:ext cx="675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smtClean="0"/>
              <a:t>Filtration</a:t>
            </a:r>
            <a:endParaRPr lang="en-US" sz="1000" dirty="0"/>
          </a:p>
        </p:txBody>
      </p:sp>
      <p:sp>
        <p:nvSpPr>
          <p:cNvPr id="16" name="Oval 15"/>
          <p:cNvSpPr/>
          <p:nvPr/>
        </p:nvSpPr>
        <p:spPr>
          <a:xfrm>
            <a:off x="7255412" y="516664"/>
            <a:ext cx="218364" cy="22518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8131808" y="516663"/>
            <a:ext cx="218364" cy="22518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>
            <a:stCxn id="13" idx="6"/>
            <a:endCxn id="17" idx="2"/>
          </p:cNvCxnSpPr>
          <p:nvPr/>
        </p:nvCxnSpPr>
        <p:spPr>
          <a:xfrm>
            <a:off x="4770143" y="625330"/>
            <a:ext cx="3361665" cy="3927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551779" y="512736"/>
            <a:ext cx="218364" cy="225188"/>
          </a:xfrm>
          <a:prstGeom prst="ellipse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470744" y="512736"/>
            <a:ext cx="218364" cy="225188"/>
          </a:xfrm>
          <a:prstGeom prst="ellipse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347140" y="512735"/>
            <a:ext cx="218364" cy="225188"/>
          </a:xfrm>
          <a:prstGeom prst="ellipse">
            <a:avLst/>
          </a:prstGeom>
          <a:solidFill>
            <a:schemeClr val="accent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8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/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642332" y="641268"/>
                <a:ext cx="4228536" cy="3964185"/>
              </a:xfrm>
            </p:spPr>
            <p:txBody>
              <a:bodyPr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 smtClean="0"/>
                  <a:t>Integrated viable cell density (IVCD) calculated using VCD and culture time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/>
                      </a:rPr>
                      <m:t>𝑰𝑵𝑽𝑪𝑫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GB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𝒕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𝒕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𝑻𝑪𝑫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𝒅𝒕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nary>
                          <m:naryPr>
                            <m:limLoc m:val="undOvr"/>
                            <m:ctrlPr>
                              <a:rPr lang="en-GB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𝒕</m:t>
                            </m:r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𝒕</m:t>
                            </m:r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𝑽𝑪𝑫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.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𝒅𝒕</m:t>
                            </m:r>
                          </m:e>
                        </m:nary>
                      </m:e>
                    </m:nary>
                  </m:oMath>
                </a14:m>
                <a:endParaRPr lang="en-US" b="1" dirty="0" smtClean="0">
                  <a:solidFill>
                    <a:srgbClr val="FF00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INVCD can be used as a measure of particulates that are difficult to remove through centrifugation</a:t>
                </a:r>
              </a:p>
            </p:txBody>
          </p:sp>
        </mc:Choice>
        <mc:Fallback xmlns="">
          <p:sp>
            <p:nvSpPr>
              <p:cNvPr id="2" name="Tex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642332" y="641268"/>
                <a:ext cx="4228536" cy="3964185"/>
              </a:xfrm>
              <a:blipFill rotWithShape="1">
                <a:blip r:embed="rId2"/>
                <a:stretch>
                  <a:fillRect l="-1010" r="-1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Integrated Non Viable Cell Density (INVCD)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18</a:t>
            </a:fld>
            <a:endParaRPr lang="en-GB" dirty="0"/>
          </a:p>
        </p:txBody>
      </p:sp>
      <p:pic>
        <p:nvPicPr>
          <p:cNvPr id="2052" name="Picture 4"/>
          <p:cNvPicPr>
            <a:picLocks noGrp="1" noChangeAspect="1" noChangeArrowheads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5590"/>
            <a:ext cx="4714391" cy="3093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664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4653395" y="1077965"/>
            <a:ext cx="4193721" cy="3293316"/>
          </a:xfrm>
        </p:spPr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3L Bioreactors used to generate material for experiments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Material passed through the CSD and lab-scale centrifuge to mimic LAPX-404 platform operating conditions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000000"/>
                </a:solidFill>
              </a:rPr>
              <a:t>USD approach provided </a:t>
            </a:r>
            <a:r>
              <a:rPr lang="en-GB" dirty="0">
                <a:solidFill>
                  <a:srgbClr val="000000"/>
                </a:solidFill>
              </a:rPr>
              <a:t>predictive capability </a:t>
            </a:r>
            <a:r>
              <a:rPr lang="en-GB" dirty="0" smtClean="0">
                <a:solidFill>
                  <a:srgbClr val="000000"/>
                </a:solidFill>
              </a:rPr>
              <a:t>for </a:t>
            </a:r>
            <a:r>
              <a:rPr lang="en-GB" dirty="0">
                <a:solidFill>
                  <a:srgbClr val="000000"/>
                </a:solidFill>
              </a:rPr>
              <a:t>pilot </a:t>
            </a:r>
            <a:r>
              <a:rPr lang="en-GB" dirty="0" smtClean="0">
                <a:solidFill>
                  <a:srgbClr val="000000"/>
                </a:solidFill>
              </a:rPr>
              <a:t>scale performance</a:t>
            </a: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USD Centrifugation Predictive Data: Project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19</a:t>
            </a:fld>
            <a:endParaRPr lang="en-GB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8" y="1158114"/>
            <a:ext cx="4629016" cy="3037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155371" y="3179009"/>
            <a:ext cx="2179123" cy="52322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  <a:sym typeface="Wingdings 2"/>
              </a:rPr>
              <a:t> </a:t>
            </a:r>
            <a:r>
              <a:rPr lang="en-US" sz="1400" dirty="0" smtClean="0"/>
              <a:t>LAPX-404 Centrate</a:t>
            </a:r>
          </a:p>
          <a:p>
            <a:r>
              <a:rPr lang="en-GB" sz="1400" dirty="0">
                <a:sym typeface="Wingdings 2"/>
              </a:rPr>
              <a:t></a:t>
            </a:r>
            <a:r>
              <a:rPr lang="en-US" sz="1400" dirty="0" smtClean="0">
                <a:sym typeface="Wingdings 2"/>
              </a:rPr>
              <a:t> </a:t>
            </a:r>
            <a:r>
              <a:rPr lang="en-US" sz="1400" dirty="0" smtClean="0"/>
              <a:t>3L Model Centrate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62069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4680000" y="1015003"/>
            <a:ext cx="4086000" cy="3295739"/>
          </a:xfrm>
        </p:spPr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INVCD used to predict performance of Project B with modelling data providing a strong fit (</a:t>
            </a:r>
            <a:r>
              <a:rPr lang="en-US" i="1" dirty="0" smtClean="0">
                <a:solidFill>
                  <a:srgbClr val="FF0000"/>
                </a:solidFill>
              </a:rPr>
              <a:t>R</a:t>
            </a:r>
            <a:r>
              <a:rPr lang="en-US" i="1" baseline="30000" dirty="0" smtClean="0">
                <a:solidFill>
                  <a:srgbClr val="FF0000"/>
                </a:solidFill>
              </a:rPr>
              <a:t>2</a:t>
            </a:r>
            <a:r>
              <a:rPr lang="en-US" i="1" dirty="0" smtClean="0">
                <a:solidFill>
                  <a:srgbClr val="FF0000"/>
                </a:solidFill>
              </a:rPr>
              <a:t>=0.98</a:t>
            </a:r>
            <a:r>
              <a:rPr lang="en-US" dirty="0" smtClean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Strong predictive capabilities using this method.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USD Centrifugation Predictive </a:t>
            </a:r>
            <a:r>
              <a:rPr lang="en-US" dirty="0" smtClean="0"/>
              <a:t>Data: Project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20</a:t>
            </a:fld>
            <a:endParaRPr lang="en-GB"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9334106"/>
              </p:ext>
            </p:extLst>
          </p:nvPr>
        </p:nvGraphicFramePr>
        <p:xfrm>
          <a:off x="108000" y="800101"/>
          <a:ext cx="4311600" cy="4185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/>
          <p:cNvSpPr/>
          <p:nvPr/>
        </p:nvSpPr>
        <p:spPr>
          <a:xfrm>
            <a:off x="1549729" y="3440619"/>
            <a:ext cx="2179123" cy="52322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 2"/>
              <a:buChar char="¢"/>
            </a:pPr>
            <a:r>
              <a:rPr lang="en-US" sz="1400" dirty="0" smtClean="0"/>
              <a:t>LAPX-404 Centrate</a:t>
            </a:r>
          </a:p>
          <a:p>
            <a:r>
              <a:rPr lang="en-US" sz="1400" dirty="0">
                <a:sym typeface="Wingdings 2"/>
              </a:rPr>
              <a:t> </a:t>
            </a:r>
            <a:r>
              <a:rPr lang="en-US" sz="1400" dirty="0" smtClean="0"/>
              <a:t>3L Model Centrate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8442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 USD Centrifugation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37599" y="1237974"/>
            <a:ext cx="7268101" cy="3429276"/>
          </a:xfrm>
        </p:spPr>
        <p:txBody>
          <a:bodyPr/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 smtClean="0"/>
              <a:t>Paper accepted by </a:t>
            </a:r>
            <a:r>
              <a:rPr lang="en-US" altLang="en-US" b="1" i="1" dirty="0" smtClean="0">
                <a:solidFill>
                  <a:srgbClr val="FF0000"/>
                </a:solidFill>
              </a:rPr>
              <a:t>Journal of Biotechnology &amp; Bioengineering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 smtClean="0"/>
              <a:t>The </a:t>
            </a:r>
            <a:r>
              <a:rPr lang="en-US" altLang="en-US" dirty="0"/>
              <a:t>scale-down model </a:t>
            </a:r>
            <a:r>
              <a:rPr lang="en-US" altLang="en-US" dirty="0" smtClean="0"/>
              <a:t>generated comparable material on multiple occasions:</a:t>
            </a:r>
            <a:endParaRPr lang="en-US" altLang="en-US" dirty="0"/>
          </a:p>
          <a:p>
            <a:pPr marL="514350" lvl="1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ym typeface="Wingdings" pitchFamily="2" charset="2"/>
              </a:rPr>
              <a:t>Confirmed similar shear rate by matching </a:t>
            </a:r>
            <a:r>
              <a:rPr lang="en-US" altLang="en-US" sz="1400" dirty="0" smtClean="0">
                <a:sym typeface="Wingdings" pitchFamily="2" charset="2"/>
              </a:rPr>
              <a:t>increase </a:t>
            </a:r>
            <a:r>
              <a:rPr lang="en-US" altLang="en-US" sz="1400" dirty="0">
                <a:sym typeface="Wingdings" pitchFamily="2" charset="2"/>
              </a:rPr>
              <a:t>in LDH</a:t>
            </a:r>
          </a:p>
          <a:p>
            <a:pPr marL="514350" lvl="1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ym typeface="Wingdings" pitchFamily="2" charset="2"/>
              </a:rPr>
              <a:t>Settling characteristics confirmed by turbidity</a:t>
            </a:r>
          </a:p>
          <a:p>
            <a:pPr marL="514350" lvl="1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ym typeface="Wingdings" pitchFamily="2" charset="2"/>
              </a:rPr>
              <a:t>Particle size distribution </a:t>
            </a:r>
            <a:r>
              <a:rPr lang="en-US" altLang="en-US" sz="1400" dirty="0" smtClean="0">
                <a:sym typeface="Wingdings" pitchFamily="2" charset="2"/>
              </a:rPr>
              <a:t>profiles are similar</a:t>
            </a:r>
            <a:endParaRPr lang="en-US" altLang="en-US" sz="1400" dirty="0">
              <a:sym typeface="Wingdings" pitchFamily="2" charset="2"/>
            </a:endParaRPr>
          </a:p>
          <a:p>
            <a:pPr marL="514350" lvl="1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400" dirty="0" smtClean="0">
                <a:sym typeface="Wingdings" pitchFamily="2" charset="2"/>
              </a:rPr>
              <a:t>Matching filtration </a:t>
            </a:r>
            <a:r>
              <a:rPr lang="en-US" altLang="en-US" sz="1400" dirty="0">
                <a:sym typeface="Wingdings" pitchFamily="2" charset="2"/>
              </a:rPr>
              <a:t>pressure and turbidity profiles</a:t>
            </a:r>
            <a:endParaRPr lang="en-GB" sz="1400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Significant savings in M</a:t>
            </a:r>
            <a:r>
              <a:rPr lang="en-US" altLang="en-US" dirty="0" smtClean="0"/>
              <a:t>aterial, Cost &amp; Time: 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b="1" i="1" dirty="0" smtClean="0">
                <a:solidFill>
                  <a:srgbClr val="FF0000"/>
                </a:solidFill>
              </a:rPr>
              <a:t>50L</a:t>
            </a:r>
            <a:r>
              <a:rPr lang="en-US" altLang="en-US" dirty="0" smtClean="0">
                <a:solidFill>
                  <a:srgbClr val="FF0000"/>
                </a:solidFill>
              </a:rPr>
              <a:t> Stainless Steel → </a:t>
            </a:r>
            <a:r>
              <a:rPr lang="en-US" altLang="en-US" b="1" i="1" dirty="0" smtClean="0">
                <a:solidFill>
                  <a:srgbClr val="FF0000"/>
                </a:solidFill>
              </a:rPr>
              <a:t>3L</a:t>
            </a:r>
            <a:r>
              <a:rPr lang="en-US" altLang="en-US" dirty="0" smtClean="0">
                <a:solidFill>
                  <a:srgbClr val="FF0000"/>
                </a:solidFill>
              </a:rPr>
              <a:t> Bench Reactor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 smtClean="0"/>
              <a:t>Allows for centrifuge characterization at an earlier stage of process development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 smtClean="0"/>
              <a:t>Plan </a:t>
            </a:r>
            <a:r>
              <a:rPr lang="en-US" altLang="en-US" dirty="0"/>
              <a:t>to extend work to include samples from </a:t>
            </a:r>
            <a:r>
              <a:rPr lang="en-US" altLang="en-US" dirty="0" smtClean="0"/>
              <a:t>a commercial scale centrifuge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1265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Depth Filtration Development Strategy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24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37600" y="959198"/>
            <a:ext cx="5901943" cy="372431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smtClean="0"/>
              <a:t>Depth filters are used in combination with a disk-stack centrifuge or as a train.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US" altLang="en-US" dirty="0" smtClean="0"/>
              <a:t>Characterization requires large </a:t>
            </a:r>
            <a:r>
              <a:rPr lang="en-US" altLang="en-US" dirty="0"/>
              <a:t>material &amp; resource requirement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US" altLang="en-US" dirty="0" smtClean="0"/>
              <a:t>Sizing only conducted for worse case material</a:t>
            </a: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srgbClr val="000000"/>
                </a:solidFill>
              </a:rPr>
              <a:t>Development of more efficient method for filter sizing</a:t>
            </a:r>
            <a:endParaRPr lang="en-US" alt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Two main modes of filtration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>
                <a:solidFill>
                  <a:srgbClr val="FF0000"/>
                </a:solidFill>
              </a:rPr>
              <a:t>Constant </a:t>
            </a:r>
            <a:r>
              <a:rPr lang="en-GB" i="1" dirty="0" smtClean="0">
                <a:solidFill>
                  <a:srgbClr val="FF0000"/>
                </a:solidFill>
              </a:rPr>
              <a:t>Flow					Constant Pressure</a:t>
            </a:r>
            <a:endParaRPr lang="en-GB" i="1" dirty="0">
              <a:solidFill>
                <a:srgbClr val="FF0000"/>
              </a:solidFill>
            </a:endParaRP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GB" dirty="0" smtClean="0"/>
              <a:t>Experimentally determined capacity			Theoretically </a:t>
            </a:r>
            <a:r>
              <a:rPr lang="en-GB" dirty="0"/>
              <a:t>determined </a:t>
            </a:r>
            <a:r>
              <a:rPr lang="en-GB" dirty="0" smtClean="0"/>
              <a:t>capacity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GB" dirty="0" smtClean="0"/>
              <a:t>Used </a:t>
            </a:r>
            <a:r>
              <a:rPr lang="en-GB" dirty="0"/>
              <a:t>to size depth filters </a:t>
            </a:r>
            <a:r>
              <a:rPr lang="en-GB" dirty="0" smtClean="0"/>
              <a:t>					</a:t>
            </a:r>
            <a:r>
              <a:rPr lang="en-GB" dirty="0"/>
              <a:t>Used to size Sterile </a:t>
            </a:r>
            <a:r>
              <a:rPr lang="en-GB" dirty="0" smtClean="0"/>
              <a:t>Filters</a:t>
            </a:r>
            <a:endParaRPr lang="en-GB" dirty="0"/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GB" dirty="0"/>
              <a:t>Requires large pools of material (1.5 L</a:t>
            </a:r>
            <a:r>
              <a:rPr lang="en-GB" dirty="0" smtClean="0"/>
              <a:t>)		</a:t>
            </a:r>
            <a:r>
              <a:rPr lang="en-GB" dirty="0"/>
              <a:t>Requires small pool of </a:t>
            </a:r>
            <a:r>
              <a:rPr lang="en-GB" dirty="0" smtClean="0"/>
              <a:t>material</a:t>
            </a:r>
            <a:endParaRPr lang="en-GB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srgbClr val="FF0000"/>
                </a:solidFill>
              </a:rPr>
              <a:t>Developed </a:t>
            </a:r>
            <a:r>
              <a:rPr lang="en-US" altLang="en-US" dirty="0">
                <a:solidFill>
                  <a:srgbClr val="FF0000"/>
                </a:solidFill>
              </a:rPr>
              <a:t>m</a:t>
            </a:r>
            <a:r>
              <a:rPr lang="en-US" altLang="en-US" dirty="0" smtClean="0">
                <a:solidFill>
                  <a:srgbClr val="FF0000"/>
                </a:solidFill>
              </a:rPr>
              <a:t>ethod benefits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srgbClr val="FF0000"/>
                </a:solidFill>
              </a:rPr>
              <a:t>Material &amp; time reduction for characterization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srgbClr val="FF0000"/>
                </a:solidFill>
              </a:rPr>
              <a:t>Wider range of materials tested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smtClean="0"/>
              <a:t>Established predictive models for D0HC and X0HC filters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23</a:t>
            </a:fld>
            <a:endParaRPr lang="en-GB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309" y="334605"/>
            <a:ext cx="2034258" cy="1648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903" y="2298378"/>
            <a:ext cx="1987070" cy="2344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753180" y="1959824"/>
            <a:ext cx="15985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 smtClean="0"/>
              <a:t>Constant Flow</a:t>
            </a:r>
            <a:endParaRPr lang="en-US" sz="1600" b="1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6548796" y="4573609"/>
            <a:ext cx="20072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 smtClean="0"/>
              <a:t>Constant Pressure</a:t>
            </a:r>
            <a:endParaRPr 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122036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Constant Flow </a:t>
            </a:r>
            <a:r>
              <a:rPr lang="en-US" dirty="0"/>
              <a:t>	</a:t>
            </a:r>
            <a:r>
              <a:rPr lang="en-US" dirty="0" smtClean="0"/>
              <a:t>						Constant Pressure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24</a:t>
            </a:fld>
            <a:endParaRPr lang="en-GB" dirty="0"/>
          </a:p>
        </p:txBody>
      </p:sp>
      <p:grpSp>
        <p:nvGrpSpPr>
          <p:cNvPr id="12" name="Group 11"/>
          <p:cNvGrpSpPr/>
          <p:nvPr/>
        </p:nvGrpSpPr>
        <p:grpSpPr>
          <a:xfrm>
            <a:off x="0" y="624245"/>
            <a:ext cx="9121756" cy="3935880"/>
            <a:chOff x="22243" y="1700809"/>
            <a:chExt cx="9121756" cy="3273876"/>
          </a:xfrm>
        </p:grpSpPr>
        <p:pic>
          <p:nvPicPr>
            <p:cNvPr id="13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03" t="10720" r="53000" b="6597"/>
            <a:stretch/>
          </p:blipFill>
          <p:spPr bwMode="auto">
            <a:xfrm rot="5400000">
              <a:off x="5269203" y="1099888"/>
              <a:ext cx="3273876" cy="44757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99" t="11445" r="54505" b="6735"/>
            <a:stretch/>
          </p:blipFill>
          <p:spPr bwMode="auto">
            <a:xfrm rot="5400000">
              <a:off x="708896" y="1049191"/>
              <a:ext cx="3222767" cy="45960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TextBox 4"/>
          <p:cNvSpPr txBox="1"/>
          <p:nvPr/>
        </p:nvSpPr>
        <p:spPr>
          <a:xfrm>
            <a:off x="344387" y="700648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A</a:t>
            </a:r>
            <a:endParaRPr lang="en-US" sz="2000" b="1" dirty="0"/>
          </a:p>
        </p:txBody>
      </p:sp>
      <p:sp>
        <p:nvSpPr>
          <p:cNvPr id="6" name="Rectangle 5"/>
          <p:cNvSpPr/>
          <p:nvPr/>
        </p:nvSpPr>
        <p:spPr>
          <a:xfrm>
            <a:off x="5138997" y="700648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B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314995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D0HC Prediction Strategy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25</a:t>
            </a:fld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4"/>
          <a:stretch/>
        </p:blipFill>
        <p:spPr bwMode="auto">
          <a:xfrm>
            <a:off x="342901" y="655759"/>
            <a:ext cx="8315172" cy="4100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814285" y="3935591"/>
                <a:ext cx="1052403" cy="3942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𝑪𝑭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𝒄𝒂𝒑</m:t>
                          </m:r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285" y="3935591"/>
                <a:ext cx="1052403" cy="394210"/>
              </a:xfrm>
              <a:prstGeom prst="rect">
                <a:avLst/>
              </a:prstGeom>
              <a:blipFill rotWithShape="1">
                <a:blip r:embed="rId4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981798" y="1498957"/>
                <a:ext cx="728597" cy="3942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𝑲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𝒔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798" y="1498957"/>
                <a:ext cx="728597" cy="394210"/>
              </a:xfrm>
              <a:prstGeom prst="rect">
                <a:avLst/>
              </a:prstGeom>
              <a:blipFill rotWithShape="1">
                <a:blip r:embed="rId7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305424" y="944122"/>
                <a:ext cx="3514725" cy="1300549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>
                    <a:latin typeface="Arial" pitchFamily="34" charset="0"/>
                    <a:cs typeface="Arial" pitchFamily="34" charset="0"/>
                  </a:rPr>
                  <a:t>Requirements of good correlation </a:t>
                </a:r>
                <a:r>
                  <a:rPr lang="en-US" sz="1600" dirty="0">
                    <a:latin typeface="Arial" pitchFamily="34" charset="0"/>
                    <a:cs typeface="Arial" pitchFamily="34" charset="0"/>
                  </a:rPr>
                  <a:t>between CF</a:t>
                </a:r>
                <a:r>
                  <a:rPr lang="en-US" sz="1600" baseline="-25000" dirty="0">
                    <a:latin typeface="Arial" pitchFamily="34" charset="0"/>
                    <a:cs typeface="Arial" pitchFamily="34" charset="0"/>
                  </a:rPr>
                  <a:t>cap</a:t>
                </a:r>
                <a:r>
                  <a:rPr lang="en-US" sz="1600" dirty="0">
                    <a:latin typeface="Arial" pitchFamily="34" charset="0"/>
                    <a:cs typeface="Arial" pitchFamily="34" charset="0"/>
                  </a:rPr>
                  <a:t> and </a:t>
                </a:r>
                <a:r>
                  <a:rPr lang="en-US" sz="1600" dirty="0" smtClean="0">
                    <a:latin typeface="Arial" pitchFamily="34" charset="0"/>
                    <a:cs typeface="Arial" pitchFamily="34" charset="0"/>
                  </a:rPr>
                  <a:t>K</a:t>
                </a:r>
                <a:r>
                  <a:rPr lang="en-US" sz="1600" baseline="-25000" dirty="0" smtClean="0">
                    <a:latin typeface="Arial" pitchFamily="34" charset="0"/>
                    <a:cs typeface="Arial" pitchFamily="34" charset="0"/>
                  </a:rPr>
                  <a:t>s</a:t>
                </a:r>
                <a:endParaRPr lang="en-US" sz="1600" baseline="-25000" dirty="0">
                  <a:latin typeface="Arial" pitchFamily="34" charset="0"/>
                  <a:cs typeface="Arial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>
                    <a:latin typeface="Arial" pitchFamily="34" charset="0"/>
                    <a:cs typeface="Arial" pitchFamily="34" charset="0"/>
                  </a:rPr>
                  <a:t>Also accurate quantification of K</a:t>
                </a:r>
                <a:r>
                  <a:rPr lang="en-US" sz="1600" baseline="-25000" dirty="0" smtClean="0">
                    <a:latin typeface="Arial" pitchFamily="34" charset="0"/>
                    <a:cs typeface="Arial" pitchFamily="34" charset="0"/>
                  </a:rPr>
                  <a:t>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𝑪𝑭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𝒄𝒂𝒑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sub>
                      </m:sSub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∝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𝑲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𝒔</m:t>
                          </m:r>
                          <m:r>
                            <a:rPr lang="en-US" sz="2800" b="1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28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424" y="944122"/>
                <a:ext cx="3514725" cy="1300549"/>
              </a:xfrm>
              <a:prstGeom prst="rect">
                <a:avLst/>
              </a:prstGeom>
              <a:blipFill rotWithShape="1">
                <a:blip r:embed="rId8"/>
                <a:stretch>
                  <a:fillRect l="-172" t="-461" r="-1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900362" y="1941498"/>
            <a:ext cx="403451" cy="2021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440509" y="3733476"/>
            <a:ext cx="403451" cy="2021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39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Fouling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26</a:t>
            </a:fld>
            <a:endParaRPr lang="en-GB" dirty="0"/>
          </a:p>
        </p:txBody>
      </p:sp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0724846"/>
              </p:ext>
            </p:extLst>
          </p:nvPr>
        </p:nvGraphicFramePr>
        <p:xfrm>
          <a:off x="3136278" y="215011"/>
          <a:ext cx="2591963" cy="23167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0892375"/>
              </p:ext>
            </p:extLst>
          </p:nvPr>
        </p:nvGraphicFramePr>
        <p:xfrm>
          <a:off x="5760290" y="224537"/>
          <a:ext cx="2591963" cy="23167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3031409"/>
              </p:ext>
            </p:extLst>
          </p:nvPr>
        </p:nvGraphicFramePr>
        <p:xfrm>
          <a:off x="3136277" y="2624828"/>
          <a:ext cx="2591963" cy="23167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6875106"/>
              </p:ext>
            </p:extLst>
          </p:nvPr>
        </p:nvGraphicFramePr>
        <p:xfrm>
          <a:off x="5760289" y="2634354"/>
          <a:ext cx="2591963" cy="23167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3746810" y="838200"/>
            <a:ext cx="1694985" cy="957146"/>
            <a:chOff x="3746810" y="838200"/>
            <a:chExt cx="1694985" cy="957146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3746810" y="1014761"/>
              <a:ext cx="1694985" cy="780585"/>
            </a:xfrm>
            <a:prstGeom prst="line">
              <a:avLst/>
            </a:prstGeom>
            <a:ln w="381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746810" y="925551"/>
              <a:ext cx="1694985" cy="479502"/>
            </a:xfrm>
            <a:prstGeom prst="line">
              <a:avLst/>
            </a:prstGeom>
            <a:ln w="38100">
              <a:solidFill>
                <a:srgbClr val="00B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746810" y="838200"/>
              <a:ext cx="1694985" cy="17656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 flipV="1">
            <a:off x="6374780" y="814039"/>
            <a:ext cx="1694985" cy="957146"/>
            <a:chOff x="3746810" y="838200"/>
            <a:chExt cx="1694985" cy="957146"/>
          </a:xfrm>
        </p:grpSpPr>
        <p:cxnSp>
          <p:nvCxnSpPr>
            <p:cNvPr id="29" name="Straight Connector 28"/>
            <p:cNvCxnSpPr/>
            <p:nvPr/>
          </p:nvCxnSpPr>
          <p:spPr>
            <a:xfrm>
              <a:off x="3746810" y="1014761"/>
              <a:ext cx="1694985" cy="780585"/>
            </a:xfrm>
            <a:prstGeom prst="line">
              <a:avLst/>
            </a:prstGeom>
            <a:ln w="381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746810" y="925551"/>
              <a:ext cx="1694985" cy="479502"/>
            </a:xfrm>
            <a:prstGeom prst="line">
              <a:avLst/>
            </a:prstGeom>
            <a:ln w="38100">
              <a:solidFill>
                <a:srgbClr val="00B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3746810" y="838200"/>
              <a:ext cx="1694985" cy="17656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 flipV="1">
            <a:off x="3746810" y="3263588"/>
            <a:ext cx="1694985" cy="957146"/>
            <a:chOff x="3746810" y="838200"/>
            <a:chExt cx="1694985" cy="957146"/>
          </a:xfrm>
        </p:grpSpPr>
        <p:cxnSp>
          <p:nvCxnSpPr>
            <p:cNvPr id="37" name="Straight Connector 36"/>
            <p:cNvCxnSpPr/>
            <p:nvPr/>
          </p:nvCxnSpPr>
          <p:spPr>
            <a:xfrm>
              <a:off x="3746810" y="1014761"/>
              <a:ext cx="1694985" cy="780585"/>
            </a:xfrm>
            <a:prstGeom prst="line">
              <a:avLst/>
            </a:prstGeom>
            <a:ln w="381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746810" y="925551"/>
              <a:ext cx="1694985" cy="479502"/>
            </a:xfrm>
            <a:prstGeom prst="line">
              <a:avLst/>
            </a:prstGeom>
            <a:ln w="38100">
              <a:solidFill>
                <a:srgbClr val="00B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746810" y="838200"/>
              <a:ext cx="1694985" cy="17656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 flipV="1">
            <a:off x="6382217" y="3185488"/>
            <a:ext cx="1694985" cy="957146"/>
            <a:chOff x="3746810" y="838200"/>
            <a:chExt cx="1694985" cy="957146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3746810" y="1014761"/>
              <a:ext cx="1694985" cy="780585"/>
            </a:xfrm>
            <a:prstGeom prst="line">
              <a:avLst/>
            </a:prstGeom>
            <a:ln w="381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3746810" y="925551"/>
              <a:ext cx="1694985" cy="479502"/>
            </a:xfrm>
            <a:prstGeom prst="line">
              <a:avLst/>
            </a:prstGeom>
            <a:ln w="38100">
              <a:solidFill>
                <a:srgbClr val="00B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3746810" y="838200"/>
              <a:ext cx="1694985" cy="17656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Content Placeholder 4"/>
          <p:cNvSpPr>
            <a:spLocks noGrp="1"/>
          </p:cNvSpPr>
          <p:nvPr>
            <p:ph idx="16"/>
          </p:nvPr>
        </p:nvSpPr>
        <p:spPr>
          <a:xfrm>
            <a:off x="237600" y="814039"/>
            <a:ext cx="2661717" cy="3646449"/>
          </a:xfrm>
        </p:spPr>
        <p:txBody>
          <a:bodyPr anchor="ctr"/>
          <a:lstStyle/>
          <a:p>
            <a:r>
              <a:rPr lang="en-US" dirty="0" smtClean="0"/>
              <a:t>Constant pressure experiments data analyzed to identify best model by linearity (R</a:t>
            </a:r>
            <a:r>
              <a:rPr lang="en-US" baseline="30000" dirty="0" smtClean="0"/>
              <a:t>2</a:t>
            </a:r>
            <a:r>
              <a:rPr lang="en-US" dirty="0" smtClean="0"/>
              <a:t>)</a:t>
            </a:r>
          </a:p>
          <a:p>
            <a:r>
              <a:rPr lang="en-US" dirty="0" smtClean="0"/>
              <a:t>Data analyzed to quantify gradient for each data set (K</a:t>
            </a:r>
            <a:r>
              <a:rPr lang="en-US" baseline="-25000" dirty="0"/>
              <a:t>i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4034693" y="202235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 smtClean="0"/>
              <a:t>Complete</a:t>
            </a:r>
            <a:endParaRPr lang="en-US" sz="1600" b="1" i="1" dirty="0"/>
          </a:p>
        </p:txBody>
      </p:sp>
      <p:sp>
        <p:nvSpPr>
          <p:cNvPr id="47" name="TextBox 46"/>
          <p:cNvSpPr txBox="1"/>
          <p:nvPr/>
        </p:nvSpPr>
        <p:spPr>
          <a:xfrm>
            <a:off x="6892918" y="224537"/>
            <a:ext cx="673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 smtClean="0"/>
              <a:t>Cake</a:t>
            </a:r>
            <a:endParaRPr lang="en-US" sz="1600" b="1" i="1" dirty="0"/>
          </a:p>
        </p:txBody>
      </p:sp>
      <p:sp>
        <p:nvSpPr>
          <p:cNvPr id="48" name="TextBox 47"/>
          <p:cNvSpPr txBox="1"/>
          <p:nvPr/>
        </p:nvSpPr>
        <p:spPr>
          <a:xfrm>
            <a:off x="4034692" y="2466261"/>
            <a:ext cx="14061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 smtClean="0"/>
              <a:t>Intermediate</a:t>
            </a:r>
            <a:endParaRPr lang="en-US" sz="1600" b="1" i="1" dirty="0"/>
          </a:p>
        </p:txBody>
      </p:sp>
      <p:sp>
        <p:nvSpPr>
          <p:cNvPr id="49" name="TextBox 48"/>
          <p:cNvSpPr txBox="1"/>
          <p:nvPr/>
        </p:nvSpPr>
        <p:spPr>
          <a:xfrm>
            <a:off x="6892917" y="2488563"/>
            <a:ext cx="10727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 smtClean="0"/>
              <a:t>Standard</a:t>
            </a:r>
            <a:endParaRPr lang="en-US" sz="1600" b="1" i="1" dirty="0"/>
          </a:p>
        </p:txBody>
      </p:sp>
      <p:sp>
        <p:nvSpPr>
          <p:cNvPr id="50" name="TextBox 49"/>
          <p:cNvSpPr txBox="1"/>
          <p:nvPr/>
        </p:nvSpPr>
        <p:spPr>
          <a:xfrm>
            <a:off x="5179381" y="737761"/>
            <a:ext cx="623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 smtClean="0">
                <a:solidFill>
                  <a:srgbClr val="FF0000"/>
                </a:solidFill>
              </a:rPr>
              <a:t>K</a:t>
            </a:r>
            <a:r>
              <a:rPr lang="en-US" sz="1200" b="1" i="1" baseline="-25000" dirty="0" smtClean="0">
                <a:solidFill>
                  <a:srgbClr val="FF0000"/>
                </a:solidFill>
              </a:rPr>
              <a:t>1</a:t>
            </a:r>
            <a:r>
              <a:rPr lang="en-US" sz="1200" b="1" i="1" dirty="0" smtClean="0">
                <a:solidFill>
                  <a:srgbClr val="FF0000"/>
                </a:solidFill>
              </a:rPr>
              <a:t>(R</a:t>
            </a:r>
            <a:r>
              <a:rPr lang="en-US" sz="1200" b="1" i="1" baseline="30000" dirty="0" smtClean="0">
                <a:solidFill>
                  <a:srgbClr val="FF0000"/>
                </a:solidFill>
              </a:rPr>
              <a:t>2</a:t>
            </a:r>
            <a:r>
              <a:rPr lang="en-US" sz="1200" b="1" i="1" dirty="0" smtClean="0">
                <a:solidFill>
                  <a:srgbClr val="FF0000"/>
                </a:solidFill>
              </a:rPr>
              <a:t>)</a:t>
            </a:r>
            <a:endParaRPr lang="en-US" sz="1200" b="1" i="1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189281" y="1127661"/>
            <a:ext cx="623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 smtClean="0">
                <a:solidFill>
                  <a:srgbClr val="00B050"/>
                </a:solidFill>
              </a:rPr>
              <a:t>K</a:t>
            </a:r>
            <a:r>
              <a:rPr lang="en-US" sz="1200" b="1" i="1" baseline="-25000" dirty="0">
                <a:solidFill>
                  <a:srgbClr val="00B050"/>
                </a:solidFill>
              </a:rPr>
              <a:t>2</a:t>
            </a:r>
            <a:r>
              <a:rPr lang="en-US" sz="1200" b="1" i="1" dirty="0" smtClean="0">
                <a:solidFill>
                  <a:srgbClr val="00B050"/>
                </a:solidFill>
              </a:rPr>
              <a:t>(R</a:t>
            </a:r>
            <a:r>
              <a:rPr lang="en-US" sz="1200" b="1" i="1" baseline="30000" dirty="0" smtClean="0">
                <a:solidFill>
                  <a:srgbClr val="00B050"/>
                </a:solidFill>
              </a:rPr>
              <a:t>2</a:t>
            </a:r>
            <a:r>
              <a:rPr lang="en-US" sz="1200" b="1" i="1" dirty="0" smtClean="0">
                <a:solidFill>
                  <a:srgbClr val="00B050"/>
                </a:solidFill>
              </a:rPr>
              <a:t>)</a:t>
            </a:r>
            <a:endParaRPr lang="en-US" sz="1200" b="1" i="1" dirty="0">
              <a:solidFill>
                <a:srgbClr val="00B05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77406" y="1495786"/>
            <a:ext cx="623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 smtClean="0">
                <a:solidFill>
                  <a:srgbClr val="002F5F"/>
                </a:solidFill>
              </a:rPr>
              <a:t>K</a:t>
            </a:r>
            <a:r>
              <a:rPr lang="en-US" sz="1200" b="1" i="1" baseline="-25000" dirty="0">
                <a:solidFill>
                  <a:srgbClr val="002F5F"/>
                </a:solidFill>
              </a:rPr>
              <a:t>3</a:t>
            </a:r>
            <a:r>
              <a:rPr lang="en-US" sz="1200" b="1" i="1" dirty="0" smtClean="0">
                <a:solidFill>
                  <a:srgbClr val="002F5F"/>
                </a:solidFill>
              </a:rPr>
              <a:t>(R</a:t>
            </a:r>
            <a:r>
              <a:rPr lang="en-US" sz="1200" b="1" i="1" baseline="30000" dirty="0" smtClean="0">
                <a:solidFill>
                  <a:srgbClr val="002F5F"/>
                </a:solidFill>
              </a:rPr>
              <a:t>2</a:t>
            </a:r>
            <a:r>
              <a:rPr lang="en-US" sz="1200" b="1" i="1" dirty="0" smtClean="0">
                <a:solidFill>
                  <a:srgbClr val="002F5F"/>
                </a:solidFill>
              </a:rPr>
              <a:t>)</a:t>
            </a:r>
            <a:endParaRPr lang="en-US" sz="1200" b="1" i="1" dirty="0">
              <a:solidFill>
                <a:srgbClr val="002F5F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4355" y="4823650"/>
            <a:ext cx="725284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Scaling and Particulate Fouling in Membrane Filtration </a:t>
            </a:r>
            <a:r>
              <a:rPr lang="en-US" sz="1200" dirty="0" smtClean="0"/>
              <a:t>Systems </a:t>
            </a:r>
            <a:r>
              <a:rPr lang="en-US" sz="1200" i="1" dirty="0" smtClean="0">
                <a:hlinkClick r:id="rId6"/>
              </a:rPr>
              <a:t>Volume </a:t>
            </a:r>
            <a:r>
              <a:rPr lang="en-US" sz="1200" i="1" dirty="0">
                <a:hlinkClick r:id="rId6"/>
              </a:rPr>
              <a:t>26 of IHE </a:t>
            </a:r>
            <a:r>
              <a:rPr lang="en-US" sz="1200" i="1" dirty="0" smtClean="0">
                <a:hlinkClick r:id="rId6"/>
              </a:rPr>
              <a:t>Dissertation</a:t>
            </a:r>
            <a:r>
              <a:rPr lang="en-US" sz="1200" i="1" dirty="0" smtClean="0"/>
              <a:t> Page 123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90632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D0HC Constant Pressure Fitting Data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27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/>
              <p:cNvGraphicFramePr>
                <a:graphicFrameLocks noGrp="1"/>
              </p:cNvGraphicFramePr>
              <p:nvPr>
                <p:ph idx="16"/>
                <p:extLst>
                  <p:ext uri="{D42A27DB-BD31-4B8C-83A1-F6EECF244321}">
                    <p14:modId xmlns:p14="http://schemas.microsoft.com/office/powerpoint/2010/main" val="1599894676"/>
                  </p:ext>
                </p:extLst>
              </p:nvPr>
            </p:nvGraphicFramePr>
            <p:xfrm>
              <a:off x="238127" y="1235075"/>
              <a:ext cx="8671700" cy="302329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34340"/>
                    <a:gridCol w="1734340"/>
                    <a:gridCol w="1734340"/>
                    <a:gridCol w="1734340"/>
                    <a:gridCol w="173434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 smtClean="0"/>
                            <a:t>Blocking</a:t>
                          </a:r>
                          <a:endParaRPr lang="en-US" sz="2000" i="1" dirty="0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 smtClean="0"/>
                            <a:t>Complete</a:t>
                          </a:r>
                          <a:endParaRPr lang="en-US" sz="2000" i="1" dirty="0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 smtClean="0"/>
                            <a:t>Cake</a:t>
                          </a:r>
                          <a:endParaRPr lang="en-US" sz="2000" i="1" dirty="0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 smtClean="0"/>
                            <a:t>Intermediate</a:t>
                          </a:r>
                          <a:endParaRPr lang="en-US" sz="2000" i="1" dirty="0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 smtClean="0"/>
                            <a:t>Standard</a:t>
                          </a:r>
                          <a:endParaRPr lang="en-US" sz="2000" i="1" dirty="0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Figure</a:t>
                          </a:r>
                          <a:endParaRPr lang="en-US" sz="1600" dirty="0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 smtClean="0"/>
                        </a:p>
                        <a:p>
                          <a:pPr algn="ctr"/>
                          <a:endParaRPr lang="en-US" sz="1800" dirty="0" smtClean="0"/>
                        </a:p>
                        <a:p>
                          <a:pPr algn="ctr"/>
                          <a:endParaRPr lang="en-US" sz="1800" dirty="0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Model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𝑑𝑉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en-US" sz="1400" b="0" i="1" smtClean="0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𝐶𝑜𝑚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/>
                                    <a:ea typeface="Cambria Math"/>
                                  </a:rPr>
                                  <m:t>×</m:t>
                                </m:r>
                                <m:r>
                                  <a:rPr lang="en-US" sz="1400" b="0" i="1" smtClean="0">
                                    <a:latin typeface="Cambria Math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𝑉</m:t>
                                    </m:r>
                                  </m:den>
                                </m:f>
                                <m:r>
                                  <a:rPr lang="en-US" sz="1400" b="0" i="1" smtClean="0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/>
                                    <a:ea typeface="Cambria Math"/>
                                  </a:rPr>
                                  <m:t>×</m:t>
                                </m:r>
                                <m:r>
                                  <a:rPr lang="en-US" sz="1400" b="0" i="1" smtClean="0">
                                    <a:latin typeface="Cambria Math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𝑑𝑡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𝑑𝑉</m:t>
                                    </m:r>
                                  </m:den>
                                </m:f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/>
                                    <a:ea typeface="Cambria Math"/>
                                  </a:rPr>
                                  <m:t>×</m:t>
                                </m:r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3429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4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𝑉</m:t>
                                    </m:r>
                                  </m:den>
                                </m:f>
                                <m:r>
                                  <a:rPr lang="en-US" sz="1400" b="0" i="1" smtClean="0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𝑆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/>
                                    <a:ea typeface="Cambria Math"/>
                                  </a:rPr>
                                  <m:t>×</m:t>
                                </m:r>
                                <m:r>
                                  <a:rPr lang="en-US" sz="1400" b="0" i="1" smtClean="0">
                                    <a:latin typeface="Cambria Math"/>
                                    <a:ea typeface="Cambria Math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Fit</a:t>
                          </a:r>
                          <a:r>
                            <a:rPr lang="en-US" sz="1600" baseline="0" dirty="0" smtClean="0"/>
                            <a:t> to CP Data (R</a:t>
                          </a:r>
                          <a:r>
                            <a:rPr lang="en-US" sz="1600" baseline="30000" dirty="0" smtClean="0"/>
                            <a:t>2</a:t>
                          </a:r>
                          <a:r>
                            <a:rPr lang="en-US" sz="1600" baseline="0" dirty="0" smtClean="0"/>
                            <a:t>)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0.86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0.82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0.74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u="dbl" baseline="0" dirty="0" smtClean="0">
                              <a:solidFill>
                                <a:srgbClr val="FF0000"/>
                              </a:solidFill>
                            </a:rPr>
                            <a:t>0.99</a:t>
                          </a:r>
                          <a:endParaRPr lang="en-US" sz="2000" i="1" u="dbl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Fit</a:t>
                          </a:r>
                          <a:r>
                            <a:rPr lang="en-US" sz="1600" baseline="0" dirty="0" smtClean="0"/>
                            <a:t> to CF Predictions (R</a:t>
                          </a:r>
                          <a:r>
                            <a:rPr lang="en-US" sz="1600" baseline="30000" dirty="0" smtClean="0"/>
                            <a:t>2</a:t>
                          </a:r>
                          <a:r>
                            <a:rPr lang="en-US" sz="1600" baseline="0" dirty="0" smtClean="0"/>
                            <a:t>)</a:t>
                          </a:r>
                          <a:endParaRPr lang="en-US" sz="1600" dirty="0"/>
                        </a:p>
                      </a:txBody>
                      <a:tcPr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0.61</a:t>
                          </a:r>
                          <a:endParaRPr lang="en-US" sz="1600" dirty="0"/>
                        </a:p>
                      </a:txBody>
                      <a:tcPr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0.38</a:t>
                          </a:r>
                          <a:endParaRPr lang="en-US" sz="1600" dirty="0"/>
                        </a:p>
                      </a:txBody>
                      <a:tcPr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0.52</a:t>
                          </a:r>
                          <a:endParaRPr lang="en-US" sz="1600" dirty="0"/>
                        </a:p>
                      </a:txBody>
                      <a:tcPr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u="dbl" baseline="0" dirty="0" smtClean="0">
                              <a:solidFill>
                                <a:srgbClr val="FF0000"/>
                              </a:solidFill>
                            </a:rPr>
                            <a:t>0.92</a:t>
                          </a:r>
                          <a:endParaRPr lang="en-US" sz="2000" i="1" u="dbl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5"/>
              <p:cNvGraphicFramePr>
                <a:graphicFrameLocks noGrp="1"/>
              </p:cNvGraphicFramePr>
              <p:nvPr>
                <p:ph idx="16"/>
                <p:extLst>
                  <p:ext uri="{D42A27DB-BD31-4B8C-83A1-F6EECF244321}">
                    <p14:modId xmlns:p14="http://schemas.microsoft.com/office/powerpoint/2010/main" val="1599894676"/>
                  </p:ext>
                </p:extLst>
              </p:nvPr>
            </p:nvGraphicFramePr>
            <p:xfrm>
              <a:off x="238127" y="1235075"/>
              <a:ext cx="8671700" cy="302329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34340"/>
                    <a:gridCol w="1734340"/>
                    <a:gridCol w="1734340"/>
                    <a:gridCol w="1734340"/>
                    <a:gridCol w="1734340"/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 smtClean="0"/>
                            <a:t>Blocking</a:t>
                          </a:r>
                          <a:endParaRPr lang="en-US" sz="2000" i="1" dirty="0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 smtClean="0"/>
                            <a:t>Complete</a:t>
                          </a:r>
                          <a:endParaRPr lang="en-US" sz="2000" i="1" dirty="0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 smtClean="0"/>
                            <a:t>Cake</a:t>
                          </a:r>
                          <a:endParaRPr lang="en-US" sz="2000" i="1" dirty="0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 smtClean="0"/>
                            <a:t>Intermediate</a:t>
                          </a:r>
                          <a:endParaRPr lang="en-US" sz="2000" i="1" dirty="0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 smtClean="0"/>
                            <a:t>Standard</a:t>
                          </a:r>
                          <a:endParaRPr lang="en-US" sz="2000" i="1" dirty="0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Figure</a:t>
                          </a:r>
                          <a:endParaRPr lang="en-US" sz="1600" dirty="0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 smtClean="0"/>
                        </a:p>
                        <a:p>
                          <a:pPr algn="ctr"/>
                          <a:endParaRPr lang="en-US" sz="1800" dirty="0" smtClean="0"/>
                        </a:p>
                        <a:p>
                          <a:pPr algn="ctr"/>
                          <a:endParaRPr lang="en-US" sz="1800" dirty="0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5544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Model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100352" t="-240659" r="-300704" b="-2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99649" t="-240659" r="-199649" b="-2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00704" t="-240659" r="-100352" b="-2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99298" t="-240659" b="-223077"/>
                          </a:stretch>
                        </a:blipFill>
                      </a:tcPr>
                    </a:tc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Fit</a:t>
                          </a:r>
                          <a:r>
                            <a:rPr lang="en-US" sz="1600" baseline="0" dirty="0" smtClean="0"/>
                            <a:t> to CP Data (R</a:t>
                          </a:r>
                          <a:r>
                            <a:rPr lang="en-US" sz="1600" baseline="30000" dirty="0" smtClean="0"/>
                            <a:t>2</a:t>
                          </a:r>
                          <a:r>
                            <a:rPr lang="en-US" sz="1600" baseline="0" dirty="0" smtClean="0"/>
                            <a:t>)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0.86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0.82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0.74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u="dbl" baseline="0" dirty="0" smtClean="0">
                              <a:solidFill>
                                <a:srgbClr val="FF0000"/>
                              </a:solidFill>
                            </a:rPr>
                            <a:t>0.99</a:t>
                          </a:r>
                          <a:endParaRPr lang="en-US" sz="2000" i="1" u="dbl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Fit</a:t>
                          </a:r>
                          <a:r>
                            <a:rPr lang="en-US" sz="1600" baseline="0" dirty="0" smtClean="0"/>
                            <a:t> to CF Predictions (R</a:t>
                          </a:r>
                          <a:r>
                            <a:rPr lang="en-US" sz="1600" baseline="30000" dirty="0" smtClean="0"/>
                            <a:t>2</a:t>
                          </a:r>
                          <a:r>
                            <a:rPr lang="en-US" sz="1600" baseline="0" dirty="0" smtClean="0"/>
                            <a:t>)</a:t>
                          </a:r>
                          <a:endParaRPr lang="en-US" sz="1600" dirty="0"/>
                        </a:p>
                      </a:txBody>
                      <a:tcPr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0.61</a:t>
                          </a:r>
                          <a:endParaRPr lang="en-US" sz="1600" dirty="0"/>
                        </a:p>
                      </a:txBody>
                      <a:tcPr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0.38</a:t>
                          </a:r>
                          <a:endParaRPr lang="en-US" sz="1600" dirty="0"/>
                        </a:p>
                      </a:txBody>
                      <a:tcPr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0.52</a:t>
                          </a:r>
                          <a:endParaRPr lang="en-US" sz="1600" dirty="0"/>
                        </a:p>
                      </a:txBody>
                      <a:tcPr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u="dbl" baseline="0" dirty="0" smtClean="0">
                              <a:solidFill>
                                <a:srgbClr val="FF0000"/>
                              </a:solidFill>
                            </a:rPr>
                            <a:t>0.92</a:t>
                          </a:r>
                          <a:endParaRPr lang="en-US" sz="2000" i="1" u="dbl" baseline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281" y="1684182"/>
            <a:ext cx="1517650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44" r="25774"/>
          <a:stretch/>
        </p:blipFill>
        <p:spPr bwMode="auto">
          <a:xfrm>
            <a:off x="5558882" y="1668849"/>
            <a:ext cx="1555596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47" r="53252"/>
          <a:stretch/>
        </p:blipFill>
        <p:spPr bwMode="auto">
          <a:xfrm>
            <a:off x="7214839" y="1687357"/>
            <a:ext cx="146081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30" r="3498"/>
          <a:stretch/>
        </p:blipFill>
        <p:spPr bwMode="auto">
          <a:xfrm>
            <a:off x="3911290" y="1687357"/>
            <a:ext cx="1424569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Placeholder 1"/>
          <p:cNvSpPr txBox="1">
            <a:spLocks/>
          </p:cNvSpPr>
          <p:nvPr/>
        </p:nvSpPr>
        <p:spPr>
          <a:xfrm>
            <a:off x="236536" y="4245290"/>
            <a:ext cx="8621713" cy="677729"/>
          </a:xfrm>
          <a:prstGeom prst="rect">
            <a:avLst/>
          </a:prstGeom>
        </p:spPr>
        <p:txBody>
          <a:bodyPr/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4 standard fouling mechanisms when operating at constant pressure</a:t>
            </a:r>
          </a:p>
          <a:p>
            <a:pPr marL="585788" lvl="1" indent="-285750">
              <a:buFont typeface="Arial" panose="020B0604020202020204" pitchFamily="34" charset="0"/>
              <a:buChar char="•"/>
            </a:pPr>
            <a:r>
              <a:rPr lang="en-US" sz="1300" dirty="0" smtClean="0"/>
              <a:t>Other combination models can also be used to describe the fouling</a:t>
            </a:r>
          </a:p>
        </p:txBody>
      </p:sp>
    </p:spTree>
    <p:extLst>
      <p:ext uri="{BB962C8B-B14F-4D97-AF65-F5344CB8AC3E}">
        <p14:creationId xmlns:p14="http://schemas.microsoft.com/office/powerpoint/2010/main" val="4009309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4653396" y="1077965"/>
            <a:ext cx="4086000" cy="3293316"/>
          </a:xfrm>
        </p:spPr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10 separate cell cultures sourced from 3 projects were used during the development of this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000000"/>
                </a:solidFill>
              </a:rPr>
              <a:t>Strong correlation between CP fouling coefficient and CF capacity </a:t>
            </a:r>
            <a:r>
              <a:rPr lang="en-GB" i="1" dirty="0" smtClean="0">
                <a:solidFill>
                  <a:srgbClr val="FF0000"/>
                </a:solidFill>
              </a:rPr>
              <a:t>R</a:t>
            </a:r>
            <a:r>
              <a:rPr lang="en-GB" i="1" baseline="30000" dirty="0" smtClean="0">
                <a:solidFill>
                  <a:srgbClr val="FF0000"/>
                </a:solidFill>
              </a:rPr>
              <a:t>2</a:t>
            </a:r>
            <a:r>
              <a:rPr lang="en-GB" i="1" dirty="0" smtClean="0">
                <a:solidFill>
                  <a:srgbClr val="FF0000"/>
                </a:solidFill>
              </a:rPr>
              <a:t>=0.92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000000"/>
                </a:solidFill>
              </a:rPr>
              <a:t>Independent verification run to confirm findings</a:t>
            </a:r>
            <a:endParaRPr lang="en-GB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D0HC Filtration </a:t>
            </a:r>
            <a:r>
              <a:rPr lang="en-GB" dirty="0"/>
              <a:t>Capacity Prediction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28</a:t>
            </a:fld>
            <a:endParaRPr lang="en-GB"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186776"/>
              </p:ext>
            </p:extLst>
          </p:nvPr>
        </p:nvGraphicFramePr>
        <p:xfrm>
          <a:off x="95003" y="760762"/>
          <a:ext cx="4558393" cy="4224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71126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4653396" y="1077965"/>
            <a:ext cx="4086000" cy="3293316"/>
          </a:xfrm>
        </p:spPr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Average deviation between experimental and predicted value is </a:t>
            </a:r>
            <a:r>
              <a:rPr lang="en-GB" i="1" dirty="0" smtClean="0">
                <a:solidFill>
                  <a:srgbClr val="FF0000"/>
                </a:solidFill>
              </a:rPr>
              <a:t>14.4%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Filter to filter deviation is around </a:t>
            </a:r>
            <a:r>
              <a:rPr lang="en-GB" i="1" dirty="0" smtClean="0">
                <a:solidFill>
                  <a:srgbClr val="FF0000"/>
                </a:solidFill>
              </a:rPr>
              <a:t>30%**</a:t>
            </a:r>
            <a:r>
              <a:rPr lang="en-GB" dirty="0" smtClean="0"/>
              <a:t> for Millipore depth filters.</a:t>
            </a:r>
          </a:p>
          <a:p>
            <a:endParaRPr lang="en-US" sz="1400" b="1" dirty="0" smtClean="0"/>
          </a:p>
          <a:p>
            <a:r>
              <a:rPr lang="en-GB" sz="1400" i="1" dirty="0">
                <a:solidFill>
                  <a:srgbClr val="FF0000"/>
                </a:solidFill>
              </a:rPr>
              <a:t>**</a:t>
            </a:r>
            <a:r>
              <a:rPr lang="en-US" sz="1400" b="1" dirty="0" smtClean="0"/>
              <a:t>The </a:t>
            </a:r>
            <a:r>
              <a:rPr lang="en-US" sz="1400" b="1" dirty="0"/>
              <a:t>clarification of bioreactor cell cultures for </a:t>
            </a:r>
            <a:r>
              <a:rPr lang="en-US" sz="1400" b="1" dirty="0" smtClean="0"/>
              <a:t>biopharmaceuticals </a:t>
            </a:r>
            <a:r>
              <a:rPr lang="en-US" sz="1400" dirty="0" err="1" smtClean="0"/>
              <a:t>Yavorsky</a:t>
            </a:r>
            <a:r>
              <a:rPr lang="en-US" sz="1400" dirty="0" smtClean="0"/>
              <a:t> et al., (2003) </a:t>
            </a:r>
            <a:r>
              <a:rPr lang="en-US" sz="1400" dirty="0"/>
              <a:t>Pharm </a:t>
            </a:r>
            <a:r>
              <a:rPr lang="en-US" sz="1400" dirty="0" err="1" smtClean="0"/>
              <a:t>Technol</a:t>
            </a:r>
            <a:endParaRPr lang="en-GB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D0HC Model Verification</a:t>
            </a:r>
            <a:endParaRPr lang="en-US" dirty="0"/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5395355"/>
              </p:ext>
            </p:extLst>
          </p:nvPr>
        </p:nvGraphicFramePr>
        <p:xfrm>
          <a:off x="254875" y="641268"/>
          <a:ext cx="4398521" cy="42157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97099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4653396" y="712519"/>
            <a:ext cx="4086000" cy="3658762"/>
          </a:xfrm>
        </p:spPr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Cake Model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200" i="1" dirty="0" smtClean="0">
                <a:solidFill>
                  <a:srgbClr val="FF0000"/>
                </a:solidFill>
              </a:rPr>
              <a:t>Fit </a:t>
            </a:r>
            <a:r>
              <a:rPr lang="en-GB" sz="1200" i="1" dirty="0">
                <a:solidFill>
                  <a:srgbClr val="FF0000"/>
                </a:solidFill>
              </a:rPr>
              <a:t>to </a:t>
            </a:r>
            <a:r>
              <a:rPr lang="en-GB" sz="1200" i="1" dirty="0" smtClean="0">
                <a:solidFill>
                  <a:srgbClr val="FF0000"/>
                </a:solidFill>
              </a:rPr>
              <a:t>CP </a:t>
            </a:r>
            <a:r>
              <a:rPr lang="en-GB" sz="1200" i="1" dirty="0">
                <a:solidFill>
                  <a:srgbClr val="FF0000"/>
                </a:solidFill>
              </a:rPr>
              <a:t>Data: </a:t>
            </a:r>
            <a:r>
              <a:rPr lang="en-GB" sz="1200" i="1" dirty="0" smtClean="0">
                <a:solidFill>
                  <a:srgbClr val="FF0000"/>
                </a:solidFill>
              </a:rPr>
              <a:t>R</a:t>
            </a:r>
            <a:r>
              <a:rPr lang="en-GB" sz="1200" i="1" baseline="30000" dirty="0" smtClean="0">
                <a:solidFill>
                  <a:srgbClr val="FF0000"/>
                </a:solidFill>
              </a:rPr>
              <a:t>2</a:t>
            </a:r>
            <a:r>
              <a:rPr lang="en-GB" sz="1200" i="1" dirty="0" smtClean="0">
                <a:solidFill>
                  <a:srgbClr val="FF0000"/>
                </a:solidFill>
              </a:rPr>
              <a:t>=0.85</a:t>
            </a:r>
            <a:endParaRPr lang="en-GB" sz="1200" i="1" dirty="0">
              <a:solidFill>
                <a:srgbClr val="FF0000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200" i="1" dirty="0">
                <a:solidFill>
                  <a:srgbClr val="FF0000"/>
                </a:solidFill>
              </a:rPr>
              <a:t>Fit to </a:t>
            </a:r>
            <a:r>
              <a:rPr lang="en-GB" sz="1200" i="1" dirty="0" smtClean="0">
                <a:solidFill>
                  <a:srgbClr val="FF0000"/>
                </a:solidFill>
              </a:rPr>
              <a:t>CF </a:t>
            </a:r>
            <a:r>
              <a:rPr lang="en-GB" sz="1200" i="1" dirty="0">
                <a:solidFill>
                  <a:srgbClr val="FF0000"/>
                </a:solidFill>
              </a:rPr>
              <a:t>Predictions: R</a:t>
            </a:r>
            <a:r>
              <a:rPr lang="en-GB" sz="1200" i="1" baseline="30000" dirty="0">
                <a:solidFill>
                  <a:srgbClr val="FF0000"/>
                </a:solidFill>
              </a:rPr>
              <a:t>2 </a:t>
            </a:r>
            <a:r>
              <a:rPr lang="en-GB" sz="1200" i="1" dirty="0" smtClean="0">
                <a:solidFill>
                  <a:srgbClr val="FF0000"/>
                </a:solidFill>
              </a:rPr>
              <a:t>=0.90</a:t>
            </a:r>
            <a:endParaRPr lang="en-GB" i="1" dirty="0" smtClean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Cake Adsorption </a:t>
            </a:r>
            <a:r>
              <a:rPr lang="en-GB" dirty="0"/>
              <a:t>Model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200" i="1" dirty="0">
                <a:solidFill>
                  <a:srgbClr val="FF0000"/>
                </a:solidFill>
              </a:rPr>
              <a:t>Fit to </a:t>
            </a:r>
            <a:r>
              <a:rPr lang="en-GB" sz="1200" i="1" dirty="0" smtClean="0">
                <a:solidFill>
                  <a:srgbClr val="FF0000"/>
                </a:solidFill>
              </a:rPr>
              <a:t>CP </a:t>
            </a:r>
            <a:r>
              <a:rPr lang="en-GB" sz="1200" i="1" dirty="0">
                <a:solidFill>
                  <a:srgbClr val="FF0000"/>
                </a:solidFill>
              </a:rPr>
              <a:t>Data: R</a:t>
            </a:r>
            <a:r>
              <a:rPr lang="en-GB" sz="1200" i="1" baseline="30000" dirty="0">
                <a:solidFill>
                  <a:srgbClr val="FF0000"/>
                </a:solidFill>
              </a:rPr>
              <a:t>2 </a:t>
            </a:r>
            <a:r>
              <a:rPr lang="en-GB" sz="1200" i="1" dirty="0" smtClean="0">
                <a:solidFill>
                  <a:srgbClr val="FF0000"/>
                </a:solidFill>
              </a:rPr>
              <a:t>=0.93</a:t>
            </a:r>
            <a:endParaRPr lang="en-GB" sz="1200" i="1" dirty="0">
              <a:solidFill>
                <a:srgbClr val="FF0000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200" i="1" dirty="0">
                <a:solidFill>
                  <a:srgbClr val="FF0000"/>
                </a:solidFill>
              </a:rPr>
              <a:t>Fit to </a:t>
            </a:r>
            <a:r>
              <a:rPr lang="en-GB" sz="1200" i="1" dirty="0" smtClean="0">
                <a:solidFill>
                  <a:srgbClr val="FF0000"/>
                </a:solidFill>
              </a:rPr>
              <a:t>CF </a:t>
            </a:r>
            <a:r>
              <a:rPr lang="en-GB" sz="1200" i="1" dirty="0">
                <a:solidFill>
                  <a:srgbClr val="FF0000"/>
                </a:solidFill>
              </a:rPr>
              <a:t>Predictions: R</a:t>
            </a:r>
            <a:r>
              <a:rPr lang="en-GB" sz="1200" i="1" baseline="30000" dirty="0">
                <a:solidFill>
                  <a:srgbClr val="FF0000"/>
                </a:solidFill>
              </a:rPr>
              <a:t>2 </a:t>
            </a:r>
            <a:r>
              <a:rPr lang="en-GB" sz="1200" i="1" dirty="0" smtClean="0">
                <a:solidFill>
                  <a:srgbClr val="FF0000"/>
                </a:solidFill>
              </a:rPr>
              <a:t>=0.95</a:t>
            </a:r>
            <a:endParaRPr lang="en-GB" sz="1200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Independent material tested to </a:t>
            </a:r>
            <a:r>
              <a:rPr lang="en-GB" dirty="0" smtClean="0"/>
              <a:t>verify the </a:t>
            </a:r>
            <a:r>
              <a:rPr lang="en-GB" dirty="0"/>
              <a:t>modelling data </a:t>
            </a:r>
            <a:r>
              <a:rPr lang="en-GB" dirty="0" smtClean="0"/>
              <a:t>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</a:t>
            </a:r>
            <a:r>
              <a:rPr lang="en-GB" dirty="0" smtClean="0"/>
              <a:t>trong predictions for both Standard and Mixed models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X0HC Model Verification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30</a:t>
            </a:fld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51" y="853068"/>
            <a:ext cx="4632948" cy="3661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1708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Scale-Down Depth Filtration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37599" y="1237974"/>
            <a:ext cx="7277625" cy="333402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Novel method of sizing depth filters </a:t>
            </a: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Paper </a:t>
            </a:r>
            <a:r>
              <a:rPr lang="en-US" altLang="en-US" dirty="0" smtClean="0"/>
              <a:t>submitted to </a:t>
            </a:r>
            <a:r>
              <a:rPr lang="en-US" altLang="en-US" b="1" i="1" dirty="0">
                <a:solidFill>
                  <a:srgbClr val="FF0000"/>
                </a:solidFill>
              </a:rPr>
              <a:t>Journal of </a:t>
            </a:r>
            <a:r>
              <a:rPr lang="en-US" altLang="en-US" b="1" i="1" smtClean="0">
                <a:solidFill>
                  <a:srgbClr val="FF0000"/>
                </a:solidFill>
              </a:rPr>
              <a:t>Membrane Sciences</a:t>
            </a: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The newly developed approach requires:</a:t>
            </a:r>
            <a:endParaRPr lang="en-GB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b="1" i="1" dirty="0" smtClean="0">
                <a:solidFill>
                  <a:srgbClr val="FF0000"/>
                </a:solidFill>
              </a:rPr>
              <a:t>1-2L</a:t>
            </a:r>
            <a:r>
              <a:rPr lang="en-US" altLang="en-US" dirty="0" smtClean="0">
                <a:solidFill>
                  <a:srgbClr val="FF0000"/>
                </a:solidFill>
              </a:rPr>
              <a:t> Centrate /Cell Culture  → </a:t>
            </a:r>
            <a:r>
              <a:rPr lang="en-US" altLang="en-US" b="1" i="1" dirty="0" smtClean="0">
                <a:solidFill>
                  <a:srgbClr val="FF0000"/>
                </a:solidFill>
              </a:rPr>
              <a:t>100mL</a:t>
            </a:r>
            <a:r>
              <a:rPr lang="en-US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</a:rPr>
              <a:t>Centrate /Cell Culture</a:t>
            </a:r>
          </a:p>
          <a:p>
            <a:pPr marL="285750" lvl="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b="1" i="1" dirty="0" smtClean="0">
                <a:solidFill>
                  <a:srgbClr val="FF0000"/>
                </a:solidFill>
              </a:rPr>
              <a:t>5 </a:t>
            </a:r>
            <a:r>
              <a:rPr lang="en-US" altLang="en-US" b="1" i="1" dirty="0" err="1">
                <a:solidFill>
                  <a:srgbClr val="FF0000"/>
                </a:solidFill>
              </a:rPr>
              <a:t>H</a:t>
            </a:r>
            <a:r>
              <a:rPr lang="en-US" altLang="en-US" b="1" i="1" dirty="0" err="1" smtClean="0">
                <a:solidFill>
                  <a:srgbClr val="FF0000"/>
                </a:solidFill>
              </a:rPr>
              <a:t>rs</a:t>
            </a:r>
            <a:r>
              <a:rPr lang="en-US" altLang="en-US" i="1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</a:rPr>
              <a:t>Process Time → </a:t>
            </a:r>
            <a:r>
              <a:rPr lang="en-US" altLang="en-US" b="1" i="1" dirty="0" smtClean="0">
                <a:solidFill>
                  <a:srgbClr val="FF0000"/>
                </a:solidFill>
              </a:rPr>
              <a:t>3 mins </a:t>
            </a:r>
            <a:r>
              <a:rPr lang="en-US" altLang="en-US" dirty="0">
                <a:solidFill>
                  <a:srgbClr val="FF0000"/>
                </a:solidFill>
              </a:rPr>
              <a:t>Process Time</a:t>
            </a:r>
            <a:endParaRPr lang="en-GB" dirty="0" smtClean="0">
              <a:solidFill>
                <a:srgbClr val="FFFFFF">
                  <a:lumMod val="50000"/>
                </a:srgb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Constant </a:t>
            </a:r>
            <a:r>
              <a:rPr lang="en-GB" dirty="0"/>
              <a:t>flow capacity </a:t>
            </a:r>
            <a:r>
              <a:rPr lang="en-GB" dirty="0" smtClean="0"/>
              <a:t>predicted using constant pressure data within </a:t>
            </a:r>
            <a:r>
              <a:rPr lang="en-GB" dirty="0" smtClean="0">
                <a:solidFill>
                  <a:srgbClr val="222222"/>
                </a:solidFill>
              </a:rPr>
              <a:t>±</a:t>
            </a:r>
            <a:r>
              <a:rPr lang="en-GB" dirty="0" smtClean="0"/>
              <a:t>15</a:t>
            </a:r>
            <a:r>
              <a:rPr lang="en-GB" dirty="0"/>
              <a:t>% </a:t>
            </a:r>
            <a:r>
              <a:rPr lang="en-GB" dirty="0" smtClean="0"/>
              <a:t>for both X0HC and D0HC filters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Potential </a:t>
            </a:r>
            <a:r>
              <a:rPr lang="en-GB" dirty="0"/>
              <a:t>for method to be used for screening </a:t>
            </a:r>
            <a:r>
              <a:rPr lang="en-GB" dirty="0" smtClean="0"/>
              <a:t>at </a:t>
            </a:r>
            <a:r>
              <a:rPr lang="en-GB" dirty="0"/>
              <a:t>an </a:t>
            </a:r>
            <a:r>
              <a:rPr lang="en-GB" dirty="0" smtClean="0"/>
              <a:t>earlier </a:t>
            </a:r>
            <a:r>
              <a:rPr lang="en-GB" dirty="0"/>
              <a:t>stage of process </a:t>
            </a:r>
            <a:r>
              <a:rPr lang="en-GB" dirty="0" smtClean="0"/>
              <a:t>development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7384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C4F54F3-C349-4609-AFEE-01462D5C7942}" type="slidenum">
              <a:rPr lang="en-GB" smtClean="0"/>
              <a:pPr/>
              <a:t>32</a:t>
            </a:fld>
            <a:endParaRPr lang="en-GB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body" sz="quarter" idx="11"/>
          </p:nvPr>
        </p:nvSpPr>
        <p:spPr>
          <a:xfrm>
            <a:off x="360787" y="958850"/>
            <a:ext cx="5036402" cy="3724275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err="1" smtClean="0"/>
              <a:t>J.Bender</a:t>
            </a:r>
            <a:endParaRPr lang="en-US" alt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err="1" smtClean="0"/>
              <a:t>S.Bosley</a:t>
            </a:r>
            <a:r>
              <a:rPr lang="en-US" altLang="en-US" dirty="0" smtClean="0"/>
              <a:t> &amp; </a:t>
            </a:r>
            <a:r>
              <a:rPr lang="en-US" altLang="en-US" dirty="0" err="1" smtClean="0"/>
              <a:t>M.Meyers</a:t>
            </a:r>
            <a:endParaRPr lang="en-US" alt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err="1" smtClean="0"/>
              <a:t>J.Dyer</a:t>
            </a:r>
            <a:r>
              <a:rPr lang="en-US" altLang="en-US" dirty="0" smtClean="0"/>
              <a:t> II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err="1" smtClean="0"/>
              <a:t>S.Goldrick</a:t>
            </a:r>
            <a:r>
              <a:rPr lang="en-US" altLang="en-US" dirty="0" smtClean="0"/>
              <a:t>, </a:t>
            </a:r>
            <a:r>
              <a:rPr lang="en-US" altLang="en-US" dirty="0" err="1" smtClean="0"/>
              <a:t>D.Gruber</a:t>
            </a:r>
            <a:r>
              <a:rPr lang="en-US" altLang="en-US" dirty="0" smtClean="0"/>
              <a:t> &amp; </a:t>
            </a:r>
            <a:r>
              <a:rPr lang="en-US" altLang="en-US" dirty="0" err="1" smtClean="0"/>
              <a:t>R.Turner</a:t>
            </a:r>
            <a:endParaRPr lang="en-US" alt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err="1" smtClean="0"/>
              <a:t>K.Hwang</a:t>
            </a:r>
            <a:endParaRPr lang="en-US" alt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err="1" smtClean="0"/>
              <a:t>N.Fuchs</a:t>
            </a:r>
            <a:r>
              <a:rPr lang="en-US" altLang="en-US" dirty="0"/>
              <a:t>, </a:t>
            </a:r>
            <a:r>
              <a:rPr lang="en-US" altLang="en-US" dirty="0" err="1" smtClean="0"/>
              <a:t>M.Liang</a:t>
            </a:r>
            <a:r>
              <a:rPr lang="en-US" altLang="en-US" dirty="0" smtClean="0"/>
              <a:t>, </a:t>
            </a:r>
            <a:r>
              <a:rPr lang="en-US" altLang="en-US" dirty="0" err="1" smtClean="0"/>
              <a:t>A.Martinez</a:t>
            </a:r>
            <a:r>
              <a:rPr lang="en-US" altLang="en-US" dirty="0"/>
              <a:t>, </a:t>
            </a:r>
            <a:r>
              <a:rPr lang="en-US" altLang="en-US" dirty="0" err="1" smtClean="0"/>
              <a:t>K.Singarapu</a:t>
            </a:r>
            <a:r>
              <a:rPr lang="en-US" altLang="en-US" dirty="0" smtClean="0"/>
              <a:t> </a:t>
            </a:r>
            <a:r>
              <a:rPr lang="en-US" altLang="en-US" dirty="0"/>
              <a:t>&amp; </a:t>
            </a:r>
            <a:r>
              <a:rPr lang="en-US" altLang="en-US" dirty="0" err="1" smtClean="0"/>
              <a:t>W.Yang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err="1" smtClean="0"/>
              <a:t>B.Kenty</a:t>
            </a:r>
            <a:endParaRPr lang="en-US" alt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err="1" smtClean="0"/>
              <a:t>Proff</a:t>
            </a:r>
            <a:r>
              <a:rPr lang="en-US" altLang="en-US" dirty="0" smtClean="0"/>
              <a:t>. </a:t>
            </a:r>
            <a:r>
              <a:rPr lang="en-US" altLang="en-US" dirty="0" err="1" smtClean="0"/>
              <a:t>N.Titchener</a:t>
            </a:r>
            <a:r>
              <a:rPr lang="en-US" altLang="en-US" dirty="0" smtClean="0"/>
              <a:t>-Hooker </a:t>
            </a:r>
            <a:r>
              <a:rPr lang="en-US" altLang="en-US" dirty="0"/>
              <a:t>&amp; </a:t>
            </a:r>
            <a:r>
              <a:rPr lang="en-US" altLang="en-US" dirty="0" err="1" smtClean="0"/>
              <a:t>Proff</a:t>
            </a:r>
            <a:r>
              <a:rPr lang="en-US" altLang="en-US" dirty="0" smtClean="0"/>
              <a:t>. </a:t>
            </a:r>
            <a:r>
              <a:rPr lang="en-US" altLang="en-US" dirty="0" err="1" smtClean="0"/>
              <a:t>SS.Farid</a:t>
            </a:r>
            <a:endParaRPr lang="en-US" alt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err="1" smtClean="0"/>
              <a:t>M.Mollet</a:t>
            </a:r>
            <a:endParaRPr lang="en-US" alt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err="1" smtClean="0"/>
              <a:t>M.Mlawa</a:t>
            </a:r>
            <a:endParaRPr lang="en-US" alt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err="1" smtClean="0"/>
              <a:t>S.Rose</a:t>
            </a:r>
            <a:endParaRPr lang="en-US" alt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err="1" smtClean="0"/>
              <a:t>J.Savery</a:t>
            </a:r>
            <a:endParaRPr lang="en-US" altLang="en-US" dirty="0" smtClean="0"/>
          </a:p>
        </p:txBody>
      </p:sp>
      <p:pic>
        <p:nvPicPr>
          <p:cNvPr id="9" name="Picture 2" descr="http://static1.squarespace.com/static/54f76f4ee4b090c744ee7c4f/t/5554fa56e4b0d770e3f93b2b/1431632472304/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793" y="124877"/>
            <a:ext cx="1905880" cy="1361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://connectedcommunities.us/pictures/MedImmuneFly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794" y="1836824"/>
            <a:ext cx="1943100" cy="129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https://www.ucl.ac.uk/media/uclgeneralimages/UCLAutumn2.jpe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794" y="3479182"/>
            <a:ext cx="1943899" cy="1229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6216794" y="1486220"/>
            <a:ext cx="18686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0000"/>
                </a:solidFill>
              </a:rPr>
              <a:t>Franklin Building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54015" y="3143111"/>
            <a:ext cx="18686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0000"/>
                </a:solidFill>
              </a:rPr>
              <a:t>OMW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92834" y="4740014"/>
            <a:ext cx="18686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0000"/>
                </a:solidFill>
              </a:rPr>
              <a:t>UCL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764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TRAZENECA" val="TEMPLATE2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7.7|0.7|2.2"/>
</p:tagLst>
</file>

<file path=ppt/theme/theme1.xml><?xml version="1.0" encoding="utf-8"?>
<a:theme xmlns:a="http://schemas.openxmlformats.org/drawingml/2006/main" name="Blank">
  <a:themeElements>
    <a:clrScheme name="Custom 249">
      <a:dk1>
        <a:srgbClr val="000000"/>
      </a:dk1>
      <a:lt1>
        <a:srgbClr val="FFFFFF"/>
      </a:lt1>
      <a:dk2>
        <a:srgbClr val="003865"/>
      </a:dk2>
      <a:lt2>
        <a:srgbClr val="9DB0AC"/>
      </a:lt2>
      <a:accent1>
        <a:srgbClr val="003865"/>
      </a:accent1>
      <a:accent2>
        <a:srgbClr val="830051"/>
      </a:accent2>
      <a:accent3>
        <a:srgbClr val="68D2DF"/>
      </a:accent3>
      <a:accent4>
        <a:srgbClr val="3C1053"/>
      </a:accent4>
      <a:accent5>
        <a:srgbClr val="C4D600"/>
      </a:accent5>
      <a:accent6>
        <a:srgbClr val="3F4444"/>
      </a:accent6>
      <a:hlink>
        <a:srgbClr val="003865"/>
      </a:hlink>
      <a:folHlink>
        <a:srgbClr val="9DB0A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MedImmune Internal Template 16x9" id="{1465F1F2-19F4-4CF9-8D4E-83E4EC9E496F}" vid="{D86093A6-A6F0-4899-96F4-D5DCF04393BB}"/>
    </a:ext>
  </a:extLst>
</a:theme>
</file>

<file path=ppt/theme/theme2.xml><?xml version="1.0" encoding="utf-8"?>
<a:theme xmlns:a="http://schemas.openxmlformats.org/drawingml/2006/main" name="MedImmune Divider Slide Options">
  <a:themeElements>
    <a:clrScheme name="Custom 249">
      <a:dk1>
        <a:srgbClr val="000000"/>
      </a:dk1>
      <a:lt1>
        <a:srgbClr val="FFFFFF"/>
      </a:lt1>
      <a:dk2>
        <a:srgbClr val="003865"/>
      </a:dk2>
      <a:lt2>
        <a:srgbClr val="9DB0AC"/>
      </a:lt2>
      <a:accent1>
        <a:srgbClr val="003865"/>
      </a:accent1>
      <a:accent2>
        <a:srgbClr val="830051"/>
      </a:accent2>
      <a:accent3>
        <a:srgbClr val="68D2DF"/>
      </a:accent3>
      <a:accent4>
        <a:srgbClr val="3C1053"/>
      </a:accent4>
      <a:accent5>
        <a:srgbClr val="C4D600"/>
      </a:accent5>
      <a:accent6>
        <a:srgbClr val="3F4444"/>
      </a:accent6>
      <a:hlink>
        <a:srgbClr val="003865"/>
      </a:hlink>
      <a:folHlink>
        <a:srgbClr val="9DB0A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MedImmune Internal Template 16x9" id="{1465F1F2-19F4-4CF9-8D4E-83E4EC9E496F}" vid="{853C549F-C9CC-4804-BE3C-3E9E5DF896B7}"/>
    </a:ext>
  </a:extLst>
</a:theme>
</file>

<file path=ppt/theme/theme3.xml><?xml version="1.0" encoding="utf-8"?>
<a:theme xmlns:a="http://schemas.openxmlformats.org/drawingml/2006/main" name="AZ MedImmunel Master Slide Options">
  <a:themeElements>
    <a:clrScheme name="Custom 249">
      <a:dk1>
        <a:srgbClr val="000000"/>
      </a:dk1>
      <a:lt1>
        <a:srgbClr val="FFFFFF"/>
      </a:lt1>
      <a:dk2>
        <a:srgbClr val="003865"/>
      </a:dk2>
      <a:lt2>
        <a:srgbClr val="9DB0AC"/>
      </a:lt2>
      <a:accent1>
        <a:srgbClr val="003865"/>
      </a:accent1>
      <a:accent2>
        <a:srgbClr val="830051"/>
      </a:accent2>
      <a:accent3>
        <a:srgbClr val="68D2DF"/>
      </a:accent3>
      <a:accent4>
        <a:srgbClr val="3C1053"/>
      </a:accent4>
      <a:accent5>
        <a:srgbClr val="C4D600"/>
      </a:accent5>
      <a:accent6>
        <a:srgbClr val="3F4444"/>
      </a:accent6>
      <a:hlink>
        <a:srgbClr val="003865"/>
      </a:hlink>
      <a:folHlink>
        <a:srgbClr val="9DB0A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MedImmune Internal Template 16x9" id="{1465F1F2-19F4-4CF9-8D4E-83E4EC9E496F}" vid="{3A1C1409-B6D4-472F-B1A5-A83A6144C0F8}"/>
    </a:ext>
  </a:extLst>
</a:theme>
</file>

<file path=ppt/theme/theme4.xml><?xml version="1.0" encoding="utf-8"?>
<a:theme xmlns:a="http://schemas.openxmlformats.org/drawingml/2006/main" name="MedImmune Default Template">
  <a:themeElements>
    <a:clrScheme name="MedImmune Default Template 13">
      <a:dk1>
        <a:srgbClr val="002F5F"/>
      </a:dk1>
      <a:lt1>
        <a:srgbClr val="FFFFFF"/>
      </a:lt1>
      <a:dk2>
        <a:srgbClr val="00A1DE"/>
      </a:dk2>
      <a:lt2>
        <a:srgbClr val="808080"/>
      </a:lt2>
      <a:accent1>
        <a:srgbClr val="00539B"/>
      </a:accent1>
      <a:accent2>
        <a:srgbClr val="72C7E7"/>
      </a:accent2>
      <a:accent3>
        <a:srgbClr val="FFFFFF"/>
      </a:accent3>
      <a:accent4>
        <a:srgbClr val="002750"/>
      </a:accent4>
      <a:accent5>
        <a:srgbClr val="AAB3CB"/>
      </a:accent5>
      <a:accent6>
        <a:srgbClr val="67B4D1"/>
      </a:accent6>
      <a:hlink>
        <a:srgbClr val="00A1DE"/>
      </a:hlink>
      <a:folHlink>
        <a:srgbClr val="830051"/>
      </a:folHlink>
    </a:clrScheme>
    <a:fontScheme name="MedImmune Default 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edImmune Default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dImmune Default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dImmune Default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dImmune Default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dImmune Default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dImmune Default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edImmune Default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edImmune Default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edImmune Default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edImmune Default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edImmune Default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edImmune Default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edImmune Default Template 13">
        <a:dk1>
          <a:srgbClr val="002F5F"/>
        </a:dk1>
        <a:lt1>
          <a:srgbClr val="FFFFFF"/>
        </a:lt1>
        <a:dk2>
          <a:srgbClr val="00A1DE"/>
        </a:dk2>
        <a:lt2>
          <a:srgbClr val="808080"/>
        </a:lt2>
        <a:accent1>
          <a:srgbClr val="00539B"/>
        </a:accent1>
        <a:accent2>
          <a:srgbClr val="72C7E7"/>
        </a:accent2>
        <a:accent3>
          <a:srgbClr val="FFFFFF"/>
        </a:accent3>
        <a:accent4>
          <a:srgbClr val="002750"/>
        </a:accent4>
        <a:accent5>
          <a:srgbClr val="AAB3CB"/>
        </a:accent5>
        <a:accent6>
          <a:srgbClr val="67B4D1"/>
        </a:accent6>
        <a:hlink>
          <a:srgbClr val="00A1DE"/>
        </a:hlink>
        <a:folHlink>
          <a:srgbClr val="83005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AZ MedImmunel Master Slide Options">
  <a:themeElements>
    <a:clrScheme name="Custom 249">
      <a:dk1>
        <a:srgbClr val="000000"/>
      </a:dk1>
      <a:lt1>
        <a:srgbClr val="FFFFFF"/>
      </a:lt1>
      <a:dk2>
        <a:srgbClr val="003865"/>
      </a:dk2>
      <a:lt2>
        <a:srgbClr val="9DB0AC"/>
      </a:lt2>
      <a:accent1>
        <a:srgbClr val="003865"/>
      </a:accent1>
      <a:accent2>
        <a:srgbClr val="830051"/>
      </a:accent2>
      <a:accent3>
        <a:srgbClr val="68D2DF"/>
      </a:accent3>
      <a:accent4>
        <a:srgbClr val="3C1053"/>
      </a:accent4>
      <a:accent5>
        <a:srgbClr val="C4D600"/>
      </a:accent5>
      <a:accent6>
        <a:srgbClr val="3F4444"/>
      </a:accent6>
      <a:hlink>
        <a:srgbClr val="003865"/>
      </a:hlink>
      <a:folHlink>
        <a:srgbClr val="9DB0A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MedImmune Internal Template 16x9" id="{1465F1F2-19F4-4CF9-8D4E-83E4EC9E496F}" vid="{3A1C1409-B6D4-472F-B1A5-A83A6144C0F8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39405</TotalTime>
  <Words>1698</Words>
  <Application>Microsoft Office PowerPoint</Application>
  <PresentationFormat>On-screen Show (16:9)</PresentationFormat>
  <Paragraphs>342</Paragraphs>
  <Slides>32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Blank</vt:lpstr>
      <vt:lpstr>MedImmune Divider Slide Options</vt:lpstr>
      <vt:lpstr>AZ MedImmunel Master Slide Options</vt:lpstr>
      <vt:lpstr>MedImmune Default Template</vt:lpstr>
      <vt:lpstr>1_AZ MedImmunel Master Slide Options</vt:lpstr>
      <vt:lpstr>Leveraging Scale-down Methods to Accelerate Harvest Characterization</vt:lpstr>
      <vt:lpstr>Introduction</vt:lpstr>
      <vt:lpstr>USD Centrifugation: Approach</vt:lpstr>
      <vt:lpstr>USD Centrifugation: Separation</vt:lpstr>
      <vt:lpstr>USD Centrifugation: Shear</vt:lpstr>
      <vt:lpstr>USD Centrifugation: RSD (Rotating Shear Device)</vt:lpstr>
      <vt:lpstr>USD Centrifugation: EDR (Energy Dissipation Rate)</vt:lpstr>
      <vt:lpstr>Capillary Shear Device (CSD) Schematic Version-1</vt:lpstr>
      <vt:lpstr>CSD Schematic Version-2</vt:lpstr>
      <vt:lpstr>Bridging Study: RDSD vs CSD</vt:lpstr>
      <vt:lpstr>USD Centrifugation Development</vt:lpstr>
      <vt:lpstr>Experimental Methodology</vt:lpstr>
      <vt:lpstr>LDH Screen</vt:lpstr>
      <vt:lpstr>Correction Factor</vt:lpstr>
      <vt:lpstr>Verification: Turbidity</vt:lpstr>
      <vt:lpstr>Verification: PSD</vt:lpstr>
      <vt:lpstr>Filterability: X0HC</vt:lpstr>
      <vt:lpstr>Integrated Non Viable Cell Density (INVCD)</vt:lpstr>
      <vt:lpstr>USD Centrifugation Predictive Data: Project A</vt:lpstr>
      <vt:lpstr>USD Centrifugation Predictive Data: Project B</vt:lpstr>
      <vt:lpstr>Conclusions USD Centrifugation</vt:lpstr>
      <vt:lpstr>Depth Filtration Development Strategy</vt:lpstr>
      <vt:lpstr>Introduction</vt:lpstr>
      <vt:lpstr>Constant Flow        Constant Pressure</vt:lpstr>
      <vt:lpstr>D0HC Prediction Strategy</vt:lpstr>
      <vt:lpstr>Fouling Analysis</vt:lpstr>
      <vt:lpstr>D0HC Constant Pressure Fitting Data </vt:lpstr>
      <vt:lpstr>D0HC Filtration Capacity Prediction</vt:lpstr>
      <vt:lpstr>D0HC Model Verification</vt:lpstr>
      <vt:lpstr>X0HC Model Verification</vt:lpstr>
      <vt:lpstr>Conclusion Scale-Down Depth Filtration</vt:lpstr>
      <vt:lpstr>Acknowledgements</vt:lpstr>
    </vt:vector>
  </TitlesOfParts>
  <Company>MedImmune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Joseph, Adrian (Contractor)</dc:creator>
  <cp:keywords>16:9</cp:keywords>
  <dc:description>v1.0</dc:description>
  <cp:lastModifiedBy>School of Process Engineering</cp:lastModifiedBy>
  <cp:revision>216</cp:revision>
  <cp:lastPrinted>2016-04-19T06:27:09Z</cp:lastPrinted>
  <dcterms:created xsi:type="dcterms:W3CDTF">2016-02-22T20:19:34Z</dcterms:created>
  <dcterms:modified xsi:type="dcterms:W3CDTF">2016-09-06T14:44:18Z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ient">
    <vt:lpwstr>AstraZeneca</vt:lpwstr>
  </property>
  <property fmtid="{D5CDD505-2E9C-101B-9397-08002B2CF9AE}" pid="3" name="Language">
    <vt:lpwstr>English (UK)</vt:lpwstr>
  </property>
  <property fmtid="{D5CDD505-2E9C-101B-9397-08002B2CF9AE}" pid="4" name="Owner">
    <vt:lpwstr>P L Kessler</vt:lpwstr>
  </property>
  <property fmtid="{D5CDD505-2E9C-101B-9397-08002B2CF9AE}" pid="5" name="Project">
    <vt:lpwstr>The Chase</vt:lpwstr>
  </property>
  <property fmtid="{D5CDD505-2E9C-101B-9397-08002B2CF9AE}" pid="6" name="Publisher">
    <vt:lpwstr>Kessler Associates</vt:lpwstr>
  </property>
</Properties>
</file>