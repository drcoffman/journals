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6" r:id="rId5"/>
  </p:sldMasterIdLst>
  <p:notesMasterIdLst>
    <p:notesMasterId r:id="rId7"/>
  </p:notesMasterIdLst>
  <p:handoutMasterIdLst>
    <p:handoutMasterId r:id="rId8"/>
  </p:handoutMasterIdLst>
  <p:sldIdLst>
    <p:sldId id="313" r:id="rId6"/>
  </p:sldIdLst>
  <p:sldSz cx="32918400" cy="43891200"/>
  <p:notesSz cx="6670675" cy="9875838"/>
  <p:defaultTextStyle>
    <a:defPPr>
      <a:defRPr lang="en-US"/>
    </a:defPPr>
    <a:lvl1pPr marL="0" algn="l" defTabSz="2127176" rtl="0" eaLnBrk="1" latinLnBrk="0" hangingPunct="1">
      <a:defRPr sz="8332" kern="1200">
        <a:solidFill>
          <a:schemeClr val="tx1"/>
        </a:solidFill>
        <a:latin typeface="+mn-lt"/>
        <a:ea typeface="+mn-ea"/>
        <a:cs typeface="+mn-cs"/>
      </a:defRPr>
    </a:lvl1pPr>
    <a:lvl2pPr marL="2127176" algn="l" defTabSz="2127176" rtl="0" eaLnBrk="1" latinLnBrk="0" hangingPunct="1">
      <a:defRPr sz="8332" kern="1200">
        <a:solidFill>
          <a:schemeClr val="tx1"/>
        </a:solidFill>
        <a:latin typeface="+mn-lt"/>
        <a:ea typeface="+mn-ea"/>
        <a:cs typeface="+mn-cs"/>
      </a:defRPr>
    </a:lvl2pPr>
    <a:lvl3pPr marL="4254352" algn="l" defTabSz="2127176" rtl="0" eaLnBrk="1" latinLnBrk="0" hangingPunct="1">
      <a:defRPr sz="8332" kern="1200">
        <a:solidFill>
          <a:schemeClr val="tx1"/>
        </a:solidFill>
        <a:latin typeface="+mn-lt"/>
        <a:ea typeface="+mn-ea"/>
        <a:cs typeface="+mn-cs"/>
      </a:defRPr>
    </a:lvl3pPr>
    <a:lvl4pPr marL="6381528" algn="l" defTabSz="2127176" rtl="0" eaLnBrk="1" latinLnBrk="0" hangingPunct="1">
      <a:defRPr sz="8332" kern="1200">
        <a:solidFill>
          <a:schemeClr val="tx1"/>
        </a:solidFill>
        <a:latin typeface="+mn-lt"/>
        <a:ea typeface="+mn-ea"/>
        <a:cs typeface="+mn-cs"/>
      </a:defRPr>
    </a:lvl4pPr>
    <a:lvl5pPr marL="8508707" algn="l" defTabSz="2127176" rtl="0" eaLnBrk="1" latinLnBrk="0" hangingPunct="1">
      <a:defRPr sz="8332" kern="1200">
        <a:solidFill>
          <a:schemeClr val="tx1"/>
        </a:solidFill>
        <a:latin typeface="+mn-lt"/>
        <a:ea typeface="+mn-ea"/>
        <a:cs typeface="+mn-cs"/>
      </a:defRPr>
    </a:lvl5pPr>
    <a:lvl6pPr marL="10635883" algn="l" defTabSz="2127176" rtl="0" eaLnBrk="1" latinLnBrk="0" hangingPunct="1">
      <a:defRPr sz="8332" kern="1200">
        <a:solidFill>
          <a:schemeClr val="tx1"/>
        </a:solidFill>
        <a:latin typeface="+mn-lt"/>
        <a:ea typeface="+mn-ea"/>
        <a:cs typeface="+mn-cs"/>
      </a:defRPr>
    </a:lvl6pPr>
    <a:lvl7pPr marL="12763060" algn="l" defTabSz="2127176" rtl="0" eaLnBrk="1" latinLnBrk="0" hangingPunct="1">
      <a:defRPr sz="8332" kern="1200">
        <a:solidFill>
          <a:schemeClr val="tx1"/>
        </a:solidFill>
        <a:latin typeface="+mn-lt"/>
        <a:ea typeface="+mn-ea"/>
        <a:cs typeface="+mn-cs"/>
      </a:defRPr>
    </a:lvl7pPr>
    <a:lvl8pPr marL="14890239" algn="l" defTabSz="2127176" rtl="0" eaLnBrk="1" latinLnBrk="0" hangingPunct="1">
      <a:defRPr sz="8332" kern="1200">
        <a:solidFill>
          <a:schemeClr val="tx1"/>
        </a:solidFill>
        <a:latin typeface="+mn-lt"/>
        <a:ea typeface="+mn-ea"/>
        <a:cs typeface="+mn-cs"/>
      </a:defRPr>
    </a:lvl8pPr>
    <a:lvl9pPr marL="17017415" algn="l" defTabSz="2127176" rtl="0" eaLnBrk="1" latinLnBrk="0" hangingPunct="1">
      <a:defRPr sz="8332"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userDrawn="1">
          <p15:clr>
            <a:srgbClr val="A4A3A4"/>
          </p15:clr>
        </p15:guide>
        <p15:guide id="2" userDrawn="1">
          <p15:clr>
            <a:srgbClr val="A4A3A4"/>
          </p15:clr>
        </p15:guide>
      </p15:sldGuideLst>
    </p:ext>
    <p:ext uri="{2D200454-40CA-4A62-9FC3-DE9A4176ACB9}">
      <p15:notesGuideLst xmlns:p15="http://schemas.microsoft.com/office/powerpoint/2012/main">
        <p15:guide id="1" orient="horz" pos="3111">
          <p15:clr>
            <a:srgbClr val="A4A3A4"/>
          </p15:clr>
        </p15:guide>
        <p15:guide id="2" pos="210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ee, Ken" initials="LK" lastIdx="10" clrIdx="0">
    <p:extLst>
      <p:ext uri="{19B8F6BF-5375-455C-9EA6-DF929625EA0E}">
        <p15:presenceInfo xmlns:p15="http://schemas.microsoft.com/office/powerpoint/2012/main" userId="S::knjf769@astrazeneca.net::3a317f84-af31-4e86-a92d-021b55f9a2de" providerId="AD"/>
      </p:ext>
    </p:extLst>
  </p:cmAuthor>
  <p:cmAuthor id="2" name="Schaeffer, Zayla" initials="SZ" lastIdx="8" clrIdx="1">
    <p:extLst>
      <p:ext uri="{19B8F6BF-5375-455C-9EA6-DF929625EA0E}">
        <p15:presenceInfo xmlns:p15="http://schemas.microsoft.com/office/powerpoint/2012/main" userId="S::kpbv849@astrazeneca.net::46732c6a-81d9-4da1-8ab8-ef5059082b9d" providerId="AD"/>
      </p:ext>
    </p:extLst>
  </p:cmAuthor>
  <p:cmAuthor id="3" name="Mollet, Michael" initials="MM" lastIdx="2" clrIdx="2">
    <p:extLst>
      <p:ext uri="{19B8F6BF-5375-455C-9EA6-DF929625EA0E}">
        <p15:presenceInfo xmlns:p15="http://schemas.microsoft.com/office/powerpoint/2012/main" userId="S::kbsv633@astrazeneca.net::312b1652-36ff-4556-868b-0080ca5f102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p:clrMru>
    <a:srgbClr val="A80068"/>
    <a:srgbClr val="9DB0AC"/>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p:cViewPr>
        <p:scale>
          <a:sx n="70" d="100"/>
          <a:sy n="70" d="100"/>
        </p:scale>
        <p:origin x="-1200" y="-13456"/>
      </p:cViewPr>
      <p:guideLst>
        <p:guide orient="horz"/>
        <p:guide/>
      </p:guideLst>
    </p:cSldViewPr>
  </p:slideViewPr>
  <p:notesTextViewPr>
    <p:cViewPr>
      <p:scale>
        <a:sx n="1" d="1"/>
        <a:sy n="1" d="1"/>
      </p:scale>
      <p:origin x="0" y="0"/>
    </p:cViewPr>
  </p:notesTextViewPr>
  <p:notesViewPr>
    <p:cSldViewPr snapToGrid="0">
      <p:cViewPr>
        <p:scale>
          <a:sx n="1" d="2"/>
          <a:sy n="1" d="2"/>
        </p:scale>
        <p:origin x="0" y="0"/>
      </p:cViewPr>
      <p:guideLst>
        <p:guide orient="horz" pos="3111"/>
        <p:guide pos="2101"/>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viewProps" Target="viewProps.xml"/><Relationship Id="rId5" Type="http://schemas.openxmlformats.org/officeDocument/2006/relationships/slideMaster" Target="slideMasters/slideMaster1.xml"/><Relationship Id="rId10" Type="http://schemas.openxmlformats.org/officeDocument/2006/relationships/presProps" Target="presProps.xml"/><Relationship Id="rId4" Type="http://schemas.openxmlformats.org/officeDocument/2006/relationships/customXml" Target="../customXml/item4.xml"/><Relationship Id="rId9" Type="http://schemas.openxmlformats.org/officeDocument/2006/relationships/commentAuthors" Target="commentAuthors.xml"/></Relationships>
</file>

<file path=ppt/charts/_rels/chart1.xml.rels><?xml version="1.0" encoding="UTF-8" standalone="yes"?>
<Relationships xmlns="http://schemas.openxmlformats.org/package/2006/relationships"><Relationship Id="rId3" Type="http://schemas.openxmlformats.org/officeDocument/2006/relationships/oleObject" Target="https://azcollaboration-my.sharepoint.com/personal/kpbv849_astrazeneca_net/Documents/R&amp;D%20Associate%20II/ViCell%20NovaFlex%20agreement/CAT-S%20vs%20NovaFlex%20II%20comparison%20Mar-July%202022.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azcollaboration-my.sharepoint.com/personal/kpbv849_astrazeneca_net/Documents/R&amp;D%20Associate%20II/ViCell%20NovaFlex%20agreement/ViCell%20method%20investigation%20Dec%202021-Jan%202022/ViCell%20method%20adjustment%20testing.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azcollaboration-my.sharepoint.com/personal/kpbv849_astrazeneca_net/Documents/R&amp;D%20Associate%20II/ViCell%20NovaFlex%20agreement/ViCell%20method%20investigation%20Dec%202021-Jan%202022/ViCell%20method%20adjustment%20testing.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https://azcollaboration-my.sharepoint.com/personal/kpbv849_astrazeneca_net/Documents/R&amp;D%20Associate%20II/ViCell%20NovaFlex%20agreement/CAT-S%20vs%20NovaFlex%20II%20comparison%20Mar-July%202022.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https://azcollaboration-my.sharepoint.com/personal/kpbv849_astrazeneca_net/Documents/R&amp;D%20Associate%20II/ViCell%20NovaFlex%20agreement/CAT-S%20vs%20NovaFlex%20II%20comparison%20Mar-July%202022.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https://azcollaboration-my.sharepoint.com/personal/kpbv849_astrazeneca_net/Documents/R&amp;D%20Associate%20II/ViCell%20NovaFlex%20agreement/CAT-S%20vs%20NovaFlex%20II%20comparison%20Mar-July%202022.xlsx" TargetMode="External"/><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461961783124213"/>
          <c:y val="4.2076615050655054E-2"/>
          <c:w val="0.84589227033380376"/>
          <c:h val="0.74782485649422514"/>
        </c:manualLayout>
      </c:layout>
      <c:scatterChart>
        <c:scatterStyle val="smoothMarker"/>
        <c:varyColors val="0"/>
        <c:ser>
          <c:idx val="1"/>
          <c:order val="1"/>
          <c:tx>
            <c:v>y=x</c:v>
          </c:tx>
          <c:spPr>
            <a:ln w="19050" cap="rnd">
              <a:solidFill>
                <a:schemeClr val="accent2"/>
              </a:solidFill>
              <a:round/>
            </a:ln>
            <a:effectLst/>
          </c:spPr>
          <c:marker>
            <c:symbol val="none"/>
          </c:marker>
          <c:xVal>
            <c:numRef>
              <c:f>Data!$AA$2:$AA$3</c:f>
              <c:numCache>
                <c:formatCode>General</c:formatCode>
                <c:ptCount val="2"/>
                <c:pt idx="0">
                  <c:v>0</c:v>
                </c:pt>
                <c:pt idx="1">
                  <c:v>150</c:v>
                </c:pt>
              </c:numCache>
            </c:numRef>
          </c:xVal>
          <c:yVal>
            <c:numRef>
              <c:f>Data!$AA$2:$AA$3</c:f>
              <c:numCache>
                <c:formatCode>General</c:formatCode>
                <c:ptCount val="2"/>
                <c:pt idx="0">
                  <c:v>0</c:v>
                </c:pt>
                <c:pt idx="1">
                  <c:v>150</c:v>
                </c:pt>
              </c:numCache>
            </c:numRef>
          </c:yVal>
          <c:smooth val="1"/>
          <c:extLst>
            <c:ext xmlns:c16="http://schemas.microsoft.com/office/drawing/2014/chart" uri="{C3380CC4-5D6E-409C-BE32-E72D297353CC}">
              <c16:uniqueId val="{00000000-C5C5-4721-8400-2965D4B49657}"/>
            </c:ext>
          </c:extLst>
        </c:ser>
        <c:dLbls>
          <c:showLegendKey val="0"/>
          <c:showVal val="0"/>
          <c:showCatName val="0"/>
          <c:showSerName val="0"/>
          <c:showPercent val="0"/>
          <c:showBubbleSize val="0"/>
        </c:dLbls>
        <c:axId val="405750063"/>
        <c:axId val="1319910831"/>
      </c:scatterChart>
      <c:scatterChart>
        <c:scatterStyle val="lineMarker"/>
        <c:varyColors val="0"/>
        <c:ser>
          <c:idx val="0"/>
          <c:order val="0"/>
          <c:tx>
            <c:strRef>
              <c:f>Data!$J$2</c:f>
              <c:strCache>
                <c:ptCount val="1"/>
                <c:pt idx="0">
                  <c:v>ViCell Viability</c:v>
                </c:pt>
              </c:strCache>
            </c:strRef>
          </c:tx>
          <c:spPr>
            <a:ln w="25400" cap="rnd">
              <a:noFill/>
              <a:round/>
            </a:ln>
            <a:effectLst/>
          </c:spPr>
          <c:marker>
            <c:symbol val="circle"/>
            <c:size val="5"/>
            <c:spPr>
              <a:noFill/>
              <a:ln w="9525">
                <a:solidFill>
                  <a:schemeClr val="accent5">
                    <a:lumMod val="50000"/>
                    <a:lumOff val="50000"/>
                  </a:schemeClr>
                </a:solidFill>
              </a:ln>
              <a:effectLst/>
            </c:spPr>
          </c:marker>
          <c:trendline>
            <c:spPr>
              <a:ln w="19050" cap="rnd">
                <a:solidFill>
                  <a:schemeClr val="accent5">
                    <a:lumMod val="75000"/>
                    <a:lumOff val="25000"/>
                  </a:schemeClr>
                </a:solidFill>
                <a:prstDash val="sysDot"/>
              </a:ln>
              <a:effectLst/>
            </c:spPr>
            <c:trendlineType val="linear"/>
            <c:intercept val="0"/>
            <c:dispRSqr val="1"/>
            <c:dispEq val="1"/>
            <c:trendlineLbl>
              <c:layout>
                <c:manualLayout>
                  <c:x val="-0.13769616599253334"/>
                  <c:y val="2.6410256184546533E-3"/>
                </c:manualLayout>
              </c:layout>
              <c:numFmt formatCode="General" sourceLinked="0"/>
              <c:spPr>
                <a:noFill/>
                <a:ln>
                  <a:noFill/>
                </a:ln>
                <a:effectLst/>
              </c:spPr>
              <c:txPr>
                <a:bodyPr rot="0" spcFirstLastPara="1" vertOverflow="ellipsis" vert="horz" wrap="square" anchor="ctr" anchorCtr="1"/>
                <a:lstStyle/>
                <a:p>
                  <a:pPr>
                    <a:defRPr sz="1800" b="0" i="0" u="none" strike="noStrike" kern="1200" baseline="0">
                      <a:solidFill>
                        <a:schemeClr val="tx1"/>
                      </a:solidFill>
                      <a:latin typeface="+mn-lt"/>
                      <a:ea typeface="+mn-ea"/>
                      <a:cs typeface="+mn-cs"/>
                    </a:defRPr>
                  </a:pPr>
                  <a:endParaRPr lang="en-US"/>
                </a:p>
              </c:txPr>
            </c:trendlineLbl>
          </c:trendline>
          <c:xVal>
            <c:numRef>
              <c:f>Data!$E$3:$E$507</c:f>
              <c:numCache>
                <c:formatCode>General</c:formatCode>
                <c:ptCount val="505"/>
                <c:pt idx="0">
                  <c:v>98.8</c:v>
                </c:pt>
                <c:pt idx="1">
                  <c:v>98.8</c:v>
                </c:pt>
                <c:pt idx="2">
                  <c:v>99.2</c:v>
                </c:pt>
                <c:pt idx="3">
                  <c:v>99</c:v>
                </c:pt>
                <c:pt idx="4">
                  <c:v>98.9</c:v>
                </c:pt>
                <c:pt idx="5">
                  <c:v>98.6</c:v>
                </c:pt>
                <c:pt idx="6">
                  <c:v>98.1</c:v>
                </c:pt>
                <c:pt idx="7">
                  <c:v>97.3</c:v>
                </c:pt>
                <c:pt idx="8">
                  <c:v>95.3</c:v>
                </c:pt>
                <c:pt idx="9">
                  <c:v>92.1</c:v>
                </c:pt>
                <c:pt idx="10">
                  <c:v>84.7</c:v>
                </c:pt>
                <c:pt idx="11">
                  <c:v>78.099999999999994</c:v>
                </c:pt>
                <c:pt idx="12">
                  <c:v>73.2</c:v>
                </c:pt>
                <c:pt idx="13">
                  <c:v>69.599999999999994</c:v>
                </c:pt>
                <c:pt idx="14">
                  <c:v>66.3</c:v>
                </c:pt>
                <c:pt idx="15">
                  <c:v>97.5</c:v>
                </c:pt>
                <c:pt idx="16">
                  <c:v>98.3</c:v>
                </c:pt>
                <c:pt idx="17">
                  <c:v>98.9</c:v>
                </c:pt>
                <c:pt idx="18">
                  <c:v>99.1</c:v>
                </c:pt>
                <c:pt idx="19">
                  <c:v>98.7</c:v>
                </c:pt>
                <c:pt idx="20">
                  <c:v>98.2</c:v>
                </c:pt>
                <c:pt idx="21">
                  <c:v>97.3</c:v>
                </c:pt>
                <c:pt idx="22">
                  <c:v>96</c:v>
                </c:pt>
                <c:pt idx="23">
                  <c:v>91.8</c:v>
                </c:pt>
                <c:pt idx="24">
                  <c:v>86.8</c:v>
                </c:pt>
                <c:pt idx="25">
                  <c:v>80.099999999999994</c:v>
                </c:pt>
                <c:pt idx="26">
                  <c:v>72.599999999999994</c:v>
                </c:pt>
                <c:pt idx="27">
                  <c:v>70.099999999999994</c:v>
                </c:pt>
                <c:pt idx="28">
                  <c:v>67</c:v>
                </c:pt>
                <c:pt idx="29">
                  <c:v>62.5</c:v>
                </c:pt>
                <c:pt idx="30">
                  <c:v>97.5</c:v>
                </c:pt>
                <c:pt idx="31">
                  <c:v>98.1</c:v>
                </c:pt>
                <c:pt idx="32">
                  <c:v>99.1</c:v>
                </c:pt>
                <c:pt idx="33">
                  <c:v>98.9</c:v>
                </c:pt>
                <c:pt idx="34">
                  <c:v>98.6</c:v>
                </c:pt>
                <c:pt idx="35">
                  <c:v>98.4</c:v>
                </c:pt>
                <c:pt idx="36">
                  <c:v>97.3</c:v>
                </c:pt>
                <c:pt idx="37">
                  <c:v>95.4</c:v>
                </c:pt>
                <c:pt idx="38">
                  <c:v>92.9</c:v>
                </c:pt>
                <c:pt idx="39">
                  <c:v>88.7</c:v>
                </c:pt>
                <c:pt idx="40">
                  <c:v>83.7</c:v>
                </c:pt>
                <c:pt idx="41">
                  <c:v>76.400000000000006</c:v>
                </c:pt>
                <c:pt idx="42">
                  <c:v>72.2</c:v>
                </c:pt>
                <c:pt idx="43">
                  <c:v>68.7</c:v>
                </c:pt>
                <c:pt idx="44">
                  <c:v>65.2</c:v>
                </c:pt>
                <c:pt idx="45">
                  <c:v>96.5</c:v>
                </c:pt>
                <c:pt idx="46">
                  <c:v>97.6</c:v>
                </c:pt>
                <c:pt idx="47">
                  <c:v>98.6</c:v>
                </c:pt>
                <c:pt idx="48">
                  <c:v>98.3</c:v>
                </c:pt>
                <c:pt idx="49">
                  <c:v>98.3</c:v>
                </c:pt>
                <c:pt idx="50">
                  <c:v>98</c:v>
                </c:pt>
                <c:pt idx="51">
                  <c:v>97.1</c:v>
                </c:pt>
                <c:pt idx="52">
                  <c:v>96.9</c:v>
                </c:pt>
                <c:pt idx="53">
                  <c:v>93.6</c:v>
                </c:pt>
                <c:pt idx="54">
                  <c:v>90.2</c:v>
                </c:pt>
                <c:pt idx="55">
                  <c:v>87.2</c:v>
                </c:pt>
                <c:pt idx="56">
                  <c:v>82.5</c:v>
                </c:pt>
                <c:pt idx="57">
                  <c:v>78.5</c:v>
                </c:pt>
                <c:pt idx="58">
                  <c:v>73.900000000000006</c:v>
                </c:pt>
                <c:pt idx="59">
                  <c:v>69.8</c:v>
                </c:pt>
                <c:pt idx="60">
                  <c:v>96.7</c:v>
                </c:pt>
                <c:pt idx="61">
                  <c:v>97.1</c:v>
                </c:pt>
                <c:pt idx="62">
                  <c:v>98.8</c:v>
                </c:pt>
                <c:pt idx="63">
                  <c:v>98.9</c:v>
                </c:pt>
                <c:pt idx="64">
                  <c:v>98.4</c:v>
                </c:pt>
                <c:pt idx="65">
                  <c:v>98.1</c:v>
                </c:pt>
                <c:pt idx="66">
                  <c:v>96.6</c:v>
                </c:pt>
                <c:pt idx="67">
                  <c:v>94.1</c:v>
                </c:pt>
                <c:pt idx="68">
                  <c:v>87</c:v>
                </c:pt>
                <c:pt idx="69">
                  <c:v>85.3</c:v>
                </c:pt>
                <c:pt idx="70">
                  <c:v>84.8</c:v>
                </c:pt>
                <c:pt idx="71">
                  <c:v>85.1</c:v>
                </c:pt>
                <c:pt idx="72">
                  <c:v>84.8</c:v>
                </c:pt>
                <c:pt idx="73">
                  <c:v>79.8</c:v>
                </c:pt>
                <c:pt idx="74">
                  <c:v>71.599999999999994</c:v>
                </c:pt>
                <c:pt idx="75">
                  <c:v>92</c:v>
                </c:pt>
                <c:pt idx="76">
                  <c:v>94.5</c:v>
                </c:pt>
                <c:pt idx="77">
                  <c:v>98.2</c:v>
                </c:pt>
                <c:pt idx="78">
                  <c:v>99</c:v>
                </c:pt>
                <c:pt idx="79">
                  <c:v>98.6</c:v>
                </c:pt>
                <c:pt idx="80">
                  <c:v>98.3</c:v>
                </c:pt>
                <c:pt idx="81">
                  <c:v>96.8</c:v>
                </c:pt>
                <c:pt idx="82">
                  <c:v>94.8</c:v>
                </c:pt>
                <c:pt idx="83">
                  <c:v>92.1</c:v>
                </c:pt>
                <c:pt idx="84">
                  <c:v>88.3</c:v>
                </c:pt>
                <c:pt idx="85">
                  <c:v>80.8</c:v>
                </c:pt>
                <c:pt idx="86">
                  <c:v>52.6</c:v>
                </c:pt>
                <c:pt idx="87">
                  <c:v>39.200000000000003</c:v>
                </c:pt>
                <c:pt idx="88">
                  <c:v>25.4</c:v>
                </c:pt>
                <c:pt idx="89">
                  <c:v>4.5999999999999996</c:v>
                </c:pt>
                <c:pt idx="90">
                  <c:v>95.3</c:v>
                </c:pt>
                <c:pt idx="91">
                  <c:v>98.1</c:v>
                </c:pt>
                <c:pt idx="92">
                  <c:v>99.3</c:v>
                </c:pt>
                <c:pt idx="93">
                  <c:v>99.1</c:v>
                </c:pt>
                <c:pt idx="94">
                  <c:v>98.8</c:v>
                </c:pt>
                <c:pt idx="95">
                  <c:v>98.7</c:v>
                </c:pt>
                <c:pt idx="96">
                  <c:v>97.8</c:v>
                </c:pt>
                <c:pt idx="97">
                  <c:v>96.7</c:v>
                </c:pt>
                <c:pt idx="98">
                  <c:v>94</c:v>
                </c:pt>
                <c:pt idx="99">
                  <c:v>89.3</c:v>
                </c:pt>
                <c:pt idx="100">
                  <c:v>85.8</c:v>
                </c:pt>
                <c:pt idx="101">
                  <c:v>79.7</c:v>
                </c:pt>
                <c:pt idx="102">
                  <c:v>67.8</c:v>
                </c:pt>
                <c:pt idx="103">
                  <c:v>57.1</c:v>
                </c:pt>
                <c:pt idx="104">
                  <c:v>46</c:v>
                </c:pt>
                <c:pt idx="105">
                  <c:v>97</c:v>
                </c:pt>
                <c:pt idx="106">
                  <c:v>97.7</c:v>
                </c:pt>
                <c:pt idx="107">
                  <c:v>98.9</c:v>
                </c:pt>
                <c:pt idx="108">
                  <c:v>98.4</c:v>
                </c:pt>
                <c:pt idx="109">
                  <c:v>97.8</c:v>
                </c:pt>
                <c:pt idx="110">
                  <c:v>97.1</c:v>
                </c:pt>
                <c:pt idx="111">
                  <c:v>95.4</c:v>
                </c:pt>
                <c:pt idx="112">
                  <c:v>95.7</c:v>
                </c:pt>
                <c:pt idx="113">
                  <c:v>92.8</c:v>
                </c:pt>
                <c:pt idx="114">
                  <c:v>90.2</c:v>
                </c:pt>
                <c:pt idx="115">
                  <c:v>88.3</c:v>
                </c:pt>
                <c:pt idx="116">
                  <c:v>87.7</c:v>
                </c:pt>
                <c:pt idx="117">
                  <c:v>86.2</c:v>
                </c:pt>
                <c:pt idx="118">
                  <c:v>84.9</c:v>
                </c:pt>
                <c:pt idx="119">
                  <c:v>81.099999999999994</c:v>
                </c:pt>
                <c:pt idx="120">
                  <c:v>97.8</c:v>
                </c:pt>
                <c:pt idx="121">
                  <c:v>98.7</c:v>
                </c:pt>
                <c:pt idx="122">
                  <c:v>99.3</c:v>
                </c:pt>
                <c:pt idx="123">
                  <c:v>99</c:v>
                </c:pt>
                <c:pt idx="124">
                  <c:v>98.8</c:v>
                </c:pt>
                <c:pt idx="125">
                  <c:v>97.8</c:v>
                </c:pt>
                <c:pt idx="126">
                  <c:v>96.6</c:v>
                </c:pt>
                <c:pt idx="127">
                  <c:v>95</c:v>
                </c:pt>
                <c:pt idx="128">
                  <c:v>90.9</c:v>
                </c:pt>
                <c:pt idx="129">
                  <c:v>85.8</c:v>
                </c:pt>
                <c:pt idx="130">
                  <c:v>82.3</c:v>
                </c:pt>
                <c:pt idx="131">
                  <c:v>76.400000000000006</c:v>
                </c:pt>
                <c:pt idx="132">
                  <c:v>72</c:v>
                </c:pt>
                <c:pt idx="133">
                  <c:v>71.900000000000006</c:v>
                </c:pt>
                <c:pt idx="134">
                  <c:v>68.8</c:v>
                </c:pt>
                <c:pt idx="135">
                  <c:v>98.3</c:v>
                </c:pt>
                <c:pt idx="136">
                  <c:v>98.4</c:v>
                </c:pt>
                <c:pt idx="137">
                  <c:v>98.9</c:v>
                </c:pt>
                <c:pt idx="138">
                  <c:v>98.7</c:v>
                </c:pt>
                <c:pt idx="139">
                  <c:v>98.8</c:v>
                </c:pt>
                <c:pt idx="140">
                  <c:v>98.3</c:v>
                </c:pt>
                <c:pt idx="141">
                  <c:v>97.2</c:v>
                </c:pt>
                <c:pt idx="142">
                  <c:v>97</c:v>
                </c:pt>
                <c:pt idx="143">
                  <c:v>96.3</c:v>
                </c:pt>
                <c:pt idx="144">
                  <c:v>92.3</c:v>
                </c:pt>
                <c:pt idx="145">
                  <c:v>87.2</c:v>
                </c:pt>
                <c:pt idx="146">
                  <c:v>77.900000000000006</c:v>
                </c:pt>
                <c:pt idx="147">
                  <c:v>66.400000000000006</c:v>
                </c:pt>
                <c:pt idx="148">
                  <c:v>61.6</c:v>
                </c:pt>
                <c:pt idx="149">
                  <c:v>52.7</c:v>
                </c:pt>
                <c:pt idx="150">
                  <c:v>98.7</c:v>
                </c:pt>
                <c:pt idx="151">
                  <c:v>98.7</c:v>
                </c:pt>
                <c:pt idx="152">
                  <c:v>99.1</c:v>
                </c:pt>
                <c:pt idx="153">
                  <c:v>98.9</c:v>
                </c:pt>
                <c:pt idx="154">
                  <c:v>98.5</c:v>
                </c:pt>
                <c:pt idx="155">
                  <c:v>97.9</c:v>
                </c:pt>
                <c:pt idx="156">
                  <c:v>97.4</c:v>
                </c:pt>
                <c:pt idx="157">
                  <c:v>97.1</c:v>
                </c:pt>
                <c:pt idx="158">
                  <c:v>94.4</c:v>
                </c:pt>
                <c:pt idx="159">
                  <c:v>92.6</c:v>
                </c:pt>
                <c:pt idx="160">
                  <c:v>89.5</c:v>
                </c:pt>
                <c:pt idx="161">
                  <c:v>85.3</c:v>
                </c:pt>
                <c:pt idx="162">
                  <c:v>82.5</c:v>
                </c:pt>
                <c:pt idx="163">
                  <c:v>81.099999999999994</c:v>
                </c:pt>
                <c:pt idx="164">
                  <c:v>78</c:v>
                </c:pt>
                <c:pt idx="165">
                  <c:v>98.9</c:v>
                </c:pt>
                <c:pt idx="166">
                  <c:v>96.6</c:v>
                </c:pt>
                <c:pt idx="167">
                  <c:v>98.6</c:v>
                </c:pt>
                <c:pt idx="168">
                  <c:v>98.9</c:v>
                </c:pt>
                <c:pt idx="169">
                  <c:v>98.5</c:v>
                </c:pt>
                <c:pt idx="170">
                  <c:v>98.2</c:v>
                </c:pt>
                <c:pt idx="171">
                  <c:v>97.5</c:v>
                </c:pt>
                <c:pt idx="172">
                  <c:v>95.3</c:v>
                </c:pt>
                <c:pt idx="173">
                  <c:v>94.3</c:v>
                </c:pt>
                <c:pt idx="174">
                  <c:v>89.3</c:v>
                </c:pt>
                <c:pt idx="175">
                  <c:v>88.1</c:v>
                </c:pt>
                <c:pt idx="176">
                  <c:v>85</c:v>
                </c:pt>
                <c:pt idx="177">
                  <c:v>83</c:v>
                </c:pt>
                <c:pt idx="178">
                  <c:v>81.3</c:v>
                </c:pt>
                <c:pt idx="179">
                  <c:v>81.599999999999994</c:v>
                </c:pt>
                <c:pt idx="180">
                  <c:v>76.900000000000006</c:v>
                </c:pt>
                <c:pt idx="181">
                  <c:v>97.1</c:v>
                </c:pt>
                <c:pt idx="182">
                  <c:v>97.3</c:v>
                </c:pt>
                <c:pt idx="183">
                  <c:v>97.5</c:v>
                </c:pt>
                <c:pt idx="184">
                  <c:v>97.9</c:v>
                </c:pt>
                <c:pt idx="185">
                  <c:v>97.3</c:v>
                </c:pt>
                <c:pt idx="186">
                  <c:v>95.3</c:v>
                </c:pt>
                <c:pt idx="187">
                  <c:v>93.5</c:v>
                </c:pt>
                <c:pt idx="188">
                  <c:v>94.2</c:v>
                </c:pt>
                <c:pt idx="189">
                  <c:v>87.7</c:v>
                </c:pt>
                <c:pt idx="190">
                  <c:v>84.5</c:v>
                </c:pt>
                <c:pt idx="191">
                  <c:v>81.2</c:v>
                </c:pt>
                <c:pt idx="192">
                  <c:v>76.400000000000006</c:v>
                </c:pt>
                <c:pt idx="193">
                  <c:v>73.7</c:v>
                </c:pt>
                <c:pt idx="194">
                  <c:v>74.8</c:v>
                </c:pt>
                <c:pt idx="195">
                  <c:v>71.900000000000006</c:v>
                </c:pt>
                <c:pt idx="196">
                  <c:v>97.4</c:v>
                </c:pt>
                <c:pt idx="197">
                  <c:v>98.6</c:v>
                </c:pt>
                <c:pt idx="198">
                  <c:v>99</c:v>
                </c:pt>
                <c:pt idx="199">
                  <c:v>99.2</c:v>
                </c:pt>
                <c:pt idx="200">
                  <c:v>99</c:v>
                </c:pt>
                <c:pt idx="201">
                  <c:v>98.4</c:v>
                </c:pt>
                <c:pt idx="202">
                  <c:v>98.2</c:v>
                </c:pt>
                <c:pt idx="203">
                  <c:v>97.7</c:v>
                </c:pt>
                <c:pt idx="204">
                  <c:v>96.6</c:v>
                </c:pt>
                <c:pt idx="205">
                  <c:v>95</c:v>
                </c:pt>
                <c:pt idx="206">
                  <c:v>94.6</c:v>
                </c:pt>
                <c:pt idx="207">
                  <c:v>93.4</c:v>
                </c:pt>
                <c:pt idx="208">
                  <c:v>90.9</c:v>
                </c:pt>
                <c:pt idx="209">
                  <c:v>88.2</c:v>
                </c:pt>
                <c:pt idx="210">
                  <c:v>82.8</c:v>
                </c:pt>
                <c:pt idx="211">
                  <c:v>98.3</c:v>
                </c:pt>
                <c:pt idx="212">
                  <c:v>98.2</c:v>
                </c:pt>
                <c:pt idx="213">
                  <c:v>99.1</c:v>
                </c:pt>
                <c:pt idx="214">
                  <c:v>99.3</c:v>
                </c:pt>
                <c:pt idx="215">
                  <c:v>99.1</c:v>
                </c:pt>
                <c:pt idx="216">
                  <c:v>98.5</c:v>
                </c:pt>
                <c:pt idx="217">
                  <c:v>98.1</c:v>
                </c:pt>
                <c:pt idx="218">
                  <c:v>97.5</c:v>
                </c:pt>
                <c:pt idx="219">
                  <c:v>95.6</c:v>
                </c:pt>
                <c:pt idx="220">
                  <c:v>90.3</c:v>
                </c:pt>
                <c:pt idx="221">
                  <c:v>85.6</c:v>
                </c:pt>
                <c:pt idx="222">
                  <c:v>80.900000000000006</c:v>
                </c:pt>
                <c:pt idx="223">
                  <c:v>74</c:v>
                </c:pt>
                <c:pt idx="224">
                  <c:v>65.3</c:v>
                </c:pt>
                <c:pt idx="225">
                  <c:v>62.5</c:v>
                </c:pt>
                <c:pt idx="226">
                  <c:v>98</c:v>
                </c:pt>
                <c:pt idx="227">
                  <c:v>98.9</c:v>
                </c:pt>
                <c:pt idx="228">
                  <c:v>99.1</c:v>
                </c:pt>
                <c:pt idx="229">
                  <c:v>98.8</c:v>
                </c:pt>
                <c:pt idx="230">
                  <c:v>98.9</c:v>
                </c:pt>
                <c:pt idx="231">
                  <c:v>98.8</c:v>
                </c:pt>
                <c:pt idx="232">
                  <c:v>98.5</c:v>
                </c:pt>
                <c:pt idx="233">
                  <c:v>97.6</c:v>
                </c:pt>
                <c:pt idx="234">
                  <c:v>97</c:v>
                </c:pt>
                <c:pt idx="235">
                  <c:v>95.9</c:v>
                </c:pt>
                <c:pt idx="236">
                  <c:v>94.7</c:v>
                </c:pt>
                <c:pt idx="237">
                  <c:v>91.4</c:v>
                </c:pt>
                <c:pt idx="238">
                  <c:v>84.2</c:v>
                </c:pt>
                <c:pt idx="239">
                  <c:v>78.900000000000006</c:v>
                </c:pt>
                <c:pt idx="240">
                  <c:v>74.7</c:v>
                </c:pt>
                <c:pt idx="241">
                  <c:v>97.8</c:v>
                </c:pt>
                <c:pt idx="242">
                  <c:v>97.9</c:v>
                </c:pt>
                <c:pt idx="243">
                  <c:v>99</c:v>
                </c:pt>
                <c:pt idx="244">
                  <c:v>99.3</c:v>
                </c:pt>
                <c:pt idx="245">
                  <c:v>99.1</c:v>
                </c:pt>
                <c:pt idx="246">
                  <c:v>99.2</c:v>
                </c:pt>
                <c:pt idx="247">
                  <c:v>98.8</c:v>
                </c:pt>
                <c:pt idx="248">
                  <c:v>98.8</c:v>
                </c:pt>
                <c:pt idx="249">
                  <c:v>98.2</c:v>
                </c:pt>
                <c:pt idx="250">
                  <c:v>97.1</c:v>
                </c:pt>
                <c:pt idx="251">
                  <c:v>92.2</c:v>
                </c:pt>
                <c:pt idx="252">
                  <c:v>87.6</c:v>
                </c:pt>
                <c:pt idx="253">
                  <c:v>80.400000000000006</c:v>
                </c:pt>
                <c:pt idx="254">
                  <c:v>74.099999999999994</c:v>
                </c:pt>
                <c:pt idx="255">
                  <c:v>70.8</c:v>
                </c:pt>
                <c:pt idx="256">
                  <c:v>65.7</c:v>
                </c:pt>
                <c:pt idx="257">
                  <c:v>99.2</c:v>
                </c:pt>
                <c:pt idx="258">
                  <c:v>98.7</c:v>
                </c:pt>
                <c:pt idx="259">
                  <c:v>99.3</c:v>
                </c:pt>
                <c:pt idx="260">
                  <c:v>98.6</c:v>
                </c:pt>
                <c:pt idx="261">
                  <c:v>98.9</c:v>
                </c:pt>
                <c:pt idx="262">
                  <c:v>99.1</c:v>
                </c:pt>
                <c:pt idx="263">
                  <c:v>99.2</c:v>
                </c:pt>
                <c:pt idx="264">
                  <c:v>99.1</c:v>
                </c:pt>
                <c:pt idx="265">
                  <c:v>99</c:v>
                </c:pt>
                <c:pt idx="266">
                  <c:v>98.9</c:v>
                </c:pt>
                <c:pt idx="267">
                  <c:v>97.8</c:v>
                </c:pt>
                <c:pt idx="268">
                  <c:v>96.9</c:v>
                </c:pt>
                <c:pt idx="269">
                  <c:v>96.5</c:v>
                </c:pt>
                <c:pt idx="270">
                  <c:v>94.4</c:v>
                </c:pt>
                <c:pt idx="271">
                  <c:v>91.3</c:v>
                </c:pt>
                <c:pt idx="272">
                  <c:v>90.7</c:v>
                </c:pt>
                <c:pt idx="273">
                  <c:v>99.3</c:v>
                </c:pt>
                <c:pt idx="274">
                  <c:v>98.4</c:v>
                </c:pt>
                <c:pt idx="275">
                  <c:v>99</c:v>
                </c:pt>
                <c:pt idx="276">
                  <c:v>98.5</c:v>
                </c:pt>
                <c:pt idx="277">
                  <c:v>98.7</c:v>
                </c:pt>
                <c:pt idx="278">
                  <c:v>98.5</c:v>
                </c:pt>
                <c:pt idx="279">
                  <c:v>97.7</c:v>
                </c:pt>
                <c:pt idx="280">
                  <c:v>96</c:v>
                </c:pt>
                <c:pt idx="281">
                  <c:v>95.8</c:v>
                </c:pt>
                <c:pt idx="282">
                  <c:v>91.9</c:v>
                </c:pt>
                <c:pt idx="283">
                  <c:v>88.2</c:v>
                </c:pt>
                <c:pt idx="284">
                  <c:v>85.8</c:v>
                </c:pt>
                <c:pt idx="285">
                  <c:v>83.4</c:v>
                </c:pt>
                <c:pt idx="286">
                  <c:v>80.400000000000006</c:v>
                </c:pt>
                <c:pt idx="287">
                  <c:v>83.4</c:v>
                </c:pt>
                <c:pt idx="288">
                  <c:v>97.3</c:v>
                </c:pt>
                <c:pt idx="289">
                  <c:v>98.4</c:v>
                </c:pt>
                <c:pt idx="290">
                  <c:v>98.5</c:v>
                </c:pt>
                <c:pt idx="291">
                  <c:v>98.9</c:v>
                </c:pt>
                <c:pt idx="292">
                  <c:v>96.5</c:v>
                </c:pt>
                <c:pt idx="293">
                  <c:v>96.3</c:v>
                </c:pt>
                <c:pt idx="294">
                  <c:v>96.8</c:v>
                </c:pt>
                <c:pt idx="295">
                  <c:v>96.4</c:v>
                </c:pt>
                <c:pt idx="296">
                  <c:v>95.3</c:v>
                </c:pt>
                <c:pt idx="297">
                  <c:v>94.1</c:v>
                </c:pt>
                <c:pt idx="298">
                  <c:v>88.7</c:v>
                </c:pt>
                <c:pt idx="299">
                  <c:v>85.8</c:v>
                </c:pt>
                <c:pt idx="300">
                  <c:v>82.3</c:v>
                </c:pt>
                <c:pt idx="301">
                  <c:v>80.7</c:v>
                </c:pt>
                <c:pt idx="302">
                  <c:v>75.900000000000006</c:v>
                </c:pt>
                <c:pt idx="303">
                  <c:v>79.900000000000006</c:v>
                </c:pt>
                <c:pt idx="304">
                  <c:v>97.8</c:v>
                </c:pt>
                <c:pt idx="305">
                  <c:v>97.5</c:v>
                </c:pt>
                <c:pt idx="306">
                  <c:v>98.1</c:v>
                </c:pt>
                <c:pt idx="307">
                  <c:v>98.7</c:v>
                </c:pt>
                <c:pt idx="308">
                  <c:v>96.8</c:v>
                </c:pt>
                <c:pt idx="309">
                  <c:v>96.7</c:v>
                </c:pt>
                <c:pt idx="310">
                  <c:v>96.6</c:v>
                </c:pt>
                <c:pt idx="311">
                  <c:v>96.1</c:v>
                </c:pt>
                <c:pt idx="312">
                  <c:v>93.7</c:v>
                </c:pt>
                <c:pt idx="313">
                  <c:v>86.7</c:v>
                </c:pt>
                <c:pt idx="314">
                  <c:v>70.400000000000006</c:v>
                </c:pt>
                <c:pt idx="315">
                  <c:v>36.200000000000003</c:v>
                </c:pt>
                <c:pt idx="316">
                  <c:v>18.2</c:v>
                </c:pt>
                <c:pt idx="317">
                  <c:v>0</c:v>
                </c:pt>
                <c:pt idx="318">
                  <c:v>98.1</c:v>
                </c:pt>
                <c:pt idx="319">
                  <c:v>97.8</c:v>
                </c:pt>
                <c:pt idx="320">
                  <c:v>98.7</c:v>
                </c:pt>
                <c:pt idx="321">
                  <c:v>97.9</c:v>
                </c:pt>
                <c:pt idx="322">
                  <c:v>97.5</c:v>
                </c:pt>
                <c:pt idx="323">
                  <c:v>96.1</c:v>
                </c:pt>
                <c:pt idx="324">
                  <c:v>95.5</c:v>
                </c:pt>
                <c:pt idx="325">
                  <c:v>94</c:v>
                </c:pt>
                <c:pt idx="326">
                  <c:v>92.2</c:v>
                </c:pt>
                <c:pt idx="327">
                  <c:v>87.3</c:v>
                </c:pt>
                <c:pt idx="328">
                  <c:v>83.3</c:v>
                </c:pt>
                <c:pt idx="329">
                  <c:v>80</c:v>
                </c:pt>
                <c:pt idx="330">
                  <c:v>75.400000000000006</c:v>
                </c:pt>
                <c:pt idx="331">
                  <c:v>69.2</c:v>
                </c:pt>
                <c:pt idx="332">
                  <c:v>66.5</c:v>
                </c:pt>
                <c:pt idx="333">
                  <c:v>97.7</c:v>
                </c:pt>
                <c:pt idx="334">
                  <c:v>98.6</c:v>
                </c:pt>
                <c:pt idx="335">
                  <c:v>98.4</c:v>
                </c:pt>
                <c:pt idx="336">
                  <c:v>99.1</c:v>
                </c:pt>
                <c:pt idx="337">
                  <c:v>98.5</c:v>
                </c:pt>
                <c:pt idx="338">
                  <c:v>98.1</c:v>
                </c:pt>
                <c:pt idx="339">
                  <c:v>97.6</c:v>
                </c:pt>
                <c:pt idx="340">
                  <c:v>96.8</c:v>
                </c:pt>
                <c:pt idx="341">
                  <c:v>95.1</c:v>
                </c:pt>
                <c:pt idx="342">
                  <c:v>92.7</c:v>
                </c:pt>
                <c:pt idx="343">
                  <c:v>89</c:v>
                </c:pt>
                <c:pt idx="344">
                  <c:v>86.2</c:v>
                </c:pt>
                <c:pt idx="345">
                  <c:v>83.6</c:v>
                </c:pt>
                <c:pt idx="346">
                  <c:v>78.400000000000006</c:v>
                </c:pt>
                <c:pt idx="347">
                  <c:v>73.599999999999994</c:v>
                </c:pt>
                <c:pt idx="348">
                  <c:v>72.3</c:v>
                </c:pt>
                <c:pt idx="349">
                  <c:v>98.5</c:v>
                </c:pt>
                <c:pt idx="350">
                  <c:v>97.4</c:v>
                </c:pt>
                <c:pt idx="351">
                  <c:v>98.1</c:v>
                </c:pt>
                <c:pt idx="352">
                  <c:v>98.5</c:v>
                </c:pt>
                <c:pt idx="353">
                  <c:v>98.3</c:v>
                </c:pt>
                <c:pt idx="354">
                  <c:v>97.6</c:v>
                </c:pt>
                <c:pt idx="355">
                  <c:v>94.8</c:v>
                </c:pt>
                <c:pt idx="356">
                  <c:v>94</c:v>
                </c:pt>
                <c:pt idx="357">
                  <c:v>91.3</c:v>
                </c:pt>
                <c:pt idx="358">
                  <c:v>84.9</c:v>
                </c:pt>
                <c:pt idx="359">
                  <c:v>76.8</c:v>
                </c:pt>
                <c:pt idx="360">
                  <c:v>68.7</c:v>
                </c:pt>
                <c:pt idx="361">
                  <c:v>54.1</c:v>
                </c:pt>
                <c:pt idx="362">
                  <c:v>34.700000000000003</c:v>
                </c:pt>
                <c:pt idx="363">
                  <c:v>22.4</c:v>
                </c:pt>
                <c:pt idx="364">
                  <c:v>97.3</c:v>
                </c:pt>
                <c:pt idx="365">
                  <c:v>96.9</c:v>
                </c:pt>
                <c:pt idx="366">
                  <c:v>97.8</c:v>
                </c:pt>
                <c:pt idx="367">
                  <c:v>98.2</c:v>
                </c:pt>
                <c:pt idx="368">
                  <c:v>97.9</c:v>
                </c:pt>
                <c:pt idx="369">
                  <c:v>97.1</c:v>
                </c:pt>
                <c:pt idx="370">
                  <c:v>95</c:v>
                </c:pt>
                <c:pt idx="371">
                  <c:v>91.2</c:v>
                </c:pt>
                <c:pt idx="372">
                  <c:v>86.7</c:v>
                </c:pt>
                <c:pt idx="373">
                  <c:v>82.2</c:v>
                </c:pt>
                <c:pt idx="374">
                  <c:v>73.3</c:v>
                </c:pt>
                <c:pt idx="375">
                  <c:v>67.400000000000006</c:v>
                </c:pt>
                <c:pt idx="376">
                  <c:v>63.4</c:v>
                </c:pt>
                <c:pt idx="377">
                  <c:v>60.5</c:v>
                </c:pt>
                <c:pt idx="378">
                  <c:v>54.2</c:v>
                </c:pt>
                <c:pt idx="379">
                  <c:v>49</c:v>
                </c:pt>
                <c:pt idx="380">
                  <c:v>97.4</c:v>
                </c:pt>
                <c:pt idx="381">
                  <c:v>97.4</c:v>
                </c:pt>
                <c:pt idx="382">
                  <c:v>98.8</c:v>
                </c:pt>
                <c:pt idx="383">
                  <c:v>98.2</c:v>
                </c:pt>
                <c:pt idx="384">
                  <c:v>97.8</c:v>
                </c:pt>
                <c:pt idx="385">
                  <c:v>96.8</c:v>
                </c:pt>
                <c:pt idx="386">
                  <c:v>94.8</c:v>
                </c:pt>
                <c:pt idx="387">
                  <c:v>93</c:v>
                </c:pt>
                <c:pt idx="388">
                  <c:v>92.3</c:v>
                </c:pt>
                <c:pt idx="389">
                  <c:v>90.5</c:v>
                </c:pt>
                <c:pt idx="390">
                  <c:v>87</c:v>
                </c:pt>
                <c:pt idx="391">
                  <c:v>82.6</c:v>
                </c:pt>
                <c:pt idx="392">
                  <c:v>80.400000000000006</c:v>
                </c:pt>
                <c:pt idx="393">
                  <c:v>77.8</c:v>
                </c:pt>
                <c:pt idx="394">
                  <c:v>72.5</c:v>
                </c:pt>
                <c:pt idx="395">
                  <c:v>69.400000000000006</c:v>
                </c:pt>
                <c:pt idx="396">
                  <c:v>97.9</c:v>
                </c:pt>
                <c:pt idx="397">
                  <c:v>98.2</c:v>
                </c:pt>
                <c:pt idx="398">
                  <c:v>98.7</c:v>
                </c:pt>
                <c:pt idx="399">
                  <c:v>98.4</c:v>
                </c:pt>
                <c:pt idx="400">
                  <c:v>98.4</c:v>
                </c:pt>
                <c:pt idx="401">
                  <c:v>98.5</c:v>
                </c:pt>
                <c:pt idx="402">
                  <c:v>97.7</c:v>
                </c:pt>
                <c:pt idx="403">
                  <c:v>97.4</c:v>
                </c:pt>
                <c:pt idx="404">
                  <c:v>96.4</c:v>
                </c:pt>
                <c:pt idx="405">
                  <c:v>94.7</c:v>
                </c:pt>
                <c:pt idx="406">
                  <c:v>94.1</c:v>
                </c:pt>
                <c:pt idx="407">
                  <c:v>94</c:v>
                </c:pt>
                <c:pt idx="408">
                  <c:v>92.8</c:v>
                </c:pt>
                <c:pt idx="409">
                  <c:v>89</c:v>
                </c:pt>
                <c:pt idx="410">
                  <c:v>87.7</c:v>
                </c:pt>
                <c:pt idx="411">
                  <c:v>86.3</c:v>
                </c:pt>
                <c:pt idx="412">
                  <c:v>96.4</c:v>
                </c:pt>
                <c:pt idx="413">
                  <c:v>97.8</c:v>
                </c:pt>
                <c:pt idx="414">
                  <c:v>99.3</c:v>
                </c:pt>
                <c:pt idx="415">
                  <c:v>98.9</c:v>
                </c:pt>
                <c:pt idx="416">
                  <c:v>98.4</c:v>
                </c:pt>
                <c:pt idx="417">
                  <c:v>97.3</c:v>
                </c:pt>
                <c:pt idx="418">
                  <c:v>96.4</c:v>
                </c:pt>
                <c:pt idx="419">
                  <c:v>96.3</c:v>
                </c:pt>
                <c:pt idx="420">
                  <c:v>94.6</c:v>
                </c:pt>
                <c:pt idx="421">
                  <c:v>92.4</c:v>
                </c:pt>
                <c:pt idx="422">
                  <c:v>88.5</c:v>
                </c:pt>
                <c:pt idx="423">
                  <c:v>83.7</c:v>
                </c:pt>
                <c:pt idx="424">
                  <c:v>78.5</c:v>
                </c:pt>
                <c:pt idx="425">
                  <c:v>75.5</c:v>
                </c:pt>
                <c:pt idx="426">
                  <c:v>70.8</c:v>
                </c:pt>
                <c:pt idx="427">
                  <c:v>66.5</c:v>
                </c:pt>
                <c:pt idx="428">
                  <c:v>99</c:v>
                </c:pt>
                <c:pt idx="429">
                  <c:v>98.1</c:v>
                </c:pt>
                <c:pt idx="430">
                  <c:v>99.1</c:v>
                </c:pt>
                <c:pt idx="431">
                  <c:v>99.2</c:v>
                </c:pt>
                <c:pt idx="432">
                  <c:v>98.7</c:v>
                </c:pt>
                <c:pt idx="433">
                  <c:v>98.5</c:v>
                </c:pt>
                <c:pt idx="434">
                  <c:v>97.5</c:v>
                </c:pt>
                <c:pt idx="435">
                  <c:v>98</c:v>
                </c:pt>
                <c:pt idx="436">
                  <c:v>97.6</c:v>
                </c:pt>
                <c:pt idx="437">
                  <c:v>96.6</c:v>
                </c:pt>
                <c:pt idx="438">
                  <c:v>91.7</c:v>
                </c:pt>
                <c:pt idx="439">
                  <c:v>87.8</c:v>
                </c:pt>
                <c:pt idx="440">
                  <c:v>84.7</c:v>
                </c:pt>
                <c:pt idx="441">
                  <c:v>79.900000000000006</c:v>
                </c:pt>
                <c:pt idx="442">
                  <c:v>71.7</c:v>
                </c:pt>
                <c:pt idx="443">
                  <c:v>63.8</c:v>
                </c:pt>
                <c:pt idx="444">
                  <c:v>90.5</c:v>
                </c:pt>
                <c:pt idx="445">
                  <c:v>96.7</c:v>
                </c:pt>
                <c:pt idx="446">
                  <c:v>99.2</c:v>
                </c:pt>
                <c:pt idx="447">
                  <c:v>98.8</c:v>
                </c:pt>
                <c:pt idx="448">
                  <c:v>98.5</c:v>
                </c:pt>
                <c:pt idx="449">
                  <c:v>96.6</c:v>
                </c:pt>
                <c:pt idx="450">
                  <c:v>97.2</c:v>
                </c:pt>
                <c:pt idx="451">
                  <c:v>97.7</c:v>
                </c:pt>
                <c:pt idx="452">
                  <c:v>96.7</c:v>
                </c:pt>
                <c:pt idx="453">
                  <c:v>94</c:v>
                </c:pt>
                <c:pt idx="454">
                  <c:v>92.8</c:v>
                </c:pt>
                <c:pt idx="455">
                  <c:v>91.1</c:v>
                </c:pt>
                <c:pt idx="456">
                  <c:v>82</c:v>
                </c:pt>
                <c:pt idx="457">
                  <c:v>77.3</c:v>
                </c:pt>
                <c:pt idx="458">
                  <c:v>73</c:v>
                </c:pt>
                <c:pt idx="459">
                  <c:v>97.4</c:v>
                </c:pt>
                <c:pt idx="460">
                  <c:v>98.7</c:v>
                </c:pt>
                <c:pt idx="461">
                  <c:v>98.5</c:v>
                </c:pt>
                <c:pt idx="462">
                  <c:v>98.3</c:v>
                </c:pt>
                <c:pt idx="463">
                  <c:v>98.1</c:v>
                </c:pt>
                <c:pt idx="464">
                  <c:v>95.3</c:v>
                </c:pt>
                <c:pt idx="465">
                  <c:v>94.8</c:v>
                </c:pt>
                <c:pt idx="466">
                  <c:v>94.9</c:v>
                </c:pt>
                <c:pt idx="467">
                  <c:v>94.3</c:v>
                </c:pt>
                <c:pt idx="468">
                  <c:v>92.3</c:v>
                </c:pt>
                <c:pt idx="469">
                  <c:v>86.3</c:v>
                </c:pt>
                <c:pt idx="470">
                  <c:v>79.7</c:v>
                </c:pt>
                <c:pt idx="471">
                  <c:v>75.599999999999994</c:v>
                </c:pt>
                <c:pt idx="472">
                  <c:v>70.400000000000006</c:v>
                </c:pt>
                <c:pt idx="473">
                  <c:v>66.900000000000006</c:v>
                </c:pt>
                <c:pt idx="474">
                  <c:v>95.6</c:v>
                </c:pt>
                <c:pt idx="475">
                  <c:v>92.5</c:v>
                </c:pt>
                <c:pt idx="476">
                  <c:v>94.3</c:v>
                </c:pt>
                <c:pt idx="477">
                  <c:v>95.4</c:v>
                </c:pt>
                <c:pt idx="478">
                  <c:v>95.3</c:v>
                </c:pt>
                <c:pt idx="479">
                  <c:v>94.4</c:v>
                </c:pt>
                <c:pt idx="480">
                  <c:v>92</c:v>
                </c:pt>
                <c:pt idx="481">
                  <c:v>90.6</c:v>
                </c:pt>
                <c:pt idx="482">
                  <c:v>88.2</c:v>
                </c:pt>
                <c:pt idx="483">
                  <c:v>81.7</c:v>
                </c:pt>
                <c:pt idx="484">
                  <c:v>73.599999999999994</c:v>
                </c:pt>
                <c:pt idx="485">
                  <c:v>67.5</c:v>
                </c:pt>
                <c:pt idx="486">
                  <c:v>59.1</c:v>
                </c:pt>
                <c:pt idx="487">
                  <c:v>53.4</c:v>
                </c:pt>
                <c:pt idx="488">
                  <c:v>49.5</c:v>
                </c:pt>
                <c:pt idx="489">
                  <c:v>93.9</c:v>
                </c:pt>
                <c:pt idx="490">
                  <c:v>95.1</c:v>
                </c:pt>
                <c:pt idx="491">
                  <c:v>96.1</c:v>
                </c:pt>
                <c:pt idx="492">
                  <c:v>97</c:v>
                </c:pt>
                <c:pt idx="493">
                  <c:v>96.4</c:v>
                </c:pt>
                <c:pt idx="494">
                  <c:v>95.5</c:v>
                </c:pt>
                <c:pt idx="495">
                  <c:v>91.4</c:v>
                </c:pt>
                <c:pt idx="496">
                  <c:v>88.5</c:v>
                </c:pt>
                <c:pt idx="497">
                  <c:v>86</c:v>
                </c:pt>
                <c:pt idx="498">
                  <c:v>83.4</c:v>
                </c:pt>
                <c:pt idx="499">
                  <c:v>78.3</c:v>
                </c:pt>
                <c:pt idx="500">
                  <c:v>77.3</c:v>
                </c:pt>
                <c:pt idx="501">
                  <c:v>64.2</c:v>
                </c:pt>
                <c:pt idx="502">
                  <c:v>55.1</c:v>
                </c:pt>
                <c:pt idx="503">
                  <c:v>49.7</c:v>
                </c:pt>
              </c:numCache>
            </c:numRef>
          </c:xVal>
          <c:yVal>
            <c:numRef>
              <c:f>Data!$J$3:$J$507</c:f>
              <c:numCache>
                <c:formatCode>0.00</c:formatCode>
                <c:ptCount val="505"/>
                <c:pt idx="0">
                  <c:v>98.599998474121094</c:v>
                </c:pt>
                <c:pt idx="1">
                  <c:v>98.900001525878906</c:v>
                </c:pt>
                <c:pt idx="2">
                  <c:v>99.5</c:v>
                </c:pt>
                <c:pt idx="3">
                  <c:v>98.599998474121094</c:v>
                </c:pt>
                <c:pt idx="4">
                  <c:v>98.800003051757812</c:v>
                </c:pt>
                <c:pt idx="5">
                  <c:v>98.5</c:v>
                </c:pt>
                <c:pt idx="6">
                  <c:v>98.199996948242188</c:v>
                </c:pt>
                <c:pt idx="7">
                  <c:v>97.300003051757812</c:v>
                </c:pt>
                <c:pt idx="8">
                  <c:v>95.900001525878906</c:v>
                </c:pt>
                <c:pt idx="9">
                  <c:v>90.800003051757812</c:v>
                </c:pt>
                <c:pt idx="10">
                  <c:v>83.099998474121094</c:v>
                </c:pt>
                <c:pt idx="11">
                  <c:v>75.099998474121094</c:v>
                </c:pt>
                <c:pt idx="12">
                  <c:v>70.099998474121094</c:v>
                </c:pt>
                <c:pt idx="13">
                  <c:v>69</c:v>
                </c:pt>
                <c:pt idx="14">
                  <c:v>65.900001525878906</c:v>
                </c:pt>
                <c:pt idx="15">
                  <c:v>97.400001525878906</c:v>
                </c:pt>
                <c:pt idx="16">
                  <c:v>98.300003051757812</c:v>
                </c:pt>
                <c:pt idx="17">
                  <c:v>99</c:v>
                </c:pt>
                <c:pt idx="18">
                  <c:v>98.900001525878906</c:v>
                </c:pt>
                <c:pt idx="19">
                  <c:v>98.699996948242188</c:v>
                </c:pt>
                <c:pt idx="20">
                  <c:v>97.900001525878906</c:v>
                </c:pt>
                <c:pt idx="21">
                  <c:v>97.699996948242188</c:v>
                </c:pt>
                <c:pt idx="22">
                  <c:v>96.400001525878906</c:v>
                </c:pt>
                <c:pt idx="23">
                  <c:v>90.699996948242188</c:v>
                </c:pt>
                <c:pt idx="24">
                  <c:v>84.599998474121094</c:v>
                </c:pt>
                <c:pt idx="25">
                  <c:v>77.699996948242188</c:v>
                </c:pt>
                <c:pt idx="26">
                  <c:v>70.800003051757812</c:v>
                </c:pt>
                <c:pt idx="27">
                  <c:v>62.900001525878906</c:v>
                </c:pt>
                <c:pt idx="28">
                  <c:v>62.599998474121094</c:v>
                </c:pt>
                <c:pt idx="29">
                  <c:v>57.299999237060547</c:v>
                </c:pt>
                <c:pt idx="30">
                  <c:v>97.300003051757812</c:v>
                </c:pt>
                <c:pt idx="31">
                  <c:v>98.099998474121094</c:v>
                </c:pt>
                <c:pt idx="32">
                  <c:v>99.300003051757812</c:v>
                </c:pt>
                <c:pt idx="33">
                  <c:v>98.699996948242188</c:v>
                </c:pt>
                <c:pt idx="34">
                  <c:v>99.199996948242188</c:v>
                </c:pt>
                <c:pt idx="35">
                  <c:v>98.699996948242188</c:v>
                </c:pt>
                <c:pt idx="36">
                  <c:v>97.699996948242188</c:v>
                </c:pt>
                <c:pt idx="37">
                  <c:v>95.300003051757812</c:v>
                </c:pt>
                <c:pt idx="38">
                  <c:v>92.699996948242188</c:v>
                </c:pt>
                <c:pt idx="39">
                  <c:v>86.900001525878906</c:v>
                </c:pt>
                <c:pt idx="40">
                  <c:v>81.599998474121094</c:v>
                </c:pt>
                <c:pt idx="41">
                  <c:v>73.400001525878906</c:v>
                </c:pt>
                <c:pt idx="42">
                  <c:v>65.300003051757812</c:v>
                </c:pt>
                <c:pt idx="43">
                  <c:v>60.099998474121094</c:v>
                </c:pt>
                <c:pt idx="44">
                  <c:v>58.799999237060547</c:v>
                </c:pt>
                <c:pt idx="45">
                  <c:v>96.900001525878906</c:v>
                </c:pt>
                <c:pt idx="46">
                  <c:v>97.5</c:v>
                </c:pt>
                <c:pt idx="47">
                  <c:v>98.5</c:v>
                </c:pt>
                <c:pt idx="48">
                  <c:v>98.400001525878906</c:v>
                </c:pt>
                <c:pt idx="49">
                  <c:v>98.300003051757812</c:v>
                </c:pt>
                <c:pt idx="50">
                  <c:v>98.099998474121094</c:v>
                </c:pt>
                <c:pt idx="51">
                  <c:v>96.699996948242188</c:v>
                </c:pt>
                <c:pt idx="52">
                  <c:v>97</c:v>
                </c:pt>
                <c:pt idx="53">
                  <c:v>93</c:v>
                </c:pt>
                <c:pt idx="54">
                  <c:v>90.599998474121094</c:v>
                </c:pt>
                <c:pt idx="55">
                  <c:v>85.199996948242188</c:v>
                </c:pt>
                <c:pt idx="56">
                  <c:v>79.599998474121094</c:v>
                </c:pt>
                <c:pt idx="57">
                  <c:v>76</c:v>
                </c:pt>
                <c:pt idx="58">
                  <c:v>72.699996948242188</c:v>
                </c:pt>
                <c:pt idx="59">
                  <c:v>65.5</c:v>
                </c:pt>
                <c:pt idx="60">
                  <c:v>96.300003051757812</c:v>
                </c:pt>
                <c:pt idx="61">
                  <c:v>96.900001525878906</c:v>
                </c:pt>
                <c:pt idx="62">
                  <c:v>98.300003051757812</c:v>
                </c:pt>
                <c:pt idx="63">
                  <c:v>98.5</c:v>
                </c:pt>
                <c:pt idx="64">
                  <c:v>98.199996948242188</c:v>
                </c:pt>
                <c:pt idx="65">
                  <c:v>98</c:v>
                </c:pt>
                <c:pt idx="66">
                  <c:v>97</c:v>
                </c:pt>
                <c:pt idx="67">
                  <c:v>94.400001525878906</c:v>
                </c:pt>
                <c:pt idx="68">
                  <c:v>85.400001525878906</c:v>
                </c:pt>
                <c:pt idx="69">
                  <c:v>82.699996948242188</c:v>
                </c:pt>
                <c:pt idx="70">
                  <c:v>83.300003051757812</c:v>
                </c:pt>
                <c:pt idx="71">
                  <c:v>82.800003051757812</c:v>
                </c:pt>
                <c:pt idx="72">
                  <c:v>82.800003051757812</c:v>
                </c:pt>
                <c:pt idx="73">
                  <c:v>80.900001525878906</c:v>
                </c:pt>
                <c:pt idx="74">
                  <c:v>71.300003051757812</c:v>
                </c:pt>
                <c:pt idx="75">
                  <c:v>92.800003051757812</c:v>
                </c:pt>
                <c:pt idx="76">
                  <c:v>94.400001525878906</c:v>
                </c:pt>
                <c:pt idx="77">
                  <c:v>97.599998474121094</c:v>
                </c:pt>
                <c:pt idx="78">
                  <c:v>98.699996948242188</c:v>
                </c:pt>
                <c:pt idx="79">
                  <c:v>98</c:v>
                </c:pt>
                <c:pt idx="80">
                  <c:v>97.699996948242188</c:v>
                </c:pt>
                <c:pt idx="81">
                  <c:v>96.900001525878906</c:v>
                </c:pt>
                <c:pt idx="82">
                  <c:v>95.400001525878906</c:v>
                </c:pt>
                <c:pt idx="83">
                  <c:v>91.300003051757812</c:v>
                </c:pt>
                <c:pt idx="84">
                  <c:v>87.199996948242188</c:v>
                </c:pt>
                <c:pt idx="85">
                  <c:v>78.199996948242188</c:v>
                </c:pt>
                <c:pt idx="86">
                  <c:v>46.200000762939453</c:v>
                </c:pt>
                <c:pt idx="87">
                  <c:v>28.700000762939453</c:v>
                </c:pt>
                <c:pt idx="88">
                  <c:v>8.6800003051757812</c:v>
                </c:pt>
                <c:pt idx="89">
                  <c:v>7.940000057220459</c:v>
                </c:pt>
                <c:pt idx="90">
                  <c:v>96.599998474121094</c:v>
                </c:pt>
                <c:pt idx="91">
                  <c:v>97.099998474121094</c:v>
                </c:pt>
                <c:pt idx="92">
                  <c:v>98.699996948242188</c:v>
                </c:pt>
                <c:pt idx="93">
                  <c:v>99</c:v>
                </c:pt>
                <c:pt idx="94">
                  <c:v>98.5</c:v>
                </c:pt>
                <c:pt idx="95">
                  <c:v>98.5</c:v>
                </c:pt>
                <c:pt idx="96">
                  <c:v>97.699996948242188</c:v>
                </c:pt>
                <c:pt idx="97">
                  <c:v>97.099998474121094</c:v>
                </c:pt>
                <c:pt idx="98">
                  <c:v>94.099998474121094</c:v>
                </c:pt>
                <c:pt idx="99">
                  <c:v>88.300003051757812</c:v>
                </c:pt>
                <c:pt idx="100">
                  <c:v>84.400001525878906</c:v>
                </c:pt>
                <c:pt idx="101">
                  <c:v>75.699996948242188</c:v>
                </c:pt>
                <c:pt idx="102">
                  <c:v>62.599998474121094</c:v>
                </c:pt>
                <c:pt idx="103">
                  <c:v>49</c:v>
                </c:pt>
                <c:pt idx="104">
                  <c:v>37.700000762939453</c:v>
                </c:pt>
                <c:pt idx="105">
                  <c:v>98.099998474121094</c:v>
                </c:pt>
                <c:pt idx="106">
                  <c:v>98.199996948242188</c:v>
                </c:pt>
                <c:pt idx="107">
                  <c:v>98.800003051757812</c:v>
                </c:pt>
                <c:pt idx="108">
                  <c:v>98.400001525878906</c:v>
                </c:pt>
                <c:pt idx="109">
                  <c:v>97.900001525878906</c:v>
                </c:pt>
                <c:pt idx="110">
                  <c:v>97.300003051757812</c:v>
                </c:pt>
                <c:pt idx="111">
                  <c:v>95.900001525878906</c:v>
                </c:pt>
                <c:pt idx="112">
                  <c:v>95.599998474121094</c:v>
                </c:pt>
                <c:pt idx="113">
                  <c:v>92.699996948242188</c:v>
                </c:pt>
                <c:pt idx="114">
                  <c:v>91</c:v>
                </c:pt>
                <c:pt idx="115">
                  <c:v>89.699996948242188</c:v>
                </c:pt>
                <c:pt idx="116">
                  <c:v>89</c:v>
                </c:pt>
                <c:pt idx="117">
                  <c:v>87.5</c:v>
                </c:pt>
                <c:pt idx="118">
                  <c:v>88</c:v>
                </c:pt>
                <c:pt idx="119">
                  <c:v>82.900001525878906</c:v>
                </c:pt>
                <c:pt idx="120">
                  <c:v>99.199996948242188</c:v>
                </c:pt>
                <c:pt idx="121">
                  <c:v>99.300003051757812</c:v>
                </c:pt>
                <c:pt idx="122">
                  <c:v>99.199996948242188</c:v>
                </c:pt>
                <c:pt idx="123">
                  <c:v>99.400001525878906</c:v>
                </c:pt>
                <c:pt idx="124">
                  <c:v>98.900001525878906</c:v>
                </c:pt>
                <c:pt idx="125">
                  <c:v>98.400001525878906</c:v>
                </c:pt>
                <c:pt idx="126">
                  <c:v>97.300003051757812</c:v>
                </c:pt>
                <c:pt idx="127">
                  <c:v>95.599998474121094</c:v>
                </c:pt>
                <c:pt idx="128">
                  <c:v>92.199996948242188</c:v>
                </c:pt>
                <c:pt idx="129">
                  <c:v>88.099998474121094</c:v>
                </c:pt>
                <c:pt idx="130">
                  <c:v>83.900001525878906</c:v>
                </c:pt>
                <c:pt idx="131">
                  <c:v>82.900001525878906</c:v>
                </c:pt>
                <c:pt idx="132">
                  <c:v>79.099998474121094</c:v>
                </c:pt>
                <c:pt idx="133">
                  <c:v>78.599998474121094</c:v>
                </c:pt>
                <c:pt idx="134">
                  <c:v>76.099998474121094</c:v>
                </c:pt>
                <c:pt idx="135">
                  <c:v>97.900001525878906</c:v>
                </c:pt>
                <c:pt idx="136">
                  <c:v>97.5</c:v>
                </c:pt>
                <c:pt idx="137">
                  <c:v>98.599998474121094</c:v>
                </c:pt>
                <c:pt idx="138">
                  <c:v>98.599998474121094</c:v>
                </c:pt>
                <c:pt idx="139">
                  <c:v>98.699996948242188</c:v>
                </c:pt>
                <c:pt idx="140">
                  <c:v>98.099998474121094</c:v>
                </c:pt>
                <c:pt idx="141">
                  <c:v>96.300003051757812</c:v>
                </c:pt>
                <c:pt idx="142">
                  <c:v>96.5</c:v>
                </c:pt>
                <c:pt idx="143">
                  <c:v>96.199996948242188</c:v>
                </c:pt>
                <c:pt idx="144">
                  <c:v>92.300003051757812</c:v>
                </c:pt>
                <c:pt idx="145">
                  <c:v>87.199996948242188</c:v>
                </c:pt>
                <c:pt idx="146">
                  <c:v>77.300003051757812</c:v>
                </c:pt>
                <c:pt idx="147">
                  <c:v>67.400001525878906</c:v>
                </c:pt>
                <c:pt idx="148">
                  <c:v>55.700000762939453</c:v>
                </c:pt>
                <c:pt idx="149">
                  <c:v>46.299999237060547</c:v>
                </c:pt>
                <c:pt idx="150">
                  <c:v>98</c:v>
                </c:pt>
                <c:pt idx="151">
                  <c:v>98.900001525878906</c:v>
                </c:pt>
                <c:pt idx="152">
                  <c:v>98.900001525878906</c:v>
                </c:pt>
                <c:pt idx="153">
                  <c:v>99</c:v>
                </c:pt>
                <c:pt idx="154">
                  <c:v>98.599998474121094</c:v>
                </c:pt>
                <c:pt idx="155">
                  <c:v>98.300003051757812</c:v>
                </c:pt>
                <c:pt idx="156">
                  <c:v>97.599998474121094</c:v>
                </c:pt>
                <c:pt idx="157">
                  <c:v>96.900001525878906</c:v>
                </c:pt>
                <c:pt idx="158">
                  <c:v>94.400001525878906</c:v>
                </c:pt>
                <c:pt idx="159">
                  <c:v>93.800003051757812</c:v>
                </c:pt>
                <c:pt idx="160">
                  <c:v>90.900001525878906</c:v>
                </c:pt>
                <c:pt idx="161">
                  <c:v>87.800003051757812</c:v>
                </c:pt>
                <c:pt idx="162">
                  <c:v>85.900001525878906</c:v>
                </c:pt>
                <c:pt idx="163">
                  <c:v>83.300003051757812</c:v>
                </c:pt>
                <c:pt idx="164">
                  <c:v>80.599998474121094</c:v>
                </c:pt>
                <c:pt idx="165">
                  <c:v>97.300003051757812</c:v>
                </c:pt>
                <c:pt idx="166">
                  <c:v>97.800003051757812</c:v>
                </c:pt>
                <c:pt idx="167">
                  <c:v>98.599998474121094</c:v>
                </c:pt>
                <c:pt idx="168">
                  <c:v>99</c:v>
                </c:pt>
                <c:pt idx="169">
                  <c:v>98.5</c:v>
                </c:pt>
                <c:pt idx="170">
                  <c:v>98</c:v>
                </c:pt>
                <c:pt idx="171">
                  <c:v>97.5</c:v>
                </c:pt>
                <c:pt idx="172">
                  <c:v>95.300003051757812</c:v>
                </c:pt>
                <c:pt idx="173">
                  <c:v>94.400001525878906</c:v>
                </c:pt>
                <c:pt idx="174">
                  <c:v>92.099998474121094</c:v>
                </c:pt>
                <c:pt idx="175">
                  <c:v>90.599998474121094</c:v>
                </c:pt>
                <c:pt idx="176">
                  <c:v>88.800003051757812</c:v>
                </c:pt>
                <c:pt idx="177">
                  <c:v>86.300003051757812</c:v>
                </c:pt>
                <c:pt idx="178">
                  <c:v>84.800003051757812</c:v>
                </c:pt>
                <c:pt idx="179">
                  <c:v>83.5</c:v>
                </c:pt>
                <c:pt idx="180">
                  <c:v>79.5</c:v>
                </c:pt>
                <c:pt idx="181">
                  <c:v>98</c:v>
                </c:pt>
                <c:pt idx="182">
                  <c:v>97</c:v>
                </c:pt>
                <c:pt idx="183">
                  <c:v>97.900001525878906</c:v>
                </c:pt>
                <c:pt idx="184">
                  <c:v>97.900001525878906</c:v>
                </c:pt>
                <c:pt idx="185">
                  <c:v>97.5</c:v>
                </c:pt>
                <c:pt idx="186">
                  <c:v>96</c:v>
                </c:pt>
                <c:pt idx="187">
                  <c:v>94</c:v>
                </c:pt>
                <c:pt idx="188">
                  <c:v>93.599998474121094</c:v>
                </c:pt>
                <c:pt idx="189">
                  <c:v>88.400001525878906</c:v>
                </c:pt>
                <c:pt idx="190">
                  <c:v>85.099998474121094</c:v>
                </c:pt>
                <c:pt idx="191">
                  <c:v>81.599998474121094</c:v>
                </c:pt>
                <c:pt idx="192">
                  <c:v>79</c:v>
                </c:pt>
                <c:pt idx="193">
                  <c:v>77.400001525878906</c:v>
                </c:pt>
                <c:pt idx="194">
                  <c:v>73</c:v>
                </c:pt>
                <c:pt idx="195">
                  <c:v>71.300003051757812</c:v>
                </c:pt>
                <c:pt idx="196">
                  <c:v>98</c:v>
                </c:pt>
                <c:pt idx="197">
                  <c:v>98.900001525878906</c:v>
                </c:pt>
                <c:pt idx="198">
                  <c:v>99.099998474121094</c:v>
                </c:pt>
                <c:pt idx="199">
                  <c:v>99.099998474121094</c:v>
                </c:pt>
                <c:pt idx="200">
                  <c:v>98.800003051757812</c:v>
                </c:pt>
                <c:pt idx="201">
                  <c:v>98.099998474121094</c:v>
                </c:pt>
                <c:pt idx="202">
                  <c:v>98.199996948242188</c:v>
                </c:pt>
                <c:pt idx="203">
                  <c:v>97.599998474121094</c:v>
                </c:pt>
                <c:pt idx="204">
                  <c:v>96.099998474121094</c:v>
                </c:pt>
                <c:pt idx="205">
                  <c:v>95.900001525878906</c:v>
                </c:pt>
                <c:pt idx="206">
                  <c:v>93.900001525878906</c:v>
                </c:pt>
                <c:pt idx="207">
                  <c:v>93.599998474121094</c:v>
                </c:pt>
                <c:pt idx="208">
                  <c:v>90.400001525878906</c:v>
                </c:pt>
                <c:pt idx="209">
                  <c:v>88.199996948242188</c:v>
                </c:pt>
                <c:pt idx="210">
                  <c:v>83.900001525878906</c:v>
                </c:pt>
                <c:pt idx="211">
                  <c:v>100</c:v>
                </c:pt>
                <c:pt idx="212">
                  <c:v>98.699996948242188</c:v>
                </c:pt>
                <c:pt idx="213">
                  <c:v>99.300003051757812</c:v>
                </c:pt>
                <c:pt idx="214">
                  <c:v>99</c:v>
                </c:pt>
                <c:pt idx="215">
                  <c:v>99.099998474121094</c:v>
                </c:pt>
                <c:pt idx="216">
                  <c:v>98.400001525878906</c:v>
                </c:pt>
                <c:pt idx="217">
                  <c:v>97.599998474121094</c:v>
                </c:pt>
                <c:pt idx="218">
                  <c:v>97.699996948242188</c:v>
                </c:pt>
                <c:pt idx="219">
                  <c:v>95.099998474121094</c:v>
                </c:pt>
                <c:pt idx="220">
                  <c:v>90.699996948242188</c:v>
                </c:pt>
                <c:pt idx="221">
                  <c:v>84.699996948242188</c:v>
                </c:pt>
                <c:pt idx="222">
                  <c:v>81.199996948242188</c:v>
                </c:pt>
                <c:pt idx="223">
                  <c:v>71.800003051757812</c:v>
                </c:pt>
                <c:pt idx="224">
                  <c:v>67.599998474121094</c:v>
                </c:pt>
                <c:pt idx="225">
                  <c:v>62.200000762939453</c:v>
                </c:pt>
                <c:pt idx="226">
                  <c:v>98</c:v>
                </c:pt>
                <c:pt idx="227">
                  <c:v>97.400001525878906</c:v>
                </c:pt>
                <c:pt idx="228">
                  <c:v>98.699996948242188</c:v>
                </c:pt>
                <c:pt idx="229">
                  <c:v>98.699996948242188</c:v>
                </c:pt>
                <c:pt idx="230">
                  <c:v>99.199996948242188</c:v>
                </c:pt>
                <c:pt idx="231">
                  <c:v>98.199996948242188</c:v>
                </c:pt>
                <c:pt idx="232">
                  <c:v>98.099998474121094</c:v>
                </c:pt>
                <c:pt idx="233">
                  <c:v>97.300003051757812</c:v>
                </c:pt>
                <c:pt idx="234">
                  <c:v>96.900001525878906</c:v>
                </c:pt>
                <c:pt idx="235">
                  <c:v>96</c:v>
                </c:pt>
                <c:pt idx="236">
                  <c:v>94.199996948242188</c:v>
                </c:pt>
                <c:pt idx="237">
                  <c:v>91.599998474121094</c:v>
                </c:pt>
                <c:pt idx="238">
                  <c:v>84.199996948242188</c:v>
                </c:pt>
                <c:pt idx="239">
                  <c:v>79.699996948242188</c:v>
                </c:pt>
                <c:pt idx="240">
                  <c:v>73.800003051757812</c:v>
                </c:pt>
                <c:pt idx="241">
                  <c:v>98.699996948242188</c:v>
                </c:pt>
                <c:pt idx="242">
                  <c:v>98</c:v>
                </c:pt>
                <c:pt idx="243">
                  <c:v>99</c:v>
                </c:pt>
                <c:pt idx="244">
                  <c:v>99.199996948242188</c:v>
                </c:pt>
                <c:pt idx="245">
                  <c:v>99</c:v>
                </c:pt>
                <c:pt idx="246">
                  <c:v>98.599998474121094</c:v>
                </c:pt>
                <c:pt idx="247">
                  <c:v>98.199996948242188</c:v>
                </c:pt>
                <c:pt idx="248">
                  <c:v>98</c:v>
                </c:pt>
                <c:pt idx="249">
                  <c:v>97.599998474121094</c:v>
                </c:pt>
                <c:pt idx="250">
                  <c:v>96.900001525878906</c:v>
                </c:pt>
                <c:pt idx="251">
                  <c:v>91.699996948242188</c:v>
                </c:pt>
                <c:pt idx="252">
                  <c:v>87</c:v>
                </c:pt>
                <c:pt idx="253">
                  <c:v>81</c:v>
                </c:pt>
                <c:pt idx="254">
                  <c:v>75.199996948242188</c:v>
                </c:pt>
                <c:pt idx="255">
                  <c:v>72.699996948242188</c:v>
                </c:pt>
                <c:pt idx="256">
                  <c:v>67.900001525878906</c:v>
                </c:pt>
                <c:pt idx="257">
                  <c:v>99.199996948242188</c:v>
                </c:pt>
                <c:pt idx="258">
                  <c:v>98.900001525878906</c:v>
                </c:pt>
                <c:pt idx="259">
                  <c:v>99.300003051757812</c:v>
                </c:pt>
                <c:pt idx="260">
                  <c:v>99</c:v>
                </c:pt>
                <c:pt idx="261">
                  <c:v>98.800003051757812</c:v>
                </c:pt>
                <c:pt idx="262">
                  <c:v>99.099998474121094</c:v>
                </c:pt>
                <c:pt idx="263">
                  <c:v>99.199996948242188</c:v>
                </c:pt>
                <c:pt idx="264">
                  <c:v>99.099998474121094</c:v>
                </c:pt>
                <c:pt idx="265">
                  <c:v>99.300003051757812</c:v>
                </c:pt>
                <c:pt idx="266">
                  <c:v>99.099998474121094</c:v>
                </c:pt>
                <c:pt idx="267">
                  <c:v>98.599998474121094</c:v>
                </c:pt>
                <c:pt idx="268">
                  <c:v>97.900001525878906</c:v>
                </c:pt>
                <c:pt idx="269">
                  <c:v>97.099998474121094</c:v>
                </c:pt>
                <c:pt idx="270">
                  <c:v>96</c:v>
                </c:pt>
                <c:pt idx="271">
                  <c:v>93.300003051757812</c:v>
                </c:pt>
                <c:pt idx="272">
                  <c:v>91.199996948242188</c:v>
                </c:pt>
                <c:pt idx="273">
                  <c:v>99.099998474121094</c:v>
                </c:pt>
                <c:pt idx="274">
                  <c:v>98.699996948242188</c:v>
                </c:pt>
                <c:pt idx="275">
                  <c:v>99.099998474121094</c:v>
                </c:pt>
                <c:pt idx="276">
                  <c:v>99.099998474121094</c:v>
                </c:pt>
                <c:pt idx="277">
                  <c:v>99.099998474121094</c:v>
                </c:pt>
                <c:pt idx="278">
                  <c:v>98.699996948242188</c:v>
                </c:pt>
                <c:pt idx="279">
                  <c:v>98.199996948242188</c:v>
                </c:pt>
                <c:pt idx="280">
                  <c:v>95.699996948242188</c:v>
                </c:pt>
                <c:pt idx="281">
                  <c:v>97.099998474121094</c:v>
                </c:pt>
                <c:pt idx="282">
                  <c:v>93.699996948242188</c:v>
                </c:pt>
                <c:pt idx="283">
                  <c:v>91.099998474121094</c:v>
                </c:pt>
                <c:pt idx="284">
                  <c:v>90.800003051757812</c:v>
                </c:pt>
                <c:pt idx="285">
                  <c:v>90.199996948242188</c:v>
                </c:pt>
                <c:pt idx="286">
                  <c:v>88.900001525878906</c:v>
                </c:pt>
                <c:pt idx="287">
                  <c:v>89</c:v>
                </c:pt>
                <c:pt idx="288">
                  <c:v>98.800003051757812</c:v>
                </c:pt>
                <c:pt idx="289">
                  <c:v>99.199996948242188</c:v>
                </c:pt>
                <c:pt idx="290">
                  <c:v>98.699996948242188</c:v>
                </c:pt>
                <c:pt idx="291">
                  <c:v>98.800003051757812</c:v>
                </c:pt>
                <c:pt idx="292">
                  <c:v>97.300003051757812</c:v>
                </c:pt>
                <c:pt idx="293">
                  <c:v>97.5</c:v>
                </c:pt>
                <c:pt idx="294">
                  <c:v>97.400001525878906</c:v>
                </c:pt>
                <c:pt idx="295">
                  <c:v>97.300003051757812</c:v>
                </c:pt>
                <c:pt idx="296">
                  <c:v>96.5</c:v>
                </c:pt>
                <c:pt idx="297">
                  <c:v>95.199996948242188</c:v>
                </c:pt>
                <c:pt idx="298">
                  <c:v>91.599998474121094</c:v>
                </c:pt>
                <c:pt idx="299">
                  <c:v>90</c:v>
                </c:pt>
                <c:pt idx="300">
                  <c:v>86.5</c:v>
                </c:pt>
                <c:pt idx="301">
                  <c:v>85</c:v>
                </c:pt>
                <c:pt idx="302">
                  <c:v>83.099998474121094</c:v>
                </c:pt>
                <c:pt idx="303">
                  <c:v>85.300003051757812</c:v>
                </c:pt>
                <c:pt idx="304">
                  <c:v>97.800003051757812</c:v>
                </c:pt>
                <c:pt idx="305">
                  <c:v>97.400001525878906</c:v>
                </c:pt>
                <c:pt idx="306">
                  <c:v>98.099998474121094</c:v>
                </c:pt>
                <c:pt idx="307">
                  <c:v>98.699996948242188</c:v>
                </c:pt>
                <c:pt idx="308">
                  <c:v>97.400001525878906</c:v>
                </c:pt>
                <c:pt idx="309">
                  <c:v>97.5</c:v>
                </c:pt>
                <c:pt idx="310">
                  <c:v>96.599998474121094</c:v>
                </c:pt>
                <c:pt idx="311">
                  <c:v>95.900001525878906</c:v>
                </c:pt>
                <c:pt idx="312">
                  <c:v>94.300003051757812</c:v>
                </c:pt>
                <c:pt idx="313">
                  <c:v>87.199996948242188</c:v>
                </c:pt>
                <c:pt idx="314">
                  <c:v>69</c:v>
                </c:pt>
                <c:pt idx="315">
                  <c:v>33.799999237060547</c:v>
                </c:pt>
                <c:pt idx="316">
                  <c:v>15.699999809265137</c:v>
                </c:pt>
                <c:pt idx="317">
                  <c:v>10.699999809265137</c:v>
                </c:pt>
                <c:pt idx="318">
                  <c:v>97.900001525878906</c:v>
                </c:pt>
                <c:pt idx="319">
                  <c:v>97.099998474121094</c:v>
                </c:pt>
                <c:pt idx="320">
                  <c:v>98.400001525878906</c:v>
                </c:pt>
                <c:pt idx="321">
                  <c:v>98.099998474121094</c:v>
                </c:pt>
                <c:pt idx="322">
                  <c:v>97.599998474121094</c:v>
                </c:pt>
                <c:pt idx="323">
                  <c:v>96.400001525878906</c:v>
                </c:pt>
                <c:pt idx="324">
                  <c:v>95.900001525878906</c:v>
                </c:pt>
                <c:pt idx="325">
                  <c:v>93.900001525878906</c:v>
                </c:pt>
                <c:pt idx="326">
                  <c:v>93.199996948242188</c:v>
                </c:pt>
                <c:pt idx="327">
                  <c:v>89.300003051757812</c:v>
                </c:pt>
                <c:pt idx="328">
                  <c:v>87.099998474121094</c:v>
                </c:pt>
                <c:pt idx="329">
                  <c:v>83.800003051757812</c:v>
                </c:pt>
                <c:pt idx="330">
                  <c:v>81</c:v>
                </c:pt>
                <c:pt idx="331">
                  <c:v>74.900001525878906</c:v>
                </c:pt>
                <c:pt idx="332">
                  <c:v>68.099998474121094</c:v>
                </c:pt>
                <c:pt idx="333">
                  <c:v>97.900001525878906</c:v>
                </c:pt>
                <c:pt idx="334">
                  <c:v>98.300003051757812</c:v>
                </c:pt>
                <c:pt idx="335">
                  <c:v>98.900001525878906</c:v>
                </c:pt>
                <c:pt idx="336">
                  <c:v>99</c:v>
                </c:pt>
                <c:pt idx="337">
                  <c:v>98.699996948242188</c:v>
                </c:pt>
                <c:pt idx="338">
                  <c:v>98.5</c:v>
                </c:pt>
                <c:pt idx="339">
                  <c:v>98</c:v>
                </c:pt>
                <c:pt idx="340">
                  <c:v>97.199996948242188</c:v>
                </c:pt>
                <c:pt idx="341">
                  <c:v>95.699996948242188</c:v>
                </c:pt>
                <c:pt idx="342">
                  <c:v>93.400001525878906</c:v>
                </c:pt>
                <c:pt idx="343">
                  <c:v>92.400001525878906</c:v>
                </c:pt>
                <c:pt idx="344">
                  <c:v>89.5</c:v>
                </c:pt>
                <c:pt idx="345">
                  <c:v>86.900001525878906</c:v>
                </c:pt>
                <c:pt idx="346">
                  <c:v>82.199996948242188</c:v>
                </c:pt>
                <c:pt idx="347">
                  <c:v>78.099998474121094</c:v>
                </c:pt>
                <c:pt idx="348">
                  <c:v>71.699996948242188</c:v>
                </c:pt>
                <c:pt idx="349">
                  <c:v>97.099998474121094</c:v>
                </c:pt>
                <c:pt idx="350">
                  <c:v>97.199996948242188</c:v>
                </c:pt>
                <c:pt idx="351">
                  <c:v>97.599998474121094</c:v>
                </c:pt>
                <c:pt idx="352">
                  <c:v>98.599998474121094</c:v>
                </c:pt>
                <c:pt idx="353">
                  <c:v>98.099998474121094</c:v>
                </c:pt>
                <c:pt idx="354">
                  <c:v>98</c:v>
                </c:pt>
                <c:pt idx="355">
                  <c:v>94.900001525878906</c:v>
                </c:pt>
                <c:pt idx="356">
                  <c:v>94.599998474121094</c:v>
                </c:pt>
                <c:pt idx="357">
                  <c:v>91.699996948242188</c:v>
                </c:pt>
                <c:pt idx="358">
                  <c:v>86.199996948242188</c:v>
                </c:pt>
                <c:pt idx="359">
                  <c:v>77.699996948242188</c:v>
                </c:pt>
                <c:pt idx="360">
                  <c:v>69.099998474121094</c:v>
                </c:pt>
                <c:pt idx="361">
                  <c:v>54.200000762939453</c:v>
                </c:pt>
                <c:pt idx="362">
                  <c:v>33</c:v>
                </c:pt>
                <c:pt idx="363">
                  <c:v>19.799999237060547</c:v>
                </c:pt>
                <c:pt idx="364">
                  <c:v>98.099998474121094</c:v>
                </c:pt>
                <c:pt idx="365">
                  <c:v>97.900001525878906</c:v>
                </c:pt>
                <c:pt idx="366">
                  <c:v>98.300003051757812</c:v>
                </c:pt>
                <c:pt idx="367">
                  <c:v>97.800003051757812</c:v>
                </c:pt>
                <c:pt idx="368">
                  <c:v>98.099998474121094</c:v>
                </c:pt>
                <c:pt idx="369">
                  <c:v>96.800003051757812</c:v>
                </c:pt>
                <c:pt idx="370">
                  <c:v>95.599998474121094</c:v>
                </c:pt>
                <c:pt idx="371">
                  <c:v>92.5</c:v>
                </c:pt>
                <c:pt idx="372">
                  <c:v>89.699996948242188</c:v>
                </c:pt>
                <c:pt idx="373">
                  <c:v>83.5</c:v>
                </c:pt>
                <c:pt idx="374">
                  <c:v>73.900001525878906</c:v>
                </c:pt>
                <c:pt idx="375">
                  <c:v>67.599998474121094</c:v>
                </c:pt>
                <c:pt idx="376">
                  <c:v>65.599998474121094</c:v>
                </c:pt>
                <c:pt idx="377">
                  <c:v>58.5</c:v>
                </c:pt>
                <c:pt idx="378">
                  <c:v>51.599998474121094</c:v>
                </c:pt>
                <c:pt idx="379">
                  <c:v>47.900001525878906</c:v>
                </c:pt>
                <c:pt idx="380">
                  <c:v>98.5</c:v>
                </c:pt>
                <c:pt idx="381">
                  <c:v>97.599998474121094</c:v>
                </c:pt>
                <c:pt idx="382">
                  <c:v>98.800003051757812</c:v>
                </c:pt>
                <c:pt idx="383">
                  <c:v>98.900001525878906</c:v>
                </c:pt>
                <c:pt idx="384">
                  <c:v>98.5</c:v>
                </c:pt>
                <c:pt idx="385">
                  <c:v>97.599998474121094</c:v>
                </c:pt>
                <c:pt idx="386">
                  <c:v>95.599998474121094</c:v>
                </c:pt>
                <c:pt idx="387">
                  <c:v>94</c:v>
                </c:pt>
                <c:pt idx="388">
                  <c:v>93.800003051757812</c:v>
                </c:pt>
                <c:pt idx="389">
                  <c:v>90.900001525878906</c:v>
                </c:pt>
                <c:pt idx="390">
                  <c:v>87.599998474121094</c:v>
                </c:pt>
                <c:pt idx="391">
                  <c:v>85.900001525878906</c:v>
                </c:pt>
                <c:pt idx="392">
                  <c:v>84.400001525878906</c:v>
                </c:pt>
                <c:pt idx="393">
                  <c:v>81.599998474121094</c:v>
                </c:pt>
                <c:pt idx="394">
                  <c:v>78.5</c:v>
                </c:pt>
                <c:pt idx="395">
                  <c:v>73.599998474121094</c:v>
                </c:pt>
                <c:pt idx="396">
                  <c:v>98.800003051757812</c:v>
                </c:pt>
                <c:pt idx="397">
                  <c:v>98.5</c:v>
                </c:pt>
                <c:pt idx="398">
                  <c:v>98.5</c:v>
                </c:pt>
                <c:pt idx="399">
                  <c:v>99.199996948242188</c:v>
                </c:pt>
                <c:pt idx="400">
                  <c:v>99.199996948242188</c:v>
                </c:pt>
                <c:pt idx="401">
                  <c:v>99.099998474121094</c:v>
                </c:pt>
                <c:pt idx="402">
                  <c:v>98.599998474121094</c:v>
                </c:pt>
                <c:pt idx="403">
                  <c:v>97.199996948242188</c:v>
                </c:pt>
                <c:pt idx="404">
                  <c:v>96.400001525878906</c:v>
                </c:pt>
                <c:pt idx="405">
                  <c:v>96.199996948242188</c:v>
                </c:pt>
                <c:pt idx="406">
                  <c:v>95.800003051757812</c:v>
                </c:pt>
                <c:pt idx="407">
                  <c:v>94.699996948242188</c:v>
                </c:pt>
                <c:pt idx="408">
                  <c:v>93.599998474121094</c:v>
                </c:pt>
                <c:pt idx="409">
                  <c:v>94.900001525878906</c:v>
                </c:pt>
                <c:pt idx="410">
                  <c:v>91.900001525878906</c:v>
                </c:pt>
                <c:pt idx="411">
                  <c:v>91.300003051757812</c:v>
                </c:pt>
                <c:pt idx="412">
                  <c:v>98.199996948242188</c:v>
                </c:pt>
                <c:pt idx="413">
                  <c:v>97.599998474121094</c:v>
                </c:pt>
                <c:pt idx="414">
                  <c:v>99.199996948242188</c:v>
                </c:pt>
                <c:pt idx="415">
                  <c:v>99.400001525878906</c:v>
                </c:pt>
                <c:pt idx="416">
                  <c:v>98.5</c:v>
                </c:pt>
                <c:pt idx="417">
                  <c:v>97.699996948242188</c:v>
                </c:pt>
                <c:pt idx="418">
                  <c:v>96.800003051757812</c:v>
                </c:pt>
                <c:pt idx="419">
                  <c:v>96.800003051757812</c:v>
                </c:pt>
                <c:pt idx="420">
                  <c:v>95.699996948242188</c:v>
                </c:pt>
                <c:pt idx="421">
                  <c:v>92.800003051757812</c:v>
                </c:pt>
                <c:pt idx="422">
                  <c:v>88.800003051757812</c:v>
                </c:pt>
                <c:pt idx="423">
                  <c:v>86.800003051757812</c:v>
                </c:pt>
                <c:pt idx="424">
                  <c:v>79.800003051757812</c:v>
                </c:pt>
                <c:pt idx="425">
                  <c:v>77.599998474121094</c:v>
                </c:pt>
                <c:pt idx="426">
                  <c:v>70.300003051757812</c:v>
                </c:pt>
                <c:pt idx="427">
                  <c:v>66.599998474121094</c:v>
                </c:pt>
                <c:pt idx="428">
                  <c:v>97.900001525878906</c:v>
                </c:pt>
                <c:pt idx="429">
                  <c:v>98</c:v>
                </c:pt>
                <c:pt idx="430">
                  <c:v>99</c:v>
                </c:pt>
                <c:pt idx="431">
                  <c:v>99.5</c:v>
                </c:pt>
                <c:pt idx="432">
                  <c:v>98.699996948242188</c:v>
                </c:pt>
                <c:pt idx="433">
                  <c:v>98.599998474121094</c:v>
                </c:pt>
                <c:pt idx="434">
                  <c:v>97.800003051757812</c:v>
                </c:pt>
                <c:pt idx="435">
                  <c:v>98</c:v>
                </c:pt>
                <c:pt idx="436">
                  <c:v>98</c:v>
                </c:pt>
                <c:pt idx="437">
                  <c:v>97</c:v>
                </c:pt>
                <c:pt idx="438">
                  <c:v>91.199996948242188</c:v>
                </c:pt>
                <c:pt idx="439">
                  <c:v>89.300003051757812</c:v>
                </c:pt>
                <c:pt idx="440">
                  <c:v>86.199996948242188</c:v>
                </c:pt>
                <c:pt idx="441">
                  <c:v>79.5</c:v>
                </c:pt>
                <c:pt idx="442">
                  <c:v>72.5</c:v>
                </c:pt>
                <c:pt idx="443">
                  <c:v>68.199996948242188</c:v>
                </c:pt>
                <c:pt idx="444">
                  <c:v>92.400001525878906</c:v>
                </c:pt>
                <c:pt idx="445">
                  <c:v>95.900001525878906</c:v>
                </c:pt>
                <c:pt idx="446">
                  <c:v>99</c:v>
                </c:pt>
                <c:pt idx="447">
                  <c:v>98.300003051757812</c:v>
                </c:pt>
                <c:pt idx="448">
                  <c:v>98.400001525878906</c:v>
                </c:pt>
                <c:pt idx="449">
                  <c:v>97.099998474121094</c:v>
                </c:pt>
                <c:pt idx="450">
                  <c:v>97.5</c:v>
                </c:pt>
                <c:pt idx="451">
                  <c:v>98</c:v>
                </c:pt>
                <c:pt idx="452">
                  <c:v>97.199996948242188</c:v>
                </c:pt>
                <c:pt idx="453">
                  <c:v>95.5</c:v>
                </c:pt>
                <c:pt idx="454">
                  <c:v>94.099998474121094</c:v>
                </c:pt>
                <c:pt idx="455">
                  <c:v>93.800003051757812</c:v>
                </c:pt>
                <c:pt idx="456">
                  <c:v>84.300003051757812</c:v>
                </c:pt>
                <c:pt idx="457">
                  <c:v>80.099998474121094</c:v>
                </c:pt>
                <c:pt idx="458">
                  <c:v>76.300003051757812</c:v>
                </c:pt>
                <c:pt idx="459">
                  <c:v>97.400001525878906</c:v>
                </c:pt>
                <c:pt idx="460">
                  <c:v>97.300003051757812</c:v>
                </c:pt>
                <c:pt idx="461">
                  <c:v>98.900001525878906</c:v>
                </c:pt>
                <c:pt idx="462">
                  <c:v>98.599998474121094</c:v>
                </c:pt>
                <c:pt idx="463">
                  <c:v>97.900001525878906</c:v>
                </c:pt>
                <c:pt idx="464">
                  <c:v>96.300003051757812</c:v>
                </c:pt>
                <c:pt idx="465">
                  <c:v>96.099998474121094</c:v>
                </c:pt>
                <c:pt idx="466">
                  <c:v>95.599998474121094</c:v>
                </c:pt>
                <c:pt idx="467">
                  <c:v>94.400001525878906</c:v>
                </c:pt>
                <c:pt idx="468">
                  <c:v>92.900001525878906</c:v>
                </c:pt>
                <c:pt idx="469">
                  <c:v>88.5</c:v>
                </c:pt>
                <c:pt idx="470">
                  <c:v>84.300003051757812</c:v>
                </c:pt>
                <c:pt idx="471">
                  <c:v>79.099998474121094</c:v>
                </c:pt>
                <c:pt idx="472">
                  <c:v>76.400001525878906</c:v>
                </c:pt>
                <c:pt idx="473">
                  <c:v>71</c:v>
                </c:pt>
                <c:pt idx="474">
                  <c:v>92.800003051757812</c:v>
                </c:pt>
                <c:pt idx="475">
                  <c:v>96.099998474121094</c:v>
                </c:pt>
                <c:pt idx="476">
                  <c:v>94.800003051757812</c:v>
                </c:pt>
                <c:pt idx="477">
                  <c:v>95.300003051757812</c:v>
                </c:pt>
                <c:pt idx="478">
                  <c:v>95.599998474121094</c:v>
                </c:pt>
                <c:pt idx="479">
                  <c:v>94.599998474121094</c:v>
                </c:pt>
                <c:pt idx="480">
                  <c:v>92.900001525878906</c:v>
                </c:pt>
                <c:pt idx="481">
                  <c:v>91.5</c:v>
                </c:pt>
                <c:pt idx="482">
                  <c:v>88.800003051757812</c:v>
                </c:pt>
                <c:pt idx="483">
                  <c:v>84.400001525878906</c:v>
                </c:pt>
                <c:pt idx="484">
                  <c:v>73.599998474121094</c:v>
                </c:pt>
                <c:pt idx="485">
                  <c:v>68.699996948242188</c:v>
                </c:pt>
                <c:pt idx="486">
                  <c:v>55.5</c:v>
                </c:pt>
                <c:pt idx="487">
                  <c:v>51.700000762939453</c:v>
                </c:pt>
                <c:pt idx="488">
                  <c:v>47.799999237060547</c:v>
                </c:pt>
                <c:pt idx="489">
                  <c:v>94.199996948242188</c:v>
                </c:pt>
                <c:pt idx="490">
                  <c:v>97.400001525878906</c:v>
                </c:pt>
                <c:pt idx="491">
                  <c:v>96.599998474121094</c:v>
                </c:pt>
                <c:pt idx="492">
                  <c:v>96.599998474121094</c:v>
                </c:pt>
                <c:pt idx="493">
                  <c:v>96.099998474121094</c:v>
                </c:pt>
                <c:pt idx="494">
                  <c:v>95.199996948242188</c:v>
                </c:pt>
                <c:pt idx="495">
                  <c:v>91.5</c:v>
                </c:pt>
                <c:pt idx="496">
                  <c:v>89.5</c:v>
                </c:pt>
                <c:pt idx="497">
                  <c:v>85.300003051757812</c:v>
                </c:pt>
                <c:pt idx="498">
                  <c:v>84.400001525878906</c:v>
                </c:pt>
                <c:pt idx="499">
                  <c:v>79.099998474121094</c:v>
                </c:pt>
                <c:pt idx="500">
                  <c:v>76.099998474121094</c:v>
                </c:pt>
                <c:pt idx="501">
                  <c:v>65.5</c:v>
                </c:pt>
                <c:pt idx="502">
                  <c:v>56.400001525878906</c:v>
                </c:pt>
                <c:pt idx="503">
                  <c:v>46.5</c:v>
                </c:pt>
              </c:numCache>
            </c:numRef>
          </c:yVal>
          <c:smooth val="0"/>
          <c:extLst>
            <c:ext xmlns:c16="http://schemas.microsoft.com/office/drawing/2014/chart" uri="{C3380CC4-5D6E-409C-BE32-E72D297353CC}">
              <c16:uniqueId val="{00000002-C5C5-4721-8400-2965D4B49657}"/>
            </c:ext>
          </c:extLst>
        </c:ser>
        <c:dLbls>
          <c:showLegendKey val="0"/>
          <c:showVal val="0"/>
          <c:showCatName val="0"/>
          <c:showSerName val="0"/>
          <c:showPercent val="0"/>
          <c:showBubbleSize val="0"/>
        </c:dLbls>
        <c:axId val="405750063"/>
        <c:axId val="1319910831"/>
      </c:scatterChart>
      <c:valAx>
        <c:axId val="405750063"/>
        <c:scaling>
          <c:orientation val="minMax"/>
          <c:max val="110"/>
          <c:min val="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800" b="0" i="0" u="none" strike="noStrike" kern="1200" baseline="0">
                    <a:solidFill>
                      <a:schemeClr val="tx1"/>
                    </a:solidFill>
                    <a:latin typeface="+mn-lt"/>
                    <a:ea typeface="+mn-ea"/>
                    <a:cs typeface="+mn-cs"/>
                  </a:defRPr>
                </a:pPr>
                <a:r>
                  <a:rPr lang="en-US"/>
                  <a:t>Nova BioProfile FLEX2 Viability (%)</a:t>
                </a:r>
              </a:p>
            </c:rich>
          </c:tx>
          <c:layout>
            <c:manualLayout>
              <c:xMode val="edge"/>
              <c:yMode val="edge"/>
              <c:x val="0.40405707097056753"/>
              <c:y val="0.88016750629612062"/>
            </c:manualLayout>
          </c:layout>
          <c:overlay val="0"/>
          <c:spPr>
            <a:noFill/>
            <a:ln>
              <a:noFill/>
            </a:ln>
            <a:effectLst/>
          </c:spPr>
          <c:txPr>
            <a:bodyPr rot="0" spcFirstLastPara="1" vertOverflow="ellipsis" vert="horz" wrap="square" anchor="ctr" anchorCtr="1"/>
            <a:lstStyle/>
            <a:p>
              <a:pPr>
                <a:defRPr sz="1800" b="0" i="0" u="none" strike="noStrike" kern="1200" baseline="0">
                  <a:solidFill>
                    <a:schemeClr val="tx1"/>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50000"/>
                <a:lumOff val="50000"/>
              </a:schemeClr>
            </a:solidFill>
            <a:round/>
          </a:ln>
          <a:effectLst/>
        </c:spPr>
        <c:txPr>
          <a:bodyPr rot="-60000000" spcFirstLastPara="1" vertOverflow="ellipsis" vert="horz" wrap="square" anchor="ctr" anchorCtr="1"/>
          <a:lstStyle/>
          <a:p>
            <a:pPr>
              <a:defRPr sz="1800" b="0" i="0" u="none" strike="noStrike" kern="1200" baseline="0">
                <a:solidFill>
                  <a:schemeClr val="tx1"/>
                </a:solidFill>
                <a:latin typeface="+mn-lt"/>
                <a:ea typeface="+mn-ea"/>
                <a:cs typeface="+mn-cs"/>
              </a:defRPr>
            </a:pPr>
            <a:endParaRPr lang="en-US"/>
          </a:p>
        </c:txPr>
        <c:crossAx val="1319910831"/>
        <c:crosses val="autoZero"/>
        <c:crossBetween val="midCat"/>
      </c:valAx>
      <c:valAx>
        <c:axId val="1319910831"/>
        <c:scaling>
          <c:orientation val="minMax"/>
          <c:max val="110"/>
          <c:min val="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800" b="0" i="0" u="none" strike="noStrike" kern="1200" baseline="0">
                    <a:solidFill>
                      <a:schemeClr val="tx1"/>
                    </a:solidFill>
                    <a:latin typeface="+mn-lt"/>
                    <a:ea typeface="+mn-ea"/>
                    <a:cs typeface="+mn-cs"/>
                  </a:defRPr>
                </a:pPr>
                <a:r>
                  <a:rPr lang="en-US" err="1"/>
                  <a:t>VICell</a:t>
                </a:r>
                <a:r>
                  <a:rPr lang="en-US"/>
                  <a:t> XR Viability (%)</a:t>
                </a:r>
              </a:p>
            </c:rich>
          </c:tx>
          <c:overlay val="0"/>
          <c:spPr>
            <a:noFill/>
            <a:ln>
              <a:noFill/>
            </a:ln>
            <a:effectLst/>
          </c:spPr>
          <c:txPr>
            <a:bodyPr rot="-5400000" spcFirstLastPara="1" vertOverflow="ellipsis" vert="horz" wrap="square" anchor="ctr" anchorCtr="1"/>
            <a:lstStyle/>
            <a:p>
              <a:pPr>
                <a:defRPr sz="1800" b="0" i="0" u="none" strike="noStrike" kern="1200" baseline="0">
                  <a:solidFill>
                    <a:schemeClr val="tx1"/>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800" b="0" i="0" u="none" strike="noStrike" kern="1200" baseline="0">
                <a:solidFill>
                  <a:schemeClr val="tx1"/>
                </a:solidFill>
                <a:latin typeface="+mn-lt"/>
                <a:ea typeface="+mn-ea"/>
                <a:cs typeface="+mn-cs"/>
              </a:defRPr>
            </a:pPr>
            <a:endParaRPr lang="en-US"/>
          </a:p>
        </c:txPr>
        <c:crossAx val="405750063"/>
        <c:crosses val="autoZero"/>
        <c:crossBetween val="midCat"/>
        <c:majorUnit val="20"/>
      </c:valAx>
      <c:spPr>
        <a:noFill/>
        <a:ln>
          <a:solidFill>
            <a:schemeClr val="tx1"/>
          </a:solid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800">
          <a:solidFill>
            <a:schemeClr val="tx1"/>
          </a:solidFill>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4903981436591035"/>
          <c:y val="4.80424532384231E-2"/>
          <c:w val="0.79310339987237122"/>
          <c:h val="0.70800557073613901"/>
        </c:manualLayout>
      </c:layout>
      <c:scatterChart>
        <c:scatterStyle val="lineMarker"/>
        <c:varyColors val="0"/>
        <c:ser>
          <c:idx val="0"/>
          <c:order val="0"/>
          <c:tx>
            <c:v>BRX 1</c:v>
          </c:tx>
          <c:spPr>
            <a:ln w="19050" cap="rnd">
              <a:solidFill>
                <a:schemeClr val="accent1"/>
              </a:solidFill>
              <a:round/>
            </a:ln>
            <a:effectLst/>
          </c:spPr>
          <c:marker>
            <c:symbol val="square"/>
            <c:size val="7"/>
            <c:spPr>
              <a:solidFill>
                <a:srgbClr val="A80068"/>
              </a:solidFill>
              <a:ln w="9525">
                <a:solidFill>
                  <a:schemeClr val="accent1"/>
                </a:solidFill>
              </a:ln>
              <a:effectLst/>
            </c:spPr>
          </c:marker>
          <c:xVal>
            <c:numRef>
              <c:f>'B1211 comparison'!$A$7:$A$21</c:f>
              <c:numCache>
                <c:formatCode>General</c:formatCode>
                <c:ptCount val="15"/>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numCache>
            </c:numRef>
          </c:xVal>
          <c:yVal>
            <c:numRef>
              <c:f>'B1211 comparison'!$X$7:$X$21</c:f>
              <c:numCache>
                <c:formatCode>General</c:formatCode>
                <c:ptCount val="15"/>
                <c:pt idx="0">
                  <c:v>-0.68467383944023086</c:v>
                </c:pt>
                <c:pt idx="1">
                  <c:v>-10.453216374269006</c:v>
                </c:pt>
                <c:pt idx="2">
                  <c:v>-0.81482831333141215</c:v>
                </c:pt>
                <c:pt idx="3">
                  <c:v>-3.8092164907266435</c:v>
                </c:pt>
                <c:pt idx="4">
                  <c:v>-2.3021963482402725</c:v>
                </c:pt>
                <c:pt idx="5">
                  <c:v>3.9797407214852289</c:v>
                </c:pt>
                <c:pt idx="6">
                  <c:v>8.3651906926341884</c:v>
                </c:pt>
                <c:pt idx="7">
                  <c:v>5.7450055001596816</c:v>
                </c:pt>
                <c:pt idx="8">
                  <c:v>12.737702471939919</c:v>
                </c:pt>
                <c:pt idx="9">
                  <c:v>11.244372599120476</c:v>
                </c:pt>
                <c:pt idx="10">
                  <c:v>15.950991380976303</c:v>
                </c:pt>
                <c:pt idx="11">
                  <c:v>39.283525544598582</c:v>
                </c:pt>
                <c:pt idx="12">
                  <c:v>43.338627823189881</c:v>
                </c:pt>
                <c:pt idx="13">
                  <c:v>58.116115562924087</c:v>
                </c:pt>
                <c:pt idx="14">
                  <c:v>64.586106414361254</c:v>
                </c:pt>
              </c:numCache>
            </c:numRef>
          </c:yVal>
          <c:smooth val="0"/>
          <c:extLst>
            <c:ext xmlns:c16="http://schemas.microsoft.com/office/drawing/2014/chart" uri="{C3380CC4-5D6E-409C-BE32-E72D297353CC}">
              <c16:uniqueId val="{00000000-75F2-418A-BF9F-4BA7420C4801}"/>
            </c:ext>
          </c:extLst>
        </c:ser>
        <c:ser>
          <c:idx val="2"/>
          <c:order val="1"/>
          <c:tx>
            <c:v>BRX 2</c:v>
          </c:tx>
          <c:spPr>
            <a:ln w="19050" cap="rnd">
              <a:solidFill>
                <a:schemeClr val="accent6"/>
              </a:solidFill>
              <a:round/>
            </a:ln>
            <a:effectLst/>
          </c:spPr>
          <c:marker>
            <c:symbol val="triangle"/>
            <c:size val="7"/>
            <c:spPr>
              <a:solidFill>
                <a:schemeClr val="accent6"/>
              </a:solidFill>
              <a:ln w="9525">
                <a:solidFill>
                  <a:schemeClr val="accent6">
                    <a:lumMod val="75000"/>
                  </a:schemeClr>
                </a:solidFill>
              </a:ln>
              <a:effectLst/>
            </c:spPr>
          </c:marker>
          <c:xVal>
            <c:numRef>
              <c:f>'B1211 comparison'!$A$7:$A$21</c:f>
              <c:numCache>
                <c:formatCode>General</c:formatCode>
                <c:ptCount val="15"/>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numCache>
            </c:numRef>
          </c:xVal>
          <c:yVal>
            <c:numRef>
              <c:f>'B1211 comparison'!$X$40:$X$54</c:f>
              <c:numCache>
                <c:formatCode>General</c:formatCode>
                <c:ptCount val="15"/>
                <c:pt idx="0">
                  <c:v>5.1111289416673396</c:v>
                </c:pt>
                <c:pt idx="1">
                  <c:v>3.1207598371777534</c:v>
                </c:pt>
                <c:pt idx="2">
                  <c:v>-9.7967285610191226</c:v>
                </c:pt>
                <c:pt idx="3">
                  <c:v>-2.8353709852646314</c:v>
                </c:pt>
                <c:pt idx="4">
                  <c:v>3.0994753069724617</c:v>
                </c:pt>
                <c:pt idx="5">
                  <c:v>9.0632397700371978</c:v>
                </c:pt>
                <c:pt idx="6">
                  <c:v>9.9991538526626673</c:v>
                </c:pt>
                <c:pt idx="7">
                  <c:v>15.698500578492514</c:v>
                </c:pt>
                <c:pt idx="8">
                  <c:v>14.767268375059428</c:v>
                </c:pt>
                <c:pt idx="9">
                  <c:v>21.50021728141046</c:v>
                </c:pt>
                <c:pt idx="10">
                  <c:v>33.142462434805239</c:v>
                </c:pt>
                <c:pt idx="11">
                  <c:v>52.946574584985349</c:v>
                </c:pt>
                <c:pt idx="12">
                  <c:v>46.455004315192085</c:v>
                </c:pt>
                <c:pt idx="13">
                  <c:v>69.539001341569488</c:v>
                </c:pt>
                <c:pt idx="14">
                  <c:v>91.894880634879343</c:v>
                </c:pt>
              </c:numCache>
            </c:numRef>
          </c:yVal>
          <c:smooth val="0"/>
          <c:extLst>
            <c:ext xmlns:c16="http://schemas.microsoft.com/office/drawing/2014/chart" uri="{C3380CC4-5D6E-409C-BE32-E72D297353CC}">
              <c16:uniqueId val="{00000001-75F2-418A-BF9F-4BA7420C4801}"/>
            </c:ext>
          </c:extLst>
        </c:ser>
        <c:ser>
          <c:idx val="4"/>
          <c:order val="2"/>
          <c:tx>
            <c:v>BRX 3</c:v>
          </c:tx>
          <c:spPr>
            <a:ln w="19050" cap="rnd">
              <a:solidFill>
                <a:schemeClr val="accent5">
                  <a:lumMod val="50000"/>
                  <a:lumOff val="50000"/>
                </a:schemeClr>
              </a:solidFill>
              <a:round/>
            </a:ln>
            <a:effectLst/>
          </c:spPr>
          <c:marker>
            <c:symbol val="circle"/>
            <c:size val="7"/>
            <c:spPr>
              <a:solidFill>
                <a:schemeClr val="bg1"/>
              </a:solidFill>
              <a:ln w="9525">
                <a:solidFill>
                  <a:schemeClr val="accent5">
                    <a:lumMod val="50000"/>
                    <a:lumOff val="50000"/>
                  </a:schemeClr>
                </a:solidFill>
              </a:ln>
              <a:effectLst/>
            </c:spPr>
          </c:marker>
          <c:xVal>
            <c:numRef>
              <c:f>'B1211 comparison'!$A$7:$A$21</c:f>
              <c:numCache>
                <c:formatCode>General</c:formatCode>
                <c:ptCount val="15"/>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numCache>
            </c:numRef>
          </c:xVal>
          <c:yVal>
            <c:numRef>
              <c:f>'B1211 comparison'!$X$74:$X$88</c:f>
              <c:numCache>
                <c:formatCode>General</c:formatCode>
                <c:ptCount val="15"/>
                <c:pt idx="0">
                  <c:v>3.9303227695235234</c:v>
                </c:pt>
                <c:pt idx="1">
                  <c:v>-4.2376017764618821</c:v>
                </c:pt>
                <c:pt idx="2">
                  <c:v>-1.5701279852223404</c:v>
                </c:pt>
                <c:pt idx="3">
                  <c:v>-8.3923170712392553E-2</c:v>
                </c:pt>
                <c:pt idx="4">
                  <c:v>4.8745426032409815</c:v>
                </c:pt>
                <c:pt idx="5">
                  <c:v>4.9272067503169721</c:v>
                </c:pt>
                <c:pt idx="6">
                  <c:v>10.858932009018536</c:v>
                </c:pt>
                <c:pt idx="7">
                  <c:v>11.308139311731873</c:v>
                </c:pt>
                <c:pt idx="8">
                  <c:v>10.948699434689958</c:v>
                </c:pt>
                <c:pt idx="9">
                  <c:v>8.2086718809324886</c:v>
                </c:pt>
                <c:pt idx="10">
                  <c:v>7.885844562960556</c:v>
                </c:pt>
                <c:pt idx="11">
                  <c:v>15.073561042760049</c:v>
                </c:pt>
                <c:pt idx="12">
                  <c:v>11.964722499741615</c:v>
                </c:pt>
                <c:pt idx="13">
                  <c:v>31.046354740156023</c:v>
                </c:pt>
                <c:pt idx="14">
                  <c:v>49.953318217327528</c:v>
                </c:pt>
              </c:numCache>
            </c:numRef>
          </c:yVal>
          <c:smooth val="0"/>
          <c:extLst>
            <c:ext xmlns:c16="http://schemas.microsoft.com/office/drawing/2014/chart" uri="{C3380CC4-5D6E-409C-BE32-E72D297353CC}">
              <c16:uniqueId val="{00000002-75F2-418A-BF9F-4BA7420C4801}"/>
            </c:ext>
          </c:extLst>
        </c:ser>
        <c:ser>
          <c:idx val="6"/>
          <c:order val="3"/>
          <c:tx>
            <c:v>BRX 4</c:v>
          </c:tx>
          <c:spPr>
            <a:ln w="19050" cap="rnd">
              <a:solidFill>
                <a:schemeClr val="accent4"/>
              </a:solidFill>
              <a:round/>
            </a:ln>
            <a:effectLst/>
          </c:spPr>
          <c:marker>
            <c:symbol val="circle"/>
            <c:size val="7"/>
            <c:spPr>
              <a:solidFill>
                <a:schemeClr val="accent4"/>
              </a:solidFill>
              <a:ln w="9525">
                <a:solidFill>
                  <a:schemeClr val="accent4">
                    <a:lumMod val="50000"/>
                  </a:schemeClr>
                </a:solidFill>
              </a:ln>
              <a:effectLst/>
            </c:spPr>
          </c:marker>
          <c:xVal>
            <c:numRef>
              <c:f>'B1211 comparison'!$A$7:$A$21</c:f>
              <c:numCache>
                <c:formatCode>General</c:formatCode>
                <c:ptCount val="15"/>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numCache>
            </c:numRef>
          </c:xVal>
          <c:yVal>
            <c:numRef>
              <c:f>'B1211 comparison'!$X$106:$X$120</c:f>
              <c:numCache>
                <c:formatCode>General</c:formatCode>
                <c:ptCount val="15"/>
                <c:pt idx="0">
                  <c:v>0.78643964266625765</c:v>
                </c:pt>
                <c:pt idx="1">
                  <c:v>-5.8234758871701597</c:v>
                </c:pt>
                <c:pt idx="2">
                  <c:v>-3.4944353646198003</c:v>
                </c:pt>
                <c:pt idx="3">
                  <c:v>-5.5021161985378928</c:v>
                </c:pt>
                <c:pt idx="4">
                  <c:v>-6.3441214972169284</c:v>
                </c:pt>
                <c:pt idx="5">
                  <c:v>6.1571125265392723</c:v>
                </c:pt>
                <c:pt idx="6">
                  <c:v>6.6310718340544401</c:v>
                </c:pt>
                <c:pt idx="7">
                  <c:v>15.680842643611689</c:v>
                </c:pt>
                <c:pt idx="8">
                  <c:v>14.471280698193631</c:v>
                </c:pt>
                <c:pt idx="9">
                  <c:v>13.121209801570094</c:v>
                </c:pt>
                <c:pt idx="10">
                  <c:v>28.085921934002549</c:v>
                </c:pt>
                <c:pt idx="11">
                  <c:v>29.66203537770657</c:v>
                </c:pt>
                <c:pt idx="12">
                  <c:v>62.859530114851367</c:v>
                </c:pt>
                <c:pt idx="13">
                  <c:v>108.46696600384863</c:v>
                </c:pt>
                <c:pt idx="14">
                  <c:v>162.52919227981639</c:v>
                </c:pt>
              </c:numCache>
            </c:numRef>
          </c:yVal>
          <c:smooth val="0"/>
          <c:extLst>
            <c:ext xmlns:c16="http://schemas.microsoft.com/office/drawing/2014/chart" uri="{C3380CC4-5D6E-409C-BE32-E72D297353CC}">
              <c16:uniqueId val="{00000003-75F2-418A-BF9F-4BA7420C4801}"/>
            </c:ext>
          </c:extLst>
        </c:ser>
        <c:dLbls>
          <c:showLegendKey val="0"/>
          <c:showVal val="0"/>
          <c:showCatName val="0"/>
          <c:showSerName val="0"/>
          <c:showPercent val="0"/>
          <c:showBubbleSize val="0"/>
        </c:dLbls>
        <c:axId val="452596719"/>
        <c:axId val="452595887"/>
      </c:scatterChart>
      <c:valAx>
        <c:axId val="452596719"/>
        <c:scaling>
          <c:orientation val="minMax"/>
          <c:max val="15"/>
          <c:min val="0"/>
        </c:scaling>
        <c:delete val="0"/>
        <c:axPos val="b"/>
        <c:title>
          <c:tx>
            <c:rich>
              <a:bodyPr rot="0" spcFirstLastPara="1" vertOverflow="ellipsis" vert="horz" wrap="square" anchor="ctr" anchorCtr="1"/>
              <a:lstStyle/>
              <a:p>
                <a:pPr>
                  <a:defRPr sz="2000" b="0" i="0" u="none" strike="noStrike" kern="1200" baseline="0">
                    <a:solidFill>
                      <a:schemeClr val="tx1"/>
                    </a:solidFill>
                    <a:latin typeface="+mn-lt"/>
                    <a:ea typeface="+mn-ea"/>
                    <a:cs typeface="+mn-cs"/>
                  </a:defRPr>
                </a:pPr>
                <a:r>
                  <a:rPr lang="en-US"/>
                  <a:t>Day of Culture</a:t>
                </a:r>
              </a:p>
            </c:rich>
          </c:tx>
          <c:layout>
            <c:manualLayout>
              <c:xMode val="edge"/>
              <c:yMode val="edge"/>
              <c:x val="0.45519482833273778"/>
              <c:y val="0.78575425044641212"/>
            </c:manualLayout>
          </c:layout>
          <c:overlay val="0"/>
          <c:spPr>
            <a:noFill/>
            <a:ln>
              <a:noFill/>
            </a:ln>
            <a:effectLst/>
          </c:spPr>
          <c:txPr>
            <a:bodyPr rot="0" spcFirstLastPara="1" vertOverflow="ellipsis" vert="horz" wrap="square" anchor="ctr" anchorCtr="1"/>
            <a:lstStyle/>
            <a:p>
              <a:pPr>
                <a:defRPr sz="2000" b="0" i="0" u="none" strike="noStrike" kern="1200" baseline="0">
                  <a:solidFill>
                    <a:schemeClr val="tx1"/>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2000" b="0" i="0" u="none" strike="noStrike" kern="1200" baseline="0">
                <a:solidFill>
                  <a:schemeClr val="tx1"/>
                </a:solidFill>
                <a:latin typeface="+mn-lt"/>
                <a:ea typeface="+mn-ea"/>
                <a:cs typeface="+mn-cs"/>
              </a:defRPr>
            </a:pPr>
            <a:endParaRPr lang="en-US"/>
          </a:p>
        </c:txPr>
        <c:crossAx val="452595887"/>
        <c:crosses val="autoZero"/>
        <c:crossBetween val="midCat"/>
      </c:valAx>
      <c:valAx>
        <c:axId val="452595887"/>
        <c:scaling>
          <c:orientation val="minMax"/>
          <c:max val="20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2000" b="0" i="0" u="none" strike="noStrike" kern="1200" baseline="0">
                    <a:solidFill>
                      <a:schemeClr val="tx1"/>
                    </a:solidFill>
                    <a:latin typeface="+mn-lt"/>
                    <a:ea typeface="+mn-ea"/>
                    <a:cs typeface="+mn-cs"/>
                  </a:defRPr>
                </a:pPr>
                <a:r>
                  <a:rPr lang="en-US"/>
                  <a:t>difference in VCD (%)</a:t>
                </a:r>
              </a:p>
            </c:rich>
          </c:tx>
          <c:overlay val="0"/>
          <c:spPr>
            <a:noFill/>
            <a:ln>
              <a:noFill/>
            </a:ln>
            <a:effectLst/>
          </c:spPr>
          <c:txPr>
            <a:bodyPr rot="-5400000" spcFirstLastPara="1" vertOverflow="ellipsis" vert="horz" wrap="square" anchor="ctr" anchorCtr="1"/>
            <a:lstStyle/>
            <a:p>
              <a:pPr>
                <a:defRPr sz="2000" b="0" i="0" u="none" strike="noStrike" kern="1200" baseline="0">
                  <a:solidFill>
                    <a:schemeClr val="tx1"/>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50000"/>
                <a:lumOff val="50000"/>
              </a:schemeClr>
            </a:solidFill>
            <a:round/>
          </a:ln>
          <a:effectLst/>
        </c:spPr>
        <c:txPr>
          <a:bodyPr rot="-60000000" spcFirstLastPara="1" vertOverflow="ellipsis" vert="horz" wrap="square" anchor="ctr" anchorCtr="1"/>
          <a:lstStyle/>
          <a:p>
            <a:pPr>
              <a:defRPr sz="2000" b="0" i="0" u="none" strike="noStrike" kern="1200" baseline="0">
                <a:solidFill>
                  <a:schemeClr val="tx1"/>
                </a:solidFill>
                <a:latin typeface="+mn-lt"/>
                <a:ea typeface="+mn-ea"/>
                <a:cs typeface="+mn-cs"/>
              </a:defRPr>
            </a:pPr>
            <a:endParaRPr lang="en-US"/>
          </a:p>
        </c:txPr>
        <c:crossAx val="452596719"/>
        <c:crosses val="autoZero"/>
        <c:crossBetween val="midCat"/>
      </c:valAx>
      <c:spPr>
        <a:noFill/>
        <a:ln>
          <a:solidFill>
            <a:schemeClr val="tx1">
              <a:lumMod val="50000"/>
              <a:lumOff val="50000"/>
            </a:schemeClr>
          </a:solidFill>
        </a:ln>
        <a:effectLst/>
      </c:spPr>
    </c:plotArea>
    <c:legend>
      <c:legendPos val="b"/>
      <c:layout>
        <c:manualLayout>
          <c:xMode val="edge"/>
          <c:yMode val="edge"/>
          <c:x val="0.21034211960008822"/>
          <c:y val="0.89566728839225707"/>
          <c:w val="0.62655457927840763"/>
          <c:h val="8.3538353077448113E-2"/>
        </c:manualLayout>
      </c:layout>
      <c:overlay val="0"/>
      <c:spPr>
        <a:noFill/>
        <a:ln>
          <a:noFill/>
        </a:ln>
        <a:effectLst/>
      </c:spPr>
      <c:txPr>
        <a:bodyPr rot="0" spcFirstLastPara="1" vertOverflow="ellipsis" vert="horz" wrap="square" anchor="ctr" anchorCtr="1"/>
        <a:lstStyle/>
        <a:p>
          <a:pPr>
            <a:defRPr sz="2000" b="0"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2000">
          <a:solidFill>
            <a:schemeClr val="tx1"/>
          </a:solidFill>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6340617427773352"/>
          <c:y val="4.8042453238423106E-2"/>
          <c:w val="0.7809883547853097"/>
          <c:h val="0.62518905557122728"/>
        </c:manualLayout>
      </c:layout>
      <c:scatterChart>
        <c:scatterStyle val="lineMarker"/>
        <c:varyColors val="0"/>
        <c:ser>
          <c:idx val="0"/>
          <c:order val="0"/>
          <c:tx>
            <c:v>BRX 1</c:v>
          </c:tx>
          <c:spPr>
            <a:ln w="19050" cap="rnd">
              <a:solidFill>
                <a:schemeClr val="accent1"/>
              </a:solidFill>
              <a:round/>
            </a:ln>
            <a:effectLst/>
          </c:spPr>
          <c:marker>
            <c:symbol val="square"/>
            <c:size val="7"/>
            <c:spPr>
              <a:solidFill>
                <a:srgbClr val="A80068"/>
              </a:solidFill>
              <a:ln w="9525">
                <a:solidFill>
                  <a:schemeClr val="accent1"/>
                </a:solidFill>
              </a:ln>
              <a:effectLst/>
            </c:spPr>
          </c:marker>
          <c:xVal>
            <c:numRef>
              <c:f>'B1211 comparison'!$A$7:$A$21</c:f>
              <c:numCache>
                <c:formatCode>General</c:formatCode>
                <c:ptCount val="15"/>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numCache>
            </c:numRef>
          </c:xVal>
          <c:yVal>
            <c:numRef>
              <c:f>'B1211 comparison'!$AF$7:$AF$21</c:f>
              <c:numCache>
                <c:formatCode>0.0</c:formatCode>
                <c:ptCount val="15"/>
                <c:pt idx="0">
                  <c:v>-3.6942291776390008</c:v>
                </c:pt>
                <c:pt idx="1">
                  <c:v>-11.823830409356727</c:v>
                </c:pt>
                <c:pt idx="2">
                  <c:v>-2.3767995209954882</c:v>
                </c:pt>
                <c:pt idx="3">
                  <c:v>-6.7287450636918074</c:v>
                </c:pt>
                <c:pt idx="4">
                  <c:v>-5.3717914792272969</c:v>
                </c:pt>
                <c:pt idx="5">
                  <c:v>0.62555553692118937</c:v>
                </c:pt>
                <c:pt idx="6">
                  <c:v>6.1075825532043098</c:v>
                </c:pt>
                <c:pt idx="7">
                  <c:v>0.77711933572264924</c:v>
                </c:pt>
                <c:pt idx="8">
                  <c:v>5.2771192201203636</c:v>
                </c:pt>
                <c:pt idx="9">
                  <c:v>-1.7920773148389544</c:v>
                </c:pt>
                <c:pt idx="10">
                  <c:v>-10.137981679743366</c:v>
                </c:pt>
                <c:pt idx="11">
                  <c:v>-2.3901052983453233</c:v>
                </c:pt>
                <c:pt idx="12">
                  <c:v>-6.6361910665168669</c:v>
                </c:pt>
                <c:pt idx="13">
                  <c:v>-6.2049062049061963</c:v>
                </c:pt>
                <c:pt idx="14">
                  <c:v>-8.0836061445479714</c:v>
                </c:pt>
              </c:numCache>
            </c:numRef>
          </c:yVal>
          <c:smooth val="0"/>
          <c:extLst>
            <c:ext xmlns:c16="http://schemas.microsoft.com/office/drawing/2014/chart" uri="{C3380CC4-5D6E-409C-BE32-E72D297353CC}">
              <c16:uniqueId val="{00000000-DFDB-4F25-9BBA-49308D2B8A2C}"/>
            </c:ext>
          </c:extLst>
        </c:ser>
        <c:ser>
          <c:idx val="2"/>
          <c:order val="1"/>
          <c:tx>
            <c:v>BRX 2</c:v>
          </c:tx>
          <c:spPr>
            <a:ln w="19050" cap="rnd">
              <a:solidFill>
                <a:schemeClr val="accent6"/>
              </a:solidFill>
              <a:round/>
            </a:ln>
            <a:effectLst/>
          </c:spPr>
          <c:marker>
            <c:symbol val="triangle"/>
            <c:size val="7"/>
            <c:spPr>
              <a:solidFill>
                <a:schemeClr val="accent6"/>
              </a:solidFill>
              <a:ln w="9525">
                <a:solidFill>
                  <a:schemeClr val="accent6">
                    <a:lumMod val="75000"/>
                  </a:schemeClr>
                </a:solidFill>
              </a:ln>
              <a:effectLst/>
            </c:spPr>
          </c:marker>
          <c:xVal>
            <c:numRef>
              <c:f>'B1211 comparison'!$A$7:$A$21</c:f>
              <c:numCache>
                <c:formatCode>General</c:formatCode>
                <c:ptCount val="15"/>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numCache>
            </c:numRef>
          </c:xVal>
          <c:yVal>
            <c:numRef>
              <c:f>'B1211 comparison'!$AF$40:$AF$54</c:f>
              <c:numCache>
                <c:formatCode>0.0</c:formatCode>
                <c:ptCount val="15"/>
                <c:pt idx="0">
                  <c:v>1.9016288213110817</c:v>
                </c:pt>
                <c:pt idx="1">
                  <c:v>0.85933966530982042</c:v>
                </c:pt>
                <c:pt idx="2">
                  <c:v>-11.806829317319526</c:v>
                </c:pt>
                <c:pt idx="3">
                  <c:v>-5.7426590975165537</c:v>
                </c:pt>
                <c:pt idx="4">
                  <c:v>0.82760858981987395</c:v>
                </c:pt>
                <c:pt idx="5">
                  <c:v>5.6814338856949602</c:v>
                </c:pt>
                <c:pt idx="6">
                  <c:v>6.1530295920800571</c:v>
                </c:pt>
                <c:pt idx="7">
                  <c:v>10.263000551315015</c:v>
                </c:pt>
                <c:pt idx="8">
                  <c:v>3.2905415375534859</c:v>
                </c:pt>
                <c:pt idx="9">
                  <c:v>1.9892334843956427</c:v>
                </c:pt>
                <c:pt idx="10">
                  <c:v>-1.7949205650045614</c:v>
                </c:pt>
                <c:pt idx="11">
                  <c:v>-1.290633787074831</c:v>
                </c:pt>
                <c:pt idx="12">
                  <c:v>-9.6424928733948914</c:v>
                </c:pt>
                <c:pt idx="13">
                  <c:v>-9.6283410240155778</c:v>
                </c:pt>
                <c:pt idx="14">
                  <c:v>-7.7928836271384805</c:v>
                </c:pt>
              </c:numCache>
            </c:numRef>
          </c:yVal>
          <c:smooth val="0"/>
          <c:extLst>
            <c:ext xmlns:c16="http://schemas.microsoft.com/office/drawing/2014/chart" uri="{C3380CC4-5D6E-409C-BE32-E72D297353CC}">
              <c16:uniqueId val="{00000001-DFDB-4F25-9BBA-49308D2B8A2C}"/>
            </c:ext>
          </c:extLst>
        </c:ser>
        <c:ser>
          <c:idx val="4"/>
          <c:order val="2"/>
          <c:tx>
            <c:v>BRX 3</c:v>
          </c:tx>
          <c:spPr>
            <a:ln w="19050" cap="rnd">
              <a:solidFill>
                <a:schemeClr val="accent5">
                  <a:lumMod val="50000"/>
                  <a:lumOff val="50000"/>
                </a:schemeClr>
              </a:solidFill>
              <a:round/>
            </a:ln>
            <a:effectLst/>
          </c:spPr>
          <c:marker>
            <c:symbol val="circle"/>
            <c:size val="7"/>
            <c:spPr>
              <a:solidFill>
                <a:schemeClr val="bg1">
                  <a:alpha val="96000"/>
                </a:schemeClr>
              </a:solidFill>
              <a:ln w="9525">
                <a:solidFill>
                  <a:schemeClr val="accent5">
                    <a:lumMod val="50000"/>
                    <a:lumOff val="50000"/>
                  </a:schemeClr>
                </a:solidFill>
              </a:ln>
              <a:effectLst/>
            </c:spPr>
          </c:marker>
          <c:xVal>
            <c:numRef>
              <c:f>'B1211 comparison'!$A$7:$A$21</c:f>
              <c:numCache>
                <c:formatCode>General</c:formatCode>
                <c:ptCount val="15"/>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numCache>
            </c:numRef>
          </c:xVal>
          <c:yVal>
            <c:numRef>
              <c:f>'B1211 comparison'!$AF$74:$AF$88</c:f>
              <c:numCache>
                <c:formatCode>0.0</c:formatCode>
                <c:ptCount val="15"/>
                <c:pt idx="0">
                  <c:v>1.0027080436214628</c:v>
                </c:pt>
                <c:pt idx="1">
                  <c:v>-7.4759437453737965</c:v>
                </c:pt>
                <c:pt idx="2">
                  <c:v>-4.2089985486212056</c:v>
                </c:pt>
                <c:pt idx="3">
                  <c:v>-3.5675264833024563</c:v>
                </c:pt>
                <c:pt idx="4">
                  <c:v>1.7163268862171195</c:v>
                </c:pt>
                <c:pt idx="5">
                  <c:v>1.4296331919730731</c:v>
                </c:pt>
                <c:pt idx="6">
                  <c:v>7.8627446574234403</c:v>
                </c:pt>
                <c:pt idx="7">
                  <c:v>4.3993582510036875</c:v>
                </c:pt>
                <c:pt idx="8">
                  <c:v>-0.49838860222249837</c:v>
                </c:pt>
                <c:pt idx="9">
                  <c:v>-5.080112385146939</c:v>
                </c:pt>
                <c:pt idx="10">
                  <c:v>-9.9254976997923663</c:v>
                </c:pt>
                <c:pt idx="11">
                  <c:v>-7.9411511657919656</c:v>
                </c:pt>
                <c:pt idx="12">
                  <c:v>-13.87329038481414</c:v>
                </c:pt>
                <c:pt idx="13">
                  <c:v>-4.6230672601231291</c:v>
                </c:pt>
                <c:pt idx="14">
                  <c:v>-0.34868433588018949</c:v>
                </c:pt>
              </c:numCache>
            </c:numRef>
          </c:yVal>
          <c:smooth val="0"/>
          <c:extLst>
            <c:ext xmlns:c16="http://schemas.microsoft.com/office/drawing/2014/chart" uri="{C3380CC4-5D6E-409C-BE32-E72D297353CC}">
              <c16:uniqueId val="{00000002-DFDB-4F25-9BBA-49308D2B8A2C}"/>
            </c:ext>
          </c:extLst>
        </c:ser>
        <c:ser>
          <c:idx val="6"/>
          <c:order val="3"/>
          <c:tx>
            <c:v>BRX 4</c:v>
          </c:tx>
          <c:spPr>
            <a:ln w="19050" cap="rnd">
              <a:solidFill>
                <a:schemeClr val="accent4"/>
              </a:solidFill>
              <a:round/>
            </a:ln>
            <a:effectLst/>
          </c:spPr>
          <c:marker>
            <c:symbol val="circle"/>
            <c:size val="7"/>
            <c:spPr>
              <a:solidFill>
                <a:schemeClr val="accent4"/>
              </a:solidFill>
              <a:ln w="9525">
                <a:solidFill>
                  <a:schemeClr val="accent4">
                    <a:lumMod val="50000"/>
                  </a:schemeClr>
                </a:solidFill>
              </a:ln>
              <a:effectLst/>
            </c:spPr>
          </c:marker>
          <c:xVal>
            <c:numRef>
              <c:f>'B1211 comparison'!$A$7:$A$21</c:f>
              <c:numCache>
                <c:formatCode>General</c:formatCode>
                <c:ptCount val="15"/>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numCache>
            </c:numRef>
          </c:xVal>
          <c:yVal>
            <c:numRef>
              <c:f>'B1211 comparison'!$AF$106:$AF$120</c:f>
              <c:numCache>
                <c:formatCode>0.0</c:formatCode>
                <c:ptCount val="15"/>
                <c:pt idx="0">
                  <c:v>-2.267694891959982</c:v>
                </c:pt>
                <c:pt idx="1">
                  <c:v>-9.0081892629663347</c:v>
                </c:pt>
                <c:pt idx="2">
                  <c:v>-5.8292474122499804</c:v>
                </c:pt>
                <c:pt idx="3">
                  <c:v>-7.6567910734897948</c:v>
                </c:pt>
                <c:pt idx="4">
                  <c:v>-8.8983727291110188</c:v>
                </c:pt>
                <c:pt idx="5">
                  <c:v>3.5887952879939671</c:v>
                </c:pt>
                <c:pt idx="6">
                  <c:v>1.2611617416919862</c:v>
                </c:pt>
                <c:pt idx="7">
                  <c:v>9.5923772413163366</c:v>
                </c:pt>
                <c:pt idx="8">
                  <c:v>6.3527501522224501</c:v>
                </c:pt>
                <c:pt idx="9">
                  <c:v>-0.48735679109999175</c:v>
                </c:pt>
                <c:pt idx="10">
                  <c:v>6.2638759748761874</c:v>
                </c:pt>
                <c:pt idx="11">
                  <c:v>-2.9115979001075249</c:v>
                </c:pt>
                <c:pt idx="12">
                  <c:v>2.1058445328763753</c:v>
                </c:pt>
                <c:pt idx="13">
                  <c:v>-2.9826812059012178</c:v>
                </c:pt>
                <c:pt idx="14">
                  <c:v>-2.0213137197004269</c:v>
                </c:pt>
              </c:numCache>
            </c:numRef>
          </c:yVal>
          <c:smooth val="0"/>
          <c:extLst>
            <c:ext xmlns:c16="http://schemas.microsoft.com/office/drawing/2014/chart" uri="{C3380CC4-5D6E-409C-BE32-E72D297353CC}">
              <c16:uniqueId val="{00000003-DFDB-4F25-9BBA-49308D2B8A2C}"/>
            </c:ext>
          </c:extLst>
        </c:ser>
        <c:dLbls>
          <c:showLegendKey val="0"/>
          <c:showVal val="0"/>
          <c:showCatName val="0"/>
          <c:showSerName val="0"/>
          <c:showPercent val="0"/>
          <c:showBubbleSize val="0"/>
        </c:dLbls>
        <c:axId val="452596719"/>
        <c:axId val="452595887"/>
      </c:scatterChart>
      <c:valAx>
        <c:axId val="452596719"/>
        <c:scaling>
          <c:orientation val="minMax"/>
        </c:scaling>
        <c:delete val="0"/>
        <c:axPos val="b"/>
        <c:title>
          <c:tx>
            <c:rich>
              <a:bodyPr rot="0" spcFirstLastPara="1" vertOverflow="ellipsis" vert="horz" wrap="square" anchor="ctr" anchorCtr="1"/>
              <a:lstStyle/>
              <a:p>
                <a:pPr>
                  <a:defRPr sz="2000" b="0" i="0" u="none" strike="noStrike" kern="1200" baseline="0">
                    <a:solidFill>
                      <a:schemeClr val="tx1"/>
                    </a:solidFill>
                    <a:latin typeface="+mn-lt"/>
                    <a:ea typeface="+mn-ea"/>
                    <a:cs typeface="+mn-cs"/>
                  </a:defRPr>
                </a:pPr>
                <a:r>
                  <a:rPr lang="en-US"/>
                  <a:t>Day of Culture</a:t>
                </a:r>
              </a:p>
            </c:rich>
          </c:tx>
          <c:overlay val="0"/>
          <c:spPr>
            <a:noFill/>
            <a:ln>
              <a:noFill/>
            </a:ln>
            <a:effectLst/>
          </c:spPr>
          <c:txPr>
            <a:bodyPr rot="0" spcFirstLastPara="1" vertOverflow="ellipsis" vert="horz" wrap="square" anchor="ctr" anchorCtr="1"/>
            <a:lstStyle/>
            <a:p>
              <a:pPr>
                <a:defRPr sz="2000" b="0" i="0" u="none" strike="noStrike" kern="1200" baseline="0">
                  <a:solidFill>
                    <a:schemeClr val="tx1"/>
                  </a:solidFill>
                  <a:latin typeface="+mn-lt"/>
                  <a:ea typeface="+mn-ea"/>
                  <a:cs typeface="+mn-cs"/>
                </a:defRPr>
              </a:pPr>
              <a:endParaRPr lang="en-US"/>
            </a:p>
          </c:txPr>
        </c:title>
        <c:numFmt formatCode="General" sourceLinked="1"/>
        <c:majorTickMark val="none"/>
        <c:minorTickMark val="none"/>
        <c:tickLblPos val="low"/>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2000" b="0" i="0" u="none" strike="noStrike" kern="1200" baseline="0">
                <a:solidFill>
                  <a:schemeClr val="tx1"/>
                </a:solidFill>
                <a:latin typeface="+mn-lt"/>
                <a:ea typeface="+mn-ea"/>
                <a:cs typeface="+mn-cs"/>
              </a:defRPr>
            </a:pPr>
            <a:endParaRPr lang="en-US"/>
          </a:p>
        </c:txPr>
        <c:crossAx val="452595887"/>
        <c:crosses val="autoZero"/>
        <c:crossBetween val="midCat"/>
      </c:valAx>
      <c:valAx>
        <c:axId val="452595887"/>
        <c:scaling>
          <c:orientation val="minMax"/>
          <c:max val="2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2000" b="0" i="0" u="none" strike="noStrike" kern="1200" baseline="0">
                    <a:solidFill>
                      <a:schemeClr val="tx1"/>
                    </a:solidFill>
                    <a:latin typeface="+mn-lt"/>
                    <a:ea typeface="+mn-ea"/>
                    <a:cs typeface="+mn-cs"/>
                  </a:defRPr>
                </a:pPr>
                <a:r>
                  <a:rPr lang="en-US"/>
                  <a:t>difference</a:t>
                </a:r>
                <a:r>
                  <a:rPr lang="en-US" baseline="0"/>
                  <a:t> in VCD (%)</a:t>
                </a:r>
                <a:endParaRPr lang="en-US"/>
              </a:p>
            </c:rich>
          </c:tx>
          <c:overlay val="0"/>
          <c:spPr>
            <a:noFill/>
            <a:ln>
              <a:noFill/>
            </a:ln>
            <a:effectLst/>
          </c:spPr>
          <c:txPr>
            <a:bodyPr rot="-5400000" spcFirstLastPara="1" vertOverflow="ellipsis" vert="horz" wrap="square" anchor="ctr" anchorCtr="1"/>
            <a:lstStyle/>
            <a:p>
              <a:pPr>
                <a:defRPr sz="2000" b="0" i="0" u="none" strike="noStrike" kern="1200" baseline="0">
                  <a:solidFill>
                    <a:schemeClr val="tx1"/>
                  </a:solidFill>
                  <a:latin typeface="+mn-lt"/>
                  <a:ea typeface="+mn-ea"/>
                  <a:cs typeface="+mn-cs"/>
                </a:defRPr>
              </a:pPr>
              <a:endParaRPr lang="en-US"/>
            </a:p>
          </c:txPr>
        </c:title>
        <c:numFmt formatCode="0" sourceLinked="0"/>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2000" b="0" i="0" u="none" strike="noStrike" kern="1200" baseline="0">
                <a:solidFill>
                  <a:schemeClr val="tx1"/>
                </a:solidFill>
                <a:latin typeface="+mn-lt"/>
                <a:ea typeface="+mn-ea"/>
                <a:cs typeface="+mn-cs"/>
              </a:defRPr>
            </a:pPr>
            <a:endParaRPr lang="en-US"/>
          </a:p>
        </c:txPr>
        <c:crossAx val="452596719"/>
        <c:crosses val="autoZero"/>
        <c:crossBetween val="midCat"/>
        <c:majorUnit val="10"/>
      </c:valAx>
      <c:spPr>
        <a:noFill/>
        <a:ln>
          <a:solidFill>
            <a:schemeClr val="tx1"/>
          </a:solid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2000">
          <a:solidFill>
            <a:schemeClr val="tx1"/>
          </a:solidFill>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smoothMarker"/>
        <c:varyColors val="0"/>
        <c:ser>
          <c:idx val="1"/>
          <c:order val="0"/>
          <c:tx>
            <c:v>y=x</c:v>
          </c:tx>
          <c:spPr>
            <a:ln w="25400" cap="rnd">
              <a:solidFill>
                <a:schemeClr val="accent2"/>
              </a:solidFill>
              <a:round/>
            </a:ln>
            <a:effectLst/>
          </c:spPr>
          <c:marker>
            <c:symbol val="none"/>
          </c:marker>
          <c:dPt>
            <c:idx val="1"/>
            <c:marker>
              <c:symbol val="none"/>
            </c:marker>
            <c:bubble3D val="0"/>
            <c:extLst>
              <c:ext xmlns:c16="http://schemas.microsoft.com/office/drawing/2014/chart" uri="{C3380CC4-5D6E-409C-BE32-E72D297353CC}">
                <c16:uniqueId val="{00000004-D97D-4BCC-9F0C-A5DB78795469}"/>
              </c:ext>
            </c:extLst>
          </c:dPt>
          <c:xVal>
            <c:numRef>
              <c:f>Data!$AA$2:$AA$3</c:f>
              <c:numCache>
                <c:formatCode>General</c:formatCode>
                <c:ptCount val="2"/>
                <c:pt idx="0">
                  <c:v>0</c:v>
                </c:pt>
                <c:pt idx="1">
                  <c:v>150</c:v>
                </c:pt>
              </c:numCache>
            </c:numRef>
          </c:xVal>
          <c:yVal>
            <c:numRef>
              <c:f>Data!$AA$2:$AA$3</c:f>
              <c:numCache>
                <c:formatCode>General</c:formatCode>
                <c:ptCount val="2"/>
                <c:pt idx="0">
                  <c:v>0</c:v>
                </c:pt>
                <c:pt idx="1">
                  <c:v>150</c:v>
                </c:pt>
              </c:numCache>
            </c:numRef>
          </c:yVal>
          <c:smooth val="1"/>
          <c:extLst>
            <c:ext xmlns:c16="http://schemas.microsoft.com/office/drawing/2014/chart" uri="{C3380CC4-5D6E-409C-BE32-E72D297353CC}">
              <c16:uniqueId val="{00000000-D97D-4BCC-9F0C-A5DB78795469}"/>
            </c:ext>
          </c:extLst>
        </c:ser>
        <c:dLbls>
          <c:showLegendKey val="0"/>
          <c:showVal val="0"/>
          <c:showCatName val="0"/>
          <c:showSerName val="0"/>
          <c:showPercent val="0"/>
          <c:showBubbleSize val="0"/>
        </c:dLbls>
        <c:axId val="405750063"/>
        <c:axId val="1319910831"/>
      </c:scatterChart>
      <c:scatterChart>
        <c:scatterStyle val="lineMarker"/>
        <c:varyColors val="0"/>
        <c:ser>
          <c:idx val="0"/>
          <c:order val="1"/>
          <c:tx>
            <c:strRef>
              <c:f>Data!$I$2</c:f>
              <c:strCache>
                <c:ptCount val="1"/>
                <c:pt idx="0">
                  <c:v>ViCell VCD</c:v>
                </c:pt>
              </c:strCache>
            </c:strRef>
          </c:tx>
          <c:spPr>
            <a:ln w="25400" cap="rnd">
              <a:noFill/>
              <a:round/>
            </a:ln>
            <a:effectLst/>
          </c:spPr>
          <c:marker>
            <c:symbol val="circle"/>
            <c:size val="5"/>
            <c:spPr>
              <a:noFill/>
              <a:ln w="9525">
                <a:solidFill>
                  <a:schemeClr val="accent4"/>
                </a:solidFill>
              </a:ln>
              <a:effectLst/>
            </c:spPr>
          </c:marker>
          <c:trendline>
            <c:spPr>
              <a:ln w="19050" cap="rnd">
                <a:solidFill>
                  <a:schemeClr val="accent4">
                    <a:lumMod val="50000"/>
                  </a:schemeClr>
                </a:solidFill>
                <a:prstDash val="sysDot"/>
              </a:ln>
              <a:effectLst/>
            </c:spPr>
            <c:trendlineType val="linear"/>
            <c:intercept val="0"/>
            <c:dispRSqr val="1"/>
            <c:dispEq val="1"/>
            <c:trendlineLbl>
              <c:layout>
                <c:manualLayout>
                  <c:x val="-9.2355440763498678E-2"/>
                  <c:y val="-1.8737834668892842E-2"/>
                </c:manualLayout>
              </c:layout>
              <c:numFmt formatCode="General" sourceLinked="0"/>
              <c:spPr>
                <a:noFill/>
                <a:ln>
                  <a:noFill/>
                </a:ln>
                <a:effectLst/>
              </c:spPr>
              <c:txPr>
                <a:bodyPr rot="0" spcFirstLastPara="1" vertOverflow="ellipsis" vert="horz" wrap="square" anchor="ctr" anchorCtr="1"/>
                <a:lstStyle/>
                <a:p>
                  <a:pPr>
                    <a:defRPr sz="1800" b="0" i="0" u="none" strike="noStrike" kern="1200" baseline="0">
                      <a:solidFill>
                        <a:schemeClr val="tx1"/>
                      </a:solidFill>
                      <a:latin typeface="+mn-lt"/>
                      <a:ea typeface="+mn-ea"/>
                      <a:cs typeface="+mn-cs"/>
                    </a:defRPr>
                  </a:pPr>
                  <a:endParaRPr lang="en-US"/>
                </a:p>
              </c:txPr>
            </c:trendlineLbl>
          </c:trendline>
          <c:xVal>
            <c:numRef>
              <c:f>Data!$D$3:$D$507</c:f>
              <c:numCache>
                <c:formatCode>0.0</c:formatCode>
                <c:ptCount val="505"/>
                <c:pt idx="0">
                  <c:v>13.291</c:v>
                </c:pt>
                <c:pt idx="1">
                  <c:v>21.888000000000002</c:v>
                </c:pt>
                <c:pt idx="2">
                  <c:v>38.412999999999997</c:v>
                </c:pt>
                <c:pt idx="3">
                  <c:v>65.078999999999994</c:v>
                </c:pt>
                <c:pt idx="4">
                  <c:v>94.474999999999994</c:v>
                </c:pt>
                <c:pt idx="5">
                  <c:v>119.254</c:v>
                </c:pt>
                <c:pt idx="6">
                  <c:v>132.88399999999999</c:v>
                </c:pt>
                <c:pt idx="7">
                  <c:v>140.905</c:v>
                </c:pt>
                <c:pt idx="8">
                  <c:v>120.634</c:v>
                </c:pt>
                <c:pt idx="9">
                  <c:v>115.062</c:v>
                </c:pt>
                <c:pt idx="10">
                  <c:v>103.492</c:v>
                </c:pt>
                <c:pt idx="11">
                  <c:v>89.745000000000005</c:v>
                </c:pt>
                <c:pt idx="12">
                  <c:v>77.438999999999993</c:v>
                </c:pt>
                <c:pt idx="13">
                  <c:v>65.141999999999996</c:v>
                </c:pt>
                <c:pt idx="14">
                  <c:v>55.594000000000001</c:v>
                </c:pt>
                <c:pt idx="15">
                  <c:v>12.323</c:v>
                </c:pt>
                <c:pt idx="16">
                  <c:v>21.603000000000002</c:v>
                </c:pt>
                <c:pt idx="17">
                  <c:v>38.566000000000003</c:v>
                </c:pt>
                <c:pt idx="18">
                  <c:v>62.308</c:v>
                </c:pt>
                <c:pt idx="19">
                  <c:v>91.183999999999997</c:v>
                </c:pt>
                <c:pt idx="20">
                  <c:v>116.258</c:v>
                </c:pt>
                <c:pt idx="21">
                  <c:v>127.884</c:v>
                </c:pt>
                <c:pt idx="22">
                  <c:v>131.43</c:v>
                </c:pt>
                <c:pt idx="23">
                  <c:v>113.438</c:v>
                </c:pt>
                <c:pt idx="24">
                  <c:v>101.22799999999999</c:v>
                </c:pt>
                <c:pt idx="25">
                  <c:v>88.694999999999993</c:v>
                </c:pt>
                <c:pt idx="26">
                  <c:v>77.945999999999998</c:v>
                </c:pt>
                <c:pt idx="27">
                  <c:v>72.680000000000007</c:v>
                </c:pt>
                <c:pt idx="28">
                  <c:v>64.909000000000006</c:v>
                </c:pt>
                <c:pt idx="29">
                  <c:v>56.627000000000002</c:v>
                </c:pt>
                <c:pt idx="30">
                  <c:v>12.462999999999999</c:v>
                </c:pt>
                <c:pt idx="31">
                  <c:v>22.11</c:v>
                </c:pt>
                <c:pt idx="32">
                  <c:v>39.798999999999999</c:v>
                </c:pt>
                <c:pt idx="33">
                  <c:v>65.352999999999994</c:v>
                </c:pt>
                <c:pt idx="34">
                  <c:v>92.435000000000002</c:v>
                </c:pt>
                <c:pt idx="35">
                  <c:v>118.28</c:v>
                </c:pt>
                <c:pt idx="36">
                  <c:v>130.001</c:v>
                </c:pt>
                <c:pt idx="37">
                  <c:v>128.78299999999999</c:v>
                </c:pt>
                <c:pt idx="38">
                  <c:v>121.986</c:v>
                </c:pt>
                <c:pt idx="39">
                  <c:v>112.75700000000001</c:v>
                </c:pt>
                <c:pt idx="40">
                  <c:v>99.893000000000001</c:v>
                </c:pt>
                <c:pt idx="41">
                  <c:v>84.997</c:v>
                </c:pt>
                <c:pt idx="42">
                  <c:v>76.474000000000004</c:v>
                </c:pt>
                <c:pt idx="43">
                  <c:v>67.831000000000003</c:v>
                </c:pt>
                <c:pt idx="44">
                  <c:v>61.491999999999997</c:v>
                </c:pt>
                <c:pt idx="45">
                  <c:v>13.436</c:v>
                </c:pt>
                <c:pt idx="46">
                  <c:v>22.058</c:v>
                </c:pt>
                <c:pt idx="47">
                  <c:v>38.420999999999999</c:v>
                </c:pt>
                <c:pt idx="48">
                  <c:v>64.296000000000006</c:v>
                </c:pt>
                <c:pt idx="49">
                  <c:v>89.846999999999994</c:v>
                </c:pt>
                <c:pt idx="50">
                  <c:v>118.518</c:v>
                </c:pt>
                <c:pt idx="51">
                  <c:v>134.95500000000001</c:v>
                </c:pt>
                <c:pt idx="52">
                  <c:v>130.56700000000001</c:v>
                </c:pt>
                <c:pt idx="53">
                  <c:v>116.242</c:v>
                </c:pt>
                <c:pt idx="54">
                  <c:v>112.854</c:v>
                </c:pt>
                <c:pt idx="55">
                  <c:v>102.815</c:v>
                </c:pt>
                <c:pt idx="56">
                  <c:v>92.655000000000001</c:v>
                </c:pt>
                <c:pt idx="57">
                  <c:v>85.007000000000005</c:v>
                </c:pt>
                <c:pt idx="58">
                  <c:v>75.861999999999995</c:v>
                </c:pt>
                <c:pt idx="59">
                  <c:v>66.799000000000007</c:v>
                </c:pt>
                <c:pt idx="60">
                  <c:v>13.663</c:v>
                </c:pt>
                <c:pt idx="61">
                  <c:v>21.616</c:v>
                </c:pt>
                <c:pt idx="62">
                  <c:v>37.895000000000003</c:v>
                </c:pt>
                <c:pt idx="63">
                  <c:v>63.152999999999999</c:v>
                </c:pt>
                <c:pt idx="64">
                  <c:v>91.823999999999998</c:v>
                </c:pt>
                <c:pt idx="65">
                  <c:v>114.36499999999999</c:v>
                </c:pt>
                <c:pt idx="66">
                  <c:v>133.50299999999999</c:v>
                </c:pt>
                <c:pt idx="67">
                  <c:v>130.26900000000001</c:v>
                </c:pt>
                <c:pt idx="68">
                  <c:v>113.566</c:v>
                </c:pt>
                <c:pt idx="69">
                  <c:v>105.352</c:v>
                </c:pt>
                <c:pt idx="70">
                  <c:v>98.251999999999995</c:v>
                </c:pt>
                <c:pt idx="71">
                  <c:v>92.983999999999995</c:v>
                </c:pt>
                <c:pt idx="72">
                  <c:v>87.081000000000003</c:v>
                </c:pt>
                <c:pt idx="73">
                  <c:v>64.480999999999995</c:v>
                </c:pt>
                <c:pt idx="74">
                  <c:v>52.482999999999997</c:v>
                </c:pt>
                <c:pt idx="75">
                  <c:v>15.808999999999999</c:v>
                </c:pt>
                <c:pt idx="76">
                  <c:v>21.600999999999999</c:v>
                </c:pt>
                <c:pt idx="77">
                  <c:v>37.378999999999998</c:v>
                </c:pt>
                <c:pt idx="78">
                  <c:v>62.642000000000003</c:v>
                </c:pt>
                <c:pt idx="79">
                  <c:v>93.576999999999998</c:v>
                </c:pt>
                <c:pt idx="80">
                  <c:v>118.785</c:v>
                </c:pt>
                <c:pt idx="81">
                  <c:v>133.15</c:v>
                </c:pt>
                <c:pt idx="82">
                  <c:v>133.102</c:v>
                </c:pt>
                <c:pt idx="83">
                  <c:v>117.919</c:v>
                </c:pt>
                <c:pt idx="84">
                  <c:v>109.371</c:v>
                </c:pt>
                <c:pt idx="85">
                  <c:v>97.241</c:v>
                </c:pt>
                <c:pt idx="86">
                  <c:v>44.414999999999999</c:v>
                </c:pt>
                <c:pt idx="87">
                  <c:v>29.442</c:v>
                </c:pt>
                <c:pt idx="88">
                  <c:v>15.701000000000001</c:v>
                </c:pt>
                <c:pt idx="89">
                  <c:v>2.0249999999999999</c:v>
                </c:pt>
                <c:pt idx="90">
                  <c:v>13.097</c:v>
                </c:pt>
                <c:pt idx="91">
                  <c:v>21.98</c:v>
                </c:pt>
                <c:pt idx="92">
                  <c:v>38.546999999999997</c:v>
                </c:pt>
                <c:pt idx="93">
                  <c:v>64.974999999999994</c:v>
                </c:pt>
                <c:pt idx="94">
                  <c:v>93.960999999999999</c:v>
                </c:pt>
                <c:pt idx="95">
                  <c:v>116.80800000000001</c:v>
                </c:pt>
                <c:pt idx="96">
                  <c:v>130.35599999999999</c:v>
                </c:pt>
                <c:pt idx="97">
                  <c:v>131.39599999999999</c:v>
                </c:pt>
                <c:pt idx="98">
                  <c:v>123.175</c:v>
                </c:pt>
                <c:pt idx="99">
                  <c:v>117.57299999999999</c:v>
                </c:pt>
                <c:pt idx="100">
                  <c:v>105.398</c:v>
                </c:pt>
                <c:pt idx="101">
                  <c:v>94.861999999999995</c:v>
                </c:pt>
                <c:pt idx="102">
                  <c:v>70.613</c:v>
                </c:pt>
                <c:pt idx="103">
                  <c:v>49.887999999999998</c:v>
                </c:pt>
                <c:pt idx="104">
                  <c:v>37.253</c:v>
                </c:pt>
                <c:pt idx="105">
                  <c:v>9.7710000000000008</c:v>
                </c:pt>
                <c:pt idx="106">
                  <c:v>16.265000000000001</c:v>
                </c:pt>
                <c:pt idx="107">
                  <c:v>30.54</c:v>
                </c:pt>
                <c:pt idx="108">
                  <c:v>45.351999999999997</c:v>
                </c:pt>
                <c:pt idx="109">
                  <c:v>69.551000000000002</c:v>
                </c:pt>
                <c:pt idx="110">
                  <c:v>92.902000000000001</c:v>
                </c:pt>
                <c:pt idx="111">
                  <c:v>116.833</c:v>
                </c:pt>
                <c:pt idx="112">
                  <c:v>107.90600000000001</c:v>
                </c:pt>
                <c:pt idx="113">
                  <c:v>97.694000000000003</c:v>
                </c:pt>
                <c:pt idx="114">
                  <c:v>104.801</c:v>
                </c:pt>
                <c:pt idx="115">
                  <c:v>94.9</c:v>
                </c:pt>
                <c:pt idx="116">
                  <c:v>97.38</c:v>
                </c:pt>
                <c:pt idx="117">
                  <c:v>94.941000000000003</c:v>
                </c:pt>
                <c:pt idx="118">
                  <c:v>87.712000000000003</c:v>
                </c:pt>
                <c:pt idx="119">
                  <c:v>83.433000000000007</c:v>
                </c:pt>
                <c:pt idx="120">
                  <c:v>9.0679999999999996</c:v>
                </c:pt>
                <c:pt idx="121">
                  <c:v>13.624000000000001</c:v>
                </c:pt>
                <c:pt idx="122">
                  <c:v>28.004999999999999</c:v>
                </c:pt>
                <c:pt idx="123">
                  <c:v>42.473999999999997</c:v>
                </c:pt>
                <c:pt idx="124">
                  <c:v>62.75</c:v>
                </c:pt>
                <c:pt idx="125">
                  <c:v>82.311999999999998</c:v>
                </c:pt>
                <c:pt idx="126">
                  <c:v>94.432000000000002</c:v>
                </c:pt>
                <c:pt idx="127">
                  <c:v>103.553</c:v>
                </c:pt>
                <c:pt idx="128">
                  <c:v>91.893000000000001</c:v>
                </c:pt>
                <c:pt idx="129">
                  <c:v>86.411000000000001</c:v>
                </c:pt>
                <c:pt idx="130">
                  <c:v>78.459000000000003</c:v>
                </c:pt>
                <c:pt idx="131">
                  <c:v>71.236000000000004</c:v>
                </c:pt>
                <c:pt idx="132">
                  <c:v>66.343000000000004</c:v>
                </c:pt>
                <c:pt idx="133">
                  <c:v>60.48</c:v>
                </c:pt>
                <c:pt idx="134">
                  <c:v>53.31</c:v>
                </c:pt>
                <c:pt idx="135">
                  <c:v>8.5250000000000004</c:v>
                </c:pt>
                <c:pt idx="136">
                  <c:v>14.065</c:v>
                </c:pt>
                <c:pt idx="137">
                  <c:v>28.337</c:v>
                </c:pt>
                <c:pt idx="138">
                  <c:v>45.622999999999998</c:v>
                </c:pt>
                <c:pt idx="139">
                  <c:v>68.337000000000003</c:v>
                </c:pt>
                <c:pt idx="140">
                  <c:v>92.954999999999998</c:v>
                </c:pt>
                <c:pt idx="141">
                  <c:v>115.508</c:v>
                </c:pt>
                <c:pt idx="142">
                  <c:v>107.289</c:v>
                </c:pt>
                <c:pt idx="143">
                  <c:v>92.177999999999997</c:v>
                </c:pt>
                <c:pt idx="144">
                  <c:v>88.251000000000005</c:v>
                </c:pt>
                <c:pt idx="145">
                  <c:v>80.183999999999997</c:v>
                </c:pt>
                <c:pt idx="146">
                  <c:v>69.707999999999998</c:v>
                </c:pt>
                <c:pt idx="147">
                  <c:v>55.645000000000003</c:v>
                </c:pt>
                <c:pt idx="148">
                  <c:v>43.344000000000001</c:v>
                </c:pt>
                <c:pt idx="149">
                  <c:v>30.887</c:v>
                </c:pt>
                <c:pt idx="150">
                  <c:v>8.3190000000000008</c:v>
                </c:pt>
                <c:pt idx="151">
                  <c:v>12.726000000000001</c:v>
                </c:pt>
                <c:pt idx="152">
                  <c:v>26.969000000000001</c:v>
                </c:pt>
                <c:pt idx="153">
                  <c:v>44.366</c:v>
                </c:pt>
                <c:pt idx="154">
                  <c:v>72.674000000000007</c:v>
                </c:pt>
                <c:pt idx="155">
                  <c:v>94.823999999999998</c:v>
                </c:pt>
                <c:pt idx="156">
                  <c:v>114.20699999999999</c:v>
                </c:pt>
                <c:pt idx="157">
                  <c:v>113.369</c:v>
                </c:pt>
                <c:pt idx="158">
                  <c:v>98.733000000000004</c:v>
                </c:pt>
                <c:pt idx="159">
                  <c:v>94.790999999999997</c:v>
                </c:pt>
                <c:pt idx="160">
                  <c:v>92.37</c:v>
                </c:pt>
                <c:pt idx="161">
                  <c:v>90.24</c:v>
                </c:pt>
                <c:pt idx="162">
                  <c:v>90.995999999999995</c:v>
                </c:pt>
                <c:pt idx="163">
                  <c:v>83.278999999999996</c:v>
                </c:pt>
                <c:pt idx="164">
                  <c:v>77.882999999999996</c:v>
                </c:pt>
                <c:pt idx="165">
                  <c:v>9.6059999999999999</c:v>
                </c:pt>
                <c:pt idx="166">
                  <c:v>12.327999999999999</c:v>
                </c:pt>
                <c:pt idx="167">
                  <c:v>23.745000000000001</c:v>
                </c:pt>
                <c:pt idx="168">
                  <c:v>46.488999999999997</c:v>
                </c:pt>
                <c:pt idx="169">
                  <c:v>61.567</c:v>
                </c:pt>
                <c:pt idx="170">
                  <c:v>90.528000000000006</c:v>
                </c:pt>
                <c:pt idx="171">
                  <c:v>113.42100000000001</c:v>
                </c:pt>
                <c:pt idx="172">
                  <c:v>105.54300000000001</c:v>
                </c:pt>
                <c:pt idx="173">
                  <c:v>104.345</c:v>
                </c:pt>
                <c:pt idx="174">
                  <c:v>85.257000000000005</c:v>
                </c:pt>
                <c:pt idx="175">
                  <c:v>96.504999999999995</c:v>
                </c:pt>
                <c:pt idx="176">
                  <c:v>86.706999999999994</c:v>
                </c:pt>
                <c:pt idx="177">
                  <c:v>88.367999999999995</c:v>
                </c:pt>
                <c:pt idx="178">
                  <c:v>85.534000000000006</c:v>
                </c:pt>
                <c:pt idx="179">
                  <c:v>77.960999999999999</c:v>
                </c:pt>
                <c:pt idx="180">
                  <c:v>66.677000000000007</c:v>
                </c:pt>
                <c:pt idx="181">
                  <c:v>7.6669999999999998</c:v>
                </c:pt>
                <c:pt idx="182">
                  <c:v>11.013999999999999</c:v>
                </c:pt>
                <c:pt idx="183">
                  <c:v>21.988</c:v>
                </c:pt>
                <c:pt idx="184">
                  <c:v>34.362000000000002</c:v>
                </c:pt>
                <c:pt idx="185">
                  <c:v>48.97</c:v>
                </c:pt>
                <c:pt idx="186">
                  <c:v>71.911000000000001</c:v>
                </c:pt>
                <c:pt idx="187">
                  <c:v>89.915000000000006</c:v>
                </c:pt>
                <c:pt idx="188">
                  <c:v>95.587000000000003</c:v>
                </c:pt>
                <c:pt idx="189">
                  <c:v>90.704999999999998</c:v>
                </c:pt>
                <c:pt idx="190">
                  <c:v>96.01</c:v>
                </c:pt>
                <c:pt idx="191">
                  <c:v>82.757000000000005</c:v>
                </c:pt>
                <c:pt idx="192">
                  <c:v>77.424999999999997</c:v>
                </c:pt>
                <c:pt idx="193">
                  <c:v>72.912999999999997</c:v>
                </c:pt>
                <c:pt idx="194">
                  <c:v>68.558999999999997</c:v>
                </c:pt>
                <c:pt idx="195">
                  <c:v>63.597000000000001</c:v>
                </c:pt>
                <c:pt idx="196">
                  <c:v>7.8940000000000001</c:v>
                </c:pt>
                <c:pt idx="197">
                  <c:v>11.829000000000001</c:v>
                </c:pt>
                <c:pt idx="198">
                  <c:v>23.657</c:v>
                </c:pt>
                <c:pt idx="199">
                  <c:v>34.1</c:v>
                </c:pt>
                <c:pt idx="200">
                  <c:v>55.853000000000002</c:v>
                </c:pt>
                <c:pt idx="201">
                  <c:v>75.722999999999999</c:v>
                </c:pt>
                <c:pt idx="202">
                  <c:v>97.56</c:v>
                </c:pt>
                <c:pt idx="203">
                  <c:v>104.151</c:v>
                </c:pt>
                <c:pt idx="204">
                  <c:v>93.284000000000006</c:v>
                </c:pt>
                <c:pt idx="205">
                  <c:v>91.509</c:v>
                </c:pt>
                <c:pt idx="206">
                  <c:v>86.222999999999999</c:v>
                </c:pt>
                <c:pt idx="207">
                  <c:v>82.727000000000004</c:v>
                </c:pt>
                <c:pt idx="208">
                  <c:v>77.891999999999996</c:v>
                </c:pt>
                <c:pt idx="209">
                  <c:v>71.129000000000005</c:v>
                </c:pt>
                <c:pt idx="210">
                  <c:v>62.985999999999997</c:v>
                </c:pt>
                <c:pt idx="211">
                  <c:v>9.1479999999999997</c:v>
                </c:pt>
                <c:pt idx="212">
                  <c:v>13.794</c:v>
                </c:pt>
                <c:pt idx="213">
                  <c:v>23.591999999999999</c:v>
                </c:pt>
                <c:pt idx="214">
                  <c:v>47.643000000000001</c:v>
                </c:pt>
                <c:pt idx="215">
                  <c:v>67.902000000000001</c:v>
                </c:pt>
                <c:pt idx="216">
                  <c:v>97.251999999999995</c:v>
                </c:pt>
                <c:pt idx="217">
                  <c:v>112.5</c:v>
                </c:pt>
                <c:pt idx="218">
                  <c:v>100.592</c:v>
                </c:pt>
                <c:pt idx="219">
                  <c:v>94.891999999999996</c:v>
                </c:pt>
                <c:pt idx="220">
                  <c:v>78.135000000000005</c:v>
                </c:pt>
                <c:pt idx="221">
                  <c:v>74.557000000000002</c:v>
                </c:pt>
                <c:pt idx="222">
                  <c:v>67.734999999999999</c:v>
                </c:pt>
                <c:pt idx="223">
                  <c:v>58.427999999999997</c:v>
                </c:pt>
                <c:pt idx="224">
                  <c:v>47.37</c:v>
                </c:pt>
                <c:pt idx="225">
                  <c:v>42.377000000000002</c:v>
                </c:pt>
                <c:pt idx="226">
                  <c:v>7.6689999999999996</c:v>
                </c:pt>
                <c:pt idx="227">
                  <c:v>11.34</c:v>
                </c:pt>
                <c:pt idx="228">
                  <c:v>22.908999999999999</c:v>
                </c:pt>
                <c:pt idx="229">
                  <c:v>35.640999999999998</c:v>
                </c:pt>
                <c:pt idx="230">
                  <c:v>55.084000000000003</c:v>
                </c:pt>
                <c:pt idx="231">
                  <c:v>78.323999999999998</c:v>
                </c:pt>
                <c:pt idx="232">
                  <c:v>101.71</c:v>
                </c:pt>
                <c:pt idx="233">
                  <c:v>106.95099999999999</c:v>
                </c:pt>
                <c:pt idx="234">
                  <c:v>95.911000000000001</c:v>
                </c:pt>
                <c:pt idx="235">
                  <c:v>94.98</c:v>
                </c:pt>
                <c:pt idx="236">
                  <c:v>82.841999999999999</c:v>
                </c:pt>
                <c:pt idx="237">
                  <c:v>77.844999999999999</c:v>
                </c:pt>
                <c:pt idx="238">
                  <c:v>69.558999999999997</c:v>
                </c:pt>
                <c:pt idx="239">
                  <c:v>63.131999999999998</c:v>
                </c:pt>
                <c:pt idx="240">
                  <c:v>57.39</c:v>
                </c:pt>
                <c:pt idx="241">
                  <c:v>9.0280000000000005</c:v>
                </c:pt>
                <c:pt idx="242">
                  <c:v>12.836</c:v>
                </c:pt>
                <c:pt idx="243">
                  <c:v>22.437000000000001</c:v>
                </c:pt>
                <c:pt idx="244">
                  <c:v>44.372999999999998</c:v>
                </c:pt>
                <c:pt idx="245">
                  <c:v>62.805999999999997</c:v>
                </c:pt>
                <c:pt idx="246">
                  <c:v>91.200999999999993</c:v>
                </c:pt>
                <c:pt idx="247">
                  <c:v>117.23399999999999</c:v>
                </c:pt>
                <c:pt idx="248">
                  <c:v>118.788</c:v>
                </c:pt>
                <c:pt idx="249">
                  <c:v>107.44</c:v>
                </c:pt>
                <c:pt idx="250">
                  <c:v>91.36</c:v>
                </c:pt>
                <c:pt idx="251">
                  <c:v>88.254999999999995</c:v>
                </c:pt>
                <c:pt idx="252">
                  <c:v>77.778999999999996</c:v>
                </c:pt>
                <c:pt idx="253">
                  <c:v>72.459999999999994</c:v>
                </c:pt>
                <c:pt idx="254">
                  <c:v>64.328999999999994</c:v>
                </c:pt>
                <c:pt idx="255">
                  <c:v>59.24</c:v>
                </c:pt>
                <c:pt idx="256">
                  <c:v>48.823999999999998</c:v>
                </c:pt>
                <c:pt idx="257">
                  <c:v>13.762</c:v>
                </c:pt>
                <c:pt idx="258">
                  <c:v>24.08</c:v>
                </c:pt>
                <c:pt idx="259">
                  <c:v>40.637999999999998</c:v>
                </c:pt>
                <c:pt idx="260">
                  <c:v>85.171000000000006</c:v>
                </c:pt>
                <c:pt idx="261">
                  <c:v>113.44199999999999</c:v>
                </c:pt>
                <c:pt idx="262">
                  <c:v>132.614</c:v>
                </c:pt>
                <c:pt idx="263">
                  <c:v>139.38999999999999</c:v>
                </c:pt>
                <c:pt idx="264">
                  <c:v>112.072</c:v>
                </c:pt>
                <c:pt idx="265">
                  <c:v>104.76600000000001</c:v>
                </c:pt>
                <c:pt idx="266">
                  <c:v>99.671999999999997</c:v>
                </c:pt>
                <c:pt idx="267">
                  <c:v>97.503</c:v>
                </c:pt>
                <c:pt idx="268">
                  <c:v>94.665000000000006</c:v>
                </c:pt>
                <c:pt idx="269">
                  <c:v>97.292000000000002</c:v>
                </c:pt>
                <c:pt idx="270">
                  <c:v>89.942999999999998</c:v>
                </c:pt>
                <c:pt idx="271">
                  <c:v>84.177999999999997</c:v>
                </c:pt>
                <c:pt idx="272">
                  <c:v>83.679000000000002</c:v>
                </c:pt>
                <c:pt idx="273">
                  <c:v>9.8650000000000002</c:v>
                </c:pt>
                <c:pt idx="274">
                  <c:v>14.997</c:v>
                </c:pt>
                <c:pt idx="275">
                  <c:v>28.337</c:v>
                </c:pt>
                <c:pt idx="276">
                  <c:v>40.106000000000002</c:v>
                </c:pt>
                <c:pt idx="277">
                  <c:v>56.676000000000002</c:v>
                </c:pt>
                <c:pt idx="278">
                  <c:v>76.468000000000004</c:v>
                </c:pt>
                <c:pt idx="279">
                  <c:v>95.156000000000006</c:v>
                </c:pt>
                <c:pt idx="280">
                  <c:v>104.345</c:v>
                </c:pt>
                <c:pt idx="281">
                  <c:v>100.669</c:v>
                </c:pt>
                <c:pt idx="282">
                  <c:v>93.134</c:v>
                </c:pt>
                <c:pt idx="283">
                  <c:v>93.436000000000007</c:v>
                </c:pt>
                <c:pt idx="284">
                  <c:v>90.549000000000007</c:v>
                </c:pt>
                <c:pt idx="285">
                  <c:v>91.055000000000007</c:v>
                </c:pt>
                <c:pt idx="286">
                  <c:v>83.2</c:v>
                </c:pt>
                <c:pt idx="287">
                  <c:v>81.016999999999996</c:v>
                </c:pt>
                <c:pt idx="288">
                  <c:v>8.59</c:v>
                </c:pt>
                <c:pt idx="289">
                  <c:v>14.202</c:v>
                </c:pt>
                <c:pt idx="290">
                  <c:v>22.713999999999999</c:v>
                </c:pt>
                <c:pt idx="291">
                  <c:v>47.279000000000003</c:v>
                </c:pt>
                <c:pt idx="292">
                  <c:v>67.186999999999998</c:v>
                </c:pt>
                <c:pt idx="293">
                  <c:v>93.036000000000001</c:v>
                </c:pt>
                <c:pt idx="294">
                  <c:v>118.08</c:v>
                </c:pt>
                <c:pt idx="295">
                  <c:v>113.52500000000001</c:v>
                </c:pt>
                <c:pt idx="296">
                  <c:v>104.023</c:v>
                </c:pt>
                <c:pt idx="297">
                  <c:v>102.593</c:v>
                </c:pt>
                <c:pt idx="298">
                  <c:v>88.873000000000005</c:v>
                </c:pt>
                <c:pt idx="299">
                  <c:v>89.397999999999996</c:v>
                </c:pt>
                <c:pt idx="300">
                  <c:v>89.41</c:v>
                </c:pt>
                <c:pt idx="301">
                  <c:v>88.185000000000002</c:v>
                </c:pt>
                <c:pt idx="302">
                  <c:v>79.527000000000001</c:v>
                </c:pt>
                <c:pt idx="303">
                  <c:v>74.494</c:v>
                </c:pt>
                <c:pt idx="304">
                  <c:v>9.141</c:v>
                </c:pt>
                <c:pt idx="305">
                  <c:v>14.602</c:v>
                </c:pt>
                <c:pt idx="306">
                  <c:v>24.225000000000001</c:v>
                </c:pt>
                <c:pt idx="307">
                  <c:v>51.378</c:v>
                </c:pt>
                <c:pt idx="308">
                  <c:v>72.198999999999998</c:v>
                </c:pt>
                <c:pt idx="309">
                  <c:v>102.113</c:v>
                </c:pt>
                <c:pt idx="310">
                  <c:v>118.157</c:v>
                </c:pt>
                <c:pt idx="311">
                  <c:v>108.752</c:v>
                </c:pt>
                <c:pt idx="312">
                  <c:v>96.688000000000002</c:v>
                </c:pt>
                <c:pt idx="313">
                  <c:v>84.335999999999999</c:v>
                </c:pt>
                <c:pt idx="314">
                  <c:v>64.180999999999997</c:v>
                </c:pt>
                <c:pt idx="315">
                  <c:v>26.224</c:v>
                </c:pt>
                <c:pt idx="316">
                  <c:v>11.903</c:v>
                </c:pt>
                <c:pt idx="317">
                  <c:v>1.2999999999999999E-2</c:v>
                </c:pt>
                <c:pt idx="318">
                  <c:v>9.6050000000000004</c:v>
                </c:pt>
                <c:pt idx="319">
                  <c:v>16.888000000000002</c:v>
                </c:pt>
                <c:pt idx="320">
                  <c:v>33.564999999999998</c:v>
                </c:pt>
                <c:pt idx="321">
                  <c:v>50.396000000000001</c:v>
                </c:pt>
                <c:pt idx="322">
                  <c:v>73.988</c:v>
                </c:pt>
                <c:pt idx="323">
                  <c:v>97.593999999999994</c:v>
                </c:pt>
                <c:pt idx="324">
                  <c:v>111.756</c:v>
                </c:pt>
                <c:pt idx="325">
                  <c:v>102.684</c:v>
                </c:pt>
                <c:pt idx="326">
                  <c:v>94.694000000000003</c:v>
                </c:pt>
                <c:pt idx="327">
                  <c:v>89.385999999999996</c:v>
                </c:pt>
                <c:pt idx="328">
                  <c:v>87.209000000000003</c:v>
                </c:pt>
                <c:pt idx="329">
                  <c:v>81.875</c:v>
                </c:pt>
                <c:pt idx="330">
                  <c:v>77.769000000000005</c:v>
                </c:pt>
                <c:pt idx="331">
                  <c:v>65.382000000000005</c:v>
                </c:pt>
                <c:pt idx="332">
                  <c:v>59.093000000000004</c:v>
                </c:pt>
                <c:pt idx="333">
                  <c:v>7.27</c:v>
                </c:pt>
                <c:pt idx="334">
                  <c:v>11.968</c:v>
                </c:pt>
                <c:pt idx="335">
                  <c:v>18.882999999999999</c:v>
                </c:pt>
                <c:pt idx="336">
                  <c:v>36.485999999999997</c:v>
                </c:pt>
                <c:pt idx="337">
                  <c:v>49.625</c:v>
                </c:pt>
                <c:pt idx="338">
                  <c:v>67.563000000000002</c:v>
                </c:pt>
                <c:pt idx="339">
                  <c:v>85.878</c:v>
                </c:pt>
                <c:pt idx="340">
                  <c:v>105.87</c:v>
                </c:pt>
                <c:pt idx="341">
                  <c:v>103.539</c:v>
                </c:pt>
                <c:pt idx="342">
                  <c:v>94.215000000000003</c:v>
                </c:pt>
                <c:pt idx="343">
                  <c:v>90.171999999999997</c:v>
                </c:pt>
                <c:pt idx="344">
                  <c:v>90.224000000000004</c:v>
                </c:pt>
                <c:pt idx="345">
                  <c:v>89.596999999999994</c:v>
                </c:pt>
                <c:pt idx="346">
                  <c:v>80.225999999999999</c:v>
                </c:pt>
                <c:pt idx="347">
                  <c:v>74.078999999999994</c:v>
                </c:pt>
                <c:pt idx="348">
                  <c:v>66.599999999999994</c:v>
                </c:pt>
                <c:pt idx="349">
                  <c:v>5.819</c:v>
                </c:pt>
                <c:pt idx="350">
                  <c:v>9.8819999999999997</c:v>
                </c:pt>
                <c:pt idx="351">
                  <c:v>18.655999999999999</c:v>
                </c:pt>
                <c:pt idx="352">
                  <c:v>29.106000000000002</c:v>
                </c:pt>
                <c:pt idx="353">
                  <c:v>45.564999999999998</c:v>
                </c:pt>
                <c:pt idx="354">
                  <c:v>65.414000000000001</c:v>
                </c:pt>
                <c:pt idx="355">
                  <c:v>86.156000000000006</c:v>
                </c:pt>
                <c:pt idx="356">
                  <c:v>99.927000000000007</c:v>
                </c:pt>
                <c:pt idx="357">
                  <c:v>101.607</c:v>
                </c:pt>
                <c:pt idx="358">
                  <c:v>89.400999999999996</c:v>
                </c:pt>
                <c:pt idx="359">
                  <c:v>75.912000000000006</c:v>
                </c:pt>
                <c:pt idx="360">
                  <c:v>66.355999999999995</c:v>
                </c:pt>
                <c:pt idx="361">
                  <c:v>48.054000000000002</c:v>
                </c:pt>
                <c:pt idx="362">
                  <c:v>24.646999999999998</c:v>
                </c:pt>
                <c:pt idx="363">
                  <c:v>12.567</c:v>
                </c:pt>
                <c:pt idx="364">
                  <c:v>6.7839999999999998</c:v>
                </c:pt>
                <c:pt idx="365">
                  <c:v>11.013999999999999</c:v>
                </c:pt>
                <c:pt idx="366">
                  <c:v>18.762</c:v>
                </c:pt>
                <c:pt idx="367">
                  <c:v>37.823</c:v>
                </c:pt>
                <c:pt idx="368">
                  <c:v>53.048000000000002</c:v>
                </c:pt>
                <c:pt idx="369">
                  <c:v>67.620999999999995</c:v>
                </c:pt>
                <c:pt idx="370">
                  <c:v>82.117999999999995</c:v>
                </c:pt>
                <c:pt idx="371">
                  <c:v>92.289000000000001</c:v>
                </c:pt>
                <c:pt idx="372">
                  <c:v>89.787000000000006</c:v>
                </c:pt>
                <c:pt idx="373">
                  <c:v>84.537999999999997</c:v>
                </c:pt>
                <c:pt idx="374">
                  <c:v>68.191000000000003</c:v>
                </c:pt>
                <c:pt idx="375">
                  <c:v>57.667999999999999</c:v>
                </c:pt>
                <c:pt idx="376">
                  <c:v>52.514000000000003</c:v>
                </c:pt>
                <c:pt idx="377">
                  <c:v>48.988</c:v>
                </c:pt>
                <c:pt idx="378">
                  <c:v>39.570999999999998</c:v>
                </c:pt>
                <c:pt idx="379">
                  <c:v>31.710999999999999</c:v>
                </c:pt>
                <c:pt idx="380">
                  <c:v>10.189</c:v>
                </c:pt>
                <c:pt idx="381">
                  <c:v>14.726000000000001</c:v>
                </c:pt>
                <c:pt idx="382">
                  <c:v>28.021000000000001</c:v>
                </c:pt>
                <c:pt idx="383">
                  <c:v>51.552999999999997</c:v>
                </c:pt>
                <c:pt idx="384">
                  <c:v>74.981999999999999</c:v>
                </c:pt>
                <c:pt idx="385">
                  <c:v>97.426000000000002</c:v>
                </c:pt>
                <c:pt idx="386">
                  <c:v>108.95</c:v>
                </c:pt>
                <c:pt idx="387">
                  <c:v>108.23099999999999</c:v>
                </c:pt>
                <c:pt idx="388">
                  <c:v>99.781999999999996</c:v>
                </c:pt>
                <c:pt idx="389">
                  <c:v>95.325999999999993</c:v>
                </c:pt>
                <c:pt idx="390">
                  <c:v>97.742000000000004</c:v>
                </c:pt>
                <c:pt idx="391">
                  <c:v>86.879000000000005</c:v>
                </c:pt>
                <c:pt idx="392">
                  <c:v>81.775999999999996</c:v>
                </c:pt>
                <c:pt idx="393">
                  <c:v>66.426000000000002</c:v>
                </c:pt>
                <c:pt idx="394">
                  <c:v>64.082999999999998</c:v>
                </c:pt>
                <c:pt idx="395">
                  <c:v>61.003</c:v>
                </c:pt>
                <c:pt idx="396">
                  <c:v>9.8109999999999999</c:v>
                </c:pt>
                <c:pt idx="397">
                  <c:v>14.728</c:v>
                </c:pt>
                <c:pt idx="398">
                  <c:v>27.533999999999999</c:v>
                </c:pt>
                <c:pt idx="399">
                  <c:v>40.052999999999997</c:v>
                </c:pt>
                <c:pt idx="400">
                  <c:v>43.069000000000003</c:v>
                </c:pt>
                <c:pt idx="401">
                  <c:v>40.837000000000003</c:v>
                </c:pt>
                <c:pt idx="402">
                  <c:v>40.405000000000001</c:v>
                </c:pt>
                <c:pt idx="403">
                  <c:v>39.718000000000004</c:v>
                </c:pt>
                <c:pt idx="404">
                  <c:v>39.841999999999999</c:v>
                </c:pt>
                <c:pt idx="405">
                  <c:v>36.287999999999997</c:v>
                </c:pt>
                <c:pt idx="406">
                  <c:v>33.817999999999998</c:v>
                </c:pt>
                <c:pt idx="407">
                  <c:v>32.51</c:v>
                </c:pt>
                <c:pt idx="408">
                  <c:v>30.786000000000001</c:v>
                </c:pt>
                <c:pt idx="409">
                  <c:v>29.530999999999999</c:v>
                </c:pt>
                <c:pt idx="410">
                  <c:v>28.911999999999999</c:v>
                </c:pt>
                <c:pt idx="411">
                  <c:v>30.196999999999999</c:v>
                </c:pt>
                <c:pt idx="412">
                  <c:v>10.068</c:v>
                </c:pt>
                <c:pt idx="413">
                  <c:v>15.917999999999999</c:v>
                </c:pt>
                <c:pt idx="414">
                  <c:v>30.045000000000002</c:v>
                </c:pt>
                <c:pt idx="415">
                  <c:v>57.792000000000002</c:v>
                </c:pt>
                <c:pt idx="416">
                  <c:v>83.701999999999998</c:v>
                </c:pt>
                <c:pt idx="417">
                  <c:v>104.032</c:v>
                </c:pt>
                <c:pt idx="418">
                  <c:v>110.376</c:v>
                </c:pt>
                <c:pt idx="419">
                  <c:v>94.201999999999998</c:v>
                </c:pt>
                <c:pt idx="420">
                  <c:v>100.17400000000001</c:v>
                </c:pt>
                <c:pt idx="421">
                  <c:v>90.593000000000004</c:v>
                </c:pt>
                <c:pt idx="422">
                  <c:v>84.23</c:v>
                </c:pt>
                <c:pt idx="423">
                  <c:v>75.820999999999998</c:v>
                </c:pt>
                <c:pt idx="424">
                  <c:v>63.643999999999998</c:v>
                </c:pt>
                <c:pt idx="425">
                  <c:v>56.777000000000001</c:v>
                </c:pt>
                <c:pt idx="426">
                  <c:v>55.23</c:v>
                </c:pt>
                <c:pt idx="427">
                  <c:v>47.817</c:v>
                </c:pt>
                <c:pt idx="428">
                  <c:v>10.420999999999999</c:v>
                </c:pt>
                <c:pt idx="429">
                  <c:v>15.156000000000001</c:v>
                </c:pt>
                <c:pt idx="430">
                  <c:v>28.053999999999998</c:v>
                </c:pt>
                <c:pt idx="431">
                  <c:v>57.417999999999999</c:v>
                </c:pt>
                <c:pt idx="432">
                  <c:v>84.667000000000002</c:v>
                </c:pt>
                <c:pt idx="433">
                  <c:v>107.212</c:v>
                </c:pt>
                <c:pt idx="434">
                  <c:v>109.863</c:v>
                </c:pt>
                <c:pt idx="435">
                  <c:v>101.154</c:v>
                </c:pt>
                <c:pt idx="436">
                  <c:v>98.474999999999994</c:v>
                </c:pt>
                <c:pt idx="437">
                  <c:v>93.75</c:v>
                </c:pt>
                <c:pt idx="438">
                  <c:v>87.606999999999999</c:v>
                </c:pt>
                <c:pt idx="439">
                  <c:v>81.447000000000003</c:v>
                </c:pt>
                <c:pt idx="440">
                  <c:v>77.983999999999995</c:v>
                </c:pt>
                <c:pt idx="441">
                  <c:v>71.537999999999997</c:v>
                </c:pt>
                <c:pt idx="442">
                  <c:v>57.517000000000003</c:v>
                </c:pt>
                <c:pt idx="443">
                  <c:v>48.137999999999998</c:v>
                </c:pt>
                <c:pt idx="444">
                  <c:v>10.037000000000001</c:v>
                </c:pt>
                <c:pt idx="445">
                  <c:v>15.961</c:v>
                </c:pt>
                <c:pt idx="446">
                  <c:v>32.887999999999998</c:v>
                </c:pt>
                <c:pt idx="447">
                  <c:v>51.86</c:v>
                </c:pt>
                <c:pt idx="448">
                  <c:v>73.031999999999996</c:v>
                </c:pt>
                <c:pt idx="449">
                  <c:v>95.418999999999997</c:v>
                </c:pt>
                <c:pt idx="450">
                  <c:v>113.074</c:v>
                </c:pt>
                <c:pt idx="451">
                  <c:v>107.77500000000001</c:v>
                </c:pt>
                <c:pt idx="452">
                  <c:v>98.114000000000004</c:v>
                </c:pt>
                <c:pt idx="453">
                  <c:v>92.231999999999999</c:v>
                </c:pt>
                <c:pt idx="454">
                  <c:v>93.072999999999993</c:v>
                </c:pt>
                <c:pt idx="455">
                  <c:v>85.858000000000004</c:v>
                </c:pt>
                <c:pt idx="456">
                  <c:v>73.284999999999997</c:v>
                </c:pt>
                <c:pt idx="457">
                  <c:v>64.846999999999994</c:v>
                </c:pt>
                <c:pt idx="458">
                  <c:v>60.465000000000003</c:v>
                </c:pt>
                <c:pt idx="459">
                  <c:v>12.606</c:v>
                </c:pt>
                <c:pt idx="460">
                  <c:v>18.114999999999998</c:v>
                </c:pt>
                <c:pt idx="461">
                  <c:v>36.588999999999999</c:v>
                </c:pt>
                <c:pt idx="462">
                  <c:v>57.973999999999997</c:v>
                </c:pt>
                <c:pt idx="463">
                  <c:v>78.936000000000007</c:v>
                </c:pt>
                <c:pt idx="464">
                  <c:v>98.7</c:v>
                </c:pt>
                <c:pt idx="465">
                  <c:v>106.697</c:v>
                </c:pt>
                <c:pt idx="466">
                  <c:v>101.89</c:v>
                </c:pt>
                <c:pt idx="467">
                  <c:v>96.275999999999996</c:v>
                </c:pt>
                <c:pt idx="468">
                  <c:v>91.974999999999994</c:v>
                </c:pt>
                <c:pt idx="469">
                  <c:v>82.808999999999997</c:v>
                </c:pt>
                <c:pt idx="470">
                  <c:v>76.802000000000007</c:v>
                </c:pt>
                <c:pt idx="471">
                  <c:v>68.611999999999995</c:v>
                </c:pt>
                <c:pt idx="472">
                  <c:v>64.852999999999994</c:v>
                </c:pt>
                <c:pt idx="473">
                  <c:v>59.506999999999998</c:v>
                </c:pt>
                <c:pt idx="474">
                  <c:v>3.2290000000000001</c:v>
                </c:pt>
                <c:pt idx="475">
                  <c:v>4.6509999999999998</c:v>
                </c:pt>
                <c:pt idx="476">
                  <c:v>8.7970000000000006</c:v>
                </c:pt>
                <c:pt idx="477">
                  <c:v>13.736000000000001</c:v>
                </c:pt>
                <c:pt idx="478">
                  <c:v>18.844000000000001</c:v>
                </c:pt>
                <c:pt idx="479">
                  <c:v>25.242999999999999</c:v>
                </c:pt>
                <c:pt idx="480">
                  <c:v>32.933999999999997</c:v>
                </c:pt>
                <c:pt idx="481">
                  <c:v>40.646000000000001</c:v>
                </c:pt>
                <c:pt idx="482">
                  <c:v>41.91</c:v>
                </c:pt>
                <c:pt idx="483">
                  <c:v>44.265999999999998</c:v>
                </c:pt>
                <c:pt idx="484">
                  <c:v>40.878999999999998</c:v>
                </c:pt>
                <c:pt idx="485">
                  <c:v>36.643999999999998</c:v>
                </c:pt>
                <c:pt idx="486">
                  <c:v>31.42</c:v>
                </c:pt>
                <c:pt idx="487">
                  <c:v>26.038</c:v>
                </c:pt>
                <c:pt idx="488">
                  <c:v>21.725000000000001</c:v>
                </c:pt>
                <c:pt idx="489">
                  <c:v>3.5030000000000001</c:v>
                </c:pt>
                <c:pt idx="490">
                  <c:v>5.5380000000000003</c:v>
                </c:pt>
                <c:pt idx="491">
                  <c:v>9.9559999999999995</c:v>
                </c:pt>
                <c:pt idx="492">
                  <c:v>16.254000000000001</c:v>
                </c:pt>
                <c:pt idx="493">
                  <c:v>22.49</c:v>
                </c:pt>
                <c:pt idx="494">
                  <c:v>29.309000000000001</c:v>
                </c:pt>
                <c:pt idx="495">
                  <c:v>38.819000000000003</c:v>
                </c:pt>
                <c:pt idx="496">
                  <c:v>45.393999999999998</c:v>
                </c:pt>
                <c:pt idx="497">
                  <c:v>47.811</c:v>
                </c:pt>
                <c:pt idx="498">
                  <c:v>49.14</c:v>
                </c:pt>
                <c:pt idx="499">
                  <c:v>47.82</c:v>
                </c:pt>
                <c:pt idx="500">
                  <c:v>43.247</c:v>
                </c:pt>
                <c:pt idx="501">
                  <c:v>34.994999999999997</c:v>
                </c:pt>
                <c:pt idx="502">
                  <c:v>29.094000000000001</c:v>
                </c:pt>
                <c:pt idx="503">
                  <c:v>23.8</c:v>
                </c:pt>
              </c:numCache>
            </c:numRef>
          </c:xVal>
          <c:yVal>
            <c:numRef>
              <c:f>Data!$I$3:$I$507</c:f>
              <c:numCache>
                <c:formatCode>General</c:formatCode>
                <c:ptCount val="505"/>
                <c:pt idx="0">
                  <c:v>12.9</c:v>
                </c:pt>
                <c:pt idx="1">
                  <c:v>19.3</c:v>
                </c:pt>
                <c:pt idx="2">
                  <c:v>37.700000000000003</c:v>
                </c:pt>
                <c:pt idx="3">
                  <c:v>60.9</c:v>
                </c:pt>
                <c:pt idx="4">
                  <c:v>89.9</c:v>
                </c:pt>
                <c:pt idx="5">
                  <c:v>120</c:v>
                </c:pt>
                <c:pt idx="6">
                  <c:v>141</c:v>
                </c:pt>
                <c:pt idx="7">
                  <c:v>143</c:v>
                </c:pt>
                <c:pt idx="8">
                  <c:v>126</c:v>
                </c:pt>
                <c:pt idx="9">
                  <c:v>114</c:v>
                </c:pt>
                <c:pt idx="10">
                  <c:v>92.8</c:v>
                </c:pt>
                <c:pt idx="11">
                  <c:v>89.2</c:v>
                </c:pt>
                <c:pt idx="12">
                  <c:v>74.599999999999994</c:v>
                </c:pt>
                <c:pt idx="13">
                  <c:v>63.8</c:v>
                </c:pt>
                <c:pt idx="14">
                  <c:v>52.7</c:v>
                </c:pt>
                <c:pt idx="15">
                  <c:v>12.6</c:v>
                </c:pt>
                <c:pt idx="16">
                  <c:v>21.3</c:v>
                </c:pt>
                <c:pt idx="17">
                  <c:v>36.4</c:v>
                </c:pt>
                <c:pt idx="18">
                  <c:v>62.5</c:v>
                </c:pt>
                <c:pt idx="19">
                  <c:v>89.8</c:v>
                </c:pt>
                <c:pt idx="20">
                  <c:v>116</c:v>
                </c:pt>
                <c:pt idx="21">
                  <c:v>127</c:v>
                </c:pt>
                <c:pt idx="22">
                  <c:v>138</c:v>
                </c:pt>
                <c:pt idx="23">
                  <c:v>117</c:v>
                </c:pt>
                <c:pt idx="24">
                  <c:v>103</c:v>
                </c:pt>
                <c:pt idx="25">
                  <c:v>94</c:v>
                </c:pt>
                <c:pt idx="26">
                  <c:v>79.400000000000006</c:v>
                </c:pt>
                <c:pt idx="27">
                  <c:v>67.400000000000006</c:v>
                </c:pt>
                <c:pt idx="28">
                  <c:v>60.8</c:v>
                </c:pt>
                <c:pt idx="29">
                  <c:v>58.1</c:v>
                </c:pt>
                <c:pt idx="30">
                  <c:v>12.8</c:v>
                </c:pt>
                <c:pt idx="31">
                  <c:v>22.6</c:v>
                </c:pt>
                <c:pt idx="32">
                  <c:v>35.6</c:v>
                </c:pt>
                <c:pt idx="33">
                  <c:v>62.2</c:v>
                </c:pt>
                <c:pt idx="34">
                  <c:v>93.2</c:v>
                </c:pt>
                <c:pt idx="35">
                  <c:v>125</c:v>
                </c:pt>
                <c:pt idx="36">
                  <c:v>138</c:v>
                </c:pt>
                <c:pt idx="37">
                  <c:v>141</c:v>
                </c:pt>
                <c:pt idx="38">
                  <c:v>126</c:v>
                </c:pt>
                <c:pt idx="39">
                  <c:v>116</c:v>
                </c:pt>
                <c:pt idx="40">
                  <c:v>98</c:v>
                </c:pt>
                <c:pt idx="41">
                  <c:v>86.6</c:v>
                </c:pt>
                <c:pt idx="42">
                  <c:v>70.599999999999994</c:v>
                </c:pt>
                <c:pt idx="43">
                  <c:v>63.4</c:v>
                </c:pt>
                <c:pt idx="44">
                  <c:v>58.7</c:v>
                </c:pt>
                <c:pt idx="45">
                  <c:v>13.2</c:v>
                </c:pt>
                <c:pt idx="46">
                  <c:v>21.6</c:v>
                </c:pt>
                <c:pt idx="47">
                  <c:v>38</c:v>
                </c:pt>
                <c:pt idx="48">
                  <c:v>61.1</c:v>
                </c:pt>
                <c:pt idx="49">
                  <c:v>89.9</c:v>
                </c:pt>
                <c:pt idx="50">
                  <c:v>121</c:v>
                </c:pt>
                <c:pt idx="51">
                  <c:v>144</c:v>
                </c:pt>
                <c:pt idx="52">
                  <c:v>138</c:v>
                </c:pt>
                <c:pt idx="53">
                  <c:v>112</c:v>
                </c:pt>
                <c:pt idx="54">
                  <c:v>114</c:v>
                </c:pt>
                <c:pt idx="55">
                  <c:v>101</c:v>
                </c:pt>
                <c:pt idx="56">
                  <c:v>91.5</c:v>
                </c:pt>
                <c:pt idx="57">
                  <c:v>83</c:v>
                </c:pt>
                <c:pt idx="58">
                  <c:v>75.8</c:v>
                </c:pt>
                <c:pt idx="59">
                  <c:v>64.400000000000006</c:v>
                </c:pt>
                <c:pt idx="60">
                  <c:v>13.9</c:v>
                </c:pt>
                <c:pt idx="61">
                  <c:v>20.100000000000001</c:v>
                </c:pt>
                <c:pt idx="62">
                  <c:v>36.6</c:v>
                </c:pt>
                <c:pt idx="63">
                  <c:v>61.9</c:v>
                </c:pt>
                <c:pt idx="64">
                  <c:v>93.5</c:v>
                </c:pt>
                <c:pt idx="65">
                  <c:v>116</c:v>
                </c:pt>
                <c:pt idx="66">
                  <c:v>144</c:v>
                </c:pt>
                <c:pt idx="67">
                  <c:v>136</c:v>
                </c:pt>
                <c:pt idx="68">
                  <c:v>113</c:v>
                </c:pt>
                <c:pt idx="69">
                  <c:v>102</c:v>
                </c:pt>
                <c:pt idx="70">
                  <c:v>89.2</c:v>
                </c:pt>
                <c:pt idx="71">
                  <c:v>86</c:v>
                </c:pt>
                <c:pt idx="72">
                  <c:v>75.900000000000006</c:v>
                </c:pt>
                <c:pt idx="73">
                  <c:v>62.8</c:v>
                </c:pt>
                <c:pt idx="74">
                  <c:v>54</c:v>
                </c:pt>
                <c:pt idx="75">
                  <c:v>13.5</c:v>
                </c:pt>
                <c:pt idx="76">
                  <c:v>20.100000000000001</c:v>
                </c:pt>
                <c:pt idx="77">
                  <c:v>36.299999999999997</c:v>
                </c:pt>
                <c:pt idx="78">
                  <c:v>64</c:v>
                </c:pt>
                <c:pt idx="79">
                  <c:v>97.1</c:v>
                </c:pt>
                <c:pt idx="80">
                  <c:v>120</c:v>
                </c:pt>
                <c:pt idx="81">
                  <c:v>139</c:v>
                </c:pt>
                <c:pt idx="82">
                  <c:v>140</c:v>
                </c:pt>
                <c:pt idx="83">
                  <c:v>122</c:v>
                </c:pt>
                <c:pt idx="84">
                  <c:v>111</c:v>
                </c:pt>
                <c:pt idx="85">
                  <c:v>97.2</c:v>
                </c:pt>
                <c:pt idx="86">
                  <c:v>47.1</c:v>
                </c:pt>
                <c:pt idx="87">
                  <c:v>31.6</c:v>
                </c:pt>
                <c:pt idx="88">
                  <c:v>7.9099998474121094</c:v>
                </c:pt>
                <c:pt idx="89">
                  <c:v>7.8400001525878906</c:v>
                </c:pt>
                <c:pt idx="90">
                  <c:v>12.8</c:v>
                </c:pt>
                <c:pt idx="91">
                  <c:v>20.2</c:v>
                </c:pt>
                <c:pt idx="92">
                  <c:v>36.700000000000003</c:v>
                </c:pt>
                <c:pt idx="93">
                  <c:v>60.5</c:v>
                </c:pt>
                <c:pt idx="94">
                  <c:v>86.1</c:v>
                </c:pt>
                <c:pt idx="95">
                  <c:v>121</c:v>
                </c:pt>
                <c:pt idx="96">
                  <c:v>132</c:v>
                </c:pt>
                <c:pt idx="97">
                  <c:v>144</c:v>
                </c:pt>
                <c:pt idx="98">
                  <c:v>132</c:v>
                </c:pt>
                <c:pt idx="99">
                  <c:v>125</c:v>
                </c:pt>
                <c:pt idx="100">
                  <c:v>113</c:v>
                </c:pt>
                <c:pt idx="101">
                  <c:v>92.8</c:v>
                </c:pt>
                <c:pt idx="102">
                  <c:v>72.599999999999994</c:v>
                </c:pt>
                <c:pt idx="103">
                  <c:v>50.6</c:v>
                </c:pt>
                <c:pt idx="104">
                  <c:v>37.799999999999997</c:v>
                </c:pt>
                <c:pt idx="105">
                  <c:v>10</c:v>
                </c:pt>
                <c:pt idx="106">
                  <c:v>15.7</c:v>
                </c:pt>
                <c:pt idx="107">
                  <c:v>28.8</c:v>
                </c:pt>
                <c:pt idx="108">
                  <c:v>45.6</c:v>
                </c:pt>
                <c:pt idx="109">
                  <c:v>66.2</c:v>
                </c:pt>
                <c:pt idx="110">
                  <c:v>92.5</c:v>
                </c:pt>
                <c:pt idx="111">
                  <c:v>122</c:v>
                </c:pt>
                <c:pt idx="112">
                  <c:v>111</c:v>
                </c:pt>
                <c:pt idx="113">
                  <c:v>103</c:v>
                </c:pt>
                <c:pt idx="114">
                  <c:v>108</c:v>
                </c:pt>
                <c:pt idx="115">
                  <c:v>98.5</c:v>
                </c:pt>
                <c:pt idx="116">
                  <c:v>100</c:v>
                </c:pt>
                <c:pt idx="117">
                  <c:v>100</c:v>
                </c:pt>
                <c:pt idx="118">
                  <c:v>109</c:v>
                </c:pt>
                <c:pt idx="119">
                  <c:v>94.9</c:v>
                </c:pt>
                <c:pt idx="120">
                  <c:v>9.6199996948242195</c:v>
                </c:pt>
                <c:pt idx="121">
                  <c:v>14.1</c:v>
                </c:pt>
                <c:pt idx="122">
                  <c:v>28.7</c:v>
                </c:pt>
                <c:pt idx="123">
                  <c:v>41.4</c:v>
                </c:pt>
                <c:pt idx="124">
                  <c:v>61.2</c:v>
                </c:pt>
                <c:pt idx="125">
                  <c:v>77.3</c:v>
                </c:pt>
                <c:pt idx="126">
                  <c:v>98.4</c:v>
                </c:pt>
                <c:pt idx="127">
                  <c:v>103</c:v>
                </c:pt>
                <c:pt idx="128">
                  <c:v>95.2</c:v>
                </c:pt>
                <c:pt idx="129">
                  <c:v>96</c:v>
                </c:pt>
                <c:pt idx="130">
                  <c:v>77.400000000000006</c:v>
                </c:pt>
                <c:pt idx="131">
                  <c:v>83.6</c:v>
                </c:pt>
                <c:pt idx="132">
                  <c:v>77.900000000000006</c:v>
                </c:pt>
                <c:pt idx="133">
                  <c:v>65</c:v>
                </c:pt>
                <c:pt idx="134">
                  <c:v>60.2</c:v>
                </c:pt>
                <c:pt idx="135">
                  <c:v>9.5400001525878899</c:v>
                </c:pt>
                <c:pt idx="136">
                  <c:v>14.5</c:v>
                </c:pt>
                <c:pt idx="137">
                  <c:v>30.4</c:v>
                </c:pt>
                <c:pt idx="138">
                  <c:v>46.6</c:v>
                </c:pt>
                <c:pt idx="139">
                  <c:v>68.7</c:v>
                </c:pt>
                <c:pt idx="140">
                  <c:v>95.5</c:v>
                </c:pt>
                <c:pt idx="141">
                  <c:v>120</c:v>
                </c:pt>
                <c:pt idx="142">
                  <c:v>122</c:v>
                </c:pt>
                <c:pt idx="143">
                  <c:v>101</c:v>
                </c:pt>
                <c:pt idx="144">
                  <c:v>96.3</c:v>
                </c:pt>
                <c:pt idx="145">
                  <c:v>88.5</c:v>
                </c:pt>
                <c:pt idx="146">
                  <c:v>76.099999999999994</c:v>
                </c:pt>
                <c:pt idx="147">
                  <c:v>70.8</c:v>
                </c:pt>
                <c:pt idx="148">
                  <c:v>53.3</c:v>
                </c:pt>
                <c:pt idx="149">
                  <c:v>37.299999999999997</c:v>
                </c:pt>
                <c:pt idx="150">
                  <c:v>9.0699996948242188</c:v>
                </c:pt>
                <c:pt idx="151">
                  <c:v>13.6</c:v>
                </c:pt>
                <c:pt idx="152">
                  <c:v>27</c:v>
                </c:pt>
                <c:pt idx="153">
                  <c:v>44.3</c:v>
                </c:pt>
                <c:pt idx="154">
                  <c:v>68</c:v>
                </c:pt>
                <c:pt idx="155">
                  <c:v>99.1</c:v>
                </c:pt>
                <c:pt idx="156">
                  <c:v>128</c:v>
                </c:pt>
                <c:pt idx="157">
                  <c:v>121</c:v>
                </c:pt>
                <c:pt idx="158">
                  <c:v>106</c:v>
                </c:pt>
                <c:pt idx="159">
                  <c:v>110</c:v>
                </c:pt>
                <c:pt idx="160">
                  <c:v>104</c:v>
                </c:pt>
                <c:pt idx="161">
                  <c:v>99.1</c:v>
                </c:pt>
                <c:pt idx="162">
                  <c:v>106</c:v>
                </c:pt>
                <c:pt idx="163">
                  <c:v>103</c:v>
                </c:pt>
                <c:pt idx="164">
                  <c:v>84</c:v>
                </c:pt>
                <c:pt idx="165">
                  <c:v>7.2699996948242189</c:v>
                </c:pt>
                <c:pt idx="166">
                  <c:v>13.3</c:v>
                </c:pt>
                <c:pt idx="167">
                  <c:v>24.6</c:v>
                </c:pt>
                <c:pt idx="168">
                  <c:v>46.4</c:v>
                </c:pt>
                <c:pt idx="169">
                  <c:v>62.8</c:v>
                </c:pt>
                <c:pt idx="170">
                  <c:v>87.5</c:v>
                </c:pt>
                <c:pt idx="171">
                  <c:v>118</c:v>
                </c:pt>
                <c:pt idx="172">
                  <c:v>119</c:v>
                </c:pt>
                <c:pt idx="173">
                  <c:v>108</c:v>
                </c:pt>
                <c:pt idx="174">
                  <c:v>96.7</c:v>
                </c:pt>
                <c:pt idx="175">
                  <c:v>112</c:v>
                </c:pt>
                <c:pt idx="176">
                  <c:v>102</c:v>
                </c:pt>
                <c:pt idx="177">
                  <c:v>96.2</c:v>
                </c:pt>
                <c:pt idx="178">
                  <c:v>108</c:v>
                </c:pt>
                <c:pt idx="179">
                  <c:v>100</c:v>
                </c:pt>
                <c:pt idx="180">
                  <c:v>76.900000000000006</c:v>
                </c:pt>
                <c:pt idx="181">
                  <c:v>8.269999694824218</c:v>
                </c:pt>
                <c:pt idx="182">
                  <c:v>11.7</c:v>
                </c:pt>
                <c:pt idx="183">
                  <c:v>20.9</c:v>
                </c:pt>
                <c:pt idx="184">
                  <c:v>33.5</c:v>
                </c:pt>
                <c:pt idx="185">
                  <c:v>52.1</c:v>
                </c:pt>
                <c:pt idx="186">
                  <c:v>72.2</c:v>
                </c:pt>
                <c:pt idx="187">
                  <c:v>93.5</c:v>
                </c:pt>
                <c:pt idx="188">
                  <c:v>99.9</c:v>
                </c:pt>
                <c:pt idx="189">
                  <c:v>96.4</c:v>
                </c:pt>
                <c:pt idx="190">
                  <c:v>104</c:v>
                </c:pt>
                <c:pt idx="191">
                  <c:v>96.2</c:v>
                </c:pt>
                <c:pt idx="192">
                  <c:v>87.7</c:v>
                </c:pt>
                <c:pt idx="193">
                  <c:v>86.8</c:v>
                </c:pt>
                <c:pt idx="194">
                  <c:v>81.8</c:v>
                </c:pt>
                <c:pt idx="195">
                  <c:v>69.5</c:v>
                </c:pt>
                <c:pt idx="196">
                  <c:v>8.6699996948242184</c:v>
                </c:pt>
                <c:pt idx="197">
                  <c:v>12.7</c:v>
                </c:pt>
                <c:pt idx="198">
                  <c:v>23.8</c:v>
                </c:pt>
                <c:pt idx="199">
                  <c:v>36.9</c:v>
                </c:pt>
                <c:pt idx="200">
                  <c:v>56.5</c:v>
                </c:pt>
                <c:pt idx="201">
                  <c:v>82</c:v>
                </c:pt>
                <c:pt idx="202">
                  <c:v>106</c:v>
                </c:pt>
                <c:pt idx="203">
                  <c:v>119</c:v>
                </c:pt>
                <c:pt idx="204">
                  <c:v>105</c:v>
                </c:pt>
                <c:pt idx="205">
                  <c:v>105</c:v>
                </c:pt>
                <c:pt idx="206">
                  <c:v>94.2</c:v>
                </c:pt>
                <c:pt idx="207">
                  <c:v>95.4</c:v>
                </c:pt>
                <c:pt idx="208">
                  <c:v>82.5</c:v>
                </c:pt>
                <c:pt idx="209">
                  <c:v>86.7</c:v>
                </c:pt>
                <c:pt idx="210">
                  <c:v>74.599999999999994</c:v>
                </c:pt>
                <c:pt idx="211">
                  <c:v>9.240000152587891</c:v>
                </c:pt>
                <c:pt idx="212">
                  <c:v>12.6</c:v>
                </c:pt>
                <c:pt idx="213">
                  <c:v>24.4</c:v>
                </c:pt>
                <c:pt idx="214">
                  <c:v>48.7</c:v>
                </c:pt>
                <c:pt idx="215">
                  <c:v>70.8</c:v>
                </c:pt>
                <c:pt idx="216">
                  <c:v>100</c:v>
                </c:pt>
                <c:pt idx="217">
                  <c:v>119</c:v>
                </c:pt>
                <c:pt idx="218">
                  <c:v>112</c:v>
                </c:pt>
                <c:pt idx="219">
                  <c:v>108</c:v>
                </c:pt>
                <c:pt idx="220">
                  <c:v>92.1</c:v>
                </c:pt>
                <c:pt idx="221">
                  <c:v>82.4</c:v>
                </c:pt>
                <c:pt idx="222">
                  <c:v>72.599999999999994</c:v>
                </c:pt>
                <c:pt idx="223">
                  <c:v>57.5</c:v>
                </c:pt>
                <c:pt idx="224">
                  <c:v>54.2</c:v>
                </c:pt>
                <c:pt idx="225">
                  <c:v>51.1</c:v>
                </c:pt>
                <c:pt idx="226">
                  <c:v>8.240000152587891</c:v>
                </c:pt>
                <c:pt idx="227">
                  <c:v>11.9</c:v>
                </c:pt>
                <c:pt idx="228">
                  <c:v>23.3</c:v>
                </c:pt>
                <c:pt idx="229">
                  <c:v>35.200000000000003</c:v>
                </c:pt>
                <c:pt idx="230">
                  <c:v>56.3</c:v>
                </c:pt>
                <c:pt idx="231">
                  <c:v>84.8</c:v>
                </c:pt>
                <c:pt idx="232">
                  <c:v>110</c:v>
                </c:pt>
                <c:pt idx="233">
                  <c:v>119</c:v>
                </c:pt>
                <c:pt idx="234">
                  <c:v>108</c:v>
                </c:pt>
                <c:pt idx="235">
                  <c:v>106</c:v>
                </c:pt>
                <c:pt idx="236">
                  <c:v>85.8</c:v>
                </c:pt>
                <c:pt idx="237">
                  <c:v>88.1</c:v>
                </c:pt>
                <c:pt idx="238">
                  <c:v>82.7</c:v>
                </c:pt>
                <c:pt idx="239">
                  <c:v>79.2</c:v>
                </c:pt>
                <c:pt idx="240">
                  <c:v>62.4</c:v>
                </c:pt>
                <c:pt idx="241">
                  <c:v>9.2900001525878899</c:v>
                </c:pt>
                <c:pt idx="242">
                  <c:v>13.6</c:v>
                </c:pt>
                <c:pt idx="243">
                  <c:v>23.7</c:v>
                </c:pt>
                <c:pt idx="244">
                  <c:v>46.5</c:v>
                </c:pt>
                <c:pt idx="245">
                  <c:v>64.7</c:v>
                </c:pt>
                <c:pt idx="246">
                  <c:v>88.3</c:v>
                </c:pt>
                <c:pt idx="247">
                  <c:v>129</c:v>
                </c:pt>
                <c:pt idx="248">
                  <c:v>133</c:v>
                </c:pt>
                <c:pt idx="249">
                  <c:v>116</c:v>
                </c:pt>
                <c:pt idx="250">
                  <c:v>105</c:v>
                </c:pt>
                <c:pt idx="251">
                  <c:v>101</c:v>
                </c:pt>
                <c:pt idx="252">
                  <c:v>86.5</c:v>
                </c:pt>
                <c:pt idx="253">
                  <c:v>81.8</c:v>
                </c:pt>
                <c:pt idx="254">
                  <c:v>71</c:v>
                </c:pt>
                <c:pt idx="255">
                  <c:v>68.599999999999994</c:v>
                </c:pt>
                <c:pt idx="256">
                  <c:v>54.9</c:v>
                </c:pt>
                <c:pt idx="257">
                  <c:v>14.1</c:v>
                </c:pt>
                <c:pt idx="258">
                  <c:v>23.8</c:v>
                </c:pt>
                <c:pt idx="259">
                  <c:v>43.1</c:v>
                </c:pt>
                <c:pt idx="260">
                  <c:v>79.099999999999994</c:v>
                </c:pt>
                <c:pt idx="261">
                  <c:v>115</c:v>
                </c:pt>
                <c:pt idx="262">
                  <c:v>138</c:v>
                </c:pt>
                <c:pt idx="263">
                  <c:v>140</c:v>
                </c:pt>
                <c:pt idx="264">
                  <c:v>121</c:v>
                </c:pt>
                <c:pt idx="265">
                  <c:v>112</c:v>
                </c:pt>
                <c:pt idx="266">
                  <c:v>108</c:v>
                </c:pt>
                <c:pt idx="267">
                  <c:v>107</c:v>
                </c:pt>
                <c:pt idx="268">
                  <c:v>102</c:v>
                </c:pt>
                <c:pt idx="269">
                  <c:v>96.6</c:v>
                </c:pt>
                <c:pt idx="270">
                  <c:v>94.7</c:v>
                </c:pt>
                <c:pt idx="271">
                  <c:v>90</c:v>
                </c:pt>
                <c:pt idx="272">
                  <c:v>88</c:v>
                </c:pt>
                <c:pt idx="273">
                  <c:v>8.3400001525878906</c:v>
                </c:pt>
                <c:pt idx="274">
                  <c:v>14.2</c:v>
                </c:pt>
                <c:pt idx="275">
                  <c:v>27.5</c:v>
                </c:pt>
                <c:pt idx="276">
                  <c:v>37.4</c:v>
                </c:pt>
                <c:pt idx="277">
                  <c:v>59.1</c:v>
                </c:pt>
                <c:pt idx="278">
                  <c:v>72.099999999999994</c:v>
                </c:pt>
                <c:pt idx="279">
                  <c:v>98</c:v>
                </c:pt>
                <c:pt idx="280">
                  <c:v>105</c:v>
                </c:pt>
                <c:pt idx="281">
                  <c:v>105</c:v>
                </c:pt>
                <c:pt idx="282">
                  <c:v>100</c:v>
                </c:pt>
                <c:pt idx="283">
                  <c:v>95.6</c:v>
                </c:pt>
                <c:pt idx="284">
                  <c:v>102</c:v>
                </c:pt>
                <c:pt idx="285">
                  <c:v>93.9</c:v>
                </c:pt>
                <c:pt idx="286">
                  <c:v>93</c:v>
                </c:pt>
                <c:pt idx="287">
                  <c:v>88.1</c:v>
                </c:pt>
                <c:pt idx="288">
                  <c:v>9.009999847412109</c:v>
                </c:pt>
                <c:pt idx="289">
                  <c:v>14.2</c:v>
                </c:pt>
                <c:pt idx="290">
                  <c:v>20.399999999999999</c:v>
                </c:pt>
                <c:pt idx="291">
                  <c:v>47.2</c:v>
                </c:pt>
                <c:pt idx="292">
                  <c:v>64.099999999999994</c:v>
                </c:pt>
                <c:pt idx="293">
                  <c:v>95.8</c:v>
                </c:pt>
                <c:pt idx="294">
                  <c:v>125</c:v>
                </c:pt>
                <c:pt idx="295">
                  <c:v>126</c:v>
                </c:pt>
                <c:pt idx="296">
                  <c:v>104</c:v>
                </c:pt>
                <c:pt idx="297">
                  <c:v>110</c:v>
                </c:pt>
                <c:pt idx="298">
                  <c:v>99.4</c:v>
                </c:pt>
                <c:pt idx="299">
                  <c:v>101</c:v>
                </c:pt>
                <c:pt idx="300">
                  <c:v>93.3</c:v>
                </c:pt>
                <c:pt idx="301">
                  <c:v>92.1</c:v>
                </c:pt>
                <c:pt idx="302">
                  <c:v>82.7</c:v>
                </c:pt>
                <c:pt idx="303">
                  <c:v>80.3</c:v>
                </c:pt>
                <c:pt idx="304">
                  <c:v>9.1699996948242184</c:v>
                </c:pt>
                <c:pt idx="305">
                  <c:v>15.4</c:v>
                </c:pt>
                <c:pt idx="306">
                  <c:v>23.3</c:v>
                </c:pt>
                <c:pt idx="307">
                  <c:v>50.5</c:v>
                </c:pt>
                <c:pt idx="308">
                  <c:v>71.599999999999994</c:v>
                </c:pt>
                <c:pt idx="309">
                  <c:v>106</c:v>
                </c:pt>
                <c:pt idx="310">
                  <c:v>122</c:v>
                </c:pt>
                <c:pt idx="311">
                  <c:v>114</c:v>
                </c:pt>
                <c:pt idx="312">
                  <c:v>99.5</c:v>
                </c:pt>
                <c:pt idx="313">
                  <c:v>89.1</c:v>
                </c:pt>
                <c:pt idx="314">
                  <c:v>66.8</c:v>
                </c:pt>
                <c:pt idx="315">
                  <c:v>33.9</c:v>
                </c:pt>
                <c:pt idx="316">
                  <c:v>15.9</c:v>
                </c:pt>
                <c:pt idx="317">
                  <c:v>9.75</c:v>
                </c:pt>
                <c:pt idx="318">
                  <c:v>9.75</c:v>
                </c:pt>
                <c:pt idx="319">
                  <c:v>15.8</c:v>
                </c:pt>
                <c:pt idx="320">
                  <c:v>33.799999999999997</c:v>
                </c:pt>
                <c:pt idx="321">
                  <c:v>49.7</c:v>
                </c:pt>
                <c:pt idx="322">
                  <c:v>73.800000000000011</c:v>
                </c:pt>
                <c:pt idx="323">
                  <c:v>98.5</c:v>
                </c:pt>
                <c:pt idx="324">
                  <c:v>122</c:v>
                </c:pt>
                <c:pt idx="325">
                  <c:v>111</c:v>
                </c:pt>
                <c:pt idx="326">
                  <c:v>101</c:v>
                </c:pt>
                <c:pt idx="327">
                  <c:v>96.9</c:v>
                </c:pt>
                <c:pt idx="328">
                  <c:v>92.2</c:v>
                </c:pt>
                <c:pt idx="329">
                  <c:v>91.1</c:v>
                </c:pt>
                <c:pt idx="330">
                  <c:v>80.8</c:v>
                </c:pt>
                <c:pt idx="331">
                  <c:v>75.7</c:v>
                </c:pt>
                <c:pt idx="332">
                  <c:v>68.099999999999994</c:v>
                </c:pt>
                <c:pt idx="333">
                  <c:v>7.8400001525878906</c:v>
                </c:pt>
                <c:pt idx="334">
                  <c:v>11.7</c:v>
                </c:pt>
                <c:pt idx="335">
                  <c:v>19.600000000000001</c:v>
                </c:pt>
                <c:pt idx="336">
                  <c:v>35.299999999999997</c:v>
                </c:pt>
                <c:pt idx="337">
                  <c:v>49</c:v>
                </c:pt>
                <c:pt idx="338">
                  <c:v>66.5</c:v>
                </c:pt>
                <c:pt idx="339">
                  <c:v>84.6</c:v>
                </c:pt>
                <c:pt idx="340">
                  <c:v>108</c:v>
                </c:pt>
                <c:pt idx="341">
                  <c:v>104</c:v>
                </c:pt>
                <c:pt idx="342">
                  <c:v>96.6</c:v>
                </c:pt>
                <c:pt idx="343">
                  <c:v>104</c:v>
                </c:pt>
                <c:pt idx="344">
                  <c:v>102</c:v>
                </c:pt>
                <c:pt idx="345">
                  <c:v>98.1</c:v>
                </c:pt>
                <c:pt idx="346">
                  <c:v>85.7</c:v>
                </c:pt>
                <c:pt idx="347">
                  <c:v>76.900000000000006</c:v>
                </c:pt>
                <c:pt idx="348">
                  <c:v>75</c:v>
                </c:pt>
                <c:pt idx="349">
                  <c:v>6.1799999237060543</c:v>
                </c:pt>
                <c:pt idx="350">
                  <c:v>9.4199996948242184</c:v>
                </c:pt>
                <c:pt idx="351">
                  <c:v>19.5</c:v>
                </c:pt>
                <c:pt idx="352">
                  <c:v>28.5</c:v>
                </c:pt>
                <c:pt idx="353">
                  <c:v>40.5</c:v>
                </c:pt>
                <c:pt idx="354">
                  <c:v>66.3</c:v>
                </c:pt>
                <c:pt idx="355">
                  <c:v>82.8</c:v>
                </c:pt>
                <c:pt idx="356">
                  <c:v>108</c:v>
                </c:pt>
                <c:pt idx="357">
                  <c:v>104</c:v>
                </c:pt>
                <c:pt idx="358">
                  <c:v>93.5</c:v>
                </c:pt>
                <c:pt idx="359">
                  <c:v>83.4</c:v>
                </c:pt>
                <c:pt idx="360">
                  <c:v>75</c:v>
                </c:pt>
                <c:pt idx="361">
                  <c:v>57.5</c:v>
                </c:pt>
                <c:pt idx="362">
                  <c:v>33</c:v>
                </c:pt>
                <c:pt idx="363">
                  <c:v>15.8</c:v>
                </c:pt>
                <c:pt idx="364">
                  <c:v>6.6900001525878903</c:v>
                </c:pt>
                <c:pt idx="365">
                  <c:v>11.1</c:v>
                </c:pt>
                <c:pt idx="366">
                  <c:v>19.600000000000001</c:v>
                </c:pt>
                <c:pt idx="367">
                  <c:v>37.200000000000003</c:v>
                </c:pt>
                <c:pt idx="368">
                  <c:v>52.2</c:v>
                </c:pt>
                <c:pt idx="369">
                  <c:v>53.8</c:v>
                </c:pt>
                <c:pt idx="370">
                  <c:v>83.9</c:v>
                </c:pt>
                <c:pt idx="371">
                  <c:v>97.4</c:v>
                </c:pt>
                <c:pt idx="372">
                  <c:v>92.4</c:v>
                </c:pt>
                <c:pt idx="373">
                  <c:v>81.7</c:v>
                </c:pt>
                <c:pt idx="374">
                  <c:v>71.599999999999994</c:v>
                </c:pt>
                <c:pt idx="375">
                  <c:v>63.3</c:v>
                </c:pt>
                <c:pt idx="376">
                  <c:v>60.7</c:v>
                </c:pt>
                <c:pt idx="377">
                  <c:v>45.2</c:v>
                </c:pt>
                <c:pt idx="378">
                  <c:v>39</c:v>
                </c:pt>
                <c:pt idx="379">
                  <c:v>35.200000000000003</c:v>
                </c:pt>
                <c:pt idx="380">
                  <c:v>11.1</c:v>
                </c:pt>
                <c:pt idx="381">
                  <c:v>14.8</c:v>
                </c:pt>
                <c:pt idx="382">
                  <c:v>26.3</c:v>
                </c:pt>
                <c:pt idx="383">
                  <c:v>52</c:v>
                </c:pt>
                <c:pt idx="384">
                  <c:v>72.2</c:v>
                </c:pt>
                <c:pt idx="385">
                  <c:v>96.3</c:v>
                </c:pt>
                <c:pt idx="386">
                  <c:v>112</c:v>
                </c:pt>
                <c:pt idx="387">
                  <c:v>111</c:v>
                </c:pt>
                <c:pt idx="388">
                  <c:v>113</c:v>
                </c:pt>
                <c:pt idx="389">
                  <c:v>97.8</c:v>
                </c:pt>
                <c:pt idx="390">
                  <c:v>95.5</c:v>
                </c:pt>
                <c:pt idx="391">
                  <c:v>91.3</c:v>
                </c:pt>
                <c:pt idx="392">
                  <c:v>88</c:v>
                </c:pt>
                <c:pt idx="393">
                  <c:v>65.5</c:v>
                </c:pt>
                <c:pt idx="394">
                  <c:v>65.099999999999994</c:v>
                </c:pt>
                <c:pt idx="395">
                  <c:v>65.599999999999994</c:v>
                </c:pt>
                <c:pt idx="396">
                  <c:v>11.4</c:v>
                </c:pt>
                <c:pt idx="397">
                  <c:v>14.8</c:v>
                </c:pt>
                <c:pt idx="398">
                  <c:v>28.3</c:v>
                </c:pt>
                <c:pt idx="399">
                  <c:v>39.799999999999997</c:v>
                </c:pt>
                <c:pt idx="400">
                  <c:v>39.700000000000003</c:v>
                </c:pt>
                <c:pt idx="401">
                  <c:v>40</c:v>
                </c:pt>
                <c:pt idx="402">
                  <c:v>41.3</c:v>
                </c:pt>
                <c:pt idx="403">
                  <c:v>41.1</c:v>
                </c:pt>
                <c:pt idx="404">
                  <c:v>37.299999999999997</c:v>
                </c:pt>
                <c:pt idx="405">
                  <c:v>32.5</c:v>
                </c:pt>
                <c:pt idx="406">
                  <c:v>33.799999999999997</c:v>
                </c:pt>
                <c:pt idx="407">
                  <c:v>30.9</c:v>
                </c:pt>
                <c:pt idx="408">
                  <c:v>28.6</c:v>
                </c:pt>
                <c:pt idx="409">
                  <c:v>27.6</c:v>
                </c:pt>
                <c:pt idx="410">
                  <c:v>30.5</c:v>
                </c:pt>
                <c:pt idx="411">
                  <c:v>29.9</c:v>
                </c:pt>
                <c:pt idx="412">
                  <c:v>11.2</c:v>
                </c:pt>
                <c:pt idx="413">
                  <c:v>15.4</c:v>
                </c:pt>
                <c:pt idx="414">
                  <c:v>29.9</c:v>
                </c:pt>
                <c:pt idx="415">
                  <c:v>55.3</c:v>
                </c:pt>
                <c:pt idx="416">
                  <c:v>77.900000000000006</c:v>
                </c:pt>
                <c:pt idx="417">
                  <c:v>106</c:v>
                </c:pt>
                <c:pt idx="418">
                  <c:v>114</c:v>
                </c:pt>
                <c:pt idx="419">
                  <c:v>98.4</c:v>
                </c:pt>
                <c:pt idx="420">
                  <c:v>90.5</c:v>
                </c:pt>
                <c:pt idx="421">
                  <c:v>88.9</c:v>
                </c:pt>
                <c:pt idx="422">
                  <c:v>89</c:v>
                </c:pt>
                <c:pt idx="423">
                  <c:v>85</c:v>
                </c:pt>
                <c:pt idx="424">
                  <c:v>65.5</c:v>
                </c:pt>
                <c:pt idx="425">
                  <c:v>60.5</c:v>
                </c:pt>
                <c:pt idx="426">
                  <c:v>53.7</c:v>
                </c:pt>
                <c:pt idx="427">
                  <c:v>51.7</c:v>
                </c:pt>
                <c:pt idx="428">
                  <c:v>9.259999847412109</c:v>
                </c:pt>
                <c:pt idx="429">
                  <c:v>15.2</c:v>
                </c:pt>
                <c:pt idx="430">
                  <c:v>27.2</c:v>
                </c:pt>
                <c:pt idx="431">
                  <c:v>54.1</c:v>
                </c:pt>
                <c:pt idx="432">
                  <c:v>81</c:v>
                </c:pt>
                <c:pt idx="433">
                  <c:v>105</c:v>
                </c:pt>
                <c:pt idx="434">
                  <c:v>117</c:v>
                </c:pt>
                <c:pt idx="435">
                  <c:v>104</c:v>
                </c:pt>
                <c:pt idx="436">
                  <c:v>103</c:v>
                </c:pt>
                <c:pt idx="437">
                  <c:v>101</c:v>
                </c:pt>
                <c:pt idx="438">
                  <c:v>90.2</c:v>
                </c:pt>
                <c:pt idx="439">
                  <c:v>78.400000000000006</c:v>
                </c:pt>
                <c:pt idx="440">
                  <c:v>82.5</c:v>
                </c:pt>
                <c:pt idx="441">
                  <c:v>60.5</c:v>
                </c:pt>
                <c:pt idx="442">
                  <c:v>54.9</c:v>
                </c:pt>
                <c:pt idx="443">
                  <c:v>48.4</c:v>
                </c:pt>
                <c:pt idx="444">
                  <c:v>10.1</c:v>
                </c:pt>
                <c:pt idx="445">
                  <c:v>16.2</c:v>
                </c:pt>
                <c:pt idx="446">
                  <c:v>30</c:v>
                </c:pt>
                <c:pt idx="447">
                  <c:v>47.2</c:v>
                </c:pt>
                <c:pt idx="448">
                  <c:v>71.099999999999994</c:v>
                </c:pt>
                <c:pt idx="449">
                  <c:v>96.9</c:v>
                </c:pt>
                <c:pt idx="450">
                  <c:v>121</c:v>
                </c:pt>
                <c:pt idx="451">
                  <c:v>100</c:v>
                </c:pt>
                <c:pt idx="452">
                  <c:v>110</c:v>
                </c:pt>
                <c:pt idx="453">
                  <c:v>95.1</c:v>
                </c:pt>
                <c:pt idx="454">
                  <c:v>97</c:v>
                </c:pt>
                <c:pt idx="455">
                  <c:v>90.9</c:v>
                </c:pt>
                <c:pt idx="456">
                  <c:v>74.900000000000006</c:v>
                </c:pt>
                <c:pt idx="457">
                  <c:v>70.599999999999994</c:v>
                </c:pt>
                <c:pt idx="458">
                  <c:v>63.8</c:v>
                </c:pt>
                <c:pt idx="459">
                  <c:v>12.3</c:v>
                </c:pt>
                <c:pt idx="460">
                  <c:v>19.100000000000001</c:v>
                </c:pt>
                <c:pt idx="461">
                  <c:v>36.4</c:v>
                </c:pt>
                <c:pt idx="462">
                  <c:v>53.6</c:v>
                </c:pt>
                <c:pt idx="463">
                  <c:v>74.7</c:v>
                </c:pt>
                <c:pt idx="464">
                  <c:v>100</c:v>
                </c:pt>
                <c:pt idx="465">
                  <c:v>116</c:v>
                </c:pt>
                <c:pt idx="466">
                  <c:v>105</c:v>
                </c:pt>
                <c:pt idx="467">
                  <c:v>101</c:v>
                </c:pt>
                <c:pt idx="468">
                  <c:v>93.6</c:v>
                </c:pt>
                <c:pt idx="469">
                  <c:v>85</c:v>
                </c:pt>
                <c:pt idx="470">
                  <c:v>82.9</c:v>
                </c:pt>
                <c:pt idx="471">
                  <c:v>74</c:v>
                </c:pt>
                <c:pt idx="472">
                  <c:v>69.599999999999994</c:v>
                </c:pt>
                <c:pt idx="473">
                  <c:v>63.1</c:v>
                </c:pt>
                <c:pt idx="474">
                  <c:v>3.1100000381469726</c:v>
                </c:pt>
                <c:pt idx="475">
                  <c:v>4.5900001525878906</c:v>
                </c:pt>
                <c:pt idx="476">
                  <c:v>8.259999847412109</c:v>
                </c:pt>
                <c:pt idx="477">
                  <c:v>12.1</c:v>
                </c:pt>
                <c:pt idx="478">
                  <c:v>16.5</c:v>
                </c:pt>
                <c:pt idx="479">
                  <c:v>24.2</c:v>
                </c:pt>
                <c:pt idx="480">
                  <c:v>31.5</c:v>
                </c:pt>
                <c:pt idx="481">
                  <c:v>40.6</c:v>
                </c:pt>
                <c:pt idx="482">
                  <c:v>40.9</c:v>
                </c:pt>
                <c:pt idx="483">
                  <c:v>41.3</c:v>
                </c:pt>
                <c:pt idx="484">
                  <c:v>39.5</c:v>
                </c:pt>
                <c:pt idx="485">
                  <c:v>38.5</c:v>
                </c:pt>
                <c:pt idx="486">
                  <c:v>30.3</c:v>
                </c:pt>
                <c:pt idx="487">
                  <c:v>24.4</c:v>
                </c:pt>
                <c:pt idx="488">
                  <c:v>19.899999999999999</c:v>
                </c:pt>
                <c:pt idx="489">
                  <c:v>3.7400001525878905</c:v>
                </c:pt>
                <c:pt idx="490">
                  <c:v>5.8299999237060547</c:v>
                </c:pt>
                <c:pt idx="491">
                  <c:v>9.2900001525878899</c:v>
                </c:pt>
                <c:pt idx="492">
                  <c:v>15.4</c:v>
                </c:pt>
                <c:pt idx="493">
                  <c:v>21.8</c:v>
                </c:pt>
                <c:pt idx="494">
                  <c:v>27.6</c:v>
                </c:pt>
                <c:pt idx="495">
                  <c:v>36.9</c:v>
                </c:pt>
                <c:pt idx="496">
                  <c:v>45.3</c:v>
                </c:pt>
                <c:pt idx="497">
                  <c:v>47.3</c:v>
                </c:pt>
                <c:pt idx="498">
                  <c:v>46.5</c:v>
                </c:pt>
                <c:pt idx="499">
                  <c:v>46.8</c:v>
                </c:pt>
                <c:pt idx="500">
                  <c:v>42.4</c:v>
                </c:pt>
                <c:pt idx="501">
                  <c:v>34.4</c:v>
                </c:pt>
                <c:pt idx="502">
                  <c:v>30.8</c:v>
                </c:pt>
                <c:pt idx="503">
                  <c:v>20</c:v>
                </c:pt>
              </c:numCache>
            </c:numRef>
          </c:yVal>
          <c:smooth val="0"/>
          <c:extLst>
            <c:ext xmlns:c16="http://schemas.microsoft.com/office/drawing/2014/chart" uri="{C3380CC4-5D6E-409C-BE32-E72D297353CC}">
              <c16:uniqueId val="{00000002-D97D-4BCC-9F0C-A5DB78795469}"/>
            </c:ext>
          </c:extLst>
        </c:ser>
        <c:dLbls>
          <c:showLegendKey val="0"/>
          <c:showVal val="0"/>
          <c:showCatName val="0"/>
          <c:showSerName val="0"/>
          <c:showPercent val="0"/>
          <c:showBubbleSize val="0"/>
        </c:dLbls>
        <c:axId val="405750063"/>
        <c:axId val="1319910831"/>
      </c:scatterChart>
      <c:valAx>
        <c:axId val="405750063"/>
        <c:scaling>
          <c:orientation val="minMax"/>
          <c:max val="160"/>
          <c:min val="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800" b="0" i="0" u="none" strike="noStrike" kern="1200" baseline="0">
                    <a:solidFill>
                      <a:schemeClr val="tx1"/>
                    </a:solidFill>
                    <a:latin typeface="+mn-lt"/>
                    <a:ea typeface="+mn-ea"/>
                    <a:cs typeface="+mn-cs"/>
                  </a:defRPr>
                </a:pPr>
                <a:r>
                  <a:rPr lang="en-US"/>
                  <a:t>Nova</a:t>
                </a:r>
                <a:r>
                  <a:rPr lang="en-US" baseline="0"/>
                  <a:t> BioProfile FLEX2</a:t>
                </a:r>
                <a:r>
                  <a:rPr lang="en-US"/>
                  <a:t> VCD</a:t>
                </a:r>
              </a:p>
            </c:rich>
          </c:tx>
          <c:overlay val="0"/>
          <c:spPr>
            <a:noFill/>
            <a:ln>
              <a:noFill/>
            </a:ln>
            <a:effectLst/>
          </c:spPr>
          <c:txPr>
            <a:bodyPr rot="0" spcFirstLastPara="1" vertOverflow="ellipsis" vert="horz" wrap="square" anchor="ctr" anchorCtr="1"/>
            <a:lstStyle/>
            <a:p>
              <a:pPr>
                <a:defRPr sz="1800" b="0" i="0" u="none" strike="noStrike" kern="1200" baseline="0">
                  <a:solidFill>
                    <a:schemeClr val="tx1"/>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800" b="0" i="0" u="none" strike="noStrike" kern="1200" baseline="0">
                <a:solidFill>
                  <a:schemeClr val="tx1"/>
                </a:solidFill>
                <a:latin typeface="+mn-lt"/>
                <a:ea typeface="+mn-ea"/>
                <a:cs typeface="+mn-cs"/>
              </a:defRPr>
            </a:pPr>
            <a:endParaRPr lang="en-US"/>
          </a:p>
        </c:txPr>
        <c:crossAx val="1319910831"/>
        <c:crosses val="autoZero"/>
        <c:crossBetween val="midCat"/>
        <c:majorUnit val="40"/>
      </c:valAx>
      <c:valAx>
        <c:axId val="1319910831"/>
        <c:scaling>
          <c:orientation val="minMax"/>
          <c:max val="16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800" b="0" i="0" u="none" strike="noStrike" kern="1200" baseline="0">
                    <a:solidFill>
                      <a:schemeClr val="tx1"/>
                    </a:solidFill>
                    <a:latin typeface="+mn-lt"/>
                    <a:ea typeface="+mn-ea"/>
                    <a:cs typeface="+mn-cs"/>
                  </a:defRPr>
                </a:pPr>
                <a:r>
                  <a:rPr lang="en-US"/>
                  <a:t>VICell XR VCD</a:t>
                </a:r>
              </a:p>
            </c:rich>
          </c:tx>
          <c:overlay val="0"/>
          <c:spPr>
            <a:noFill/>
            <a:ln>
              <a:noFill/>
            </a:ln>
            <a:effectLst/>
          </c:spPr>
          <c:txPr>
            <a:bodyPr rot="-5400000" spcFirstLastPara="1" vertOverflow="ellipsis" vert="horz" wrap="square" anchor="ctr" anchorCtr="1"/>
            <a:lstStyle/>
            <a:p>
              <a:pPr>
                <a:defRPr sz="1800" b="0" i="0" u="none" strike="noStrike" kern="1200" baseline="0">
                  <a:solidFill>
                    <a:schemeClr val="tx1"/>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50000"/>
                <a:lumOff val="50000"/>
              </a:schemeClr>
            </a:solidFill>
            <a:round/>
          </a:ln>
          <a:effectLst/>
        </c:spPr>
        <c:txPr>
          <a:bodyPr rot="-60000000" spcFirstLastPara="1" vertOverflow="ellipsis" vert="horz" wrap="square" anchor="ctr" anchorCtr="1"/>
          <a:lstStyle/>
          <a:p>
            <a:pPr>
              <a:defRPr sz="1800" b="0" i="0" u="none" strike="noStrike" kern="1200" baseline="0">
                <a:solidFill>
                  <a:schemeClr val="tx1"/>
                </a:solidFill>
                <a:latin typeface="+mn-lt"/>
                <a:ea typeface="+mn-ea"/>
                <a:cs typeface="+mn-cs"/>
              </a:defRPr>
            </a:pPr>
            <a:endParaRPr lang="en-US"/>
          </a:p>
        </c:txPr>
        <c:crossAx val="405750063"/>
        <c:crosses val="autoZero"/>
        <c:crossBetween val="midCat"/>
        <c:majorUnit val="40"/>
      </c:valAx>
      <c:spPr>
        <a:noFill/>
        <a:ln>
          <a:solidFill>
            <a:schemeClr val="tx1">
              <a:lumMod val="50000"/>
              <a:lumOff val="50000"/>
            </a:schemeClr>
          </a:solid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800">
          <a:solidFill>
            <a:schemeClr val="tx1"/>
          </a:solidFill>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smoothMarker"/>
        <c:varyColors val="0"/>
        <c:ser>
          <c:idx val="0"/>
          <c:order val="0"/>
          <c:spPr>
            <a:ln w="19050" cap="rnd">
              <a:solidFill>
                <a:schemeClr val="accent1"/>
              </a:solidFill>
              <a:round/>
            </a:ln>
            <a:effectLst/>
          </c:spPr>
          <c:marker>
            <c:symbol val="none"/>
          </c:marker>
          <c:xVal>
            <c:numRef>
              <c:f>Data!$AE$104:$AE$117</c:f>
              <c:numCache>
                <c:formatCode>General</c:formatCode>
                <c:ptCount val="14"/>
                <c:pt idx="0">
                  <c:v>-47</c:v>
                </c:pt>
                <c:pt idx="1">
                  <c:v>-30</c:v>
                </c:pt>
                <c:pt idx="2">
                  <c:v>-15.5</c:v>
                </c:pt>
                <c:pt idx="3">
                  <c:v>-10.5</c:v>
                </c:pt>
                <c:pt idx="4">
                  <c:v>-5</c:v>
                </c:pt>
                <c:pt idx="5">
                  <c:v>0.5</c:v>
                </c:pt>
                <c:pt idx="6">
                  <c:v>5.5</c:v>
                </c:pt>
                <c:pt idx="7">
                  <c:v>10.5</c:v>
                </c:pt>
                <c:pt idx="8">
                  <c:v>16</c:v>
                </c:pt>
                <c:pt idx="9">
                  <c:v>21.5</c:v>
                </c:pt>
                <c:pt idx="10">
                  <c:v>26.5</c:v>
                </c:pt>
                <c:pt idx="11">
                  <c:v>31.5</c:v>
                </c:pt>
                <c:pt idx="12">
                  <c:v>40</c:v>
                </c:pt>
                <c:pt idx="13">
                  <c:v>50</c:v>
                </c:pt>
              </c:numCache>
            </c:numRef>
          </c:xVal>
          <c:yVal>
            <c:numRef>
              <c:f>Data!$AF$104:$AF$117</c:f>
              <c:numCache>
                <c:formatCode>General</c:formatCode>
                <c:ptCount val="14"/>
                <c:pt idx="0">
                  <c:v>1</c:v>
                </c:pt>
                <c:pt idx="1">
                  <c:v>0</c:v>
                </c:pt>
                <c:pt idx="2">
                  <c:v>4</c:v>
                </c:pt>
                <c:pt idx="3">
                  <c:v>21</c:v>
                </c:pt>
                <c:pt idx="4">
                  <c:v>79</c:v>
                </c:pt>
                <c:pt idx="5">
                  <c:v>140</c:v>
                </c:pt>
                <c:pt idx="6">
                  <c:v>144</c:v>
                </c:pt>
                <c:pt idx="7">
                  <c:v>67</c:v>
                </c:pt>
                <c:pt idx="8">
                  <c:v>26</c:v>
                </c:pt>
                <c:pt idx="9">
                  <c:v>9</c:v>
                </c:pt>
                <c:pt idx="10">
                  <c:v>6</c:v>
                </c:pt>
                <c:pt idx="11">
                  <c:v>3</c:v>
                </c:pt>
                <c:pt idx="12">
                  <c:v>0</c:v>
                </c:pt>
                <c:pt idx="13">
                  <c:v>2</c:v>
                </c:pt>
              </c:numCache>
            </c:numRef>
          </c:yVal>
          <c:smooth val="1"/>
          <c:extLst>
            <c:ext xmlns:c16="http://schemas.microsoft.com/office/drawing/2014/chart" uri="{C3380CC4-5D6E-409C-BE32-E72D297353CC}">
              <c16:uniqueId val="{00000000-224C-4331-ABD2-161D43128FD0}"/>
            </c:ext>
          </c:extLst>
        </c:ser>
        <c:dLbls>
          <c:showLegendKey val="0"/>
          <c:showVal val="0"/>
          <c:showCatName val="0"/>
          <c:showSerName val="0"/>
          <c:showPercent val="0"/>
          <c:showBubbleSize val="0"/>
        </c:dLbls>
        <c:axId val="533590079"/>
        <c:axId val="533581343"/>
      </c:scatterChart>
      <c:valAx>
        <c:axId val="533590079"/>
        <c:scaling>
          <c:orientation val="minMax"/>
          <c:max val="50"/>
          <c:min val="-50"/>
        </c:scaling>
        <c:delete val="0"/>
        <c:axPos val="b"/>
        <c:title>
          <c:tx>
            <c:rich>
              <a:bodyPr rot="0" spcFirstLastPara="1" vertOverflow="ellipsis" vert="horz" wrap="square" anchor="ctr" anchorCtr="1"/>
              <a:lstStyle/>
              <a:p>
                <a:pPr>
                  <a:defRPr sz="1400" b="0" i="0" u="none" strike="noStrike" kern="1200" baseline="0">
                    <a:solidFill>
                      <a:schemeClr val="tx1">
                        <a:lumMod val="50000"/>
                        <a:lumOff val="50000"/>
                      </a:schemeClr>
                    </a:solidFill>
                    <a:latin typeface="+mn-lt"/>
                    <a:ea typeface="+mn-ea"/>
                    <a:cs typeface="+mn-cs"/>
                  </a:defRPr>
                </a:pPr>
                <a:r>
                  <a:rPr lang="en-US" sz="1400"/>
                  <a:t>Difference</a:t>
                </a:r>
                <a:r>
                  <a:rPr lang="en-US" sz="1400" baseline="0"/>
                  <a:t> (%)</a:t>
                </a:r>
                <a:endParaRPr lang="en-US" sz="1400"/>
              </a:p>
            </c:rich>
          </c:tx>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50000"/>
                      <a:lumOff val="50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50000"/>
                    <a:lumOff val="50000"/>
                  </a:schemeClr>
                </a:solidFill>
                <a:latin typeface="+mn-lt"/>
                <a:ea typeface="+mn-ea"/>
                <a:cs typeface="+mn-cs"/>
              </a:defRPr>
            </a:pPr>
            <a:endParaRPr lang="en-US"/>
          </a:p>
        </c:txPr>
        <c:crossAx val="533581343"/>
        <c:crosses val="autoZero"/>
        <c:crossBetween val="midCat"/>
      </c:valAx>
      <c:valAx>
        <c:axId val="533581343"/>
        <c:scaling>
          <c:orientation val="minMax"/>
          <c:max val="150"/>
        </c:scaling>
        <c:delete val="0"/>
        <c:axPos val="l"/>
        <c:title>
          <c:tx>
            <c:rich>
              <a:bodyPr rot="-5400000" spcFirstLastPara="1" vertOverflow="ellipsis" vert="horz" wrap="square" anchor="ctr" anchorCtr="1"/>
              <a:lstStyle/>
              <a:p>
                <a:pPr>
                  <a:defRPr sz="1400" b="0" i="0" u="none" strike="noStrike" kern="1200" baseline="0">
                    <a:solidFill>
                      <a:schemeClr val="tx1">
                        <a:lumMod val="50000"/>
                        <a:lumOff val="50000"/>
                      </a:schemeClr>
                    </a:solidFill>
                    <a:latin typeface="+mn-lt"/>
                    <a:ea typeface="+mn-ea"/>
                    <a:cs typeface="+mn-cs"/>
                  </a:defRPr>
                </a:pPr>
                <a:r>
                  <a:rPr lang="en-US" sz="1400"/>
                  <a:t>Sample</a:t>
                </a:r>
                <a:r>
                  <a:rPr lang="en-US" sz="1400" baseline="0"/>
                  <a:t> count</a:t>
                </a:r>
                <a:endParaRPr lang="en-US" sz="1400"/>
              </a:p>
            </c:rich>
          </c:tx>
          <c:layout>
            <c:manualLayout>
              <c:xMode val="edge"/>
              <c:yMode val="edge"/>
              <c:x val="4.7057690134373789E-2"/>
              <c:y val="0.15432470620670641"/>
            </c:manualLayout>
          </c:layout>
          <c:overlay val="0"/>
          <c:spPr>
            <a:noFill/>
            <a:ln>
              <a:noFill/>
            </a:ln>
            <a:effectLst/>
          </c:spPr>
          <c:txPr>
            <a:bodyPr rot="-5400000" spcFirstLastPara="1" vertOverflow="ellipsis" vert="horz" wrap="square" anchor="ctr" anchorCtr="1"/>
            <a:lstStyle/>
            <a:p>
              <a:pPr>
                <a:defRPr sz="1400" b="0" i="0" u="none" strike="noStrike" kern="1200" baseline="0">
                  <a:solidFill>
                    <a:schemeClr val="tx1">
                      <a:lumMod val="50000"/>
                      <a:lumOff val="50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50000"/>
                    <a:lumOff val="50000"/>
                  </a:schemeClr>
                </a:solidFill>
                <a:latin typeface="+mn-lt"/>
                <a:ea typeface="+mn-ea"/>
                <a:cs typeface="+mn-cs"/>
              </a:defRPr>
            </a:pPr>
            <a:endParaRPr lang="en-US"/>
          </a:p>
        </c:txPr>
        <c:crossAx val="533590079"/>
        <c:crosses val="autoZero"/>
        <c:crossBetween val="midCat"/>
      </c:valAx>
      <c:spPr>
        <a:solidFill>
          <a:schemeClr val="bg1"/>
        </a:solid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a:solidFill>
        <a:schemeClr val="tx2"/>
      </a:solidFill>
    </a:ln>
    <a:effectLst/>
  </c:spPr>
  <c:txPr>
    <a:bodyPr/>
    <a:lstStyle/>
    <a:p>
      <a:pPr>
        <a:defRPr sz="1800">
          <a:solidFill>
            <a:schemeClr val="tx1">
              <a:lumMod val="50000"/>
              <a:lumOff val="50000"/>
            </a:schemeClr>
          </a:solidFill>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633940703213278"/>
          <c:y val="0.10546788466848436"/>
          <c:w val="0.80536892406066019"/>
          <c:h val="0.61059550294019138"/>
        </c:manualLayout>
      </c:layout>
      <c:scatterChart>
        <c:scatterStyle val="smoothMarker"/>
        <c:varyColors val="0"/>
        <c:ser>
          <c:idx val="0"/>
          <c:order val="0"/>
          <c:spPr>
            <a:ln w="19050" cap="rnd">
              <a:solidFill>
                <a:schemeClr val="accent1"/>
              </a:solidFill>
              <a:round/>
            </a:ln>
            <a:effectLst/>
          </c:spPr>
          <c:marker>
            <c:symbol val="none"/>
          </c:marker>
          <c:xVal>
            <c:numRef>
              <c:f>Data!$AE$136:$AE$150</c:f>
              <c:numCache>
                <c:formatCode>General</c:formatCode>
                <c:ptCount val="15"/>
                <c:pt idx="0">
                  <c:v>-16</c:v>
                </c:pt>
                <c:pt idx="1">
                  <c:v>-14</c:v>
                </c:pt>
                <c:pt idx="2">
                  <c:v>-12</c:v>
                </c:pt>
                <c:pt idx="3">
                  <c:v>-10</c:v>
                </c:pt>
                <c:pt idx="4">
                  <c:v>-8</c:v>
                </c:pt>
                <c:pt idx="5">
                  <c:v>-6</c:v>
                </c:pt>
                <c:pt idx="6">
                  <c:v>-4</c:v>
                </c:pt>
                <c:pt idx="7">
                  <c:v>-2</c:v>
                </c:pt>
                <c:pt idx="8">
                  <c:v>0</c:v>
                </c:pt>
                <c:pt idx="9">
                  <c:v>2</c:v>
                </c:pt>
                <c:pt idx="10">
                  <c:v>4</c:v>
                </c:pt>
                <c:pt idx="11">
                  <c:v>6</c:v>
                </c:pt>
                <c:pt idx="12">
                  <c:v>8</c:v>
                </c:pt>
                <c:pt idx="13">
                  <c:v>10</c:v>
                </c:pt>
                <c:pt idx="14">
                  <c:v>15</c:v>
                </c:pt>
              </c:numCache>
            </c:numRef>
          </c:xVal>
          <c:yVal>
            <c:numRef>
              <c:f>Data!$AF$136:$AF$150</c:f>
              <c:numCache>
                <c:formatCode>General</c:formatCode>
                <c:ptCount val="15"/>
                <c:pt idx="0">
                  <c:v>1</c:v>
                </c:pt>
                <c:pt idx="1">
                  <c:v>0</c:v>
                </c:pt>
                <c:pt idx="2">
                  <c:v>0</c:v>
                </c:pt>
                <c:pt idx="3">
                  <c:v>1</c:v>
                </c:pt>
                <c:pt idx="4">
                  <c:v>5</c:v>
                </c:pt>
                <c:pt idx="5">
                  <c:v>6</c:v>
                </c:pt>
                <c:pt idx="6">
                  <c:v>10</c:v>
                </c:pt>
                <c:pt idx="7">
                  <c:v>46</c:v>
                </c:pt>
                <c:pt idx="8">
                  <c:v>333</c:v>
                </c:pt>
                <c:pt idx="9">
                  <c:v>58</c:v>
                </c:pt>
                <c:pt idx="10">
                  <c:v>29</c:v>
                </c:pt>
                <c:pt idx="11">
                  <c:v>12</c:v>
                </c:pt>
                <c:pt idx="12">
                  <c:v>2</c:v>
                </c:pt>
                <c:pt idx="13">
                  <c:v>1</c:v>
                </c:pt>
                <c:pt idx="14">
                  <c:v>0</c:v>
                </c:pt>
              </c:numCache>
            </c:numRef>
          </c:yVal>
          <c:smooth val="1"/>
          <c:extLst>
            <c:ext xmlns:c16="http://schemas.microsoft.com/office/drawing/2014/chart" uri="{C3380CC4-5D6E-409C-BE32-E72D297353CC}">
              <c16:uniqueId val="{00000000-C233-4FE0-88D9-03B4E9EBA4FC}"/>
            </c:ext>
          </c:extLst>
        </c:ser>
        <c:dLbls>
          <c:showLegendKey val="0"/>
          <c:showVal val="0"/>
          <c:showCatName val="0"/>
          <c:showSerName val="0"/>
          <c:showPercent val="0"/>
          <c:showBubbleSize val="0"/>
        </c:dLbls>
        <c:axId val="527076079"/>
        <c:axId val="527076495"/>
      </c:scatterChart>
      <c:valAx>
        <c:axId val="527076079"/>
        <c:scaling>
          <c:orientation val="minMax"/>
          <c:max val="15"/>
          <c:min val="-15"/>
        </c:scaling>
        <c:delete val="0"/>
        <c:axPos val="b"/>
        <c:title>
          <c:tx>
            <c:rich>
              <a:bodyPr rot="0" spcFirstLastPara="1" vertOverflow="ellipsis" vert="horz" wrap="square" anchor="ctr" anchorCtr="1"/>
              <a:lstStyle/>
              <a:p>
                <a:pPr>
                  <a:defRPr sz="1400" b="0" i="0" u="none" strike="noStrike" kern="1200" baseline="0">
                    <a:solidFill>
                      <a:schemeClr val="tx1">
                        <a:lumMod val="50000"/>
                        <a:lumOff val="50000"/>
                      </a:schemeClr>
                    </a:solidFill>
                    <a:latin typeface="+mn-lt"/>
                    <a:ea typeface="+mn-ea"/>
                    <a:cs typeface="+mn-cs"/>
                  </a:defRPr>
                </a:pPr>
                <a:r>
                  <a:rPr lang="en-US"/>
                  <a:t>Viability difference </a:t>
                </a:r>
              </a:p>
            </c:rich>
          </c:tx>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50000"/>
                      <a:lumOff val="50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50000"/>
                    <a:lumOff val="50000"/>
                  </a:schemeClr>
                </a:solidFill>
                <a:latin typeface="+mn-lt"/>
                <a:ea typeface="+mn-ea"/>
                <a:cs typeface="+mn-cs"/>
              </a:defRPr>
            </a:pPr>
            <a:endParaRPr lang="en-US"/>
          </a:p>
        </c:txPr>
        <c:crossAx val="527076495"/>
        <c:crosses val="autoZero"/>
        <c:crossBetween val="midCat"/>
        <c:majorUnit val="15"/>
      </c:valAx>
      <c:valAx>
        <c:axId val="527076495"/>
        <c:scaling>
          <c:orientation val="minMax"/>
          <c:min val="0"/>
        </c:scaling>
        <c:delete val="0"/>
        <c:axPos val="l"/>
        <c:title>
          <c:tx>
            <c:rich>
              <a:bodyPr rot="-5400000" spcFirstLastPara="1" vertOverflow="ellipsis" vert="horz" wrap="square" anchor="ctr" anchorCtr="1"/>
              <a:lstStyle/>
              <a:p>
                <a:pPr>
                  <a:defRPr sz="1400" b="0" i="0" u="none" strike="noStrike" kern="1200" baseline="0">
                    <a:solidFill>
                      <a:schemeClr val="tx1">
                        <a:lumMod val="50000"/>
                        <a:lumOff val="50000"/>
                      </a:schemeClr>
                    </a:solidFill>
                    <a:latin typeface="+mn-lt"/>
                    <a:ea typeface="+mn-ea"/>
                    <a:cs typeface="+mn-cs"/>
                  </a:defRPr>
                </a:pPr>
                <a:r>
                  <a:rPr lang="en-US"/>
                  <a:t>Sample count</a:t>
                </a:r>
              </a:p>
            </c:rich>
          </c:tx>
          <c:layout>
            <c:manualLayout>
              <c:xMode val="edge"/>
              <c:yMode val="edge"/>
              <c:x val="4.8869903328220311E-2"/>
              <c:y val="0.16635933016595153"/>
            </c:manualLayout>
          </c:layout>
          <c:overlay val="0"/>
          <c:spPr>
            <a:noFill/>
            <a:ln>
              <a:noFill/>
            </a:ln>
            <a:effectLst/>
          </c:spPr>
          <c:txPr>
            <a:bodyPr rot="-5400000" spcFirstLastPara="1" vertOverflow="ellipsis" vert="horz" wrap="square" anchor="ctr" anchorCtr="1"/>
            <a:lstStyle/>
            <a:p>
              <a:pPr>
                <a:defRPr sz="1400" b="0" i="0" u="none" strike="noStrike" kern="1200" baseline="0">
                  <a:solidFill>
                    <a:schemeClr val="tx1">
                      <a:lumMod val="50000"/>
                      <a:lumOff val="50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50000"/>
                    <a:lumOff val="50000"/>
                  </a:schemeClr>
                </a:solidFill>
                <a:latin typeface="+mn-lt"/>
                <a:ea typeface="+mn-ea"/>
                <a:cs typeface="+mn-cs"/>
              </a:defRPr>
            </a:pPr>
            <a:endParaRPr lang="en-US"/>
          </a:p>
        </c:txPr>
        <c:crossAx val="527076079"/>
        <c:crosses val="autoZero"/>
        <c:crossBetween val="midCat"/>
        <c:majorUnit val="100"/>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solidFill>
        <a:schemeClr val="accent1"/>
      </a:solidFill>
      <a:round/>
    </a:ln>
    <a:effectLst/>
  </c:spPr>
  <c:txPr>
    <a:bodyPr/>
    <a:lstStyle/>
    <a:p>
      <a:pPr>
        <a:defRPr sz="1400">
          <a:solidFill>
            <a:schemeClr val="tx1">
              <a:lumMod val="50000"/>
              <a:lumOff val="50000"/>
            </a:schemeClr>
          </a:solidFill>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890626" cy="493792"/>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778505" y="0"/>
            <a:ext cx="2890626" cy="493792"/>
          </a:xfrm>
          <a:prstGeom prst="rect">
            <a:avLst/>
          </a:prstGeom>
        </p:spPr>
        <p:txBody>
          <a:bodyPr vert="horz" lIns="91440" tIns="45720" rIns="91440" bIns="45720" rtlCol="0"/>
          <a:lstStyle>
            <a:lvl1pPr algn="r">
              <a:defRPr sz="1200"/>
            </a:lvl1pPr>
          </a:lstStyle>
          <a:p>
            <a:fld id="{3BBED7E8-0829-F34C-B479-A757805E6C1B}" type="datetimeFigureOut">
              <a:rPr lang="en-US" smtClean="0"/>
              <a:t>9/23/22</a:t>
            </a:fld>
            <a:endParaRPr lang="en-US"/>
          </a:p>
        </p:txBody>
      </p:sp>
      <p:sp>
        <p:nvSpPr>
          <p:cNvPr id="4" name="Footer Placeholder 3"/>
          <p:cNvSpPr>
            <a:spLocks noGrp="1"/>
          </p:cNvSpPr>
          <p:nvPr>
            <p:ph type="ftr" sz="quarter" idx="2"/>
          </p:nvPr>
        </p:nvSpPr>
        <p:spPr>
          <a:xfrm>
            <a:off x="0" y="9380332"/>
            <a:ext cx="2890626" cy="493792"/>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778505" y="9380332"/>
            <a:ext cx="2890626" cy="493792"/>
          </a:xfrm>
          <a:prstGeom prst="rect">
            <a:avLst/>
          </a:prstGeom>
        </p:spPr>
        <p:txBody>
          <a:bodyPr vert="horz" lIns="91440" tIns="45720" rIns="91440" bIns="45720" rtlCol="0" anchor="b"/>
          <a:lstStyle>
            <a:lvl1pPr algn="r">
              <a:defRPr sz="1200"/>
            </a:lvl1pPr>
          </a:lstStyle>
          <a:p>
            <a:fld id="{053334D3-7666-C24C-995B-669B029DDF20}" type="slidenum">
              <a:rPr lang="en-US" smtClean="0"/>
              <a:t>‹#›</a:t>
            </a:fld>
            <a:endParaRPr lang="en-US"/>
          </a:p>
        </p:txBody>
      </p:sp>
    </p:spTree>
    <p:extLst>
      <p:ext uri="{BB962C8B-B14F-4D97-AF65-F5344CB8AC3E}">
        <p14:creationId xmlns:p14="http://schemas.microsoft.com/office/powerpoint/2010/main" val="246531476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890626" cy="493792"/>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778505" y="0"/>
            <a:ext cx="2890626" cy="493792"/>
          </a:xfrm>
          <a:prstGeom prst="rect">
            <a:avLst/>
          </a:prstGeom>
        </p:spPr>
        <p:txBody>
          <a:bodyPr vert="horz" lIns="91440" tIns="45720" rIns="91440" bIns="45720" rtlCol="0"/>
          <a:lstStyle>
            <a:lvl1pPr algn="r">
              <a:defRPr sz="1200"/>
            </a:lvl1pPr>
          </a:lstStyle>
          <a:p>
            <a:fld id="{6C7E4F11-7667-5045-A00B-01970EA44BB5}" type="datetimeFigureOut">
              <a:rPr lang="en-US" smtClean="0"/>
              <a:t>9/23/22</a:t>
            </a:fld>
            <a:endParaRPr lang="en-US"/>
          </a:p>
        </p:txBody>
      </p:sp>
      <p:sp>
        <p:nvSpPr>
          <p:cNvPr id="4" name="Slide Image Placeholder 3"/>
          <p:cNvSpPr>
            <a:spLocks noGrp="1" noRot="1" noChangeAspect="1"/>
          </p:cNvSpPr>
          <p:nvPr>
            <p:ph type="sldImg" idx="2"/>
          </p:nvPr>
        </p:nvSpPr>
        <p:spPr>
          <a:xfrm>
            <a:off x="1947863" y="741363"/>
            <a:ext cx="2774950" cy="37020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67068" y="4691023"/>
            <a:ext cx="5336540" cy="4444127"/>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9380332"/>
            <a:ext cx="2890626" cy="493792"/>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778505" y="9380332"/>
            <a:ext cx="2890626" cy="493792"/>
          </a:xfrm>
          <a:prstGeom prst="rect">
            <a:avLst/>
          </a:prstGeom>
        </p:spPr>
        <p:txBody>
          <a:bodyPr vert="horz" lIns="91440" tIns="45720" rIns="91440" bIns="45720" rtlCol="0" anchor="b"/>
          <a:lstStyle>
            <a:lvl1pPr algn="r">
              <a:defRPr sz="1200"/>
            </a:lvl1pPr>
          </a:lstStyle>
          <a:p>
            <a:fld id="{FAD751AE-7ABC-314D-AFAD-47B860ED6FFE}" type="slidenum">
              <a:rPr lang="en-US" smtClean="0"/>
              <a:t>‹#›</a:t>
            </a:fld>
            <a:endParaRPr lang="en-US"/>
          </a:p>
        </p:txBody>
      </p:sp>
    </p:spTree>
    <p:extLst>
      <p:ext uri="{BB962C8B-B14F-4D97-AF65-F5344CB8AC3E}">
        <p14:creationId xmlns:p14="http://schemas.microsoft.com/office/powerpoint/2010/main" val="1562445406"/>
      </p:ext>
    </p:extLst>
  </p:cSld>
  <p:clrMap bg1="lt1" tx1="dk1" bg2="lt2" tx2="dk2" accent1="accent1" accent2="accent2" accent3="accent3" accent4="accent4" accent5="accent5" accent6="accent6" hlink="hlink" folHlink="folHlink"/>
  <p:hf hdr="0" ftr="0" dt="0"/>
  <p:notesStyle>
    <a:lvl1pPr marL="0" algn="l" defTabSz="2127176" rtl="0" eaLnBrk="1" latinLnBrk="0" hangingPunct="1">
      <a:defRPr sz="5654" kern="1200">
        <a:solidFill>
          <a:schemeClr val="tx1"/>
        </a:solidFill>
        <a:latin typeface="+mn-lt"/>
        <a:ea typeface="+mn-ea"/>
        <a:cs typeface="+mn-cs"/>
      </a:defRPr>
    </a:lvl1pPr>
    <a:lvl2pPr marL="2127176" algn="l" defTabSz="2127176" rtl="0" eaLnBrk="1" latinLnBrk="0" hangingPunct="1">
      <a:defRPr sz="5654" kern="1200">
        <a:solidFill>
          <a:schemeClr val="tx1"/>
        </a:solidFill>
        <a:latin typeface="+mn-lt"/>
        <a:ea typeface="+mn-ea"/>
        <a:cs typeface="+mn-cs"/>
      </a:defRPr>
    </a:lvl2pPr>
    <a:lvl3pPr marL="4254352" algn="l" defTabSz="2127176" rtl="0" eaLnBrk="1" latinLnBrk="0" hangingPunct="1">
      <a:defRPr sz="5654" kern="1200">
        <a:solidFill>
          <a:schemeClr val="tx1"/>
        </a:solidFill>
        <a:latin typeface="+mn-lt"/>
        <a:ea typeface="+mn-ea"/>
        <a:cs typeface="+mn-cs"/>
      </a:defRPr>
    </a:lvl3pPr>
    <a:lvl4pPr marL="6381528" algn="l" defTabSz="2127176" rtl="0" eaLnBrk="1" latinLnBrk="0" hangingPunct="1">
      <a:defRPr sz="5654" kern="1200">
        <a:solidFill>
          <a:schemeClr val="tx1"/>
        </a:solidFill>
        <a:latin typeface="+mn-lt"/>
        <a:ea typeface="+mn-ea"/>
        <a:cs typeface="+mn-cs"/>
      </a:defRPr>
    </a:lvl4pPr>
    <a:lvl5pPr marL="8508707" algn="l" defTabSz="2127176" rtl="0" eaLnBrk="1" latinLnBrk="0" hangingPunct="1">
      <a:defRPr sz="5654" kern="1200">
        <a:solidFill>
          <a:schemeClr val="tx1"/>
        </a:solidFill>
        <a:latin typeface="+mn-lt"/>
        <a:ea typeface="+mn-ea"/>
        <a:cs typeface="+mn-cs"/>
      </a:defRPr>
    </a:lvl5pPr>
    <a:lvl6pPr marL="10635883" algn="l" defTabSz="2127176" rtl="0" eaLnBrk="1" latinLnBrk="0" hangingPunct="1">
      <a:defRPr sz="5654" kern="1200">
        <a:solidFill>
          <a:schemeClr val="tx1"/>
        </a:solidFill>
        <a:latin typeface="+mn-lt"/>
        <a:ea typeface="+mn-ea"/>
        <a:cs typeface="+mn-cs"/>
      </a:defRPr>
    </a:lvl6pPr>
    <a:lvl7pPr marL="12763060" algn="l" defTabSz="2127176" rtl="0" eaLnBrk="1" latinLnBrk="0" hangingPunct="1">
      <a:defRPr sz="5654" kern="1200">
        <a:solidFill>
          <a:schemeClr val="tx1"/>
        </a:solidFill>
        <a:latin typeface="+mn-lt"/>
        <a:ea typeface="+mn-ea"/>
        <a:cs typeface="+mn-cs"/>
      </a:defRPr>
    </a:lvl7pPr>
    <a:lvl8pPr marL="14890239" algn="l" defTabSz="2127176" rtl="0" eaLnBrk="1" latinLnBrk="0" hangingPunct="1">
      <a:defRPr sz="5654" kern="1200">
        <a:solidFill>
          <a:schemeClr val="tx1"/>
        </a:solidFill>
        <a:latin typeface="+mn-lt"/>
        <a:ea typeface="+mn-ea"/>
        <a:cs typeface="+mn-cs"/>
      </a:defRPr>
    </a:lvl8pPr>
    <a:lvl9pPr marL="17017415" algn="l" defTabSz="2127176" rtl="0" eaLnBrk="1" latinLnBrk="0" hangingPunct="1">
      <a:defRPr sz="5654"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AD751AE-7ABC-314D-AFAD-47B860ED6FFE}" type="slidenum">
              <a:rPr lang="en-US" smtClean="0"/>
              <a:t>1</a:t>
            </a:fld>
            <a:endParaRPr lang="en-US"/>
          </a:p>
        </p:txBody>
      </p:sp>
    </p:spTree>
    <p:extLst>
      <p:ext uri="{BB962C8B-B14F-4D97-AF65-F5344CB8AC3E}">
        <p14:creationId xmlns:p14="http://schemas.microsoft.com/office/powerpoint/2010/main" val="19594963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oster Mast Head">
    <p:spTree>
      <p:nvGrpSpPr>
        <p:cNvPr id="1" name=""/>
        <p:cNvGrpSpPr/>
        <p:nvPr/>
      </p:nvGrpSpPr>
      <p:grpSpPr>
        <a:xfrm>
          <a:off x="0" y="0"/>
          <a:ext cx="0" cy="0"/>
          <a:chOff x="0" y="0"/>
          <a:chExt cx="0" cy="0"/>
        </a:xfrm>
      </p:grpSpPr>
    </p:spTree>
    <p:extLst>
      <p:ext uri="{BB962C8B-B14F-4D97-AF65-F5344CB8AC3E}">
        <p14:creationId xmlns:p14="http://schemas.microsoft.com/office/powerpoint/2010/main" val="1511625008"/>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25332996"/>
      </p:ext>
    </p:extLst>
  </p:cSld>
  <p:clrMap bg1="lt1" tx1="dk1" bg2="lt2" tx2="dk2" accent1="accent1" accent2="accent2" accent3="accent3" accent4="accent4" accent5="accent5" accent6="accent6" hlink="hlink" folHlink="folHlink"/>
  <p:sldLayoutIdLst>
    <p:sldLayoutId id="2147483707" r:id="rId1"/>
  </p:sldLayoutIdLst>
  <p:hf hdr="0" ftr="0" dt="0"/>
  <p:txStyles>
    <p:titleStyle>
      <a:lvl1pPr algn="ctr" defTabSz="2075045" rtl="0" eaLnBrk="1" latinLnBrk="0" hangingPunct="1">
        <a:spcBef>
          <a:spcPct val="0"/>
        </a:spcBef>
        <a:buNone/>
        <a:defRPr sz="20024" kern="1200">
          <a:solidFill>
            <a:schemeClr val="tx1"/>
          </a:solidFill>
          <a:latin typeface="+mj-lt"/>
          <a:ea typeface="+mj-ea"/>
          <a:cs typeface="+mj-cs"/>
        </a:defRPr>
      </a:lvl1pPr>
    </p:titleStyle>
    <p:bodyStyle>
      <a:lvl1pPr marL="1556283" indent="-1556283" algn="l" defTabSz="2075045" rtl="0" eaLnBrk="1" latinLnBrk="0" hangingPunct="1">
        <a:spcBef>
          <a:spcPct val="20000"/>
        </a:spcBef>
        <a:buFont typeface="Arial"/>
        <a:buChar char="•"/>
        <a:defRPr sz="14510" kern="1200">
          <a:solidFill>
            <a:schemeClr val="tx1"/>
          </a:solidFill>
          <a:latin typeface="+mn-lt"/>
          <a:ea typeface="+mn-ea"/>
          <a:cs typeface="+mn-cs"/>
        </a:defRPr>
      </a:lvl1pPr>
      <a:lvl2pPr marL="3371950" indent="-1296902" algn="l" defTabSz="2075045" rtl="0" eaLnBrk="1" latinLnBrk="0" hangingPunct="1">
        <a:spcBef>
          <a:spcPct val="20000"/>
        </a:spcBef>
        <a:buFont typeface="Arial"/>
        <a:buChar char="–"/>
        <a:defRPr sz="12769" kern="1200">
          <a:solidFill>
            <a:schemeClr val="tx1"/>
          </a:solidFill>
          <a:latin typeface="+mn-lt"/>
          <a:ea typeface="+mn-ea"/>
          <a:cs typeface="+mn-cs"/>
        </a:defRPr>
      </a:lvl2pPr>
      <a:lvl3pPr marL="5187614" indent="-1037524" algn="l" defTabSz="2075045" rtl="0" eaLnBrk="1" latinLnBrk="0" hangingPunct="1">
        <a:spcBef>
          <a:spcPct val="20000"/>
        </a:spcBef>
        <a:buFont typeface="Arial"/>
        <a:buChar char="•"/>
        <a:defRPr sz="11028" kern="1200">
          <a:solidFill>
            <a:schemeClr val="tx1"/>
          </a:solidFill>
          <a:latin typeface="+mn-lt"/>
          <a:ea typeface="+mn-ea"/>
          <a:cs typeface="+mn-cs"/>
        </a:defRPr>
      </a:lvl3pPr>
      <a:lvl4pPr marL="7262659" indent="-1037524" algn="l" defTabSz="2075045" rtl="0" eaLnBrk="1" latinLnBrk="0" hangingPunct="1">
        <a:spcBef>
          <a:spcPct val="20000"/>
        </a:spcBef>
        <a:buFont typeface="Arial"/>
        <a:buChar char="–"/>
        <a:defRPr sz="8997" kern="1200">
          <a:solidFill>
            <a:schemeClr val="tx1"/>
          </a:solidFill>
          <a:latin typeface="+mn-lt"/>
          <a:ea typeface="+mn-ea"/>
          <a:cs typeface="+mn-cs"/>
        </a:defRPr>
      </a:lvl4pPr>
      <a:lvl5pPr marL="9337704" indent="-1037524" algn="l" defTabSz="2075045" rtl="0" eaLnBrk="1" latinLnBrk="0" hangingPunct="1">
        <a:spcBef>
          <a:spcPct val="20000"/>
        </a:spcBef>
        <a:buFont typeface="Arial"/>
        <a:buChar char="»"/>
        <a:defRPr sz="8997" kern="1200">
          <a:solidFill>
            <a:schemeClr val="tx1"/>
          </a:solidFill>
          <a:latin typeface="+mn-lt"/>
          <a:ea typeface="+mn-ea"/>
          <a:cs typeface="+mn-cs"/>
        </a:defRPr>
      </a:lvl5pPr>
      <a:lvl6pPr marL="11412749" indent="-1037524" algn="l" defTabSz="2075045" rtl="0" eaLnBrk="1" latinLnBrk="0" hangingPunct="1">
        <a:spcBef>
          <a:spcPct val="20000"/>
        </a:spcBef>
        <a:buFont typeface="Arial"/>
        <a:buChar char="•"/>
        <a:defRPr sz="8997" kern="1200">
          <a:solidFill>
            <a:schemeClr val="tx1"/>
          </a:solidFill>
          <a:latin typeface="+mn-lt"/>
          <a:ea typeface="+mn-ea"/>
          <a:cs typeface="+mn-cs"/>
        </a:defRPr>
      </a:lvl6pPr>
      <a:lvl7pPr marL="13487794" indent="-1037524" algn="l" defTabSz="2075045" rtl="0" eaLnBrk="1" latinLnBrk="0" hangingPunct="1">
        <a:spcBef>
          <a:spcPct val="20000"/>
        </a:spcBef>
        <a:buFont typeface="Arial"/>
        <a:buChar char="•"/>
        <a:defRPr sz="8997" kern="1200">
          <a:solidFill>
            <a:schemeClr val="tx1"/>
          </a:solidFill>
          <a:latin typeface="+mn-lt"/>
          <a:ea typeface="+mn-ea"/>
          <a:cs typeface="+mn-cs"/>
        </a:defRPr>
      </a:lvl7pPr>
      <a:lvl8pPr marL="15562839" indent="-1037524" algn="l" defTabSz="2075045" rtl="0" eaLnBrk="1" latinLnBrk="0" hangingPunct="1">
        <a:spcBef>
          <a:spcPct val="20000"/>
        </a:spcBef>
        <a:buFont typeface="Arial"/>
        <a:buChar char="•"/>
        <a:defRPr sz="8997" kern="1200">
          <a:solidFill>
            <a:schemeClr val="tx1"/>
          </a:solidFill>
          <a:latin typeface="+mn-lt"/>
          <a:ea typeface="+mn-ea"/>
          <a:cs typeface="+mn-cs"/>
        </a:defRPr>
      </a:lvl8pPr>
      <a:lvl9pPr marL="17637884" indent="-1037524" algn="l" defTabSz="2075045" rtl="0" eaLnBrk="1" latinLnBrk="0" hangingPunct="1">
        <a:spcBef>
          <a:spcPct val="20000"/>
        </a:spcBef>
        <a:buFont typeface="Arial"/>
        <a:buChar char="•"/>
        <a:defRPr sz="8997" kern="1200">
          <a:solidFill>
            <a:schemeClr val="tx1"/>
          </a:solidFill>
          <a:latin typeface="+mn-lt"/>
          <a:ea typeface="+mn-ea"/>
          <a:cs typeface="+mn-cs"/>
        </a:defRPr>
      </a:lvl9pPr>
    </p:bodyStyle>
    <p:otherStyle>
      <a:defPPr>
        <a:defRPr lang="en-US"/>
      </a:defPPr>
      <a:lvl1pPr marL="0" algn="l" defTabSz="2075045" rtl="0" eaLnBrk="1" latinLnBrk="0" hangingPunct="1">
        <a:defRPr sz="8126" kern="1200">
          <a:solidFill>
            <a:schemeClr val="tx1"/>
          </a:solidFill>
          <a:latin typeface="+mn-lt"/>
          <a:ea typeface="+mn-ea"/>
          <a:cs typeface="+mn-cs"/>
        </a:defRPr>
      </a:lvl1pPr>
      <a:lvl2pPr marL="2075045" algn="l" defTabSz="2075045" rtl="0" eaLnBrk="1" latinLnBrk="0" hangingPunct="1">
        <a:defRPr sz="8126" kern="1200">
          <a:solidFill>
            <a:schemeClr val="tx1"/>
          </a:solidFill>
          <a:latin typeface="+mn-lt"/>
          <a:ea typeface="+mn-ea"/>
          <a:cs typeface="+mn-cs"/>
        </a:defRPr>
      </a:lvl2pPr>
      <a:lvl3pPr marL="4150090" algn="l" defTabSz="2075045" rtl="0" eaLnBrk="1" latinLnBrk="0" hangingPunct="1">
        <a:defRPr sz="8126" kern="1200">
          <a:solidFill>
            <a:schemeClr val="tx1"/>
          </a:solidFill>
          <a:latin typeface="+mn-lt"/>
          <a:ea typeface="+mn-ea"/>
          <a:cs typeface="+mn-cs"/>
        </a:defRPr>
      </a:lvl3pPr>
      <a:lvl4pPr marL="6225135" algn="l" defTabSz="2075045" rtl="0" eaLnBrk="1" latinLnBrk="0" hangingPunct="1">
        <a:defRPr sz="8126" kern="1200">
          <a:solidFill>
            <a:schemeClr val="tx1"/>
          </a:solidFill>
          <a:latin typeface="+mn-lt"/>
          <a:ea typeface="+mn-ea"/>
          <a:cs typeface="+mn-cs"/>
        </a:defRPr>
      </a:lvl4pPr>
      <a:lvl5pPr marL="8300180" algn="l" defTabSz="2075045" rtl="0" eaLnBrk="1" latinLnBrk="0" hangingPunct="1">
        <a:defRPr sz="8126" kern="1200">
          <a:solidFill>
            <a:schemeClr val="tx1"/>
          </a:solidFill>
          <a:latin typeface="+mn-lt"/>
          <a:ea typeface="+mn-ea"/>
          <a:cs typeface="+mn-cs"/>
        </a:defRPr>
      </a:lvl5pPr>
      <a:lvl6pPr marL="10375225" algn="l" defTabSz="2075045" rtl="0" eaLnBrk="1" latinLnBrk="0" hangingPunct="1">
        <a:defRPr sz="8126" kern="1200">
          <a:solidFill>
            <a:schemeClr val="tx1"/>
          </a:solidFill>
          <a:latin typeface="+mn-lt"/>
          <a:ea typeface="+mn-ea"/>
          <a:cs typeface="+mn-cs"/>
        </a:defRPr>
      </a:lvl6pPr>
      <a:lvl7pPr marL="12450270" algn="l" defTabSz="2075045" rtl="0" eaLnBrk="1" latinLnBrk="0" hangingPunct="1">
        <a:defRPr sz="8126" kern="1200">
          <a:solidFill>
            <a:schemeClr val="tx1"/>
          </a:solidFill>
          <a:latin typeface="+mn-lt"/>
          <a:ea typeface="+mn-ea"/>
          <a:cs typeface="+mn-cs"/>
        </a:defRPr>
      </a:lvl7pPr>
      <a:lvl8pPr marL="14525318" algn="l" defTabSz="2075045" rtl="0" eaLnBrk="1" latinLnBrk="0" hangingPunct="1">
        <a:defRPr sz="8126" kern="1200">
          <a:solidFill>
            <a:schemeClr val="tx1"/>
          </a:solidFill>
          <a:latin typeface="+mn-lt"/>
          <a:ea typeface="+mn-ea"/>
          <a:cs typeface="+mn-cs"/>
        </a:defRPr>
      </a:lvl8pPr>
      <a:lvl9pPr marL="16600363" algn="l" defTabSz="2075045" rtl="0" eaLnBrk="1" latinLnBrk="0" hangingPunct="1">
        <a:defRPr sz="812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chart" Target="../charts/chart5.xml"/><Relationship Id="rId3" Type="http://schemas.openxmlformats.org/officeDocument/2006/relationships/chart" Target="../charts/chart1.xml"/><Relationship Id="rId7" Type="http://schemas.openxmlformats.org/officeDocument/2006/relationships/image" Target="../media/image4.png"/><Relationship Id="rId12" Type="http://schemas.openxmlformats.org/officeDocument/2006/relationships/chart" Target="../charts/chart4.xm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svg"/><Relationship Id="rId11" Type="http://schemas.openxmlformats.org/officeDocument/2006/relationships/chart" Target="../charts/chart3.xml"/><Relationship Id="rId5" Type="http://schemas.openxmlformats.org/officeDocument/2006/relationships/image" Target="../media/image2.png"/><Relationship Id="rId10" Type="http://schemas.openxmlformats.org/officeDocument/2006/relationships/chart" Target="../charts/chart2.xml"/><Relationship Id="rId4" Type="http://schemas.openxmlformats.org/officeDocument/2006/relationships/image" Target="../media/image1.emf"/><Relationship Id="rId9" Type="http://schemas.openxmlformats.org/officeDocument/2006/relationships/image" Target="../media/image6.png"/><Relationship Id="rId14" Type="http://schemas.openxmlformats.org/officeDocument/2006/relationships/chart" Target="../charts/char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Rectangle 128">
            <a:extLst>
              <a:ext uri="{FF2B5EF4-FFF2-40B4-BE49-F238E27FC236}">
                <a16:creationId xmlns:a16="http://schemas.microsoft.com/office/drawing/2014/main" id="{8A54B648-3423-421D-A9DA-B785C70C00CB}"/>
              </a:ext>
            </a:extLst>
          </p:cNvPr>
          <p:cNvSpPr/>
          <p:nvPr/>
        </p:nvSpPr>
        <p:spPr>
          <a:xfrm>
            <a:off x="21510290" y="23275506"/>
            <a:ext cx="9016144" cy="16022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t"/>
          <a:lstStyle/>
          <a:p>
            <a:pPr algn="ctr"/>
            <a:r>
              <a:rPr lang="en-US" sz="2612">
                <a:solidFill>
                  <a:schemeClr val="tx1"/>
                </a:solidFill>
                <a:cs typeface="Arial"/>
              </a:rPr>
              <a:t>Fig 3. Agreement between Vi-CELL XR and Nova BioProfile FLEX2 on A) VCD and B) viability since implementation of new perfusion-specific cell counting method. Histograms of VCD difference (%) C) and viability difference D) are included.. The orange line represents y=x.</a:t>
            </a:r>
          </a:p>
        </p:txBody>
      </p:sp>
      <p:sp>
        <p:nvSpPr>
          <p:cNvPr id="17" name="Rectangle 16"/>
          <p:cNvSpPr/>
          <p:nvPr/>
        </p:nvSpPr>
        <p:spPr>
          <a:xfrm>
            <a:off x="2333590" y="7199993"/>
            <a:ext cx="8968588" cy="1749240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t"/>
          <a:lstStyle/>
          <a:p>
            <a:pPr marL="0" marR="0" algn="just">
              <a:lnSpc>
                <a:spcPct val="107000"/>
              </a:lnSpc>
              <a:spcBef>
                <a:spcPts val="0"/>
              </a:spcBef>
              <a:spcAft>
                <a:spcPts val="800"/>
              </a:spcAft>
            </a:pPr>
            <a:r>
              <a:rPr lang="en-US" sz="3200" dirty="0">
                <a:solidFill>
                  <a:schemeClr val="tx1"/>
                </a:solidFill>
                <a:effectLst/>
                <a:latin typeface="Arial" panose="020B0604020202020204" pitchFamily="34" charset="0"/>
                <a:ea typeface="Calibri" panose="020F0502020204030204" pitchFamily="34" charset="0"/>
                <a:cs typeface="Arial" panose="020B0604020202020204" pitchFamily="34" charset="0"/>
              </a:rPr>
              <a:t>The future of biopharmaceuticals lies in adoption of continuous manufacturing, requiring higher concentrations of cell culture and substantial changes to the ways we think about molecule production. However, it is important to be able to quantify perfusion cell cultures by the same metrics as standard fed-batch cultures, including peak viable cell density (VCD), end-of-run VCD, and end-of-run viability. This becomes especially important if the bioreactor control strategy relies on accurate VCD measurements to </a:t>
            </a:r>
            <a:r>
              <a:rPr lang="en-US" sz="3200" dirty="0">
                <a:solidFill>
                  <a:schemeClr val="tx1"/>
                </a:solidFill>
                <a:latin typeface="Arial" panose="020B0604020202020204" pitchFamily="34" charset="0"/>
                <a:ea typeface="Calibri" panose="020F0502020204030204" pitchFamily="34" charset="0"/>
                <a:cs typeface="Arial" panose="020B0604020202020204" pitchFamily="34" charset="0"/>
              </a:rPr>
              <a:t>maintain stationary phase</a:t>
            </a:r>
            <a:r>
              <a:rPr lang="en-US" sz="3200" dirty="0">
                <a:solidFill>
                  <a:schemeClr val="tx1"/>
                </a:solidFill>
                <a:effectLst/>
                <a:latin typeface="Arial" panose="020B0604020202020204" pitchFamily="34" charset="0"/>
                <a:ea typeface="Calibri" panose="020F0502020204030204" pitchFamily="34" charset="0"/>
                <a:cs typeface="Arial" panose="020B0604020202020204" pitchFamily="34" charset="0"/>
              </a:rPr>
              <a:t>. However, antifoam demand and various stresses of perfusion culture create an abundance of micelles that can be mis-identified as live or dead cells by cell counter instruments. As the culture declines, micelles can outnumber live cells and substantially impact </a:t>
            </a:r>
            <a:r>
              <a:rPr lang="en-US" sz="3200" dirty="0">
                <a:solidFill>
                  <a:schemeClr val="tx1"/>
                </a:solidFill>
                <a:latin typeface="Arial" panose="020B0604020202020204" pitchFamily="34" charset="0"/>
                <a:ea typeface="Calibri" panose="020F0502020204030204" pitchFamily="34" charset="0"/>
                <a:cs typeface="Arial" panose="020B0604020202020204" pitchFamily="34" charset="0"/>
              </a:rPr>
              <a:t>the </a:t>
            </a:r>
            <a:r>
              <a:rPr lang="en-US" sz="3200" dirty="0">
                <a:solidFill>
                  <a:schemeClr val="tx1"/>
                </a:solidFill>
                <a:effectLst/>
                <a:latin typeface="Arial" panose="020B0604020202020204" pitchFamily="34" charset="0"/>
                <a:ea typeface="Calibri" panose="020F0502020204030204" pitchFamily="34" charset="0"/>
                <a:cs typeface="Arial" panose="020B0604020202020204" pitchFamily="34" charset="0"/>
              </a:rPr>
              <a:t>VCD measurement. Additionally, cell counter instruments like the Beckman </a:t>
            </a:r>
            <a:r>
              <a:rPr lang="en-US" sz="3200" dirty="0">
                <a:solidFill>
                  <a:schemeClr val="tx1"/>
                </a:solidFill>
                <a:latin typeface="Arial" panose="020B0604020202020204" pitchFamily="34" charset="0"/>
                <a:ea typeface="Calibri" panose="020F0502020204030204" pitchFamily="34" charset="0"/>
                <a:cs typeface="Arial" panose="020B0604020202020204" pitchFamily="34" charset="0"/>
              </a:rPr>
              <a:t>Vi-CELL XR and Nova Biomedical BioProfile® FLEX2 </a:t>
            </a:r>
            <a:r>
              <a:rPr lang="en-US" sz="3200" dirty="0">
                <a:solidFill>
                  <a:schemeClr val="tx1"/>
                </a:solidFill>
                <a:effectLst/>
                <a:latin typeface="Arial" panose="020B0604020202020204" pitchFamily="34" charset="0"/>
                <a:ea typeface="Calibri" panose="020F0502020204030204" pitchFamily="34" charset="0"/>
                <a:cs typeface="Arial" panose="020B0604020202020204" pitchFamily="34" charset="0"/>
              </a:rPr>
              <a:t>see micelles with different definition, resulting in disagreement over whether to count the micelles. </a:t>
            </a:r>
          </a:p>
          <a:p>
            <a:pPr algn="just">
              <a:lnSpc>
                <a:spcPct val="107000"/>
              </a:lnSpc>
              <a:spcAft>
                <a:spcPts val="800"/>
              </a:spcAft>
            </a:pPr>
            <a:r>
              <a:rPr lang="en-US" sz="3200" dirty="0">
                <a:solidFill>
                  <a:schemeClr val="tx1"/>
                </a:solidFill>
                <a:effectLst/>
                <a:latin typeface="Arial" panose="020B0604020202020204" pitchFamily="34" charset="0"/>
                <a:ea typeface="Calibri" panose="020F0502020204030204" pitchFamily="34" charset="0"/>
                <a:cs typeface="Arial" panose="020B0604020202020204" pitchFamily="34" charset="0"/>
              </a:rPr>
              <a:t>Through the reanalysis of data from multiple CHO cell line experiments, a new cell counter method was created for Vi-CELL XRs to exclude micelles and align with the BioProfile Flex2. Th</a:t>
            </a:r>
            <a:r>
              <a:rPr lang="en-US" sz="3200" dirty="0">
                <a:solidFill>
                  <a:schemeClr val="tx1"/>
                </a:solidFill>
                <a:latin typeface="Arial" panose="020B0604020202020204" pitchFamily="34" charset="0"/>
                <a:cs typeface="Arial" panose="020B0604020202020204" pitchFamily="34" charset="0"/>
              </a:rPr>
              <a:t>is new perfusion-specific cell counter method brought the VCD difference between the Vi-CELL XR and BioProfile® FLEX2 to within ±15% and has since been deployed for all perfusion cell culture experiments.</a:t>
            </a:r>
          </a:p>
          <a:p>
            <a:pPr marL="0" marR="0">
              <a:lnSpc>
                <a:spcPct val="107000"/>
              </a:lnSpc>
              <a:spcBef>
                <a:spcPts val="0"/>
              </a:spcBef>
              <a:spcAft>
                <a:spcPts val="800"/>
              </a:spcAft>
            </a:pP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127" name="Chart 126">
            <a:extLst>
              <a:ext uri="{FF2B5EF4-FFF2-40B4-BE49-F238E27FC236}">
                <a16:creationId xmlns:a16="http://schemas.microsoft.com/office/drawing/2014/main" id="{51210BA3-4FF0-4F56-B1E5-59022CF537DA}"/>
              </a:ext>
            </a:extLst>
          </p:cNvPr>
          <p:cNvGraphicFramePr>
            <a:graphicFrameLocks/>
          </p:cNvGraphicFramePr>
          <p:nvPr>
            <p:extLst>
              <p:ext uri="{D42A27DB-BD31-4B8C-83A1-F6EECF244321}">
                <p14:modId xmlns:p14="http://schemas.microsoft.com/office/powerpoint/2010/main" val="2008630612"/>
              </p:ext>
            </p:extLst>
          </p:nvPr>
        </p:nvGraphicFramePr>
        <p:xfrm>
          <a:off x="21082221" y="18827647"/>
          <a:ext cx="9400712" cy="4544068"/>
        </p:xfrm>
        <a:graphic>
          <a:graphicData uri="http://schemas.openxmlformats.org/drawingml/2006/chart">
            <c:chart xmlns:c="http://schemas.openxmlformats.org/drawingml/2006/chart" xmlns:r="http://schemas.openxmlformats.org/officeDocument/2006/relationships" r:id="rId3"/>
          </a:graphicData>
        </a:graphic>
      </p:graphicFrame>
      <p:sp>
        <p:nvSpPr>
          <p:cNvPr id="115" name="Rectangle 114">
            <a:extLst>
              <a:ext uri="{FF2B5EF4-FFF2-40B4-BE49-F238E27FC236}">
                <a16:creationId xmlns:a16="http://schemas.microsoft.com/office/drawing/2014/main" id="{F7EAE79B-4A51-468F-B81F-579D6B677C75}"/>
              </a:ext>
            </a:extLst>
          </p:cNvPr>
          <p:cNvSpPr/>
          <p:nvPr/>
        </p:nvSpPr>
        <p:spPr>
          <a:xfrm>
            <a:off x="11993315" y="7298190"/>
            <a:ext cx="9016144" cy="131604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t"/>
          <a:lstStyle/>
          <a:p>
            <a:pPr algn="just"/>
            <a:r>
              <a:rPr lang="en-US" sz="3200" b="1">
                <a:solidFill>
                  <a:schemeClr val="tx1"/>
                </a:solidFill>
                <a:cs typeface="Arial"/>
              </a:rPr>
              <a:t>Gathering cross-samples </a:t>
            </a:r>
          </a:p>
          <a:p>
            <a:pPr marL="457200" indent="-457200" algn="just">
              <a:buFont typeface="Arial" panose="020B0604020202020204" pitchFamily="34" charset="0"/>
              <a:buChar char="•"/>
            </a:pPr>
            <a:r>
              <a:rPr lang="en-US" sz="3200">
                <a:solidFill>
                  <a:schemeClr val="tx1"/>
                </a:solidFill>
                <a:cs typeface="Arial"/>
              </a:rPr>
              <a:t>CHO cell culture from several perfusion experiments was analyzed on both BioProfile® FLEX2 and Vi-CELL XR</a:t>
            </a:r>
            <a:endParaRPr lang="en-US" sz="3200" b="1">
              <a:solidFill>
                <a:schemeClr val="tx1"/>
              </a:solidFill>
              <a:cs typeface="Arial"/>
            </a:endParaRPr>
          </a:p>
          <a:p>
            <a:pPr algn="just"/>
            <a:r>
              <a:rPr lang="en-US" sz="3200" b="1">
                <a:solidFill>
                  <a:schemeClr val="tx1"/>
                </a:solidFill>
                <a:cs typeface="Arial"/>
              </a:rPr>
              <a:t>Generating potential cell count methods</a:t>
            </a:r>
          </a:p>
          <a:p>
            <a:pPr marL="457200" indent="-457200" algn="just">
              <a:buFont typeface="Arial" panose="020B0604020202020204" pitchFamily="34" charset="0"/>
              <a:buChar char="•"/>
            </a:pPr>
            <a:r>
              <a:rPr lang="en-US" sz="3200">
                <a:solidFill>
                  <a:schemeClr val="tx1"/>
                </a:solidFill>
                <a:cs typeface="Arial"/>
              </a:rPr>
              <a:t>3 representative samples from mid- to end-of-run culture were selected for reanalysis</a:t>
            </a:r>
          </a:p>
          <a:p>
            <a:pPr marL="457200" indent="-457200" algn="just">
              <a:buFont typeface="Arial" panose="020B0604020202020204" pitchFamily="34" charset="0"/>
              <a:buChar char="•"/>
            </a:pPr>
            <a:r>
              <a:rPr lang="en-US" sz="3200">
                <a:solidFill>
                  <a:schemeClr val="tx1"/>
                </a:solidFill>
                <a:cs typeface="Arial"/>
              </a:rPr>
              <a:t>Cell count method parameters adjusted to determine impact on counting accuracy</a:t>
            </a:r>
          </a:p>
          <a:p>
            <a:pPr marL="457200" indent="-457200" algn="just">
              <a:buFont typeface="Arial" panose="020B0604020202020204" pitchFamily="34" charset="0"/>
              <a:buChar char="•"/>
            </a:pPr>
            <a:r>
              <a:rPr lang="en-US" sz="3200">
                <a:solidFill>
                  <a:schemeClr val="tx1"/>
                </a:solidFill>
                <a:cs typeface="Arial"/>
              </a:rPr>
              <a:t>Accuracy quantified by manual counting of mis-identified particles</a:t>
            </a:r>
          </a:p>
          <a:p>
            <a:pPr marL="457200" indent="-457200" algn="just">
              <a:buFont typeface="Arial" panose="020B0604020202020204" pitchFamily="34" charset="0"/>
              <a:buChar char="•"/>
            </a:pPr>
            <a:r>
              <a:rPr lang="en-US" sz="3200">
                <a:solidFill>
                  <a:schemeClr val="tx1"/>
                </a:solidFill>
                <a:cs typeface="Arial"/>
              </a:rPr>
              <a:t>4 different method candidates identified</a:t>
            </a:r>
          </a:p>
          <a:p>
            <a:pPr algn="just"/>
            <a:r>
              <a:rPr lang="en-US" sz="3200" b="1">
                <a:solidFill>
                  <a:schemeClr val="tx1"/>
                </a:solidFill>
                <a:cs typeface="Arial"/>
              </a:rPr>
              <a:t>Testing method candidates on additional samples</a:t>
            </a:r>
          </a:p>
          <a:p>
            <a:pPr marL="457200" indent="-457200" algn="just">
              <a:buFont typeface="Arial" panose="020B0604020202020204" pitchFamily="34" charset="0"/>
              <a:buChar char="•"/>
            </a:pPr>
            <a:r>
              <a:rPr lang="en-US" sz="3200">
                <a:solidFill>
                  <a:schemeClr val="tx1"/>
                </a:solidFill>
                <a:cs typeface="Arial"/>
              </a:rPr>
              <a:t>Samples representing all stages of perfusion culture were selected for Vi-CELL XR reanalysis with the 4 method candidates</a:t>
            </a:r>
          </a:p>
          <a:p>
            <a:pPr marL="457200" indent="-457200" algn="just">
              <a:buFont typeface="Arial" panose="020B0604020202020204" pitchFamily="34" charset="0"/>
              <a:buChar char="•"/>
            </a:pPr>
            <a:r>
              <a:rPr lang="en-US" sz="3200">
                <a:solidFill>
                  <a:schemeClr val="tx1"/>
                </a:solidFill>
                <a:cs typeface="Arial"/>
              </a:rPr>
              <a:t>VCD and viability results from reanalysis were compared to BioProfile® FLEX2 data</a:t>
            </a:r>
          </a:p>
          <a:p>
            <a:pPr marL="457200" indent="-457200" algn="just">
              <a:buFont typeface="Arial" panose="020B0604020202020204" pitchFamily="34" charset="0"/>
              <a:buChar char="•"/>
            </a:pPr>
            <a:r>
              <a:rPr lang="en-US" sz="3200">
                <a:solidFill>
                  <a:schemeClr val="tx1"/>
                </a:solidFill>
                <a:cs typeface="Arial"/>
              </a:rPr>
              <a:t>The method candidate which best balanced VCD and viability accuracy was selected to be the new perfusion cell count method</a:t>
            </a:r>
          </a:p>
          <a:p>
            <a:pPr algn="just"/>
            <a:r>
              <a:rPr lang="en-US" sz="3200" b="1">
                <a:solidFill>
                  <a:schemeClr val="tx1"/>
                </a:solidFill>
                <a:cs typeface="Arial"/>
              </a:rPr>
              <a:t>Deployment and confirmation</a:t>
            </a:r>
          </a:p>
          <a:p>
            <a:pPr marL="514350" indent="-514350" algn="just">
              <a:buFont typeface="Arial" panose="020B0604020202020204" pitchFamily="34" charset="0"/>
              <a:buChar char="•"/>
            </a:pPr>
            <a:r>
              <a:rPr lang="en-US" sz="3200">
                <a:solidFill>
                  <a:schemeClr val="tx1"/>
                </a:solidFill>
                <a:cs typeface="Arial"/>
              </a:rPr>
              <a:t>The perfusion cell count method was used on all perfusion cell culture, and over 500 samples were collected to confirm agreement between Vi-CELL XR and BioProfile® FLEX2</a:t>
            </a:r>
          </a:p>
          <a:p>
            <a:pPr marL="457200" indent="-457200" algn="just">
              <a:buFont typeface="Arial" panose="020B0604020202020204" pitchFamily="34" charset="0"/>
              <a:buChar char="•"/>
            </a:pPr>
            <a:endParaRPr lang="en-US" sz="3200">
              <a:solidFill>
                <a:schemeClr val="tx1"/>
              </a:solidFill>
              <a:cs typeface="Arial"/>
            </a:endParaRPr>
          </a:p>
        </p:txBody>
      </p:sp>
      <p:sp>
        <p:nvSpPr>
          <p:cNvPr id="8" name="Rectangle 7"/>
          <p:cNvSpPr/>
          <p:nvPr/>
        </p:nvSpPr>
        <p:spPr>
          <a:xfrm>
            <a:off x="2309812" y="5542364"/>
            <a:ext cx="28180831" cy="68663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180"/>
          </a:p>
        </p:txBody>
      </p:sp>
      <p:sp>
        <p:nvSpPr>
          <p:cNvPr id="12" name="Rectangle 11"/>
          <p:cNvSpPr/>
          <p:nvPr/>
        </p:nvSpPr>
        <p:spPr>
          <a:xfrm>
            <a:off x="11838376" y="20661484"/>
            <a:ext cx="9326022" cy="686635"/>
          </a:xfrm>
          <a:prstGeom prst="rect">
            <a:avLst/>
          </a:prstGeom>
          <a:solidFill>
            <a:srgbClr val="830051"/>
          </a:solidFill>
          <a:ln>
            <a:noFill/>
          </a:ln>
          <a:effectLst/>
        </p:spPr>
        <p:style>
          <a:lnRef idx="1">
            <a:schemeClr val="accent1"/>
          </a:lnRef>
          <a:fillRef idx="3">
            <a:schemeClr val="accent1"/>
          </a:fillRef>
          <a:effectRef idx="2">
            <a:schemeClr val="accent1"/>
          </a:effectRef>
          <a:fontRef idx="minor">
            <a:schemeClr val="lt1"/>
          </a:fontRef>
        </p:style>
        <p:txBody>
          <a:bodyPr lIns="208949" tIns="0" rIns="208949" bIns="52237" rtlCol="0" anchor="ctr"/>
          <a:lstStyle/>
          <a:p>
            <a:r>
              <a:rPr lang="en-US" sz="3483" b="1">
                <a:latin typeface="Arial"/>
                <a:cs typeface="Arial"/>
              </a:rPr>
              <a:t>Results</a:t>
            </a:r>
          </a:p>
        </p:txBody>
      </p:sp>
      <p:sp>
        <p:nvSpPr>
          <p:cNvPr id="14" name="Rectangle 13"/>
          <p:cNvSpPr/>
          <p:nvPr/>
        </p:nvSpPr>
        <p:spPr>
          <a:xfrm>
            <a:off x="11993315" y="6520856"/>
            <a:ext cx="9016144" cy="626847"/>
          </a:xfrm>
          <a:prstGeom prst="rect">
            <a:avLst/>
          </a:prstGeom>
          <a:solidFill>
            <a:srgbClr val="830051"/>
          </a:solidFill>
          <a:ln>
            <a:noFill/>
          </a:ln>
          <a:effectLst/>
        </p:spPr>
        <p:style>
          <a:lnRef idx="1">
            <a:schemeClr val="accent1"/>
          </a:lnRef>
          <a:fillRef idx="3">
            <a:schemeClr val="accent1"/>
          </a:fillRef>
          <a:effectRef idx="2">
            <a:schemeClr val="accent1"/>
          </a:effectRef>
          <a:fontRef idx="minor">
            <a:schemeClr val="lt1"/>
          </a:fontRef>
        </p:style>
        <p:txBody>
          <a:bodyPr lIns="208949" tIns="0" rIns="208949" bIns="52237" rtlCol="0" anchor="ctr"/>
          <a:lstStyle/>
          <a:p>
            <a:r>
              <a:rPr lang="en-US" sz="3483" b="1">
                <a:latin typeface="Arial"/>
                <a:cs typeface="Arial"/>
              </a:rPr>
              <a:t>Methods</a:t>
            </a:r>
          </a:p>
        </p:txBody>
      </p:sp>
      <p:sp>
        <p:nvSpPr>
          <p:cNvPr id="15" name="Rectangle 14"/>
          <p:cNvSpPr/>
          <p:nvPr/>
        </p:nvSpPr>
        <p:spPr>
          <a:xfrm>
            <a:off x="2309812" y="23558915"/>
            <a:ext cx="9016144" cy="626847"/>
          </a:xfrm>
          <a:prstGeom prst="rect">
            <a:avLst/>
          </a:prstGeom>
          <a:solidFill>
            <a:srgbClr val="830051"/>
          </a:solidFill>
          <a:ln>
            <a:noFill/>
          </a:ln>
          <a:effectLst/>
        </p:spPr>
        <p:style>
          <a:lnRef idx="1">
            <a:schemeClr val="accent1"/>
          </a:lnRef>
          <a:fillRef idx="3">
            <a:schemeClr val="accent1"/>
          </a:fillRef>
          <a:effectRef idx="2">
            <a:schemeClr val="accent1"/>
          </a:effectRef>
          <a:fontRef idx="minor">
            <a:schemeClr val="lt1"/>
          </a:fontRef>
        </p:style>
        <p:txBody>
          <a:bodyPr lIns="208949" tIns="0" rIns="208949" bIns="52237" rtlCol="0" anchor="ctr"/>
          <a:lstStyle/>
          <a:p>
            <a:r>
              <a:rPr lang="en-US" sz="3483" b="1">
                <a:latin typeface="Arial"/>
                <a:cs typeface="Arial"/>
              </a:rPr>
              <a:t>Introduction</a:t>
            </a:r>
          </a:p>
        </p:txBody>
      </p:sp>
      <p:sp>
        <p:nvSpPr>
          <p:cNvPr id="16" name="Rectangle 15"/>
          <p:cNvSpPr/>
          <p:nvPr/>
        </p:nvSpPr>
        <p:spPr>
          <a:xfrm>
            <a:off x="2309812" y="6512377"/>
            <a:ext cx="9016144" cy="62684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208949" tIns="0" rIns="208949" bIns="52237" rtlCol="0" anchor="ctr"/>
          <a:lstStyle/>
          <a:p>
            <a:r>
              <a:rPr lang="en-US" sz="3483" b="1">
                <a:latin typeface="Arial"/>
                <a:cs typeface="Arial"/>
              </a:rPr>
              <a:t>Abstract</a:t>
            </a:r>
          </a:p>
        </p:txBody>
      </p:sp>
      <p:sp>
        <p:nvSpPr>
          <p:cNvPr id="22" name="TextBox 21"/>
          <p:cNvSpPr txBox="1"/>
          <p:nvPr/>
        </p:nvSpPr>
        <p:spPr>
          <a:xfrm>
            <a:off x="2435467" y="1183267"/>
            <a:ext cx="23613275" cy="2009653"/>
          </a:xfrm>
          <a:prstGeom prst="rect">
            <a:avLst/>
          </a:prstGeom>
          <a:noFill/>
        </p:spPr>
        <p:txBody>
          <a:bodyPr wrap="square" lIns="0" tIns="0" rIns="0" bIns="0" rtlCol="0" anchor="t">
            <a:spAutoFit/>
          </a:bodyPr>
          <a:lstStyle/>
          <a:p>
            <a:pPr>
              <a:lnSpc>
                <a:spcPct val="90000"/>
              </a:lnSpc>
            </a:pPr>
            <a:r>
              <a:rPr lang="en-US" sz="7255" b="1">
                <a:solidFill>
                  <a:schemeClr val="tx2"/>
                </a:solidFill>
                <a:latin typeface="Arial"/>
                <a:cs typeface="Arial"/>
              </a:rPr>
              <a:t>Adapting Vi-CELL XR cell counter methods to the complexity of perfusion cell culture</a:t>
            </a:r>
          </a:p>
        </p:txBody>
      </p:sp>
      <p:sp>
        <p:nvSpPr>
          <p:cNvPr id="23" name="TextBox 22"/>
          <p:cNvSpPr txBox="1"/>
          <p:nvPr/>
        </p:nvSpPr>
        <p:spPr>
          <a:xfrm>
            <a:off x="2362335" y="3789821"/>
            <a:ext cx="18589343" cy="602857"/>
          </a:xfrm>
          <a:prstGeom prst="rect">
            <a:avLst/>
          </a:prstGeom>
          <a:noFill/>
        </p:spPr>
        <p:txBody>
          <a:bodyPr wrap="square" lIns="0" tIns="0" rIns="0" bIns="0" rtlCol="0" anchor="t">
            <a:spAutoFit/>
          </a:bodyPr>
          <a:lstStyle/>
          <a:p>
            <a:pPr>
              <a:lnSpc>
                <a:spcPct val="90000"/>
              </a:lnSpc>
            </a:pPr>
            <a:r>
              <a:rPr lang="en-US" sz="4353">
                <a:solidFill>
                  <a:schemeClr val="tx2"/>
                </a:solidFill>
                <a:latin typeface="Arial"/>
                <a:cs typeface="Arial"/>
              </a:rPr>
              <a:t>Zayla Schaeffer,</a:t>
            </a:r>
            <a:r>
              <a:rPr lang="en-US" sz="4353" baseline="30000">
                <a:solidFill>
                  <a:schemeClr val="tx2"/>
                </a:solidFill>
                <a:latin typeface="Arial"/>
                <a:cs typeface="Arial"/>
              </a:rPr>
              <a:t>1</a:t>
            </a:r>
            <a:r>
              <a:rPr lang="en-US" sz="4353">
                <a:solidFill>
                  <a:schemeClr val="tx2"/>
                </a:solidFill>
                <a:latin typeface="Arial"/>
                <a:cs typeface="Arial"/>
              </a:rPr>
              <a:t> Jimmy Vu,</a:t>
            </a:r>
            <a:r>
              <a:rPr lang="en-US" sz="4353" baseline="30000">
                <a:solidFill>
                  <a:schemeClr val="tx2"/>
                </a:solidFill>
                <a:latin typeface="Arial"/>
                <a:cs typeface="Arial"/>
              </a:rPr>
              <a:t>1</a:t>
            </a:r>
            <a:r>
              <a:rPr lang="en-US" sz="4353">
                <a:solidFill>
                  <a:schemeClr val="tx2"/>
                </a:solidFill>
                <a:latin typeface="Arial"/>
                <a:cs typeface="Arial"/>
              </a:rPr>
              <a:t> Andrea Squeri,</a:t>
            </a:r>
            <a:r>
              <a:rPr lang="en-US" sz="4353" baseline="30000">
                <a:solidFill>
                  <a:schemeClr val="tx2"/>
                </a:solidFill>
                <a:latin typeface="Arial"/>
                <a:cs typeface="Arial"/>
              </a:rPr>
              <a:t>1</a:t>
            </a:r>
            <a:r>
              <a:rPr lang="en-US" sz="4353">
                <a:solidFill>
                  <a:schemeClr val="tx2"/>
                </a:solidFill>
                <a:latin typeface="Arial"/>
                <a:cs typeface="Arial"/>
              </a:rPr>
              <a:t> Ken Lee</a:t>
            </a:r>
            <a:r>
              <a:rPr lang="en-US" sz="4353" baseline="30000">
                <a:solidFill>
                  <a:schemeClr val="tx2"/>
                </a:solidFill>
                <a:latin typeface="Arial"/>
                <a:cs typeface="Arial"/>
              </a:rPr>
              <a:t>1</a:t>
            </a:r>
          </a:p>
        </p:txBody>
      </p:sp>
      <p:sp>
        <p:nvSpPr>
          <p:cNvPr id="35" name="Rectangle 34"/>
          <p:cNvSpPr/>
          <p:nvPr/>
        </p:nvSpPr>
        <p:spPr>
          <a:xfrm>
            <a:off x="11993315" y="21379811"/>
            <a:ext cx="9016144" cy="127190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t"/>
          <a:lstStyle/>
          <a:p>
            <a:pPr algn="just"/>
            <a:r>
              <a:rPr lang="en-US" sz="2612" b="1">
                <a:solidFill>
                  <a:schemeClr val="tx1"/>
                </a:solidFill>
                <a:cs typeface="Arial"/>
              </a:rPr>
              <a:t>Table 1</a:t>
            </a:r>
            <a:r>
              <a:rPr lang="en-US" sz="2612">
                <a:solidFill>
                  <a:schemeClr val="tx1"/>
                </a:solidFill>
                <a:cs typeface="Arial"/>
              </a:rPr>
              <a:t>. Vi-CELL XR cell count method parameters for original and new perfusion-specific method</a:t>
            </a:r>
          </a:p>
        </p:txBody>
      </p:sp>
      <p:sp>
        <p:nvSpPr>
          <p:cNvPr id="41" name="Rectangle 40"/>
          <p:cNvSpPr/>
          <p:nvPr/>
        </p:nvSpPr>
        <p:spPr>
          <a:xfrm>
            <a:off x="21510290" y="6561379"/>
            <a:ext cx="9016144" cy="773856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t"/>
          <a:lstStyle/>
          <a:p>
            <a:pPr algn="just"/>
            <a:r>
              <a:rPr lang="en-US" sz="3192" dirty="0">
                <a:solidFill>
                  <a:schemeClr val="tx1"/>
                </a:solidFill>
                <a:cs typeface="Arial"/>
              </a:rPr>
              <a:t>Previously, micelle presence began impacting VCD accuracy around day 7 (mid-experiment) and worsened through end of culture (Fig 2A). The VCD reported by the Vi-CELL XR could be up to or greater than 100%, or twice as great as the </a:t>
            </a:r>
            <a:r>
              <a:rPr lang="en-US" sz="3192" dirty="0" err="1">
                <a:solidFill>
                  <a:schemeClr val="tx1"/>
                </a:solidFill>
                <a:cs typeface="Arial"/>
              </a:rPr>
              <a:t>BioProfile</a:t>
            </a:r>
            <a:r>
              <a:rPr lang="en-US" sz="3192" dirty="0">
                <a:solidFill>
                  <a:schemeClr val="tx1"/>
                </a:solidFill>
                <a:cs typeface="Arial"/>
              </a:rPr>
              <a:t>® FLEX2 VCD, which excludes micelles. The new perfusion-specific cell counting method brought the percent difference to generally between </a:t>
            </a:r>
            <a:r>
              <a:rPr lang="en-US" sz="3192" dirty="0">
                <a:solidFill>
                  <a:schemeClr val="tx1"/>
                </a:solidFill>
                <a:cs typeface="Arial"/>
                <a:sym typeface="Symbol" panose="05050102010706020507" pitchFamily="18" charset="2"/>
              </a:rPr>
              <a:t>15%, which was the goal of this project. There is a noticeable trend in the percent difference shown in Fig 2B, indicating that not all sources of variation were removed; however, some of this variation may be due to other factors such as error introduced during manual vs automatic dilution. </a:t>
            </a:r>
            <a:endParaRPr lang="en-US" sz="3192" dirty="0">
              <a:solidFill>
                <a:schemeClr val="tx1"/>
              </a:solidFill>
              <a:cs typeface="Arial"/>
            </a:endParaRPr>
          </a:p>
        </p:txBody>
      </p:sp>
      <p:sp>
        <p:nvSpPr>
          <p:cNvPr id="42" name="Rectangle 41"/>
          <p:cNvSpPr/>
          <p:nvPr/>
        </p:nvSpPr>
        <p:spPr>
          <a:xfrm>
            <a:off x="21517649" y="25326010"/>
            <a:ext cx="9016144" cy="45610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t"/>
          <a:lstStyle/>
          <a:p>
            <a:endParaRPr lang="en-US" sz="3192">
              <a:solidFill>
                <a:schemeClr val="tx1"/>
              </a:solidFill>
              <a:cs typeface="Arial"/>
            </a:endParaRPr>
          </a:p>
        </p:txBody>
      </p:sp>
      <p:sp>
        <p:nvSpPr>
          <p:cNvPr id="46" name="Rectangle 45"/>
          <p:cNvSpPr/>
          <p:nvPr/>
        </p:nvSpPr>
        <p:spPr>
          <a:xfrm>
            <a:off x="21510290" y="30406822"/>
            <a:ext cx="9016144" cy="626847"/>
          </a:xfrm>
          <a:prstGeom prst="rect">
            <a:avLst/>
          </a:prstGeom>
          <a:solidFill>
            <a:srgbClr val="830051"/>
          </a:solidFill>
          <a:ln>
            <a:noFill/>
          </a:ln>
          <a:effectLst/>
        </p:spPr>
        <p:style>
          <a:lnRef idx="1">
            <a:schemeClr val="accent1"/>
          </a:lnRef>
          <a:fillRef idx="3">
            <a:schemeClr val="accent1"/>
          </a:fillRef>
          <a:effectRef idx="2">
            <a:schemeClr val="accent1"/>
          </a:effectRef>
          <a:fontRef idx="minor">
            <a:schemeClr val="lt1"/>
          </a:fontRef>
        </p:style>
        <p:txBody>
          <a:bodyPr lIns="208949" tIns="0" rIns="208949" bIns="52237" rtlCol="0" anchor="ctr"/>
          <a:lstStyle/>
          <a:p>
            <a:r>
              <a:rPr lang="en-US" sz="3483" b="1">
                <a:latin typeface="Arial"/>
                <a:cs typeface="Arial"/>
              </a:rPr>
              <a:t>Conclusions</a:t>
            </a:r>
          </a:p>
        </p:txBody>
      </p:sp>
      <p:sp>
        <p:nvSpPr>
          <p:cNvPr id="47" name="Rectangle 46"/>
          <p:cNvSpPr/>
          <p:nvPr/>
        </p:nvSpPr>
        <p:spPr>
          <a:xfrm>
            <a:off x="21510290" y="30945738"/>
            <a:ext cx="9016144" cy="9341095"/>
          </a:xfrm>
          <a:prstGeom prst="rect">
            <a:avLst/>
          </a:prstGeom>
          <a:solidFill>
            <a:schemeClr val="accent1">
              <a:alpha val="15000"/>
            </a:schemeClr>
          </a:solidFill>
          <a:ln>
            <a:noFill/>
          </a:ln>
          <a:effectLst/>
        </p:spPr>
        <p:style>
          <a:lnRef idx="1">
            <a:schemeClr val="accent1"/>
          </a:lnRef>
          <a:fillRef idx="3">
            <a:schemeClr val="accent1"/>
          </a:fillRef>
          <a:effectRef idx="2">
            <a:schemeClr val="accent1"/>
          </a:effectRef>
          <a:fontRef idx="minor">
            <a:schemeClr val="lt1"/>
          </a:fontRef>
        </p:style>
        <p:txBody>
          <a:bodyPr lIns="208949" tIns="208949" rIns="208949" bIns="208949" rtlCol="0" anchor="t"/>
          <a:lstStyle/>
          <a:p>
            <a:pPr marL="457200" indent="-457200" algn="just" defTabSz="2027238">
              <a:spcAft>
                <a:spcPts val="600"/>
              </a:spcAft>
              <a:buFont typeface="Arial" panose="020B0604020202020204" pitchFamily="34" charset="0"/>
              <a:buChar char="•"/>
            </a:pPr>
            <a:r>
              <a:rPr lang="en-US" sz="3192" dirty="0">
                <a:solidFill>
                  <a:schemeClr val="tx1"/>
                </a:solidFill>
                <a:latin typeface="Arial"/>
                <a:cs typeface="Arial"/>
              </a:rPr>
              <a:t>The perfusion-specific cell counting method created for the Vi-CELL XR successfully excludes micelles from its live and total cell counts, allowing the Vi-CELL XR to match the BioProfile® FLEX2 to within </a:t>
            </a:r>
            <a:r>
              <a:rPr lang="en-US" sz="3192" dirty="0">
                <a:solidFill>
                  <a:schemeClr val="tx1"/>
                </a:solidFill>
                <a:latin typeface="Arial"/>
                <a:cs typeface="Arial"/>
                <a:sym typeface="Symbol" panose="05050102010706020507" pitchFamily="18" charset="2"/>
              </a:rPr>
              <a:t>15%</a:t>
            </a:r>
          </a:p>
          <a:p>
            <a:pPr marL="457200" indent="-457200" algn="just" defTabSz="2027238">
              <a:spcAft>
                <a:spcPts val="600"/>
              </a:spcAft>
              <a:buFont typeface="Arial" panose="020B0604020202020204" pitchFamily="34" charset="0"/>
              <a:buChar char="•"/>
            </a:pPr>
            <a:r>
              <a:rPr lang="en-US" sz="3192" dirty="0">
                <a:solidFill>
                  <a:schemeClr val="tx1"/>
                </a:solidFill>
                <a:latin typeface="Arial"/>
                <a:cs typeface="Arial"/>
                <a:sym typeface="Symbol" panose="05050102010706020507" pitchFamily="18" charset="2"/>
              </a:rPr>
              <a:t>Further testing of the perfusion-specific method has shown Vi-CELL XR VCDs are just 4% greater on average than those from the Nova BioProfile FLEX2</a:t>
            </a:r>
          </a:p>
          <a:p>
            <a:pPr marL="457200" indent="-457200" algn="just" defTabSz="2027238">
              <a:spcAft>
                <a:spcPts val="600"/>
              </a:spcAft>
              <a:buFont typeface="Arial" panose="020B0604020202020204" pitchFamily="34" charset="0"/>
              <a:buChar char="•"/>
            </a:pPr>
            <a:r>
              <a:rPr lang="en-US" sz="3192" dirty="0">
                <a:solidFill>
                  <a:schemeClr val="tx1"/>
                </a:solidFill>
                <a:latin typeface="Arial"/>
                <a:cs typeface="Arial"/>
                <a:sym typeface="Symbol" panose="05050102010706020507" pitchFamily="18" charset="2"/>
              </a:rPr>
              <a:t>Deploying the perfusion-specific method for development has produced more accurate per-cell productivities and feeding strategies, as well as more realistic end-of-run VCD and viability data that can be compared between runs</a:t>
            </a:r>
          </a:p>
          <a:p>
            <a:pPr marL="457200" indent="-457200" algn="just" defTabSz="2027238">
              <a:spcAft>
                <a:spcPts val="600"/>
              </a:spcAft>
              <a:buFont typeface="Arial" panose="020B0604020202020204" pitchFamily="34" charset="0"/>
              <a:buChar char="•"/>
            </a:pPr>
            <a:r>
              <a:rPr lang="en-US" sz="3192" dirty="0">
                <a:solidFill>
                  <a:schemeClr val="tx1"/>
                </a:solidFill>
                <a:latin typeface="Arial"/>
                <a:cs typeface="Arial"/>
                <a:sym typeface="Symbol" panose="05050102010706020507" pitchFamily="18" charset="2"/>
              </a:rPr>
              <a:t>The perfusion-specific method will be transferred with perfusion processes entering manufacturing</a:t>
            </a:r>
          </a:p>
          <a:p>
            <a:pPr marL="457200" indent="-457200" algn="just">
              <a:buFont typeface="Arial" panose="020B0604020202020204" pitchFamily="34" charset="0"/>
              <a:buChar char="•"/>
            </a:pPr>
            <a:endParaRPr lang="en-US" sz="3192" dirty="0">
              <a:solidFill>
                <a:schemeClr val="tx1"/>
              </a:solidFill>
              <a:latin typeface="Arial"/>
              <a:cs typeface="Arial"/>
              <a:sym typeface="Symbol" panose="05050102010706020507" pitchFamily="18" charset="2"/>
            </a:endParaRPr>
          </a:p>
          <a:p>
            <a:pPr marL="457200" indent="-457200" algn="just">
              <a:buFont typeface="Arial" panose="020B0604020202020204" pitchFamily="34" charset="0"/>
              <a:buChar char="•"/>
            </a:pPr>
            <a:endParaRPr lang="en-US" sz="3192" dirty="0">
              <a:solidFill>
                <a:schemeClr val="tx1"/>
              </a:solidFill>
              <a:latin typeface="Arial"/>
              <a:cs typeface="Arial"/>
            </a:endParaRPr>
          </a:p>
        </p:txBody>
      </p:sp>
      <p:sp>
        <p:nvSpPr>
          <p:cNvPr id="49" name="Rectangle 48"/>
          <p:cNvSpPr/>
          <p:nvPr/>
        </p:nvSpPr>
        <p:spPr>
          <a:xfrm>
            <a:off x="21510290" y="25076973"/>
            <a:ext cx="9016144" cy="590935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208949" tIns="208949" rIns="208949" bIns="208949" rtlCol="0" anchor="t"/>
          <a:lstStyle/>
          <a:p>
            <a:pPr algn="just"/>
            <a:r>
              <a:rPr lang="en-US" sz="3192" dirty="0">
                <a:solidFill>
                  <a:schemeClr val="tx1"/>
                </a:solidFill>
                <a:latin typeface="Arial"/>
                <a:cs typeface="Arial"/>
              </a:rPr>
              <a:t>After full deployment, over 500 samples representative of all stages of perfusion culture were collected to confirm the agreement between Vi-CELL XR and </a:t>
            </a:r>
            <a:r>
              <a:rPr lang="en-US" sz="3192" dirty="0" err="1">
                <a:solidFill>
                  <a:schemeClr val="tx1"/>
                </a:solidFill>
                <a:latin typeface="Arial"/>
                <a:cs typeface="Arial"/>
              </a:rPr>
              <a:t>BioProfile</a:t>
            </a:r>
            <a:r>
              <a:rPr lang="en-US" sz="3192" dirty="0">
                <a:solidFill>
                  <a:schemeClr val="tx1"/>
                </a:solidFill>
                <a:latin typeface="Arial"/>
                <a:cs typeface="Arial"/>
              </a:rPr>
              <a:t>® FLEX2. The findings from these samples are:</a:t>
            </a:r>
          </a:p>
          <a:p>
            <a:pPr marL="313427" indent="-313427" algn="just">
              <a:buFont typeface="Arial"/>
              <a:buChar char="•"/>
            </a:pPr>
            <a:r>
              <a:rPr lang="en-US" sz="3192" dirty="0">
                <a:solidFill>
                  <a:schemeClr val="tx1"/>
                </a:solidFill>
                <a:cs typeface="Arial"/>
              </a:rPr>
              <a:t>VCD is strongly correlated, with Vi-CELL XR measurements just 4% greater on average</a:t>
            </a:r>
          </a:p>
          <a:p>
            <a:pPr marL="313427" indent="-313427" algn="just">
              <a:buFont typeface="Arial"/>
              <a:buChar char="•"/>
            </a:pPr>
            <a:r>
              <a:rPr lang="en-US" sz="3192" dirty="0">
                <a:solidFill>
                  <a:schemeClr val="tx1"/>
                </a:solidFill>
                <a:cs typeface="Arial"/>
              </a:rPr>
              <a:t>Viability matches closely above 60%, while below 60% the </a:t>
            </a:r>
            <a:r>
              <a:rPr lang="en-US" sz="3192" dirty="0" err="1">
                <a:solidFill>
                  <a:schemeClr val="tx1"/>
                </a:solidFill>
                <a:cs typeface="Arial"/>
              </a:rPr>
              <a:t>BioProfile</a:t>
            </a:r>
            <a:r>
              <a:rPr lang="en-US" sz="3192" dirty="0">
                <a:solidFill>
                  <a:schemeClr val="tx1"/>
                </a:solidFill>
                <a:cs typeface="Arial"/>
              </a:rPr>
              <a:t>® FLEX2 measures higher viabilities on average</a:t>
            </a:r>
          </a:p>
        </p:txBody>
      </p:sp>
      <p:sp>
        <p:nvSpPr>
          <p:cNvPr id="51" name="Rectangle 50"/>
          <p:cNvSpPr/>
          <p:nvPr/>
        </p:nvSpPr>
        <p:spPr>
          <a:xfrm>
            <a:off x="21538722" y="40566325"/>
            <a:ext cx="8959281" cy="1873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t"/>
          <a:lstStyle/>
          <a:p>
            <a:r>
              <a:rPr lang="en-US" sz="2612" b="1" dirty="0">
                <a:solidFill>
                  <a:schemeClr val="tx1"/>
                </a:solidFill>
                <a:cs typeface="Arial"/>
              </a:rPr>
              <a:t>Acknowledgements</a:t>
            </a:r>
          </a:p>
          <a:p>
            <a:r>
              <a:rPr lang="en-US" sz="2612" dirty="0" err="1">
                <a:solidFill>
                  <a:schemeClr val="tx1"/>
                </a:solidFill>
                <a:cs typeface="Arial"/>
              </a:rPr>
              <a:t>BioProcess</a:t>
            </a:r>
            <a:r>
              <a:rPr lang="en-US" sz="2612" dirty="0">
                <a:solidFill>
                  <a:schemeClr val="tx1"/>
                </a:solidFill>
                <a:cs typeface="Arial"/>
              </a:rPr>
              <a:t> Technology and Engineering team and ambr250 team at AstraZeneca</a:t>
            </a:r>
          </a:p>
          <a:p>
            <a:r>
              <a:rPr lang="en-US" sz="2612" dirty="0">
                <a:solidFill>
                  <a:schemeClr val="tx1"/>
                </a:solidFill>
                <a:cs typeface="Arial"/>
              </a:rPr>
              <a:t>Nova Biomedical and Beckman Coulter technical support</a:t>
            </a:r>
          </a:p>
        </p:txBody>
      </p:sp>
      <p:cxnSp>
        <p:nvCxnSpPr>
          <p:cNvPr id="3" name="Straight Connector 2"/>
          <p:cNvCxnSpPr/>
          <p:nvPr/>
        </p:nvCxnSpPr>
        <p:spPr>
          <a:xfrm>
            <a:off x="2387015" y="42439985"/>
            <a:ext cx="28103625" cy="0"/>
          </a:xfrm>
          <a:prstGeom prst="line">
            <a:avLst/>
          </a:prstGeom>
          <a:ln w="3175"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2" name="Straight Connector 51"/>
          <p:cNvCxnSpPr>
            <a:cxnSpLocks/>
          </p:cNvCxnSpPr>
          <p:nvPr/>
        </p:nvCxnSpPr>
        <p:spPr>
          <a:xfrm>
            <a:off x="21510290" y="13955122"/>
            <a:ext cx="9016144" cy="0"/>
          </a:xfrm>
          <a:prstGeom prst="line">
            <a:avLst/>
          </a:prstGeom>
          <a:ln w="3175"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8" name="Straight Connector 57"/>
          <p:cNvCxnSpPr>
            <a:cxnSpLocks/>
          </p:cNvCxnSpPr>
          <p:nvPr/>
        </p:nvCxnSpPr>
        <p:spPr>
          <a:xfrm>
            <a:off x="21510290" y="40425612"/>
            <a:ext cx="9016144" cy="0"/>
          </a:xfrm>
          <a:prstGeom prst="line">
            <a:avLst/>
          </a:prstGeom>
          <a:ln w="3175"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9" name="Straight Connector 58"/>
          <p:cNvCxnSpPr/>
          <p:nvPr/>
        </p:nvCxnSpPr>
        <p:spPr>
          <a:xfrm>
            <a:off x="11890773" y="31159100"/>
            <a:ext cx="9016144" cy="0"/>
          </a:xfrm>
          <a:prstGeom prst="line">
            <a:avLst/>
          </a:prstGeom>
          <a:ln w="3175"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2" name="Rectangle 61"/>
          <p:cNvSpPr/>
          <p:nvPr/>
        </p:nvSpPr>
        <p:spPr>
          <a:xfrm>
            <a:off x="11935527" y="43036874"/>
            <a:ext cx="9089276" cy="74763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t"/>
          <a:lstStyle/>
          <a:p>
            <a:pPr algn="ctr"/>
            <a:r>
              <a:rPr lang="en-US" sz="2031" i="1" dirty="0">
                <a:solidFill>
                  <a:schemeClr val="tx1"/>
                </a:solidFill>
                <a:cs typeface="Arial"/>
              </a:rPr>
              <a:t>Presented at </a:t>
            </a:r>
            <a:r>
              <a:rPr lang="en-US" sz="2031" i="1" dirty="0" err="1">
                <a:solidFill>
                  <a:schemeClr val="tx1"/>
                </a:solidFill>
                <a:cs typeface="Arial"/>
              </a:rPr>
              <a:t>BioProcess</a:t>
            </a:r>
            <a:r>
              <a:rPr lang="en-US" sz="2031" i="1" dirty="0">
                <a:solidFill>
                  <a:schemeClr val="tx1"/>
                </a:solidFill>
                <a:cs typeface="Arial"/>
              </a:rPr>
              <a:t> International, Boston Exhibition and Convention Center, 27-30 September 2022</a:t>
            </a:r>
          </a:p>
        </p:txBody>
      </p:sp>
      <p:sp>
        <p:nvSpPr>
          <p:cNvPr id="67" name="Rectangle 66"/>
          <p:cNvSpPr/>
          <p:nvPr/>
        </p:nvSpPr>
        <p:spPr>
          <a:xfrm>
            <a:off x="2405446" y="43048790"/>
            <a:ext cx="2089489" cy="74763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t"/>
          <a:lstStyle/>
          <a:p>
            <a:r>
              <a:rPr lang="en-US" sz="2031" i="1">
                <a:solidFill>
                  <a:schemeClr val="tx1"/>
                </a:solidFill>
                <a:cs typeface="Arial"/>
              </a:rPr>
              <a:t>Supported by</a:t>
            </a:r>
          </a:p>
        </p:txBody>
      </p:sp>
      <p:pic>
        <p:nvPicPr>
          <p:cNvPr id="69" name="Picture 68"/>
          <p:cNvPicPr>
            <a:picLocks noChangeAspect="1"/>
          </p:cNvPicPr>
          <p:nvPr/>
        </p:nvPicPr>
        <p:blipFill>
          <a:blip r:embed="rId4"/>
          <a:stretch>
            <a:fillRect/>
          </a:stretch>
        </p:blipFill>
        <p:spPr>
          <a:xfrm>
            <a:off x="4679228" y="42772368"/>
            <a:ext cx="2248232" cy="552844"/>
          </a:xfrm>
          <a:prstGeom prst="rect">
            <a:avLst/>
          </a:prstGeom>
        </p:spPr>
      </p:pic>
      <p:pic>
        <p:nvPicPr>
          <p:cNvPr id="54" name="AstraZeneca logo colour">
            <a:extLst>
              <a:ext uri="{FF2B5EF4-FFF2-40B4-BE49-F238E27FC236}">
                <a16:creationId xmlns:a16="http://schemas.microsoft.com/office/drawing/2014/main" id="{6411894F-22D9-4156-8F6B-C57C92DEA1D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2653366" y="2975756"/>
            <a:ext cx="7878026" cy="1962596"/>
          </a:xfrm>
          <a:prstGeom prst="rect">
            <a:avLst/>
          </a:prstGeom>
        </p:spPr>
      </p:pic>
      <p:sp>
        <p:nvSpPr>
          <p:cNvPr id="2" name="TextBox 1">
            <a:extLst>
              <a:ext uri="{FF2B5EF4-FFF2-40B4-BE49-F238E27FC236}">
                <a16:creationId xmlns:a16="http://schemas.microsoft.com/office/drawing/2014/main" id="{9A6BDB91-34BD-439F-B759-1279A84D9EA5}"/>
              </a:ext>
            </a:extLst>
          </p:cNvPr>
          <p:cNvSpPr txBox="1"/>
          <p:nvPr/>
        </p:nvSpPr>
        <p:spPr>
          <a:xfrm>
            <a:off x="2266267" y="4420680"/>
            <a:ext cx="18243431" cy="1074781"/>
          </a:xfrm>
          <a:prstGeom prst="rect">
            <a:avLst/>
          </a:prstGeom>
          <a:noFill/>
        </p:spPr>
        <p:txBody>
          <a:bodyPr wrap="square" rtlCol="0">
            <a:spAutoFit/>
          </a:bodyPr>
          <a:lstStyle/>
          <a:p>
            <a:r>
              <a:rPr lang="en-US" sz="3192" baseline="30000">
                <a:solidFill>
                  <a:schemeClr val="tx2"/>
                </a:solidFill>
              </a:rPr>
              <a:t>1</a:t>
            </a:r>
            <a:r>
              <a:rPr lang="en-US" sz="3192">
                <a:solidFill>
                  <a:schemeClr val="tx2"/>
                </a:solidFill>
              </a:rPr>
              <a:t>BioProcess Technologies &amp; Engineering, BioPharmaceuticals Development, R&amp;D, AstraZeneca, Gaithersburg, MD</a:t>
            </a:r>
          </a:p>
        </p:txBody>
      </p:sp>
      <p:grpSp>
        <p:nvGrpSpPr>
          <p:cNvPr id="5" name="Group 4">
            <a:extLst>
              <a:ext uri="{FF2B5EF4-FFF2-40B4-BE49-F238E27FC236}">
                <a16:creationId xmlns:a16="http://schemas.microsoft.com/office/drawing/2014/main" id="{38F18E89-6B03-4209-8502-16D12FC051F9}"/>
              </a:ext>
            </a:extLst>
          </p:cNvPr>
          <p:cNvGrpSpPr/>
          <p:nvPr/>
        </p:nvGrpSpPr>
        <p:grpSpPr>
          <a:xfrm>
            <a:off x="2249028" y="24183564"/>
            <a:ext cx="9222777" cy="17789306"/>
            <a:chOff x="2153381" y="24480471"/>
            <a:chExt cx="9222777" cy="17789306"/>
          </a:xfrm>
        </p:grpSpPr>
        <p:sp>
          <p:nvSpPr>
            <p:cNvPr id="26" name="Rectangle 25"/>
            <p:cNvSpPr/>
            <p:nvPr/>
          </p:nvSpPr>
          <p:spPr>
            <a:xfrm>
              <a:off x="2153381" y="24480471"/>
              <a:ext cx="9081542" cy="17789306"/>
            </a:xfrm>
            <a:prstGeom prst="rect">
              <a:avLst/>
            </a:prstGeom>
            <a:solidFill>
              <a:schemeClr val="accent1">
                <a:alpha val="15000"/>
              </a:schemeClr>
            </a:solidFill>
            <a:ln>
              <a:noFill/>
            </a:ln>
            <a:effectLst/>
          </p:spPr>
          <p:style>
            <a:lnRef idx="1">
              <a:schemeClr val="accent1"/>
            </a:lnRef>
            <a:fillRef idx="3">
              <a:schemeClr val="accent1"/>
            </a:fillRef>
            <a:effectRef idx="2">
              <a:schemeClr val="accent1"/>
            </a:effectRef>
            <a:fontRef idx="minor">
              <a:schemeClr val="lt1"/>
            </a:fontRef>
          </p:style>
          <p:txBody>
            <a:bodyPr lIns="208949" tIns="208949" rIns="208949" bIns="208949" rtlCol="0" anchor="t"/>
            <a:lstStyle/>
            <a:p>
              <a:pPr marL="457200" indent="-457200" algn="just" defTabSz="2074863">
                <a:buFont typeface="Arial" panose="020B0604020202020204" pitchFamily="34" charset="0"/>
                <a:buChar char="•"/>
              </a:pPr>
              <a:r>
                <a:rPr lang="en-US" sz="3192" dirty="0">
                  <a:solidFill>
                    <a:schemeClr val="tx1"/>
                  </a:solidFill>
                  <a:latin typeface="Arial"/>
                  <a:cs typeface="Arial"/>
                </a:rPr>
                <a:t>Micelles, which are particulates formed from antifoam and/or cell debris, are common in perfusion culture and can be mis-identified as live or dead cells by cell counting instruments depending on the cell counter method.</a:t>
              </a:r>
            </a:p>
            <a:p>
              <a:pPr marL="457200" indent="-457200" algn="just">
                <a:buFont typeface="Arial" panose="020B0604020202020204" pitchFamily="34" charset="0"/>
                <a:buChar char="•"/>
              </a:pPr>
              <a:endParaRPr lang="en-US" sz="3192" dirty="0">
                <a:solidFill>
                  <a:schemeClr val="tx1"/>
                </a:solidFill>
                <a:latin typeface="Arial"/>
                <a:cs typeface="Arial"/>
              </a:endParaRPr>
            </a:p>
            <a:p>
              <a:pPr marL="457200" indent="-457200" algn="just">
                <a:buFont typeface="Arial" panose="020B0604020202020204" pitchFamily="34" charset="0"/>
                <a:buChar char="•"/>
              </a:pPr>
              <a:endParaRPr lang="en-US" sz="3192" dirty="0">
                <a:solidFill>
                  <a:schemeClr val="tx1"/>
                </a:solidFill>
                <a:latin typeface="Arial"/>
                <a:cs typeface="Arial"/>
              </a:endParaRPr>
            </a:p>
            <a:p>
              <a:pPr marL="457200" indent="-457200" algn="just">
                <a:buFont typeface="Arial" panose="020B0604020202020204" pitchFamily="34" charset="0"/>
                <a:buChar char="•"/>
              </a:pPr>
              <a:endParaRPr lang="en-US" sz="3192" dirty="0">
                <a:solidFill>
                  <a:schemeClr val="tx1"/>
                </a:solidFill>
                <a:latin typeface="Arial"/>
                <a:cs typeface="Arial"/>
              </a:endParaRPr>
            </a:p>
            <a:p>
              <a:pPr marL="457200" indent="-457200" algn="just">
                <a:buFont typeface="Arial" panose="020B0604020202020204" pitchFamily="34" charset="0"/>
                <a:buChar char="•"/>
              </a:pPr>
              <a:endParaRPr lang="en-US" sz="3192" dirty="0">
                <a:solidFill>
                  <a:schemeClr val="tx1"/>
                </a:solidFill>
                <a:latin typeface="Arial"/>
                <a:cs typeface="Arial"/>
              </a:endParaRPr>
            </a:p>
            <a:p>
              <a:pPr marL="457200" indent="-457200" algn="just">
                <a:buFont typeface="Arial" panose="020B0604020202020204" pitchFamily="34" charset="0"/>
                <a:buChar char="•"/>
              </a:pPr>
              <a:endParaRPr lang="en-US" sz="3192" dirty="0">
                <a:solidFill>
                  <a:schemeClr val="tx1"/>
                </a:solidFill>
                <a:latin typeface="Arial"/>
                <a:cs typeface="Arial"/>
              </a:endParaRPr>
            </a:p>
            <a:p>
              <a:pPr marL="457200" indent="-457200" algn="just">
                <a:buFont typeface="Arial" panose="020B0604020202020204" pitchFamily="34" charset="0"/>
                <a:buChar char="•"/>
              </a:pPr>
              <a:endParaRPr lang="en-US" sz="3192" dirty="0">
                <a:solidFill>
                  <a:schemeClr val="tx1"/>
                </a:solidFill>
                <a:latin typeface="Arial"/>
                <a:cs typeface="Arial"/>
              </a:endParaRPr>
            </a:p>
            <a:p>
              <a:pPr marL="457200" indent="-457200" algn="just">
                <a:buFont typeface="Arial" panose="020B0604020202020204" pitchFamily="34" charset="0"/>
                <a:buChar char="•"/>
              </a:pPr>
              <a:endParaRPr lang="en-US" sz="3192" dirty="0">
                <a:solidFill>
                  <a:schemeClr val="tx1"/>
                </a:solidFill>
                <a:latin typeface="Arial"/>
                <a:cs typeface="Arial"/>
              </a:endParaRPr>
            </a:p>
            <a:p>
              <a:pPr marL="457200" indent="-457200" algn="just">
                <a:buFont typeface="Arial" panose="020B0604020202020204" pitchFamily="34" charset="0"/>
                <a:buChar char="•"/>
              </a:pPr>
              <a:endParaRPr lang="en-US" sz="3192" dirty="0">
                <a:solidFill>
                  <a:schemeClr val="tx1"/>
                </a:solidFill>
                <a:latin typeface="Arial"/>
                <a:cs typeface="Arial"/>
              </a:endParaRPr>
            </a:p>
            <a:p>
              <a:pPr marL="457200" indent="-457200" algn="just">
                <a:buFont typeface="Arial" panose="020B0604020202020204" pitchFamily="34" charset="0"/>
                <a:buChar char="•"/>
              </a:pPr>
              <a:endParaRPr lang="en-US" sz="3192" dirty="0">
                <a:solidFill>
                  <a:schemeClr val="tx1"/>
                </a:solidFill>
                <a:latin typeface="Arial"/>
                <a:cs typeface="Arial"/>
              </a:endParaRPr>
            </a:p>
            <a:p>
              <a:pPr marL="457200" indent="-457200" algn="just">
                <a:buFont typeface="Arial" panose="020B0604020202020204" pitchFamily="34" charset="0"/>
                <a:buChar char="•"/>
              </a:pPr>
              <a:endParaRPr lang="en-US" sz="3192" dirty="0">
                <a:solidFill>
                  <a:schemeClr val="tx1"/>
                </a:solidFill>
                <a:latin typeface="Arial"/>
                <a:cs typeface="Arial"/>
              </a:endParaRPr>
            </a:p>
            <a:p>
              <a:pPr marL="457200" indent="-457200" algn="just">
                <a:buFont typeface="Arial" panose="020B0604020202020204" pitchFamily="34" charset="0"/>
                <a:buChar char="•"/>
              </a:pPr>
              <a:endParaRPr lang="en-US" sz="3192" dirty="0">
                <a:solidFill>
                  <a:schemeClr val="tx1"/>
                </a:solidFill>
                <a:latin typeface="Arial"/>
                <a:cs typeface="Arial"/>
              </a:endParaRPr>
            </a:p>
            <a:p>
              <a:pPr marL="457200" indent="-457200" algn="just">
                <a:buFont typeface="Arial" panose="020B0604020202020204" pitchFamily="34" charset="0"/>
                <a:buChar char="•"/>
              </a:pPr>
              <a:endParaRPr lang="en-US" sz="3192" dirty="0">
                <a:solidFill>
                  <a:schemeClr val="tx1"/>
                </a:solidFill>
                <a:latin typeface="Arial"/>
                <a:cs typeface="Arial"/>
              </a:endParaRPr>
            </a:p>
            <a:p>
              <a:pPr marL="457200" indent="-457200" algn="just">
                <a:buFont typeface="Arial" panose="020B0604020202020204" pitchFamily="34" charset="0"/>
                <a:buChar char="•"/>
              </a:pPr>
              <a:endParaRPr lang="en-US" sz="3192" dirty="0">
                <a:solidFill>
                  <a:schemeClr val="tx1"/>
                </a:solidFill>
                <a:latin typeface="Arial"/>
                <a:cs typeface="Arial"/>
              </a:endParaRPr>
            </a:p>
            <a:p>
              <a:pPr marL="457200" indent="-457200" algn="just">
                <a:buFont typeface="Arial" panose="020B0604020202020204" pitchFamily="34" charset="0"/>
                <a:buChar char="•"/>
              </a:pPr>
              <a:endParaRPr lang="en-US" sz="3192" dirty="0">
                <a:solidFill>
                  <a:schemeClr val="tx1"/>
                </a:solidFill>
                <a:latin typeface="Arial"/>
                <a:cs typeface="Arial"/>
              </a:endParaRPr>
            </a:p>
            <a:p>
              <a:pPr marL="457200" indent="-457200" algn="just">
                <a:buFont typeface="Arial" panose="020B0604020202020204" pitchFamily="34" charset="0"/>
                <a:buChar char="•"/>
              </a:pPr>
              <a:endParaRPr lang="en-US" sz="3192" dirty="0">
                <a:solidFill>
                  <a:schemeClr val="tx1"/>
                </a:solidFill>
                <a:latin typeface="Arial"/>
                <a:cs typeface="Arial"/>
              </a:endParaRPr>
            </a:p>
            <a:p>
              <a:pPr marL="457200" indent="-457200" algn="just">
                <a:buFont typeface="Arial" panose="020B0604020202020204" pitchFamily="34" charset="0"/>
                <a:buChar char="•"/>
              </a:pPr>
              <a:endParaRPr lang="en-US" sz="3192" dirty="0">
                <a:solidFill>
                  <a:schemeClr val="tx1"/>
                </a:solidFill>
                <a:latin typeface="Arial"/>
                <a:cs typeface="Arial"/>
              </a:endParaRPr>
            </a:p>
            <a:p>
              <a:pPr marL="457200" indent="-457200" algn="just">
                <a:spcAft>
                  <a:spcPts val="600"/>
                </a:spcAft>
                <a:buFont typeface="Arial" panose="020B0604020202020204" pitchFamily="34" charset="0"/>
                <a:buChar char="•"/>
              </a:pPr>
              <a:r>
                <a:rPr lang="en-US" sz="3192" dirty="0">
                  <a:solidFill>
                    <a:schemeClr val="tx1"/>
                  </a:solidFill>
                  <a:latin typeface="Arial"/>
                  <a:cs typeface="Arial"/>
                </a:rPr>
                <a:t>Micelles were observed to substantially impact the Vi-CELL XR end-of-run VCD by up to or greater than 100% in some cases</a:t>
              </a:r>
            </a:p>
            <a:p>
              <a:pPr marL="457200" indent="-457200" algn="just">
                <a:spcAft>
                  <a:spcPts val="600"/>
                </a:spcAft>
                <a:buFont typeface="Arial" panose="020B0604020202020204" pitchFamily="34" charset="0"/>
                <a:buChar char="•"/>
              </a:pPr>
              <a:r>
                <a:rPr lang="en-US" sz="3192" dirty="0">
                  <a:solidFill>
                    <a:schemeClr val="tx1"/>
                  </a:solidFill>
                  <a:latin typeface="Arial"/>
                  <a:cs typeface="Arial"/>
                </a:rPr>
                <a:t>Inaccurate VCD measurements can impact peak VCD, end-of-run VCD and viability, as well as apparent per-cell productivity and cell-based feeding strategies. They also make it difficult to replicate growth curves between bioreactors and experiments and across types of cell count analyzers</a:t>
              </a:r>
            </a:p>
            <a:p>
              <a:pPr marL="457200" indent="-457200" algn="just">
                <a:spcAft>
                  <a:spcPts val="600"/>
                </a:spcAft>
                <a:buFont typeface="Arial" panose="020B0604020202020204" pitchFamily="34" charset="0"/>
                <a:buChar char="•"/>
              </a:pPr>
              <a:r>
                <a:rPr lang="en-US" sz="3192" dirty="0">
                  <a:solidFill>
                    <a:schemeClr val="tx1"/>
                  </a:solidFill>
                  <a:latin typeface="Arial"/>
                  <a:cs typeface="Arial"/>
                </a:rPr>
                <a:t>Through repeated reanalysis of CHO cell line experiments, a mew method was created for the Vi-CELL XR to bring VCD measurements within </a:t>
              </a:r>
              <a:r>
                <a:rPr lang="en-US" sz="3192" dirty="0">
                  <a:solidFill>
                    <a:schemeClr val="tx1"/>
                  </a:solidFill>
                  <a:latin typeface="Arial"/>
                  <a:cs typeface="Arial"/>
                  <a:sym typeface="Symbol" panose="05050102010706020507" pitchFamily="18" charset="2"/>
                </a:rPr>
                <a:t>15%</a:t>
              </a:r>
              <a:r>
                <a:rPr lang="en-US" sz="3192" dirty="0">
                  <a:solidFill>
                    <a:schemeClr val="tx1"/>
                  </a:solidFill>
                  <a:latin typeface="Arial"/>
                  <a:cs typeface="Arial"/>
                </a:rPr>
                <a:t> of the </a:t>
              </a:r>
              <a:r>
                <a:rPr lang="en-US" sz="3192" dirty="0" err="1">
                  <a:solidFill>
                    <a:schemeClr val="tx1"/>
                  </a:solidFill>
                  <a:latin typeface="Arial"/>
                  <a:cs typeface="Arial"/>
                </a:rPr>
                <a:t>BioProfile</a:t>
              </a:r>
              <a:r>
                <a:rPr lang="en-US" sz="3192" dirty="0">
                  <a:solidFill>
                    <a:schemeClr val="tx1"/>
                  </a:solidFill>
                  <a:latin typeface="Arial"/>
                  <a:cs typeface="Arial"/>
                </a:rPr>
                <a:t>® FLEX2</a:t>
              </a:r>
            </a:p>
            <a:p>
              <a:pPr algn="just"/>
              <a:endParaRPr lang="en-US" sz="3192" dirty="0">
                <a:solidFill>
                  <a:schemeClr val="tx1"/>
                </a:solidFill>
                <a:latin typeface="Arial"/>
                <a:cs typeface="Arial"/>
              </a:endParaRPr>
            </a:p>
            <a:p>
              <a:pPr algn="just"/>
              <a:endParaRPr lang="en-US" sz="3192" dirty="0">
                <a:solidFill>
                  <a:schemeClr val="tx1"/>
                </a:solidFill>
                <a:latin typeface="Arial"/>
                <a:cs typeface="Arial"/>
              </a:endParaRPr>
            </a:p>
          </p:txBody>
        </p:sp>
        <p:sp>
          <p:nvSpPr>
            <p:cNvPr id="30" name="Rectangle 29"/>
            <p:cNvSpPr/>
            <p:nvPr/>
          </p:nvSpPr>
          <p:spPr>
            <a:xfrm>
              <a:off x="2360014" y="33261169"/>
              <a:ext cx="9016144" cy="122035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t"/>
            <a:lstStyle/>
            <a:p>
              <a:pPr algn="ctr"/>
              <a:r>
                <a:rPr lang="en-US" sz="2612" dirty="0">
                  <a:solidFill>
                    <a:schemeClr val="tx1"/>
                  </a:solidFill>
                  <a:cs typeface="Arial"/>
                </a:rPr>
                <a:t>Fig 1. Image from Vi-CELL XR: live cells are marked in green, dead cells are marked in red, and micelles that were originally counted as live or dead cells are marked in blue</a:t>
              </a:r>
            </a:p>
          </p:txBody>
        </p:sp>
        <p:grpSp>
          <p:nvGrpSpPr>
            <p:cNvPr id="4" name="Group 3">
              <a:extLst>
                <a:ext uri="{FF2B5EF4-FFF2-40B4-BE49-F238E27FC236}">
                  <a16:creationId xmlns:a16="http://schemas.microsoft.com/office/drawing/2014/main" id="{DEEBDD10-98AE-4CB4-AF20-8F01CA740631}"/>
                </a:ext>
              </a:extLst>
            </p:cNvPr>
            <p:cNvGrpSpPr/>
            <p:nvPr/>
          </p:nvGrpSpPr>
          <p:grpSpPr>
            <a:xfrm>
              <a:off x="2485291" y="27337654"/>
              <a:ext cx="8523840" cy="5660384"/>
              <a:chOff x="4047773" y="14644663"/>
              <a:chExt cx="4991100" cy="3419475"/>
            </a:xfrm>
          </p:grpSpPr>
          <p:pic>
            <p:nvPicPr>
              <p:cNvPr id="48" name="Picture 47">
                <a:extLst>
                  <a:ext uri="{FF2B5EF4-FFF2-40B4-BE49-F238E27FC236}">
                    <a16:creationId xmlns:a16="http://schemas.microsoft.com/office/drawing/2014/main" id="{EE4D716C-01B2-4A4C-BE6B-7F8A1ED2DA4E}"/>
                  </a:ext>
                </a:extLst>
              </p:cNvPr>
              <p:cNvPicPr>
                <a:picLocks noChangeAspect="1"/>
              </p:cNvPicPr>
              <p:nvPr/>
            </p:nvPicPr>
            <p:blipFill>
              <a:blip r:embed="rId7"/>
              <a:stretch>
                <a:fillRect/>
              </a:stretch>
            </p:blipFill>
            <p:spPr>
              <a:xfrm>
                <a:off x="4047773" y="14644663"/>
                <a:ext cx="4991100" cy="3419475"/>
              </a:xfrm>
              <a:prstGeom prst="rect">
                <a:avLst/>
              </a:prstGeom>
            </p:spPr>
          </p:pic>
          <p:grpSp>
            <p:nvGrpSpPr>
              <p:cNvPr id="55" name="Group 54">
                <a:extLst>
                  <a:ext uri="{FF2B5EF4-FFF2-40B4-BE49-F238E27FC236}">
                    <a16:creationId xmlns:a16="http://schemas.microsoft.com/office/drawing/2014/main" id="{62EA2D21-7481-4556-B0B4-D81FB94C44B6}"/>
                  </a:ext>
                </a:extLst>
              </p:cNvPr>
              <p:cNvGrpSpPr/>
              <p:nvPr/>
            </p:nvGrpSpPr>
            <p:grpSpPr>
              <a:xfrm>
                <a:off x="4126438" y="14927156"/>
                <a:ext cx="4848096" cy="3129337"/>
                <a:chOff x="6234726" y="2059062"/>
                <a:chExt cx="4848096" cy="3129337"/>
              </a:xfrm>
            </p:grpSpPr>
            <p:sp>
              <p:nvSpPr>
                <p:cNvPr id="56" name="Oval 55">
                  <a:extLst>
                    <a:ext uri="{FF2B5EF4-FFF2-40B4-BE49-F238E27FC236}">
                      <a16:creationId xmlns:a16="http://schemas.microsoft.com/office/drawing/2014/main" id="{E090AA32-BC19-4330-9454-377B3B77A2D9}"/>
                    </a:ext>
                  </a:extLst>
                </p:cNvPr>
                <p:cNvSpPr/>
                <p:nvPr/>
              </p:nvSpPr>
              <p:spPr>
                <a:xfrm>
                  <a:off x="8556148" y="2891389"/>
                  <a:ext cx="210990" cy="210990"/>
                </a:xfrm>
                <a:prstGeom prst="ellipse">
                  <a:avLst/>
                </a:prstGeom>
                <a:noFill/>
                <a:ln>
                  <a:solidFill>
                    <a:srgbClr val="50E6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spcAft>
                      <a:spcPts val="600"/>
                    </a:spcAft>
                  </a:pPr>
                  <a:endParaRPr lang="en-US" err="1"/>
                </a:p>
              </p:txBody>
            </p:sp>
            <p:sp>
              <p:nvSpPr>
                <p:cNvPr id="60" name="Oval 59">
                  <a:extLst>
                    <a:ext uri="{FF2B5EF4-FFF2-40B4-BE49-F238E27FC236}">
                      <a16:creationId xmlns:a16="http://schemas.microsoft.com/office/drawing/2014/main" id="{E22ECAE4-E7A7-4493-A4A0-E97AE906CA16}"/>
                    </a:ext>
                  </a:extLst>
                </p:cNvPr>
                <p:cNvSpPr/>
                <p:nvPr/>
              </p:nvSpPr>
              <p:spPr>
                <a:xfrm>
                  <a:off x="7504179" y="2502152"/>
                  <a:ext cx="210990" cy="210990"/>
                </a:xfrm>
                <a:prstGeom prst="ellipse">
                  <a:avLst/>
                </a:prstGeom>
                <a:noFill/>
                <a:ln>
                  <a:solidFill>
                    <a:srgbClr val="50E6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spcAft>
                      <a:spcPts val="600"/>
                    </a:spcAft>
                  </a:pPr>
                  <a:endParaRPr lang="en-US" err="1"/>
                </a:p>
              </p:txBody>
            </p:sp>
            <p:sp>
              <p:nvSpPr>
                <p:cNvPr id="61" name="Oval 60">
                  <a:extLst>
                    <a:ext uri="{FF2B5EF4-FFF2-40B4-BE49-F238E27FC236}">
                      <a16:creationId xmlns:a16="http://schemas.microsoft.com/office/drawing/2014/main" id="{2B58141D-10D0-48F6-B8FC-47AEC0F1F738}"/>
                    </a:ext>
                  </a:extLst>
                </p:cNvPr>
                <p:cNvSpPr/>
                <p:nvPr/>
              </p:nvSpPr>
              <p:spPr>
                <a:xfrm>
                  <a:off x="7677502" y="3163406"/>
                  <a:ext cx="228600" cy="228600"/>
                </a:xfrm>
                <a:prstGeom prst="ellipse">
                  <a:avLst/>
                </a:prstGeom>
                <a:noFill/>
                <a:ln>
                  <a:solidFill>
                    <a:srgbClr val="50E6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spcAft>
                      <a:spcPts val="600"/>
                    </a:spcAft>
                  </a:pPr>
                  <a:endParaRPr lang="en-US" err="1"/>
                </a:p>
              </p:txBody>
            </p:sp>
            <p:sp>
              <p:nvSpPr>
                <p:cNvPr id="63" name="Oval 62">
                  <a:extLst>
                    <a:ext uri="{FF2B5EF4-FFF2-40B4-BE49-F238E27FC236}">
                      <a16:creationId xmlns:a16="http://schemas.microsoft.com/office/drawing/2014/main" id="{B7FC8521-567A-4FAB-82D2-687563451E4C}"/>
                    </a:ext>
                  </a:extLst>
                </p:cNvPr>
                <p:cNvSpPr/>
                <p:nvPr/>
              </p:nvSpPr>
              <p:spPr>
                <a:xfrm>
                  <a:off x="6234726" y="3761301"/>
                  <a:ext cx="219456" cy="219456"/>
                </a:xfrm>
                <a:prstGeom prst="ellipse">
                  <a:avLst/>
                </a:prstGeom>
                <a:noFill/>
                <a:ln>
                  <a:solidFill>
                    <a:srgbClr val="50E6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spcAft>
                      <a:spcPts val="600"/>
                    </a:spcAft>
                  </a:pPr>
                  <a:endParaRPr lang="en-US" err="1"/>
                </a:p>
              </p:txBody>
            </p:sp>
            <p:sp>
              <p:nvSpPr>
                <p:cNvPr id="64" name="Oval 63">
                  <a:extLst>
                    <a:ext uri="{FF2B5EF4-FFF2-40B4-BE49-F238E27FC236}">
                      <a16:creationId xmlns:a16="http://schemas.microsoft.com/office/drawing/2014/main" id="{EEDBE8C8-3E44-420F-B3D2-A27597CED15C}"/>
                    </a:ext>
                  </a:extLst>
                </p:cNvPr>
                <p:cNvSpPr/>
                <p:nvPr/>
              </p:nvSpPr>
              <p:spPr>
                <a:xfrm>
                  <a:off x="7154593" y="4373935"/>
                  <a:ext cx="219456" cy="219456"/>
                </a:xfrm>
                <a:prstGeom prst="ellipse">
                  <a:avLst/>
                </a:prstGeom>
                <a:noFill/>
                <a:ln>
                  <a:solidFill>
                    <a:srgbClr val="50E6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spcAft>
                      <a:spcPts val="600"/>
                    </a:spcAft>
                  </a:pPr>
                  <a:endParaRPr lang="en-US" err="1"/>
                </a:p>
              </p:txBody>
            </p:sp>
            <p:sp>
              <p:nvSpPr>
                <p:cNvPr id="70" name="Oval 69">
                  <a:extLst>
                    <a:ext uri="{FF2B5EF4-FFF2-40B4-BE49-F238E27FC236}">
                      <a16:creationId xmlns:a16="http://schemas.microsoft.com/office/drawing/2014/main" id="{6C934436-B265-46EF-9D76-F4825375223F}"/>
                    </a:ext>
                  </a:extLst>
                </p:cNvPr>
                <p:cNvSpPr/>
                <p:nvPr/>
              </p:nvSpPr>
              <p:spPr>
                <a:xfrm>
                  <a:off x="9721539" y="3788767"/>
                  <a:ext cx="219456" cy="219456"/>
                </a:xfrm>
                <a:prstGeom prst="ellipse">
                  <a:avLst/>
                </a:prstGeom>
                <a:noFill/>
                <a:ln>
                  <a:solidFill>
                    <a:srgbClr val="50E6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spcAft>
                      <a:spcPts val="600"/>
                    </a:spcAft>
                  </a:pPr>
                  <a:endParaRPr lang="en-US" err="1"/>
                </a:p>
              </p:txBody>
            </p:sp>
            <p:sp>
              <p:nvSpPr>
                <p:cNvPr id="72" name="Oval 71">
                  <a:extLst>
                    <a:ext uri="{FF2B5EF4-FFF2-40B4-BE49-F238E27FC236}">
                      <a16:creationId xmlns:a16="http://schemas.microsoft.com/office/drawing/2014/main" id="{2CA2D0BE-DF25-4CE6-8909-E46025FC72AE}"/>
                    </a:ext>
                  </a:extLst>
                </p:cNvPr>
                <p:cNvSpPr/>
                <p:nvPr/>
              </p:nvSpPr>
              <p:spPr>
                <a:xfrm>
                  <a:off x="10225826" y="4160779"/>
                  <a:ext cx="219456" cy="219456"/>
                </a:xfrm>
                <a:prstGeom prst="ellipse">
                  <a:avLst/>
                </a:prstGeom>
                <a:noFill/>
                <a:ln>
                  <a:solidFill>
                    <a:srgbClr val="50E6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spcAft>
                      <a:spcPts val="600"/>
                    </a:spcAft>
                  </a:pPr>
                  <a:endParaRPr lang="en-US" err="1"/>
                </a:p>
              </p:txBody>
            </p:sp>
            <p:sp>
              <p:nvSpPr>
                <p:cNvPr id="73" name="Oval 72">
                  <a:extLst>
                    <a:ext uri="{FF2B5EF4-FFF2-40B4-BE49-F238E27FC236}">
                      <a16:creationId xmlns:a16="http://schemas.microsoft.com/office/drawing/2014/main" id="{872A19EB-645C-4823-9495-4D4FFDBB955E}"/>
                    </a:ext>
                  </a:extLst>
                </p:cNvPr>
                <p:cNvSpPr/>
                <p:nvPr/>
              </p:nvSpPr>
              <p:spPr>
                <a:xfrm>
                  <a:off x="10209261" y="4817334"/>
                  <a:ext cx="228600" cy="228600"/>
                </a:xfrm>
                <a:prstGeom prst="ellipse">
                  <a:avLst/>
                </a:prstGeom>
                <a:noFill/>
                <a:ln>
                  <a:solidFill>
                    <a:srgbClr val="50E6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spcAft>
                      <a:spcPts val="600"/>
                    </a:spcAft>
                  </a:pPr>
                  <a:endParaRPr lang="en-US" err="1"/>
                </a:p>
              </p:txBody>
            </p:sp>
            <p:sp>
              <p:nvSpPr>
                <p:cNvPr id="74" name="Oval 73">
                  <a:extLst>
                    <a:ext uri="{FF2B5EF4-FFF2-40B4-BE49-F238E27FC236}">
                      <a16:creationId xmlns:a16="http://schemas.microsoft.com/office/drawing/2014/main" id="{4311231A-5560-4384-9EA8-C6FB0FBE7616}"/>
                    </a:ext>
                  </a:extLst>
                </p:cNvPr>
                <p:cNvSpPr/>
                <p:nvPr/>
              </p:nvSpPr>
              <p:spPr>
                <a:xfrm>
                  <a:off x="9240760" y="4968943"/>
                  <a:ext cx="219456" cy="219456"/>
                </a:xfrm>
                <a:prstGeom prst="ellipse">
                  <a:avLst/>
                </a:prstGeom>
                <a:noFill/>
                <a:ln>
                  <a:solidFill>
                    <a:srgbClr val="50E6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spcAft>
                      <a:spcPts val="600"/>
                    </a:spcAft>
                  </a:pPr>
                  <a:endParaRPr lang="en-US" err="1"/>
                </a:p>
              </p:txBody>
            </p:sp>
            <p:sp>
              <p:nvSpPr>
                <p:cNvPr id="75" name="Oval 74">
                  <a:extLst>
                    <a:ext uri="{FF2B5EF4-FFF2-40B4-BE49-F238E27FC236}">
                      <a16:creationId xmlns:a16="http://schemas.microsoft.com/office/drawing/2014/main" id="{4183E281-0F29-4930-A2A1-C82AFD435CA6}"/>
                    </a:ext>
                  </a:extLst>
                </p:cNvPr>
                <p:cNvSpPr/>
                <p:nvPr/>
              </p:nvSpPr>
              <p:spPr>
                <a:xfrm>
                  <a:off x="8572378" y="4498786"/>
                  <a:ext cx="228600" cy="228600"/>
                </a:xfrm>
                <a:prstGeom prst="ellipse">
                  <a:avLst/>
                </a:prstGeom>
                <a:noFill/>
                <a:ln>
                  <a:solidFill>
                    <a:srgbClr val="50E6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spcAft>
                      <a:spcPts val="600"/>
                    </a:spcAft>
                  </a:pPr>
                  <a:endParaRPr lang="en-US" err="1"/>
                </a:p>
              </p:txBody>
            </p:sp>
            <p:sp>
              <p:nvSpPr>
                <p:cNvPr id="76" name="Oval 75">
                  <a:extLst>
                    <a:ext uri="{FF2B5EF4-FFF2-40B4-BE49-F238E27FC236}">
                      <a16:creationId xmlns:a16="http://schemas.microsoft.com/office/drawing/2014/main" id="{913727A9-B49D-457E-A47D-92122C324DBD}"/>
                    </a:ext>
                  </a:extLst>
                </p:cNvPr>
                <p:cNvSpPr/>
                <p:nvPr/>
              </p:nvSpPr>
              <p:spPr>
                <a:xfrm>
                  <a:off x="8608089" y="2229353"/>
                  <a:ext cx="228600" cy="228600"/>
                </a:xfrm>
                <a:prstGeom prst="ellipse">
                  <a:avLst/>
                </a:prstGeom>
                <a:noFill/>
                <a:ln>
                  <a:solidFill>
                    <a:srgbClr val="50E6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spcAft>
                      <a:spcPts val="600"/>
                    </a:spcAft>
                  </a:pPr>
                  <a:endParaRPr lang="en-US" err="1"/>
                </a:p>
              </p:txBody>
            </p:sp>
            <p:sp>
              <p:nvSpPr>
                <p:cNvPr id="77" name="Oval 76">
                  <a:extLst>
                    <a:ext uri="{FF2B5EF4-FFF2-40B4-BE49-F238E27FC236}">
                      <a16:creationId xmlns:a16="http://schemas.microsoft.com/office/drawing/2014/main" id="{8B64440D-6D5A-4D30-8AFB-4231CE638EF0}"/>
                    </a:ext>
                  </a:extLst>
                </p:cNvPr>
                <p:cNvSpPr/>
                <p:nvPr/>
              </p:nvSpPr>
              <p:spPr>
                <a:xfrm>
                  <a:off x="10671342" y="3100186"/>
                  <a:ext cx="192024" cy="192024"/>
                </a:xfrm>
                <a:prstGeom prst="ellipse">
                  <a:avLst/>
                </a:prstGeom>
                <a:noFill/>
                <a:ln>
                  <a:solidFill>
                    <a:srgbClr val="50E6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spcAft>
                      <a:spcPts val="600"/>
                    </a:spcAft>
                  </a:pPr>
                  <a:endParaRPr lang="en-US" err="1"/>
                </a:p>
              </p:txBody>
            </p:sp>
            <p:sp>
              <p:nvSpPr>
                <p:cNvPr id="78" name="Oval 77">
                  <a:extLst>
                    <a:ext uri="{FF2B5EF4-FFF2-40B4-BE49-F238E27FC236}">
                      <a16:creationId xmlns:a16="http://schemas.microsoft.com/office/drawing/2014/main" id="{CDEDC75C-BC9C-4B51-91E0-16FFF6BCD04A}"/>
                    </a:ext>
                  </a:extLst>
                </p:cNvPr>
                <p:cNvSpPr/>
                <p:nvPr/>
              </p:nvSpPr>
              <p:spPr>
                <a:xfrm>
                  <a:off x="8763213" y="2150867"/>
                  <a:ext cx="192024" cy="192024"/>
                </a:xfrm>
                <a:prstGeom prst="ellipse">
                  <a:avLst/>
                </a:prstGeom>
                <a:noFill/>
                <a:ln>
                  <a:solidFill>
                    <a:srgbClr val="50E6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spcAft>
                      <a:spcPts val="600"/>
                    </a:spcAft>
                  </a:pPr>
                  <a:endParaRPr lang="en-US" err="1"/>
                </a:p>
              </p:txBody>
            </p:sp>
            <p:sp>
              <p:nvSpPr>
                <p:cNvPr id="79" name="Oval 78">
                  <a:extLst>
                    <a:ext uri="{FF2B5EF4-FFF2-40B4-BE49-F238E27FC236}">
                      <a16:creationId xmlns:a16="http://schemas.microsoft.com/office/drawing/2014/main" id="{BEA119B3-C0D6-40EE-8BFA-80BFAAB243E1}"/>
                    </a:ext>
                  </a:extLst>
                </p:cNvPr>
                <p:cNvSpPr/>
                <p:nvPr/>
              </p:nvSpPr>
              <p:spPr>
                <a:xfrm>
                  <a:off x="6605558" y="2059062"/>
                  <a:ext cx="192024" cy="192024"/>
                </a:xfrm>
                <a:prstGeom prst="ellipse">
                  <a:avLst/>
                </a:prstGeom>
                <a:noFill/>
                <a:ln>
                  <a:solidFill>
                    <a:srgbClr val="50E6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spcAft>
                      <a:spcPts val="600"/>
                    </a:spcAft>
                  </a:pPr>
                  <a:endParaRPr lang="en-US" err="1"/>
                </a:p>
              </p:txBody>
            </p:sp>
            <p:sp>
              <p:nvSpPr>
                <p:cNvPr id="80" name="Oval 79">
                  <a:extLst>
                    <a:ext uri="{FF2B5EF4-FFF2-40B4-BE49-F238E27FC236}">
                      <a16:creationId xmlns:a16="http://schemas.microsoft.com/office/drawing/2014/main" id="{5D9D15DE-27BE-470B-BF88-5EDED992A71A}"/>
                    </a:ext>
                  </a:extLst>
                </p:cNvPr>
                <p:cNvSpPr>
                  <a:spLocks noChangeAspect="1"/>
                </p:cNvSpPr>
                <p:nvPr/>
              </p:nvSpPr>
              <p:spPr>
                <a:xfrm>
                  <a:off x="6604322" y="4018240"/>
                  <a:ext cx="210312" cy="210312"/>
                </a:xfrm>
                <a:prstGeom prst="ellipse">
                  <a:avLst/>
                </a:prstGeom>
                <a:noFill/>
                <a:ln>
                  <a:solidFill>
                    <a:srgbClr val="50E6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spcAft>
                      <a:spcPts val="600"/>
                    </a:spcAft>
                  </a:pPr>
                  <a:endParaRPr lang="en-US" err="1"/>
                </a:p>
              </p:txBody>
            </p:sp>
            <p:sp>
              <p:nvSpPr>
                <p:cNvPr id="81" name="Oval 80">
                  <a:extLst>
                    <a:ext uri="{FF2B5EF4-FFF2-40B4-BE49-F238E27FC236}">
                      <a16:creationId xmlns:a16="http://schemas.microsoft.com/office/drawing/2014/main" id="{9BB3173C-CBC4-469E-B104-9702071F4D91}"/>
                    </a:ext>
                  </a:extLst>
                </p:cNvPr>
                <p:cNvSpPr/>
                <p:nvPr/>
              </p:nvSpPr>
              <p:spPr>
                <a:xfrm>
                  <a:off x="9250007" y="3504602"/>
                  <a:ext cx="214359" cy="219456"/>
                </a:xfrm>
                <a:prstGeom prst="ellipse">
                  <a:avLst/>
                </a:prstGeom>
                <a:noFill/>
                <a:ln>
                  <a:solidFill>
                    <a:srgbClr val="50E6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spcAft>
                      <a:spcPts val="600"/>
                    </a:spcAft>
                  </a:pPr>
                  <a:endParaRPr lang="en-US" err="1"/>
                </a:p>
              </p:txBody>
            </p:sp>
            <p:sp>
              <p:nvSpPr>
                <p:cNvPr id="82" name="Oval 81">
                  <a:extLst>
                    <a:ext uri="{FF2B5EF4-FFF2-40B4-BE49-F238E27FC236}">
                      <a16:creationId xmlns:a16="http://schemas.microsoft.com/office/drawing/2014/main" id="{66EB20FC-6C66-492D-847A-9C1D52EDEF8B}"/>
                    </a:ext>
                  </a:extLst>
                </p:cNvPr>
                <p:cNvSpPr/>
                <p:nvPr/>
              </p:nvSpPr>
              <p:spPr>
                <a:xfrm>
                  <a:off x="10863366" y="4906426"/>
                  <a:ext cx="219456" cy="219456"/>
                </a:xfrm>
                <a:prstGeom prst="ellipse">
                  <a:avLst/>
                </a:prstGeom>
                <a:noFill/>
                <a:ln>
                  <a:solidFill>
                    <a:srgbClr val="50E6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spcAft>
                      <a:spcPts val="600"/>
                    </a:spcAft>
                  </a:pPr>
                  <a:endParaRPr lang="en-US" err="1"/>
                </a:p>
              </p:txBody>
            </p:sp>
            <p:sp>
              <p:nvSpPr>
                <p:cNvPr id="83" name="Oval 82">
                  <a:extLst>
                    <a:ext uri="{FF2B5EF4-FFF2-40B4-BE49-F238E27FC236}">
                      <a16:creationId xmlns:a16="http://schemas.microsoft.com/office/drawing/2014/main" id="{8D6D53BA-0CAE-4BBF-ABF9-749E198390F5}"/>
                    </a:ext>
                  </a:extLst>
                </p:cNvPr>
                <p:cNvSpPr>
                  <a:spLocks noChangeAspect="1"/>
                </p:cNvSpPr>
                <p:nvPr/>
              </p:nvSpPr>
              <p:spPr>
                <a:xfrm>
                  <a:off x="6287294" y="4544224"/>
                  <a:ext cx="210312" cy="210312"/>
                </a:xfrm>
                <a:prstGeom prst="ellipse">
                  <a:avLst/>
                </a:prstGeom>
                <a:noFill/>
                <a:ln>
                  <a:solidFill>
                    <a:srgbClr val="50E6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spcAft>
                      <a:spcPts val="600"/>
                    </a:spcAft>
                  </a:pPr>
                  <a:endParaRPr lang="en-US" err="1"/>
                </a:p>
              </p:txBody>
            </p:sp>
            <p:sp>
              <p:nvSpPr>
                <p:cNvPr id="84" name="Oval 83">
                  <a:extLst>
                    <a:ext uri="{FF2B5EF4-FFF2-40B4-BE49-F238E27FC236}">
                      <a16:creationId xmlns:a16="http://schemas.microsoft.com/office/drawing/2014/main" id="{BAE9281C-5AF2-4947-BC39-361541A8F506}"/>
                    </a:ext>
                  </a:extLst>
                </p:cNvPr>
                <p:cNvSpPr>
                  <a:spLocks noChangeAspect="1"/>
                </p:cNvSpPr>
                <p:nvPr/>
              </p:nvSpPr>
              <p:spPr>
                <a:xfrm>
                  <a:off x="8129034" y="2841058"/>
                  <a:ext cx="210312" cy="210312"/>
                </a:xfrm>
                <a:prstGeom prst="ellipse">
                  <a:avLst/>
                </a:prstGeom>
                <a:noFill/>
                <a:ln>
                  <a:solidFill>
                    <a:srgbClr val="50E6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spcAft>
                      <a:spcPts val="600"/>
                    </a:spcAft>
                  </a:pPr>
                  <a:endParaRPr lang="en-US" err="1"/>
                </a:p>
              </p:txBody>
            </p:sp>
            <p:sp>
              <p:nvSpPr>
                <p:cNvPr id="85" name="Oval 84">
                  <a:extLst>
                    <a:ext uri="{FF2B5EF4-FFF2-40B4-BE49-F238E27FC236}">
                      <a16:creationId xmlns:a16="http://schemas.microsoft.com/office/drawing/2014/main" id="{41856722-3080-4F20-B2DD-3CA49C4F56D3}"/>
                    </a:ext>
                  </a:extLst>
                </p:cNvPr>
                <p:cNvSpPr>
                  <a:spLocks noChangeAspect="1"/>
                </p:cNvSpPr>
                <p:nvPr/>
              </p:nvSpPr>
              <p:spPr>
                <a:xfrm>
                  <a:off x="7768643" y="2246879"/>
                  <a:ext cx="210312" cy="210312"/>
                </a:xfrm>
                <a:prstGeom prst="ellipse">
                  <a:avLst/>
                </a:prstGeom>
                <a:noFill/>
                <a:ln>
                  <a:solidFill>
                    <a:srgbClr val="50E6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spcAft>
                      <a:spcPts val="600"/>
                    </a:spcAft>
                  </a:pPr>
                  <a:endParaRPr lang="en-US" err="1"/>
                </a:p>
              </p:txBody>
            </p:sp>
            <p:sp>
              <p:nvSpPr>
                <p:cNvPr id="86" name="Oval 85">
                  <a:extLst>
                    <a:ext uri="{FF2B5EF4-FFF2-40B4-BE49-F238E27FC236}">
                      <a16:creationId xmlns:a16="http://schemas.microsoft.com/office/drawing/2014/main" id="{BAB3F369-0A31-4DBB-BBBA-17A6D973D88F}"/>
                    </a:ext>
                  </a:extLst>
                </p:cNvPr>
                <p:cNvSpPr>
                  <a:spLocks noChangeAspect="1"/>
                </p:cNvSpPr>
                <p:nvPr/>
              </p:nvSpPr>
              <p:spPr>
                <a:xfrm>
                  <a:off x="8339346" y="4001490"/>
                  <a:ext cx="210312" cy="210312"/>
                </a:xfrm>
                <a:prstGeom prst="ellipse">
                  <a:avLst/>
                </a:prstGeom>
                <a:noFill/>
                <a:ln>
                  <a:solidFill>
                    <a:srgbClr val="50E6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spcAft>
                      <a:spcPts val="600"/>
                    </a:spcAft>
                  </a:pPr>
                  <a:endParaRPr lang="en-US" err="1"/>
                </a:p>
              </p:txBody>
            </p:sp>
            <p:sp>
              <p:nvSpPr>
                <p:cNvPr id="87" name="Oval 86">
                  <a:extLst>
                    <a:ext uri="{FF2B5EF4-FFF2-40B4-BE49-F238E27FC236}">
                      <a16:creationId xmlns:a16="http://schemas.microsoft.com/office/drawing/2014/main" id="{AD00C769-3304-4E3B-8597-6987C2843304}"/>
                    </a:ext>
                  </a:extLst>
                </p:cNvPr>
                <p:cNvSpPr>
                  <a:spLocks noChangeAspect="1"/>
                </p:cNvSpPr>
                <p:nvPr/>
              </p:nvSpPr>
              <p:spPr>
                <a:xfrm>
                  <a:off x="7875476" y="3958840"/>
                  <a:ext cx="210312" cy="210312"/>
                </a:xfrm>
                <a:prstGeom prst="ellipse">
                  <a:avLst/>
                </a:prstGeom>
                <a:noFill/>
                <a:ln>
                  <a:solidFill>
                    <a:srgbClr val="50E6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spcAft>
                      <a:spcPts val="600"/>
                    </a:spcAft>
                  </a:pPr>
                  <a:endParaRPr lang="en-US" err="1"/>
                </a:p>
              </p:txBody>
            </p:sp>
            <p:sp>
              <p:nvSpPr>
                <p:cNvPr id="88" name="Oval 87">
                  <a:extLst>
                    <a:ext uri="{FF2B5EF4-FFF2-40B4-BE49-F238E27FC236}">
                      <a16:creationId xmlns:a16="http://schemas.microsoft.com/office/drawing/2014/main" id="{1EB1B1D8-30AE-4D30-B99E-B9294517F7B2}"/>
                    </a:ext>
                  </a:extLst>
                </p:cNvPr>
                <p:cNvSpPr>
                  <a:spLocks noChangeAspect="1"/>
                </p:cNvSpPr>
                <p:nvPr/>
              </p:nvSpPr>
              <p:spPr>
                <a:xfrm>
                  <a:off x="7930258" y="4421077"/>
                  <a:ext cx="210312" cy="210312"/>
                </a:xfrm>
                <a:prstGeom prst="ellipse">
                  <a:avLst/>
                </a:prstGeom>
                <a:noFill/>
                <a:ln>
                  <a:solidFill>
                    <a:srgbClr val="50E6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spcAft>
                      <a:spcPts val="600"/>
                    </a:spcAft>
                  </a:pPr>
                  <a:endParaRPr lang="en-US" err="1"/>
                </a:p>
              </p:txBody>
            </p:sp>
            <p:sp>
              <p:nvSpPr>
                <p:cNvPr id="89" name="Oval 88">
                  <a:extLst>
                    <a:ext uri="{FF2B5EF4-FFF2-40B4-BE49-F238E27FC236}">
                      <a16:creationId xmlns:a16="http://schemas.microsoft.com/office/drawing/2014/main" id="{53749BCE-E27A-4A08-BCE4-2D8DF53B27AB}"/>
                    </a:ext>
                  </a:extLst>
                </p:cNvPr>
                <p:cNvSpPr>
                  <a:spLocks noChangeAspect="1"/>
                </p:cNvSpPr>
                <p:nvPr/>
              </p:nvSpPr>
              <p:spPr>
                <a:xfrm>
                  <a:off x="10340126" y="2762969"/>
                  <a:ext cx="210312" cy="210312"/>
                </a:xfrm>
                <a:prstGeom prst="ellipse">
                  <a:avLst/>
                </a:prstGeom>
                <a:noFill/>
                <a:ln>
                  <a:solidFill>
                    <a:srgbClr val="50E6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spcAft>
                      <a:spcPts val="600"/>
                    </a:spcAft>
                  </a:pPr>
                  <a:endParaRPr lang="en-US" err="1"/>
                </a:p>
              </p:txBody>
            </p:sp>
          </p:grpSp>
          <p:grpSp>
            <p:nvGrpSpPr>
              <p:cNvPr id="90" name="Group 89">
                <a:extLst>
                  <a:ext uri="{FF2B5EF4-FFF2-40B4-BE49-F238E27FC236}">
                    <a16:creationId xmlns:a16="http://schemas.microsoft.com/office/drawing/2014/main" id="{FB829D7B-AEBC-4CEA-A68D-F6723B5E3013}"/>
                  </a:ext>
                </a:extLst>
              </p:cNvPr>
              <p:cNvGrpSpPr/>
              <p:nvPr/>
            </p:nvGrpSpPr>
            <p:grpSpPr>
              <a:xfrm>
                <a:off x="4421913" y="14749313"/>
                <a:ext cx="2716666" cy="2670869"/>
                <a:chOff x="6530201" y="1881219"/>
                <a:chExt cx="2716666" cy="2670869"/>
              </a:xfrm>
            </p:grpSpPr>
            <p:sp>
              <p:nvSpPr>
                <p:cNvPr id="91" name="Oval 90">
                  <a:extLst>
                    <a:ext uri="{FF2B5EF4-FFF2-40B4-BE49-F238E27FC236}">
                      <a16:creationId xmlns:a16="http://schemas.microsoft.com/office/drawing/2014/main" id="{06857308-3584-4B59-A0A0-14FC0594E46A}"/>
                    </a:ext>
                  </a:extLst>
                </p:cNvPr>
                <p:cNvSpPr>
                  <a:spLocks noChangeAspect="1"/>
                </p:cNvSpPr>
                <p:nvPr/>
              </p:nvSpPr>
              <p:spPr>
                <a:xfrm>
                  <a:off x="6530201" y="3718350"/>
                  <a:ext cx="179277" cy="179277"/>
                </a:xfrm>
                <a:prstGeom prst="ellipse">
                  <a:avLst/>
                </a:prstGeom>
                <a:noFill/>
                <a:ln>
                  <a:solidFill>
                    <a:srgbClr val="EE2B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spcAft>
                      <a:spcPts val="600"/>
                    </a:spcAft>
                  </a:pPr>
                  <a:endParaRPr lang="en-US" err="1"/>
                </a:p>
              </p:txBody>
            </p:sp>
            <p:sp>
              <p:nvSpPr>
                <p:cNvPr id="92" name="Oval 91">
                  <a:extLst>
                    <a:ext uri="{FF2B5EF4-FFF2-40B4-BE49-F238E27FC236}">
                      <a16:creationId xmlns:a16="http://schemas.microsoft.com/office/drawing/2014/main" id="{7040B6E1-AE06-4E16-B12C-0DE1750F4900}"/>
                    </a:ext>
                  </a:extLst>
                </p:cNvPr>
                <p:cNvSpPr>
                  <a:spLocks noChangeAspect="1"/>
                </p:cNvSpPr>
                <p:nvPr/>
              </p:nvSpPr>
              <p:spPr>
                <a:xfrm>
                  <a:off x="9058713" y="3553581"/>
                  <a:ext cx="188154" cy="188154"/>
                </a:xfrm>
                <a:prstGeom prst="ellipse">
                  <a:avLst/>
                </a:prstGeom>
                <a:noFill/>
                <a:ln w="12700">
                  <a:solidFill>
                    <a:srgbClr val="EE2B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spcAft>
                      <a:spcPts val="600"/>
                    </a:spcAft>
                  </a:pPr>
                  <a:endParaRPr lang="en-US" err="1"/>
                </a:p>
              </p:txBody>
            </p:sp>
            <p:sp>
              <p:nvSpPr>
                <p:cNvPr id="93" name="Oval 92">
                  <a:extLst>
                    <a:ext uri="{FF2B5EF4-FFF2-40B4-BE49-F238E27FC236}">
                      <a16:creationId xmlns:a16="http://schemas.microsoft.com/office/drawing/2014/main" id="{9EBE507F-F4B6-494E-96C2-A02F338DAFF6}"/>
                    </a:ext>
                  </a:extLst>
                </p:cNvPr>
                <p:cNvSpPr>
                  <a:spLocks noChangeAspect="1"/>
                </p:cNvSpPr>
                <p:nvPr/>
              </p:nvSpPr>
              <p:spPr>
                <a:xfrm>
                  <a:off x="9073346" y="4267202"/>
                  <a:ext cx="169191" cy="169191"/>
                </a:xfrm>
                <a:prstGeom prst="ellipse">
                  <a:avLst/>
                </a:prstGeom>
                <a:noFill/>
                <a:ln>
                  <a:solidFill>
                    <a:srgbClr val="EE2B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spcAft>
                      <a:spcPts val="600"/>
                    </a:spcAft>
                  </a:pPr>
                  <a:endParaRPr lang="en-US" err="1"/>
                </a:p>
              </p:txBody>
            </p:sp>
            <p:sp>
              <p:nvSpPr>
                <p:cNvPr id="94" name="Oval 93">
                  <a:extLst>
                    <a:ext uri="{FF2B5EF4-FFF2-40B4-BE49-F238E27FC236}">
                      <a16:creationId xmlns:a16="http://schemas.microsoft.com/office/drawing/2014/main" id="{E806BF94-19D8-43FA-A84A-E38BF330F10F}"/>
                    </a:ext>
                  </a:extLst>
                </p:cNvPr>
                <p:cNvSpPr>
                  <a:spLocks noChangeAspect="1"/>
                </p:cNvSpPr>
                <p:nvPr/>
              </p:nvSpPr>
              <p:spPr>
                <a:xfrm>
                  <a:off x="8686678" y="4382897"/>
                  <a:ext cx="169191" cy="169191"/>
                </a:xfrm>
                <a:prstGeom prst="ellipse">
                  <a:avLst/>
                </a:prstGeom>
                <a:noFill/>
                <a:ln>
                  <a:solidFill>
                    <a:srgbClr val="EE2B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spcAft>
                      <a:spcPts val="600"/>
                    </a:spcAft>
                  </a:pPr>
                  <a:endParaRPr lang="en-US" err="1"/>
                </a:p>
              </p:txBody>
            </p:sp>
            <p:sp>
              <p:nvSpPr>
                <p:cNvPr id="95" name="Oval 94">
                  <a:extLst>
                    <a:ext uri="{FF2B5EF4-FFF2-40B4-BE49-F238E27FC236}">
                      <a16:creationId xmlns:a16="http://schemas.microsoft.com/office/drawing/2014/main" id="{582B2946-4A07-47CF-963C-7B77FD604D54}"/>
                    </a:ext>
                  </a:extLst>
                </p:cNvPr>
                <p:cNvSpPr>
                  <a:spLocks noChangeAspect="1"/>
                </p:cNvSpPr>
                <p:nvPr/>
              </p:nvSpPr>
              <p:spPr>
                <a:xfrm>
                  <a:off x="7426767" y="1881219"/>
                  <a:ext cx="210990" cy="210990"/>
                </a:xfrm>
                <a:prstGeom prst="ellipse">
                  <a:avLst/>
                </a:prstGeom>
                <a:noFill/>
                <a:ln>
                  <a:solidFill>
                    <a:srgbClr val="EE2B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spcAft>
                      <a:spcPts val="600"/>
                    </a:spcAft>
                  </a:pPr>
                  <a:endParaRPr lang="en-US" err="1"/>
                </a:p>
              </p:txBody>
            </p:sp>
          </p:grpSp>
          <p:grpSp>
            <p:nvGrpSpPr>
              <p:cNvPr id="96" name="Group 95">
                <a:extLst>
                  <a:ext uri="{FF2B5EF4-FFF2-40B4-BE49-F238E27FC236}">
                    <a16:creationId xmlns:a16="http://schemas.microsoft.com/office/drawing/2014/main" id="{A7D084AC-6B42-4A98-A937-5ECBE209B0E9}"/>
                  </a:ext>
                </a:extLst>
              </p:cNvPr>
              <p:cNvGrpSpPr/>
              <p:nvPr/>
            </p:nvGrpSpPr>
            <p:grpSpPr>
              <a:xfrm>
                <a:off x="4345894" y="14745080"/>
                <a:ext cx="4573776" cy="3206408"/>
                <a:chOff x="6454182" y="1876986"/>
                <a:chExt cx="4573776" cy="3206408"/>
              </a:xfrm>
            </p:grpSpPr>
            <p:sp>
              <p:nvSpPr>
                <p:cNvPr id="97" name="Oval 96">
                  <a:extLst>
                    <a:ext uri="{FF2B5EF4-FFF2-40B4-BE49-F238E27FC236}">
                      <a16:creationId xmlns:a16="http://schemas.microsoft.com/office/drawing/2014/main" id="{B6327900-B625-468A-A3E6-D3F169853D41}"/>
                    </a:ext>
                  </a:extLst>
                </p:cNvPr>
                <p:cNvSpPr>
                  <a:spLocks noChangeAspect="1"/>
                </p:cNvSpPr>
                <p:nvPr/>
              </p:nvSpPr>
              <p:spPr>
                <a:xfrm>
                  <a:off x="9692114" y="3338576"/>
                  <a:ext cx="118872" cy="118872"/>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spcAft>
                      <a:spcPts val="600"/>
                    </a:spcAft>
                  </a:pPr>
                  <a:endParaRPr lang="en-US" err="1"/>
                </a:p>
              </p:txBody>
            </p:sp>
            <p:sp>
              <p:nvSpPr>
                <p:cNvPr id="98" name="Oval 97">
                  <a:extLst>
                    <a:ext uri="{FF2B5EF4-FFF2-40B4-BE49-F238E27FC236}">
                      <a16:creationId xmlns:a16="http://schemas.microsoft.com/office/drawing/2014/main" id="{CD78BF14-0176-4CFD-997E-589B2754CAC9}"/>
                    </a:ext>
                  </a:extLst>
                </p:cNvPr>
                <p:cNvSpPr>
                  <a:spLocks noChangeAspect="1"/>
                </p:cNvSpPr>
                <p:nvPr/>
              </p:nvSpPr>
              <p:spPr>
                <a:xfrm>
                  <a:off x="8685804" y="3338576"/>
                  <a:ext cx="146304" cy="146304"/>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spcAft>
                      <a:spcPts val="600"/>
                    </a:spcAft>
                  </a:pPr>
                  <a:endParaRPr lang="en-US" err="1"/>
                </a:p>
              </p:txBody>
            </p:sp>
            <p:sp>
              <p:nvSpPr>
                <p:cNvPr id="99" name="Oval 98">
                  <a:extLst>
                    <a:ext uri="{FF2B5EF4-FFF2-40B4-BE49-F238E27FC236}">
                      <a16:creationId xmlns:a16="http://schemas.microsoft.com/office/drawing/2014/main" id="{1E471F52-BE25-4121-93C4-EBFFDB0AB66E}"/>
                    </a:ext>
                  </a:extLst>
                </p:cNvPr>
                <p:cNvSpPr>
                  <a:spLocks noChangeAspect="1"/>
                </p:cNvSpPr>
                <p:nvPr/>
              </p:nvSpPr>
              <p:spPr>
                <a:xfrm>
                  <a:off x="7768643" y="4470586"/>
                  <a:ext cx="146304" cy="146304"/>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spcAft>
                      <a:spcPts val="600"/>
                    </a:spcAft>
                  </a:pPr>
                  <a:endParaRPr lang="en-US" err="1"/>
                </a:p>
              </p:txBody>
            </p:sp>
            <p:sp>
              <p:nvSpPr>
                <p:cNvPr id="100" name="Oval 99">
                  <a:extLst>
                    <a:ext uri="{FF2B5EF4-FFF2-40B4-BE49-F238E27FC236}">
                      <a16:creationId xmlns:a16="http://schemas.microsoft.com/office/drawing/2014/main" id="{2FE3AA78-648C-45FC-97DE-0B784544A1DA}"/>
                    </a:ext>
                  </a:extLst>
                </p:cNvPr>
                <p:cNvSpPr>
                  <a:spLocks noChangeAspect="1"/>
                </p:cNvSpPr>
                <p:nvPr/>
              </p:nvSpPr>
              <p:spPr>
                <a:xfrm>
                  <a:off x="9591262" y="4937090"/>
                  <a:ext cx="146304" cy="146304"/>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spcAft>
                      <a:spcPts val="600"/>
                    </a:spcAft>
                  </a:pPr>
                  <a:endParaRPr lang="en-US" err="1"/>
                </a:p>
              </p:txBody>
            </p:sp>
            <p:sp>
              <p:nvSpPr>
                <p:cNvPr id="101" name="Oval 100">
                  <a:extLst>
                    <a:ext uri="{FF2B5EF4-FFF2-40B4-BE49-F238E27FC236}">
                      <a16:creationId xmlns:a16="http://schemas.microsoft.com/office/drawing/2014/main" id="{D258D2D5-95BD-484C-912E-ABCC47973CB6}"/>
                    </a:ext>
                  </a:extLst>
                </p:cNvPr>
                <p:cNvSpPr>
                  <a:spLocks noChangeAspect="1"/>
                </p:cNvSpPr>
                <p:nvPr/>
              </p:nvSpPr>
              <p:spPr>
                <a:xfrm>
                  <a:off x="10017882" y="4987231"/>
                  <a:ext cx="91440" cy="91440"/>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spcAft>
                      <a:spcPts val="600"/>
                    </a:spcAft>
                  </a:pPr>
                  <a:endParaRPr lang="en-US" err="1"/>
                </a:p>
              </p:txBody>
            </p:sp>
            <p:sp>
              <p:nvSpPr>
                <p:cNvPr id="102" name="Oval 101">
                  <a:extLst>
                    <a:ext uri="{FF2B5EF4-FFF2-40B4-BE49-F238E27FC236}">
                      <a16:creationId xmlns:a16="http://schemas.microsoft.com/office/drawing/2014/main" id="{609E1029-371B-4283-9464-74FBB92E29B7}"/>
                    </a:ext>
                  </a:extLst>
                </p:cNvPr>
                <p:cNvSpPr>
                  <a:spLocks noChangeAspect="1"/>
                </p:cNvSpPr>
                <p:nvPr/>
              </p:nvSpPr>
              <p:spPr>
                <a:xfrm>
                  <a:off x="6481787" y="3954268"/>
                  <a:ext cx="109728" cy="109728"/>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spcAft>
                      <a:spcPts val="600"/>
                    </a:spcAft>
                  </a:pPr>
                  <a:endParaRPr lang="en-US" err="1"/>
                </a:p>
              </p:txBody>
            </p:sp>
            <p:sp>
              <p:nvSpPr>
                <p:cNvPr id="103" name="Oval 102">
                  <a:extLst>
                    <a:ext uri="{FF2B5EF4-FFF2-40B4-BE49-F238E27FC236}">
                      <a16:creationId xmlns:a16="http://schemas.microsoft.com/office/drawing/2014/main" id="{200EA8EB-A69A-4DAB-BB34-3AAF7ADF0627}"/>
                    </a:ext>
                  </a:extLst>
                </p:cNvPr>
                <p:cNvSpPr>
                  <a:spLocks noChangeAspect="1"/>
                </p:cNvSpPr>
                <p:nvPr/>
              </p:nvSpPr>
              <p:spPr>
                <a:xfrm>
                  <a:off x="9251206" y="3056835"/>
                  <a:ext cx="91440" cy="91440"/>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spcAft>
                      <a:spcPts val="600"/>
                    </a:spcAft>
                  </a:pPr>
                  <a:endParaRPr lang="en-US" err="1"/>
                </a:p>
              </p:txBody>
            </p:sp>
            <p:sp>
              <p:nvSpPr>
                <p:cNvPr id="104" name="Oval 103">
                  <a:extLst>
                    <a:ext uri="{FF2B5EF4-FFF2-40B4-BE49-F238E27FC236}">
                      <a16:creationId xmlns:a16="http://schemas.microsoft.com/office/drawing/2014/main" id="{0E7B14E1-53A4-4FE4-9428-B387A1167906}"/>
                    </a:ext>
                  </a:extLst>
                </p:cNvPr>
                <p:cNvSpPr>
                  <a:spLocks noChangeAspect="1"/>
                </p:cNvSpPr>
                <p:nvPr/>
              </p:nvSpPr>
              <p:spPr>
                <a:xfrm>
                  <a:off x="9311466" y="2059062"/>
                  <a:ext cx="109728" cy="109728"/>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spcAft>
                      <a:spcPts val="600"/>
                    </a:spcAft>
                  </a:pPr>
                  <a:endParaRPr lang="en-US" err="1"/>
                </a:p>
              </p:txBody>
            </p:sp>
            <p:sp>
              <p:nvSpPr>
                <p:cNvPr id="105" name="Oval 104">
                  <a:extLst>
                    <a:ext uri="{FF2B5EF4-FFF2-40B4-BE49-F238E27FC236}">
                      <a16:creationId xmlns:a16="http://schemas.microsoft.com/office/drawing/2014/main" id="{877BEE1D-4D65-467B-9B4A-683260917F9D}"/>
                    </a:ext>
                  </a:extLst>
                </p:cNvPr>
                <p:cNvSpPr>
                  <a:spLocks noChangeAspect="1"/>
                </p:cNvSpPr>
                <p:nvPr/>
              </p:nvSpPr>
              <p:spPr>
                <a:xfrm>
                  <a:off x="7081441" y="2590399"/>
                  <a:ext cx="146304" cy="146304"/>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spcAft>
                      <a:spcPts val="600"/>
                    </a:spcAft>
                  </a:pPr>
                  <a:endParaRPr lang="en-US" err="1"/>
                </a:p>
              </p:txBody>
            </p:sp>
            <p:sp>
              <p:nvSpPr>
                <p:cNvPr id="106" name="Oval 105">
                  <a:extLst>
                    <a:ext uri="{FF2B5EF4-FFF2-40B4-BE49-F238E27FC236}">
                      <a16:creationId xmlns:a16="http://schemas.microsoft.com/office/drawing/2014/main" id="{81DDE3B4-1D74-4867-BB39-F467EF8539EE}"/>
                    </a:ext>
                  </a:extLst>
                </p:cNvPr>
                <p:cNvSpPr>
                  <a:spLocks noChangeAspect="1"/>
                </p:cNvSpPr>
                <p:nvPr/>
              </p:nvSpPr>
              <p:spPr>
                <a:xfrm>
                  <a:off x="7143489" y="2969484"/>
                  <a:ext cx="146304" cy="146304"/>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spcAft>
                      <a:spcPts val="600"/>
                    </a:spcAft>
                  </a:pPr>
                  <a:endParaRPr lang="en-US" err="1"/>
                </a:p>
              </p:txBody>
            </p:sp>
            <p:sp>
              <p:nvSpPr>
                <p:cNvPr id="107" name="Oval 106">
                  <a:extLst>
                    <a:ext uri="{FF2B5EF4-FFF2-40B4-BE49-F238E27FC236}">
                      <a16:creationId xmlns:a16="http://schemas.microsoft.com/office/drawing/2014/main" id="{2A0DF3C1-AA17-4F26-9A51-DA1AFD27AE3E}"/>
                    </a:ext>
                  </a:extLst>
                </p:cNvPr>
                <p:cNvSpPr>
                  <a:spLocks noChangeAspect="1"/>
                </p:cNvSpPr>
                <p:nvPr/>
              </p:nvSpPr>
              <p:spPr>
                <a:xfrm>
                  <a:off x="6795783" y="3500007"/>
                  <a:ext cx="146304" cy="146304"/>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spcAft>
                      <a:spcPts val="600"/>
                    </a:spcAft>
                  </a:pPr>
                  <a:endParaRPr lang="en-US" err="1"/>
                </a:p>
              </p:txBody>
            </p:sp>
            <p:sp>
              <p:nvSpPr>
                <p:cNvPr id="108" name="Oval 107">
                  <a:extLst>
                    <a:ext uri="{FF2B5EF4-FFF2-40B4-BE49-F238E27FC236}">
                      <a16:creationId xmlns:a16="http://schemas.microsoft.com/office/drawing/2014/main" id="{887ED78F-E8D4-4E3B-BD19-9C07BABB1FC9}"/>
                    </a:ext>
                  </a:extLst>
                </p:cNvPr>
                <p:cNvSpPr>
                  <a:spLocks noChangeAspect="1"/>
                </p:cNvSpPr>
                <p:nvPr/>
              </p:nvSpPr>
              <p:spPr>
                <a:xfrm>
                  <a:off x="6454182" y="1955936"/>
                  <a:ext cx="109728" cy="109728"/>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spcAft>
                      <a:spcPts val="600"/>
                    </a:spcAft>
                  </a:pPr>
                  <a:endParaRPr lang="en-US" err="1"/>
                </a:p>
              </p:txBody>
            </p:sp>
            <p:sp>
              <p:nvSpPr>
                <p:cNvPr id="109" name="Oval 108">
                  <a:extLst>
                    <a:ext uri="{FF2B5EF4-FFF2-40B4-BE49-F238E27FC236}">
                      <a16:creationId xmlns:a16="http://schemas.microsoft.com/office/drawing/2014/main" id="{53B1CCDB-4EAA-43DB-BEC0-B50418FB6949}"/>
                    </a:ext>
                  </a:extLst>
                </p:cNvPr>
                <p:cNvSpPr>
                  <a:spLocks noChangeAspect="1"/>
                </p:cNvSpPr>
                <p:nvPr/>
              </p:nvSpPr>
              <p:spPr>
                <a:xfrm>
                  <a:off x="9326581" y="4517625"/>
                  <a:ext cx="131755" cy="131755"/>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spcAft>
                      <a:spcPts val="600"/>
                    </a:spcAft>
                  </a:pPr>
                  <a:endParaRPr lang="en-US" err="1"/>
                </a:p>
              </p:txBody>
            </p:sp>
            <p:sp>
              <p:nvSpPr>
                <p:cNvPr id="110" name="Oval 109">
                  <a:extLst>
                    <a:ext uri="{FF2B5EF4-FFF2-40B4-BE49-F238E27FC236}">
                      <a16:creationId xmlns:a16="http://schemas.microsoft.com/office/drawing/2014/main" id="{1216C64C-6891-43F4-A5CA-78AB3842101E}"/>
                    </a:ext>
                  </a:extLst>
                </p:cNvPr>
                <p:cNvSpPr>
                  <a:spLocks noChangeAspect="1"/>
                </p:cNvSpPr>
                <p:nvPr/>
              </p:nvSpPr>
              <p:spPr>
                <a:xfrm>
                  <a:off x="7349629" y="3427727"/>
                  <a:ext cx="102376" cy="102376"/>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spcAft>
                      <a:spcPts val="600"/>
                    </a:spcAft>
                  </a:pPr>
                  <a:endParaRPr lang="en-US" err="1"/>
                </a:p>
              </p:txBody>
            </p:sp>
            <p:sp>
              <p:nvSpPr>
                <p:cNvPr id="111" name="Oval 110">
                  <a:extLst>
                    <a:ext uri="{FF2B5EF4-FFF2-40B4-BE49-F238E27FC236}">
                      <a16:creationId xmlns:a16="http://schemas.microsoft.com/office/drawing/2014/main" id="{5C1501C2-C9A1-43B0-BF17-02E67AFBFA80}"/>
                    </a:ext>
                  </a:extLst>
                </p:cNvPr>
                <p:cNvSpPr>
                  <a:spLocks noChangeAspect="1"/>
                </p:cNvSpPr>
                <p:nvPr/>
              </p:nvSpPr>
              <p:spPr>
                <a:xfrm>
                  <a:off x="6972839" y="4649380"/>
                  <a:ext cx="146304" cy="146304"/>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spcAft>
                      <a:spcPts val="600"/>
                    </a:spcAft>
                  </a:pPr>
                  <a:endParaRPr lang="en-US" err="1"/>
                </a:p>
              </p:txBody>
            </p:sp>
            <p:sp>
              <p:nvSpPr>
                <p:cNvPr id="112" name="Oval 111">
                  <a:extLst>
                    <a:ext uri="{FF2B5EF4-FFF2-40B4-BE49-F238E27FC236}">
                      <a16:creationId xmlns:a16="http://schemas.microsoft.com/office/drawing/2014/main" id="{6D559D85-D71C-455D-B284-804A750FAE6E}"/>
                    </a:ext>
                  </a:extLst>
                </p:cNvPr>
                <p:cNvSpPr>
                  <a:spLocks noChangeAspect="1"/>
                </p:cNvSpPr>
                <p:nvPr/>
              </p:nvSpPr>
              <p:spPr>
                <a:xfrm>
                  <a:off x="9282731" y="1876986"/>
                  <a:ext cx="109728" cy="109728"/>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spcAft>
                      <a:spcPts val="600"/>
                    </a:spcAft>
                  </a:pPr>
                  <a:endParaRPr lang="en-US" err="1"/>
                </a:p>
              </p:txBody>
            </p:sp>
            <p:sp>
              <p:nvSpPr>
                <p:cNvPr id="113" name="Oval 112">
                  <a:extLst>
                    <a:ext uri="{FF2B5EF4-FFF2-40B4-BE49-F238E27FC236}">
                      <a16:creationId xmlns:a16="http://schemas.microsoft.com/office/drawing/2014/main" id="{15B47556-8F63-4309-A6E4-ECE3CF2A5A8E}"/>
                    </a:ext>
                  </a:extLst>
                </p:cNvPr>
                <p:cNvSpPr>
                  <a:spLocks noChangeAspect="1"/>
                </p:cNvSpPr>
                <p:nvPr/>
              </p:nvSpPr>
              <p:spPr>
                <a:xfrm>
                  <a:off x="9902857" y="3706437"/>
                  <a:ext cx="109728" cy="109728"/>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spcAft>
                      <a:spcPts val="600"/>
                    </a:spcAft>
                  </a:pPr>
                  <a:endParaRPr lang="en-US" err="1"/>
                </a:p>
              </p:txBody>
            </p:sp>
            <p:sp>
              <p:nvSpPr>
                <p:cNvPr id="114" name="Oval 113">
                  <a:extLst>
                    <a:ext uri="{FF2B5EF4-FFF2-40B4-BE49-F238E27FC236}">
                      <a16:creationId xmlns:a16="http://schemas.microsoft.com/office/drawing/2014/main" id="{8C35226B-2098-4A37-BC46-ADB79DDD6301}"/>
                    </a:ext>
                  </a:extLst>
                </p:cNvPr>
                <p:cNvSpPr>
                  <a:spLocks noChangeAspect="1"/>
                </p:cNvSpPr>
                <p:nvPr/>
              </p:nvSpPr>
              <p:spPr>
                <a:xfrm>
                  <a:off x="10918230" y="1896710"/>
                  <a:ext cx="109728" cy="109728"/>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spcAft>
                      <a:spcPts val="600"/>
                    </a:spcAft>
                  </a:pPr>
                  <a:endParaRPr lang="en-US" err="1"/>
                </a:p>
              </p:txBody>
            </p:sp>
          </p:grpSp>
        </p:grpSp>
      </p:grpSp>
      <p:graphicFrame>
        <p:nvGraphicFramePr>
          <p:cNvPr id="6" name="Table 6">
            <a:extLst>
              <a:ext uri="{FF2B5EF4-FFF2-40B4-BE49-F238E27FC236}">
                <a16:creationId xmlns:a16="http://schemas.microsoft.com/office/drawing/2014/main" id="{52A09380-17D1-4133-8A12-23E525BA7C6D}"/>
              </a:ext>
            </a:extLst>
          </p:cNvPr>
          <p:cNvGraphicFramePr>
            <a:graphicFrameLocks noGrp="1"/>
          </p:cNvGraphicFramePr>
          <p:nvPr>
            <p:extLst>
              <p:ext uri="{D42A27DB-BD31-4B8C-83A1-F6EECF244321}">
                <p14:modId xmlns:p14="http://schemas.microsoft.com/office/powerpoint/2010/main" val="2591828004"/>
              </p:ext>
            </p:extLst>
          </p:nvPr>
        </p:nvGraphicFramePr>
        <p:xfrm>
          <a:off x="11870772" y="22313726"/>
          <a:ext cx="9261231" cy="9213166"/>
        </p:xfrm>
        <a:graphic>
          <a:graphicData uri="http://schemas.openxmlformats.org/drawingml/2006/table">
            <a:tbl>
              <a:tblPr firstRow="1" bandRow="1">
                <a:tableStyleId>{5C22544A-7EE6-4342-B048-85BDC9FD1C3A}</a:tableStyleId>
              </a:tblPr>
              <a:tblGrid>
                <a:gridCol w="3584563">
                  <a:extLst>
                    <a:ext uri="{9D8B030D-6E8A-4147-A177-3AD203B41FA5}">
                      <a16:colId xmlns:a16="http://schemas.microsoft.com/office/drawing/2014/main" val="2961934330"/>
                    </a:ext>
                  </a:extLst>
                </a:gridCol>
                <a:gridCol w="2589591">
                  <a:extLst>
                    <a:ext uri="{9D8B030D-6E8A-4147-A177-3AD203B41FA5}">
                      <a16:colId xmlns:a16="http://schemas.microsoft.com/office/drawing/2014/main" val="2332271123"/>
                    </a:ext>
                  </a:extLst>
                </a:gridCol>
                <a:gridCol w="3087077">
                  <a:extLst>
                    <a:ext uri="{9D8B030D-6E8A-4147-A177-3AD203B41FA5}">
                      <a16:colId xmlns:a16="http://schemas.microsoft.com/office/drawing/2014/main" val="795416122"/>
                    </a:ext>
                  </a:extLst>
                </a:gridCol>
              </a:tblGrid>
              <a:tr h="948983">
                <a:tc>
                  <a:txBody>
                    <a:bodyPr/>
                    <a:lstStyle/>
                    <a:p>
                      <a:pPr algn="ctr"/>
                      <a:endParaRPr lang="en-US" sz="4400"/>
                    </a:p>
                  </a:txBody>
                  <a:tcPr anchor="ctr"/>
                </a:tc>
                <a:tc>
                  <a:txBody>
                    <a:bodyPr/>
                    <a:lstStyle/>
                    <a:p>
                      <a:pPr algn="ctr"/>
                      <a:r>
                        <a:rPr lang="en-US" sz="2800"/>
                        <a:t>Original method</a:t>
                      </a:r>
                    </a:p>
                  </a:txBody>
                  <a:tcPr anchor="ctr"/>
                </a:tc>
                <a:tc>
                  <a:txBody>
                    <a:bodyPr/>
                    <a:lstStyle/>
                    <a:p>
                      <a:pPr algn="ctr"/>
                      <a:r>
                        <a:rPr lang="en-US" sz="2800"/>
                        <a:t>New Perfusion method</a:t>
                      </a:r>
                    </a:p>
                  </a:txBody>
                  <a:tcPr anchor="ctr"/>
                </a:tc>
                <a:extLst>
                  <a:ext uri="{0D108BD9-81ED-4DB2-BD59-A6C34878D82A}">
                    <a16:rowId xmlns:a16="http://schemas.microsoft.com/office/drawing/2014/main" val="4267741178"/>
                  </a:ext>
                </a:extLst>
              </a:tr>
              <a:tr h="640080">
                <a:tc>
                  <a:txBody>
                    <a:bodyPr/>
                    <a:lstStyle/>
                    <a:p>
                      <a:pPr algn="ctr"/>
                      <a:r>
                        <a:rPr lang="en-US" sz="2800"/>
                        <a:t>Min diameter</a:t>
                      </a:r>
                    </a:p>
                  </a:txBody>
                  <a:tcPr anchor="ctr"/>
                </a:tc>
                <a:tc>
                  <a:txBody>
                    <a:bodyPr/>
                    <a:lstStyle/>
                    <a:p>
                      <a:pPr algn="ctr"/>
                      <a:r>
                        <a:rPr lang="en-US" sz="2800"/>
                        <a:t>6</a:t>
                      </a:r>
                    </a:p>
                  </a:txBody>
                  <a:tcPr anchor="ctr"/>
                </a:tc>
                <a:tc>
                  <a:txBody>
                    <a:bodyPr/>
                    <a:lstStyle/>
                    <a:p>
                      <a:pPr algn="ctr"/>
                      <a:r>
                        <a:rPr lang="en-US" sz="2800"/>
                        <a:t>10</a:t>
                      </a:r>
                    </a:p>
                  </a:txBody>
                  <a:tcPr anchor="ctr"/>
                </a:tc>
                <a:extLst>
                  <a:ext uri="{0D108BD9-81ED-4DB2-BD59-A6C34878D82A}">
                    <a16:rowId xmlns:a16="http://schemas.microsoft.com/office/drawing/2014/main" val="2820876564"/>
                  </a:ext>
                </a:extLst>
              </a:tr>
              <a:tr h="640080">
                <a:tc>
                  <a:txBody>
                    <a:bodyPr/>
                    <a:lstStyle/>
                    <a:p>
                      <a:pPr algn="ctr"/>
                      <a:r>
                        <a:rPr lang="en-US" sz="2800"/>
                        <a:t>Max diameter</a:t>
                      </a:r>
                    </a:p>
                  </a:txBody>
                  <a:tcPr anchor="ctr"/>
                </a:tc>
                <a:tc>
                  <a:txBody>
                    <a:bodyPr/>
                    <a:lstStyle/>
                    <a:p>
                      <a:pPr algn="ctr"/>
                      <a:r>
                        <a:rPr lang="en-US" sz="2800"/>
                        <a:t>50</a:t>
                      </a:r>
                    </a:p>
                  </a:txBody>
                  <a:tcPr anchor="ctr"/>
                </a:tc>
                <a:tc>
                  <a:txBody>
                    <a:bodyPr/>
                    <a:lstStyle/>
                    <a:p>
                      <a:pPr algn="ctr"/>
                      <a:r>
                        <a:rPr lang="en-US" sz="2800"/>
                        <a:t>35</a:t>
                      </a:r>
                    </a:p>
                  </a:txBody>
                  <a:tcPr anchor="ctr"/>
                </a:tc>
                <a:extLst>
                  <a:ext uri="{0D108BD9-81ED-4DB2-BD59-A6C34878D82A}">
                    <a16:rowId xmlns:a16="http://schemas.microsoft.com/office/drawing/2014/main" val="1653697480"/>
                  </a:ext>
                </a:extLst>
              </a:tr>
              <a:tr h="640080">
                <a:tc>
                  <a:txBody>
                    <a:bodyPr/>
                    <a:lstStyle/>
                    <a:p>
                      <a:pPr algn="ctr"/>
                      <a:r>
                        <a:rPr lang="en-US" sz="2800"/>
                        <a:t>Cell brightness</a:t>
                      </a:r>
                    </a:p>
                  </a:txBody>
                  <a:tcPr anchor="ctr"/>
                </a:tc>
                <a:tc>
                  <a:txBody>
                    <a:bodyPr/>
                    <a:lstStyle/>
                    <a:p>
                      <a:pPr algn="ctr"/>
                      <a:r>
                        <a:rPr lang="en-US" sz="2800"/>
                        <a:t>85</a:t>
                      </a:r>
                    </a:p>
                  </a:txBody>
                  <a:tcPr anchor="ctr"/>
                </a:tc>
                <a:tc>
                  <a:txBody>
                    <a:bodyPr/>
                    <a:lstStyle/>
                    <a:p>
                      <a:pPr algn="ctr"/>
                      <a:r>
                        <a:rPr lang="en-US" sz="2800"/>
                        <a:t>86</a:t>
                      </a:r>
                    </a:p>
                  </a:txBody>
                  <a:tcPr anchor="ctr"/>
                </a:tc>
                <a:extLst>
                  <a:ext uri="{0D108BD9-81ED-4DB2-BD59-A6C34878D82A}">
                    <a16:rowId xmlns:a16="http://schemas.microsoft.com/office/drawing/2014/main" val="507207042"/>
                  </a:ext>
                </a:extLst>
              </a:tr>
              <a:tr h="640080">
                <a:tc>
                  <a:txBody>
                    <a:bodyPr/>
                    <a:lstStyle/>
                    <a:p>
                      <a:pPr algn="ctr"/>
                      <a:r>
                        <a:rPr lang="en-US" sz="2800"/>
                        <a:t>Cell sharpness</a:t>
                      </a:r>
                    </a:p>
                  </a:txBody>
                  <a:tcPr anchor="ctr"/>
                </a:tc>
                <a:tc>
                  <a:txBody>
                    <a:bodyPr/>
                    <a:lstStyle/>
                    <a:p>
                      <a:pPr algn="ctr"/>
                      <a:r>
                        <a:rPr lang="en-US" sz="2800"/>
                        <a:t>100</a:t>
                      </a:r>
                    </a:p>
                  </a:txBody>
                  <a:tcPr anchor="ctr"/>
                </a:tc>
                <a:tc>
                  <a:txBody>
                    <a:bodyPr/>
                    <a:lstStyle/>
                    <a:p>
                      <a:pPr algn="ctr"/>
                      <a:r>
                        <a:rPr lang="en-US" sz="2800"/>
                        <a:t>53</a:t>
                      </a:r>
                    </a:p>
                  </a:txBody>
                  <a:tcPr anchor="ctr"/>
                </a:tc>
                <a:extLst>
                  <a:ext uri="{0D108BD9-81ED-4DB2-BD59-A6C34878D82A}">
                    <a16:rowId xmlns:a16="http://schemas.microsoft.com/office/drawing/2014/main" val="3024853673"/>
                  </a:ext>
                </a:extLst>
              </a:tr>
              <a:tr h="948983">
                <a:tc>
                  <a:txBody>
                    <a:bodyPr/>
                    <a:lstStyle/>
                    <a:p>
                      <a:pPr algn="ctr"/>
                      <a:r>
                        <a:rPr lang="en-US" sz="2800"/>
                        <a:t>Viable cell spot brightness</a:t>
                      </a:r>
                    </a:p>
                  </a:txBody>
                  <a:tcPr anchor="ctr"/>
                </a:tc>
                <a:tc>
                  <a:txBody>
                    <a:bodyPr/>
                    <a:lstStyle/>
                    <a:p>
                      <a:pPr algn="ctr"/>
                      <a:r>
                        <a:rPr lang="en-US" sz="2800"/>
                        <a:t>75</a:t>
                      </a:r>
                    </a:p>
                  </a:txBody>
                  <a:tcPr anchor="ctr"/>
                </a:tc>
                <a:tc>
                  <a:txBody>
                    <a:bodyPr/>
                    <a:lstStyle/>
                    <a:p>
                      <a:pPr algn="ctr"/>
                      <a:r>
                        <a:rPr lang="en-US" sz="2800" dirty="0"/>
                        <a:t>85</a:t>
                      </a:r>
                    </a:p>
                  </a:txBody>
                  <a:tcPr anchor="ctr"/>
                </a:tc>
                <a:extLst>
                  <a:ext uri="{0D108BD9-81ED-4DB2-BD59-A6C34878D82A}">
                    <a16:rowId xmlns:a16="http://schemas.microsoft.com/office/drawing/2014/main" val="2966384756"/>
                  </a:ext>
                </a:extLst>
              </a:tr>
              <a:tr h="640080">
                <a:tc>
                  <a:txBody>
                    <a:bodyPr/>
                    <a:lstStyle/>
                    <a:p>
                      <a:pPr algn="ctr"/>
                      <a:r>
                        <a:rPr lang="en-US" sz="2800"/>
                        <a:t>Viable cell spot area</a:t>
                      </a:r>
                    </a:p>
                  </a:txBody>
                  <a:tcPr anchor="ctr"/>
                </a:tc>
                <a:tc>
                  <a:txBody>
                    <a:bodyPr/>
                    <a:lstStyle/>
                    <a:p>
                      <a:pPr algn="ctr"/>
                      <a:r>
                        <a:rPr lang="en-US" sz="2800"/>
                        <a:t>5</a:t>
                      </a:r>
                    </a:p>
                  </a:txBody>
                  <a:tcPr anchor="ctr"/>
                </a:tc>
                <a:tc>
                  <a:txBody>
                    <a:bodyPr/>
                    <a:lstStyle/>
                    <a:p>
                      <a:pPr algn="ctr"/>
                      <a:r>
                        <a:rPr lang="en-US" sz="2800"/>
                        <a:t>11</a:t>
                      </a:r>
                    </a:p>
                  </a:txBody>
                  <a:tcPr anchor="ctr"/>
                </a:tc>
                <a:extLst>
                  <a:ext uri="{0D108BD9-81ED-4DB2-BD59-A6C34878D82A}">
                    <a16:rowId xmlns:a16="http://schemas.microsoft.com/office/drawing/2014/main" val="701441589"/>
                  </a:ext>
                </a:extLst>
              </a:tr>
              <a:tr h="640080">
                <a:tc>
                  <a:txBody>
                    <a:bodyPr/>
                    <a:lstStyle/>
                    <a:p>
                      <a:pPr algn="ctr"/>
                      <a:r>
                        <a:rPr lang="en-US" sz="2800"/>
                        <a:t>Minimum circularity</a:t>
                      </a:r>
                    </a:p>
                  </a:txBody>
                  <a:tcPr anchor="ctr"/>
                </a:tc>
                <a:tc>
                  <a:txBody>
                    <a:bodyPr/>
                    <a:lstStyle/>
                    <a:p>
                      <a:pPr algn="ctr"/>
                      <a:r>
                        <a:rPr lang="en-US" sz="2800"/>
                        <a:t>0</a:t>
                      </a:r>
                    </a:p>
                  </a:txBody>
                  <a:tcPr anchor="ctr"/>
                </a:tc>
                <a:tc>
                  <a:txBody>
                    <a:bodyPr/>
                    <a:lstStyle/>
                    <a:p>
                      <a:pPr algn="ctr"/>
                      <a:r>
                        <a:rPr lang="en-US" sz="2800"/>
                        <a:t>0.3</a:t>
                      </a:r>
                    </a:p>
                  </a:txBody>
                  <a:tcPr anchor="ctr"/>
                </a:tc>
                <a:extLst>
                  <a:ext uri="{0D108BD9-81ED-4DB2-BD59-A6C34878D82A}">
                    <a16:rowId xmlns:a16="http://schemas.microsoft.com/office/drawing/2014/main" val="1984958392"/>
                  </a:ext>
                </a:extLst>
              </a:tr>
              <a:tr h="640080">
                <a:tc>
                  <a:txBody>
                    <a:bodyPr/>
                    <a:lstStyle/>
                    <a:p>
                      <a:pPr algn="ctr"/>
                      <a:r>
                        <a:rPr lang="en-US" sz="2800"/>
                        <a:t>Decluster degree</a:t>
                      </a:r>
                    </a:p>
                  </a:txBody>
                  <a:tcPr anchor="ctr"/>
                </a:tc>
                <a:tc>
                  <a:txBody>
                    <a:bodyPr/>
                    <a:lstStyle/>
                    <a:p>
                      <a:pPr algn="ctr"/>
                      <a:r>
                        <a:rPr lang="en-US" sz="2800"/>
                        <a:t>Medium</a:t>
                      </a:r>
                    </a:p>
                  </a:txBody>
                  <a:tcPr anchor="ctr"/>
                </a:tc>
                <a:tc>
                  <a:txBody>
                    <a:bodyPr/>
                    <a:lstStyle/>
                    <a:p>
                      <a:pPr algn="ctr"/>
                      <a:r>
                        <a:rPr lang="en-US" sz="2800"/>
                        <a:t>Medium</a:t>
                      </a:r>
                    </a:p>
                  </a:txBody>
                  <a:tcPr anchor="ctr"/>
                </a:tc>
                <a:extLst>
                  <a:ext uri="{0D108BD9-81ED-4DB2-BD59-A6C34878D82A}">
                    <a16:rowId xmlns:a16="http://schemas.microsoft.com/office/drawing/2014/main" val="1294841946"/>
                  </a:ext>
                </a:extLst>
              </a:tr>
              <a:tr h="640080">
                <a:tc>
                  <a:txBody>
                    <a:bodyPr/>
                    <a:lstStyle/>
                    <a:p>
                      <a:pPr algn="ctr"/>
                      <a:r>
                        <a:rPr lang="en-US" sz="2800"/>
                        <a:t>Number of images</a:t>
                      </a:r>
                    </a:p>
                  </a:txBody>
                  <a:tcPr anchor="ctr"/>
                </a:tc>
                <a:tc>
                  <a:txBody>
                    <a:bodyPr/>
                    <a:lstStyle/>
                    <a:p>
                      <a:pPr algn="ctr"/>
                      <a:r>
                        <a:rPr lang="en-US" sz="2800"/>
                        <a:t>50</a:t>
                      </a:r>
                    </a:p>
                  </a:txBody>
                  <a:tcPr anchor="ctr"/>
                </a:tc>
                <a:tc>
                  <a:txBody>
                    <a:bodyPr/>
                    <a:lstStyle/>
                    <a:p>
                      <a:pPr algn="ctr"/>
                      <a:r>
                        <a:rPr lang="en-US" sz="2800"/>
                        <a:t>50</a:t>
                      </a:r>
                    </a:p>
                  </a:txBody>
                  <a:tcPr anchor="ctr"/>
                </a:tc>
                <a:extLst>
                  <a:ext uri="{0D108BD9-81ED-4DB2-BD59-A6C34878D82A}">
                    <a16:rowId xmlns:a16="http://schemas.microsoft.com/office/drawing/2014/main" val="3780485208"/>
                  </a:ext>
                </a:extLst>
              </a:tr>
              <a:tr h="2194560">
                <a:tc>
                  <a:txBody>
                    <a:bodyPr/>
                    <a:lstStyle/>
                    <a:p>
                      <a:pPr algn="ctr"/>
                      <a:r>
                        <a:rPr lang="en-US" sz="2800"/>
                        <a:t>Representative live cell image in Vi-CELL XR interface</a:t>
                      </a:r>
                    </a:p>
                  </a:txBody>
                  <a:tcPr anchor="ctr"/>
                </a:tc>
                <a:tc>
                  <a:txBody>
                    <a:bodyPr/>
                    <a:lstStyle/>
                    <a:p>
                      <a:pPr algn="ctr"/>
                      <a:endParaRPr lang="en-US" sz="2800"/>
                    </a:p>
                  </a:txBody>
                  <a:tcPr anchor="ctr"/>
                </a:tc>
                <a:tc>
                  <a:txBody>
                    <a:bodyPr/>
                    <a:lstStyle/>
                    <a:p>
                      <a:pPr algn="ctr"/>
                      <a:endParaRPr lang="en-US" sz="2800" dirty="0"/>
                    </a:p>
                  </a:txBody>
                  <a:tcPr anchor="ctr"/>
                </a:tc>
                <a:extLst>
                  <a:ext uri="{0D108BD9-81ED-4DB2-BD59-A6C34878D82A}">
                    <a16:rowId xmlns:a16="http://schemas.microsoft.com/office/drawing/2014/main" val="2254868698"/>
                  </a:ext>
                </a:extLst>
              </a:tr>
            </a:tbl>
          </a:graphicData>
        </a:graphic>
      </p:graphicFrame>
      <p:pic>
        <p:nvPicPr>
          <p:cNvPr id="116" name="Picture 115">
            <a:extLst>
              <a:ext uri="{FF2B5EF4-FFF2-40B4-BE49-F238E27FC236}">
                <a16:creationId xmlns:a16="http://schemas.microsoft.com/office/drawing/2014/main" id="{AD2FBB14-67E5-4D08-9103-4B3B3C6B03A8}"/>
              </a:ext>
            </a:extLst>
          </p:cNvPr>
          <p:cNvPicPr>
            <a:picLocks noChangeAspect="1"/>
          </p:cNvPicPr>
          <p:nvPr/>
        </p:nvPicPr>
        <p:blipFill rotWithShape="1">
          <a:blip r:embed="rId8"/>
          <a:srcRect l="74263" t="16271" r="2037" b="60006"/>
          <a:stretch/>
        </p:blipFill>
        <p:spPr>
          <a:xfrm>
            <a:off x="15731629" y="29511700"/>
            <a:ext cx="1871911" cy="1873732"/>
          </a:xfrm>
          <a:prstGeom prst="rect">
            <a:avLst/>
          </a:prstGeom>
          <a:ln>
            <a:solidFill>
              <a:schemeClr val="tx1">
                <a:lumMod val="60000"/>
                <a:lumOff val="40000"/>
              </a:schemeClr>
            </a:solidFill>
          </a:ln>
        </p:spPr>
      </p:pic>
      <p:pic>
        <p:nvPicPr>
          <p:cNvPr id="117" name="Picture 116">
            <a:extLst>
              <a:ext uri="{FF2B5EF4-FFF2-40B4-BE49-F238E27FC236}">
                <a16:creationId xmlns:a16="http://schemas.microsoft.com/office/drawing/2014/main" id="{F19D2B6B-451E-44C7-ADFC-C7C8D878B1FF}"/>
              </a:ext>
            </a:extLst>
          </p:cNvPr>
          <p:cNvPicPr>
            <a:picLocks noChangeAspect="1"/>
          </p:cNvPicPr>
          <p:nvPr/>
        </p:nvPicPr>
        <p:blipFill rotWithShape="1">
          <a:blip r:embed="rId9"/>
          <a:srcRect l="74491" t="16195" r="1479" b="60035"/>
          <a:stretch/>
        </p:blipFill>
        <p:spPr>
          <a:xfrm>
            <a:off x="18633713" y="29493936"/>
            <a:ext cx="1871911" cy="1873732"/>
          </a:xfrm>
          <a:prstGeom prst="rect">
            <a:avLst/>
          </a:prstGeom>
          <a:ln>
            <a:solidFill>
              <a:schemeClr val="tx1">
                <a:lumMod val="60000"/>
                <a:lumOff val="40000"/>
              </a:schemeClr>
            </a:solidFill>
          </a:ln>
        </p:spPr>
      </p:pic>
      <p:graphicFrame>
        <p:nvGraphicFramePr>
          <p:cNvPr id="120" name="Chart 119">
            <a:extLst>
              <a:ext uri="{FF2B5EF4-FFF2-40B4-BE49-F238E27FC236}">
                <a16:creationId xmlns:a16="http://schemas.microsoft.com/office/drawing/2014/main" id="{35D85C97-0F3E-47DB-AA7E-31781163B784}"/>
              </a:ext>
            </a:extLst>
          </p:cNvPr>
          <p:cNvGraphicFramePr>
            <a:graphicFrameLocks/>
          </p:cNvGraphicFramePr>
          <p:nvPr>
            <p:extLst>
              <p:ext uri="{D42A27DB-BD31-4B8C-83A1-F6EECF244321}">
                <p14:modId xmlns:p14="http://schemas.microsoft.com/office/powerpoint/2010/main" val="1065832220"/>
              </p:ext>
            </p:extLst>
          </p:nvPr>
        </p:nvGraphicFramePr>
        <p:xfrm>
          <a:off x="11599958" y="31678597"/>
          <a:ext cx="9482009" cy="4275198"/>
        </p:xfrm>
        <a:graphic>
          <a:graphicData uri="http://schemas.openxmlformats.org/drawingml/2006/chart">
            <c:chart xmlns:c="http://schemas.openxmlformats.org/drawingml/2006/chart" xmlns:r="http://schemas.openxmlformats.org/officeDocument/2006/relationships" r:id="rId10"/>
          </a:graphicData>
        </a:graphic>
      </p:graphicFrame>
      <p:graphicFrame>
        <p:nvGraphicFramePr>
          <p:cNvPr id="123" name="Chart 122">
            <a:extLst>
              <a:ext uri="{FF2B5EF4-FFF2-40B4-BE49-F238E27FC236}">
                <a16:creationId xmlns:a16="http://schemas.microsoft.com/office/drawing/2014/main" id="{602FE447-B7A4-43A3-B8CE-CB5BDE20F122}"/>
              </a:ext>
            </a:extLst>
          </p:cNvPr>
          <p:cNvGraphicFramePr>
            <a:graphicFrameLocks/>
          </p:cNvGraphicFramePr>
          <p:nvPr>
            <p:extLst>
              <p:ext uri="{D42A27DB-BD31-4B8C-83A1-F6EECF244321}">
                <p14:modId xmlns:p14="http://schemas.microsoft.com/office/powerpoint/2010/main" val="3622547852"/>
              </p:ext>
            </p:extLst>
          </p:nvPr>
        </p:nvGraphicFramePr>
        <p:xfrm>
          <a:off x="11451611" y="35981997"/>
          <a:ext cx="9630356" cy="4275198"/>
        </p:xfrm>
        <a:graphic>
          <a:graphicData uri="http://schemas.openxmlformats.org/drawingml/2006/chart">
            <c:chart xmlns:c="http://schemas.openxmlformats.org/drawingml/2006/chart" xmlns:r="http://schemas.openxmlformats.org/officeDocument/2006/relationships" r:id="rId11"/>
          </a:graphicData>
        </a:graphic>
      </p:graphicFrame>
      <p:sp>
        <p:nvSpPr>
          <p:cNvPr id="10" name="TextBox 9">
            <a:extLst>
              <a:ext uri="{FF2B5EF4-FFF2-40B4-BE49-F238E27FC236}">
                <a16:creationId xmlns:a16="http://schemas.microsoft.com/office/drawing/2014/main" id="{270D2480-0097-4132-95C5-E4FF57830C81}"/>
              </a:ext>
            </a:extLst>
          </p:cNvPr>
          <p:cNvSpPr txBox="1"/>
          <p:nvPr/>
        </p:nvSpPr>
        <p:spPr>
          <a:xfrm>
            <a:off x="13149393" y="32020849"/>
            <a:ext cx="444497" cy="461665"/>
          </a:xfrm>
          <a:prstGeom prst="rect">
            <a:avLst/>
          </a:prstGeom>
          <a:noFill/>
        </p:spPr>
        <p:txBody>
          <a:bodyPr wrap="square" rtlCol="0">
            <a:spAutoFit/>
          </a:bodyPr>
          <a:lstStyle/>
          <a:p>
            <a:r>
              <a:rPr lang="en-US" sz="2400" b="1"/>
              <a:t>A</a:t>
            </a:r>
          </a:p>
        </p:txBody>
      </p:sp>
      <p:sp>
        <p:nvSpPr>
          <p:cNvPr id="124" name="TextBox 123">
            <a:extLst>
              <a:ext uri="{FF2B5EF4-FFF2-40B4-BE49-F238E27FC236}">
                <a16:creationId xmlns:a16="http://schemas.microsoft.com/office/drawing/2014/main" id="{69E13002-DEA8-47A8-870B-5F8262BB5476}"/>
              </a:ext>
            </a:extLst>
          </p:cNvPr>
          <p:cNvSpPr txBox="1"/>
          <p:nvPr/>
        </p:nvSpPr>
        <p:spPr>
          <a:xfrm>
            <a:off x="13230508" y="36320244"/>
            <a:ext cx="444497" cy="461665"/>
          </a:xfrm>
          <a:prstGeom prst="rect">
            <a:avLst/>
          </a:prstGeom>
          <a:noFill/>
        </p:spPr>
        <p:txBody>
          <a:bodyPr wrap="square" rtlCol="0">
            <a:spAutoFit/>
          </a:bodyPr>
          <a:lstStyle/>
          <a:p>
            <a:r>
              <a:rPr lang="en-US" sz="2400" b="1"/>
              <a:t>B</a:t>
            </a:r>
          </a:p>
        </p:txBody>
      </p:sp>
      <p:sp>
        <p:nvSpPr>
          <p:cNvPr id="125" name="Rectangle 124">
            <a:extLst>
              <a:ext uri="{FF2B5EF4-FFF2-40B4-BE49-F238E27FC236}">
                <a16:creationId xmlns:a16="http://schemas.microsoft.com/office/drawing/2014/main" id="{5CAD54E0-DC24-47D9-ADC4-E1568D775954}"/>
              </a:ext>
            </a:extLst>
          </p:cNvPr>
          <p:cNvSpPr/>
          <p:nvPr/>
        </p:nvSpPr>
        <p:spPr>
          <a:xfrm>
            <a:off x="11870772" y="39854710"/>
            <a:ext cx="9261231" cy="211816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t"/>
          <a:lstStyle/>
          <a:p>
            <a:pPr algn="ctr"/>
            <a:r>
              <a:rPr lang="en-US" sz="2612" dirty="0">
                <a:solidFill>
                  <a:schemeClr val="tx1"/>
                </a:solidFill>
                <a:cs typeface="Arial"/>
              </a:rPr>
              <a:t>Fig 2. Percentage difference in VCD between the Vi-CELL XR and </a:t>
            </a:r>
            <a:r>
              <a:rPr lang="en-US" sz="2612" dirty="0" err="1">
                <a:solidFill>
                  <a:schemeClr val="tx1"/>
                </a:solidFill>
                <a:cs typeface="Arial"/>
              </a:rPr>
              <a:t>BioProfile</a:t>
            </a:r>
            <a:r>
              <a:rPr lang="en-US" sz="2612" dirty="0">
                <a:solidFill>
                  <a:schemeClr val="tx1"/>
                </a:solidFill>
                <a:cs typeface="Arial"/>
              </a:rPr>
              <a:t>® FLEX2 for CHO perfusion culture using A) the original Vi-CELL XR cell counting method and B) the new perfusion-specific method. Note the difference in Y-axis scale.</a:t>
            </a:r>
          </a:p>
          <a:p>
            <a:pPr algn="ctr"/>
            <a:r>
              <a:rPr lang="en-US" sz="2612" dirty="0">
                <a:solidFill>
                  <a:schemeClr val="tx1"/>
                </a:solidFill>
                <a:cs typeface="Arial"/>
              </a:rPr>
              <a:t>Calculation is (</a:t>
            </a:r>
            <a:r>
              <a:rPr lang="en-US" sz="2612" i="1" dirty="0" err="1">
                <a:solidFill>
                  <a:schemeClr val="tx1"/>
                </a:solidFill>
                <a:cs typeface="Arial"/>
              </a:rPr>
              <a:t>VCD</a:t>
            </a:r>
            <a:r>
              <a:rPr lang="en-US" sz="2612" i="1" baseline="-25000" dirty="0" err="1">
                <a:solidFill>
                  <a:schemeClr val="tx1"/>
                </a:solidFill>
                <a:cs typeface="Arial"/>
              </a:rPr>
              <a:t>ViCell</a:t>
            </a:r>
            <a:r>
              <a:rPr lang="en-US" sz="2612" i="1" dirty="0" err="1">
                <a:solidFill>
                  <a:schemeClr val="tx1"/>
                </a:solidFill>
                <a:cs typeface="Arial"/>
              </a:rPr>
              <a:t>-VCD</a:t>
            </a:r>
            <a:r>
              <a:rPr lang="en-US" sz="2612" i="1" baseline="-25000" dirty="0" err="1">
                <a:solidFill>
                  <a:schemeClr val="tx1"/>
                </a:solidFill>
                <a:cs typeface="Arial"/>
              </a:rPr>
              <a:t>Nova</a:t>
            </a:r>
            <a:r>
              <a:rPr lang="en-US" sz="2612" dirty="0">
                <a:solidFill>
                  <a:schemeClr val="tx1"/>
                </a:solidFill>
                <a:cs typeface="Arial"/>
              </a:rPr>
              <a:t>) / </a:t>
            </a:r>
            <a:r>
              <a:rPr lang="en-US" sz="2612" i="1" dirty="0" err="1">
                <a:solidFill>
                  <a:schemeClr val="tx1"/>
                </a:solidFill>
                <a:cs typeface="Arial"/>
              </a:rPr>
              <a:t>VCD</a:t>
            </a:r>
            <a:r>
              <a:rPr lang="en-US" sz="2612" i="1" baseline="-25000" dirty="0" err="1">
                <a:solidFill>
                  <a:schemeClr val="tx1"/>
                </a:solidFill>
                <a:cs typeface="Arial"/>
              </a:rPr>
              <a:t>Nova</a:t>
            </a:r>
            <a:r>
              <a:rPr lang="en-US" sz="2612" i="1" dirty="0">
                <a:solidFill>
                  <a:schemeClr val="tx1"/>
                </a:solidFill>
                <a:cs typeface="Arial"/>
              </a:rPr>
              <a:t>*100%</a:t>
            </a:r>
          </a:p>
        </p:txBody>
      </p:sp>
      <p:graphicFrame>
        <p:nvGraphicFramePr>
          <p:cNvPr id="128" name="Chart 127">
            <a:extLst>
              <a:ext uri="{FF2B5EF4-FFF2-40B4-BE49-F238E27FC236}">
                <a16:creationId xmlns:a16="http://schemas.microsoft.com/office/drawing/2014/main" id="{753C6135-963E-41CA-8759-DE25650FCFDD}"/>
              </a:ext>
            </a:extLst>
          </p:cNvPr>
          <p:cNvGraphicFramePr>
            <a:graphicFrameLocks/>
          </p:cNvGraphicFramePr>
          <p:nvPr>
            <p:extLst>
              <p:ext uri="{D42A27DB-BD31-4B8C-83A1-F6EECF244321}">
                <p14:modId xmlns:p14="http://schemas.microsoft.com/office/powerpoint/2010/main" val="3518855182"/>
              </p:ext>
            </p:extLst>
          </p:nvPr>
        </p:nvGraphicFramePr>
        <p:xfrm>
          <a:off x="21164399" y="14141690"/>
          <a:ext cx="9312538" cy="4670951"/>
        </p:xfrm>
        <a:graphic>
          <a:graphicData uri="http://schemas.openxmlformats.org/drawingml/2006/chart">
            <c:chart xmlns:c="http://schemas.openxmlformats.org/drawingml/2006/chart" xmlns:r="http://schemas.openxmlformats.org/officeDocument/2006/relationships" r:id="rId12"/>
          </a:graphicData>
        </a:graphic>
      </p:graphicFrame>
      <p:sp>
        <p:nvSpPr>
          <p:cNvPr id="130" name="TextBox 129">
            <a:extLst>
              <a:ext uri="{FF2B5EF4-FFF2-40B4-BE49-F238E27FC236}">
                <a16:creationId xmlns:a16="http://schemas.microsoft.com/office/drawing/2014/main" id="{A130FED5-815D-4D9A-9CBA-F2D88EAA8BD6}"/>
              </a:ext>
            </a:extLst>
          </p:cNvPr>
          <p:cNvSpPr txBox="1"/>
          <p:nvPr/>
        </p:nvSpPr>
        <p:spPr>
          <a:xfrm>
            <a:off x="22208869" y="14384372"/>
            <a:ext cx="444497" cy="461665"/>
          </a:xfrm>
          <a:prstGeom prst="rect">
            <a:avLst/>
          </a:prstGeom>
          <a:noFill/>
        </p:spPr>
        <p:txBody>
          <a:bodyPr wrap="square" rtlCol="0">
            <a:spAutoFit/>
          </a:bodyPr>
          <a:lstStyle/>
          <a:p>
            <a:r>
              <a:rPr lang="en-US" sz="2400" b="1"/>
              <a:t>A</a:t>
            </a:r>
          </a:p>
        </p:txBody>
      </p:sp>
      <p:sp>
        <p:nvSpPr>
          <p:cNvPr id="131" name="TextBox 130">
            <a:extLst>
              <a:ext uri="{FF2B5EF4-FFF2-40B4-BE49-F238E27FC236}">
                <a16:creationId xmlns:a16="http://schemas.microsoft.com/office/drawing/2014/main" id="{32253FF3-7B67-4683-A586-D09AE9943FE1}"/>
              </a:ext>
            </a:extLst>
          </p:cNvPr>
          <p:cNvSpPr txBox="1"/>
          <p:nvPr/>
        </p:nvSpPr>
        <p:spPr>
          <a:xfrm>
            <a:off x="22208869" y="19012300"/>
            <a:ext cx="444497" cy="461665"/>
          </a:xfrm>
          <a:prstGeom prst="rect">
            <a:avLst/>
          </a:prstGeom>
          <a:noFill/>
        </p:spPr>
        <p:txBody>
          <a:bodyPr wrap="square" rtlCol="0">
            <a:spAutoFit/>
          </a:bodyPr>
          <a:lstStyle/>
          <a:p>
            <a:r>
              <a:rPr lang="en-US" sz="2400" b="1"/>
              <a:t>B</a:t>
            </a:r>
          </a:p>
        </p:txBody>
      </p:sp>
      <p:graphicFrame>
        <p:nvGraphicFramePr>
          <p:cNvPr id="119" name="Chart 118">
            <a:extLst>
              <a:ext uri="{FF2B5EF4-FFF2-40B4-BE49-F238E27FC236}">
                <a16:creationId xmlns:a16="http://schemas.microsoft.com/office/drawing/2014/main" id="{6BE73247-474C-4C93-9948-BFF92E34C681}"/>
              </a:ext>
            </a:extLst>
          </p:cNvPr>
          <p:cNvGraphicFramePr>
            <a:graphicFrameLocks/>
          </p:cNvGraphicFramePr>
          <p:nvPr>
            <p:extLst>
              <p:ext uri="{D42A27DB-BD31-4B8C-83A1-F6EECF244321}">
                <p14:modId xmlns:p14="http://schemas.microsoft.com/office/powerpoint/2010/main" val="3655496478"/>
              </p:ext>
            </p:extLst>
          </p:nvPr>
        </p:nvGraphicFramePr>
        <p:xfrm>
          <a:off x="27778122" y="15776697"/>
          <a:ext cx="2698815" cy="2176275"/>
        </p:xfrm>
        <a:graphic>
          <a:graphicData uri="http://schemas.openxmlformats.org/drawingml/2006/chart">
            <c:chart xmlns:c="http://schemas.openxmlformats.org/drawingml/2006/chart" xmlns:r="http://schemas.openxmlformats.org/officeDocument/2006/relationships" r:id="rId13"/>
          </a:graphicData>
        </a:graphic>
      </p:graphicFrame>
      <p:sp>
        <p:nvSpPr>
          <p:cNvPr id="122" name="TextBox 121">
            <a:extLst>
              <a:ext uri="{FF2B5EF4-FFF2-40B4-BE49-F238E27FC236}">
                <a16:creationId xmlns:a16="http://schemas.microsoft.com/office/drawing/2014/main" id="{F504C582-9B8D-43C0-A49F-988D37BE36E4}"/>
              </a:ext>
            </a:extLst>
          </p:cNvPr>
          <p:cNvSpPr txBox="1"/>
          <p:nvPr/>
        </p:nvSpPr>
        <p:spPr>
          <a:xfrm>
            <a:off x="27737614" y="15724370"/>
            <a:ext cx="444497" cy="461665"/>
          </a:xfrm>
          <a:prstGeom prst="rect">
            <a:avLst/>
          </a:prstGeom>
          <a:noFill/>
        </p:spPr>
        <p:txBody>
          <a:bodyPr wrap="square" rtlCol="0">
            <a:spAutoFit/>
          </a:bodyPr>
          <a:lstStyle/>
          <a:p>
            <a:r>
              <a:rPr lang="en-US" sz="2400" b="1"/>
              <a:t>C</a:t>
            </a:r>
          </a:p>
        </p:txBody>
      </p:sp>
      <p:graphicFrame>
        <p:nvGraphicFramePr>
          <p:cNvPr id="126" name="Chart 125">
            <a:extLst>
              <a:ext uri="{FF2B5EF4-FFF2-40B4-BE49-F238E27FC236}">
                <a16:creationId xmlns:a16="http://schemas.microsoft.com/office/drawing/2014/main" id="{427B5543-B1B0-4DD0-AB9E-2D4718583606}"/>
              </a:ext>
            </a:extLst>
          </p:cNvPr>
          <p:cNvGraphicFramePr>
            <a:graphicFrameLocks/>
          </p:cNvGraphicFramePr>
          <p:nvPr>
            <p:extLst>
              <p:ext uri="{D42A27DB-BD31-4B8C-83A1-F6EECF244321}">
                <p14:modId xmlns:p14="http://schemas.microsoft.com/office/powerpoint/2010/main" val="2725083734"/>
              </p:ext>
            </p:extLst>
          </p:nvPr>
        </p:nvGraphicFramePr>
        <p:xfrm>
          <a:off x="27673637" y="20443449"/>
          <a:ext cx="2803300" cy="1964188"/>
        </p:xfrm>
        <a:graphic>
          <a:graphicData uri="http://schemas.openxmlformats.org/drawingml/2006/chart">
            <c:chart xmlns:c="http://schemas.openxmlformats.org/drawingml/2006/chart" xmlns:r="http://schemas.openxmlformats.org/officeDocument/2006/relationships" r:id="rId14"/>
          </a:graphicData>
        </a:graphic>
      </p:graphicFrame>
      <p:sp>
        <p:nvSpPr>
          <p:cNvPr id="132" name="TextBox 131">
            <a:extLst>
              <a:ext uri="{FF2B5EF4-FFF2-40B4-BE49-F238E27FC236}">
                <a16:creationId xmlns:a16="http://schemas.microsoft.com/office/drawing/2014/main" id="{AFAFE7AF-D2C6-4A5C-8B14-5001346CF1FA}"/>
              </a:ext>
            </a:extLst>
          </p:cNvPr>
          <p:cNvSpPr txBox="1"/>
          <p:nvPr/>
        </p:nvSpPr>
        <p:spPr>
          <a:xfrm>
            <a:off x="27625464" y="20394939"/>
            <a:ext cx="444497" cy="461665"/>
          </a:xfrm>
          <a:prstGeom prst="rect">
            <a:avLst/>
          </a:prstGeom>
          <a:noFill/>
        </p:spPr>
        <p:txBody>
          <a:bodyPr wrap="square" rtlCol="0">
            <a:spAutoFit/>
          </a:bodyPr>
          <a:lstStyle/>
          <a:p>
            <a:r>
              <a:rPr lang="en-US" sz="2400" b="1"/>
              <a:t>D</a:t>
            </a:r>
          </a:p>
        </p:txBody>
      </p:sp>
    </p:spTree>
    <p:extLst>
      <p:ext uri="{BB962C8B-B14F-4D97-AF65-F5344CB8AC3E}">
        <p14:creationId xmlns:p14="http://schemas.microsoft.com/office/powerpoint/2010/main" val="2339447872"/>
      </p:ext>
    </p:extLst>
  </p:cSld>
  <p:clrMapOvr>
    <a:masterClrMapping/>
  </p:clrMapOvr>
</p:sld>
</file>

<file path=ppt/theme/theme1.xml><?xml version="1.0" encoding="utf-8"?>
<a:theme xmlns:a="http://schemas.openxmlformats.org/drawingml/2006/main" name="AZ IMED Example Presentation Template">
  <a:themeElements>
    <a:clrScheme name="Custom 273">
      <a:dk1>
        <a:srgbClr val="000000"/>
      </a:dk1>
      <a:lt1>
        <a:srgbClr val="FFFFFF"/>
      </a:lt1>
      <a:dk2>
        <a:srgbClr val="830051"/>
      </a:dk2>
      <a:lt2>
        <a:srgbClr val="003865"/>
      </a:lt2>
      <a:accent1>
        <a:srgbClr val="830051"/>
      </a:accent1>
      <a:accent2>
        <a:srgbClr val="C4D600"/>
      </a:accent2>
      <a:accent3>
        <a:srgbClr val="3F4444"/>
      </a:accent3>
      <a:accent4>
        <a:srgbClr val="68D2DF"/>
      </a:accent4>
      <a:accent5>
        <a:srgbClr val="3C1053"/>
      </a:accent5>
      <a:accent6>
        <a:srgbClr val="F0AB00"/>
      </a:accent6>
      <a:hlink>
        <a:srgbClr val="003865"/>
      </a:hlink>
      <a:folHlink>
        <a:srgbClr val="9DB0AC"/>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ln>
              <a:noFill/>
            </a:ln>
          </a:defRPr>
        </a:defPPr>
      </a:lstStyle>
      <a:style>
        <a:lnRef idx="1">
          <a:schemeClr val="accent1"/>
        </a:lnRef>
        <a:fillRef idx="3">
          <a:schemeClr val="accent1"/>
        </a:fillRef>
        <a:effectRef idx="2">
          <a:schemeClr val="accent1"/>
        </a:effectRef>
        <a:fontRef idx="minor">
          <a:schemeClr val="lt1"/>
        </a:fontRef>
      </a:style>
    </a:spDef>
    <a:lnDef>
      <a:spPr>
        <a:ln w="12700" cmpd="sng"/>
        <a:effectLst/>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D7D3AA5DD244D4D9BB73C8A8DD0F666" ma:contentTypeVersion="13" ma:contentTypeDescription="Create a new document." ma:contentTypeScope="" ma:versionID="1dae6718cddbbfc876e46ef9c875daae">
  <xsd:schema xmlns:xsd="http://www.w3.org/2001/XMLSchema" xmlns:xs="http://www.w3.org/2001/XMLSchema" xmlns:p="http://schemas.microsoft.com/office/2006/metadata/properties" xmlns:ns2="44a56295-c29e-4898-8136-a54736c65b82" xmlns:ns3="e804b205-e059-4f2e-b4bc-ae0403a53ed4" xmlns:ns4="064534d3-dcfc-4079-aa54-12c7adad5c57" targetNamespace="http://schemas.microsoft.com/office/2006/metadata/properties" ma:root="true" ma:fieldsID="0f9ee0b7a7a7345c5c1b590e8b2d7e3c" ns2:_="" ns3:_="" ns4:_="">
    <xsd:import namespace="44a56295-c29e-4898-8136-a54736c65b82"/>
    <xsd:import namespace="e804b205-e059-4f2e-b4bc-ae0403a53ed4"/>
    <xsd:import namespace="064534d3-dcfc-4079-aa54-12c7adad5c57"/>
    <xsd:element name="properties">
      <xsd:complexType>
        <xsd:sequence>
          <xsd:element name="documentManagement">
            <xsd:complexType>
              <xsd:all>
                <xsd:element ref="ns2:Descriptions" minOccurs="0"/>
                <xsd:element ref="ns2:Keyword" minOccurs="0"/>
                <xsd:element ref="ns3:MediaServiceAutoKeyPoints" minOccurs="0"/>
                <xsd:element ref="ns3:MediaServiceKeyPoints" minOccurs="0"/>
                <xsd:element ref="ns3:MediaServiceMetadata" minOccurs="0"/>
                <xsd:element ref="ns3:MediaServiceFastMetadata" minOccurs="0"/>
                <xsd:element ref="ns4:SharedWithUsers" minOccurs="0"/>
                <xsd:element ref="ns4:SharedWithDetails" minOccurs="0"/>
                <xsd:element ref="ns3:Number" minOccurs="0"/>
                <xsd:element ref="ns3:lcf76f155ced4ddcb4097134ff3c332f" minOccurs="0"/>
                <xsd:element ref="ns2:TaxCatchAll"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4a56295-c29e-4898-8136-a54736c65b82" elementFormDefault="qualified">
    <xsd:import namespace="http://schemas.microsoft.com/office/2006/documentManagement/types"/>
    <xsd:import namespace="http://schemas.microsoft.com/office/infopath/2007/PartnerControls"/>
    <xsd:element name="Descriptions" ma:index="8" nillable="true" ma:displayName="Descriptions" ma:description="Describe your document to make it appear at the top of search results" ma:internalName="Descriptions">
      <xsd:simpleType>
        <xsd:restriction base="dms:Note">
          <xsd:maxLength value="255"/>
        </xsd:restriction>
      </xsd:simpleType>
    </xsd:element>
    <xsd:element name="Keyword" ma:index="9" nillable="true" ma:displayName="Keyword" ma:description="Enter list of terms separated by semi-colon(;)" ma:internalName="Keyword">
      <xsd:simpleType>
        <xsd:restriction base="dms:Text">
          <xsd:maxLength value="255"/>
        </xsd:restriction>
      </xsd:simpleType>
    </xsd:element>
    <xsd:element name="TaxCatchAll" ma:index="19" nillable="true" ma:displayName="Taxonomy Catch All Column" ma:hidden="true" ma:list="{924490cf-d1cc-420b-920c-b53d6f4c18e0}" ma:internalName="TaxCatchAll" ma:showField="CatchAllData" ma:web="064534d3-dcfc-4079-aa54-12c7adad5c57">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e804b205-e059-4f2e-b4bc-ae0403a53ed4" elementFormDefault="qualified">
    <xsd:import namespace="http://schemas.microsoft.com/office/2006/documentManagement/types"/>
    <xsd:import namespace="http://schemas.microsoft.com/office/infopath/2007/PartnerControls"/>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Number" ma:index="16" nillable="true" ma:displayName="Number" ma:format="Dropdown" ma:internalName="Number" ma:percentage="FALSE">
      <xsd:simpleType>
        <xsd:restriction base="dms:Number">
          <xsd:maxInclusive value="100"/>
          <xsd:minInclusive value="1"/>
        </xsd:restriction>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1ee89e71-04cd-405e-9ca3-99e020c1694d"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64534d3-dcfc-4079-aa54-12c7adad5c57"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SharedContentType xmlns="Microsoft.SharePoint.Taxonomy.ContentTypeSync" SourceId="1ee89e71-04cd-405e-9ca3-99e020c1694d" ContentTypeId="0x0101" PreviousValue="false"/>
</file>

<file path=customXml/item4.xml><?xml version="1.0" encoding="utf-8"?>
<p:properties xmlns:p="http://schemas.microsoft.com/office/2006/metadata/properties" xmlns:xsi="http://www.w3.org/2001/XMLSchema-instance" xmlns:pc="http://schemas.microsoft.com/office/infopath/2007/PartnerControls">
  <documentManagement>
    <Keyword xmlns="44a56295-c29e-4898-8136-a54736c65b82" xsi:nil="true"/>
    <Descriptions xmlns="44a56295-c29e-4898-8136-a54736c65b82" xsi:nil="true"/>
    <lcf76f155ced4ddcb4097134ff3c332f xmlns="e804b205-e059-4f2e-b4bc-ae0403a53ed4">
      <Terms xmlns="http://schemas.microsoft.com/office/infopath/2007/PartnerControls"/>
    </lcf76f155ced4ddcb4097134ff3c332f>
    <TaxCatchAll xmlns="44a56295-c29e-4898-8136-a54736c65b82" xsi:nil="true"/>
    <Number xmlns="e804b205-e059-4f2e-b4bc-ae0403a53ed4" xsi:nil="true"/>
  </documentManagement>
</p:properties>
</file>

<file path=customXml/itemProps1.xml><?xml version="1.0" encoding="utf-8"?>
<ds:datastoreItem xmlns:ds="http://schemas.openxmlformats.org/officeDocument/2006/customXml" ds:itemID="{0C999E6B-8F9E-4CF2-B0F0-10ADA4CA8BA8}">
  <ds:schemaRefs>
    <ds:schemaRef ds:uri="http://schemas.microsoft.com/sharepoint/v3/contenttype/forms"/>
  </ds:schemaRefs>
</ds:datastoreItem>
</file>

<file path=customXml/itemProps2.xml><?xml version="1.0" encoding="utf-8"?>
<ds:datastoreItem xmlns:ds="http://schemas.openxmlformats.org/officeDocument/2006/customXml" ds:itemID="{C947A302-6CCA-41D8-A0FE-C789B4AB3000}">
  <ds:schemaRefs>
    <ds:schemaRef ds:uri="064534d3-dcfc-4079-aa54-12c7adad5c57"/>
    <ds:schemaRef ds:uri="44a56295-c29e-4898-8136-a54736c65b82"/>
    <ds:schemaRef ds:uri="e804b205-e059-4f2e-b4bc-ae0403a53ed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D4AB765C-3ADD-453F-96CE-8812AF6667CD}">
  <ds:schemaRefs>
    <ds:schemaRef ds:uri="Microsoft.SharePoint.Taxonomy.ContentTypeSync"/>
  </ds:schemaRefs>
</ds:datastoreItem>
</file>

<file path=customXml/itemProps4.xml><?xml version="1.0" encoding="utf-8"?>
<ds:datastoreItem xmlns:ds="http://schemas.openxmlformats.org/officeDocument/2006/customXml" ds:itemID="{033ECA66-6648-4C21-A749-CD938D20B951}">
  <ds:schemaRefs>
    <ds:schemaRef ds:uri="http://schemas.microsoft.com/office/2006/metadata/properties"/>
    <ds:schemaRef ds:uri="http://schemas.microsoft.com/office/2006/documentManagement/types"/>
    <ds:schemaRef ds:uri="http://purl.org/dc/dcmitype/"/>
    <ds:schemaRef ds:uri="http://www.w3.org/XML/1998/namespace"/>
    <ds:schemaRef ds:uri="44a56295-c29e-4898-8136-a54736c65b82"/>
    <ds:schemaRef ds:uri="e804b205-e059-4f2e-b4bc-ae0403a53ed4"/>
    <ds:schemaRef ds:uri="http://purl.org/dc/terms/"/>
    <ds:schemaRef ds:uri="http://purl.org/dc/elements/1.1/"/>
    <ds:schemaRef ds:uri="http://schemas.microsoft.com/office/infopath/2007/PartnerControls"/>
    <ds:schemaRef ds:uri="http://schemas.openxmlformats.org/package/2006/metadata/core-properties"/>
    <ds:schemaRef ds:uri="064534d3-dcfc-4079-aa54-12c7adad5c57"/>
  </ds:schemaRefs>
</ds:datastoreItem>
</file>

<file path=docProps/app.xml><?xml version="1.0" encoding="utf-8"?>
<Properties xmlns="http://schemas.openxmlformats.org/officeDocument/2006/extended-properties" xmlns:vt="http://schemas.openxmlformats.org/officeDocument/2006/docPropsVTypes">
  <Template>AZ A3_Scientific_Poster_Portrait</Template>
  <TotalTime>12</TotalTime>
  <Words>1152</Words>
  <Application>Microsoft Macintosh PowerPoint</Application>
  <PresentationFormat>Custom</PresentationFormat>
  <Paragraphs>110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AZ IMED Example Presentation Template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McKie, Sarah</dc:creator>
  <cp:lastModifiedBy>Coffman, Jon</cp:lastModifiedBy>
  <cp:revision>2</cp:revision>
  <cp:lastPrinted>2015-04-02T11:06:15Z</cp:lastPrinted>
  <dcterms:created xsi:type="dcterms:W3CDTF">2022-03-24T14:00:57Z</dcterms:created>
  <dcterms:modified xsi:type="dcterms:W3CDTF">2022-09-23T12:24:11Z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0x0101001D7D3AA5DD244D4D9BB73C8A8DD0F666</vt:lpwstr>
  </property>
  <property fmtid="{D5CDD505-2E9C-101B-9397-08002B2CF9AE}" pid="3" name="MediaServiceImageTags">
    <vt:lpwstr/>
  </property>
</Properties>
</file>